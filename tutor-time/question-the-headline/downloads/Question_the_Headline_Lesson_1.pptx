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7772400" cy="201168"/>
          </a:xfrm>
          <a:prstGeom prst="rect">
            <a:avLst/>
          </a:prstGeom>
          <a:noFill/>
          <a:effectLst/>
        </p:spPr>
        <p:txBody>
          <a:bodyPr wrap="square" anchor="t" lIns="0" rIns="0" tIns="0" bIns="0">
            <a:spAutoFit/>
          </a:bodyPr>
          <a:lstStyle/>
          <a:p>
            <a:pPr algn="ctr">
              <a:lnSpc>
                <a:spcPct val="125000"/>
              </a:lnSpc>
              <a:spcAft>
                <a:spcPts val="0"/>
              </a:spcAft>
            </a:pPr>
            <a:r>
              <a:rPr sz="900" b="1" i="0" spc="160">
                <a:solidFill>
                  <a:srgbClr val="34322F"/>
                </a:solidFill>
                <a:latin typeface="Calibri"/>
              </a:rPr>
              <a:t>TUTOR TIME  ·  QUESTION THE HEADLINE  ·  LESSON 1 OF 5</a:t>
            </a:r>
          </a:p>
        </p:txBody>
      </p:sp>
      <p:sp>
        <p:nvSpPr>
          <p:cNvPr id="4" name="Rectangle 3"/>
          <p:cNvSpPr/>
          <p:nvPr/>
        </p:nvSpPr>
        <p:spPr>
          <a:xfrm>
            <a:off x="685800" y="621792"/>
            <a:ext cx="7772400" cy="1097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85800" y="658368"/>
            <a:ext cx="7772400" cy="457200"/>
          </a:xfrm>
          <a:prstGeom prst="rect">
            <a:avLst/>
          </a:prstGeom>
          <a:noFill/>
          <a:effectLst/>
        </p:spPr>
        <p:txBody>
          <a:bodyPr wrap="square" anchor="t" lIns="0" rIns="0" tIns="0" bIns="0">
            <a:spAutoFit/>
          </a:bodyPr>
          <a:lstStyle/>
          <a:p>
            <a:pPr algn="ctr">
              <a:lnSpc>
                <a:spcPct val="100000"/>
              </a:lnSpc>
              <a:spcAft>
                <a:spcPts val="0"/>
              </a:spcAft>
            </a:pPr>
            <a:r>
              <a:rPr sz="3000" b="0" i="0">
                <a:solidFill>
                  <a:srgbClr val="262422"/>
                </a:solidFill>
                <a:latin typeface="Georgia"/>
              </a:rPr>
              <a:t>The Daily Claim</a:t>
            </a:r>
          </a:p>
        </p:txBody>
      </p:sp>
      <p:sp>
        <p:nvSpPr>
          <p:cNvPr id="6" name="Rectangle 5"/>
          <p:cNvSpPr/>
          <p:nvPr/>
        </p:nvSpPr>
        <p:spPr>
          <a:xfrm>
            <a:off x="685800" y="1170432"/>
            <a:ext cx="7772400" cy="914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85800" y="1207007"/>
            <a:ext cx="2926080" cy="182880"/>
          </a:xfrm>
          <a:prstGeom prst="rect">
            <a:avLst/>
          </a:prstGeom>
          <a:noFill/>
          <a:effectLst/>
        </p:spPr>
        <p:txBody>
          <a:bodyPr wrap="square" anchor="t" lIns="0" rIns="0" tIns="0" bIns="0">
            <a:spAutoFit/>
          </a:bodyPr>
          <a:lstStyle/>
          <a:p>
            <a:pPr algn="l">
              <a:lnSpc>
                <a:spcPct val="125000"/>
              </a:lnSpc>
              <a:spcAft>
                <a:spcPts val="0"/>
              </a:spcAft>
            </a:pPr>
            <a:r>
              <a:rPr sz="800" b="1" i="0" spc="140">
                <a:solidFill>
                  <a:srgbClr val="56524B"/>
                </a:solidFill>
                <a:latin typeface="Calibri"/>
              </a:rPr>
              <a:t>BOSTON, 1967</a:t>
            </a:r>
          </a:p>
        </p:txBody>
      </p:sp>
      <p:sp>
        <p:nvSpPr>
          <p:cNvPr id="8" name="TextBox 7"/>
          <p:cNvSpPr txBox="1"/>
          <p:nvPr/>
        </p:nvSpPr>
        <p:spPr>
          <a:xfrm>
            <a:off x="3108960" y="1207007"/>
            <a:ext cx="2926080" cy="182880"/>
          </a:xfrm>
          <a:prstGeom prst="rect">
            <a:avLst/>
          </a:prstGeom>
          <a:noFill/>
          <a:effectLst/>
        </p:spPr>
        <p:txBody>
          <a:bodyPr wrap="square" anchor="t" lIns="0" rIns="0" tIns="0" bIns="0">
            <a:spAutoFit/>
          </a:bodyPr>
          <a:lstStyle/>
          <a:p>
            <a:pPr algn="ctr">
              <a:lnSpc>
                <a:spcPct val="125000"/>
              </a:lnSpc>
              <a:spcAft>
                <a:spcPts val="0"/>
              </a:spcAft>
            </a:pPr>
            <a:r>
              <a:rPr sz="800" b="1" i="0" spc="140">
                <a:solidFill>
                  <a:srgbClr val="56524B"/>
                </a:solidFill>
                <a:latin typeface="Calibri"/>
              </a:rPr>
              <a:t>VOLUME ONE</a:t>
            </a:r>
          </a:p>
        </p:txBody>
      </p:sp>
      <p:sp>
        <p:nvSpPr>
          <p:cNvPr id="9" name="TextBox 8"/>
          <p:cNvSpPr txBox="1"/>
          <p:nvPr/>
        </p:nvSpPr>
        <p:spPr>
          <a:xfrm>
            <a:off x="5532120" y="1207007"/>
            <a:ext cx="2926080" cy="182880"/>
          </a:xfrm>
          <a:prstGeom prst="rect">
            <a:avLst/>
          </a:prstGeom>
          <a:noFill/>
          <a:effectLst/>
        </p:spPr>
        <p:txBody>
          <a:bodyPr wrap="square" anchor="t" lIns="0" rIns="0" tIns="0" bIns="0">
            <a:spAutoFit/>
          </a:bodyPr>
          <a:lstStyle/>
          <a:p>
            <a:pPr algn="r">
              <a:lnSpc>
                <a:spcPct val="125000"/>
              </a:lnSpc>
              <a:spcAft>
                <a:spcPts val="0"/>
              </a:spcAft>
            </a:pPr>
            <a:r>
              <a:rPr sz="800" b="1" i="0" spc="140">
                <a:solidFill>
                  <a:srgbClr val="56524B"/>
                </a:solidFill>
                <a:latin typeface="Calibri"/>
              </a:rPr>
              <a:t>TUTOR TIME</a:t>
            </a:r>
          </a:p>
        </p:txBody>
      </p:sp>
      <p:sp>
        <p:nvSpPr>
          <p:cNvPr id="10" name="Rectangle 9"/>
          <p:cNvSpPr/>
          <p:nvPr/>
        </p:nvSpPr>
        <p:spPr>
          <a:xfrm>
            <a:off x="685800" y="1426464"/>
            <a:ext cx="7772400" cy="3200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48640" y="1810512"/>
            <a:ext cx="8046720" cy="731520"/>
          </a:xfrm>
          <a:prstGeom prst="rect">
            <a:avLst/>
          </a:prstGeom>
          <a:noFill/>
          <a:effectLst/>
        </p:spPr>
        <p:txBody>
          <a:bodyPr wrap="square" anchor="t" lIns="0" rIns="0" tIns="0" bIns="0">
            <a:spAutoFit/>
          </a:bodyPr>
          <a:lstStyle/>
          <a:p>
            <a:pPr algn="ctr">
              <a:lnSpc>
                <a:spcPct val="100000"/>
              </a:lnSpc>
              <a:spcAft>
                <a:spcPts val="0"/>
              </a:spcAft>
            </a:pPr>
            <a:r>
              <a:rPr sz="4200" b="0" i="0">
                <a:solidFill>
                  <a:srgbClr val="262422"/>
                </a:solidFill>
                <a:latin typeface="Georgia"/>
              </a:rPr>
              <a:t>Who Paid for the Science?</a:t>
            </a:r>
          </a:p>
        </p:txBody>
      </p:sp>
      <p:sp>
        <p:nvSpPr>
          <p:cNvPr id="12" name="Rectangle 11"/>
          <p:cNvSpPr/>
          <p:nvPr/>
        </p:nvSpPr>
        <p:spPr>
          <a:xfrm>
            <a:off x="4069080" y="2761488"/>
            <a:ext cx="1005840" cy="18288"/>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22960" y="2944368"/>
            <a:ext cx="7498079" cy="365760"/>
          </a:xfrm>
          <a:prstGeom prst="rect">
            <a:avLst/>
          </a:prstGeom>
          <a:noFill/>
          <a:effectLst/>
        </p:spPr>
        <p:txBody>
          <a:bodyPr wrap="square" anchor="t" lIns="0" rIns="0" tIns="0" bIns="0">
            <a:spAutoFit/>
          </a:bodyPr>
          <a:lstStyle/>
          <a:p>
            <a:pPr algn="ctr">
              <a:lnSpc>
                <a:spcPct val="125000"/>
              </a:lnSpc>
              <a:spcAft>
                <a:spcPts val="0"/>
              </a:spcAft>
            </a:pPr>
            <a:r>
              <a:rPr sz="1600" b="0" i="0">
                <a:solidFill>
                  <a:srgbClr val="56524B"/>
                </a:solidFill>
                <a:latin typeface="Calibri"/>
              </a:rPr>
              <a:t>A claim that was printed as true, and four pieces of evidence to test it.</a:t>
            </a:r>
          </a:p>
        </p:txBody>
      </p:sp>
      <p:sp>
        <p:nvSpPr>
          <p:cNvPr id="14" name="Rounded Rectangle 13"/>
          <p:cNvSpPr/>
          <p:nvPr/>
        </p:nvSpPr>
        <p:spPr>
          <a:xfrm>
            <a:off x="3928051" y="3584448"/>
            <a:ext cx="1287897"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VOLUME ONE</a:t>
            </a:r>
          </a:p>
        </p:txBody>
      </p:sp>
      <p:pic>
        <p:nvPicPr>
          <p:cNvPr id="15" name="Picture 14"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6" name="TextBox 15"/>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7" name="TextBox 16"/>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685800" y="274320"/>
            <a:ext cx="2269682" cy="237744"/>
          </a:xfrm>
          <a:prstGeom prst="roundRect">
            <a:avLst>
              <a:gd name="adj" fmla="val 50000"/>
            </a:avLst>
          </a:prstGeom>
          <a:solidFill>
            <a:srgbClr val="EFECE5"/>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34322F"/>
                </a:solidFill>
                <a:latin typeface="Calibri"/>
              </a:rPr>
              <a:t>TEACHER SLIDE  ·  SKIP IT</a:t>
            </a:r>
          </a:p>
        </p:txBody>
      </p:sp>
      <p:sp>
        <p:nvSpPr>
          <p:cNvPr id="4" name="TextBox 3"/>
          <p:cNvSpPr txBox="1"/>
          <p:nvPr/>
        </p:nvSpPr>
        <p:spPr>
          <a:xfrm>
            <a:off x="685800" y="65836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Before the lesson</a:t>
            </a:r>
          </a:p>
        </p:txBody>
      </p:sp>
      <p:sp>
        <p:nvSpPr>
          <p:cNvPr id="5" name="TextBox 4"/>
          <p:cNvSpPr txBox="1"/>
          <p:nvPr/>
        </p:nvSpPr>
        <p:spPr>
          <a:xfrm>
            <a:off x="685800" y="1188720"/>
            <a:ext cx="7772400" cy="420624"/>
          </a:xfrm>
          <a:prstGeom prst="rect">
            <a:avLst/>
          </a:prstGeom>
          <a:noFill/>
          <a:effectLst/>
        </p:spPr>
        <p:txBody>
          <a:bodyPr wrap="square" anchor="t" lIns="0" rIns="0" tIns="0" bIns="0">
            <a:spAutoFit/>
          </a:bodyPr>
          <a:lstStyle/>
          <a:p>
            <a:pPr algn="l">
              <a:lnSpc>
                <a:spcPct val="125000"/>
              </a:lnSpc>
              <a:spcAft>
                <a:spcPts val="0"/>
              </a:spcAft>
            </a:pPr>
            <a:r>
              <a:rPr sz="1250" b="0" i="0">
                <a:solidFill>
                  <a:srgbClr val="56524B"/>
                </a:solidFill>
                <a:latin typeface="Calibri"/>
              </a:rPr>
              <a:t>This lesson is about who pays for research, and why readers need to be told.</a:t>
            </a:r>
          </a:p>
        </p:txBody>
      </p:sp>
      <p:sp>
        <p:nvSpPr>
          <p:cNvPr id="6" name="Rectangle 5"/>
          <p:cNvSpPr/>
          <p:nvPr/>
        </p:nvSpPr>
        <p:spPr>
          <a:xfrm>
            <a:off x="685800" y="1682496"/>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68680" y="1783080"/>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68680" y="1865376"/>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1</a:t>
            </a:r>
          </a:p>
        </p:txBody>
      </p:sp>
      <p:sp>
        <p:nvSpPr>
          <p:cNvPr id="9" name="TextBox 8"/>
          <p:cNvSpPr txBox="1"/>
          <p:nvPr/>
        </p:nvSpPr>
        <p:spPr>
          <a:xfrm>
            <a:off x="1399032" y="1764792"/>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Print and cut the evidence cards</a:t>
            </a:r>
          </a:p>
        </p:txBody>
      </p:sp>
      <p:sp>
        <p:nvSpPr>
          <p:cNvPr id="10" name="TextBox 9"/>
          <p:cNvSpPr txBox="1"/>
          <p:nvPr/>
        </p:nvSpPr>
        <p:spPr>
          <a:xfrm>
            <a:off x="1399032" y="2002536"/>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One set of four per group of three or four. Keep them in order, A to D.</a:t>
            </a:r>
          </a:p>
        </p:txBody>
      </p:sp>
      <p:sp>
        <p:nvSpPr>
          <p:cNvPr id="11" name="Rectangle 10"/>
          <p:cNvSpPr/>
          <p:nvPr/>
        </p:nvSpPr>
        <p:spPr>
          <a:xfrm>
            <a:off x="685800" y="2340864"/>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68680" y="2441448"/>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2523744"/>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2</a:t>
            </a:r>
          </a:p>
        </p:txBody>
      </p:sp>
      <p:sp>
        <p:nvSpPr>
          <p:cNvPr id="14" name="TextBox 13"/>
          <p:cNvSpPr txBox="1"/>
          <p:nvPr/>
        </p:nvSpPr>
        <p:spPr>
          <a:xfrm>
            <a:off x="1399032" y="2423160"/>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Print two sheets per student</a:t>
            </a:r>
          </a:p>
        </p:txBody>
      </p:sp>
      <p:sp>
        <p:nvSpPr>
          <p:cNvPr id="15" name="TextBox 14"/>
          <p:cNvSpPr txBox="1"/>
          <p:nvPr/>
        </p:nvSpPr>
        <p:spPr>
          <a:xfrm>
            <a:off x="1399032" y="2660904"/>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This lesson’s evidence sheet, and the front page sheet, which is the same every lesson.</a:t>
            </a:r>
          </a:p>
        </p:txBody>
      </p:sp>
      <p:sp>
        <p:nvSpPr>
          <p:cNvPr id="16" name="Rectangle 15"/>
          <p:cNvSpPr/>
          <p:nvPr/>
        </p:nvSpPr>
        <p:spPr>
          <a:xfrm>
            <a:off x="685800" y="2999232"/>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868680" y="3099816"/>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8680" y="3182112"/>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3</a:t>
            </a:r>
          </a:p>
        </p:txBody>
      </p:sp>
      <p:sp>
        <p:nvSpPr>
          <p:cNvPr id="19" name="TextBox 18"/>
          <p:cNvSpPr txBox="1"/>
          <p:nvPr/>
        </p:nvSpPr>
        <p:spPr>
          <a:xfrm>
            <a:off x="1399032" y="3081528"/>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Mark out the line</a:t>
            </a:r>
          </a:p>
        </p:txBody>
      </p:sp>
      <p:sp>
        <p:nvSpPr>
          <p:cNvPr id="20" name="TextBox 19"/>
          <p:cNvSpPr txBox="1"/>
          <p:nvPr/>
        </p:nvSpPr>
        <p:spPr>
          <a:xfrm>
            <a:off x="1399032" y="3319272"/>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A 0 at one end of the room and a 10 at the other: definitely false to definitely true.</a:t>
            </a:r>
          </a:p>
        </p:txBody>
      </p:sp>
      <p:sp>
        <p:nvSpPr>
          <p:cNvPr id="21" name="Rectangle 20"/>
          <p:cNvSpPr/>
          <p:nvPr/>
        </p:nvSpPr>
        <p:spPr>
          <a:xfrm>
            <a:off x="685800" y="3657600"/>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868680" y="3758183"/>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68680" y="3840480"/>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4</a:t>
            </a:r>
          </a:p>
        </p:txBody>
      </p:sp>
      <p:sp>
        <p:nvSpPr>
          <p:cNvPr id="24" name="TextBox 23"/>
          <p:cNvSpPr txBox="1"/>
          <p:nvPr/>
        </p:nvSpPr>
        <p:spPr>
          <a:xfrm>
            <a:off x="1399032" y="3739896"/>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Hold the cards back</a:t>
            </a:r>
          </a:p>
        </p:txBody>
      </p:sp>
      <p:sp>
        <p:nvSpPr>
          <p:cNvPr id="25" name="TextBox 24"/>
          <p:cNvSpPr txBox="1"/>
          <p:nvPr/>
        </p:nvSpPr>
        <p:spPr>
          <a:xfrm>
            <a:off x="1399032" y="3977639"/>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Hand out one card per round, never the next one early. The verdict stays hidden until the end.</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7" name="TextBox 26"/>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8" name="TextBox 27"/>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4" name="TextBox 3"/>
          <p:cNvSpPr txBox="1"/>
          <p:nvPr/>
        </p:nvSpPr>
        <p:spPr>
          <a:xfrm>
            <a:off x="4800600" y="274320"/>
            <a:ext cx="3657600" cy="201168"/>
          </a:xfrm>
          <a:prstGeom prst="rect">
            <a:avLst/>
          </a:prstGeom>
          <a:noFill/>
          <a:effectLst/>
        </p:spPr>
        <p:txBody>
          <a:bodyPr wrap="square" anchor="t" lIns="0" rIns="0" tIns="0" bIns="0">
            <a:spAutoFit/>
          </a:bodyPr>
          <a:lstStyle/>
          <a:p>
            <a:pPr algn="r">
              <a:lnSpc>
                <a:spcPct val="125000"/>
              </a:lnSpc>
              <a:spcAft>
                <a:spcPts val="0"/>
              </a:spcAft>
            </a:pPr>
            <a:r>
              <a:rPr sz="850" b="0" i="1">
                <a:solidFill>
                  <a:srgbClr val="8C877D"/>
                </a:solidFill>
                <a:latin typeface="Calibri"/>
              </a:rPr>
              <a:t>A recreated front page</a:t>
            </a:r>
          </a:p>
        </p:txBody>
      </p:sp>
      <p:sp>
        <p:nvSpPr>
          <p:cNvPr id="5" name="Rectangle 4"/>
          <p:cNvSpPr/>
          <p:nvPr/>
        </p:nvSpPr>
        <p:spPr>
          <a:xfrm>
            <a:off x="685800" y="475488"/>
            <a:ext cx="7772400" cy="1097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512064"/>
            <a:ext cx="7772400" cy="457200"/>
          </a:xfrm>
          <a:prstGeom prst="rect">
            <a:avLst/>
          </a:prstGeom>
          <a:noFill/>
          <a:effectLst/>
        </p:spPr>
        <p:txBody>
          <a:bodyPr wrap="square" anchor="t" lIns="0" rIns="0" tIns="0" bIns="0">
            <a:spAutoFit/>
          </a:bodyPr>
          <a:lstStyle/>
          <a:p>
            <a:pPr algn="ctr">
              <a:lnSpc>
                <a:spcPct val="100000"/>
              </a:lnSpc>
              <a:spcAft>
                <a:spcPts val="0"/>
              </a:spcAft>
            </a:pPr>
            <a:r>
              <a:rPr sz="3000" b="0" i="0">
                <a:solidFill>
                  <a:srgbClr val="262422"/>
                </a:solidFill>
                <a:latin typeface="Georgia"/>
              </a:rPr>
              <a:t>The Daily Claim</a:t>
            </a:r>
          </a:p>
        </p:txBody>
      </p:sp>
      <p:sp>
        <p:nvSpPr>
          <p:cNvPr id="7" name="Rectangle 6"/>
          <p:cNvSpPr/>
          <p:nvPr/>
        </p:nvSpPr>
        <p:spPr>
          <a:xfrm>
            <a:off x="685800" y="1024128"/>
            <a:ext cx="7772400" cy="914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85800" y="1060704"/>
            <a:ext cx="2926080" cy="182880"/>
          </a:xfrm>
          <a:prstGeom prst="rect">
            <a:avLst/>
          </a:prstGeom>
          <a:noFill/>
          <a:effectLst/>
        </p:spPr>
        <p:txBody>
          <a:bodyPr wrap="square" anchor="t" lIns="0" rIns="0" tIns="0" bIns="0">
            <a:spAutoFit/>
          </a:bodyPr>
          <a:lstStyle/>
          <a:p>
            <a:pPr algn="l">
              <a:lnSpc>
                <a:spcPct val="125000"/>
              </a:lnSpc>
              <a:spcAft>
                <a:spcPts val="0"/>
              </a:spcAft>
            </a:pPr>
            <a:r>
              <a:rPr sz="800" b="1" i="0" spc="140">
                <a:solidFill>
                  <a:srgbClr val="56524B"/>
                </a:solidFill>
                <a:latin typeface="Calibri"/>
              </a:rPr>
              <a:t>BOSTON, 1967</a:t>
            </a:r>
          </a:p>
        </p:txBody>
      </p:sp>
      <p:sp>
        <p:nvSpPr>
          <p:cNvPr id="9" name="TextBox 8"/>
          <p:cNvSpPr txBox="1"/>
          <p:nvPr/>
        </p:nvSpPr>
        <p:spPr>
          <a:xfrm>
            <a:off x="3108960" y="1060704"/>
            <a:ext cx="2926080" cy="182880"/>
          </a:xfrm>
          <a:prstGeom prst="rect">
            <a:avLst/>
          </a:prstGeom>
          <a:noFill/>
          <a:effectLst/>
        </p:spPr>
        <p:txBody>
          <a:bodyPr wrap="square" anchor="t" lIns="0" rIns="0" tIns="0" bIns="0">
            <a:spAutoFit/>
          </a:bodyPr>
          <a:lstStyle/>
          <a:p>
            <a:pPr algn="ctr">
              <a:lnSpc>
                <a:spcPct val="125000"/>
              </a:lnSpc>
              <a:spcAft>
                <a:spcPts val="0"/>
              </a:spcAft>
            </a:pPr>
            <a:r>
              <a:rPr sz="800" b="1" i="0" spc="140">
                <a:solidFill>
                  <a:srgbClr val="56524B"/>
                </a:solidFill>
                <a:latin typeface="Calibri"/>
              </a:rPr>
              <a:t>VOLUME ONE</a:t>
            </a:r>
          </a:p>
        </p:txBody>
      </p:sp>
      <p:sp>
        <p:nvSpPr>
          <p:cNvPr id="10" name="TextBox 9"/>
          <p:cNvSpPr txBox="1"/>
          <p:nvPr/>
        </p:nvSpPr>
        <p:spPr>
          <a:xfrm>
            <a:off x="5532120" y="1060704"/>
            <a:ext cx="2926080" cy="182880"/>
          </a:xfrm>
          <a:prstGeom prst="rect">
            <a:avLst/>
          </a:prstGeom>
          <a:noFill/>
          <a:effectLst/>
        </p:spPr>
        <p:txBody>
          <a:bodyPr wrap="square" anchor="t" lIns="0" rIns="0" tIns="0" bIns="0">
            <a:spAutoFit/>
          </a:bodyPr>
          <a:lstStyle/>
          <a:p>
            <a:pPr algn="r">
              <a:lnSpc>
                <a:spcPct val="125000"/>
              </a:lnSpc>
              <a:spcAft>
                <a:spcPts val="0"/>
              </a:spcAft>
            </a:pPr>
            <a:r>
              <a:rPr sz="800" b="1" i="0" spc="140">
                <a:solidFill>
                  <a:srgbClr val="56524B"/>
                </a:solidFill>
                <a:latin typeface="Calibri"/>
              </a:rPr>
              <a:t>LESSON 1 OF 5</a:t>
            </a:r>
          </a:p>
        </p:txBody>
      </p:sp>
      <p:sp>
        <p:nvSpPr>
          <p:cNvPr id="11" name="Rectangle 10"/>
          <p:cNvSpPr/>
          <p:nvPr/>
        </p:nvSpPr>
        <p:spPr>
          <a:xfrm>
            <a:off x="685800" y="1280160"/>
            <a:ext cx="7772400" cy="3200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85800" y="1421891"/>
            <a:ext cx="7772400" cy="881888"/>
          </a:xfrm>
          <a:prstGeom prst="rect">
            <a:avLst/>
          </a:prstGeom>
          <a:noFill/>
          <a:effectLst/>
        </p:spPr>
        <p:txBody>
          <a:bodyPr wrap="square" anchor="t" lIns="0" rIns="0" tIns="0" bIns="0">
            <a:spAutoFit/>
          </a:bodyPr>
          <a:lstStyle/>
          <a:p>
            <a:pPr algn="l">
              <a:lnSpc>
                <a:spcPct val="100000"/>
              </a:lnSpc>
              <a:spcAft>
                <a:spcPts val="0"/>
              </a:spcAft>
            </a:pPr>
            <a:r>
              <a:rPr sz="2800" b="0" i="0">
                <a:solidFill>
                  <a:srgbClr val="262422"/>
                </a:solidFill>
                <a:latin typeface="Georgia"/>
              </a:rPr>
              <a:t>FAT, NOT SUGAR, IS THE</a:t>
            </a:r>
            <a:br>
              <a:rPr lang="en-GB"/>
            </a:br>
            <a:r>
              <a:rPr sz="2800" b="0" i="0">
                <a:solidFill>
                  <a:srgbClr val="262422"/>
                </a:solidFill>
                <a:latin typeface="Georgia"/>
              </a:rPr>
              <a:t>DANGER TO YOUR HEART</a:t>
            </a:r>
          </a:p>
        </p:txBody>
      </p:sp>
      <p:sp>
        <p:nvSpPr>
          <p:cNvPr id="13" name="TextBox 12"/>
          <p:cNvSpPr txBox="1"/>
          <p:nvPr/>
        </p:nvSpPr>
        <p:spPr>
          <a:xfrm>
            <a:off x="685800" y="2376931"/>
            <a:ext cx="7772400" cy="409448"/>
          </a:xfrm>
          <a:prstGeom prst="rect">
            <a:avLst/>
          </a:prstGeom>
          <a:noFill/>
          <a:effectLst/>
        </p:spPr>
        <p:txBody>
          <a:bodyPr wrap="square" anchor="t" lIns="0" rIns="0" tIns="0" bIns="0">
            <a:spAutoFit/>
          </a:bodyPr>
          <a:lstStyle/>
          <a:p>
            <a:pPr algn="l">
              <a:lnSpc>
                <a:spcPct val="118000"/>
              </a:lnSpc>
              <a:spcAft>
                <a:spcPts val="0"/>
              </a:spcAft>
            </a:pPr>
            <a:r>
              <a:rPr sz="1300" b="0" i="1">
                <a:solidFill>
                  <a:srgbClr val="56524B"/>
                </a:solidFill>
                <a:latin typeface="Georgia"/>
              </a:rPr>
              <a:t>Harvard scientists review the evidence and find only one change to diet that can prevent heart disease: cutting fat and cholesterol.</a:t>
            </a:r>
          </a:p>
        </p:txBody>
      </p:sp>
      <p:sp>
        <p:nvSpPr>
          <p:cNvPr id="14" name="Rectangle 13"/>
          <p:cNvSpPr/>
          <p:nvPr/>
        </p:nvSpPr>
        <p:spPr>
          <a:xfrm>
            <a:off x="685800" y="2877819"/>
            <a:ext cx="7772400" cy="914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85800" y="2987547"/>
            <a:ext cx="2432304" cy="1188720"/>
          </a:xfrm>
          <a:prstGeom prst="rect">
            <a:avLst/>
          </a:prstGeom>
          <a:noFill/>
          <a:effectLst/>
        </p:spPr>
        <p:txBody>
          <a:bodyPr wrap="square" anchor="t" lIns="0" rIns="0" tIns="0" bIns="0">
            <a:spAutoFit/>
          </a:bodyPr>
          <a:lstStyle/>
          <a:p>
            <a:pPr algn="l">
              <a:lnSpc>
                <a:spcPct val="126000"/>
              </a:lnSpc>
              <a:spcAft>
                <a:spcPts val="0"/>
              </a:spcAft>
            </a:pPr>
            <a:r>
              <a:rPr sz="1200" b="0" i="0">
                <a:solidFill>
                  <a:srgbClr val="262422"/>
                </a:solidFill>
                <a:latin typeface="Georgia"/>
              </a:rPr>
              <a:t>A review in the New England Journal of Medicine, one of the most respected medical journals in the world, has looked at the studies blaming sugar for heart disease.</a:t>
            </a:r>
          </a:p>
        </p:txBody>
      </p:sp>
      <p:sp>
        <p:nvSpPr>
          <p:cNvPr id="16" name="Rectangle 15"/>
          <p:cNvSpPr/>
          <p:nvPr/>
        </p:nvSpPr>
        <p:spPr>
          <a:xfrm>
            <a:off x="3236976" y="2987547"/>
            <a:ext cx="9144" cy="1511300"/>
          </a:xfrm>
          <a:prstGeom prst="rect">
            <a:avLst/>
          </a:prstGeom>
          <a:solidFill>
            <a:srgbClr val="8C877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355848" y="2987547"/>
            <a:ext cx="2432304" cy="1188720"/>
          </a:xfrm>
          <a:prstGeom prst="rect">
            <a:avLst/>
          </a:prstGeom>
          <a:noFill/>
          <a:effectLst/>
        </p:spPr>
        <p:txBody>
          <a:bodyPr wrap="square" anchor="t" lIns="0" rIns="0" tIns="0" bIns="0">
            <a:spAutoFit/>
          </a:bodyPr>
          <a:lstStyle/>
          <a:p>
            <a:pPr algn="l">
              <a:lnSpc>
                <a:spcPct val="126000"/>
              </a:lnSpc>
              <a:spcAft>
                <a:spcPts val="0"/>
              </a:spcAft>
            </a:pPr>
            <a:r>
              <a:rPr sz="1200" b="0" i="0">
                <a:solidFill>
                  <a:srgbClr val="262422"/>
                </a:solidFill>
                <a:latin typeface="Georgia"/>
              </a:rPr>
              <a:t>Its authors, from Harvard’s School of Public Health, found those studies weak. The answer, they say, is fat and cholesterol, and that is where families should look.</a:t>
            </a:r>
          </a:p>
        </p:txBody>
      </p:sp>
      <p:sp>
        <p:nvSpPr>
          <p:cNvPr id="18" name="Rectangle 17"/>
          <p:cNvSpPr/>
          <p:nvPr/>
        </p:nvSpPr>
        <p:spPr>
          <a:xfrm>
            <a:off x="5907024" y="2987547"/>
            <a:ext cx="9144" cy="1511300"/>
          </a:xfrm>
          <a:prstGeom prst="rect">
            <a:avLst/>
          </a:prstGeom>
          <a:solidFill>
            <a:srgbClr val="8C877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025896" y="2987547"/>
            <a:ext cx="2432304" cy="1379855"/>
          </a:xfrm>
          <a:prstGeom prst="rect">
            <a:avLst/>
          </a:prstGeom>
          <a:solidFill>
            <a:srgbClr val="EFE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025896" y="2987547"/>
            <a:ext cx="45720" cy="1379855"/>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208776" y="3133851"/>
            <a:ext cx="2121408" cy="818896"/>
          </a:xfrm>
          <a:prstGeom prst="rect">
            <a:avLst/>
          </a:prstGeom>
          <a:noFill/>
          <a:effectLst/>
        </p:spPr>
        <p:txBody>
          <a:bodyPr wrap="square" anchor="t" lIns="0" rIns="0" tIns="0" bIns="0">
            <a:spAutoFit/>
          </a:bodyPr>
          <a:lstStyle/>
          <a:p>
            <a:pPr algn="l">
              <a:lnSpc>
                <a:spcPct val="112000"/>
              </a:lnSpc>
              <a:spcAft>
                <a:spcPts val="0"/>
              </a:spcAft>
            </a:pPr>
            <a:r>
              <a:rPr sz="1300" b="0" i="0">
                <a:solidFill>
                  <a:srgbClr val="34322F"/>
                </a:solidFill>
                <a:latin typeface="Georgia"/>
              </a:rPr>
              <a:t>The only diet change that can prevent heart disease is cutting fat and cholesterol.</a:t>
            </a:r>
          </a:p>
        </p:txBody>
      </p:sp>
      <p:sp>
        <p:nvSpPr>
          <p:cNvPr id="22" name="TextBox 21"/>
          <p:cNvSpPr txBox="1"/>
          <p:nvPr/>
        </p:nvSpPr>
        <p:spPr>
          <a:xfrm>
            <a:off x="6208776" y="4044187"/>
            <a:ext cx="2121408" cy="140335"/>
          </a:xfrm>
          <a:prstGeom prst="rect">
            <a:avLst/>
          </a:prstGeom>
          <a:noFill/>
          <a:effectLst/>
        </p:spPr>
        <p:txBody>
          <a:bodyPr wrap="square" anchor="t" lIns="0" rIns="0" tIns="0" bIns="0">
            <a:spAutoFit/>
          </a:bodyPr>
          <a:lstStyle/>
          <a:p>
            <a:pPr algn="l">
              <a:lnSpc>
                <a:spcPct val="125000"/>
              </a:lnSpc>
              <a:spcAft>
                <a:spcPts val="0"/>
              </a:spcAft>
            </a:pPr>
            <a:r>
              <a:rPr sz="800" b="1" i="0" spc="110">
                <a:solidFill>
                  <a:srgbClr val="56524B"/>
                </a:solidFill>
                <a:latin typeface="Calibri"/>
              </a:rPr>
              <a:t>WHAT THE REVIEW CONCLUDED</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How much do you believe it?</a:t>
            </a:r>
          </a:p>
        </p:txBody>
      </p:sp>
      <p:sp>
        <p:nvSpPr>
          <p:cNvPr id="6" name="KEEP_SHADOW"/>
          <p:cNvSpPr/>
          <p:nvPr/>
        </p:nvSpPr>
        <p:spPr>
          <a:xfrm>
            <a:off x="685800" y="1225296"/>
            <a:ext cx="7772400" cy="612647"/>
          </a:xfrm>
          <a:prstGeom prst="rect">
            <a:avLst/>
          </a:prstGeom>
          <a:solidFill>
            <a:srgbClr val="FFFFFF"/>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225296"/>
            <a:ext cx="45720" cy="612647"/>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051560" y="1389888"/>
            <a:ext cx="7040880" cy="283464"/>
          </a:xfrm>
          <a:prstGeom prst="rect">
            <a:avLst/>
          </a:prstGeom>
          <a:noFill/>
          <a:effectLst/>
        </p:spPr>
        <p:txBody>
          <a:bodyPr wrap="square" anchor="t" lIns="0" rIns="0" tIns="0" bIns="0">
            <a:spAutoFit/>
          </a:bodyPr>
          <a:lstStyle/>
          <a:p>
            <a:pPr algn="ctr">
              <a:lnSpc>
                <a:spcPct val="112000"/>
              </a:lnSpc>
              <a:spcAft>
                <a:spcPts val="0"/>
              </a:spcAft>
            </a:pPr>
            <a:r>
              <a:rPr sz="1800" b="0" i="0">
                <a:solidFill>
                  <a:srgbClr val="262422"/>
                </a:solidFill>
                <a:latin typeface="Georgia"/>
              </a:rPr>
              <a:t>“Sugar is not a problem for your heart. Fat is.”</a:t>
            </a:r>
          </a:p>
        </p:txBody>
      </p:sp>
      <p:sp>
        <p:nvSpPr>
          <p:cNvPr id="9" name="Rectangle 8"/>
          <p:cNvSpPr/>
          <p:nvPr/>
        </p:nvSpPr>
        <p:spPr>
          <a:xfrm>
            <a:off x="960120" y="2395728"/>
            <a:ext cx="7223759" cy="36576"/>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949147" y="2286000"/>
            <a:ext cx="21945" cy="25603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31520"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300" b="1" i="0">
                <a:solidFill>
                  <a:srgbClr val="262422"/>
                </a:solidFill>
                <a:latin typeface="Calibri"/>
              </a:rPr>
              <a:t>0</a:t>
            </a:r>
          </a:p>
        </p:txBody>
      </p:sp>
      <p:sp>
        <p:nvSpPr>
          <p:cNvPr id="12" name="Rectangle 11"/>
          <p:cNvSpPr/>
          <p:nvPr/>
        </p:nvSpPr>
        <p:spPr>
          <a:xfrm>
            <a:off x="1671523"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453895"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1</a:t>
            </a:r>
          </a:p>
        </p:txBody>
      </p:sp>
      <p:sp>
        <p:nvSpPr>
          <p:cNvPr id="14" name="Rectangle 13"/>
          <p:cNvSpPr/>
          <p:nvPr/>
        </p:nvSpPr>
        <p:spPr>
          <a:xfrm>
            <a:off x="2393899"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176272"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2</a:t>
            </a:r>
          </a:p>
        </p:txBody>
      </p:sp>
      <p:sp>
        <p:nvSpPr>
          <p:cNvPr id="16" name="Rectangle 15"/>
          <p:cNvSpPr/>
          <p:nvPr/>
        </p:nvSpPr>
        <p:spPr>
          <a:xfrm>
            <a:off x="3116275"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2898648"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3</a:t>
            </a:r>
          </a:p>
        </p:txBody>
      </p:sp>
      <p:sp>
        <p:nvSpPr>
          <p:cNvPr id="18" name="Rectangle 17"/>
          <p:cNvSpPr/>
          <p:nvPr/>
        </p:nvSpPr>
        <p:spPr>
          <a:xfrm>
            <a:off x="3838651"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3621024"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4</a:t>
            </a:r>
          </a:p>
        </p:txBody>
      </p:sp>
      <p:sp>
        <p:nvSpPr>
          <p:cNvPr id="20" name="Rectangle 19"/>
          <p:cNvSpPr/>
          <p:nvPr/>
        </p:nvSpPr>
        <p:spPr>
          <a:xfrm>
            <a:off x="4561027" y="2286000"/>
            <a:ext cx="21945" cy="25603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343400"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300" b="1" i="0">
                <a:solidFill>
                  <a:srgbClr val="262422"/>
                </a:solidFill>
                <a:latin typeface="Calibri"/>
              </a:rPr>
              <a:t>5</a:t>
            </a:r>
          </a:p>
        </p:txBody>
      </p:sp>
      <p:sp>
        <p:nvSpPr>
          <p:cNvPr id="22" name="Rectangle 21"/>
          <p:cNvSpPr/>
          <p:nvPr/>
        </p:nvSpPr>
        <p:spPr>
          <a:xfrm>
            <a:off x="5283403"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65776"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6</a:t>
            </a:r>
          </a:p>
        </p:txBody>
      </p:sp>
      <p:sp>
        <p:nvSpPr>
          <p:cNvPr id="24" name="Rectangle 23"/>
          <p:cNvSpPr/>
          <p:nvPr/>
        </p:nvSpPr>
        <p:spPr>
          <a:xfrm>
            <a:off x="6005779"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788151"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7</a:t>
            </a:r>
          </a:p>
        </p:txBody>
      </p:sp>
      <p:sp>
        <p:nvSpPr>
          <p:cNvPr id="26" name="Rectangle 25"/>
          <p:cNvSpPr/>
          <p:nvPr/>
        </p:nvSpPr>
        <p:spPr>
          <a:xfrm>
            <a:off x="6728155"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10527"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8</a:t>
            </a:r>
          </a:p>
        </p:txBody>
      </p:sp>
      <p:sp>
        <p:nvSpPr>
          <p:cNvPr id="28" name="Rectangle 27"/>
          <p:cNvSpPr/>
          <p:nvPr/>
        </p:nvSpPr>
        <p:spPr>
          <a:xfrm>
            <a:off x="7450531"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32904"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9</a:t>
            </a:r>
          </a:p>
        </p:txBody>
      </p:sp>
      <p:sp>
        <p:nvSpPr>
          <p:cNvPr id="30" name="Rectangle 29"/>
          <p:cNvSpPr/>
          <p:nvPr/>
        </p:nvSpPr>
        <p:spPr>
          <a:xfrm>
            <a:off x="8172907" y="2286000"/>
            <a:ext cx="21945" cy="25603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955280"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300" b="1" i="0">
                <a:solidFill>
                  <a:srgbClr val="262422"/>
                </a:solidFill>
                <a:latin typeface="Calibri"/>
              </a:rPr>
              <a:t>10</a:t>
            </a:r>
          </a:p>
        </p:txBody>
      </p:sp>
      <p:sp>
        <p:nvSpPr>
          <p:cNvPr id="32" name="TextBox 31"/>
          <p:cNvSpPr txBox="1"/>
          <p:nvPr/>
        </p:nvSpPr>
        <p:spPr>
          <a:xfrm>
            <a:off x="685800" y="2852928"/>
            <a:ext cx="2194560" cy="237744"/>
          </a:xfrm>
          <a:prstGeom prst="rect">
            <a:avLst/>
          </a:prstGeom>
          <a:noFill/>
          <a:effectLst/>
        </p:spPr>
        <p:txBody>
          <a:bodyPr wrap="square" anchor="t" lIns="0" rIns="0" tIns="0" bIns="0">
            <a:spAutoFit/>
          </a:bodyPr>
          <a:lstStyle/>
          <a:p>
            <a:pPr algn="l">
              <a:lnSpc>
                <a:spcPct val="125000"/>
              </a:lnSpc>
              <a:spcAft>
                <a:spcPts val="0"/>
              </a:spcAft>
            </a:pPr>
            <a:r>
              <a:rPr sz="1100" b="1" i="0">
                <a:solidFill>
                  <a:srgbClr val="34322F"/>
                </a:solidFill>
                <a:latin typeface="Calibri"/>
              </a:rPr>
              <a:t>Definitely false</a:t>
            </a:r>
          </a:p>
        </p:txBody>
      </p:sp>
      <p:sp>
        <p:nvSpPr>
          <p:cNvPr id="33" name="TextBox 32"/>
          <p:cNvSpPr txBox="1"/>
          <p:nvPr/>
        </p:nvSpPr>
        <p:spPr>
          <a:xfrm>
            <a:off x="6263640" y="2852928"/>
            <a:ext cx="2194560" cy="237744"/>
          </a:xfrm>
          <a:prstGeom prst="rect">
            <a:avLst/>
          </a:prstGeom>
          <a:noFill/>
          <a:effectLst/>
        </p:spPr>
        <p:txBody>
          <a:bodyPr wrap="square" anchor="t" lIns="0" rIns="0" tIns="0" bIns="0">
            <a:spAutoFit/>
          </a:bodyPr>
          <a:lstStyle/>
          <a:p>
            <a:pPr algn="r">
              <a:lnSpc>
                <a:spcPct val="125000"/>
              </a:lnSpc>
              <a:spcAft>
                <a:spcPts val="0"/>
              </a:spcAft>
            </a:pPr>
            <a:r>
              <a:rPr sz="1100" b="1" i="0">
                <a:solidFill>
                  <a:srgbClr val="34322F"/>
                </a:solidFill>
                <a:latin typeface="Calibri"/>
              </a:rPr>
              <a:t>Definitely true</a:t>
            </a:r>
          </a:p>
        </p:txBody>
      </p:sp>
      <p:sp>
        <p:nvSpPr>
          <p:cNvPr id="34" name="TextBox 33"/>
          <p:cNvSpPr txBox="1"/>
          <p:nvPr/>
        </p:nvSpPr>
        <p:spPr>
          <a:xfrm>
            <a:off x="868680" y="3913632"/>
            <a:ext cx="7406640" cy="432054"/>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Stand on the line where you are now. Two or three people say why they are standing there.</a:t>
            </a:r>
          </a:p>
        </p:txBody>
      </p:sp>
      <p:pic>
        <p:nvPicPr>
          <p:cNvPr id="35" name="Picture 34"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36" name="TextBox 35"/>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37" name="TextBox 36"/>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Five questions for any headline</a:t>
            </a:r>
          </a:p>
        </p:txBody>
      </p:sp>
      <p:sp>
        <p:nvSpPr>
          <p:cNvPr id="6" name="Rectangle 5"/>
          <p:cNvSpPr/>
          <p:nvPr/>
        </p:nvSpPr>
        <p:spPr>
          <a:xfrm>
            <a:off x="685800" y="1188720"/>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50392" y="1243584"/>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megaphone.png"/>
          <p:cNvPicPr>
            <a:picLocks noChangeAspect="1"/>
          </p:cNvPicPr>
          <p:nvPr/>
        </p:nvPicPr>
        <p:blipFill>
          <a:blip r:embed="rId2"/>
          <a:stretch>
            <a:fillRect/>
          </a:stretch>
        </p:blipFill>
        <p:spPr>
          <a:xfrm>
            <a:off x="932688" y="1325880"/>
            <a:ext cx="237744" cy="237744"/>
          </a:xfrm>
          <a:prstGeom prst="rect">
            <a:avLst/>
          </a:prstGeom>
          <a:effectLst/>
        </p:spPr>
      </p:pic>
      <p:sp>
        <p:nvSpPr>
          <p:cNvPr id="9" name="TextBox 8"/>
          <p:cNvSpPr txBox="1"/>
          <p:nvPr/>
        </p:nvSpPr>
        <p:spPr>
          <a:xfrm>
            <a:off x="1417320" y="1325880"/>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Who is saying it?</a:t>
            </a:r>
          </a:p>
        </p:txBody>
      </p:sp>
      <p:sp>
        <p:nvSpPr>
          <p:cNvPr id="10" name="TextBox 9"/>
          <p:cNvSpPr txBox="1"/>
          <p:nvPr/>
        </p:nvSpPr>
        <p:spPr>
          <a:xfrm>
            <a:off x="4892040" y="1279398"/>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A company, a scientist, a newspaper, a government? Check the name.</a:t>
            </a:r>
          </a:p>
        </p:txBody>
      </p:sp>
      <p:sp>
        <p:nvSpPr>
          <p:cNvPr id="11" name="Rectangle 10"/>
          <p:cNvSpPr/>
          <p:nvPr/>
        </p:nvSpPr>
        <p:spPr>
          <a:xfrm>
            <a:off x="685800" y="1792224"/>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50392" y="1847088"/>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coins.png"/>
          <p:cNvPicPr>
            <a:picLocks noChangeAspect="1"/>
          </p:cNvPicPr>
          <p:nvPr/>
        </p:nvPicPr>
        <p:blipFill>
          <a:blip r:embed="rId3"/>
          <a:stretch>
            <a:fillRect/>
          </a:stretch>
        </p:blipFill>
        <p:spPr>
          <a:xfrm>
            <a:off x="932688" y="1929384"/>
            <a:ext cx="237744" cy="237744"/>
          </a:xfrm>
          <a:prstGeom prst="rect">
            <a:avLst/>
          </a:prstGeom>
          <a:effectLst/>
        </p:spPr>
      </p:pic>
      <p:sp>
        <p:nvSpPr>
          <p:cNvPr id="14" name="TextBox 13"/>
          <p:cNvSpPr txBox="1"/>
          <p:nvPr/>
        </p:nvSpPr>
        <p:spPr>
          <a:xfrm>
            <a:off x="1417320" y="1929384"/>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Who gains if I believe it?</a:t>
            </a:r>
          </a:p>
        </p:txBody>
      </p:sp>
      <p:sp>
        <p:nvSpPr>
          <p:cNvPr id="15" name="TextBox 14"/>
          <p:cNvSpPr txBox="1"/>
          <p:nvPr/>
        </p:nvSpPr>
        <p:spPr>
          <a:xfrm>
            <a:off x="4892040" y="1882902"/>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Somebody always does. Work out who, and what they get.</a:t>
            </a:r>
          </a:p>
        </p:txBody>
      </p:sp>
      <p:sp>
        <p:nvSpPr>
          <p:cNvPr id="16" name="Rectangle 15"/>
          <p:cNvSpPr/>
          <p:nvPr/>
        </p:nvSpPr>
        <p:spPr>
          <a:xfrm>
            <a:off x="685800" y="2395728"/>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850392" y="2450592"/>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purse.png"/>
          <p:cNvPicPr>
            <a:picLocks noChangeAspect="1"/>
          </p:cNvPicPr>
          <p:nvPr/>
        </p:nvPicPr>
        <p:blipFill>
          <a:blip r:embed="rId4"/>
          <a:stretch>
            <a:fillRect/>
          </a:stretch>
        </p:blipFill>
        <p:spPr>
          <a:xfrm>
            <a:off x="932688" y="2532888"/>
            <a:ext cx="237744" cy="237744"/>
          </a:xfrm>
          <a:prstGeom prst="rect">
            <a:avLst/>
          </a:prstGeom>
          <a:effectLst/>
        </p:spPr>
      </p:pic>
      <p:sp>
        <p:nvSpPr>
          <p:cNvPr id="19" name="TextBox 18"/>
          <p:cNvSpPr txBox="1"/>
          <p:nvPr/>
        </p:nvSpPr>
        <p:spPr>
          <a:xfrm>
            <a:off x="1417320" y="2532888"/>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Who paid for it?</a:t>
            </a:r>
          </a:p>
        </p:txBody>
      </p:sp>
      <p:sp>
        <p:nvSpPr>
          <p:cNvPr id="20" name="TextBox 19"/>
          <p:cNvSpPr txBox="1"/>
          <p:nvPr/>
        </p:nvSpPr>
        <p:spPr>
          <a:xfrm>
            <a:off x="4892040" y="2486406"/>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The research, the advert, the survey. Money does not make it false, but you should know.</a:t>
            </a:r>
          </a:p>
        </p:txBody>
      </p:sp>
      <p:sp>
        <p:nvSpPr>
          <p:cNvPr id="21" name="Rectangle 20"/>
          <p:cNvSpPr/>
          <p:nvPr/>
        </p:nvSpPr>
        <p:spPr>
          <a:xfrm>
            <a:off x="685800" y="2999232"/>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850392" y="305409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magnifier.png"/>
          <p:cNvPicPr>
            <a:picLocks noChangeAspect="1"/>
          </p:cNvPicPr>
          <p:nvPr/>
        </p:nvPicPr>
        <p:blipFill>
          <a:blip r:embed="rId5"/>
          <a:stretch>
            <a:fillRect/>
          </a:stretch>
        </p:blipFill>
        <p:spPr>
          <a:xfrm>
            <a:off x="932688" y="3136392"/>
            <a:ext cx="237744" cy="237744"/>
          </a:xfrm>
          <a:prstGeom prst="rect">
            <a:avLst/>
          </a:prstGeom>
          <a:effectLst/>
        </p:spPr>
      </p:pic>
      <p:sp>
        <p:nvSpPr>
          <p:cNvPr id="24" name="TextBox 23"/>
          <p:cNvSpPr txBox="1"/>
          <p:nvPr/>
        </p:nvSpPr>
        <p:spPr>
          <a:xfrm>
            <a:off x="1417320" y="3136392"/>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What is the evidence?</a:t>
            </a:r>
          </a:p>
        </p:txBody>
      </p:sp>
      <p:sp>
        <p:nvSpPr>
          <p:cNvPr id="25" name="TextBox 24"/>
          <p:cNvSpPr txBox="1"/>
          <p:nvPr/>
        </p:nvSpPr>
        <p:spPr>
          <a:xfrm>
            <a:off x="4892040" y="3089910"/>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A study, a number, a graph? Or only a slogan and a famous face?</a:t>
            </a:r>
          </a:p>
        </p:txBody>
      </p:sp>
      <p:sp>
        <p:nvSpPr>
          <p:cNvPr id="26" name="Rectangle 25"/>
          <p:cNvSpPr/>
          <p:nvPr/>
        </p:nvSpPr>
        <p:spPr>
          <a:xfrm>
            <a:off x="685800" y="3602736"/>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850392" y="3657600"/>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flask.png"/>
          <p:cNvPicPr>
            <a:picLocks noChangeAspect="1"/>
          </p:cNvPicPr>
          <p:nvPr/>
        </p:nvPicPr>
        <p:blipFill>
          <a:blip r:embed="rId6"/>
          <a:stretch>
            <a:fillRect/>
          </a:stretch>
        </p:blipFill>
        <p:spPr>
          <a:xfrm>
            <a:off x="932688" y="3739896"/>
            <a:ext cx="237744" cy="237744"/>
          </a:xfrm>
          <a:prstGeom prst="rect">
            <a:avLst/>
          </a:prstGeom>
          <a:effectLst/>
        </p:spPr>
      </p:pic>
      <p:sp>
        <p:nvSpPr>
          <p:cNvPr id="29" name="TextBox 28"/>
          <p:cNvSpPr txBox="1"/>
          <p:nvPr/>
        </p:nvSpPr>
        <p:spPr>
          <a:xfrm>
            <a:off x="1417320" y="3739896"/>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Has it been tested, and by whom?</a:t>
            </a:r>
          </a:p>
        </p:txBody>
      </p:sp>
      <p:sp>
        <p:nvSpPr>
          <p:cNvPr id="30" name="TextBox 29"/>
          <p:cNvSpPr txBox="1"/>
          <p:nvPr/>
        </p:nvSpPr>
        <p:spPr>
          <a:xfrm>
            <a:off x="4892040" y="3693414"/>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Tested on whom, for how long, and by somebody with nothing to gain?</a:t>
            </a:r>
          </a:p>
        </p:txBody>
      </p:sp>
      <p:sp>
        <p:nvSpPr>
          <p:cNvPr id="31" name="TextBox 30"/>
          <p:cNvSpPr txBox="1"/>
          <p:nvPr/>
        </p:nvSpPr>
        <p:spPr>
          <a:xfrm>
            <a:off x="868680" y="4261104"/>
            <a:ext cx="7406640" cy="200025"/>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These five come back in every lesson. The first one is on the front page already.</a:t>
            </a:r>
          </a:p>
        </p:txBody>
      </p:sp>
      <p:pic>
        <p:nvPicPr>
          <p:cNvPr id="32" name="Picture 31" descr="logo-mark.png"/>
          <p:cNvPicPr>
            <a:picLocks noChangeAspect="1"/>
          </p:cNvPicPr>
          <p:nvPr/>
        </p:nvPicPr>
        <p:blipFill>
          <a:blip r:embed="rId7"/>
          <a:stretch>
            <a:fillRect/>
          </a:stretch>
        </p:blipFill>
        <p:spPr>
          <a:xfrm>
            <a:off x="384048" y="4727448"/>
            <a:ext cx="158374" cy="182880"/>
          </a:xfrm>
          <a:prstGeom prst="rect">
            <a:avLst/>
          </a:prstGeom>
          <a:effectLst/>
        </p:spPr>
      </p:pic>
      <p:sp>
        <p:nvSpPr>
          <p:cNvPr id="33" name="TextBox 3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34" name="TextBox 3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Watch the first one</a:t>
            </a:r>
          </a:p>
        </p:txBody>
      </p:sp>
      <p:sp>
        <p:nvSpPr>
          <p:cNvPr id="6" name="TextBox 5"/>
          <p:cNvSpPr txBox="1"/>
          <p:nvPr/>
        </p:nvSpPr>
        <p:spPr>
          <a:xfrm>
            <a:off x="685800" y="1170432"/>
            <a:ext cx="7772400" cy="27432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34322F"/>
                </a:solidFill>
                <a:latin typeface="Georgia"/>
              </a:rPr>
              <a:t>Question 1:  Who is saying it?</a:t>
            </a:r>
          </a:p>
        </p:txBody>
      </p:sp>
      <p:sp>
        <p:nvSpPr>
          <p:cNvPr id="7" name="Rectangle 6"/>
          <p:cNvSpPr/>
          <p:nvPr/>
        </p:nvSpPr>
        <p:spPr>
          <a:xfrm>
            <a:off x="685800" y="1609344"/>
            <a:ext cx="7772400" cy="124968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1609344"/>
            <a:ext cx="45720" cy="124968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97280" y="1837943"/>
            <a:ext cx="6949440" cy="792480"/>
          </a:xfrm>
          <a:prstGeom prst="rect">
            <a:avLst/>
          </a:prstGeom>
          <a:noFill/>
          <a:effectLst/>
        </p:spPr>
        <p:txBody>
          <a:bodyPr wrap="square" anchor="t" lIns="0" rIns="0" tIns="0" bIns="0">
            <a:spAutoFit/>
          </a:bodyPr>
          <a:lstStyle/>
          <a:p>
            <a:pPr algn="l">
              <a:lnSpc>
                <a:spcPct val="128000"/>
              </a:lnSpc>
              <a:spcAft>
                <a:spcPts val="0"/>
              </a:spcAft>
            </a:pPr>
            <a:r>
              <a:rPr sz="1600" b="0" i="0">
                <a:solidFill>
                  <a:srgbClr val="262422"/>
                </a:solidFill>
                <a:latin typeface="Calibri"/>
              </a:rPr>
              <a:t>Scientists from Harvard, writing in one of the most respected medical journals. That sounds trustworthy. What the front page does not say is who paid for the work.</a:t>
            </a:r>
          </a:p>
        </p:txBody>
      </p:sp>
      <p:sp>
        <p:nvSpPr>
          <p:cNvPr id="10" name="TextBox 9"/>
          <p:cNvSpPr txBox="1"/>
          <p:nvPr/>
        </p:nvSpPr>
        <p:spPr>
          <a:xfrm>
            <a:off x="685800" y="3133344"/>
            <a:ext cx="7772400" cy="548640"/>
          </a:xfrm>
          <a:prstGeom prst="rect">
            <a:avLst/>
          </a:prstGeom>
          <a:noFill/>
          <a:effectLst/>
        </p:spPr>
        <p:txBody>
          <a:bodyPr wrap="square" anchor="t" lIns="0" rIns="0" tIns="0" bIns="0">
            <a:spAutoFit/>
          </a:bodyPr>
          <a:lstStyle/>
          <a:p>
            <a:pPr algn="ctr">
              <a:lnSpc>
                <a:spcPct val="125000"/>
              </a:lnSpc>
              <a:spcAft>
                <a:spcPts val="0"/>
              </a:spcAft>
            </a:pPr>
            <a:r>
              <a:rPr sz="1400" b="0" i="1">
                <a:solidFill>
                  <a:srgbClr val="56524B"/>
                </a:solidFill>
                <a:latin typeface="Calibri"/>
              </a:rPr>
              <a:t>Notice the answer is not true or false. It tells you what to look for next.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2" name="TextBox 11"/>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3" name="TextBox 12"/>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Now the other four</a:t>
            </a:r>
          </a:p>
        </p:txBody>
      </p:sp>
      <p:sp>
        <p:nvSpPr>
          <p:cNvPr id="6" name="TextBox 5"/>
          <p:cNvSpPr txBox="1"/>
          <p:nvPr/>
        </p:nvSpPr>
        <p:spPr>
          <a:xfrm>
            <a:off x="685800" y="1152144"/>
            <a:ext cx="7772400" cy="274320"/>
          </a:xfrm>
          <a:prstGeom prst="rect">
            <a:avLst/>
          </a:prstGeom>
          <a:noFill/>
          <a:effectLst/>
        </p:spPr>
        <p:txBody>
          <a:bodyPr wrap="square" anchor="t" lIns="0" rIns="0" tIns="0" bIns="0">
            <a:spAutoFit/>
          </a:bodyPr>
          <a:lstStyle/>
          <a:p>
            <a:pPr algn="l">
              <a:lnSpc>
                <a:spcPct val="125000"/>
              </a:lnSpc>
              <a:spcAft>
                <a:spcPts val="0"/>
              </a:spcAft>
            </a:pPr>
            <a:r>
              <a:rPr sz="1400" b="0" i="0">
                <a:solidFill>
                  <a:srgbClr val="56524B"/>
                </a:solidFill>
                <a:latin typeface="Calibri"/>
              </a:rPr>
              <a:t>Can the front page answer them? Talk it through in your group.</a:t>
            </a:r>
          </a:p>
        </p:txBody>
      </p:sp>
      <p:sp>
        <p:nvSpPr>
          <p:cNvPr id="7" name="Rectangle 6"/>
          <p:cNvSpPr/>
          <p:nvPr/>
        </p:nvSpPr>
        <p:spPr>
          <a:xfrm>
            <a:off x="685800"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1316736"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coins.png"/>
          <p:cNvPicPr>
            <a:picLocks noChangeAspect="1"/>
          </p:cNvPicPr>
          <p:nvPr/>
        </p:nvPicPr>
        <p:blipFill>
          <a:blip r:embed="rId2"/>
          <a:stretch>
            <a:fillRect/>
          </a:stretch>
        </p:blipFill>
        <p:spPr>
          <a:xfrm>
            <a:off x="1426464" y="1947672"/>
            <a:ext cx="310896" cy="310896"/>
          </a:xfrm>
          <a:prstGeom prst="rect">
            <a:avLst/>
          </a:prstGeom>
          <a:effectLst/>
        </p:spPr>
      </p:pic>
      <p:sp>
        <p:nvSpPr>
          <p:cNvPr id="11" name="TextBox 10"/>
          <p:cNvSpPr txBox="1"/>
          <p:nvPr/>
        </p:nvSpPr>
        <p:spPr>
          <a:xfrm>
            <a:off x="822960" y="2487168"/>
            <a:ext cx="1517904" cy="409448"/>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Who gains if I believe it?</a:t>
            </a:r>
          </a:p>
        </p:txBody>
      </p:sp>
      <p:sp>
        <p:nvSpPr>
          <p:cNvPr id="12" name="Rectangle 11"/>
          <p:cNvSpPr/>
          <p:nvPr/>
        </p:nvSpPr>
        <p:spPr>
          <a:xfrm>
            <a:off x="2679192"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679192"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3310128"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purse.png"/>
          <p:cNvPicPr>
            <a:picLocks noChangeAspect="1"/>
          </p:cNvPicPr>
          <p:nvPr/>
        </p:nvPicPr>
        <p:blipFill>
          <a:blip r:embed="rId3"/>
          <a:stretch>
            <a:fillRect/>
          </a:stretch>
        </p:blipFill>
        <p:spPr>
          <a:xfrm>
            <a:off x="3419856" y="1947672"/>
            <a:ext cx="310896" cy="310896"/>
          </a:xfrm>
          <a:prstGeom prst="rect">
            <a:avLst/>
          </a:prstGeom>
          <a:effectLst/>
        </p:spPr>
      </p:pic>
      <p:sp>
        <p:nvSpPr>
          <p:cNvPr id="16" name="TextBox 15"/>
          <p:cNvSpPr txBox="1"/>
          <p:nvPr/>
        </p:nvSpPr>
        <p:spPr>
          <a:xfrm>
            <a:off x="2816352" y="2487168"/>
            <a:ext cx="1517904" cy="204724"/>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Who paid for it?</a:t>
            </a:r>
          </a:p>
        </p:txBody>
      </p:sp>
      <p:sp>
        <p:nvSpPr>
          <p:cNvPr id="17" name="Rectangle 16"/>
          <p:cNvSpPr/>
          <p:nvPr/>
        </p:nvSpPr>
        <p:spPr>
          <a:xfrm>
            <a:off x="4672584"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672584"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5303520"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magnifier.png"/>
          <p:cNvPicPr>
            <a:picLocks noChangeAspect="1"/>
          </p:cNvPicPr>
          <p:nvPr/>
        </p:nvPicPr>
        <p:blipFill>
          <a:blip r:embed="rId4"/>
          <a:stretch>
            <a:fillRect/>
          </a:stretch>
        </p:blipFill>
        <p:spPr>
          <a:xfrm>
            <a:off x="5413248" y="1947672"/>
            <a:ext cx="310896" cy="310896"/>
          </a:xfrm>
          <a:prstGeom prst="rect">
            <a:avLst/>
          </a:prstGeom>
          <a:effectLst/>
        </p:spPr>
      </p:pic>
      <p:sp>
        <p:nvSpPr>
          <p:cNvPr id="21" name="TextBox 20"/>
          <p:cNvSpPr txBox="1"/>
          <p:nvPr/>
        </p:nvSpPr>
        <p:spPr>
          <a:xfrm>
            <a:off x="4809744" y="2487168"/>
            <a:ext cx="1517904" cy="409448"/>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What is the evidence?</a:t>
            </a:r>
          </a:p>
        </p:txBody>
      </p:sp>
      <p:sp>
        <p:nvSpPr>
          <p:cNvPr id="22" name="Rectangle 21"/>
          <p:cNvSpPr/>
          <p:nvPr/>
        </p:nvSpPr>
        <p:spPr>
          <a:xfrm>
            <a:off x="6665976"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665976"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7296912"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flask.png"/>
          <p:cNvPicPr>
            <a:picLocks noChangeAspect="1"/>
          </p:cNvPicPr>
          <p:nvPr/>
        </p:nvPicPr>
        <p:blipFill>
          <a:blip r:embed="rId5"/>
          <a:stretch>
            <a:fillRect/>
          </a:stretch>
        </p:blipFill>
        <p:spPr>
          <a:xfrm>
            <a:off x="7406640" y="1947672"/>
            <a:ext cx="310896" cy="310896"/>
          </a:xfrm>
          <a:prstGeom prst="rect">
            <a:avLst/>
          </a:prstGeom>
          <a:effectLst/>
        </p:spPr>
      </p:pic>
      <p:sp>
        <p:nvSpPr>
          <p:cNvPr id="26" name="TextBox 25"/>
          <p:cNvSpPr txBox="1"/>
          <p:nvPr/>
        </p:nvSpPr>
        <p:spPr>
          <a:xfrm>
            <a:off x="6803136" y="2487168"/>
            <a:ext cx="1517904" cy="614172"/>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Has it been tested, and by whom?</a:t>
            </a:r>
          </a:p>
        </p:txBody>
      </p:sp>
      <p:sp>
        <p:nvSpPr>
          <p:cNvPr id="27" name="TextBox 26"/>
          <p:cNvSpPr txBox="1"/>
          <p:nvPr/>
        </p:nvSpPr>
        <p:spPr>
          <a:xfrm>
            <a:off x="868680" y="3474720"/>
            <a:ext cx="7406640" cy="432054"/>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Then fill in the top of your evidence sheet: where you stand, and what you would need to know.</a:t>
            </a:r>
          </a:p>
        </p:txBody>
      </p:sp>
      <p:pic>
        <p:nvPicPr>
          <p:cNvPr id="28" name="Picture 27" descr="logo-mark.png"/>
          <p:cNvPicPr>
            <a:picLocks noChangeAspect="1"/>
          </p:cNvPicPr>
          <p:nvPr/>
        </p:nvPicPr>
        <p:blipFill>
          <a:blip r:embed="rId6"/>
          <a:stretch>
            <a:fillRect/>
          </a:stretch>
        </p:blipFill>
        <p:spPr>
          <a:xfrm>
            <a:off x="384048" y="4727448"/>
            <a:ext cx="158374" cy="182880"/>
          </a:xfrm>
          <a:prstGeom prst="rect">
            <a:avLst/>
          </a:prstGeom>
          <a:effectLst/>
        </p:spPr>
      </p:pic>
      <p:sp>
        <p:nvSpPr>
          <p:cNvPr id="29" name="TextBox 2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30" name="TextBox 2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1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A</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The authors</a:t>
            </a:r>
          </a:p>
        </p:txBody>
      </p:sp>
      <p:sp>
        <p:nvSpPr>
          <p:cNvPr id="10" name="TextBox 9"/>
          <p:cNvSpPr txBox="1"/>
          <p:nvPr/>
        </p:nvSpPr>
        <p:spPr>
          <a:xfrm>
            <a:off x="1005840" y="1609344"/>
            <a:ext cx="7132320" cy="132080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The review was written by nutrition scientists at Harvard, one of the most famous universities in the world. It came out in 1967 in the New England Journal of Medicine. The authors listed some of the money that paid for their work. The Sugar Research Foundation was not on the list.</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STAT News, 12 September 2016</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A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2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B</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The plan</a:t>
            </a:r>
          </a:p>
        </p:txBody>
      </p:sp>
      <p:sp>
        <p:nvSpPr>
          <p:cNvPr id="10" name="TextBox 9"/>
          <p:cNvSpPr txBox="1"/>
          <p:nvPr/>
        </p:nvSpPr>
        <p:spPr>
          <a:xfrm>
            <a:off x="1005840" y="1609344"/>
            <a:ext cx="7132320" cy="132080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In 1964, a sugar industry group wrote a plan to change “negative attitudes towards sugar”, partly by paying for research. In July 1965, one of its leaders, John Hickson, asked Harvard for a review of the studies that found “some special metabolic peril in sucrose”, which is sugar. The fee was $6,500, about $48,000 in today’s money.</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STAT News and JAMA Internal Medicine, 2016</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B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3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C</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The letter</a:t>
            </a:r>
          </a:p>
        </p:txBody>
      </p:sp>
      <p:sp>
        <p:nvSpPr>
          <p:cNvPr id="10" name="TextBox 9"/>
          <p:cNvSpPr txBox="1"/>
          <p:nvPr/>
        </p:nvSpPr>
        <p:spPr>
          <a:xfrm>
            <a:off x="1005840" y="1609344"/>
            <a:ext cx="7132320" cy="132080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The industry saw a draft before the review was sent to the journal. Hickson wrote back: “Let me assure you this is quite what we had in mind and we look forward to its appearance in print.” The review said cutting fat and cholesterol was the only diet change that could prevent heart disease.</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Quoted in STAT News, 2016</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C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What do the numbers say?</a:t>
            </a:r>
          </a:p>
        </p:txBody>
      </p:sp>
      <p:sp>
        <p:nvSpPr>
          <p:cNvPr id="6" name="TextBox 5"/>
          <p:cNvSpPr txBox="1"/>
          <p:nvPr/>
        </p:nvSpPr>
        <p:spPr>
          <a:xfrm>
            <a:off x="685800" y="1133856"/>
            <a:ext cx="7772400" cy="274320"/>
          </a:xfrm>
          <a:prstGeom prst="rect">
            <a:avLst/>
          </a:prstGeom>
          <a:noFill/>
          <a:effectLst/>
        </p:spPr>
        <p:txBody>
          <a:bodyPr wrap="square" anchor="t" lIns="0" rIns="0" tIns="0" bIns="0">
            <a:spAutoFit/>
          </a:bodyPr>
          <a:lstStyle/>
          <a:p>
            <a:pPr algn="l">
              <a:lnSpc>
                <a:spcPct val="125000"/>
              </a:lnSpc>
              <a:spcAft>
                <a:spcPts val="0"/>
              </a:spcAft>
            </a:pPr>
            <a:r>
              <a:rPr sz="1250" b="0" i="0">
                <a:solidFill>
                  <a:srgbClr val="56524B"/>
                </a:solidFill>
                <a:latin typeface="Calibri"/>
              </a:rPr>
              <a:t>Work them out in your group. Write your working on your evidence sheet.</a:t>
            </a:r>
          </a:p>
        </p:txBody>
      </p:sp>
      <p:sp>
        <p:nvSpPr>
          <p:cNvPr id="7" name="Rectangle 6"/>
          <p:cNvSpPr/>
          <p:nvPr/>
        </p:nvSpPr>
        <p:spPr>
          <a:xfrm>
            <a:off x="685800" y="1481328"/>
            <a:ext cx="7772400" cy="6995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563624"/>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636776"/>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1</a:t>
            </a:r>
          </a:p>
        </p:txBody>
      </p:sp>
      <p:sp>
        <p:nvSpPr>
          <p:cNvPr id="10" name="TextBox 9"/>
          <p:cNvSpPr txBox="1"/>
          <p:nvPr/>
        </p:nvSpPr>
        <p:spPr>
          <a:xfrm>
            <a:off x="1371600" y="1591056"/>
            <a:ext cx="6903720" cy="480060"/>
          </a:xfrm>
          <a:prstGeom prst="rect">
            <a:avLst/>
          </a:prstGeom>
          <a:noFill/>
          <a:effectLst/>
        </p:spPr>
        <p:txBody>
          <a:bodyPr wrap="square" anchor="t" lIns="0" rIns="0" tIns="0" bIns="0">
            <a:spAutoFit/>
          </a:bodyPr>
          <a:lstStyle/>
          <a:p>
            <a:pPr algn="l">
              <a:lnSpc>
                <a:spcPct val="120000"/>
              </a:lnSpc>
              <a:spcAft>
                <a:spcPts val="0"/>
              </a:spcAft>
            </a:pPr>
            <a:r>
              <a:rPr sz="1500" b="1" i="0">
                <a:solidFill>
                  <a:srgbClr val="262422"/>
                </a:solidFill>
                <a:latin typeface="Calibri"/>
              </a:rPr>
              <a:t>The fee was $6,500 in 1965, about $48,000 in 2016 money. Roughly how many times more is the 2016 figure?</a:t>
            </a:r>
          </a:p>
        </p:txBody>
      </p:sp>
      <p:sp>
        <p:nvSpPr>
          <p:cNvPr id="11" name="Rectangle 10"/>
          <p:cNvSpPr/>
          <p:nvPr/>
        </p:nvSpPr>
        <p:spPr>
          <a:xfrm>
            <a:off x="685800" y="2345436"/>
            <a:ext cx="7772400" cy="6995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68680" y="2427732"/>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2500884"/>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2</a:t>
            </a:r>
          </a:p>
        </p:txBody>
      </p:sp>
      <p:sp>
        <p:nvSpPr>
          <p:cNvPr id="14" name="TextBox 13"/>
          <p:cNvSpPr txBox="1"/>
          <p:nvPr/>
        </p:nvSpPr>
        <p:spPr>
          <a:xfrm>
            <a:off x="1371600" y="2455164"/>
            <a:ext cx="6903720" cy="480060"/>
          </a:xfrm>
          <a:prstGeom prst="rect">
            <a:avLst/>
          </a:prstGeom>
          <a:noFill/>
          <a:effectLst/>
        </p:spPr>
        <p:txBody>
          <a:bodyPr wrap="square" anchor="t" lIns="0" rIns="0" tIns="0" bIns="0">
            <a:spAutoFit/>
          </a:bodyPr>
          <a:lstStyle/>
          <a:p>
            <a:pPr algn="l">
              <a:lnSpc>
                <a:spcPct val="120000"/>
              </a:lnSpc>
              <a:spcAft>
                <a:spcPts val="0"/>
              </a:spcAft>
            </a:pPr>
            <a:r>
              <a:rPr sz="1500" b="1" i="0">
                <a:solidFill>
                  <a:srgbClr val="262422"/>
                </a:solidFill>
                <a:latin typeface="Calibri"/>
              </a:rPr>
              <a:t>How many years passed between the review coming out (1967) and the letters being published (2016)?</a:t>
            </a:r>
          </a:p>
        </p:txBody>
      </p:sp>
      <p:sp>
        <p:nvSpPr>
          <p:cNvPr id="15" name="Rectangle 14"/>
          <p:cNvSpPr/>
          <p:nvPr/>
        </p:nvSpPr>
        <p:spPr>
          <a:xfrm>
            <a:off x="685800" y="3209544"/>
            <a:ext cx="7772400" cy="93954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868680" y="3291840"/>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68680" y="3364992"/>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3</a:t>
            </a:r>
          </a:p>
        </p:txBody>
      </p:sp>
      <p:sp>
        <p:nvSpPr>
          <p:cNvPr id="18" name="TextBox 17"/>
          <p:cNvSpPr txBox="1"/>
          <p:nvPr/>
        </p:nvSpPr>
        <p:spPr>
          <a:xfrm>
            <a:off x="1371600" y="3319272"/>
            <a:ext cx="6903720" cy="720090"/>
          </a:xfrm>
          <a:prstGeom prst="rect">
            <a:avLst/>
          </a:prstGeom>
          <a:noFill/>
          <a:effectLst/>
        </p:spPr>
        <p:txBody>
          <a:bodyPr wrap="square" anchor="t" lIns="0" rIns="0" tIns="0" bIns="0">
            <a:spAutoFit/>
          </a:bodyPr>
          <a:lstStyle/>
          <a:p>
            <a:pPr algn="l">
              <a:lnSpc>
                <a:spcPct val="120000"/>
              </a:lnSpc>
              <a:spcAft>
                <a:spcPts val="0"/>
              </a:spcAft>
            </a:pPr>
            <a:r>
              <a:rPr sz="1500" b="1" i="0">
                <a:solidFill>
                  <a:srgbClr val="262422"/>
                </a:solidFill>
                <a:latin typeface="Calibri"/>
              </a:rPr>
              <a:t>The journal started asking authors who paid them in 1984. How many years after the review was that, and why might it matter?</a:t>
            </a:r>
          </a:p>
        </p:txBody>
      </p:sp>
      <p:pic>
        <p:nvPicPr>
          <p:cNvPr id="19" name="Picture 18"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0" name="TextBox 1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1" name="TextBox 2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4" name="Rounded Rectangle 3"/>
          <p:cNvSpPr/>
          <p:nvPr/>
        </p:nvSpPr>
        <p:spPr>
          <a:xfrm>
            <a:off x="7072528" y="246888"/>
            <a:ext cx="1385671"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THE ANSWERS</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Check your working</a:t>
            </a:r>
          </a:p>
        </p:txBody>
      </p:sp>
      <p:sp>
        <p:nvSpPr>
          <p:cNvPr id="6" name="TextBox 5"/>
          <p:cNvSpPr txBox="1"/>
          <p:nvPr/>
        </p:nvSpPr>
        <p:spPr>
          <a:xfrm>
            <a:off x="685800" y="1133856"/>
            <a:ext cx="7772400" cy="274320"/>
          </a:xfrm>
          <a:prstGeom prst="rect">
            <a:avLst/>
          </a:prstGeom>
          <a:noFill/>
          <a:effectLst/>
        </p:spPr>
        <p:txBody>
          <a:bodyPr wrap="square" anchor="t" lIns="0" rIns="0" tIns="0" bIns="0">
            <a:spAutoFit/>
          </a:bodyPr>
          <a:lstStyle/>
          <a:p>
            <a:pPr algn="l">
              <a:lnSpc>
                <a:spcPct val="125000"/>
              </a:lnSpc>
              <a:spcAft>
                <a:spcPts val="0"/>
              </a:spcAft>
            </a:pPr>
            <a:r>
              <a:rPr sz="1250" b="0" i="0">
                <a:solidFill>
                  <a:srgbClr val="56524B"/>
                </a:solidFill>
                <a:latin typeface="Calibri"/>
              </a:rPr>
              <a:t>Mark your own. A different method that gets the same answer is fine.</a:t>
            </a:r>
          </a:p>
        </p:txBody>
      </p:sp>
      <p:sp>
        <p:nvSpPr>
          <p:cNvPr id="7" name="Rectangle 6"/>
          <p:cNvSpPr/>
          <p:nvPr/>
        </p:nvSpPr>
        <p:spPr>
          <a:xfrm>
            <a:off x="685800" y="1481328"/>
            <a:ext cx="7772400" cy="8503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563624"/>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636776"/>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1</a:t>
            </a:r>
          </a:p>
        </p:txBody>
      </p:sp>
      <p:sp>
        <p:nvSpPr>
          <p:cNvPr id="10" name="TextBox 9"/>
          <p:cNvSpPr txBox="1"/>
          <p:nvPr/>
        </p:nvSpPr>
        <p:spPr>
          <a:xfrm>
            <a:off x="1371600" y="1591056"/>
            <a:ext cx="6903720" cy="384048"/>
          </a:xfrm>
          <a:prstGeom prst="rect">
            <a:avLst/>
          </a:prstGeom>
          <a:noFill/>
          <a:effectLst/>
        </p:spPr>
        <p:txBody>
          <a:bodyPr wrap="square" anchor="t" lIns="0" rIns="0" tIns="0" bIns="0">
            <a:spAutoFit/>
          </a:bodyPr>
          <a:lstStyle/>
          <a:p>
            <a:pPr algn="l">
              <a:lnSpc>
                <a:spcPct val="120000"/>
              </a:lnSpc>
              <a:spcAft>
                <a:spcPts val="0"/>
              </a:spcAft>
            </a:pPr>
            <a:r>
              <a:rPr sz="1200" b="1" i="0">
                <a:solidFill>
                  <a:srgbClr val="262422"/>
                </a:solidFill>
                <a:latin typeface="Calibri"/>
              </a:rPr>
              <a:t>The fee was $6,500 in 1965, about $48,000 in 2016 money. Roughly how many times more is the 2016 figure?</a:t>
            </a:r>
          </a:p>
        </p:txBody>
      </p:sp>
      <p:sp>
        <p:nvSpPr>
          <p:cNvPr id="11" name="TextBox 10"/>
          <p:cNvSpPr txBox="1"/>
          <p:nvPr/>
        </p:nvSpPr>
        <p:spPr>
          <a:xfrm>
            <a:off x="1371600" y="2029968"/>
            <a:ext cx="6903720" cy="192024"/>
          </a:xfrm>
          <a:prstGeom prst="rect">
            <a:avLst/>
          </a:prstGeom>
          <a:noFill/>
          <a:effectLst/>
        </p:spPr>
        <p:txBody>
          <a:bodyPr wrap="square" anchor="t" lIns="0" rIns="0" tIns="0" bIns="0">
            <a:spAutoFit/>
          </a:bodyPr>
          <a:lstStyle/>
          <a:p>
            <a:pPr algn="l">
              <a:lnSpc>
                <a:spcPct val="120000"/>
              </a:lnSpc>
              <a:spcAft>
                <a:spcPts val="0"/>
              </a:spcAft>
            </a:pPr>
            <a:r>
              <a:rPr sz="1200" b="0" i="0">
                <a:solidFill>
                  <a:srgbClr val="34322F"/>
                </a:solidFill>
                <a:latin typeface="Calibri"/>
              </a:rPr>
              <a:t>About 7 times (48,000 ÷ 6,500 = 7.4).</a:t>
            </a:r>
          </a:p>
        </p:txBody>
      </p:sp>
      <p:sp>
        <p:nvSpPr>
          <p:cNvPr id="12" name="Rectangle 11"/>
          <p:cNvSpPr/>
          <p:nvPr/>
        </p:nvSpPr>
        <p:spPr>
          <a:xfrm>
            <a:off x="685800" y="2423160"/>
            <a:ext cx="7772400" cy="8503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68680" y="2505456"/>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2578608"/>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2</a:t>
            </a:r>
          </a:p>
        </p:txBody>
      </p:sp>
      <p:sp>
        <p:nvSpPr>
          <p:cNvPr id="15" name="TextBox 14"/>
          <p:cNvSpPr txBox="1"/>
          <p:nvPr/>
        </p:nvSpPr>
        <p:spPr>
          <a:xfrm>
            <a:off x="1371600" y="2532888"/>
            <a:ext cx="6903720" cy="384048"/>
          </a:xfrm>
          <a:prstGeom prst="rect">
            <a:avLst/>
          </a:prstGeom>
          <a:noFill/>
          <a:effectLst/>
        </p:spPr>
        <p:txBody>
          <a:bodyPr wrap="square" anchor="t" lIns="0" rIns="0" tIns="0" bIns="0">
            <a:spAutoFit/>
          </a:bodyPr>
          <a:lstStyle/>
          <a:p>
            <a:pPr algn="l">
              <a:lnSpc>
                <a:spcPct val="120000"/>
              </a:lnSpc>
              <a:spcAft>
                <a:spcPts val="0"/>
              </a:spcAft>
            </a:pPr>
            <a:r>
              <a:rPr sz="1200" b="1" i="0">
                <a:solidFill>
                  <a:srgbClr val="262422"/>
                </a:solidFill>
                <a:latin typeface="Calibri"/>
              </a:rPr>
              <a:t>How many years passed between the review coming out (1967) and the letters being published (2016)?</a:t>
            </a:r>
          </a:p>
        </p:txBody>
      </p:sp>
      <p:sp>
        <p:nvSpPr>
          <p:cNvPr id="16" name="TextBox 15"/>
          <p:cNvSpPr txBox="1"/>
          <p:nvPr/>
        </p:nvSpPr>
        <p:spPr>
          <a:xfrm>
            <a:off x="1371600" y="2971800"/>
            <a:ext cx="6903720" cy="192024"/>
          </a:xfrm>
          <a:prstGeom prst="rect">
            <a:avLst/>
          </a:prstGeom>
          <a:noFill/>
          <a:effectLst/>
        </p:spPr>
        <p:txBody>
          <a:bodyPr wrap="square" anchor="t" lIns="0" rIns="0" tIns="0" bIns="0">
            <a:spAutoFit/>
          </a:bodyPr>
          <a:lstStyle/>
          <a:p>
            <a:pPr algn="l">
              <a:lnSpc>
                <a:spcPct val="120000"/>
              </a:lnSpc>
              <a:spcAft>
                <a:spcPts val="0"/>
              </a:spcAft>
            </a:pPr>
            <a:r>
              <a:rPr sz="1200" b="0" i="0">
                <a:solidFill>
                  <a:srgbClr val="34322F"/>
                </a:solidFill>
                <a:latin typeface="Calibri"/>
              </a:rPr>
              <a:t>49 years.</a:t>
            </a:r>
          </a:p>
        </p:txBody>
      </p:sp>
      <p:sp>
        <p:nvSpPr>
          <p:cNvPr id="17" name="Rectangle 16"/>
          <p:cNvSpPr/>
          <p:nvPr/>
        </p:nvSpPr>
        <p:spPr>
          <a:xfrm>
            <a:off x="685800" y="3364992"/>
            <a:ext cx="7772400" cy="8503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68680" y="3447288"/>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3520440"/>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3</a:t>
            </a:r>
          </a:p>
        </p:txBody>
      </p:sp>
      <p:sp>
        <p:nvSpPr>
          <p:cNvPr id="20" name="TextBox 19"/>
          <p:cNvSpPr txBox="1"/>
          <p:nvPr/>
        </p:nvSpPr>
        <p:spPr>
          <a:xfrm>
            <a:off x="1371600" y="3474720"/>
            <a:ext cx="6903720" cy="384048"/>
          </a:xfrm>
          <a:prstGeom prst="rect">
            <a:avLst/>
          </a:prstGeom>
          <a:noFill/>
          <a:effectLst/>
        </p:spPr>
        <p:txBody>
          <a:bodyPr wrap="square" anchor="t" lIns="0" rIns="0" tIns="0" bIns="0">
            <a:spAutoFit/>
          </a:bodyPr>
          <a:lstStyle/>
          <a:p>
            <a:pPr algn="l">
              <a:lnSpc>
                <a:spcPct val="120000"/>
              </a:lnSpc>
              <a:spcAft>
                <a:spcPts val="0"/>
              </a:spcAft>
            </a:pPr>
            <a:r>
              <a:rPr sz="1200" b="1" i="0">
                <a:solidFill>
                  <a:srgbClr val="262422"/>
                </a:solidFill>
                <a:latin typeface="Calibri"/>
              </a:rPr>
              <a:t>The journal started asking authors who paid them in 1984. How many years after the review was that, and why might it matter?</a:t>
            </a:r>
          </a:p>
        </p:txBody>
      </p:sp>
      <p:sp>
        <p:nvSpPr>
          <p:cNvPr id="21" name="TextBox 20"/>
          <p:cNvSpPr txBox="1"/>
          <p:nvPr/>
        </p:nvSpPr>
        <p:spPr>
          <a:xfrm>
            <a:off x="1371600" y="3913632"/>
            <a:ext cx="6903720" cy="192024"/>
          </a:xfrm>
          <a:prstGeom prst="rect">
            <a:avLst/>
          </a:prstGeom>
          <a:noFill/>
          <a:effectLst/>
        </p:spPr>
        <p:txBody>
          <a:bodyPr wrap="square" anchor="t" lIns="0" rIns="0" tIns="0" bIns="0">
            <a:spAutoFit/>
          </a:bodyPr>
          <a:lstStyle/>
          <a:p>
            <a:pPr algn="l">
              <a:lnSpc>
                <a:spcPct val="120000"/>
              </a:lnSpc>
              <a:spcAft>
                <a:spcPts val="0"/>
              </a:spcAft>
            </a:pPr>
            <a:r>
              <a:rPr sz="1200" b="0" i="0">
                <a:solidFill>
                  <a:srgbClr val="34322F"/>
                </a:solidFill>
                <a:latin typeface="Calibri"/>
              </a:rPr>
              <a:t>17 years. Until then, readers had no way of knowing who had paid for a study.</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3" name="TextBox 2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4" name="TextBox 2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4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D</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Fifty years later</a:t>
            </a:r>
          </a:p>
        </p:txBody>
      </p:sp>
      <p:sp>
        <p:nvSpPr>
          <p:cNvPr id="10" name="TextBox 9"/>
          <p:cNvSpPr txBox="1"/>
          <p:nvPr/>
        </p:nvSpPr>
        <p:spPr>
          <a:xfrm>
            <a:off x="1005840" y="1609344"/>
            <a:ext cx="7132320" cy="132080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In 2016, a researcher called Cristin Kearns published the letters, which she found in a Harvard library. Her co-author said the review “delayed the development of a scientific consensus on sugar–heart disease for decades.” Another Harvard scientist pointed out that, in the 1960s, the evidence against fat really was stronger.</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Kearns, Schmidt and Glantz, JAMA Internal Medicine, 2016</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D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Write the real front page</a:t>
            </a:r>
          </a:p>
        </p:txBody>
      </p:sp>
      <p:sp>
        <p:nvSpPr>
          <p:cNvPr id="6" name="TextBox 5"/>
          <p:cNvSpPr txBox="1"/>
          <p:nvPr/>
        </p:nvSpPr>
        <p:spPr>
          <a:xfrm>
            <a:off x="685800" y="1115568"/>
            <a:ext cx="777240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56524B"/>
                </a:solidFill>
                <a:latin typeface="Calibri"/>
              </a:rPr>
              <a:t>On your front page sheet, on your own or with one partner.</a:t>
            </a:r>
          </a:p>
        </p:txBody>
      </p:sp>
      <p:sp>
        <p:nvSpPr>
          <p:cNvPr id="7" name="Rectangle 6"/>
          <p:cNvSpPr/>
          <p:nvPr/>
        </p:nvSpPr>
        <p:spPr>
          <a:xfrm>
            <a:off x="685800" y="149961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636775"/>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732787"/>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10" name="TextBox 9"/>
          <p:cNvSpPr txBox="1"/>
          <p:nvPr/>
        </p:nvSpPr>
        <p:spPr>
          <a:xfrm>
            <a:off x="1417320" y="160020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A headline that is true to the evidence</a:t>
            </a:r>
          </a:p>
        </p:txBody>
      </p:sp>
      <p:sp>
        <p:nvSpPr>
          <p:cNvPr id="11" name="TextBox 10"/>
          <p:cNvSpPr txBox="1"/>
          <p:nvPr/>
        </p:nvSpPr>
        <p:spPr>
          <a:xfrm>
            <a:off x="1417320" y="184708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No bigger than the evidence. If you are not sure, the headline can say so.</a:t>
            </a:r>
          </a:p>
        </p:txBody>
      </p:sp>
      <p:sp>
        <p:nvSpPr>
          <p:cNvPr id="12" name="Rectangle 11"/>
          <p:cNvSpPr/>
          <p:nvPr/>
        </p:nvSpPr>
        <p:spPr>
          <a:xfrm>
            <a:off x="685800" y="2304288"/>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68680" y="2441448"/>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2537460"/>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5" name="TextBox 14"/>
          <p:cNvSpPr txBox="1"/>
          <p:nvPr/>
        </p:nvSpPr>
        <p:spPr>
          <a:xfrm>
            <a:off x="1417320" y="2404872"/>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One line under it that sums up the story</a:t>
            </a:r>
          </a:p>
        </p:txBody>
      </p:sp>
      <p:sp>
        <p:nvSpPr>
          <p:cNvPr id="16" name="TextBox 15"/>
          <p:cNvSpPr txBox="1"/>
          <p:nvPr/>
        </p:nvSpPr>
        <p:spPr>
          <a:xfrm>
            <a:off x="1417320" y="2651760"/>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Who made the claim, and what they stood to gain.</a:t>
            </a:r>
          </a:p>
        </p:txBody>
      </p:sp>
      <p:sp>
        <p:nvSpPr>
          <p:cNvPr id="17" name="Rectangle 16"/>
          <p:cNvSpPr/>
          <p:nvPr/>
        </p:nvSpPr>
        <p:spPr>
          <a:xfrm>
            <a:off x="685800" y="3108960"/>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68680" y="3246120"/>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3342132"/>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20" name="TextBox 19"/>
          <p:cNvSpPr txBox="1"/>
          <p:nvPr/>
        </p:nvSpPr>
        <p:spPr>
          <a:xfrm>
            <a:off x="1417320" y="3209544"/>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The story, in four or five sentences</a:t>
            </a:r>
          </a:p>
        </p:txBody>
      </p:sp>
      <p:sp>
        <p:nvSpPr>
          <p:cNvPr id="21" name="TextBox 20"/>
          <p:cNvSpPr txBox="1"/>
          <p:nvPr/>
        </p:nvSpPr>
        <p:spPr>
          <a:xfrm>
            <a:off x="1417320" y="3456432"/>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Use at least two cards, name each one, and put in one number from your sums.</a:t>
            </a:r>
          </a:p>
        </p:txBody>
      </p:sp>
      <p:sp>
        <p:nvSpPr>
          <p:cNvPr id="22" name="TextBox 21"/>
          <p:cNvSpPr txBox="1"/>
          <p:nvPr/>
        </p:nvSpPr>
        <p:spPr>
          <a:xfrm>
            <a:off x="868680" y="3986784"/>
            <a:ext cx="7406640" cy="432054"/>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Your evidence sheet has everything you need. Write it for somebody who has not seen the cards.</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Check somebody else’s page</a:t>
            </a:r>
          </a:p>
        </p:txBody>
      </p:sp>
      <p:sp>
        <p:nvSpPr>
          <p:cNvPr id="6" name="TextBox 5"/>
          <p:cNvSpPr txBox="1"/>
          <p:nvPr/>
        </p:nvSpPr>
        <p:spPr>
          <a:xfrm>
            <a:off x="685800" y="1152144"/>
            <a:ext cx="777240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56524B"/>
                </a:solidFill>
                <a:latin typeface="Calibri"/>
              </a:rPr>
              <a:t>Swap front pages with somebody from another group. Tick each box it passes.</a:t>
            </a:r>
          </a:p>
        </p:txBody>
      </p:sp>
      <p:sp>
        <p:nvSpPr>
          <p:cNvPr id="7" name="Rectangle 6"/>
          <p:cNvSpPr/>
          <p:nvPr/>
        </p:nvSpPr>
        <p:spPr>
          <a:xfrm>
            <a:off x="685800" y="159105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72821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824228"/>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10" name="TextBox 9"/>
          <p:cNvSpPr txBox="1"/>
          <p:nvPr/>
        </p:nvSpPr>
        <p:spPr>
          <a:xfrm>
            <a:off x="1417320" y="169164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Is the headline true to the evidence?</a:t>
            </a:r>
          </a:p>
        </p:txBody>
      </p:sp>
      <p:sp>
        <p:nvSpPr>
          <p:cNvPr id="11" name="TextBox 10"/>
          <p:cNvSpPr txBox="1"/>
          <p:nvPr/>
        </p:nvSpPr>
        <p:spPr>
          <a:xfrm>
            <a:off x="1417320" y="193852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Not bigger, not smaller, than what the cards show.</a:t>
            </a:r>
          </a:p>
        </p:txBody>
      </p:sp>
      <p:sp>
        <p:nvSpPr>
          <p:cNvPr id="12" name="Rectangle 11"/>
          <p:cNvSpPr/>
          <p:nvPr/>
        </p:nvSpPr>
        <p:spPr>
          <a:xfrm>
            <a:off x="685800" y="241401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68680" y="255117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2647188"/>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5" name="TextBox 14"/>
          <p:cNvSpPr txBox="1"/>
          <p:nvPr/>
        </p:nvSpPr>
        <p:spPr>
          <a:xfrm>
            <a:off x="1417320" y="251460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Does it say where the evidence came from?</a:t>
            </a:r>
          </a:p>
        </p:txBody>
      </p:sp>
      <p:sp>
        <p:nvSpPr>
          <p:cNvPr id="16" name="TextBox 15"/>
          <p:cNvSpPr txBox="1"/>
          <p:nvPr/>
        </p:nvSpPr>
        <p:spPr>
          <a:xfrm>
            <a:off x="1417320" y="276148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A study, a document, a person with a name.</a:t>
            </a:r>
          </a:p>
        </p:txBody>
      </p:sp>
      <p:sp>
        <p:nvSpPr>
          <p:cNvPr id="17" name="Rectangle 16"/>
          <p:cNvSpPr/>
          <p:nvPr/>
        </p:nvSpPr>
        <p:spPr>
          <a:xfrm>
            <a:off x="685800" y="323697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68680" y="337413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3470148"/>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20" name="TextBox 19"/>
          <p:cNvSpPr txBox="1"/>
          <p:nvPr/>
        </p:nvSpPr>
        <p:spPr>
          <a:xfrm>
            <a:off x="1417320" y="333756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Would it survive the five questions?</a:t>
            </a:r>
          </a:p>
        </p:txBody>
      </p:sp>
      <p:sp>
        <p:nvSpPr>
          <p:cNvPr id="21" name="TextBox 20"/>
          <p:cNvSpPr txBox="1"/>
          <p:nvPr/>
        </p:nvSpPr>
        <p:spPr>
          <a:xfrm>
            <a:off x="1417320" y="358444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Try one or two of them on it.</a:t>
            </a:r>
          </a:p>
        </p:txBody>
      </p:sp>
      <p:sp>
        <p:nvSpPr>
          <p:cNvPr id="22" name="TextBox 21"/>
          <p:cNvSpPr txBox="1"/>
          <p:nvPr/>
        </p:nvSpPr>
        <p:spPr>
          <a:xfrm>
            <a:off x="868680" y="4023360"/>
            <a:ext cx="7406640" cy="216027"/>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Write one change that would make it better, then hand it back.</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4" name="TextBox 3"/>
          <p:cNvSpPr txBox="1"/>
          <p:nvPr/>
        </p:nvSpPr>
        <p:spPr>
          <a:xfrm>
            <a:off x="685800" y="566928"/>
            <a:ext cx="512064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What really happened</a:t>
            </a:r>
          </a:p>
        </p:txBody>
      </p:sp>
      <p:sp>
        <p:nvSpPr>
          <p:cNvPr id="5" name="Rounded Rectangle 4"/>
          <p:cNvSpPr/>
          <p:nvPr/>
        </p:nvSpPr>
        <p:spPr>
          <a:xfrm rot="21120000">
            <a:off x="5748829" y="522732"/>
            <a:ext cx="2858421" cy="746760"/>
          </a:xfrm>
          <a:prstGeom prst="roundRect">
            <a:avLst>
              <a:gd name="adj" fmla="val 8000"/>
            </a:avLst>
          </a:prstGeom>
          <a:noFill/>
          <a:ln w="44450">
            <a:solidFill>
              <a:srgbClr val="34322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ounded Rectangle 5"/>
          <p:cNvSpPr/>
          <p:nvPr/>
        </p:nvSpPr>
        <p:spPr>
          <a:xfrm rot="21120000">
            <a:off x="5831125" y="605028"/>
            <a:ext cx="2693829" cy="582168"/>
          </a:xfrm>
          <a:prstGeom prst="roundRect">
            <a:avLst>
              <a:gd name="adj" fmla="val 6000"/>
            </a:avLst>
          </a:prstGeom>
          <a:noFill/>
          <a:ln w="15240">
            <a:solidFill>
              <a:srgbClr val="34322F"/>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wrap="none"/>
          <a:lstStyle/>
          <a:p>
            <a:pPr algn="ctr"/>
            <a:r>
              <a:rPr sz="3000" b="1" spc="600">
                <a:solidFill>
                  <a:srgbClr val="34322F"/>
                </a:solidFill>
                <a:latin typeface="Calibri"/>
              </a:rPr>
              <a:t>BUSTED</a:t>
            </a:r>
          </a:p>
        </p:txBody>
      </p:sp>
      <p:sp>
        <p:nvSpPr>
          <p:cNvPr id="7" name="TextBox 6"/>
          <p:cNvSpPr txBox="1"/>
          <p:nvPr/>
        </p:nvSpPr>
        <p:spPr>
          <a:xfrm>
            <a:off x="685800" y="1591056"/>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1965</a:t>
            </a:r>
          </a:p>
        </p:txBody>
      </p:sp>
      <p:sp>
        <p:nvSpPr>
          <p:cNvPr id="8" name="Oval 7"/>
          <p:cNvSpPr/>
          <p:nvPr/>
        </p:nvSpPr>
        <p:spPr>
          <a:xfrm>
            <a:off x="1819656" y="1645919"/>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130552" y="1591056"/>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The sugar industry pays for a review of the studies that blamed sugar.</a:t>
            </a:r>
          </a:p>
        </p:txBody>
      </p:sp>
      <p:sp>
        <p:nvSpPr>
          <p:cNvPr id="10" name="TextBox 9"/>
          <p:cNvSpPr txBox="1"/>
          <p:nvPr/>
        </p:nvSpPr>
        <p:spPr>
          <a:xfrm>
            <a:off x="685800" y="2029967"/>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1967</a:t>
            </a:r>
          </a:p>
        </p:txBody>
      </p:sp>
      <p:sp>
        <p:nvSpPr>
          <p:cNvPr id="11" name="Oval 10"/>
          <p:cNvSpPr/>
          <p:nvPr/>
        </p:nvSpPr>
        <p:spPr>
          <a:xfrm>
            <a:off x="1819656" y="2084831"/>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130552" y="2029967"/>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The review blames fat and does not mention the sugar industry’s money.</a:t>
            </a:r>
          </a:p>
        </p:txBody>
      </p:sp>
      <p:sp>
        <p:nvSpPr>
          <p:cNvPr id="13" name="TextBox 12"/>
          <p:cNvSpPr txBox="1"/>
          <p:nvPr/>
        </p:nvSpPr>
        <p:spPr>
          <a:xfrm>
            <a:off x="685800" y="2468879"/>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1984</a:t>
            </a:r>
          </a:p>
        </p:txBody>
      </p:sp>
      <p:sp>
        <p:nvSpPr>
          <p:cNvPr id="14" name="Oval 13"/>
          <p:cNvSpPr/>
          <p:nvPr/>
        </p:nvSpPr>
        <p:spPr>
          <a:xfrm>
            <a:off x="1819656" y="2523744"/>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130552" y="2468879"/>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The journal starts asking authors to say who pays them.</a:t>
            </a:r>
          </a:p>
        </p:txBody>
      </p:sp>
      <p:sp>
        <p:nvSpPr>
          <p:cNvPr id="16" name="TextBox 15"/>
          <p:cNvSpPr txBox="1"/>
          <p:nvPr/>
        </p:nvSpPr>
        <p:spPr>
          <a:xfrm>
            <a:off x="685800" y="2907791"/>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2016</a:t>
            </a:r>
          </a:p>
        </p:txBody>
      </p:sp>
      <p:sp>
        <p:nvSpPr>
          <p:cNvPr id="17" name="Oval 16"/>
          <p:cNvSpPr/>
          <p:nvPr/>
        </p:nvSpPr>
        <p:spPr>
          <a:xfrm>
            <a:off x="1819656" y="2962656"/>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2130552" y="2907791"/>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The letters are found and published.</a:t>
            </a:r>
          </a:p>
        </p:txBody>
      </p:sp>
      <p:sp>
        <p:nvSpPr>
          <p:cNvPr id="19" name="Rectangle 18"/>
          <p:cNvSpPr/>
          <p:nvPr/>
        </p:nvSpPr>
        <p:spPr>
          <a:xfrm>
            <a:off x="685800" y="3840480"/>
            <a:ext cx="7772400" cy="676656"/>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68680" y="3941063"/>
            <a:ext cx="7406640" cy="182880"/>
          </a:xfrm>
          <a:prstGeom prst="rect">
            <a:avLst/>
          </a:prstGeom>
          <a:noFill/>
          <a:effectLst/>
        </p:spPr>
        <p:txBody>
          <a:bodyPr wrap="square" anchor="t" lIns="0" rIns="0" tIns="0" bIns="0">
            <a:spAutoFit/>
          </a:bodyPr>
          <a:lstStyle/>
          <a:p>
            <a:pPr algn="ctr">
              <a:lnSpc>
                <a:spcPct val="125000"/>
              </a:lnSpc>
              <a:spcAft>
                <a:spcPts val="0"/>
              </a:spcAft>
            </a:pPr>
            <a:r>
              <a:rPr sz="850" b="1" i="0" spc="150">
                <a:solidFill>
                  <a:srgbClr val="D7D2C8"/>
                </a:solidFill>
                <a:latin typeface="Calibri"/>
              </a:rPr>
              <a:t>THE QUESTION THAT WOULD HAVE CAUGHT IT</a:t>
            </a:r>
          </a:p>
        </p:txBody>
      </p:sp>
      <p:sp>
        <p:nvSpPr>
          <p:cNvPr id="21" name="TextBox 20"/>
          <p:cNvSpPr txBox="1"/>
          <p:nvPr/>
        </p:nvSpPr>
        <p:spPr>
          <a:xfrm>
            <a:off x="868680" y="4133087"/>
            <a:ext cx="7406640" cy="310896"/>
          </a:xfrm>
          <a:prstGeom prst="rect">
            <a:avLst/>
          </a:prstGeom>
          <a:noFill/>
          <a:effectLst/>
        </p:spPr>
        <p:txBody>
          <a:bodyPr wrap="square" anchor="t" lIns="0" rIns="0" tIns="0" bIns="0">
            <a:spAutoFit/>
          </a:bodyPr>
          <a:lstStyle/>
          <a:p>
            <a:pPr algn="ctr">
              <a:lnSpc>
                <a:spcPct val="125000"/>
              </a:lnSpc>
              <a:spcAft>
                <a:spcPts val="0"/>
              </a:spcAft>
            </a:pPr>
            <a:r>
              <a:rPr sz="1800" b="0" i="0">
                <a:solidFill>
                  <a:srgbClr val="FFFDF7"/>
                </a:solidFill>
                <a:latin typeface="Georgia"/>
              </a:rPr>
              <a:t>Who paid for it?</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3" name="TextBox 2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4" name="TextBox 2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5" name="TextBox 4"/>
          <p:cNvSpPr txBox="1"/>
          <p:nvPr/>
        </p:nvSpPr>
        <p:spPr>
          <a:xfrm>
            <a:off x="685800" y="731520"/>
            <a:ext cx="7772400" cy="201168"/>
          </a:xfrm>
          <a:prstGeom prst="rect">
            <a:avLst/>
          </a:prstGeom>
          <a:noFill/>
          <a:effectLst/>
        </p:spPr>
        <p:txBody>
          <a:bodyPr wrap="square" anchor="t" lIns="0" rIns="0" tIns="0" bIns="0">
            <a:spAutoFit/>
          </a:bodyPr>
          <a:lstStyle/>
          <a:p>
            <a:pPr algn="ctr">
              <a:lnSpc>
                <a:spcPct val="125000"/>
              </a:lnSpc>
              <a:spcAft>
                <a:spcPts val="0"/>
              </a:spcAft>
            </a:pPr>
            <a:r>
              <a:rPr sz="900" b="1" i="0" spc="160">
                <a:solidFill>
                  <a:srgbClr val="56524B"/>
                </a:solidFill>
                <a:latin typeface="Calibri"/>
              </a:rPr>
              <a:t>NO RIGHT ANSWER</a:t>
            </a:r>
          </a:p>
        </p:txBody>
      </p:sp>
      <p:sp>
        <p:nvSpPr>
          <p:cNvPr id="6" name="KEEP_SHADOW"/>
          <p:cNvSpPr/>
          <p:nvPr/>
        </p:nvSpPr>
        <p:spPr>
          <a:xfrm>
            <a:off x="685800" y="1042415"/>
            <a:ext cx="7772400" cy="1241552"/>
          </a:xfrm>
          <a:prstGeom prst="rect">
            <a:avLst/>
          </a:prstGeom>
          <a:solidFill>
            <a:srgbClr val="FFFFFF"/>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042415"/>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143000" y="1316736"/>
            <a:ext cx="6858000" cy="692912"/>
          </a:xfrm>
          <a:prstGeom prst="rect">
            <a:avLst/>
          </a:prstGeom>
          <a:noFill/>
          <a:effectLst/>
        </p:spPr>
        <p:txBody>
          <a:bodyPr wrap="square" anchor="t" lIns="0" rIns="0" tIns="0" bIns="0">
            <a:spAutoFit/>
          </a:bodyPr>
          <a:lstStyle/>
          <a:p>
            <a:pPr algn="ctr">
              <a:lnSpc>
                <a:spcPct val="112000"/>
              </a:lnSpc>
              <a:spcAft>
                <a:spcPts val="0"/>
              </a:spcAft>
            </a:pPr>
            <a:r>
              <a:rPr sz="2200" b="0" i="0">
                <a:solidFill>
                  <a:srgbClr val="262422"/>
                </a:solidFill>
                <a:latin typeface="Georgia"/>
              </a:rPr>
              <a:t>If the scientists believed every word they wrote, does it matter who paid them?</a:t>
            </a:r>
          </a:p>
        </p:txBody>
      </p:sp>
      <p:sp>
        <p:nvSpPr>
          <p:cNvPr id="9" name="TextBox 8"/>
          <p:cNvSpPr txBox="1"/>
          <p:nvPr/>
        </p:nvSpPr>
        <p:spPr>
          <a:xfrm>
            <a:off x="868680" y="2604008"/>
            <a:ext cx="7406640" cy="224028"/>
          </a:xfrm>
          <a:prstGeom prst="rect">
            <a:avLst/>
          </a:prstGeom>
          <a:noFill/>
          <a:effectLst/>
        </p:spPr>
        <p:txBody>
          <a:bodyPr wrap="square" anchor="t" lIns="0" rIns="0" tIns="0" bIns="0">
            <a:spAutoFit/>
          </a:bodyPr>
          <a:lstStyle/>
          <a:p>
            <a:pPr algn="ctr">
              <a:lnSpc>
                <a:spcPct val="120000"/>
              </a:lnSpc>
              <a:spcAft>
                <a:spcPts val="0"/>
              </a:spcAft>
            </a:pPr>
            <a:r>
              <a:rPr sz="1400" b="1" i="0">
                <a:solidFill>
                  <a:srgbClr val="34322F"/>
                </a:solidFill>
                <a:latin typeface="Calibri"/>
              </a:rPr>
              <a:t>Two minutes with the person next to you, then we hear from a few.</a:t>
            </a:r>
          </a:p>
        </p:txBody>
      </p:sp>
      <p:pic>
        <p:nvPicPr>
          <p:cNvPr id="10" name="Picture 9"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1" name="TextBox 10"/>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2" name="TextBox 11"/>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1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Two questions, just for you</a:t>
            </a:r>
          </a:p>
        </p:txBody>
      </p:sp>
      <p:sp>
        <p:nvSpPr>
          <p:cNvPr id="6" name="Rectangle 5"/>
          <p:cNvSpPr/>
          <p:nvPr/>
        </p:nvSpPr>
        <p:spPr>
          <a:xfrm>
            <a:off x="685800" y="1371600"/>
            <a:ext cx="7772400" cy="946403"/>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371600"/>
            <a:ext cx="45720" cy="946403"/>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96112" y="1643634"/>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96112" y="1735074"/>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Calibri"/>
              </a:rPr>
              <a:t>1</a:t>
            </a:r>
          </a:p>
        </p:txBody>
      </p:sp>
      <p:sp>
        <p:nvSpPr>
          <p:cNvPr id="10" name="TextBox 9"/>
          <p:cNvSpPr txBox="1"/>
          <p:nvPr/>
        </p:nvSpPr>
        <p:spPr>
          <a:xfrm>
            <a:off x="1554480" y="1572768"/>
            <a:ext cx="6675120" cy="544068"/>
          </a:xfrm>
          <a:prstGeom prst="rect">
            <a:avLst/>
          </a:prstGeom>
          <a:noFill/>
          <a:effectLst/>
        </p:spPr>
        <p:txBody>
          <a:bodyPr wrap="square" anchor="t" lIns="0" rIns="0" tIns="0" bIns="0">
            <a:spAutoFit/>
          </a:bodyPr>
          <a:lstStyle/>
          <a:p>
            <a:pPr algn="l">
              <a:lnSpc>
                <a:spcPct val="115000"/>
              </a:lnSpc>
              <a:spcAft>
                <a:spcPts val="0"/>
              </a:spcAft>
            </a:pPr>
            <a:r>
              <a:rPr sz="1700" b="0" i="0">
                <a:solidFill>
                  <a:srgbClr val="262422"/>
                </a:solidFill>
                <a:latin typeface="Georgia"/>
              </a:rPr>
              <a:t>Where did you move on the line, and which card moved you?</a:t>
            </a:r>
          </a:p>
        </p:txBody>
      </p:sp>
      <p:sp>
        <p:nvSpPr>
          <p:cNvPr id="11" name="Rectangle 10"/>
          <p:cNvSpPr/>
          <p:nvPr/>
        </p:nvSpPr>
        <p:spPr>
          <a:xfrm>
            <a:off x="685800" y="2537460"/>
            <a:ext cx="7772400" cy="946403"/>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2537460"/>
            <a:ext cx="45720" cy="946403"/>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96112" y="2809494"/>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96112" y="2900934"/>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Calibri"/>
              </a:rPr>
              <a:t>2</a:t>
            </a:r>
          </a:p>
        </p:txBody>
      </p:sp>
      <p:sp>
        <p:nvSpPr>
          <p:cNvPr id="15" name="TextBox 14"/>
          <p:cNvSpPr txBox="1"/>
          <p:nvPr/>
        </p:nvSpPr>
        <p:spPr>
          <a:xfrm>
            <a:off x="1554480" y="2738628"/>
            <a:ext cx="6675120" cy="544068"/>
          </a:xfrm>
          <a:prstGeom prst="rect">
            <a:avLst/>
          </a:prstGeom>
          <a:noFill/>
          <a:effectLst/>
        </p:spPr>
        <p:txBody>
          <a:bodyPr wrap="square" anchor="t" lIns="0" rIns="0" tIns="0" bIns="0">
            <a:spAutoFit/>
          </a:bodyPr>
          <a:lstStyle/>
          <a:p>
            <a:pPr algn="l">
              <a:lnSpc>
                <a:spcPct val="115000"/>
              </a:lnSpc>
              <a:spcAft>
                <a:spcPts val="0"/>
              </a:spcAft>
            </a:pPr>
            <a:r>
              <a:rPr sz="1700" b="0" i="0">
                <a:solidFill>
                  <a:srgbClr val="262422"/>
                </a:solidFill>
                <a:latin typeface="Georgia"/>
              </a:rPr>
              <a:t>Next time you see a headline, which of the five questions will you ask first?</a:t>
            </a:r>
          </a:p>
        </p:txBody>
      </p:sp>
      <p:sp>
        <p:nvSpPr>
          <p:cNvPr id="16" name="TextBox 15"/>
          <p:cNvSpPr txBox="1"/>
          <p:nvPr/>
        </p:nvSpPr>
        <p:spPr>
          <a:xfrm>
            <a:off x="868680" y="3886200"/>
            <a:ext cx="7406640" cy="416052"/>
          </a:xfrm>
          <a:prstGeom prst="rect">
            <a:avLst/>
          </a:prstGeom>
          <a:noFill/>
          <a:effectLst/>
        </p:spPr>
        <p:txBody>
          <a:bodyPr wrap="square" anchor="t" lIns="0" rIns="0" tIns="0" bIns="0">
            <a:spAutoFit/>
          </a:bodyPr>
          <a:lstStyle/>
          <a:p>
            <a:pPr algn="ctr">
              <a:lnSpc>
                <a:spcPct val="120000"/>
              </a:lnSpc>
              <a:spcAft>
                <a:spcPts val="0"/>
              </a:spcAft>
            </a:pPr>
            <a:r>
              <a:rPr sz="1300" b="1" i="0">
                <a:solidFill>
                  <a:srgbClr val="34322F"/>
                </a:solidFill>
                <a:latin typeface="Calibri"/>
              </a:rPr>
              <a:t>Write your answers in the last box of your evidence sheet. It is yours to keep, and nothing is read out.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8" name="TextBox 17"/>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9" name="TextBox 18"/>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685800" y="274320"/>
            <a:ext cx="2635689" cy="237744"/>
          </a:xfrm>
          <a:prstGeom prst="roundRect">
            <a:avLst>
              <a:gd name="adj" fmla="val 50000"/>
            </a:avLst>
          </a:prstGeom>
          <a:solidFill>
            <a:srgbClr val="EFECE5"/>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34322F"/>
                </a:solidFill>
                <a:latin typeface="Calibri"/>
              </a:rPr>
              <a:t>FOR THE TEACHER  ·  SOURCES</a:t>
            </a:r>
          </a:p>
        </p:txBody>
      </p:sp>
      <p:sp>
        <p:nvSpPr>
          <p:cNvPr id="4" name="TextBox 3"/>
          <p:cNvSpPr txBox="1"/>
          <p:nvPr/>
        </p:nvSpPr>
        <p:spPr>
          <a:xfrm>
            <a:off x="685800" y="658368"/>
            <a:ext cx="7772400" cy="406400"/>
          </a:xfrm>
          <a:prstGeom prst="rect">
            <a:avLst/>
          </a:prstGeom>
          <a:noFill/>
          <a:effectLst/>
        </p:spPr>
        <p:txBody>
          <a:bodyPr wrap="square" anchor="t" lIns="0" rIns="0" tIns="0" bIns="0">
            <a:spAutoFit/>
          </a:bodyPr>
          <a:lstStyle/>
          <a:p>
            <a:pPr algn="l">
              <a:lnSpc>
                <a:spcPct val="105000"/>
              </a:lnSpc>
              <a:spcAft>
                <a:spcPts val="0"/>
              </a:spcAft>
            </a:pPr>
            <a:r>
              <a:rPr sz="2600" b="0" i="0">
                <a:solidFill>
                  <a:srgbClr val="262422"/>
                </a:solidFill>
                <a:latin typeface="Georgia"/>
              </a:rPr>
              <a:t>Where the evidence came from</a:t>
            </a:r>
          </a:p>
        </p:txBody>
      </p:sp>
      <p:sp>
        <p:nvSpPr>
          <p:cNvPr id="5" name="TextBox 4"/>
          <p:cNvSpPr txBox="1"/>
          <p:nvPr/>
        </p:nvSpPr>
        <p:spPr>
          <a:xfrm>
            <a:off x="685800" y="1280160"/>
            <a:ext cx="7772400" cy="36322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Kearns C. E., Schmidt L. A. and Glantz S. A. (2016). Sugar industry and coronary heart disease research. JAMA Internal Medicine, 176(11), 1680–1685.</a:t>
            </a:r>
          </a:p>
        </p:txBody>
      </p:sp>
      <p:sp>
        <p:nvSpPr>
          <p:cNvPr id="6" name="TextBox 5"/>
          <p:cNvSpPr txBox="1"/>
          <p:nvPr/>
        </p:nvSpPr>
        <p:spPr>
          <a:xfrm>
            <a:off x="685800" y="1771396"/>
            <a:ext cx="7772400" cy="18161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Bailey M. (2016). Sugar industry secretly paid for favorable Harvard research. STAT News, 12 September 2016.</a:t>
            </a:r>
          </a:p>
        </p:txBody>
      </p:sp>
      <p:pic>
        <p:nvPicPr>
          <p:cNvPr id="7" name="Picture 6"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8" name="TextBox 7"/>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9" name="TextBox 8"/>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