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“Bad” LDL cholesterol</c:v>
                </c:pt>
              </c:strCache>
            </c:strRef>
          </c:tx>
          <c:spPr>
            <a:solidFill>
              <a:srgbClr val="34322F"/>
            </a:solidFill>
          </c:spPr>
          <c:invertIfNegative val="0"/>
          <c:cat>
            <c:strRef>
              <c:f>Sheet1!$A$2:$A$3</c:f>
              <c:strCache>
                <c:ptCount val="2"/>
                <c:pt idx="0">
                  <c:v>Trans fat (like early Crisco)</c:v>
                </c:pt>
                <c:pt idx="1">
                  <c:v>Saturated fat (like butter and lard)</c:v>
                </c:pt>
              </c:strCache>
            </c:strRef>
          </c:cat>
          <c:val>
            <c:numRef>
              <c:f>Sheet1!$B$2:$B$3</c:f>
              <c:numCache>
                <c:formatCode>General</c:formatCode>
                <c:ptCount val="2"/>
                <c:pt idx="0">
                  <c:v>0.37</c:v>
                </c:pt>
                <c:pt idx="1">
                  <c:v>0.47</c:v>
                </c:pt>
              </c:numCache>
            </c:numRef>
          </c:val>
        </c:ser>
        <c:ser>
          <c:idx val="1"/>
          <c:order val="1"/>
          <c:tx>
            <c:strRef>
              <c:f>Sheet1!$C$1</c:f>
              <c:strCache>
                <c:ptCount val="1"/>
                <c:pt idx="0">
                  <c:v>“Good” HDL cholesterol</c:v>
                </c:pt>
              </c:strCache>
            </c:strRef>
          </c:tx>
          <c:spPr>
            <a:solidFill>
              <a:srgbClr val="857F74"/>
            </a:solidFill>
          </c:spPr>
          <c:invertIfNegative val="0"/>
          <c:cat>
            <c:strRef>
              <c:f>Sheet1!$A$2:$A$3</c:f>
              <c:strCache>
                <c:ptCount val="2"/>
                <c:pt idx="0">
                  <c:v>Trans fat (like early Crisco)</c:v>
                </c:pt>
                <c:pt idx="1">
                  <c:v>Saturated fat (like butter and lard)</c:v>
                </c:pt>
              </c:strCache>
            </c:strRef>
          </c:cat>
          <c:val>
            <c:numRef>
              <c:f>Sheet1!$C$2:$C$3</c:f>
              <c:numCache>
                <c:formatCode>General</c:formatCode>
                <c:ptCount val="2"/>
                <c:pt idx="0">
                  <c:v>-0.17</c:v>
                </c:pt>
                <c:pt idx="1">
                  <c:v>0.0</c:v>
                </c:pt>
              </c:numCache>
            </c:numRef>
          </c:val>
        </c:ser>
        <c:dLbls>
          <c:numFmt formatCode="+0.00;-0.00;0.00" sourceLinked="0"/>
          <c:txPr>
            <a:bodyPr/>
            <a:lstStyle/>
            <a:p>
              <a:pPr>
                <a:defRPr sz="1200" b="1">
                  <a:solidFill>
                    <a:srgbClr val="262422"/>
                  </a:solidFill>
                  <a:latin typeface="Calibri"/>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low"/>
        <c:spPr>
          <a:ln>
            <a:solidFill>
              <a:srgbClr val="56524B"/>
            </a:solidFill>
          </a:ln>
        </c:spPr>
        <c:txPr>
          <a:bodyPr/>
          <a:lstStyle/>
          <a:p>
            <a:pPr>
              <a:defRPr sz="1100">
                <a:latin typeface="Calibri"/>
              </a:defRPr>
            </a:pPr>
          </a:p>
        </c:txPr>
        <c:crossAx val="-2113994440"/>
        <c:crosses val="autoZero"/>
        <c:auto val="1"/>
        <c:lblAlgn val="ctr"/>
        <c:lblOffset val="100"/>
        <c:noMultiLvlLbl val="0"/>
      </c:catAx>
      <c:valAx>
        <c:axId val="-2113994440"/>
        <c:scaling>
          <c:max val="0.78"/>
          <c:min val="-0.3"/>
        </c:scaling>
        <c:delete/>
        <c:axPos val="l"/>
        <c:majorTickMark val="out"/>
        <c:minorTickMark val="none"/>
        <c:tickLblPos val="nextTo"/>
        <c:crossAx val="-2068027336"/>
        <c:crosses val="autoZero"/>
      </c:valAx>
    </c:plotArea>
    <c:legend>
      <c:legendPos val="t"/>
      <c:overlay val="0"/>
      <c:txPr>
        <a:bodyPr/>
        <a:lstStyle/>
        <a:p>
          <a:pPr>
            <a:defRPr sz="1100">
              <a:latin typeface="Calibri"/>
            </a:defRPr>
          </a:pPr>
        </a:p>
      </c:txPr>
    </c:legend>
    <c:dispBlanksAs val="gap"/>
  </c:chart>
  <c:txPr>
    <a:bodyPr/>
    <a:lstStyle/>
    <a:p>
      <a:pPr>
        <a:defRPr sz="1100">
          <a:solidFill>
            <a:srgbClr val="262422"/>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7772400" cy="201168"/>
          </a:xfrm>
          <a:prstGeom prst="rect">
            <a:avLst/>
          </a:prstGeom>
          <a:noFill/>
          <a:effectLst/>
        </p:spPr>
        <p:txBody>
          <a:bodyPr wrap="square" anchor="t" lIns="0" rIns="0" tIns="0" bIns="0">
            <a:spAutoFit/>
          </a:bodyPr>
          <a:lstStyle/>
          <a:p>
            <a:pPr algn="ctr">
              <a:lnSpc>
                <a:spcPct val="125000"/>
              </a:lnSpc>
              <a:spcAft>
                <a:spcPts val="0"/>
              </a:spcAft>
            </a:pPr>
            <a:r>
              <a:rPr sz="900" b="1" i="0" spc="160">
                <a:solidFill>
                  <a:srgbClr val="34322F"/>
                </a:solidFill>
                <a:latin typeface="Calibri"/>
              </a:rPr>
              <a:t>TUTOR TIME  ·  QUESTION THE HEADLINE  ·  LESSON 5 OF 5</a:t>
            </a:r>
          </a:p>
        </p:txBody>
      </p:sp>
      <p:sp>
        <p:nvSpPr>
          <p:cNvPr id="4" name="Rectangle 3"/>
          <p:cNvSpPr/>
          <p:nvPr/>
        </p:nvSpPr>
        <p:spPr>
          <a:xfrm>
            <a:off x="685800" y="621792"/>
            <a:ext cx="7772400" cy="1097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85800" y="658368"/>
            <a:ext cx="7772400" cy="457200"/>
          </a:xfrm>
          <a:prstGeom prst="rect">
            <a:avLst/>
          </a:prstGeom>
          <a:noFill/>
          <a:effectLst/>
        </p:spPr>
        <p:txBody>
          <a:bodyPr wrap="square" anchor="t" lIns="0" rIns="0" tIns="0" bIns="0">
            <a:spAutoFit/>
          </a:bodyPr>
          <a:lstStyle/>
          <a:p>
            <a:pPr algn="ctr">
              <a:lnSpc>
                <a:spcPct val="100000"/>
              </a:lnSpc>
              <a:spcAft>
                <a:spcPts val="0"/>
              </a:spcAft>
            </a:pPr>
            <a:r>
              <a:rPr sz="3000" b="0" i="0">
                <a:solidFill>
                  <a:srgbClr val="262422"/>
                </a:solidFill>
                <a:latin typeface="Georgia"/>
              </a:rPr>
              <a:t>The Daily Claim</a:t>
            </a:r>
          </a:p>
        </p:txBody>
      </p:sp>
      <p:sp>
        <p:nvSpPr>
          <p:cNvPr id="6" name="Rectangle 5"/>
          <p:cNvSpPr/>
          <p:nvPr/>
        </p:nvSpPr>
        <p:spPr>
          <a:xfrm>
            <a:off x="685800" y="1170432"/>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85800" y="1207007"/>
            <a:ext cx="2926080" cy="182880"/>
          </a:xfrm>
          <a:prstGeom prst="rect">
            <a:avLst/>
          </a:prstGeom>
          <a:noFill/>
          <a:effectLst/>
        </p:spPr>
        <p:txBody>
          <a:bodyPr wrap="square" anchor="t" lIns="0" rIns="0" tIns="0" bIns="0">
            <a:spAutoFit/>
          </a:bodyPr>
          <a:lstStyle/>
          <a:p>
            <a:pPr algn="l">
              <a:lnSpc>
                <a:spcPct val="125000"/>
              </a:lnSpc>
              <a:spcAft>
                <a:spcPts val="0"/>
              </a:spcAft>
            </a:pPr>
            <a:r>
              <a:rPr sz="800" b="1" i="0" spc="140">
                <a:solidFill>
                  <a:srgbClr val="56524B"/>
                </a:solidFill>
                <a:latin typeface="Calibri"/>
              </a:rPr>
              <a:t>CINCINNATI, 1912</a:t>
            </a:r>
          </a:p>
        </p:txBody>
      </p:sp>
      <p:sp>
        <p:nvSpPr>
          <p:cNvPr id="8" name="TextBox 7"/>
          <p:cNvSpPr txBox="1"/>
          <p:nvPr/>
        </p:nvSpPr>
        <p:spPr>
          <a:xfrm>
            <a:off x="3108960" y="1207007"/>
            <a:ext cx="2926080" cy="182880"/>
          </a:xfrm>
          <a:prstGeom prst="rect">
            <a:avLst/>
          </a:prstGeom>
          <a:noFill/>
          <a:effectLst/>
        </p:spPr>
        <p:txBody>
          <a:bodyPr wrap="square" anchor="t" lIns="0" rIns="0" tIns="0" bIns="0">
            <a:spAutoFit/>
          </a:bodyPr>
          <a:lstStyle/>
          <a:p>
            <a:pPr algn="ctr">
              <a:lnSpc>
                <a:spcPct val="125000"/>
              </a:lnSpc>
              <a:spcAft>
                <a:spcPts val="0"/>
              </a:spcAft>
            </a:pPr>
            <a:r>
              <a:rPr sz="800" b="1" i="0" spc="140">
                <a:solidFill>
                  <a:srgbClr val="56524B"/>
                </a:solidFill>
                <a:latin typeface="Calibri"/>
              </a:rPr>
              <a:t>VOLUME ONE</a:t>
            </a:r>
          </a:p>
        </p:txBody>
      </p:sp>
      <p:sp>
        <p:nvSpPr>
          <p:cNvPr id="9" name="TextBox 8"/>
          <p:cNvSpPr txBox="1"/>
          <p:nvPr/>
        </p:nvSpPr>
        <p:spPr>
          <a:xfrm>
            <a:off x="5532120" y="1207007"/>
            <a:ext cx="2926080" cy="182880"/>
          </a:xfrm>
          <a:prstGeom prst="rect">
            <a:avLst/>
          </a:prstGeom>
          <a:noFill/>
          <a:effectLst/>
        </p:spPr>
        <p:txBody>
          <a:bodyPr wrap="square" anchor="t" lIns="0" rIns="0" tIns="0" bIns="0">
            <a:spAutoFit/>
          </a:bodyPr>
          <a:lstStyle/>
          <a:p>
            <a:pPr algn="r">
              <a:lnSpc>
                <a:spcPct val="125000"/>
              </a:lnSpc>
              <a:spcAft>
                <a:spcPts val="0"/>
              </a:spcAft>
            </a:pPr>
            <a:r>
              <a:rPr sz="800" b="1" i="0" spc="140">
                <a:solidFill>
                  <a:srgbClr val="56524B"/>
                </a:solidFill>
                <a:latin typeface="Calibri"/>
              </a:rPr>
              <a:t>TUTOR TIME</a:t>
            </a:r>
          </a:p>
        </p:txBody>
      </p:sp>
      <p:sp>
        <p:nvSpPr>
          <p:cNvPr id="10" name="Rectangle 9"/>
          <p:cNvSpPr/>
          <p:nvPr/>
        </p:nvSpPr>
        <p:spPr>
          <a:xfrm>
            <a:off x="685800" y="1426464"/>
            <a:ext cx="7772400" cy="3200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48640" y="1810512"/>
            <a:ext cx="8046720" cy="731520"/>
          </a:xfrm>
          <a:prstGeom prst="rect">
            <a:avLst/>
          </a:prstGeom>
          <a:noFill/>
          <a:effectLst/>
        </p:spPr>
        <p:txBody>
          <a:bodyPr wrap="square" anchor="t" lIns="0" rIns="0" tIns="0" bIns="0">
            <a:spAutoFit/>
          </a:bodyPr>
          <a:lstStyle/>
          <a:p>
            <a:pPr algn="ctr">
              <a:lnSpc>
                <a:spcPct val="100000"/>
              </a:lnSpc>
              <a:spcAft>
                <a:spcPts val="0"/>
              </a:spcAft>
            </a:pPr>
            <a:r>
              <a:rPr sz="4200" b="0" i="0">
                <a:solidFill>
                  <a:srgbClr val="262422"/>
                </a:solidFill>
                <a:latin typeface="Georgia"/>
              </a:rPr>
              <a:t>It’s All Vegetable</a:t>
            </a:r>
          </a:p>
        </p:txBody>
      </p:sp>
      <p:sp>
        <p:nvSpPr>
          <p:cNvPr id="12" name="Rectangle 11"/>
          <p:cNvSpPr/>
          <p:nvPr/>
        </p:nvSpPr>
        <p:spPr>
          <a:xfrm>
            <a:off x="4069080" y="2761488"/>
            <a:ext cx="1005840" cy="18288"/>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22960" y="2944368"/>
            <a:ext cx="7498079" cy="365760"/>
          </a:xfrm>
          <a:prstGeom prst="rect">
            <a:avLst/>
          </a:prstGeom>
          <a:noFill/>
          <a:effectLst/>
        </p:spPr>
        <p:txBody>
          <a:bodyPr wrap="square" anchor="t" lIns="0" rIns="0" tIns="0" bIns="0">
            <a:spAutoFit/>
          </a:bodyPr>
          <a:lstStyle/>
          <a:p>
            <a:pPr algn="ctr">
              <a:lnSpc>
                <a:spcPct val="125000"/>
              </a:lnSpc>
              <a:spcAft>
                <a:spcPts val="0"/>
              </a:spcAft>
            </a:pPr>
            <a:r>
              <a:rPr sz="1600" b="0" i="0">
                <a:solidFill>
                  <a:srgbClr val="56524B"/>
                </a:solidFill>
                <a:latin typeface="Calibri"/>
              </a:rPr>
              <a:t>A claim that was printed as true, and four pieces of evidence to test it.</a:t>
            </a:r>
          </a:p>
        </p:txBody>
      </p:sp>
      <p:sp>
        <p:nvSpPr>
          <p:cNvPr id="14" name="Rounded Rectangle 13"/>
          <p:cNvSpPr/>
          <p:nvPr/>
        </p:nvSpPr>
        <p:spPr>
          <a:xfrm>
            <a:off x="3928051" y="3584448"/>
            <a:ext cx="1287897"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VOLUME ONE</a:t>
            </a:r>
          </a:p>
        </p:txBody>
      </p:sp>
      <p:pic>
        <p:nvPicPr>
          <p:cNvPr id="15" name="Picture 14"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6" name="TextBox 1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7" name="TextBox 1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685800" y="274320"/>
            <a:ext cx="2269682" cy="237744"/>
          </a:xfrm>
          <a:prstGeom prst="roundRect">
            <a:avLst>
              <a:gd name="adj" fmla="val 50000"/>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34322F"/>
                </a:solidFill>
                <a:latin typeface="Calibri"/>
              </a:rPr>
              <a:t>TEACHER SLIDE  ·  SKIP IT</a:t>
            </a:r>
          </a:p>
        </p:txBody>
      </p:sp>
      <p:sp>
        <p:nvSpPr>
          <p:cNvPr id="4" name="TextBox 3"/>
          <p:cNvSpPr txBox="1"/>
          <p:nvPr/>
        </p:nvSpPr>
        <p:spPr>
          <a:xfrm>
            <a:off x="685800" y="65836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Before the lesson</a:t>
            </a:r>
          </a:p>
        </p:txBody>
      </p:sp>
      <p:sp>
        <p:nvSpPr>
          <p:cNvPr id="5" name="TextBox 4"/>
          <p:cNvSpPr txBox="1"/>
          <p:nvPr/>
        </p:nvSpPr>
        <p:spPr>
          <a:xfrm>
            <a:off x="685800" y="1188720"/>
            <a:ext cx="7772400" cy="420624"/>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This lesson is about how a new food was sold, and what an experiment showed about it later.</a:t>
            </a:r>
          </a:p>
        </p:txBody>
      </p:sp>
      <p:sp>
        <p:nvSpPr>
          <p:cNvPr id="6" name="Rectangle 5"/>
          <p:cNvSpPr/>
          <p:nvPr/>
        </p:nvSpPr>
        <p:spPr>
          <a:xfrm>
            <a:off x="685800" y="1682496"/>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68680" y="1783080"/>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68680" y="1865376"/>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1</a:t>
            </a:r>
          </a:p>
        </p:txBody>
      </p:sp>
      <p:sp>
        <p:nvSpPr>
          <p:cNvPr id="9" name="TextBox 8"/>
          <p:cNvSpPr txBox="1"/>
          <p:nvPr/>
        </p:nvSpPr>
        <p:spPr>
          <a:xfrm>
            <a:off x="1399032" y="1764792"/>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Print and cut the evidence cards</a:t>
            </a:r>
          </a:p>
        </p:txBody>
      </p:sp>
      <p:sp>
        <p:nvSpPr>
          <p:cNvPr id="10" name="TextBox 9"/>
          <p:cNvSpPr txBox="1"/>
          <p:nvPr/>
        </p:nvSpPr>
        <p:spPr>
          <a:xfrm>
            <a:off x="1399032" y="2002536"/>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One set of four per group of three or four. Keep them in order, A to D.</a:t>
            </a:r>
          </a:p>
        </p:txBody>
      </p:sp>
      <p:sp>
        <p:nvSpPr>
          <p:cNvPr id="11" name="Rectangle 10"/>
          <p:cNvSpPr/>
          <p:nvPr/>
        </p:nvSpPr>
        <p:spPr>
          <a:xfrm>
            <a:off x="685800" y="2340864"/>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68680" y="2441448"/>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2523744"/>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2</a:t>
            </a:r>
          </a:p>
        </p:txBody>
      </p:sp>
      <p:sp>
        <p:nvSpPr>
          <p:cNvPr id="14" name="TextBox 13"/>
          <p:cNvSpPr txBox="1"/>
          <p:nvPr/>
        </p:nvSpPr>
        <p:spPr>
          <a:xfrm>
            <a:off x="1399032" y="2423160"/>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Print two sheets per student</a:t>
            </a:r>
          </a:p>
        </p:txBody>
      </p:sp>
      <p:sp>
        <p:nvSpPr>
          <p:cNvPr id="15" name="TextBox 14"/>
          <p:cNvSpPr txBox="1"/>
          <p:nvPr/>
        </p:nvSpPr>
        <p:spPr>
          <a:xfrm>
            <a:off x="1399032" y="2660904"/>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This lesson’s evidence sheet, and the front page sheet, which is the same every lesson.</a:t>
            </a:r>
          </a:p>
        </p:txBody>
      </p:sp>
      <p:sp>
        <p:nvSpPr>
          <p:cNvPr id="16" name="Rectangle 15"/>
          <p:cNvSpPr/>
          <p:nvPr/>
        </p:nvSpPr>
        <p:spPr>
          <a:xfrm>
            <a:off x="685800" y="2999232"/>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868680" y="3099816"/>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8680" y="3182112"/>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3</a:t>
            </a:r>
          </a:p>
        </p:txBody>
      </p:sp>
      <p:sp>
        <p:nvSpPr>
          <p:cNvPr id="19" name="TextBox 18"/>
          <p:cNvSpPr txBox="1"/>
          <p:nvPr/>
        </p:nvSpPr>
        <p:spPr>
          <a:xfrm>
            <a:off x="1399032" y="3081528"/>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Mark out the line</a:t>
            </a:r>
          </a:p>
        </p:txBody>
      </p:sp>
      <p:sp>
        <p:nvSpPr>
          <p:cNvPr id="20" name="TextBox 19"/>
          <p:cNvSpPr txBox="1"/>
          <p:nvPr/>
        </p:nvSpPr>
        <p:spPr>
          <a:xfrm>
            <a:off x="1399032" y="3319272"/>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0 at one end of the room and a 10 at the other: definitely false to definitely true.</a:t>
            </a:r>
          </a:p>
        </p:txBody>
      </p:sp>
      <p:sp>
        <p:nvSpPr>
          <p:cNvPr id="21" name="Rectangle 20"/>
          <p:cNvSpPr/>
          <p:nvPr/>
        </p:nvSpPr>
        <p:spPr>
          <a:xfrm>
            <a:off x="685800" y="3657600"/>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68680" y="3758183"/>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68680" y="3840480"/>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4</a:t>
            </a:r>
          </a:p>
        </p:txBody>
      </p:sp>
      <p:sp>
        <p:nvSpPr>
          <p:cNvPr id="24" name="TextBox 23"/>
          <p:cNvSpPr txBox="1"/>
          <p:nvPr/>
        </p:nvSpPr>
        <p:spPr>
          <a:xfrm>
            <a:off x="1399032" y="3739896"/>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Hold the cards back</a:t>
            </a:r>
          </a:p>
        </p:txBody>
      </p:sp>
      <p:sp>
        <p:nvSpPr>
          <p:cNvPr id="25" name="TextBox 24"/>
          <p:cNvSpPr txBox="1"/>
          <p:nvPr/>
        </p:nvSpPr>
        <p:spPr>
          <a:xfrm>
            <a:off x="1399032" y="3977639"/>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Hand out one card per round, never the next one early. The verdict stays hidden until the end.</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7" name="TextBox 26"/>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8" name="TextBox 27"/>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4" name="TextBox 3"/>
          <p:cNvSpPr txBox="1"/>
          <p:nvPr/>
        </p:nvSpPr>
        <p:spPr>
          <a:xfrm>
            <a:off x="4800600" y="274320"/>
            <a:ext cx="3657600" cy="201168"/>
          </a:xfrm>
          <a:prstGeom prst="rect">
            <a:avLst/>
          </a:prstGeom>
          <a:noFill/>
          <a:effectLst/>
        </p:spPr>
        <p:txBody>
          <a:bodyPr wrap="square" anchor="t" lIns="0" rIns="0" tIns="0" bIns="0">
            <a:spAutoFit/>
          </a:bodyPr>
          <a:lstStyle/>
          <a:p>
            <a:pPr algn="r">
              <a:lnSpc>
                <a:spcPct val="125000"/>
              </a:lnSpc>
              <a:spcAft>
                <a:spcPts val="0"/>
              </a:spcAft>
            </a:pPr>
            <a:r>
              <a:rPr sz="850" b="0" i="1">
                <a:solidFill>
                  <a:srgbClr val="8C877D"/>
                </a:solidFill>
                <a:latin typeface="Calibri"/>
              </a:rPr>
              <a:t>A recreated front page</a:t>
            </a:r>
          </a:p>
        </p:txBody>
      </p:sp>
      <p:sp>
        <p:nvSpPr>
          <p:cNvPr id="5" name="Rectangle 4"/>
          <p:cNvSpPr/>
          <p:nvPr/>
        </p:nvSpPr>
        <p:spPr>
          <a:xfrm>
            <a:off x="685800" y="475488"/>
            <a:ext cx="7772400" cy="1097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512064"/>
            <a:ext cx="7772400" cy="457200"/>
          </a:xfrm>
          <a:prstGeom prst="rect">
            <a:avLst/>
          </a:prstGeom>
          <a:noFill/>
          <a:effectLst/>
        </p:spPr>
        <p:txBody>
          <a:bodyPr wrap="square" anchor="t" lIns="0" rIns="0" tIns="0" bIns="0">
            <a:spAutoFit/>
          </a:bodyPr>
          <a:lstStyle/>
          <a:p>
            <a:pPr algn="ctr">
              <a:lnSpc>
                <a:spcPct val="100000"/>
              </a:lnSpc>
              <a:spcAft>
                <a:spcPts val="0"/>
              </a:spcAft>
            </a:pPr>
            <a:r>
              <a:rPr sz="3000" b="0" i="0">
                <a:solidFill>
                  <a:srgbClr val="262422"/>
                </a:solidFill>
                <a:latin typeface="Georgia"/>
              </a:rPr>
              <a:t>The Daily Claim</a:t>
            </a:r>
          </a:p>
        </p:txBody>
      </p:sp>
      <p:sp>
        <p:nvSpPr>
          <p:cNvPr id="7" name="Rectangle 6"/>
          <p:cNvSpPr/>
          <p:nvPr/>
        </p:nvSpPr>
        <p:spPr>
          <a:xfrm>
            <a:off x="685800" y="1024128"/>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85800" y="1060704"/>
            <a:ext cx="2926080" cy="182880"/>
          </a:xfrm>
          <a:prstGeom prst="rect">
            <a:avLst/>
          </a:prstGeom>
          <a:noFill/>
          <a:effectLst/>
        </p:spPr>
        <p:txBody>
          <a:bodyPr wrap="square" anchor="t" lIns="0" rIns="0" tIns="0" bIns="0">
            <a:spAutoFit/>
          </a:bodyPr>
          <a:lstStyle/>
          <a:p>
            <a:pPr algn="l">
              <a:lnSpc>
                <a:spcPct val="125000"/>
              </a:lnSpc>
              <a:spcAft>
                <a:spcPts val="0"/>
              </a:spcAft>
            </a:pPr>
            <a:r>
              <a:rPr sz="800" b="1" i="0" spc="140">
                <a:solidFill>
                  <a:srgbClr val="56524B"/>
                </a:solidFill>
                <a:latin typeface="Calibri"/>
              </a:rPr>
              <a:t>CINCINNATI, 1912</a:t>
            </a:r>
          </a:p>
        </p:txBody>
      </p:sp>
      <p:sp>
        <p:nvSpPr>
          <p:cNvPr id="9" name="TextBox 8"/>
          <p:cNvSpPr txBox="1"/>
          <p:nvPr/>
        </p:nvSpPr>
        <p:spPr>
          <a:xfrm>
            <a:off x="3108960" y="1060704"/>
            <a:ext cx="2926080" cy="182880"/>
          </a:xfrm>
          <a:prstGeom prst="rect">
            <a:avLst/>
          </a:prstGeom>
          <a:noFill/>
          <a:effectLst/>
        </p:spPr>
        <p:txBody>
          <a:bodyPr wrap="square" anchor="t" lIns="0" rIns="0" tIns="0" bIns="0">
            <a:spAutoFit/>
          </a:bodyPr>
          <a:lstStyle/>
          <a:p>
            <a:pPr algn="ctr">
              <a:lnSpc>
                <a:spcPct val="125000"/>
              </a:lnSpc>
              <a:spcAft>
                <a:spcPts val="0"/>
              </a:spcAft>
            </a:pPr>
            <a:r>
              <a:rPr sz="800" b="1" i="0" spc="140">
                <a:solidFill>
                  <a:srgbClr val="56524B"/>
                </a:solidFill>
                <a:latin typeface="Calibri"/>
              </a:rPr>
              <a:t>VOLUME ONE</a:t>
            </a:r>
          </a:p>
        </p:txBody>
      </p:sp>
      <p:sp>
        <p:nvSpPr>
          <p:cNvPr id="10" name="TextBox 9"/>
          <p:cNvSpPr txBox="1"/>
          <p:nvPr/>
        </p:nvSpPr>
        <p:spPr>
          <a:xfrm>
            <a:off x="5532120" y="1060704"/>
            <a:ext cx="2926080" cy="182880"/>
          </a:xfrm>
          <a:prstGeom prst="rect">
            <a:avLst/>
          </a:prstGeom>
          <a:noFill/>
          <a:effectLst/>
        </p:spPr>
        <p:txBody>
          <a:bodyPr wrap="square" anchor="t" lIns="0" rIns="0" tIns="0" bIns="0">
            <a:spAutoFit/>
          </a:bodyPr>
          <a:lstStyle/>
          <a:p>
            <a:pPr algn="r">
              <a:lnSpc>
                <a:spcPct val="125000"/>
              </a:lnSpc>
              <a:spcAft>
                <a:spcPts val="0"/>
              </a:spcAft>
            </a:pPr>
            <a:r>
              <a:rPr sz="800" b="1" i="0" spc="140">
                <a:solidFill>
                  <a:srgbClr val="56524B"/>
                </a:solidFill>
                <a:latin typeface="Calibri"/>
              </a:rPr>
              <a:t>LESSON 5 OF 5</a:t>
            </a:r>
          </a:p>
        </p:txBody>
      </p:sp>
      <p:sp>
        <p:nvSpPr>
          <p:cNvPr id="11" name="Rectangle 10"/>
          <p:cNvSpPr/>
          <p:nvPr/>
        </p:nvSpPr>
        <p:spPr>
          <a:xfrm>
            <a:off x="685800" y="1280160"/>
            <a:ext cx="7772400" cy="3200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85800" y="1421891"/>
            <a:ext cx="7772400" cy="881888"/>
          </a:xfrm>
          <a:prstGeom prst="rect">
            <a:avLst/>
          </a:prstGeom>
          <a:noFill/>
          <a:effectLst/>
        </p:spPr>
        <p:txBody>
          <a:bodyPr wrap="square" anchor="t" lIns="0" rIns="0" tIns="0" bIns="0">
            <a:spAutoFit/>
          </a:bodyPr>
          <a:lstStyle/>
          <a:p>
            <a:pPr algn="l">
              <a:lnSpc>
                <a:spcPct val="100000"/>
              </a:lnSpc>
              <a:spcAft>
                <a:spcPts val="0"/>
              </a:spcAft>
            </a:pPr>
            <a:r>
              <a:rPr sz="2800" b="0" i="0">
                <a:solidFill>
                  <a:srgbClr val="262422"/>
                </a:solidFill>
                <a:latin typeface="Georgia"/>
              </a:rPr>
              <a:t>IT’S ALL VEGETABLE!</a:t>
            </a:r>
            <a:br>
              <a:rPr lang="en-GB"/>
            </a:br>
            <a:r>
              <a:rPr sz="2800" b="0" i="0">
                <a:solidFill>
                  <a:srgbClr val="262422"/>
                </a:solidFill>
                <a:latin typeface="Georgia"/>
              </a:rPr>
              <a:t>IT’S DIGESTIBLE!</a:t>
            </a:r>
          </a:p>
        </p:txBody>
      </p:sp>
      <p:sp>
        <p:nvSpPr>
          <p:cNvPr id="13" name="TextBox 12"/>
          <p:cNvSpPr txBox="1"/>
          <p:nvPr/>
        </p:nvSpPr>
        <p:spPr>
          <a:xfrm>
            <a:off x="685800" y="2376931"/>
            <a:ext cx="7772400" cy="409448"/>
          </a:xfrm>
          <a:prstGeom prst="rect">
            <a:avLst/>
          </a:prstGeom>
          <a:noFill/>
          <a:effectLst/>
        </p:spPr>
        <p:txBody>
          <a:bodyPr wrap="square" anchor="t" lIns="0" rIns="0" tIns="0" bIns="0">
            <a:spAutoFit/>
          </a:bodyPr>
          <a:lstStyle/>
          <a:p>
            <a:pPr algn="l">
              <a:lnSpc>
                <a:spcPct val="118000"/>
              </a:lnSpc>
              <a:spcAft>
                <a:spcPts val="0"/>
              </a:spcAft>
            </a:pPr>
            <a:r>
              <a:rPr sz="1300" b="0" i="1">
                <a:solidFill>
                  <a:srgbClr val="56524B"/>
                </a:solidFill>
                <a:latin typeface="Georgia"/>
              </a:rPr>
              <a:t>Procter &amp; Gamble’s new Crisco is healthier and cheaper than butter and lard, say its makers, and every home should try it.</a:t>
            </a:r>
          </a:p>
        </p:txBody>
      </p:sp>
      <p:sp>
        <p:nvSpPr>
          <p:cNvPr id="14" name="Rectangle 13"/>
          <p:cNvSpPr/>
          <p:nvPr/>
        </p:nvSpPr>
        <p:spPr>
          <a:xfrm>
            <a:off x="685800" y="2877819"/>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85800" y="2987547"/>
            <a:ext cx="2432304" cy="990600"/>
          </a:xfrm>
          <a:prstGeom prst="rect">
            <a:avLst/>
          </a:prstGeom>
          <a:noFill/>
          <a:effectLst/>
        </p:spPr>
        <p:txBody>
          <a:bodyPr wrap="square" anchor="t" lIns="0" rIns="0" tIns="0" bIns="0">
            <a:spAutoFit/>
          </a:bodyPr>
          <a:lstStyle/>
          <a:p>
            <a:pPr algn="l">
              <a:lnSpc>
                <a:spcPct val="126000"/>
              </a:lnSpc>
              <a:spcAft>
                <a:spcPts val="0"/>
              </a:spcAft>
            </a:pPr>
            <a:r>
              <a:rPr sz="1200" b="0" i="0">
                <a:solidFill>
                  <a:srgbClr val="262422"/>
                </a:solidFill>
                <a:latin typeface="Georgia"/>
              </a:rPr>
              <a:t>Crisco is a solid white cooking fat made from cottonseed oil, which is left over when cotton is grown. Its makers are best known for soap and candles.</a:t>
            </a:r>
          </a:p>
        </p:txBody>
      </p:sp>
      <p:sp>
        <p:nvSpPr>
          <p:cNvPr id="16" name="Rectangle 15"/>
          <p:cNvSpPr/>
          <p:nvPr/>
        </p:nvSpPr>
        <p:spPr>
          <a:xfrm>
            <a:off x="3236976" y="2987547"/>
            <a:ext cx="9144" cy="1511300"/>
          </a:xfrm>
          <a:prstGeom prst="rect">
            <a:avLst/>
          </a:prstGeom>
          <a:solidFill>
            <a:srgbClr val="8C877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355848" y="2987547"/>
            <a:ext cx="2432304" cy="990600"/>
          </a:xfrm>
          <a:prstGeom prst="rect">
            <a:avLst/>
          </a:prstGeom>
          <a:noFill/>
          <a:effectLst/>
        </p:spPr>
        <p:txBody>
          <a:bodyPr wrap="square" anchor="t" lIns="0" rIns="0" tIns="0" bIns="0">
            <a:spAutoFit/>
          </a:bodyPr>
          <a:lstStyle/>
          <a:p>
            <a:pPr algn="l">
              <a:lnSpc>
                <a:spcPct val="126000"/>
              </a:lnSpc>
              <a:spcAft>
                <a:spcPts val="0"/>
              </a:spcAft>
            </a:pPr>
            <a:r>
              <a:rPr sz="1200" b="0" i="0">
                <a:solidFill>
                  <a:srgbClr val="262422"/>
                </a:solidFill>
                <a:latin typeface="Georgia"/>
              </a:rPr>
              <a:t>A new factory process turns the liquid oil solid. Shoppers are being given free cookbooks, and every single recipe in them uses Crisco.</a:t>
            </a:r>
          </a:p>
        </p:txBody>
      </p:sp>
      <p:sp>
        <p:nvSpPr>
          <p:cNvPr id="18" name="Rectangle 17"/>
          <p:cNvSpPr/>
          <p:nvPr/>
        </p:nvSpPr>
        <p:spPr>
          <a:xfrm>
            <a:off x="5907024" y="2987547"/>
            <a:ext cx="9144" cy="1511300"/>
          </a:xfrm>
          <a:prstGeom prst="rect">
            <a:avLst/>
          </a:prstGeom>
          <a:solidFill>
            <a:srgbClr val="8C877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025896" y="2987547"/>
            <a:ext cx="2432304" cy="1505839"/>
          </a:xfrm>
          <a:prstGeom prst="rect">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025896" y="2987547"/>
            <a:ext cx="45720" cy="1505839"/>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208776" y="3133851"/>
            <a:ext cx="2121408" cy="944880"/>
          </a:xfrm>
          <a:prstGeom prst="rect">
            <a:avLst/>
          </a:prstGeom>
          <a:noFill/>
          <a:effectLst/>
        </p:spPr>
        <p:txBody>
          <a:bodyPr wrap="square" anchor="t" lIns="0" rIns="0" tIns="0" bIns="0">
            <a:spAutoFit/>
          </a:bodyPr>
          <a:lstStyle/>
          <a:p>
            <a:pPr algn="l">
              <a:lnSpc>
                <a:spcPct val="112000"/>
              </a:lnSpc>
              <a:spcAft>
                <a:spcPts val="0"/>
              </a:spcAft>
            </a:pPr>
            <a:r>
              <a:rPr sz="1500" b="0" i="0">
                <a:solidFill>
                  <a:srgbClr val="34322F"/>
                </a:solidFill>
                <a:latin typeface="Georgia"/>
              </a:rPr>
              <a:t>Healthier and more cost-effective than butter and other fats.</a:t>
            </a:r>
          </a:p>
        </p:txBody>
      </p:sp>
      <p:sp>
        <p:nvSpPr>
          <p:cNvPr id="22" name="TextBox 21"/>
          <p:cNvSpPr txBox="1"/>
          <p:nvPr/>
        </p:nvSpPr>
        <p:spPr>
          <a:xfrm>
            <a:off x="6208776" y="4170171"/>
            <a:ext cx="2121408" cy="140335"/>
          </a:xfrm>
          <a:prstGeom prst="rect">
            <a:avLst/>
          </a:prstGeom>
          <a:noFill/>
          <a:effectLst/>
        </p:spPr>
        <p:txBody>
          <a:bodyPr wrap="square" anchor="t" lIns="0" rIns="0" tIns="0" bIns="0">
            <a:spAutoFit/>
          </a:bodyPr>
          <a:lstStyle/>
          <a:p>
            <a:pPr algn="l">
              <a:lnSpc>
                <a:spcPct val="125000"/>
              </a:lnSpc>
              <a:spcAft>
                <a:spcPts val="0"/>
              </a:spcAft>
            </a:pPr>
            <a:r>
              <a:rPr sz="800" b="1" i="0" spc="110">
                <a:solidFill>
                  <a:srgbClr val="56524B"/>
                </a:solidFill>
                <a:latin typeface="Calibri"/>
              </a:rPr>
              <a:t>HOW CRISCO WAS ADVERTISED</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How much do you believe it?</a:t>
            </a:r>
          </a:p>
        </p:txBody>
      </p:sp>
      <p:sp>
        <p:nvSpPr>
          <p:cNvPr id="6" name="KEEP_SHADOW"/>
          <p:cNvSpPr/>
          <p:nvPr/>
        </p:nvSpPr>
        <p:spPr>
          <a:xfrm>
            <a:off x="685800" y="1225296"/>
            <a:ext cx="7772400" cy="896112"/>
          </a:xfrm>
          <a:prstGeom prst="rect">
            <a:avLst/>
          </a:prstGeom>
          <a:solidFill>
            <a:srgbClr val="FFFFFF"/>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225296"/>
            <a:ext cx="45720" cy="896112"/>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051560" y="1389888"/>
            <a:ext cx="7040880" cy="566928"/>
          </a:xfrm>
          <a:prstGeom prst="rect">
            <a:avLst/>
          </a:prstGeom>
          <a:noFill/>
          <a:effectLst/>
        </p:spPr>
        <p:txBody>
          <a:bodyPr wrap="square" anchor="t" lIns="0" rIns="0" tIns="0" bIns="0">
            <a:spAutoFit/>
          </a:bodyPr>
          <a:lstStyle/>
          <a:p>
            <a:pPr algn="ctr">
              <a:lnSpc>
                <a:spcPct val="112000"/>
              </a:lnSpc>
              <a:spcAft>
                <a:spcPts val="0"/>
              </a:spcAft>
            </a:pPr>
            <a:r>
              <a:rPr sz="1800" b="0" i="0">
                <a:solidFill>
                  <a:srgbClr val="262422"/>
                </a:solidFill>
                <a:latin typeface="Georgia"/>
              </a:rPr>
              <a:t>“A new food made in a factory by scientists is probably better for you than the old one.”</a:t>
            </a:r>
          </a:p>
        </p:txBody>
      </p:sp>
      <p:sp>
        <p:nvSpPr>
          <p:cNvPr id="9" name="Rectangle 8"/>
          <p:cNvSpPr/>
          <p:nvPr/>
        </p:nvSpPr>
        <p:spPr>
          <a:xfrm>
            <a:off x="960120" y="2395728"/>
            <a:ext cx="7223759" cy="36576"/>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94914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3152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0</a:t>
            </a:r>
          </a:p>
        </p:txBody>
      </p:sp>
      <p:sp>
        <p:nvSpPr>
          <p:cNvPr id="12" name="Rectangle 11"/>
          <p:cNvSpPr/>
          <p:nvPr/>
        </p:nvSpPr>
        <p:spPr>
          <a:xfrm>
            <a:off x="1671523"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453895"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1</a:t>
            </a:r>
          </a:p>
        </p:txBody>
      </p:sp>
      <p:sp>
        <p:nvSpPr>
          <p:cNvPr id="14" name="Rectangle 13"/>
          <p:cNvSpPr/>
          <p:nvPr/>
        </p:nvSpPr>
        <p:spPr>
          <a:xfrm>
            <a:off x="2393899"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176272"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2</a:t>
            </a:r>
          </a:p>
        </p:txBody>
      </p:sp>
      <p:sp>
        <p:nvSpPr>
          <p:cNvPr id="16" name="Rectangle 15"/>
          <p:cNvSpPr/>
          <p:nvPr/>
        </p:nvSpPr>
        <p:spPr>
          <a:xfrm>
            <a:off x="3116275"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2898648"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3</a:t>
            </a:r>
          </a:p>
        </p:txBody>
      </p:sp>
      <p:sp>
        <p:nvSpPr>
          <p:cNvPr id="18" name="Rectangle 17"/>
          <p:cNvSpPr/>
          <p:nvPr/>
        </p:nvSpPr>
        <p:spPr>
          <a:xfrm>
            <a:off x="3838651"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621024"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4</a:t>
            </a:r>
          </a:p>
        </p:txBody>
      </p:sp>
      <p:sp>
        <p:nvSpPr>
          <p:cNvPr id="20" name="Rectangle 19"/>
          <p:cNvSpPr/>
          <p:nvPr/>
        </p:nvSpPr>
        <p:spPr>
          <a:xfrm>
            <a:off x="456102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34340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5</a:t>
            </a:r>
          </a:p>
        </p:txBody>
      </p:sp>
      <p:sp>
        <p:nvSpPr>
          <p:cNvPr id="22" name="Rectangle 21"/>
          <p:cNvSpPr/>
          <p:nvPr/>
        </p:nvSpPr>
        <p:spPr>
          <a:xfrm>
            <a:off x="5283403"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65776"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6</a:t>
            </a:r>
          </a:p>
        </p:txBody>
      </p:sp>
      <p:sp>
        <p:nvSpPr>
          <p:cNvPr id="24" name="Rectangle 23"/>
          <p:cNvSpPr/>
          <p:nvPr/>
        </p:nvSpPr>
        <p:spPr>
          <a:xfrm>
            <a:off x="6005779"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788151"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7</a:t>
            </a:r>
          </a:p>
        </p:txBody>
      </p:sp>
      <p:sp>
        <p:nvSpPr>
          <p:cNvPr id="26" name="Rectangle 25"/>
          <p:cNvSpPr/>
          <p:nvPr/>
        </p:nvSpPr>
        <p:spPr>
          <a:xfrm>
            <a:off x="6728155"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10527"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8</a:t>
            </a:r>
          </a:p>
        </p:txBody>
      </p:sp>
      <p:sp>
        <p:nvSpPr>
          <p:cNvPr id="28" name="Rectangle 27"/>
          <p:cNvSpPr/>
          <p:nvPr/>
        </p:nvSpPr>
        <p:spPr>
          <a:xfrm>
            <a:off x="7450531"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32904"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9</a:t>
            </a:r>
          </a:p>
        </p:txBody>
      </p:sp>
      <p:sp>
        <p:nvSpPr>
          <p:cNvPr id="30" name="Rectangle 29"/>
          <p:cNvSpPr/>
          <p:nvPr/>
        </p:nvSpPr>
        <p:spPr>
          <a:xfrm>
            <a:off x="817290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95528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10</a:t>
            </a:r>
          </a:p>
        </p:txBody>
      </p:sp>
      <p:sp>
        <p:nvSpPr>
          <p:cNvPr id="32" name="TextBox 31"/>
          <p:cNvSpPr txBox="1"/>
          <p:nvPr/>
        </p:nvSpPr>
        <p:spPr>
          <a:xfrm>
            <a:off x="685800" y="2852928"/>
            <a:ext cx="2194560" cy="237744"/>
          </a:xfrm>
          <a:prstGeom prst="rect">
            <a:avLst/>
          </a:prstGeom>
          <a:noFill/>
          <a:effectLst/>
        </p:spPr>
        <p:txBody>
          <a:bodyPr wrap="square" anchor="t" lIns="0" rIns="0" tIns="0" bIns="0">
            <a:spAutoFit/>
          </a:bodyPr>
          <a:lstStyle/>
          <a:p>
            <a:pPr algn="l">
              <a:lnSpc>
                <a:spcPct val="125000"/>
              </a:lnSpc>
              <a:spcAft>
                <a:spcPts val="0"/>
              </a:spcAft>
            </a:pPr>
            <a:r>
              <a:rPr sz="1100" b="1" i="0">
                <a:solidFill>
                  <a:srgbClr val="34322F"/>
                </a:solidFill>
                <a:latin typeface="Calibri"/>
              </a:rPr>
              <a:t>Definitely false</a:t>
            </a:r>
          </a:p>
        </p:txBody>
      </p:sp>
      <p:sp>
        <p:nvSpPr>
          <p:cNvPr id="33" name="TextBox 32"/>
          <p:cNvSpPr txBox="1"/>
          <p:nvPr/>
        </p:nvSpPr>
        <p:spPr>
          <a:xfrm>
            <a:off x="6263640" y="2852928"/>
            <a:ext cx="2194560" cy="237744"/>
          </a:xfrm>
          <a:prstGeom prst="rect">
            <a:avLst/>
          </a:prstGeom>
          <a:noFill/>
          <a:effectLst/>
        </p:spPr>
        <p:txBody>
          <a:bodyPr wrap="square" anchor="t" lIns="0" rIns="0" tIns="0" bIns="0">
            <a:spAutoFit/>
          </a:bodyPr>
          <a:lstStyle/>
          <a:p>
            <a:pPr algn="r">
              <a:lnSpc>
                <a:spcPct val="125000"/>
              </a:lnSpc>
              <a:spcAft>
                <a:spcPts val="0"/>
              </a:spcAft>
            </a:pPr>
            <a:r>
              <a:rPr sz="1100" b="1" i="0">
                <a:solidFill>
                  <a:srgbClr val="34322F"/>
                </a:solidFill>
                <a:latin typeface="Calibri"/>
              </a:rPr>
              <a:t>Definitely true</a:t>
            </a:r>
          </a:p>
        </p:txBody>
      </p:sp>
      <p:sp>
        <p:nvSpPr>
          <p:cNvPr id="34" name="TextBox 33"/>
          <p:cNvSpPr txBox="1"/>
          <p:nvPr/>
        </p:nvSpPr>
        <p:spPr>
          <a:xfrm>
            <a:off x="868680" y="3913632"/>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Stand on the line where you are now. Two or three people say why they are standing there.</a:t>
            </a:r>
          </a:p>
        </p:txBody>
      </p:sp>
      <p:pic>
        <p:nvPicPr>
          <p:cNvPr id="35" name="Picture 34"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36" name="TextBox 3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7" name="TextBox 3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Five questions for any headline</a:t>
            </a:r>
          </a:p>
        </p:txBody>
      </p:sp>
      <p:sp>
        <p:nvSpPr>
          <p:cNvPr id="6" name="Rectangle 5"/>
          <p:cNvSpPr/>
          <p:nvPr/>
        </p:nvSpPr>
        <p:spPr>
          <a:xfrm>
            <a:off x="685800" y="1188720"/>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50392" y="124358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megaphone.png"/>
          <p:cNvPicPr>
            <a:picLocks noChangeAspect="1"/>
          </p:cNvPicPr>
          <p:nvPr/>
        </p:nvPicPr>
        <p:blipFill>
          <a:blip r:embed="rId2"/>
          <a:stretch>
            <a:fillRect/>
          </a:stretch>
        </p:blipFill>
        <p:spPr>
          <a:xfrm>
            <a:off x="932688" y="1325880"/>
            <a:ext cx="237744" cy="237744"/>
          </a:xfrm>
          <a:prstGeom prst="rect">
            <a:avLst/>
          </a:prstGeom>
          <a:effectLst/>
        </p:spPr>
      </p:pic>
      <p:sp>
        <p:nvSpPr>
          <p:cNvPr id="9" name="TextBox 8"/>
          <p:cNvSpPr txBox="1"/>
          <p:nvPr/>
        </p:nvSpPr>
        <p:spPr>
          <a:xfrm>
            <a:off x="1417320" y="1325880"/>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is saying it?</a:t>
            </a:r>
          </a:p>
        </p:txBody>
      </p:sp>
      <p:sp>
        <p:nvSpPr>
          <p:cNvPr id="10" name="TextBox 9"/>
          <p:cNvSpPr txBox="1"/>
          <p:nvPr/>
        </p:nvSpPr>
        <p:spPr>
          <a:xfrm>
            <a:off x="4892040" y="1279398"/>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company, a scientist, a newspaper, a government? Check the name.</a:t>
            </a:r>
          </a:p>
        </p:txBody>
      </p:sp>
      <p:sp>
        <p:nvSpPr>
          <p:cNvPr id="11" name="Rectangle 10"/>
          <p:cNvSpPr/>
          <p:nvPr/>
        </p:nvSpPr>
        <p:spPr>
          <a:xfrm>
            <a:off x="685800" y="1792224"/>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50392" y="1847088"/>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coins.png"/>
          <p:cNvPicPr>
            <a:picLocks noChangeAspect="1"/>
          </p:cNvPicPr>
          <p:nvPr/>
        </p:nvPicPr>
        <p:blipFill>
          <a:blip r:embed="rId3"/>
          <a:stretch>
            <a:fillRect/>
          </a:stretch>
        </p:blipFill>
        <p:spPr>
          <a:xfrm>
            <a:off x="932688" y="1929384"/>
            <a:ext cx="237744" cy="237744"/>
          </a:xfrm>
          <a:prstGeom prst="rect">
            <a:avLst/>
          </a:prstGeom>
          <a:effectLst/>
        </p:spPr>
      </p:pic>
      <p:sp>
        <p:nvSpPr>
          <p:cNvPr id="14" name="TextBox 13"/>
          <p:cNvSpPr txBox="1"/>
          <p:nvPr/>
        </p:nvSpPr>
        <p:spPr>
          <a:xfrm>
            <a:off x="1417320" y="1929384"/>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gains if I believe it?</a:t>
            </a:r>
          </a:p>
        </p:txBody>
      </p:sp>
      <p:sp>
        <p:nvSpPr>
          <p:cNvPr id="15" name="TextBox 14"/>
          <p:cNvSpPr txBox="1"/>
          <p:nvPr/>
        </p:nvSpPr>
        <p:spPr>
          <a:xfrm>
            <a:off x="4892040" y="1882902"/>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Somebody always does. Work out who, and what they get.</a:t>
            </a:r>
          </a:p>
        </p:txBody>
      </p:sp>
      <p:sp>
        <p:nvSpPr>
          <p:cNvPr id="16" name="Rectangle 15"/>
          <p:cNvSpPr/>
          <p:nvPr/>
        </p:nvSpPr>
        <p:spPr>
          <a:xfrm>
            <a:off x="685800" y="2395728"/>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850392" y="2450592"/>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purse.png"/>
          <p:cNvPicPr>
            <a:picLocks noChangeAspect="1"/>
          </p:cNvPicPr>
          <p:nvPr/>
        </p:nvPicPr>
        <p:blipFill>
          <a:blip r:embed="rId4"/>
          <a:stretch>
            <a:fillRect/>
          </a:stretch>
        </p:blipFill>
        <p:spPr>
          <a:xfrm>
            <a:off x="932688" y="2532888"/>
            <a:ext cx="237744" cy="237744"/>
          </a:xfrm>
          <a:prstGeom prst="rect">
            <a:avLst/>
          </a:prstGeom>
          <a:effectLst/>
        </p:spPr>
      </p:pic>
      <p:sp>
        <p:nvSpPr>
          <p:cNvPr id="19" name="TextBox 18"/>
          <p:cNvSpPr txBox="1"/>
          <p:nvPr/>
        </p:nvSpPr>
        <p:spPr>
          <a:xfrm>
            <a:off x="1417320" y="2532888"/>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paid for it?</a:t>
            </a:r>
          </a:p>
        </p:txBody>
      </p:sp>
      <p:sp>
        <p:nvSpPr>
          <p:cNvPr id="20" name="TextBox 19"/>
          <p:cNvSpPr txBox="1"/>
          <p:nvPr/>
        </p:nvSpPr>
        <p:spPr>
          <a:xfrm>
            <a:off x="4892040" y="2486406"/>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The research, the advert, the survey. Money does not make it false, but you should know.</a:t>
            </a:r>
          </a:p>
        </p:txBody>
      </p:sp>
      <p:sp>
        <p:nvSpPr>
          <p:cNvPr id="21" name="Rectangle 20"/>
          <p:cNvSpPr/>
          <p:nvPr/>
        </p:nvSpPr>
        <p:spPr>
          <a:xfrm>
            <a:off x="685800" y="2999232"/>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50392" y="305409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magnifier.png"/>
          <p:cNvPicPr>
            <a:picLocks noChangeAspect="1"/>
          </p:cNvPicPr>
          <p:nvPr/>
        </p:nvPicPr>
        <p:blipFill>
          <a:blip r:embed="rId5"/>
          <a:stretch>
            <a:fillRect/>
          </a:stretch>
        </p:blipFill>
        <p:spPr>
          <a:xfrm>
            <a:off x="932688" y="3136392"/>
            <a:ext cx="237744" cy="237744"/>
          </a:xfrm>
          <a:prstGeom prst="rect">
            <a:avLst/>
          </a:prstGeom>
          <a:effectLst/>
        </p:spPr>
      </p:pic>
      <p:sp>
        <p:nvSpPr>
          <p:cNvPr id="24" name="TextBox 23"/>
          <p:cNvSpPr txBox="1"/>
          <p:nvPr/>
        </p:nvSpPr>
        <p:spPr>
          <a:xfrm>
            <a:off x="1417320" y="3136392"/>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What is the evidence?</a:t>
            </a:r>
          </a:p>
        </p:txBody>
      </p:sp>
      <p:sp>
        <p:nvSpPr>
          <p:cNvPr id="25" name="TextBox 24"/>
          <p:cNvSpPr txBox="1"/>
          <p:nvPr/>
        </p:nvSpPr>
        <p:spPr>
          <a:xfrm>
            <a:off x="4892040" y="3089910"/>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study, a number, a graph? Or only a slogan and a famous face?</a:t>
            </a:r>
          </a:p>
        </p:txBody>
      </p:sp>
      <p:sp>
        <p:nvSpPr>
          <p:cNvPr id="26" name="Rectangle 25"/>
          <p:cNvSpPr/>
          <p:nvPr/>
        </p:nvSpPr>
        <p:spPr>
          <a:xfrm>
            <a:off x="685800" y="3602736"/>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850392" y="3657600"/>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flask.png"/>
          <p:cNvPicPr>
            <a:picLocks noChangeAspect="1"/>
          </p:cNvPicPr>
          <p:nvPr/>
        </p:nvPicPr>
        <p:blipFill>
          <a:blip r:embed="rId6"/>
          <a:stretch>
            <a:fillRect/>
          </a:stretch>
        </p:blipFill>
        <p:spPr>
          <a:xfrm>
            <a:off x="932688" y="3739896"/>
            <a:ext cx="237744" cy="237744"/>
          </a:xfrm>
          <a:prstGeom prst="rect">
            <a:avLst/>
          </a:prstGeom>
          <a:effectLst/>
        </p:spPr>
      </p:pic>
      <p:sp>
        <p:nvSpPr>
          <p:cNvPr id="29" name="TextBox 28"/>
          <p:cNvSpPr txBox="1"/>
          <p:nvPr/>
        </p:nvSpPr>
        <p:spPr>
          <a:xfrm>
            <a:off x="1417320" y="3739896"/>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Has it been tested, and by whom?</a:t>
            </a:r>
          </a:p>
        </p:txBody>
      </p:sp>
      <p:sp>
        <p:nvSpPr>
          <p:cNvPr id="30" name="TextBox 29"/>
          <p:cNvSpPr txBox="1"/>
          <p:nvPr/>
        </p:nvSpPr>
        <p:spPr>
          <a:xfrm>
            <a:off x="4892040" y="3693414"/>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Tested on whom, for how long, and by somebody with nothing to gain?</a:t>
            </a:r>
          </a:p>
        </p:txBody>
      </p:sp>
      <p:sp>
        <p:nvSpPr>
          <p:cNvPr id="31" name="TextBox 30"/>
          <p:cNvSpPr txBox="1"/>
          <p:nvPr/>
        </p:nvSpPr>
        <p:spPr>
          <a:xfrm>
            <a:off x="868680" y="4261104"/>
            <a:ext cx="7406640" cy="200025"/>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These five come back in every lesson. The first one is on the front page already.</a:t>
            </a:r>
          </a:p>
        </p:txBody>
      </p:sp>
      <p:pic>
        <p:nvPicPr>
          <p:cNvPr id="32" name="Picture 31" descr="logo-mark.png"/>
          <p:cNvPicPr>
            <a:picLocks noChangeAspect="1"/>
          </p:cNvPicPr>
          <p:nvPr/>
        </p:nvPicPr>
        <p:blipFill>
          <a:blip r:embed="rId7"/>
          <a:stretch>
            <a:fillRect/>
          </a:stretch>
        </p:blipFill>
        <p:spPr>
          <a:xfrm>
            <a:off x="384048" y="4727448"/>
            <a:ext cx="158374" cy="182880"/>
          </a:xfrm>
          <a:prstGeom prst="rect">
            <a:avLst/>
          </a:prstGeom>
          <a:effectLst/>
        </p:spPr>
      </p:pic>
      <p:sp>
        <p:nvSpPr>
          <p:cNvPr id="33" name="TextBox 3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4" name="TextBox 3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Watch the first one</a:t>
            </a:r>
          </a:p>
        </p:txBody>
      </p:sp>
      <p:sp>
        <p:nvSpPr>
          <p:cNvPr id="6" name="TextBox 5"/>
          <p:cNvSpPr txBox="1"/>
          <p:nvPr/>
        </p:nvSpPr>
        <p:spPr>
          <a:xfrm>
            <a:off x="685800" y="1170432"/>
            <a:ext cx="7772400" cy="27432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34322F"/>
                </a:solidFill>
                <a:latin typeface="Georgia"/>
              </a:rPr>
              <a:t>Question 1:  Who is saying it?</a:t>
            </a:r>
          </a:p>
        </p:txBody>
      </p:sp>
      <p:sp>
        <p:nvSpPr>
          <p:cNvPr id="7" name="Rectangle 6"/>
          <p:cNvSpPr/>
          <p:nvPr/>
        </p:nvSpPr>
        <p:spPr>
          <a:xfrm>
            <a:off x="685800" y="1609344"/>
            <a:ext cx="7772400" cy="9855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1609344"/>
            <a:ext cx="45720" cy="9855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97280" y="1837943"/>
            <a:ext cx="6949440" cy="528320"/>
          </a:xfrm>
          <a:prstGeom prst="rect">
            <a:avLst/>
          </a:prstGeom>
          <a:noFill/>
          <a:effectLst/>
        </p:spPr>
        <p:txBody>
          <a:bodyPr wrap="square" anchor="t" lIns="0" rIns="0" tIns="0" bIns="0">
            <a:spAutoFit/>
          </a:bodyPr>
          <a:lstStyle/>
          <a:p>
            <a:pPr algn="l">
              <a:lnSpc>
                <a:spcPct val="128000"/>
              </a:lnSpc>
              <a:spcAft>
                <a:spcPts val="0"/>
              </a:spcAft>
            </a:pPr>
            <a:r>
              <a:rPr sz="1600" b="0" i="0">
                <a:solidFill>
                  <a:srgbClr val="262422"/>
                </a:solidFill>
                <a:latin typeface="Calibri"/>
              </a:rPr>
              <a:t>The company that makes Crisco, which gains from every tin it sells. The front page says it is healthier, and gives no evidence for that.</a:t>
            </a:r>
          </a:p>
        </p:txBody>
      </p:sp>
      <p:sp>
        <p:nvSpPr>
          <p:cNvPr id="10" name="TextBox 9"/>
          <p:cNvSpPr txBox="1"/>
          <p:nvPr/>
        </p:nvSpPr>
        <p:spPr>
          <a:xfrm>
            <a:off x="685800" y="2869184"/>
            <a:ext cx="7772400" cy="548640"/>
          </a:xfrm>
          <a:prstGeom prst="rect">
            <a:avLst/>
          </a:prstGeom>
          <a:noFill/>
          <a:effectLst/>
        </p:spPr>
        <p:txBody>
          <a:bodyPr wrap="square" anchor="t" lIns="0" rIns="0" tIns="0" bIns="0">
            <a:spAutoFit/>
          </a:bodyPr>
          <a:lstStyle/>
          <a:p>
            <a:pPr algn="ctr">
              <a:lnSpc>
                <a:spcPct val="125000"/>
              </a:lnSpc>
              <a:spcAft>
                <a:spcPts val="0"/>
              </a:spcAft>
            </a:pPr>
            <a:r>
              <a:rPr sz="1400" b="0" i="1">
                <a:solidFill>
                  <a:srgbClr val="56524B"/>
                </a:solidFill>
                <a:latin typeface="Calibri"/>
              </a:rPr>
              <a:t>Notice the answer is not true or false. It tells you what to look for next.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2" name="TextBox 11"/>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3" name="TextBox 12"/>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Now the other four</a:t>
            </a:r>
          </a:p>
        </p:txBody>
      </p:sp>
      <p:sp>
        <p:nvSpPr>
          <p:cNvPr id="6" name="TextBox 5"/>
          <p:cNvSpPr txBox="1"/>
          <p:nvPr/>
        </p:nvSpPr>
        <p:spPr>
          <a:xfrm>
            <a:off x="685800" y="1152144"/>
            <a:ext cx="7772400" cy="274320"/>
          </a:xfrm>
          <a:prstGeom prst="rect">
            <a:avLst/>
          </a:prstGeom>
          <a:noFill/>
          <a:effectLst/>
        </p:spPr>
        <p:txBody>
          <a:bodyPr wrap="square" anchor="t" lIns="0" rIns="0" tIns="0" bIns="0">
            <a:spAutoFit/>
          </a:bodyPr>
          <a:lstStyle/>
          <a:p>
            <a:pPr algn="l">
              <a:lnSpc>
                <a:spcPct val="125000"/>
              </a:lnSpc>
              <a:spcAft>
                <a:spcPts val="0"/>
              </a:spcAft>
            </a:pPr>
            <a:r>
              <a:rPr sz="1400" b="0" i="0">
                <a:solidFill>
                  <a:srgbClr val="56524B"/>
                </a:solidFill>
                <a:latin typeface="Calibri"/>
              </a:rPr>
              <a:t>Can the front page answer them? Talk it through in your group.</a:t>
            </a:r>
          </a:p>
        </p:txBody>
      </p:sp>
      <p:sp>
        <p:nvSpPr>
          <p:cNvPr id="7" name="Rectangle 6"/>
          <p:cNvSpPr/>
          <p:nvPr/>
        </p:nvSpPr>
        <p:spPr>
          <a:xfrm>
            <a:off x="685800"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1316736"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coins.png"/>
          <p:cNvPicPr>
            <a:picLocks noChangeAspect="1"/>
          </p:cNvPicPr>
          <p:nvPr/>
        </p:nvPicPr>
        <p:blipFill>
          <a:blip r:embed="rId2"/>
          <a:stretch>
            <a:fillRect/>
          </a:stretch>
        </p:blipFill>
        <p:spPr>
          <a:xfrm>
            <a:off x="1426464" y="1947672"/>
            <a:ext cx="310896" cy="310896"/>
          </a:xfrm>
          <a:prstGeom prst="rect">
            <a:avLst/>
          </a:prstGeom>
          <a:effectLst/>
        </p:spPr>
      </p:pic>
      <p:sp>
        <p:nvSpPr>
          <p:cNvPr id="11" name="TextBox 10"/>
          <p:cNvSpPr txBox="1"/>
          <p:nvPr/>
        </p:nvSpPr>
        <p:spPr>
          <a:xfrm>
            <a:off x="822960" y="2487168"/>
            <a:ext cx="1517904" cy="409448"/>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Who gains if I believe it?</a:t>
            </a:r>
          </a:p>
        </p:txBody>
      </p:sp>
      <p:sp>
        <p:nvSpPr>
          <p:cNvPr id="12" name="Rectangle 11"/>
          <p:cNvSpPr/>
          <p:nvPr/>
        </p:nvSpPr>
        <p:spPr>
          <a:xfrm>
            <a:off x="2679192"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679192"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3310128"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purse.png"/>
          <p:cNvPicPr>
            <a:picLocks noChangeAspect="1"/>
          </p:cNvPicPr>
          <p:nvPr/>
        </p:nvPicPr>
        <p:blipFill>
          <a:blip r:embed="rId3"/>
          <a:stretch>
            <a:fillRect/>
          </a:stretch>
        </p:blipFill>
        <p:spPr>
          <a:xfrm>
            <a:off x="3419856" y="1947672"/>
            <a:ext cx="310896" cy="310896"/>
          </a:xfrm>
          <a:prstGeom prst="rect">
            <a:avLst/>
          </a:prstGeom>
          <a:effectLst/>
        </p:spPr>
      </p:pic>
      <p:sp>
        <p:nvSpPr>
          <p:cNvPr id="16" name="TextBox 15"/>
          <p:cNvSpPr txBox="1"/>
          <p:nvPr/>
        </p:nvSpPr>
        <p:spPr>
          <a:xfrm>
            <a:off x="2816352" y="2487168"/>
            <a:ext cx="1517904" cy="204724"/>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Who paid for it?</a:t>
            </a:r>
          </a:p>
        </p:txBody>
      </p:sp>
      <p:sp>
        <p:nvSpPr>
          <p:cNvPr id="17" name="Rectangle 16"/>
          <p:cNvSpPr/>
          <p:nvPr/>
        </p:nvSpPr>
        <p:spPr>
          <a:xfrm>
            <a:off x="4672584"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672584"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5303520"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magnifier.png"/>
          <p:cNvPicPr>
            <a:picLocks noChangeAspect="1"/>
          </p:cNvPicPr>
          <p:nvPr/>
        </p:nvPicPr>
        <p:blipFill>
          <a:blip r:embed="rId4"/>
          <a:stretch>
            <a:fillRect/>
          </a:stretch>
        </p:blipFill>
        <p:spPr>
          <a:xfrm>
            <a:off x="5413248" y="1947672"/>
            <a:ext cx="310896" cy="310896"/>
          </a:xfrm>
          <a:prstGeom prst="rect">
            <a:avLst/>
          </a:prstGeom>
          <a:effectLst/>
        </p:spPr>
      </p:pic>
      <p:sp>
        <p:nvSpPr>
          <p:cNvPr id="21" name="TextBox 20"/>
          <p:cNvSpPr txBox="1"/>
          <p:nvPr/>
        </p:nvSpPr>
        <p:spPr>
          <a:xfrm>
            <a:off x="4809744" y="2487168"/>
            <a:ext cx="1517904" cy="409448"/>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What is the evidence?</a:t>
            </a:r>
          </a:p>
        </p:txBody>
      </p:sp>
      <p:sp>
        <p:nvSpPr>
          <p:cNvPr id="22" name="Rectangle 21"/>
          <p:cNvSpPr/>
          <p:nvPr/>
        </p:nvSpPr>
        <p:spPr>
          <a:xfrm>
            <a:off x="6665976"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665976"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7296912"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flask.png"/>
          <p:cNvPicPr>
            <a:picLocks noChangeAspect="1"/>
          </p:cNvPicPr>
          <p:nvPr/>
        </p:nvPicPr>
        <p:blipFill>
          <a:blip r:embed="rId5"/>
          <a:stretch>
            <a:fillRect/>
          </a:stretch>
        </p:blipFill>
        <p:spPr>
          <a:xfrm>
            <a:off x="7406640" y="1947672"/>
            <a:ext cx="310896" cy="310896"/>
          </a:xfrm>
          <a:prstGeom prst="rect">
            <a:avLst/>
          </a:prstGeom>
          <a:effectLst/>
        </p:spPr>
      </p:pic>
      <p:sp>
        <p:nvSpPr>
          <p:cNvPr id="26" name="TextBox 25"/>
          <p:cNvSpPr txBox="1"/>
          <p:nvPr/>
        </p:nvSpPr>
        <p:spPr>
          <a:xfrm>
            <a:off x="6803136" y="2487168"/>
            <a:ext cx="1517904" cy="614172"/>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Has it been tested, and by whom?</a:t>
            </a:r>
          </a:p>
        </p:txBody>
      </p:sp>
      <p:sp>
        <p:nvSpPr>
          <p:cNvPr id="27" name="TextBox 26"/>
          <p:cNvSpPr txBox="1"/>
          <p:nvPr/>
        </p:nvSpPr>
        <p:spPr>
          <a:xfrm>
            <a:off x="868680" y="3474720"/>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Then fill in the top of your evidence sheet: where you stand, and what you would need to know.</a:t>
            </a:r>
          </a:p>
        </p:txBody>
      </p:sp>
      <p:pic>
        <p:nvPicPr>
          <p:cNvPr id="28" name="Picture 27" descr="logo-mark.png"/>
          <p:cNvPicPr>
            <a:picLocks noChangeAspect="1"/>
          </p:cNvPicPr>
          <p:nvPr/>
        </p:nvPicPr>
        <p:blipFill>
          <a:blip r:embed="rId6"/>
          <a:stretch>
            <a:fillRect/>
          </a:stretch>
        </p:blipFill>
        <p:spPr>
          <a:xfrm>
            <a:off x="384048" y="4727448"/>
            <a:ext cx="158374" cy="182880"/>
          </a:xfrm>
          <a:prstGeom prst="rect">
            <a:avLst/>
          </a:prstGeom>
          <a:effectLst/>
        </p:spPr>
      </p:pic>
      <p:sp>
        <p:nvSpPr>
          <p:cNvPr id="29" name="TextBox 2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0" name="TextBox 2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1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A</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The company</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Procter &amp; Gamble made soap and candles. Crisco was made from cottonseed oil, which comes from the seeds left over when cotton is grown. Around 1907, with the chemist Edwin Kayser, the company found a way to turn the oil into a solid fat. It sold that fat as food from June 1911, and named it Crisco, from “crystallized cottonseed oil”.</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Wikipedia, Crisco; University of Guelph</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A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2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B</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The adverts</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Crisco was advertised as healthier and more cost-effective than butter and other fats. One slogan was “It’s all vegetable! It’s digestible!” The company gave away free cookbooks in which every recipe used Crisco, and its adverts asked shoppers to trust the brand rather than worry about what was in it.</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NPR, 2012; Wikipedia, Crisco; University of Guelph</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B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3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C</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060704"/>
            <a:ext cx="7132320" cy="365760"/>
          </a:xfrm>
          <a:prstGeom prst="rect">
            <a:avLst/>
          </a:prstGeom>
          <a:noFill/>
          <a:effectLst/>
        </p:spPr>
        <p:txBody>
          <a:bodyPr wrap="square" anchor="t" lIns="0" rIns="0" tIns="0" bIns="0">
            <a:spAutoFit/>
          </a:bodyPr>
          <a:lstStyle/>
          <a:p>
            <a:pPr algn="l">
              <a:lnSpc>
                <a:spcPct val="125000"/>
              </a:lnSpc>
              <a:spcAft>
                <a:spcPts val="0"/>
              </a:spcAft>
            </a:pPr>
            <a:r>
              <a:rPr sz="1800" b="0" i="0">
                <a:solidFill>
                  <a:srgbClr val="262422"/>
                </a:solidFill>
                <a:latin typeface="Georgia"/>
              </a:rPr>
              <a:t>The experiment</a:t>
            </a:r>
          </a:p>
        </p:txBody>
      </p:sp>
      <p:sp>
        <p:nvSpPr>
          <p:cNvPr id="10" name="Rectangle 9"/>
          <p:cNvSpPr/>
          <p:nvPr/>
        </p:nvSpPr>
        <p:spPr>
          <a:xfrm>
            <a:off x="960120" y="1444752"/>
            <a:ext cx="4754880" cy="21762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960120" y="1444752"/>
            <a:ext cx="475488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aphicFrame>
        <p:nvGraphicFramePr>
          <p:cNvPr id="12" name="Chart 11"/>
          <p:cNvGraphicFramePr>
            <a:graphicFrameLocks noGrp="1"/>
          </p:cNvGraphicFramePr>
          <p:nvPr/>
        </p:nvGraphicFramePr>
        <p:xfrm>
          <a:off x="1051560" y="1536192"/>
          <a:ext cx="4572000" cy="1700784"/>
        </p:xfrm>
        <a:graphic>
          <a:graphicData uri="http://schemas.openxmlformats.org/drawingml/2006/chart">
            <c:chart xmlns:c="http://schemas.openxmlformats.org/drawingml/2006/chart" r:id="rId2"/>
          </a:graphicData>
        </a:graphic>
      </p:graphicFrame>
      <p:sp>
        <p:nvSpPr>
          <p:cNvPr id="13" name="TextBox 12"/>
          <p:cNvSpPr txBox="1"/>
          <p:nvPr/>
        </p:nvSpPr>
        <p:spPr>
          <a:xfrm>
            <a:off x="1161288" y="3273552"/>
            <a:ext cx="4352544" cy="274320"/>
          </a:xfrm>
          <a:prstGeom prst="rect">
            <a:avLst/>
          </a:prstGeom>
          <a:noFill/>
          <a:effectLst/>
        </p:spPr>
        <p:txBody>
          <a:bodyPr wrap="square" anchor="t" lIns="0" rIns="0" tIns="0" bIns="0">
            <a:spAutoFit/>
          </a:bodyPr>
          <a:lstStyle/>
          <a:p>
            <a:pPr algn="ctr">
              <a:lnSpc>
                <a:spcPct val="125000"/>
              </a:lnSpc>
              <a:spcAft>
                <a:spcPts val="0"/>
              </a:spcAft>
            </a:pPr>
            <a:r>
              <a:rPr sz="900" b="0" i="1">
                <a:solidFill>
                  <a:srgbClr val="56524B"/>
                </a:solidFill>
                <a:latin typeface="Calibri"/>
              </a:rPr>
              <a:t>Change in mmol per litre, compared with a diet high in olive-oil type fat</a:t>
            </a:r>
          </a:p>
        </p:txBody>
      </p:sp>
      <p:sp>
        <p:nvSpPr>
          <p:cNvPr id="14" name="Rectangle 13"/>
          <p:cNvSpPr/>
          <p:nvPr/>
        </p:nvSpPr>
        <p:spPr>
          <a:xfrm>
            <a:off x="5897880" y="1444752"/>
            <a:ext cx="2286000" cy="2176272"/>
          </a:xfrm>
          <a:prstGeom prst="rect">
            <a:avLst/>
          </a:prstGeom>
          <a:solidFill>
            <a:srgbClr val="E9E2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080760" y="1609344"/>
            <a:ext cx="1920240" cy="182880"/>
          </a:xfrm>
          <a:prstGeom prst="rect">
            <a:avLst/>
          </a:prstGeom>
          <a:noFill/>
          <a:effectLst/>
        </p:spPr>
        <p:txBody>
          <a:bodyPr wrap="square" anchor="t" lIns="0" rIns="0" tIns="0" bIns="0">
            <a:spAutoFit/>
          </a:bodyPr>
          <a:lstStyle/>
          <a:p>
            <a:pPr algn="l">
              <a:lnSpc>
                <a:spcPct val="125000"/>
              </a:lnSpc>
              <a:spcAft>
                <a:spcPts val="0"/>
              </a:spcAft>
            </a:pPr>
            <a:r>
              <a:rPr sz="800" b="1" i="0" spc="140">
                <a:solidFill>
                  <a:srgbClr val="34322F"/>
                </a:solidFill>
                <a:latin typeface="Calibri"/>
              </a:rPr>
              <a:t>ABOUT THIS</a:t>
            </a:r>
          </a:p>
        </p:txBody>
      </p:sp>
      <p:sp>
        <p:nvSpPr>
          <p:cNvPr id="16" name="TextBox 15"/>
          <p:cNvSpPr txBox="1"/>
          <p:nvPr/>
        </p:nvSpPr>
        <p:spPr>
          <a:xfrm>
            <a:off x="6080760" y="1865376"/>
            <a:ext cx="1920240" cy="1188720"/>
          </a:xfrm>
          <a:prstGeom prst="rect">
            <a:avLst/>
          </a:prstGeom>
          <a:noFill/>
          <a:effectLst/>
        </p:spPr>
        <p:txBody>
          <a:bodyPr wrap="square" anchor="t" lIns="0" rIns="0" tIns="0" bIns="0">
            <a:spAutoFit/>
          </a:bodyPr>
          <a:lstStyle/>
          <a:p>
            <a:pPr algn="l">
              <a:lnSpc>
                <a:spcPct val="128000"/>
              </a:lnSpc>
              <a:spcAft>
                <a:spcPts val="0"/>
              </a:spcAft>
            </a:pPr>
            <a:r>
              <a:rPr sz="1200" b="0" i="0">
                <a:solidFill>
                  <a:srgbClr val="262422"/>
                </a:solidFill>
                <a:latin typeface="Calibri"/>
              </a:rPr>
              <a:t>59 healthy volunteers ate three diets for three weeks each, and only one fat changed.</a:t>
            </a:r>
          </a:p>
        </p:txBody>
      </p:sp>
      <p:sp>
        <p:nvSpPr>
          <p:cNvPr id="17" name="TextBox 16"/>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Mensink and Katan, New England Journal of Medicine, 1990</a:t>
            </a:r>
          </a:p>
        </p:txBody>
      </p:sp>
      <p:sp>
        <p:nvSpPr>
          <p:cNvPr id="18" name="TextBox 17"/>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C row on your evidence sheet, then move on the line.</a:t>
            </a:r>
          </a:p>
        </p:txBody>
      </p:sp>
      <p:pic>
        <p:nvPicPr>
          <p:cNvPr id="19" name="Picture 18" descr="logo-mark.png"/>
          <p:cNvPicPr>
            <a:picLocks noChangeAspect="1"/>
          </p:cNvPicPr>
          <p:nvPr/>
        </p:nvPicPr>
        <p:blipFill>
          <a:blip r:embed="rId3"/>
          <a:stretch>
            <a:fillRect/>
          </a:stretch>
        </p:blipFill>
        <p:spPr>
          <a:xfrm>
            <a:off x="384048" y="4727448"/>
            <a:ext cx="158374" cy="182880"/>
          </a:xfrm>
          <a:prstGeom prst="rect">
            <a:avLst/>
          </a:prstGeom>
          <a:effectLst/>
        </p:spPr>
      </p:pic>
      <p:sp>
        <p:nvSpPr>
          <p:cNvPr id="20" name="TextBox 1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1" name="TextBox 2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What do the numbers say?</a:t>
            </a:r>
          </a:p>
        </p:txBody>
      </p:sp>
      <p:sp>
        <p:nvSpPr>
          <p:cNvPr id="6" name="TextBox 5"/>
          <p:cNvSpPr txBox="1"/>
          <p:nvPr/>
        </p:nvSpPr>
        <p:spPr>
          <a:xfrm>
            <a:off x="685800" y="1133856"/>
            <a:ext cx="7772400" cy="274320"/>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Work them out in your group. Write your working on your evidence sheet.</a:t>
            </a:r>
          </a:p>
        </p:txBody>
      </p:sp>
      <p:sp>
        <p:nvSpPr>
          <p:cNvPr id="7" name="Rectangle 6"/>
          <p:cNvSpPr/>
          <p:nvPr/>
        </p:nvSpPr>
        <p:spPr>
          <a:xfrm>
            <a:off x="685800" y="1481328"/>
            <a:ext cx="7772400" cy="6995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563624"/>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636776"/>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1</a:t>
            </a:r>
          </a:p>
        </p:txBody>
      </p:sp>
      <p:sp>
        <p:nvSpPr>
          <p:cNvPr id="10" name="TextBox 9"/>
          <p:cNvSpPr txBox="1"/>
          <p:nvPr/>
        </p:nvSpPr>
        <p:spPr>
          <a:xfrm>
            <a:off x="1371600" y="1591056"/>
            <a:ext cx="6903720" cy="48006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Which fat raised the “bad” LDL cholesterol more, trans fat (+0.37) or saturated fat (+0.47)?</a:t>
            </a:r>
          </a:p>
        </p:txBody>
      </p:sp>
      <p:sp>
        <p:nvSpPr>
          <p:cNvPr id="11" name="Rectangle 10"/>
          <p:cNvSpPr/>
          <p:nvPr/>
        </p:nvSpPr>
        <p:spPr>
          <a:xfrm>
            <a:off x="685800" y="2345436"/>
            <a:ext cx="7772400" cy="6995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68680" y="2427732"/>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2500884"/>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2</a:t>
            </a:r>
          </a:p>
        </p:txBody>
      </p:sp>
      <p:sp>
        <p:nvSpPr>
          <p:cNvPr id="14" name="TextBox 13"/>
          <p:cNvSpPr txBox="1"/>
          <p:nvPr/>
        </p:nvSpPr>
        <p:spPr>
          <a:xfrm>
            <a:off x="1371600" y="2455164"/>
            <a:ext cx="6903720" cy="48006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Which fat lowered the “good” HDL cholesterol, and by how much?</a:t>
            </a:r>
          </a:p>
        </p:txBody>
      </p:sp>
      <p:sp>
        <p:nvSpPr>
          <p:cNvPr id="15" name="Rectangle 14"/>
          <p:cNvSpPr/>
          <p:nvPr/>
        </p:nvSpPr>
        <p:spPr>
          <a:xfrm>
            <a:off x="685800" y="3209544"/>
            <a:ext cx="7772400" cy="6995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868680" y="3291840"/>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68680" y="3364992"/>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3</a:t>
            </a:r>
          </a:p>
        </p:txBody>
      </p:sp>
      <p:sp>
        <p:nvSpPr>
          <p:cNvPr id="18" name="TextBox 17"/>
          <p:cNvSpPr txBox="1"/>
          <p:nvPr/>
        </p:nvSpPr>
        <p:spPr>
          <a:xfrm>
            <a:off x="1371600" y="3319272"/>
            <a:ext cx="6903720" cy="48006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Add up how far each fat moved the two numbers in the wrong direction. Which comes out worse?</a:t>
            </a:r>
          </a:p>
        </p:txBody>
      </p:sp>
      <p:pic>
        <p:nvPicPr>
          <p:cNvPr id="19" name="Picture 18"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0" name="TextBox 1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1" name="TextBox 2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4" name="Rounded Rectangle 3"/>
          <p:cNvSpPr/>
          <p:nvPr/>
        </p:nvSpPr>
        <p:spPr>
          <a:xfrm>
            <a:off x="7072528" y="246888"/>
            <a:ext cx="1385671"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THE ANSWERS</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Check your working</a:t>
            </a:r>
          </a:p>
        </p:txBody>
      </p:sp>
      <p:sp>
        <p:nvSpPr>
          <p:cNvPr id="6" name="TextBox 5"/>
          <p:cNvSpPr txBox="1"/>
          <p:nvPr/>
        </p:nvSpPr>
        <p:spPr>
          <a:xfrm>
            <a:off x="685800" y="1133856"/>
            <a:ext cx="7772400" cy="274320"/>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Mark your own. A different method that gets the same answer is fine.</a:t>
            </a:r>
          </a:p>
        </p:txBody>
      </p:sp>
      <p:sp>
        <p:nvSpPr>
          <p:cNvPr id="7" name="Rectangle 6"/>
          <p:cNvSpPr/>
          <p:nvPr/>
        </p:nvSpPr>
        <p:spPr>
          <a:xfrm>
            <a:off x="685800" y="1481328"/>
            <a:ext cx="7772400" cy="8503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563624"/>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636776"/>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1</a:t>
            </a:r>
          </a:p>
        </p:txBody>
      </p:sp>
      <p:sp>
        <p:nvSpPr>
          <p:cNvPr id="10" name="TextBox 9"/>
          <p:cNvSpPr txBox="1"/>
          <p:nvPr/>
        </p:nvSpPr>
        <p:spPr>
          <a:xfrm>
            <a:off x="1371600" y="1591056"/>
            <a:ext cx="6903720" cy="384048"/>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Which fat raised the “bad” LDL cholesterol more, trans fat (+0.37) or saturated fat (+0.47)?</a:t>
            </a:r>
          </a:p>
        </p:txBody>
      </p:sp>
      <p:sp>
        <p:nvSpPr>
          <p:cNvPr id="11" name="TextBox 10"/>
          <p:cNvSpPr txBox="1"/>
          <p:nvPr/>
        </p:nvSpPr>
        <p:spPr>
          <a:xfrm>
            <a:off x="1371600" y="2029968"/>
            <a:ext cx="6903720" cy="192024"/>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Saturated fat, by 0.10.</a:t>
            </a:r>
          </a:p>
        </p:txBody>
      </p:sp>
      <p:sp>
        <p:nvSpPr>
          <p:cNvPr id="12" name="Rectangle 11"/>
          <p:cNvSpPr/>
          <p:nvPr/>
        </p:nvSpPr>
        <p:spPr>
          <a:xfrm>
            <a:off x="685800" y="2423160"/>
            <a:ext cx="7772400" cy="65836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505456"/>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578608"/>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2</a:t>
            </a:r>
          </a:p>
        </p:txBody>
      </p:sp>
      <p:sp>
        <p:nvSpPr>
          <p:cNvPr id="15" name="TextBox 14"/>
          <p:cNvSpPr txBox="1"/>
          <p:nvPr/>
        </p:nvSpPr>
        <p:spPr>
          <a:xfrm>
            <a:off x="1371600" y="2532888"/>
            <a:ext cx="6903720" cy="192024"/>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Which fat lowered the “good” HDL cholesterol, and by how much?</a:t>
            </a:r>
          </a:p>
        </p:txBody>
      </p:sp>
      <p:sp>
        <p:nvSpPr>
          <p:cNvPr id="16" name="TextBox 15"/>
          <p:cNvSpPr txBox="1"/>
          <p:nvPr/>
        </p:nvSpPr>
        <p:spPr>
          <a:xfrm>
            <a:off x="1371600" y="2779776"/>
            <a:ext cx="6903720" cy="192024"/>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Trans fat, by 0.17. Saturated fat did not change it.</a:t>
            </a:r>
          </a:p>
        </p:txBody>
      </p:sp>
      <p:sp>
        <p:nvSpPr>
          <p:cNvPr id="17" name="Rectangle 16"/>
          <p:cNvSpPr/>
          <p:nvPr/>
        </p:nvSpPr>
        <p:spPr>
          <a:xfrm>
            <a:off x="685800" y="3172968"/>
            <a:ext cx="7772400"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255264"/>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328416"/>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3</a:t>
            </a:r>
          </a:p>
        </p:txBody>
      </p:sp>
      <p:sp>
        <p:nvSpPr>
          <p:cNvPr id="20" name="TextBox 19"/>
          <p:cNvSpPr txBox="1"/>
          <p:nvPr/>
        </p:nvSpPr>
        <p:spPr>
          <a:xfrm>
            <a:off x="1371600" y="3282696"/>
            <a:ext cx="6903720" cy="384048"/>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Add up how far each fat moved the two numbers in the wrong direction. Which comes out worse?</a:t>
            </a:r>
          </a:p>
        </p:txBody>
      </p:sp>
      <p:sp>
        <p:nvSpPr>
          <p:cNvPr id="21" name="TextBox 20"/>
          <p:cNvSpPr txBox="1"/>
          <p:nvPr/>
        </p:nvSpPr>
        <p:spPr>
          <a:xfrm>
            <a:off x="1371600" y="3721608"/>
            <a:ext cx="6903720" cy="384048"/>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Trans fat: 0.37 + 0.17 = 0.54. Saturated fat: 0.47 + 0 = 0.47. Trans fat is worse, but neither is harmless.</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3" name="TextBox 2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4" name="TextBox 2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4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D</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What happened</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Turning liquid oil solid makes trans fat. The World Health Organization now links up to 278,000 deaths a year to trans fats made in factories. The US ruled them unsafe in 2015 and gave food companies until 2018 to remove them. Crisco changed its recipe in 2007.</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WHO trans fat fact sheet, 2024; US FDA; Wikipedia, Crisco</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D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Write the real front page</a:t>
            </a:r>
          </a:p>
        </p:txBody>
      </p:sp>
      <p:sp>
        <p:nvSpPr>
          <p:cNvPr id="6" name="TextBox 5"/>
          <p:cNvSpPr txBox="1"/>
          <p:nvPr/>
        </p:nvSpPr>
        <p:spPr>
          <a:xfrm>
            <a:off x="685800" y="1115568"/>
            <a:ext cx="777240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56524B"/>
                </a:solidFill>
                <a:latin typeface="Calibri"/>
              </a:rPr>
              <a:t>On your front page sheet, on your own or with one partner.</a:t>
            </a:r>
          </a:p>
        </p:txBody>
      </p:sp>
      <p:sp>
        <p:nvSpPr>
          <p:cNvPr id="7" name="Rectangle 6"/>
          <p:cNvSpPr/>
          <p:nvPr/>
        </p:nvSpPr>
        <p:spPr>
          <a:xfrm>
            <a:off x="685800" y="149961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636775"/>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732787"/>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10" name="TextBox 9"/>
          <p:cNvSpPr txBox="1"/>
          <p:nvPr/>
        </p:nvSpPr>
        <p:spPr>
          <a:xfrm>
            <a:off x="1417320" y="160020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A headline that is true to the evidence</a:t>
            </a:r>
          </a:p>
        </p:txBody>
      </p:sp>
      <p:sp>
        <p:nvSpPr>
          <p:cNvPr id="11" name="TextBox 10"/>
          <p:cNvSpPr txBox="1"/>
          <p:nvPr/>
        </p:nvSpPr>
        <p:spPr>
          <a:xfrm>
            <a:off x="1417320" y="184708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No bigger than the evidence. If you are not sure, the headline can say so.</a:t>
            </a:r>
          </a:p>
        </p:txBody>
      </p:sp>
      <p:sp>
        <p:nvSpPr>
          <p:cNvPr id="12" name="Rectangle 11"/>
          <p:cNvSpPr/>
          <p:nvPr/>
        </p:nvSpPr>
        <p:spPr>
          <a:xfrm>
            <a:off x="685800" y="2304288"/>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441448"/>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537460"/>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5" name="TextBox 14"/>
          <p:cNvSpPr txBox="1"/>
          <p:nvPr/>
        </p:nvSpPr>
        <p:spPr>
          <a:xfrm>
            <a:off x="1417320" y="2404872"/>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One line under it that sums up the story</a:t>
            </a:r>
          </a:p>
        </p:txBody>
      </p:sp>
      <p:sp>
        <p:nvSpPr>
          <p:cNvPr id="16" name="TextBox 15"/>
          <p:cNvSpPr txBox="1"/>
          <p:nvPr/>
        </p:nvSpPr>
        <p:spPr>
          <a:xfrm>
            <a:off x="1417320" y="2651760"/>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Who made the claim, and what they stood to gain.</a:t>
            </a:r>
          </a:p>
        </p:txBody>
      </p:sp>
      <p:sp>
        <p:nvSpPr>
          <p:cNvPr id="17" name="Rectangle 16"/>
          <p:cNvSpPr/>
          <p:nvPr/>
        </p:nvSpPr>
        <p:spPr>
          <a:xfrm>
            <a:off x="685800" y="3108960"/>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246120"/>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342132"/>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20" name="TextBox 19"/>
          <p:cNvSpPr txBox="1"/>
          <p:nvPr/>
        </p:nvSpPr>
        <p:spPr>
          <a:xfrm>
            <a:off x="1417320" y="3209544"/>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The story, in four or five sentences</a:t>
            </a:r>
          </a:p>
        </p:txBody>
      </p:sp>
      <p:sp>
        <p:nvSpPr>
          <p:cNvPr id="21" name="TextBox 20"/>
          <p:cNvSpPr txBox="1"/>
          <p:nvPr/>
        </p:nvSpPr>
        <p:spPr>
          <a:xfrm>
            <a:off x="1417320" y="3456432"/>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Use at least two cards, name each one, and put in one number from your sums.</a:t>
            </a:r>
          </a:p>
        </p:txBody>
      </p:sp>
      <p:sp>
        <p:nvSpPr>
          <p:cNvPr id="22" name="TextBox 21"/>
          <p:cNvSpPr txBox="1"/>
          <p:nvPr/>
        </p:nvSpPr>
        <p:spPr>
          <a:xfrm>
            <a:off x="868680" y="3986784"/>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Your evidence sheet has everything you need. Write it for somebody who has not seen the cards.</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Check somebody else’s page</a:t>
            </a:r>
          </a:p>
        </p:txBody>
      </p:sp>
      <p:sp>
        <p:nvSpPr>
          <p:cNvPr id="6" name="TextBox 5"/>
          <p:cNvSpPr txBox="1"/>
          <p:nvPr/>
        </p:nvSpPr>
        <p:spPr>
          <a:xfrm>
            <a:off x="685800" y="1152144"/>
            <a:ext cx="777240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56524B"/>
                </a:solidFill>
                <a:latin typeface="Calibri"/>
              </a:rPr>
              <a:t>Swap front pages with somebody from another group. Tick each box it passes.</a:t>
            </a:r>
          </a:p>
        </p:txBody>
      </p:sp>
      <p:sp>
        <p:nvSpPr>
          <p:cNvPr id="7" name="Rectangle 6"/>
          <p:cNvSpPr/>
          <p:nvPr/>
        </p:nvSpPr>
        <p:spPr>
          <a:xfrm>
            <a:off x="685800" y="159105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72821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82422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10" name="TextBox 9"/>
          <p:cNvSpPr txBox="1"/>
          <p:nvPr/>
        </p:nvSpPr>
        <p:spPr>
          <a:xfrm>
            <a:off x="1417320" y="169164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Is the headline true to the evidence?</a:t>
            </a:r>
          </a:p>
        </p:txBody>
      </p:sp>
      <p:sp>
        <p:nvSpPr>
          <p:cNvPr id="11" name="TextBox 10"/>
          <p:cNvSpPr txBox="1"/>
          <p:nvPr/>
        </p:nvSpPr>
        <p:spPr>
          <a:xfrm>
            <a:off x="1417320" y="193852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Not bigger, not smaller, than what the cards show.</a:t>
            </a:r>
          </a:p>
        </p:txBody>
      </p:sp>
      <p:sp>
        <p:nvSpPr>
          <p:cNvPr id="12" name="Rectangle 11"/>
          <p:cNvSpPr/>
          <p:nvPr/>
        </p:nvSpPr>
        <p:spPr>
          <a:xfrm>
            <a:off x="685800" y="241401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55117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64718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5" name="TextBox 14"/>
          <p:cNvSpPr txBox="1"/>
          <p:nvPr/>
        </p:nvSpPr>
        <p:spPr>
          <a:xfrm>
            <a:off x="1417320" y="251460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Does it say where the evidence came from?</a:t>
            </a:r>
          </a:p>
        </p:txBody>
      </p:sp>
      <p:sp>
        <p:nvSpPr>
          <p:cNvPr id="16" name="TextBox 15"/>
          <p:cNvSpPr txBox="1"/>
          <p:nvPr/>
        </p:nvSpPr>
        <p:spPr>
          <a:xfrm>
            <a:off x="1417320" y="276148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A study, a document, a person with a name.</a:t>
            </a:r>
          </a:p>
        </p:txBody>
      </p:sp>
      <p:sp>
        <p:nvSpPr>
          <p:cNvPr id="17" name="Rectangle 16"/>
          <p:cNvSpPr/>
          <p:nvPr/>
        </p:nvSpPr>
        <p:spPr>
          <a:xfrm>
            <a:off x="685800" y="323697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37413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47014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20" name="TextBox 19"/>
          <p:cNvSpPr txBox="1"/>
          <p:nvPr/>
        </p:nvSpPr>
        <p:spPr>
          <a:xfrm>
            <a:off x="1417320" y="333756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Would it survive the five questions?</a:t>
            </a:r>
          </a:p>
        </p:txBody>
      </p:sp>
      <p:sp>
        <p:nvSpPr>
          <p:cNvPr id="21" name="TextBox 20"/>
          <p:cNvSpPr txBox="1"/>
          <p:nvPr/>
        </p:nvSpPr>
        <p:spPr>
          <a:xfrm>
            <a:off x="1417320" y="358444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Try one or two of them on it.</a:t>
            </a:r>
          </a:p>
        </p:txBody>
      </p:sp>
      <p:sp>
        <p:nvSpPr>
          <p:cNvPr id="22" name="TextBox 21"/>
          <p:cNvSpPr txBox="1"/>
          <p:nvPr/>
        </p:nvSpPr>
        <p:spPr>
          <a:xfrm>
            <a:off x="868680" y="4023360"/>
            <a:ext cx="7406640" cy="216027"/>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Write one change that would make it better, then hand it back.</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4" name="TextBox 3"/>
          <p:cNvSpPr txBox="1"/>
          <p:nvPr/>
        </p:nvSpPr>
        <p:spPr>
          <a:xfrm>
            <a:off x="685800" y="566928"/>
            <a:ext cx="512064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What really happened</a:t>
            </a:r>
          </a:p>
        </p:txBody>
      </p:sp>
      <p:sp>
        <p:nvSpPr>
          <p:cNvPr id="5" name="Rounded Rectangle 4"/>
          <p:cNvSpPr/>
          <p:nvPr/>
        </p:nvSpPr>
        <p:spPr>
          <a:xfrm rot="21120000">
            <a:off x="5748829" y="522732"/>
            <a:ext cx="2858421" cy="746760"/>
          </a:xfrm>
          <a:prstGeom prst="roundRect">
            <a:avLst>
              <a:gd name="adj" fmla="val 8000"/>
            </a:avLst>
          </a:prstGeom>
          <a:noFill/>
          <a:ln w="44450">
            <a:solidFill>
              <a:srgbClr val="34322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ounded Rectangle 5"/>
          <p:cNvSpPr/>
          <p:nvPr/>
        </p:nvSpPr>
        <p:spPr>
          <a:xfrm rot="21120000">
            <a:off x="5831125" y="605028"/>
            <a:ext cx="2693829" cy="582168"/>
          </a:xfrm>
          <a:prstGeom prst="roundRect">
            <a:avLst>
              <a:gd name="adj" fmla="val 6000"/>
            </a:avLst>
          </a:prstGeom>
          <a:noFill/>
          <a:ln w="15240">
            <a:solidFill>
              <a:srgbClr val="34322F"/>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wrap="none"/>
          <a:lstStyle/>
          <a:p>
            <a:pPr algn="ctr"/>
            <a:r>
              <a:rPr sz="3000" b="1" spc="600">
                <a:solidFill>
                  <a:srgbClr val="34322F"/>
                </a:solidFill>
                <a:latin typeface="Calibri"/>
              </a:rPr>
              <a:t>BUSTED</a:t>
            </a:r>
          </a:p>
        </p:txBody>
      </p:sp>
      <p:sp>
        <p:nvSpPr>
          <p:cNvPr id="7" name="TextBox 6"/>
          <p:cNvSpPr txBox="1"/>
          <p:nvPr/>
        </p:nvSpPr>
        <p:spPr>
          <a:xfrm>
            <a:off x="685800" y="1591056"/>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1911</a:t>
            </a:r>
          </a:p>
        </p:txBody>
      </p:sp>
      <p:sp>
        <p:nvSpPr>
          <p:cNvPr id="8" name="Oval 7"/>
          <p:cNvSpPr/>
          <p:nvPr/>
        </p:nvSpPr>
        <p:spPr>
          <a:xfrm>
            <a:off x="1819656" y="1645919"/>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130552" y="1591056"/>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Crisco goes on sale, sold as healthier than butter and lard.</a:t>
            </a:r>
          </a:p>
        </p:txBody>
      </p:sp>
      <p:sp>
        <p:nvSpPr>
          <p:cNvPr id="10" name="TextBox 9"/>
          <p:cNvSpPr txBox="1"/>
          <p:nvPr/>
        </p:nvSpPr>
        <p:spPr>
          <a:xfrm>
            <a:off x="685800" y="2029967"/>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1990</a:t>
            </a:r>
          </a:p>
        </p:txBody>
      </p:sp>
      <p:sp>
        <p:nvSpPr>
          <p:cNvPr id="11" name="Oval 10"/>
          <p:cNvSpPr/>
          <p:nvPr/>
        </p:nvSpPr>
        <p:spPr>
          <a:xfrm>
            <a:off x="1819656" y="2084831"/>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130552" y="2029967"/>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An experiment shows trans fat lowers the good cholesterol.</a:t>
            </a:r>
          </a:p>
        </p:txBody>
      </p:sp>
      <p:sp>
        <p:nvSpPr>
          <p:cNvPr id="13" name="TextBox 12"/>
          <p:cNvSpPr txBox="1"/>
          <p:nvPr/>
        </p:nvSpPr>
        <p:spPr>
          <a:xfrm>
            <a:off x="685800" y="2468879"/>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2007</a:t>
            </a:r>
          </a:p>
        </p:txBody>
      </p:sp>
      <p:sp>
        <p:nvSpPr>
          <p:cNvPr id="14" name="Oval 13"/>
          <p:cNvSpPr/>
          <p:nvPr/>
        </p:nvSpPr>
        <p:spPr>
          <a:xfrm>
            <a:off x="1819656" y="2523744"/>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130552" y="2468879"/>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Crisco changes its recipe.</a:t>
            </a:r>
          </a:p>
        </p:txBody>
      </p:sp>
      <p:sp>
        <p:nvSpPr>
          <p:cNvPr id="16" name="TextBox 15"/>
          <p:cNvSpPr txBox="1"/>
          <p:nvPr/>
        </p:nvSpPr>
        <p:spPr>
          <a:xfrm>
            <a:off x="685800" y="2907791"/>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2015</a:t>
            </a:r>
          </a:p>
        </p:txBody>
      </p:sp>
      <p:sp>
        <p:nvSpPr>
          <p:cNvPr id="17" name="Oval 16"/>
          <p:cNvSpPr/>
          <p:nvPr/>
        </p:nvSpPr>
        <p:spPr>
          <a:xfrm>
            <a:off x="1819656" y="2962656"/>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2130552" y="2907791"/>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The US rules factory trans fats unsafe.</a:t>
            </a:r>
          </a:p>
        </p:txBody>
      </p:sp>
      <p:sp>
        <p:nvSpPr>
          <p:cNvPr id="19" name="Rectangle 18"/>
          <p:cNvSpPr/>
          <p:nvPr/>
        </p:nvSpPr>
        <p:spPr>
          <a:xfrm>
            <a:off x="685800" y="3840480"/>
            <a:ext cx="7772400" cy="676656"/>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68680" y="3941063"/>
            <a:ext cx="7406640" cy="182880"/>
          </a:xfrm>
          <a:prstGeom prst="rect">
            <a:avLst/>
          </a:prstGeom>
          <a:noFill/>
          <a:effectLst/>
        </p:spPr>
        <p:txBody>
          <a:bodyPr wrap="square" anchor="t" lIns="0" rIns="0" tIns="0" bIns="0">
            <a:spAutoFit/>
          </a:bodyPr>
          <a:lstStyle/>
          <a:p>
            <a:pPr algn="ctr">
              <a:lnSpc>
                <a:spcPct val="125000"/>
              </a:lnSpc>
              <a:spcAft>
                <a:spcPts val="0"/>
              </a:spcAft>
            </a:pPr>
            <a:r>
              <a:rPr sz="850" b="1" i="0" spc="150">
                <a:solidFill>
                  <a:srgbClr val="D7D2C8"/>
                </a:solidFill>
                <a:latin typeface="Calibri"/>
              </a:rPr>
              <a:t>THE QUESTION THAT WOULD HAVE CAUGHT IT</a:t>
            </a:r>
          </a:p>
        </p:txBody>
      </p:sp>
      <p:sp>
        <p:nvSpPr>
          <p:cNvPr id="21" name="TextBox 20"/>
          <p:cNvSpPr txBox="1"/>
          <p:nvPr/>
        </p:nvSpPr>
        <p:spPr>
          <a:xfrm>
            <a:off x="868680" y="4133087"/>
            <a:ext cx="7406640" cy="310896"/>
          </a:xfrm>
          <a:prstGeom prst="rect">
            <a:avLst/>
          </a:prstGeom>
          <a:noFill/>
          <a:effectLst/>
        </p:spPr>
        <p:txBody>
          <a:bodyPr wrap="square" anchor="t" lIns="0" rIns="0" tIns="0" bIns="0">
            <a:spAutoFit/>
          </a:bodyPr>
          <a:lstStyle/>
          <a:p>
            <a:pPr algn="ctr">
              <a:lnSpc>
                <a:spcPct val="125000"/>
              </a:lnSpc>
              <a:spcAft>
                <a:spcPts val="0"/>
              </a:spcAft>
            </a:pPr>
            <a:r>
              <a:rPr sz="1800" b="0" i="0">
                <a:solidFill>
                  <a:srgbClr val="FFFDF7"/>
                </a:solidFill>
                <a:latin typeface="Georgia"/>
              </a:rPr>
              <a:t>Who gains if I believe it?</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3" name="TextBox 2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4" name="TextBox 2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5" name="TextBox 4"/>
          <p:cNvSpPr txBox="1"/>
          <p:nvPr/>
        </p:nvSpPr>
        <p:spPr>
          <a:xfrm>
            <a:off x="685800" y="731520"/>
            <a:ext cx="7772400" cy="201168"/>
          </a:xfrm>
          <a:prstGeom prst="rect">
            <a:avLst/>
          </a:prstGeom>
          <a:noFill/>
          <a:effectLst/>
        </p:spPr>
        <p:txBody>
          <a:bodyPr wrap="square" anchor="t" lIns="0" rIns="0" tIns="0" bIns="0">
            <a:spAutoFit/>
          </a:bodyPr>
          <a:lstStyle/>
          <a:p>
            <a:pPr algn="ctr">
              <a:lnSpc>
                <a:spcPct val="125000"/>
              </a:lnSpc>
              <a:spcAft>
                <a:spcPts val="0"/>
              </a:spcAft>
            </a:pPr>
            <a:r>
              <a:rPr sz="900" b="1" i="0" spc="160">
                <a:solidFill>
                  <a:srgbClr val="56524B"/>
                </a:solidFill>
                <a:latin typeface="Calibri"/>
              </a:rPr>
              <a:t>NO RIGHT ANSWER</a:t>
            </a:r>
          </a:p>
        </p:txBody>
      </p:sp>
      <p:sp>
        <p:nvSpPr>
          <p:cNvPr id="6" name="KEEP_SHADOW"/>
          <p:cNvSpPr/>
          <p:nvPr/>
        </p:nvSpPr>
        <p:spPr>
          <a:xfrm>
            <a:off x="685800" y="1042415"/>
            <a:ext cx="7772400" cy="1588008"/>
          </a:xfrm>
          <a:prstGeom prst="rect">
            <a:avLst/>
          </a:prstGeom>
          <a:solidFill>
            <a:srgbClr val="FFFFFF"/>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042415"/>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143000" y="1316736"/>
            <a:ext cx="6858000" cy="1039368"/>
          </a:xfrm>
          <a:prstGeom prst="rect">
            <a:avLst/>
          </a:prstGeom>
          <a:noFill/>
          <a:effectLst/>
        </p:spPr>
        <p:txBody>
          <a:bodyPr wrap="square" anchor="t" lIns="0" rIns="0" tIns="0" bIns="0">
            <a:spAutoFit/>
          </a:bodyPr>
          <a:lstStyle/>
          <a:p>
            <a:pPr algn="ctr">
              <a:lnSpc>
                <a:spcPct val="112000"/>
              </a:lnSpc>
              <a:spcAft>
                <a:spcPts val="0"/>
              </a:spcAft>
            </a:pPr>
            <a:r>
              <a:rPr sz="2200" b="0" i="0">
                <a:solidFill>
                  <a:srgbClr val="262422"/>
                </a:solidFill>
                <a:latin typeface="Georgia"/>
              </a:rPr>
              <a:t>Should a company be allowed to say its food is healthier than another food? Who should have to check first?</a:t>
            </a:r>
          </a:p>
        </p:txBody>
      </p:sp>
      <p:sp>
        <p:nvSpPr>
          <p:cNvPr id="9" name="TextBox 8"/>
          <p:cNvSpPr txBox="1"/>
          <p:nvPr/>
        </p:nvSpPr>
        <p:spPr>
          <a:xfrm>
            <a:off x="868680" y="2950464"/>
            <a:ext cx="7406640" cy="224028"/>
          </a:xfrm>
          <a:prstGeom prst="rect">
            <a:avLst/>
          </a:prstGeom>
          <a:noFill/>
          <a:effectLst/>
        </p:spPr>
        <p:txBody>
          <a:bodyPr wrap="square" anchor="t" lIns="0" rIns="0" tIns="0" bIns="0">
            <a:spAutoFit/>
          </a:bodyPr>
          <a:lstStyle/>
          <a:p>
            <a:pPr algn="ctr">
              <a:lnSpc>
                <a:spcPct val="120000"/>
              </a:lnSpc>
              <a:spcAft>
                <a:spcPts val="0"/>
              </a:spcAft>
            </a:pPr>
            <a:r>
              <a:rPr sz="1400" b="1" i="0">
                <a:solidFill>
                  <a:srgbClr val="34322F"/>
                </a:solidFill>
                <a:latin typeface="Calibri"/>
              </a:rPr>
              <a:t>Two minutes with the person next to you, then we hear from a few.</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1" name="TextBox 10"/>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2" name="TextBox 11"/>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5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Two questions, just for you</a:t>
            </a:r>
          </a:p>
        </p:txBody>
      </p:sp>
      <p:sp>
        <p:nvSpPr>
          <p:cNvPr id="6" name="Rectangle 5"/>
          <p:cNvSpPr/>
          <p:nvPr/>
        </p:nvSpPr>
        <p:spPr>
          <a:xfrm>
            <a:off x="685800" y="1371600"/>
            <a:ext cx="7772400" cy="946403"/>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371600"/>
            <a:ext cx="45720" cy="946403"/>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96112" y="164363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96112" y="1735074"/>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Calibri"/>
              </a:rPr>
              <a:t>1</a:t>
            </a:r>
          </a:p>
        </p:txBody>
      </p:sp>
      <p:sp>
        <p:nvSpPr>
          <p:cNvPr id="10" name="TextBox 9"/>
          <p:cNvSpPr txBox="1"/>
          <p:nvPr/>
        </p:nvSpPr>
        <p:spPr>
          <a:xfrm>
            <a:off x="1554480" y="1572768"/>
            <a:ext cx="6675120" cy="544068"/>
          </a:xfrm>
          <a:prstGeom prst="rect">
            <a:avLst/>
          </a:prstGeom>
          <a:noFill/>
          <a:effectLst/>
        </p:spPr>
        <p:txBody>
          <a:bodyPr wrap="square" anchor="t" lIns="0" rIns="0" tIns="0" bIns="0">
            <a:spAutoFit/>
          </a:bodyPr>
          <a:lstStyle/>
          <a:p>
            <a:pPr algn="l">
              <a:lnSpc>
                <a:spcPct val="115000"/>
              </a:lnSpc>
              <a:spcAft>
                <a:spcPts val="0"/>
              </a:spcAft>
            </a:pPr>
            <a:r>
              <a:rPr sz="1700" b="0" i="0">
                <a:solidFill>
                  <a:srgbClr val="262422"/>
                </a:solidFill>
                <a:latin typeface="Georgia"/>
              </a:rPr>
              <a:t>Where did you move on the line, and which card moved you?</a:t>
            </a:r>
          </a:p>
        </p:txBody>
      </p:sp>
      <p:sp>
        <p:nvSpPr>
          <p:cNvPr id="11" name="Rectangle 10"/>
          <p:cNvSpPr/>
          <p:nvPr/>
        </p:nvSpPr>
        <p:spPr>
          <a:xfrm>
            <a:off x="685800" y="2537460"/>
            <a:ext cx="7772400" cy="946403"/>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2537460"/>
            <a:ext cx="45720" cy="946403"/>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96112" y="280949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2900934"/>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Calibri"/>
              </a:rPr>
              <a:t>2</a:t>
            </a:r>
          </a:p>
        </p:txBody>
      </p:sp>
      <p:sp>
        <p:nvSpPr>
          <p:cNvPr id="15" name="TextBox 14"/>
          <p:cNvSpPr txBox="1"/>
          <p:nvPr/>
        </p:nvSpPr>
        <p:spPr>
          <a:xfrm>
            <a:off x="1554480" y="2738628"/>
            <a:ext cx="6675120" cy="544068"/>
          </a:xfrm>
          <a:prstGeom prst="rect">
            <a:avLst/>
          </a:prstGeom>
          <a:noFill/>
          <a:effectLst/>
        </p:spPr>
        <p:txBody>
          <a:bodyPr wrap="square" anchor="t" lIns="0" rIns="0" tIns="0" bIns="0">
            <a:spAutoFit/>
          </a:bodyPr>
          <a:lstStyle/>
          <a:p>
            <a:pPr algn="l">
              <a:lnSpc>
                <a:spcPct val="115000"/>
              </a:lnSpc>
              <a:spcAft>
                <a:spcPts val="0"/>
              </a:spcAft>
            </a:pPr>
            <a:r>
              <a:rPr sz="1700" b="0" i="0">
                <a:solidFill>
                  <a:srgbClr val="262422"/>
                </a:solidFill>
                <a:latin typeface="Georgia"/>
              </a:rPr>
              <a:t>Next time you see a headline, which of the five questions will you ask first?</a:t>
            </a:r>
          </a:p>
        </p:txBody>
      </p:sp>
      <p:sp>
        <p:nvSpPr>
          <p:cNvPr id="16" name="TextBox 15"/>
          <p:cNvSpPr txBox="1"/>
          <p:nvPr/>
        </p:nvSpPr>
        <p:spPr>
          <a:xfrm>
            <a:off x="868680" y="3886200"/>
            <a:ext cx="7406640" cy="416052"/>
          </a:xfrm>
          <a:prstGeom prst="rect">
            <a:avLst/>
          </a:prstGeom>
          <a:noFill/>
          <a:effectLst/>
        </p:spPr>
        <p:txBody>
          <a:bodyPr wrap="square" anchor="t" lIns="0" rIns="0" tIns="0" bIns="0">
            <a:spAutoFit/>
          </a:bodyPr>
          <a:lstStyle/>
          <a:p>
            <a:pPr algn="ctr">
              <a:lnSpc>
                <a:spcPct val="120000"/>
              </a:lnSpc>
              <a:spcAft>
                <a:spcPts val="0"/>
              </a:spcAft>
            </a:pPr>
            <a:r>
              <a:rPr sz="1300" b="1" i="0">
                <a:solidFill>
                  <a:srgbClr val="34322F"/>
                </a:solidFill>
                <a:latin typeface="Calibri"/>
              </a:rPr>
              <a:t>Write your answers in the last box of your evidence sheet. It is yours to keep, and nothing is read out.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8" name="TextBox 17"/>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9" name="TextBox 18"/>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685800" y="274320"/>
            <a:ext cx="2635689" cy="237744"/>
          </a:xfrm>
          <a:prstGeom prst="roundRect">
            <a:avLst>
              <a:gd name="adj" fmla="val 50000"/>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34322F"/>
                </a:solidFill>
                <a:latin typeface="Calibri"/>
              </a:rPr>
              <a:t>FOR THE TEACHER  ·  SOURCES</a:t>
            </a:r>
          </a:p>
        </p:txBody>
      </p:sp>
      <p:sp>
        <p:nvSpPr>
          <p:cNvPr id="4" name="TextBox 3"/>
          <p:cNvSpPr txBox="1"/>
          <p:nvPr/>
        </p:nvSpPr>
        <p:spPr>
          <a:xfrm>
            <a:off x="685800" y="658368"/>
            <a:ext cx="7772400" cy="406400"/>
          </a:xfrm>
          <a:prstGeom prst="rect">
            <a:avLst/>
          </a:prstGeom>
          <a:noFill/>
          <a:effectLst/>
        </p:spPr>
        <p:txBody>
          <a:bodyPr wrap="square" anchor="t" lIns="0" rIns="0" tIns="0" bIns="0">
            <a:spAutoFit/>
          </a:bodyPr>
          <a:lstStyle/>
          <a:p>
            <a:pPr algn="l">
              <a:lnSpc>
                <a:spcPct val="105000"/>
              </a:lnSpc>
              <a:spcAft>
                <a:spcPts val="0"/>
              </a:spcAft>
            </a:pPr>
            <a:r>
              <a:rPr sz="2600" b="0" i="0">
                <a:solidFill>
                  <a:srgbClr val="262422"/>
                </a:solidFill>
                <a:latin typeface="Georgia"/>
              </a:rPr>
              <a:t>Where the evidence came from</a:t>
            </a:r>
          </a:p>
        </p:txBody>
      </p:sp>
      <p:sp>
        <p:nvSpPr>
          <p:cNvPr id="5" name="TextBox 4"/>
          <p:cNvSpPr txBox="1"/>
          <p:nvPr/>
        </p:nvSpPr>
        <p:spPr>
          <a:xfrm>
            <a:off x="685800" y="1280160"/>
            <a:ext cx="7772400" cy="36322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Mensink R. P. and Katan M. B. (1990). Effect of dietary trans fatty acids on high-density and low-density lipoprotein cholesterol levels in healthy subjects. New England Journal of Medicine, 323(7), 439–445.</a:t>
            </a:r>
          </a:p>
        </p:txBody>
      </p:sp>
      <p:sp>
        <p:nvSpPr>
          <p:cNvPr id="6" name="TextBox 5"/>
          <p:cNvSpPr txBox="1"/>
          <p:nvPr/>
        </p:nvSpPr>
        <p:spPr>
          <a:xfrm>
            <a:off x="685800" y="1771396"/>
            <a:ext cx="7772400" cy="18161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World Health Organization (2024). Trans fat: fact sheet.</a:t>
            </a:r>
          </a:p>
        </p:txBody>
      </p:sp>
      <p:sp>
        <p:nvSpPr>
          <p:cNvPr id="7" name="TextBox 6"/>
          <p:cNvSpPr txBox="1"/>
          <p:nvPr/>
        </p:nvSpPr>
        <p:spPr>
          <a:xfrm>
            <a:off x="685800" y="2081022"/>
            <a:ext cx="7772400" cy="18161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US Food and Drug Administration. Final determination regarding partially hydrogenated oils (2015).</a:t>
            </a:r>
          </a:p>
        </p:txBody>
      </p:sp>
      <p:sp>
        <p:nvSpPr>
          <p:cNvPr id="8" name="TextBox 7"/>
          <p:cNvSpPr txBox="1"/>
          <p:nvPr/>
        </p:nvSpPr>
        <p:spPr>
          <a:xfrm>
            <a:off x="685800" y="2390648"/>
            <a:ext cx="7772400" cy="18161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NPR (2012). The forgotten, fascinating saga of Crisco. Wikipedia, Crisco, accessed September 2026.</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0" name="TextBox 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1" name="TextBox 1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