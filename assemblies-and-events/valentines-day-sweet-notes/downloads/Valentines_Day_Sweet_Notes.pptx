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268" y="658368"/>
            <a:ext cx="831463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47088"/>
            <a:ext cx="7680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94505F"/>
                </a:solidFill>
                <a:latin typeface="Georgia"/>
              </a:rPr>
              <a:t>Sweet Notes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69080" y="2825496"/>
            <a:ext cx="1005840" cy="18288"/>
          </a:xfrm>
          <a:prstGeom prst="rect">
            <a:avLst/>
          </a:prstGeom>
          <a:solidFill>
            <a:srgbClr val="C8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7C6C69"/>
                </a:solidFill>
                <a:latin typeface="Calibri"/>
              </a:rPr>
              <a:t>A Valentine’s Event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9584"/>
            <a:ext cx="7680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50" b="0" i="1">
                <a:solidFill>
                  <a:srgbClr val="A99B97"/>
                </a:solidFill>
                <a:latin typeface="Calibri"/>
              </a:rPr>
              <a:t>A hot chocolate and a handwritten note, delivered to someone who is not expecting one.</a:t>
            </a:r>
          </a:p>
        </p:txBody>
      </p:sp>
      <p:pic>
        <p:nvPicPr>
          <p:cNvPr id="8" name="Picture 7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TO START WITH</a:t>
            </a:r>
          </a:p>
        </p:txBody>
      </p:sp>
      <p:sp>
        <p:nvSpPr>
          <p:cNvPr id="4" name="Oval 3"/>
          <p:cNvSpPr/>
          <p:nvPr/>
        </p:nvSpPr>
        <p:spPr>
          <a:xfrm>
            <a:off x="4114800" y="1024128"/>
            <a:ext cx="914400" cy="914400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pe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216152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212848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3000" b="0" i="0">
                <a:solidFill>
                  <a:srgbClr val="453B3A"/>
                </a:solidFill>
                <a:latin typeface="Georgia"/>
              </a:rPr>
              <a:t>When did someone last tell you something good about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3456432"/>
            <a:ext cx="6217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0" i="1">
                <a:solidFill>
                  <a:srgbClr val="7C6C69"/>
                </a:solidFill>
                <a:latin typeface="Calibri"/>
              </a:rPr>
              <a:t>Have a think. Not a compliment about your shoes. Something about you.</a:t>
            </a:r>
          </a:p>
        </p:txBody>
      </p:sp>
      <p:pic>
        <p:nvPicPr>
          <p:cNvPr id="8" name="Picture 7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THE THING ABOUT KINDNESS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453B3A"/>
                </a:solidFill>
                <a:latin typeface="Georgia"/>
              </a:rPr>
              <a:t>It is worth more than it costs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773936"/>
            <a:ext cx="2383536" cy="2633472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84376" y="1929384"/>
            <a:ext cx="786384" cy="78638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e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68" y="2093976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2798064"/>
            <a:ext cx="2017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94505F"/>
                </a:solidFill>
                <a:latin typeface="Georgia"/>
              </a:rPr>
              <a:t>It costs almost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64991"/>
            <a:ext cx="198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A few words and a minute of your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0232" y="1773936"/>
            <a:ext cx="2383536" cy="2633472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78808" y="1929384"/>
            <a:ext cx="786384" cy="78638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093976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63112" y="2798064"/>
            <a:ext cx="2017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94505F"/>
                </a:solidFill>
                <a:latin typeface="Georgia"/>
              </a:rPr>
              <a:t>It lasts far longer than you think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1400" y="3364991"/>
            <a:ext cx="198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People remember a kind thing said to them long after the person who said it has forgotten.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74664" y="1773936"/>
            <a:ext cx="2383536" cy="2633472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73240" y="1929384"/>
            <a:ext cx="786384" cy="78638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eo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832" y="2093976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257544" y="2798064"/>
            <a:ext cx="2017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94505F"/>
                </a:solidFill>
                <a:latin typeface="Georgia"/>
              </a:rPr>
              <a:t>It comes back to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5832" y="3364991"/>
            <a:ext cx="198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Being the one who said it feels almost as good as being the one who heard it.</a:t>
            </a:r>
          </a:p>
        </p:txBody>
      </p:sp>
      <p:pic>
        <p:nvPicPr>
          <p:cNvPr id="20" name="Picture 19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225296"/>
            <a:ext cx="74066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The people who need it most</a:t>
            </a:r>
          </a:p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2900" b="0" i="0">
                <a:solidFill>
                  <a:srgbClr val="FFFDF7"/>
                </a:solidFill>
                <a:latin typeface="Georgia"/>
              </a:rPr>
              <a:t>are the ones least likely to ask.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798064"/>
            <a:ext cx="914400" cy="18288"/>
          </a:xfrm>
          <a:prstGeom prst="rect">
            <a:avLst/>
          </a:prstGeom>
          <a:solidFill>
            <a:srgbClr val="E8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3054096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300" b="0" i="1">
                <a:solidFill>
                  <a:srgbClr val="E8CBD2"/>
                </a:solidFill>
                <a:latin typeface="Calibri"/>
              </a:rPr>
              <a:t>You cannot always tell who is having a hard week. Most people are quite good at hiding it.</a:t>
            </a:r>
          </a:p>
        </p:txBody>
      </p:sp>
      <p:pic>
        <p:nvPicPr>
          <p:cNvPr id="6" name="Picture 5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E8CBD2"/>
                </a:solidFill>
                <a:latin typeface="Calibri"/>
              </a:rPr>
              <a:t>The Pastoral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E8CBD2"/>
                </a:solidFill>
                <a:latin typeface="Calibr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SO, THIS VALENTINE’S 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32688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800" b="0" i="0">
                <a:solidFill>
                  <a:srgbClr val="94505F"/>
                </a:solidFill>
                <a:latin typeface="Georgia"/>
              </a:rPr>
              <a:t>Sweet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83664"/>
            <a:ext cx="6766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700" b="0" i="0">
                <a:solidFill>
                  <a:srgbClr val="453B3A"/>
                </a:solidFill>
                <a:latin typeface="Calibri"/>
              </a:rPr>
              <a:t>Send someone a hot chocolate and a note. They will not know it came from you.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2743200"/>
            <a:ext cx="5212080" cy="1554480"/>
          </a:xfrm>
          <a:prstGeom prst="roundRect">
            <a:avLst>
              <a:gd name="adj" fmla="val 5500"/>
            </a:avLst>
          </a:prstGeom>
          <a:solidFill>
            <a:srgbClr val="F8EEF0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u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864" y="3163824"/>
            <a:ext cx="713232" cy="713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310128" y="2944368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350" b="0" i="0">
                <a:solidFill>
                  <a:srgbClr val="94505F"/>
                </a:solidFill>
                <a:latin typeface="Georgia"/>
              </a:rPr>
              <a:t>Run by students, for students</a:t>
            </a:r>
          </a:p>
          <a:p>
            <a:pPr algn="l">
              <a:lnSpc>
                <a:spcPct val="132000"/>
              </a:lnSpc>
              <a:spcAft>
                <a:spcPts val="500"/>
              </a:spcAft>
            </a:pPr>
            <a:r>
              <a:rPr sz="1150" b="0" i="0">
                <a:solidFill>
                  <a:srgbClr val="7C6C69"/>
                </a:solidFill>
                <a:latin typeface="Calibri"/>
              </a:rPr>
              <a:t>Come to the stall, write your note, and we do the rest. The money raised goes to [ CHARITY ].</a:t>
            </a:r>
          </a:p>
        </p:txBody>
      </p:sp>
      <p:pic>
        <p:nvPicPr>
          <p:cNvPr id="9" name="Picture 8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WHAT THEY 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453B3A"/>
                </a:solidFill>
                <a:latin typeface="Georgia"/>
              </a:rPr>
              <a:t>One small bag, three small parts</a:t>
            </a:r>
          </a:p>
        </p:txBody>
      </p:sp>
      <p:pic>
        <p:nvPicPr>
          <p:cNvPr id="24" name="Sweet Notes bag photo" descr="deck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166" y="1664208"/>
            <a:ext cx="2572275" cy="279806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60520" y="1645920"/>
            <a:ext cx="4297680" cy="85953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16552" y="1874519"/>
            <a:ext cx="402336" cy="402336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16552" y="1874519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4336" y="1773936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94505F"/>
                </a:solidFill>
                <a:latin typeface="Georgia"/>
              </a:rPr>
              <a:t>Hot chocolate and marshmallows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4336" y="2084832"/>
            <a:ext cx="3310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Enough for one proper mug, tied up in a little bag.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2615184"/>
            <a:ext cx="4297680" cy="85953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6552" y="2843784"/>
            <a:ext cx="402336" cy="402336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2843784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743200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94505F"/>
                </a:solidFill>
                <a:latin typeface="Georgia"/>
              </a:rPr>
              <a:t>A note you write yourself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3054096"/>
            <a:ext cx="3310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Your own words, in your own handwriting. That is the part they keep.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3584448"/>
            <a:ext cx="4297680" cy="85953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16552" y="3813048"/>
            <a:ext cx="402336" cy="402336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3813048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3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74336" y="3712463"/>
            <a:ext cx="33101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94505F"/>
                </a:solidFill>
                <a:latin typeface="Georgia"/>
              </a:rPr>
              <a:t>Handed to them on the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4023360"/>
            <a:ext cx="3310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Sorted by form the night before and delivered before registration.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ONE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4754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200" b="0" i="0">
                <a:solidFill>
                  <a:srgbClr val="453B3A"/>
                </a:solidFill>
                <a:latin typeface="Georgia"/>
              </a:rPr>
              <a:t>You do not sign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00784"/>
            <a:ext cx="46177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500" b="0" i="0">
                <a:solidFill>
                  <a:srgbClr val="453B3A"/>
                </a:solidFill>
                <a:latin typeface="Calibri"/>
              </a:rPr>
              <a:t>Every note is signed the same way: 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900" b="0" i="0">
                <a:solidFill>
                  <a:srgbClr val="94505F"/>
                </a:solidFill>
                <a:latin typeface="Georgia"/>
              </a:rPr>
              <a:t>From: Anonymous</a:t>
            </a:r>
          </a:p>
          <a:p>
            <a:pPr algn="l">
              <a:lnSpc>
                <a:spcPct val="140000"/>
              </a:lnSpc>
              <a:spcAft>
                <a:spcPts val="1100"/>
              </a:spcAft>
            </a:pPr>
            <a:r>
              <a:rPr sz="1350" b="0" i="0">
                <a:solidFill>
                  <a:srgbClr val="7C6C69"/>
                </a:solidFill>
                <a:latin typeface="Calibri"/>
              </a:rPr>
              <a:t>So the person reading it thinks about what it says, not who sent it. An adult reads every note before it goes 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060704"/>
            <a:ext cx="2743200" cy="2999232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1380744"/>
            <a:ext cx="566928" cy="5669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53328" y="2139696"/>
            <a:ext cx="2066543" cy="10972"/>
          </a:xfrm>
          <a:prstGeom prst="rect">
            <a:avLst/>
          </a:prstGeom>
          <a:solidFill>
            <a:srgbClr val="E8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53328" y="2432304"/>
            <a:ext cx="2066543" cy="10972"/>
          </a:xfrm>
          <a:prstGeom prst="rect">
            <a:avLst/>
          </a:prstGeom>
          <a:solidFill>
            <a:srgbClr val="E8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3328" y="2761488"/>
            <a:ext cx="2066543" cy="10972"/>
          </a:xfrm>
          <a:prstGeom prst="rect">
            <a:avLst/>
          </a:prstGeom>
          <a:solidFill>
            <a:srgbClr val="E8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53328" y="3090672"/>
            <a:ext cx="2066543" cy="10972"/>
          </a:xfrm>
          <a:prstGeom prst="rect">
            <a:avLst/>
          </a:prstGeom>
          <a:solidFill>
            <a:srgbClr val="E8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3364992"/>
            <a:ext cx="20665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94505F"/>
                </a:solidFill>
                <a:latin typeface="Calibri"/>
              </a:rPr>
              <a:t>From: Anonymous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712463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50" b="0" i="1">
                <a:solidFill>
                  <a:srgbClr val="A99B97"/>
                </a:solidFill>
                <a:latin typeface="Calibri"/>
              </a:rPr>
              <a:t>the note on every bag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BEFORE YOU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453B3A"/>
                </a:solidFill>
                <a:latin typeface="Georgia"/>
              </a:rPr>
              <a:t>Who will you send one 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50" b="0" i="1">
                <a:solidFill>
                  <a:srgbClr val="7C6C69"/>
                </a:solidFill>
                <a:latin typeface="Calibri"/>
              </a:rPr>
              <a:t>Your best friend already knows. Have a think about someone who does not.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3739896" cy="106070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2688" y="2240280"/>
            <a:ext cx="420624" cy="42062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084832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00" b="0" i="0">
                <a:solidFill>
                  <a:srgbClr val="453B3A"/>
                </a:solidFill>
                <a:latin typeface="Calibri"/>
              </a:rPr>
              <a:t>Someone who joined this year and is still finding their feet.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18304" y="1920240"/>
            <a:ext cx="3739896" cy="106070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65192" y="2240280"/>
            <a:ext cx="420624" cy="42062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240280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41264" y="2084832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00" b="0" i="0">
                <a:solidFill>
                  <a:srgbClr val="453B3A"/>
                </a:solidFill>
                <a:latin typeface="Calibri"/>
              </a:rPr>
              <a:t>Someone who has had a harder term than they have let 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63824"/>
            <a:ext cx="3739896" cy="106070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32688" y="3483864"/>
            <a:ext cx="420624" cy="42062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4838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328416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00" b="0" i="0">
                <a:solidFill>
                  <a:srgbClr val="453B3A"/>
                </a:solidFill>
                <a:latin typeface="Calibri"/>
              </a:rPr>
              <a:t>Someone who is kind to everyone and never gets told.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18304" y="3163824"/>
            <a:ext cx="3739896" cy="106070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65192" y="3483864"/>
            <a:ext cx="420624" cy="42062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65192" y="3483864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FFFDF7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3328416"/>
            <a:ext cx="26974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300" b="0" i="0">
                <a:solidFill>
                  <a:srgbClr val="453B3A"/>
                </a:solidFill>
                <a:latin typeface="Calibri"/>
              </a:rPr>
              <a:t>Someone you have sat near all year and never spoken to.</a:t>
            </a:r>
          </a:p>
        </p:txBody>
      </p:sp>
      <p:pic>
        <p:nvPicPr>
          <p:cNvPr id="22" name="Picture 21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HOW TO SEND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453B3A"/>
                </a:solidFill>
                <a:latin typeface="Georgia"/>
              </a:rPr>
              <a:t>Come to the stall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 i="1">
                <a:solidFill>
                  <a:srgbClr val="A99B97"/>
                </a:solidFill>
                <a:latin typeface="Calibri"/>
              </a:rPr>
              <a:t>Replace anything in [ brackets ] with your own dates, place and price before you show this.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01952"/>
            <a:ext cx="2383536" cy="250545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84376" y="2057400"/>
            <a:ext cx="786384" cy="78638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968" y="2221992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2926080"/>
            <a:ext cx="2017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94505F"/>
                </a:solidFill>
                <a:latin typeface="Georgia"/>
              </a:rPr>
              <a:t>Find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493008"/>
            <a:ext cx="19812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The Sweet Notes stall is in [ PLACE ], at [ TIME ], from [ DATE ] to [ DATE 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0232" y="1901952"/>
            <a:ext cx="2383536" cy="250545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78808" y="2057400"/>
            <a:ext cx="786384" cy="78638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221992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63112" y="2926080"/>
            <a:ext cx="2017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94505F"/>
                </a:solidFill>
                <a:latin typeface="Georgia"/>
              </a:rPr>
              <a:t>Write it 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1400" y="3493008"/>
            <a:ext cx="19812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Bring [ PRICE ]. You write your note at the stall, fold it, and hand it 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74664" y="1901952"/>
            <a:ext cx="2383536" cy="2505456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73240" y="2057400"/>
            <a:ext cx="786384" cy="786384"/>
          </a:xfrm>
          <a:prstGeom prst="ellipse">
            <a:avLst/>
          </a:prstGeom>
          <a:solidFill>
            <a:srgbClr val="94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832" y="2221992"/>
            <a:ext cx="457200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57544" y="2926080"/>
            <a:ext cx="2017776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500" b="0" i="0">
                <a:solidFill>
                  <a:srgbClr val="94505F"/>
                </a:solidFill>
                <a:latin typeface="Georgia"/>
              </a:rPr>
              <a:t>We do the 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5832" y="3493008"/>
            <a:ext cx="1981200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4000"/>
              </a:lnSpc>
              <a:spcAft>
                <a:spcPts val="0"/>
              </a:spcAft>
            </a:pPr>
            <a:r>
              <a:rPr sz="1050" b="0" i="0">
                <a:solidFill>
                  <a:srgbClr val="7C6C69"/>
                </a:solidFill>
                <a:latin typeface="Calibri"/>
              </a:rPr>
              <a:t>We tie it to a bag and deliver it on the morning of [ 14 FEBRUARY ].</a:t>
            </a:r>
          </a:p>
        </p:txBody>
      </p:sp>
      <p:pic>
        <p:nvPicPr>
          <p:cNvPr id="21" name="Picture 20" descr="logo-ma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7772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050" b="1" i="0" spc="160">
                <a:solidFill>
                  <a:srgbClr val="94505F"/>
                </a:solidFill>
                <a:latin typeface="Calibri"/>
              </a:rPr>
              <a:t>DO NOT LEAVE IT TOO 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59536"/>
            <a:ext cx="7772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453B3A"/>
                </a:solidFill>
                <a:latin typeface="Georgia"/>
              </a:rPr>
              <a:t>Three dates to remember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773936"/>
            <a:ext cx="6217920" cy="78638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83664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53B3A"/>
                </a:solidFill>
                <a:latin typeface="Calibri"/>
              </a:rPr>
              <a:t>The stall opens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92040" y="1883664"/>
            <a:ext cx="2423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94505F"/>
                </a:solidFill>
                <a:latin typeface="Georgia"/>
              </a:rPr>
              <a:t>[ DATE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715768"/>
            <a:ext cx="6217920" cy="786384"/>
          </a:xfrm>
          <a:prstGeom prst="roundRect">
            <a:avLst>
              <a:gd name="adj" fmla="val 5500"/>
            </a:avLst>
          </a:prstGeom>
          <a:solidFill>
            <a:srgbClr val="FFFDF7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825496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53B3A"/>
                </a:solidFill>
                <a:latin typeface="Calibri"/>
              </a:rPr>
              <a:t>Last chance to send 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825496"/>
            <a:ext cx="2423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94505F"/>
                </a:solidFill>
                <a:latin typeface="Georgia"/>
              </a:rPr>
              <a:t>[ DATE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3657600"/>
            <a:ext cx="6217920" cy="786384"/>
          </a:xfrm>
          <a:prstGeom prst="roundRect">
            <a:avLst>
              <a:gd name="adj" fmla="val 5500"/>
            </a:avLst>
          </a:prstGeom>
          <a:solidFill>
            <a:srgbClr val="F8EEF0"/>
          </a:solidFill>
          <a:ln w="12700">
            <a:solidFill>
              <a:srgbClr val="E8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767328"/>
            <a:ext cx="32918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453B3A"/>
                </a:solidFill>
                <a:latin typeface="Calibri"/>
              </a:rPr>
              <a:t>Delivered to your form, first thing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767328"/>
            <a:ext cx="2423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94505F"/>
                </a:solidFill>
                <a:latin typeface="Georgia"/>
              </a:rPr>
              <a:t>[ 14 FEBRUARY ]</a:t>
            </a:r>
          </a:p>
        </p:txBody>
      </p:sp>
      <p:pic>
        <p:nvPicPr>
          <p:cNvPr id="14" name="Picture 13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333" y="932688"/>
            <a:ext cx="649333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975104"/>
            <a:ext cx="8138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800" b="0" i="0">
                <a:solidFill>
                  <a:srgbClr val="94505F"/>
                </a:solidFill>
                <a:latin typeface="Georgia"/>
              </a:rPr>
              <a:t>One bag. One note. One morning.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62656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Aft>
                <a:spcPts val="0"/>
              </a:spcAft>
            </a:pPr>
            <a:r>
              <a:rPr sz="1500" b="0" i="0">
                <a:solidFill>
                  <a:srgbClr val="7C6C69"/>
                </a:solidFill>
                <a:latin typeface="Calibri"/>
              </a:rPr>
              <a:t>Someone in this room is going to have a much better day because of a minute of your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039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1">
                <a:solidFill>
                  <a:srgbClr val="A99B97"/>
                </a:solidFill>
                <a:latin typeface="Calibri"/>
              </a:rPr>
              <a:t>A Valentine’s Event</a:t>
            </a:r>
          </a:p>
        </p:txBody>
      </p:sp>
      <p:pic>
        <p:nvPicPr>
          <p:cNvPr id="7" name="Picture 6" descr="logo-m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4722876"/>
            <a:ext cx="158374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6430" y="4709160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A99B97"/>
                </a:solidFill>
                <a:latin typeface="Calibri"/>
              </a:rPr>
              <a:t>The Pastoral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722876"/>
            <a:ext cx="107899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5000"/>
              </a:lnSpc>
              <a:spcAft>
                <a:spcPts val="0"/>
              </a:spcAft>
            </a:pPr>
            <a:r>
              <a:rPr sz="850" b="0" i="0">
                <a:solidFill>
                  <a:srgbClr val="A99B97"/>
                </a:solidFill>
                <a:latin typeface="Calibri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>The Pastoral Guide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Sweet Notes: the slides</dc:title>
  <dc:subject>A free pastoral resource for form tutors, from The Pastoral Guide, thepastoralguide.com</dc:subject>
  <dc:creator>The Pastoral Guide</dc:creator>
  <cp:keywords>form time, tutor time, pastoral, PSHE, secondary, free</cp:keywords>
  <dc:description>A free pastoral resource for form tutors, from The Pastoral Guide, thepastoralguide.com</dc:description>
  <cp:lastModifiedBy>The Pastoral Guide</cp:lastModifiedBy>
  <cp:revision>1</cp:revision>
  <dcterms:created xsi:type="dcterms:W3CDTF">2026-09-14T05:55:02Z</dcterms:created>
  <dcterms:modified xsi:type="dcterms:W3CDTF">2026-09-14T05:55:02Z</dcterms:modified>
  <cp:category>Pastoral resources</cp:category>
</cp:coreProperties>
</file>