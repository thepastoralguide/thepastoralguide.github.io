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7B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REGISTRATION ACTIVITIES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658368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0" dirty="0">
                <a:solidFill>
                  <a:srgbClr val="809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Mystery Fact of the Day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280160" y="18288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strange-but-true (or strange-but-false) facts, ready to go. The class votes, then finds out.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34060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3D9B9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182216" y="3044952"/>
            <a:ext cx="749808" cy="749808"/>
          </a:xfrm>
          <a:prstGeom prst="ellipse">
            <a:avLst/>
          </a:prstGeom>
          <a:solidFill>
            <a:srgbClr val="80994F"/>
          </a:solidFill>
          <a:ln/>
        </p:spPr>
        <p:txBody>
          <a:bodyPr/>
          <a:p/>
        </p:txBody>
      </p:sp>
      <p:pic>
        <p:nvPicPr>
          <p:cNvPr id="10" name="Image 1" descr="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20" y="3191256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08178" y="3570915"/>
            <a:ext cx="329184" cy="329184"/>
          </a:xfrm>
          <a:prstGeom prst="ellipse">
            <a:avLst/>
          </a:prstGeom>
          <a:solidFill>
            <a:srgbClr val="A7B17F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2708178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71220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09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slide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116940" y="44805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the ten fact slides. Read the fact aloud, no hints.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472788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3D9B9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720944" y="3044952"/>
            <a:ext cx="749808" cy="749808"/>
          </a:xfrm>
          <a:prstGeom prst="ellipse">
            <a:avLst/>
          </a:prstGeom>
          <a:solidFill>
            <a:srgbClr val="80994F"/>
          </a:solidFill>
          <a:ln/>
        </p:spPr>
        <p:txBody>
          <a:bodyPr/>
          <a:p/>
        </p:txBody>
      </p:sp>
      <p:pic>
        <p:nvPicPr>
          <p:cNvPr id="17" name="Image 2" descr="icon_handpap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3191256"/>
            <a:ext cx="457200" cy="4572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46906" y="3570915"/>
            <a:ext cx="329184" cy="329184"/>
          </a:xfrm>
          <a:prstGeom prst="ellipse">
            <a:avLst/>
          </a:prstGeom>
          <a:solidFill>
            <a:srgbClr val="A7B17F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6246906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609948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09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vote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655668" y="44805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 A quick show of hands is all it takes.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011516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3D9B9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9259672" y="3044952"/>
            <a:ext cx="749808" cy="749808"/>
          </a:xfrm>
          <a:prstGeom prst="ellipse">
            <a:avLst/>
          </a:prstGeom>
          <a:solidFill>
            <a:srgbClr val="80994F"/>
          </a:solidFill>
          <a:ln/>
        </p:spPr>
        <p:txBody>
          <a:bodyPr/>
          <a:p/>
        </p:txBody>
      </p:sp>
      <p:pic>
        <p:nvPicPr>
          <p:cNvPr id="24" name="Image 3" descr="icon_light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976" y="3191256"/>
            <a:ext cx="457200" cy="4572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785634" y="3570915"/>
            <a:ext cx="329184" cy="329184"/>
          </a:xfrm>
          <a:prstGeom prst="ellipse">
            <a:avLst/>
          </a:prstGeom>
          <a:solidFill>
            <a:srgbClr val="A7B17F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/>
          <p:nvPr/>
        </p:nvSpPr>
        <p:spPr>
          <a:xfrm>
            <a:off x="9785634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148676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09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194396" y="44805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and the “why” appear with a click, when you’re ready.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005840" y="58704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nothing to prepare. Ten facts are already loaded into this deck, with ten more in the resource pack.</a:t>
            </a:r>
            <a:endParaRPr lang="en-US" sz="1200" dirty="0"/>
          </a:p>
        </p:txBody>
      </p:sp>
      <p:pic>
        <p:nvPicPr>
          <p:cNvPr id="30" name="Image 4" descr="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9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7B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FACT OF THE DAY  ·  NO. 1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97280" y="1005840"/>
            <a:ext cx="9997135" cy="187452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9050">
            <a:solidFill>
              <a:srgbClr val="D3D9B9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554480" y="1188720"/>
            <a:ext cx="908273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809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Honey never goes off. A jar of it can still be good to eat after thousands of years.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0" y="3136392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 Show of hands.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07128" y="3657600"/>
            <a:ext cx="2377440" cy="658368"/>
          </a:xfrm>
          <a:prstGeom prst="roundRect">
            <a:avLst>
              <a:gd name="adj" fmla="val 50000"/>
            </a:avLst>
          </a:prstGeom>
          <a:solidFill>
            <a:srgbClr val="80994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907128" y="36576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80160" y="4517136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809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Archaeologists have found 3,000-year-old honey in Egyptian tombs that was still perfectly good to eat.</a:t>
            </a:r>
            <a:endParaRPr lang="en-US" sz="1650" dirty="0"/>
          </a:p>
        </p:txBody>
      </p:sp>
      <p:pic>
        <p:nvPicPr>
          <p:cNvPr id="10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9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7B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FACT OF THE DAY  ·  NO. 2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97280" y="1005840"/>
            <a:ext cx="9997135" cy="187452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9050">
            <a:solidFill>
              <a:srgbClr val="D3D9B9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554480" y="1188720"/>
            <a:ext cx="908273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809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Great Wall of China can be seen from space with the naked eye.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0" y="3136392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 Show of hands.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07128" y="3657600"/>
            <a:ext cx="2377440" cy="658368"/>
          </a:xfrm>
          <a:prstGeom prst="roundRect">
            <a:avLst>
              <a:gd name="adj" fmla="val 50000"/>
            </a:avLst>
          </a:prstGeom>
          <a:solidFill>
            <a:srgbClr val="80994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907128" y="36576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80160" y="4517136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809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Astronauts say it’s actually very hard to spot without help, and most “space photos” of it are zoomed in or edited.</a:t>
            </a:r>
            <a:endParaRPr lang="en-US" sz="1650" dirty="0"/>
          </a:p>
        </p:txBody>
      </p:sp>
      <p:pic>
        <p:nvPicPr>
          <p:cNvPr id="10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9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7B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FACT OF THE DAY  ·  NO. 3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97280" y="1005840"/>
            <a:ext cx="9997135" cy="187452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9050">
            <a:solidFill>
              <a:srgbClr val="D3D9B9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554480" y="1188720"/>
            <a:ext cx="908273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809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Octopuses have three hearts.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0" y="3136392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 Show of hands.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07128" y="3657600"/>
            <a:ext cx="2377440" cy="658368"/>
          </a:xfrm>
          <a:prstGeom prst="roundRect">
            <a:avLst>
              <a:gd name="adj" fmla="val 50000"/>
            </a:avLst>
          </a:prstGeom>
          <a:solidFill>
            <a:srgbClr val="80994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907128" y="36576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80160" y="4517136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809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pump blood to the gills, and one pumps it to the rest of the body.</a:t>
            </a:r>
            <a:endParaRPr lang="en-US" sz="1650" dirty="0"/>
          </a:p>
        </p:txBody>
      </p:sp>
      <p:pic>
        <p:nvPicPr>
          <p:cNvPr id="10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9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7B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FACT OF THE DAY  ·  NO. 4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97280" y="1005840"/>
            <a:ext cx="9997135" cy="187452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9050">
            <a:solidFill>
              <a:srgbClr val="D3D9B9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554480" y="1188720"/>
            <a:ext cx="908273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809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Bulls charge at the colour red.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0" y="3136392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 Show of hands.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07128" y="3657600"/>
            <a:ext cx="2377440" cy="658368"/>
          </a:xfrm>
          <a:prstGeom prst="roundRect">
            <a:avLst>
              <a:gd name="adj" fmla="val 50000"/>
            </a:avLst>
          </a:prstGeom>
          <a:solidFill>
            <a:srgbClr val="80994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907128" y="36576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80160" y="4517136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809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Bulls are colourblind to red. It is the movement of the cape that gets their attention, not its colour.</a:t>
            </a:r>
            <a:endParaRPr lang="en-US" sz="1650" dirty="0"/>
          </a:p>
        </p:txBody>
      </p:sp>
      <p:pic>
        <p:nvPicPr>
          <p:cNvPr id="10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9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7B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FACT OF THE DAY  ·  NO. 5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97280" y="1005840"/>
            <a:ext cx="9997135" cy="187452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9050">
            <a:solidFill>
              <a:srgbClr val="D3D9B9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554480" y="1188720"/>
            <a:ext cx="908273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809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Wombats produce cube-shaped droppings.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0" y="3136392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 Show of hands.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07128" y="3657600"/>
            <a:ext cx="2377440" cy="658368"/>
          </a:xfrm>
          <a:prstGeom prst="roundRect">
            <a:avLst>
              <a:gd name="adj" fmla="val 50000"/>
            </a:avLst>
          </a:prstGeom>
          <a:solidFill>
            <a:srgbClr val="80994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907128" y="36576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80160" y="4517136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809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found their intestines squeeze waste into shape, leaving it with flat sides and corners.</a:t>
            </a:r>
            <a:endParaRPr lang="en-US" sz="1650" dirty="0"/>
          </a:p>
        </p:txBody>
      </p:sp>
      <p:pic>
        <p:nvPicPr>
          <p:cNvPr id="10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9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7B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FACT OF THE DAY  ·  NO. 6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97280" y="1005840"/>
            <a:ext cx="9997135" cy="187452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9050">
            <a:solidFill>
              <a:srgbClr val="D3D9B9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554480" y="1188720"/>
            <a:ext cx="908273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809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Napoleon Bonaparte was unusually short.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0" y="3136392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 Show of hands.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07128" y="3657600"/>
            <a:ext cx="2377440" cy="658368"/>
          </a:xfrm>
          <a:prstGeom prst="roundRect">
            <a:avLst>
              <a:gd name="adj" fmla="val 50000"/>
            </a:avLst>
          </a:prstGeom>
          <a:solidFill>
            <a:srgbClr val="80994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907128" y="36576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80160" y="4517136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809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around 1.70m (5 ft 7 in), he was roughly average height for a Frenchman of his time; the myth came from old measurement mix-ups.</a:t>
            </a:r>
            <a:endParaRPr lang="en-US" sz="1650" dirty="0"/>
          </a:p>
        </p:txBody>
      </p:sp>
      <p:pic>
        <p:nvPicPr>
          <p:cNvPr id="10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9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7B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FACT OF THE DAY  ·  NO. 7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97280" y="1005840"/>
            <a:ext cx="9997135" cy="187452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9050">
            <a:solidFill>
              <a:srgbClr val="D3D9B9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554480" y="1188720"/>
            <a:ext cx="908273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809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day on Venus is longer than a year on Venus.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0" y="3136392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 Show of hands.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07128" y="3657600"/>
            <a:ext cx="2377440" cy="658368"/>
          </a:xfrm>
          <a:prstGeom prst="roundRect">
            <a:avLst>
              <a:gd name="adj" fmla="val 50000"/>
            </a:avLst>
          </a:prstGeom>
          <a:solidFill>
            <a:srgbClr val="80994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907128" y="36576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80160" y="4517136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809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Venus spins so slowly that one day there (243 Earth days) lasts longer than its trip around the Sun (225 Earth days).</a:t>
            </a:r>
            <a:endParaRPr lang="en-US" sz="1650" dirty="0"/>
          </a:p>
        </p:txBody>
      </p:sp>
      <p:pic>
        <p:nvPicPr>
          <p:cNvPr id="10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9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7B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FACT OF THE DAY  ·  NO. 8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97280" y="1005840"/>
            <a:ext cx="9997135" cy="187452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9050">
            <a:solidFill>
              <a:srgbClr val="D3D9B9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554480" y="1188720"/>
            <a:ext cx="908273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809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Chameleons mainly change colour to blend into their surroundings.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0" y="3136392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 Show of hands.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07128" y="3657600"/>
            <a:ext cx="2377440" cy="658368"/>
          </a:xfrm>
          <a:prstGeom prst="roundRect">
            <a:avLst>
              <a:gd name="adj" fmla="val 50000"/>
            </a:avLst>
          </a:prstGeom>
          <a:solidFill>
            <a:srgbClr val="80994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907128" y="36576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80160" y="4517136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809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mostly change colour to communicate with other chameleons and to control their body temperature.</a:t>
            </a:r>
            <a:endParaRPr lang="en-US" sz="1650" dirty="0"/>
          </a:p>
        </p:txBody>
      </p:sp>
      <p:pic>
        <p:nvPicPr>
          <p:cNvPr id="10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9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7B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FACT OF THE DAY  ·  NO. 9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97280" y="1005840"/>
            <a:ext cx="9997135" cy="187452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9050">
            <a:solidFill>
              <a:srgbClr val="D3D9B9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554480" y="1188720"/>
            <a:ext cx="908273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809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unicorn is the national animal of Scotland.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0" y="3136392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 Show of hands.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07128" y="3657600"/>
            <a:ext cx="2377440" cy="658368"/>
          </a:xfrm>
          <a:prstGeom prst="roundRect">
            <a:avLst>
              <a:gd name="adj" fmla="val 50000"/>
            </a:avLst>
          </a:prstGeom>
          <a:solidFill>
            <a:srgbClr val="80994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907128" y="36576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80160" y="4517136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809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been used on the Scottish royal coat of arms since the 1300s.</a:t>
            </a:r>
            <a:endParaRPr lang="en-US" sz="1650" dirty="0"/>
          </a:p>
        </p:txBody>
      </p:sp>
      <p:pic>
        <p:nvPicPr>
          <p:cNvPr id="10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9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7B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FACT OF THE DAY  ·  NO. 10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97280" y="1005840"/>
            <a:ext cx="9997135" cy="187452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9050">
            <a:solidFill>
              <a:srgbClr val="D3D9B9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554480" y="1188720"/>
            <a:ext cx="908273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809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Lightning never strikes the same place twice.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0" y="3136392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 Show of hands.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07128" y="3657600"/>
            <a:ext cx="2377440" cy="658368"/>
          </a:xfrm>
          <a:prstGeom prst="roundRect">
            <a:avLst>
              <a:gd name="adj" fmla="val 50000"/>
            </a:avLst>
          </a:prstGeom>
          <a:solidFill>
            <a:srgbClr val="80994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907128" y="36576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80160" y="4517136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809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absolutely can. New York’s Empire State Building is struck by lightning about 20 to 25 times a year.</a:t>
            </a:r>
            <a:endParaRPr lang="en-US" sz="1650" dirty="0"/>
          </a:p>
        </p:txBody>
      </p:sp>
      <p:pic>
        <p:nvPicPr>
          <p:cNvPr id="10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9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7B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REGISTRATION ACTIVITIES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658368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0" dirty="0">
                <a:solidFill>
                  <a:srgbClr val="809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You Try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280160" y="14813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own mystery fact for next time. You could be the one running the reveal.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34060" y="260604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3D9B9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2182216" y="2862072"/>
            <a:ext cx="749808" cy="749808"/>
          </a:xfrm>
          <a:prstGeom prst="ellipse">
            <a:avLst/>
          </a:prstGeom>
          <a:solidFill>
            <a:srgbClr val="80994F"/>
          </a:solidFill>
          <a:ln/>
        </p:spPr>
        <p:txBody>
          <a:bodyPr/>
          <a:p/>
        </p:txBody>
      </p:sp>
      <p:pic>
        <p:nvPicPr>
          <p:cNvPr id="8" name="Image 1" descr="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20" y="3008376"/>
            <a:ext cx="4572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08178" y="3388035"/>
            <a:ext cx="329184" cy="329184"/>
          </a:xfrm>
          <a:prstGeom prst="ellipse">
            <a:avLst/>
          </a:prstGeom>
          <a:solidFill>
            <a:srgbClr val="A7B17F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2708178" y="338803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71220" y="37947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09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116940" y="429768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sounds too strange to be true, from a book, a documentary or a trusted website.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472788" y="260604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3D9B9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720944" y="2862072"/>
            <a:ext cx="749808" cy="749808"/>
          </a:xfrm>
          <a:prstGeom prst="ellipse">
            <a:avLst/>
          </a:prstGeom>
          <a:solidFill>
            <a:srgbClr val="80994F"/>
          </a:solidFill>
          <a:ln/>
        </p:spPr>
        <p:txBody>
          <a:bodyPr/>
          <a:p/>
        </p:txBody>
      </p:sp>
      <p:pic>
        <p:nvPicPr>
          <p:cNvPr id="15" name="Image 2" descr="icon_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3008376"/>
            <a:ext cx="457200" cy="4572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46906" y="3388035"/>
            <a:ext cx="329184" cy="329184"/>
          </a:xfrm>
          <a:prstGeom prst="ellipse">
            <a:avLst/>
          </a:prstGeom>
          <a:solidFill>
            <a:srgbClr val="A7B17F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246906" y="338803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09948" y="37947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09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655668" y="429768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it’s actually correct before you bring it in.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011516" y="260604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3D9B9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59672" y="2862072"/>
            <a:ext cx="749808" cy="749808"/>
          </a:xfrm>
          <a:prstGeom prst="ellipse">
            <a:avLst/>
          </a:prstGeom>
          <a:solidFill>
            <a:srgbClr val="80994F"/>
          </a:solidFill>
          <a:ln/>
        </p:spPr>
        <p:txBody>
          <a:bodyPr/>
          <a:p/>
        </p:txBody>
      </p:sp>
      <p:pic>
        <p:nvPicPr>
          <p:cNvPr id="22" name="Image 3" descr="icon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976" y="300837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785634" y="3388035"/>
            <a:ext cx="329184" cy="329184"/>
          </a:xfrm>
          <a:prstGeom prst="ellipse">
            <a:avLst/>
          </a:prstGeom>
          <a:solidFill>
            <a:srgbClr val="A7B17F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24" name="Text 18"/>
          <p:cNvSpPr/>
          <p:nvPr/>
        </p:nvSpPr>
        <p:spPr>
          <a:xfrm>
            <a:off x="9785634" y="338803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148676" y="37947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09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it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194396" y="429768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19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out as a true-or-false statement, then reveal the answer yourself.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280160" y="58704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it next time. The best ones stump the whole class.</a:t>
            </a:r>
            <a:endParaRPr lang="en-US" sz="1200" dirty="0"/>
          </a:p>
        </p:txBody>
      </p:sp>
      <p:pic>
        <p:nvPicPr>
          <p:cNvPr id="28" name="Image 4" descr="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91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The Pastoral Guide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Mystery Fact of the Day: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