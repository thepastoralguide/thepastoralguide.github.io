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9663" y="640080"/>
            <a:ext cx="804672" cy="932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47088"/>
            <a:ext cx="80467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600" b="1">
                <a:solidFill>
                  <a:srgbClr val="B03E72"/>
                </a:solidFill>
                <a:latin typeface="Libre Caslon Display"/>
              </a:rPr>
              <a:t>It Was Just a Joke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779776"/>
            <a:ext cx="1005840" cy="18288"/>
          </a:xfrm>
          <a:prstGeom prst="rect">
            <a:avLst/>
          </a:prstGeom>
          <a:solidFill>
            <a:srgbClr val="B151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99232"/>
            <a:ext cx="768096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6B6167"/>
                </a:solidFill>
                <a:latin typeface="Karla"/>
              </a:rPr>
              <a:t>The words are the same in each pair. Something else changes.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75887"/>
            <a:ext cx="768096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>
                <a:solidFill>
                  <a:srgbClr val="A79EA2"/>
                </a:solidFill>
                <a:latin typeface="Karla"/>
              </a:rPr>
              <a:t>One lesson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spc="160">
                <a:solidFill>
                  <a:srgbClr val="B1517B"/>
                </a:solidFill>
                <a:latin typeface="Karla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777240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100" b="1">
                <a:solidFill>
                  <a:srgbClr val="33292E"/>
                </a:solidFill>
                <a:latin typeface="Libre Caslon Display"/>
              </a:rPr>
              <a:t>Five things, in this order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8758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Six moments, and whether each one is a joke.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7828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40787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7828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0980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Find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7556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The four questions you were already using.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89857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42816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9857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3009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Learn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9585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What those five words are actually doing.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1886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44844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886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5038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Practise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01614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The words you would actually say instead.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93915" y="1737360"/>
            <a:ext cx="1364284" cy="2331720"/>
          </a:xfrm>
          <a:prstGeom prst="roundRect">
            <a:avLst>
              <a:gd name="adj" fmla="val 6032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46873" y="1883664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3915" y="2002536"/>
            <a:ext cx="136428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67067" y="2670048"/>
            <a:ext cx="12179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>
                <a:solidFill>
                  <a:srgbClr val="B03E72"/>
                </a:solidFill>
                <a:latin typeface="Libre Caslon Display"/>
              </a:rPr>
              <a:t>Write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3643" y="3236976"/>
            <a:ext cx="1144828" cy="75895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One thing you will say differently.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Nothing you write today gets read out or handed in.</a:t>
            </a:r>
          </a:p>
        </p:txBody>
      </p:sp>
      <p:pic>
        <p:nvPicPr>
          <p:cNvPr id="31" name="Picture 3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SIX MOMENTS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STARTER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Is this a joke?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2487168"/>
          </a:xfrm>
          <a:prstGeom prst="roundRect">
            <a:avLst>
              <a:gd name="adj" fmla="val 3308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664208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682496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Somebody says your jumper looks like a bin bag. You say something back.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66544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2084832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Somebody does an impression of the way you run, to a group, in the changing rooms.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68880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87168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A group uses a nickname that the person made up for themselves.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871216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889504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Somebody says your jumper looks like a bin bag every morning for a week.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273552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3291840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A friend does an impression of the way you run, and you are both laughing.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310896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03E72"/>
                </a:solidFill>
                <a:latin typeface="Libre Caslon Display"/>
              </a:rPr>
              <a:t>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694176"/>
            <a:ext cx="667512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292E"/>
                </a:solidFill>
                <a:latin typeface="Karla"/>
              </a:rPr>
              <a:t>A group uses a nickname that somebody else gave them in Year 7.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In pairs, four minutes: put each letter under joke, not a joke, or cannot tell.</a:t>
            </a:r>
          </a:p>
        </p:txBody>
      </p:sp>
      <p:pic>
        <p:nvPicPr>
          <p:cNvPr id="21" name="Picture 2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FEEDBACK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REVEAL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They were three pairs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07592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07592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Karla"/>
              </a:rPr>
              <a:t>A AND 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03E72"/>
                </a:solidFill>
                <a:latin typeface="Libre Caslon Display"/>
              </a:rPr>
              <a:t>Whether it stopped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One of them went both ways and ended there. The other one carried on all week.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77639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Karla"/>
              </a:rPr>
              <a:t>B AND 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03E72"/>
                </a:solidFill>
                <a:latin typeface="Libre Caslon Display"/>
              </a:rPr>
              <a:t>Who was laughing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One of them has the person laughing too. The other has an audience, and they are not.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572768"/>
            <a:ext cx="2432304" cy="2212848"/>
          </a:xfrm>
          <a:prstGeom prst="roundRect">
            <a:avLst>
              <a:gd name="adj" fmla="val 3719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47688" y="17556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7688" y="1819656"/>
            <a:ext cx="11887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spc="80">
                <a:solidFill>
                  <a:srgbClr val="FFFDF7"/>
                </a:solidFill>
                <a:latin typeface="Karla"/>
              </a:rPr>
              <a:t>C AND 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7336" y="2249424"/>
            <a:ext cx="224942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B03E72"/>
                </a:solidFill>
                <a:latin typeface="Libre Caslon Display"/>
              </a:rPr>
              <a:t>Whose it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2670048"/>
            <a:ext cx="2176272" cy="102412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A nickname you made up for yourself is yours. One somebody else gave you three years ago is not.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877056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The words hardly change inside a pair. Everything you sorted them by was somewhere else.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The line is almost never in the words.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SO HERE IS THE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Four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563624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64208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572768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Is the person it is about laughing?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139696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22199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32257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231136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Would you say it to them with nobody else there?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798064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2880360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980944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2889504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Could they say the same thing back to you?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456432"/>
            <a:ext cx="7772400" cy="566928"/>
          </a:xfrm>
          <a:prstGeom prst="roundRect">
            <a:avLst>
              <a:gd name="adj" fmla="val 14516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1832" y="353872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363931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3547872"/>
            <a:ext cx="6583680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Did it stop the first time they asked?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187952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A joke passes all four. Anything that fails one is worth looking at again.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THE SENTENCE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Two jobs at once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749039" cy="1920240"/>
          </a:xfrm>
          <a:prstGeom prst="roundRect">
            <a:avLst>
              <a:gd name="adj" fmla="val 428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3200399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33292E"/>
                </a:solidFill>
                <a:latin typeface="Libre Caslon Display"/>
              </a:rPr>
              <a:t>I did not mean to hurt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15184"/>
            <a:ext cx="3200399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Most of the time this half is true.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1554480"/>
            <a:ext cx="3749039" cy="1920240"/>
          </a:xfrm>
          <a:prstGeom prst="roundRect">
            <a:avLst>
              <a:gd name="adj" fmla="val 428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79" y="1810512"/>
            <a:ext cx="3200399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>
                <a:solidFill>
                  <a:srgbClr val="33292E"/>
                </a:solidFill>
                <a:latin typeface="Libre Caslon Display"/>
              </a:rPr>
              <a:t>Now stop talking about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79" y="2615184"/>
            <a:ext cx="3200399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This half tells the other person that the subject is closed.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75887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“It was just a joke” says both of these at once, and the second one is the one people hear.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206240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On its own, the first half would be an apology.</a:t>
            </a:r>
          </a:p>
        </p:txBody>
      </p:sp>
      <p:pic>
        <p:nvPicPr>
          <p:cNvPr id="15" name="Picture 1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BEFORE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What is always off limits?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877824"/>
          </a:xfrm>
          <a:prstGeom prst="roundRect">
            <a:avLst>
              <a:gd name="adj" fmla="val 9375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82496"/>
            <a:ext cx="7040880" cy="5486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Researchers asked 28 students aged eleven to fifteen where their own line was. Every group answered the same way first: it depends on the person.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42032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660903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761487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633472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Write down three subjects that are off limits whoever is saying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39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41071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51129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383279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B03E72"/>
                </a:solidFill>
                <a:latin typeface="Libre Caslon Display"/>
              </a:rPr>
              <a:t>Then one subject that depends on who is saying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4528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Two minutes, in pairs.</a:t>
            </a:r>
          </a:p>
        </p:txBody>
      </p:sp>
      <p:pic>
        <p:nvPicPr>
          <p:cNvPr id="18" name="Picture 1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REVEAL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What they named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1975104"/>
          </a:xfrm>
          <a:prstGeom prst="roundRect">
            <a:avLst>
              <a:gd name="adj" fmla="val 4166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600200"/>
            <a:ext cx="6949440" cy="17373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5000"/>
              </a:lnSpc>
            </a:pPr>
            <a:r>
              <a:rPr sz="1900" b="0">
                <a:solidFill>
                  <a:srgbClr val="33292E"/>
                </a:solidFill>
                <a:latin typeface="Libre Caslon Display"/>
              </a:rPr>
              <a:t>Somebody’s family</a:t>
            </a:r>
            <a:br/>
            <a:r>
              <a:rPr sz="1900" b="0">
                <a:solidFill>
                  <a:srgbClr val="33292E"/>
                </a:solidFill>
                <a:latin typeface="Libre Caslon Display"/>
              </a:rPr>
              <a:t>The way somebody looks</a:t>
            </a:r>
            <a:br/>
            <a:r>
              <a:rPr sz="1900" b="0">
                <a:solidFill>
                  <a:srgbClr val="33292E"/>
                </a:solidFill>
                <a:latin typeface="Libre Caslon Display"/>
              </a:rPr>
              <a:t>Somebody who has died</a:t>
            </a:r>
            <a:br/>
            <a:r>
              <a:rPr sz="1900" b="0">
                <a:solidFill>
                  <a:srgbClr val="33292E"/>
                </a:solidFill>
                <a:latin typeface="Libre Caslon Display"/>
              </a:rPr>
              <a:t>Anything racist or homophobic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84448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Your list is probably close. Everybody says the line is personal, then draws it in the same place.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96512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Steer and others, 2020, two secondary schools in the Midlands. Worth arguing with if your list was different.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WATCH THIS FIRST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Two ways of answering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749039" cy="2011680"/>
          </a:xfrm>
          <a:prstGeom prst="roundRect">
            <a:avLst>
              <a:gd name="adj" fmla="val 409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73936"/>
            <a:ext cx="3310127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03E72"/>
                </a:solidFill>
                <a:latin typeface="Libre Caslon Display"/>
              </a:rPr>
              <a:t>This one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212848"/>
            <a:ext cx="3310127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3292E"/>
                </a:solidFill>
                <a:latin typeface="Libre Caslon Display"/>
              </a:rPr>
              <a:t>“That came out worse than I meant it to. Sorry.”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2999232"/>
            <a:ext cx="3310127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The other person can accept it and put it down. Nothing is owed.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1554480"/>
            <a:ext cx="3749039" cy="2011680"/>
          </a:xfrm>
          <a:prstGeom prst="roundRect">
            <a:avLst>
              <a:gd name="adj" fmla="val 409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28616" y="1773936"/>
            <a:ext cx="3310127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B03E72"/>
                </a:solidFill>
                <a:latin typeface="Libre Caslon Display"/>
              </a:rPr>
              <a:t>This one backfires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28616" y="2212848"/>
            <a:ext cx="3310127" cy="6949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3292E"/>
                </a:solidFill>
                <a:latin typeface="Libre Caslon Display"/>
              </a:rPr>
              <a:t>“It was just a joke.”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616" y="2999232"/>
            <a:ext cx="3310127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6167"/>
                </a:solidFill>
                <a:latin typeface="Karla"/>
              </a:rPr>
              <a:t>The other person has to agree it was funny or make a scene.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675887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Both of them mean the same thing. Only one of them lets the other person put it down.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87952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You are not admitting you meant it. You are saying you would rather not have said it.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IF YOU SAID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Three that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“That came out worse than I meant it to. Sorry.”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It keeps the true half of the sentence and drops the half that ends the conversation.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“Fair enough, I will leave it.”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Nobody has to admit anything, which is why it usually works in front of other people.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12864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5896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“You are right. I will stop.”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It answers the only question that matters at the time, which is whether it carries 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None of them is a speech, and none of them needs anybody else to be listening.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THE OTHER SIDE OF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When it is about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2768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“I know you did not mean it, but I do not like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It gives them the true half back, and it is the sentence that makes question four possible.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“Leave it, yeah?”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5576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Short, no scene, and most people stop.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25896" y="1609344"/>
            <a:ext cx="2432304" cy="2377440"/>
          </a:xfrm>
          <a:prstGeom prst="roundRect">
            <a:avLst>
              <a:gd name="adj" fmla="val 3461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12864" y="1755648"/>
            <a:ext cx="658368" cy="658368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25896" y="1874519"/>
            <a:ext cx="2432304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2542032"/>
            <a:ext cx="22860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B03E72"/>
                </a:solidFill>
                <a:latin typeface="Libre Caslon Display"/>
              </a:rPr>
              <a:t>Say it later, on their own.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3291840"/>
            <a:ext cx="2212848" cy="6217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</a:pPr>
            <a:r>
              <a:rPr sz="1050" b="0">
                <a:solidFill>
                  <a:srgbClr val="6B6167"/>
                </a:solidFill>
                <a:latin typeface="Karla"/>
              </a:rPr>
              <a:t>Away from the audience it is a different conversation, and it usually goes better.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Question four only works if somebody asks, and these are the ways of asking.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NOW ONE OUT LOUD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Try it on this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7772400" cy="603504"/>
          </a:xfrm>
          <a:prstGeom prst="roundRect">
            <a:avLst>
              <a:gd name="adj" fmla="val 13636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704088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3292E"/>
                </a:solidFill>
                <a:latin typeface="Libre Caslon Display"/>
              </a:rPr>
              <a:t>Somebody reads a mistake out of a classmate’s book to the table, and the table laughs.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9424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368296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468879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340864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Which of the four questions does it fail?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96265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308152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318211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305409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What should the person who read it out say?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75887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79475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95344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72768" y="3767327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What could the person it was about say?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407408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Say it out loud. Two or three go on the board.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TWELVE MINUTES, IN PAIRS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79" y="530352"/>
            <a:ext cx="960119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594360"/>
            <a:ext cx="960119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What would you say?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85623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5681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82880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Take one moment card between two.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60603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06623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578608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Write which question it fails, and the words for both people.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35584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5643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2841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Say them to each other. If you would not say it out loud, change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148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Real words, not the ones that sound good. Nobody is marking you on being nice.</a:t>
            </a:r>
          </a:p>
        </p:txBody>
      </p:sp>
      <p:pic>
        <p:nvPicPr>
          <p:cNvPr id="20" name="Picture 1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SWAP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Mark somebody else’s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85623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5681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82880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Could somebody actually say it out loud in this school?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606039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06623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578608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Does it avoid putting anybody on trial?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36976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1832" y="3355848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456432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28416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Does it let both people out of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14800"/>
            <a:ext cx="777240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Move your sheet two tables along. Tick what it passes, then write one change that would get it said.</a:t>
            </a:r>
          </a:p>
        </p:txBody>
      </p:sp>
      <p:pic>
        <p:nvPicPr>
          <p:cNvPr id="20" name="Picture 1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NO RIGHT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ARGUE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A joke, and still wrong?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7772400" cy="1645920"/>
          </a:xfrm>
          <a:prstGeom prst="roundRect">
            <a:avLst>
              <a:gd name="adj" fmla="val 5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75104"/>
            <a:ext cx="676656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1700" b="0">
                <a:solidFill>
                  <a:srgbClr val="33292E"/>
                </a:solidFill>
                <a:latin typeface="Libre Caslon Display"/>
              </a:rPr>
              <a:t>They meant it kindly.</a:t>
            </a:r>
            <a:br/>
            <a:r>
              <a:rPr sz="1700" b="0">
                <a:solidFill>
                  <a:srgbClr val="33292E"/>
                </a:solidFill>
                <a:latin typeface="Libre Caslon Display"/>
              </a:rPr>
              <a:t>Everybody laughed, including the person it was about.</a:t>
            </a:r>
            <a:br/>
            <a:r>
              <a:rPr sz="1700" b="0">
                <a:solidFill>
                  <a:srgbClr val="33292E"/>
                </a:solidFill>
                <a:latin typeface="Libre Caslon Display"/>
              </a:rPr>
              <a:t>They went home and it stayed with them all evening.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5760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B6167"/>
                </a:solidFill>
                <a:latin typeface="Karla"/>
              </a:rPr>
              <a:t>Was it a joke? Both answers can be argued. Four minutes, and see where your form lands.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LAST THREE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Two questions, for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993391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93975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1965960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Which of the four questions do you forget most often?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60903"/>
            <a:ext cx="7772400" cy="640080"/>
          </a:xfrm>
          <a:prstGeom prst="roundRect">
            <a:avLst>
              <a:gd name="adj" fmla="val 12857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9775"/>
            <a:ext cx="402336" cy="402336"/>
          </a:xfrm>
          <a:prstGeom prst="ellipse">
            <a:avLst/>
          </a:prstGeom>
          <a:solidFill>
            <a:srgbClr val="B03E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880359"/>
            <a:ext cx="402336" cy="4023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752344"/>
            <a:ext cx="6583680" cy="457199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03E72"/>
                </a:solidFill>
                <a:latin typeface="Libre Caslon Display"/>
              </a:rPr>
              <a:t>What will you say this week instead of that sentence?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7772400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B03E72"/>
                </a:solidFill>
                <a:latin typeface="Karla"/>
              </a:rPr>
              <a:t>This is not collected and it is not read out. Fold it, keep it, or bin it on the way out.</a:t>
            </a:r>
          </a:p>
        </p:txBody>
      </p:sp>
      <p:pic>
        <p:nvPicPr>
          <p:cNvPr id="16" name="Picture 1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783080"/>
            <a:ext cx="7772400" cy="640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>
                <a:solidFill>
                  <a:srgbClr val="B03E72"/>
                </a:solidFill>
                <a:latin typeface="Libre Caslon Display"/>
              </a:rPr>
              <a:t>Everybody gets one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069080" y="2788920"/>
            <a:ext cx="1005840" cy="18288"/>
          </a:xfrm>
          <a:prstGeom prst="rect">
            <a:avLst/>
          </a:prstGeom>
          <a:solidFill>
            <a:srgbClr val="B151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768096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>
                <a:solidFill>
                  <a:srgbClr val="6B6167"/>
                </a:solidFill>
                <a:latin typeface="Karla"/>
              </a:rPr>
              <a:t>What people remember is the sentence you said afterwards.</a:t>
            </a:r>
          </a:p>
        </p:txBody>
      </p:sp>
      <p:pic>
        <p:nvPicPr>
          <p:cNvPr id="6" name="Picture 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160">
                <a:solidFill>
                  <a:srgbClr val="B1517B"/>
                </a:solidFill>
                <a:latin typeface="Karla"/>
              </a:rPr>
              <a:t>FOR THE TEACHER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43800" y="530352"/>
            <a:ext cx="914400" cy="347472"/>
          </a:xfrm>
          <a:prstGeom prst="roundRect">
            <a:avLst>
              <a:gd name="adj" fmla="val 50000"/>
            </a:avLst>
          </a:prstGeom>
          <a:solidFill>
            <a:srgbClr val="FB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43800" y="594360"/>
            <a:ext cx="91440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00">
                <a:solidFill>
                  <a:srgbClr val="B03E72"/>
                </a:solidFill>
                <a:latin typeface="Karla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33292E"/>
                </a:solidFill>
                <a:latin typeface="Libre Caslon Display"/>
              </a:rPr>
              <a:t>Where these came from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03E72"/>
                </a:solidFill>
                <a:latin typeface="Karla"/>
              </a:rPr>
              <a:t>Steer, O., Betts, L. R., Baguley, T. and Binder, J. F. (2020).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92224"/>
            <a:ext cx="7772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“I feel like everyone does it”: adolescents’ perceptions and awareness of the association between humour, banter, and cyberbullying. Computers in Human Behavior, 108, 106297.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31136"/>
            <a:ext cx="777240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Focus groups with 28 students aged eleven to fifteen at two secondary schools in the English Midlands. They described a line of acceptability that depends on friendship, trust and who is watching rather than on the words used, and they named much the same subjects as being over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80944"/>
            <a:ext cx="77724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B03E72"/>
                </a:solidFill>
                <a:latin typeface="Karla"/>
              </a:rPr>
              <a:t>Anti-Bullying Alliance and Nottingham Trent University (2023).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18687"/>
            <a:ext cx="77724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Banter or Bullying? Navigating the line of acceptability.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57600"/>
            <a:ext cx="7772400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B6167"/>
                </a:solidFill>
                <a:latin typeface="Karla"/>
              </a:rPr>
              <a:t>A toolkit for schools, built on a survey of 884 teachers. Nineteen per cent said they felt equipped to deal with banter, against thirty-seven per cent for bullying, and eighty-four per cent had had no training on it at all.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09160"/>
            <a:ext cx="155448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79EA2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A79EA2"/>
                </a:solidFill>
                <a:latin typeface="Karla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