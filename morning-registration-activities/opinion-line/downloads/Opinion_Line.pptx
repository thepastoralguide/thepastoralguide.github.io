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29184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Karla"/>
              </a:rPr>
              <a:t>MORNING REGISTRATION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03504"/>
            <a:ext cx="12191695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B5502F"/>
                </a:solidFill>
                <a:latin typeface="Libre Caslon Display"/>
              </a:rPr>
              <a:t>The Opinion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35727" y="1408176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35727" y="1490472"/>
            <a:ext cx="192024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00">
                <a:solidFill>
                  <a:srgbClr val="FFFDF7"/>
                </a:solidFill>
                <a:latin typeface="Karla"/>
              </a:rPr>
              <a:t>VOLUME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56816"/>
            <a:ext cx="9966960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8F3F24"/>
                </a:solidFill>
                <a:latin typeface="Karla"/>
              </a:rPr>
              <a:t>Where you stand is your answer, and you can move if you change your mind.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ol-sig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32" y="2743200"/>
            <a:ext cx="713232" cy="713232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702052" y="3246120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2052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Karla"/>
              </a:rPr>
              <a:t>Two signs go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Karla"/>
              </a:rPr>
              <a:t>Agree at one end of the room and disagree at the other.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ol-stat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59" y="2743200"/>
            <a:ext cx="713232" cy="71323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240779" y="3246120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0779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Karla"/>
              </a:rPr>
              <a:t>A statement goes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Karla"/>
              </a:rPr>
              <a:t>One statement on the board, and there is no right answer to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ol-st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588" y="2743200"/>
            <a:ext cx="713232" cy="713232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9779508" y="3246120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9508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Karla"/>
              </a:rPr>
              <a:t>Everyone picks a spot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3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Karla"/>
              </a:rPr>
              <a:t>Stand anywhere between the two signs, then two or three people say why.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0128" y="4956048"/>
            <a:ext cx="5568696" cy="1005840"/>
          </a:xfrm>
          <a:prstGeom prst="roundRect">
            <a:avLst>
              <a:gd name="adj" fmla="val 10909"/>
            </a:avLst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38728" y="5029200"/>
            <a:ext cx="5111496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FFDF7"/>
                </a:solidFill>
                <a:latin typeface="Libre Caslon Display"/>
              </a:rPr>
              <a:t>“Hard work matters more than talent.”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8728" y="5559552"/>
            <a:ext cx="5111496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ECCFC4"/>
                </a:solidFill>
                <a:latin typeface="Karla"/>
              </a:rPr>
              <a:t>The first of five statements in these slides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089904"/>
            <a:ext cx="103327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0876C"/>
                </a:solidFill>
                <a:latin typeface="Karla"/>
              </a:rPr>
              <a:t>Needs: the two signs from the resource pack, on walls at opposite ends of the room.</a:t>
            </a:r>
          </a:p>
        </p:txBody>
      </p:sp>
      <p:pic>
        <p:nvPicPr>
          <p:cNvPr id="30" name="Picture 29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Libre Caslon Display"/>
              </a:rPr>
              <a:t>The Pastoral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Karla"/>
              </a:rPr>
              <a:t>THE OPINION LINE  ·  VOLUME ONE  ·  STATEMENT 1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B5502F"/>
                </a:solidFill>
                <a:latin typeface="Libre Caslon Display"/>
              </a:rPr>
              <a:t>Hard work matters more than talent.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Karla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Karla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Karla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Libre Caslon Display"/>
              </a:rPr>
              <a:t>The Pastoral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Karla"/>
              </a:rPr>
              <a:t>THE OPINION LINE  ·  VOLUME ONE  ·  STATEMENT 2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B5502F"/>
                </a:solidFill>
                <a:latin typeface="Libre Caslon Display"/>
              </a:rPr>
              <a:t>Everyone in a group project should get the same mark.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Karla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Karla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Karla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Libre Caslon Display"/>
              </a:rPr>
              <a:t>The Pastoral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Karla"/>
              </a:rPr>
              <a:t>THE OPINION LINE  ·  VOLUME ONE  ·  STATEMENT 3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B5502F"/>
                </a:solidFill>
                <a:latin typeface="Libre Caslon Display"/>
              </a:rPr>
              <a:t>You should always tell a friend the truth, even when it will upset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Karla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Karla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Karla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Libre Caslon Display"/>
              </a:rPr>
              <a:t>The Pastoral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Karla"/>
              </a:rPr>
              <a:t>THE OPINION LINE  ·  VOLUME ONE  ·  STATEMENT 4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B5502F"/>
                </a:solidFill>
                <a:latin typeface="Libre Caslon Display"/>
              </a:rPr>
              <a:t>It is better to be liked than to be respected.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Karla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Karla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Karla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Libre Caslon Display"/>
              </a:rPr>
              <a:t>The Pastoral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Karla"/>
              </a:rPr>
              <a:t>THE OPINION LINE  ·  VOLUME ONE  ·  STATEMENT 5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B5502F"/>
                </a:solidFill>
                <a:latin typeface="Libre Caslon Display"/>
              </a:rPr>
              <a:t>People can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Karla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Karla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Karla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Libre Caslon Display"/>
              </a:rPr>
              <a:t>The Pastoral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Karla"/>
              </a:rPr>
              <a:t>THE OPINION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"/>
            <a:ext cx="12191695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B5502F"/>
                </a:solidFill>
                <a:latin typeface="Libre Caslon Display"/>
              </a:rPr>
              <a:t>Your statement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17904"/>
            <a:ext cx="9966960" cy="6583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8F3F24"/>
                </a:solidFill>
                <a:latin typeface="Karla"/>
              </a:rPr>
              <a:t>Five statements in these slides, and five more in the resource pack.</a:t>
            </a:r>
            <a:br/>
            <a:r>
              <a:rPr sz="1700" b="0">
                <a:solidFill>
                  <a:srgbClr val="8F3F24"/>
                </a:solidFill>
                <a:latin typeface="Karla"/>
              </a:rPr>
              <a:t>After those, they come from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ol-id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32" y="2432304"/>
            <a:ext cx="713232" cy="71323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2702052" y="2935224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2052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Karla"/>
              </a:rPr>
              <a:t>Think of a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Karla"/>
              </a:rPr>
              <a:t>Something this form would really disagree about.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ol-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59" y="2432304"/>
            <a:ext cx="713232" cy="713232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6240779" y="2935224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0779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Karla"/>
              </a:rPr>
              <a:t>Check both ends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Karla"/>
              </a:rPr>
              <a:t>If everybody agrees, it is a fact rather than a statement.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ol-s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588" y="2432304"/>
            <a:ext cx="713232" cy="713232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9779508" y="2935224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9508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Karla"/>
              </a:rPr>
              <a:t>Bring it to your tutor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Karla"/>
              </a:rPr>
              <a:t>One of them goes up on the board the next morning.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0">
                <a:solidFill>
                  <a:srgbClr val="B5502F"/>
                </a:solidFill>
                <a:latin typeface="Libre Caslon Display"/>
              </a:rPr>
              <a:t>The best statements are the ones you are not sure about yourself.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53328"/>
            <a:ext cx="103327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0876C"/>
                </a:solidFill>
                <a:latin typeface="Karla"/>
              </a:rPr>
              <a:t>Needs: nothing new. Five more statements are in the resource pack.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Libre Caslon Display"/>
              </a:rPr>
              <a:t>The Pastoral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The Pastoral Guide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Opinion Line: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