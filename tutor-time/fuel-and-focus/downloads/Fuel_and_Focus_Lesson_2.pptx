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39" y="566928"/>
            <a:ext cx="72852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72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220">
                <a:solidFill>
                  <a:srgbClr val="256B4A"/>
                </a:solidFill>
                <a:latin typeface="Calibri"/>
              </a:rPr>
              <a:t>FUEL AND FOCUS  ·  LESSON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56816"/>
            <a:ext cx="8412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3400" b="0" i="0">
                <a:solidFill>
                  <a:srgbClr val="256B4A"/>
                </a:solidFill>
                <a:latin typeface="Georgia"/>
              </a:rPr>
              <a:t>Build one that lasts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2962656"/>
            <a:ext cx="1005840" cy="18288"/>
          </a:xfrm>
          <a:prstGeom prst="rect">
            <a:avLst/>
          </a:prstGeom>
          <a:solidFill>
            <a:srgbClr val="69B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6382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5F6B64"/>
                </a:solidFill>
                <a:latin typeface="Calibri"/>
              </a:rPr>
              <a:t>You wrote the criteria last week. Now make something</a:t>
            </a:r>
            <a:br/>
            <a:r>
              <a:rPr sz="1500" b="0" i="0">
                <a:solidFill>
                  <a:srgbClr val="5F6B64"/>
                </a:solidFill>
                <a:latin typeface="Calibri"/>
              </a:rPr>
              <a:t>that meets them, and prove that it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98A29B"/>
                </a:solidFill>
                <a:latin typeface="Calibri"/>
              </a:rPr>
              <a:t>Healthy Body, Healthy Mind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BEFORE THEY COME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 i="0">
                <a:solidFill>
                  <a:srgbClr val="2C3A33"/>
                </a:solidFill>
                <a:latin typeface="Georgia"/>
              </a:rPr>
              <a:t>It is all on the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664207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2821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Ingredients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45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Portioned per pair before the bell. Shopping list, page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49424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2359152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42316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4086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Allergies checked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4086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Against your own list, not what students remember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44368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" y="3054096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118103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3580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One method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358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Show only the snack you bought for. Skip the other two.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39312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3749039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381304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3075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Georgia"/>
              </a:rPr>
              <a:t>Bin bag and cloths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73075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Clearing up takes three minutes, so build it 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No heat, no sharp knives and no nuts in any of the three.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FROM 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778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300" b="0" i="0">
                <a:solidFill>
                  <a:srgbClr val="FFFDF7"/>
                </a:solidFill>
                <a:latin typeface="Georgia"/>
              </a:rPr>
              <a:t>Your four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737360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8288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17922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Protein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whole thing down, and keeps you full.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15727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8288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17922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Fibre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231136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food down in your gut, so the glucose arrives gradually.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" y="3090672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8211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145536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A slow carb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584448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Oats, wholegrain or whole fruit. Not white and not sugary.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0872" y="2926080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0328" y="3090672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318211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145536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Healthy fats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584448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stomach down, and carries the most energy per gram. Seeds, nuts, avocado.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You will check what you make against all four before you eat any of it.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NOT OPTIONAL, NOT NEGOTIABLE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6600" y="53035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5897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C3A33"/>
                </a:solidFill>
                <a:latin typeface="Georgia"/>
              </a:rPr>
              <a:t>Before anybody touches food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91056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673352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Wash your hands. Properly, with soap, for twenty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30552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12848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Tie your hair back and roll your sleeves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752344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Wipe your table down before anything is unwrapped.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9544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291839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You touch your own food only. Nobody reaches into anybody else’s.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7772400" cy="47548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831335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Nothing goes in your mouth until your teacher says 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342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Anyone who cannot do these five is not handling food today.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THIS ONE IS SERIOUS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22592" y="530352"/>
            <a:ext cx="1435608" cy="347472"/>
          </a:xfrm>
          <a:prstGeom prst="roundRect">
            <a:avLst>
              <a:gd name="adj" fmla="val 50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22592" y="589788"/>
            <a:ext cx="1435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ALLERGIES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FFFDF7"/>
                </a:solidFill>
                <a:latin typeface="Georgia"/>
              </a:rPr>
              <a:t>Speak up now, not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901952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84248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If you have any allergy or intolerance, tell your teacher now.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60320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42615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If you are not sure, tell them anyway.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218688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300984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Do not share, swap or taste anybody else’s. Not even a bit.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41648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FFFDF7"/>
                </a:solidFill>
                <a:latin typeface="Calibri"/>
              </a:rPr>
              <a:t>Nobody has to eat anything. Making it still counts.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0" y="530352"/>
            <a:ext cx="288036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589788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ONLY IF YOU ARE MAKING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METHOD 1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C3A33"/>
                </a:solidFill>
                <a:latin typeface="Georgia"/>
              </a:rPr>
              <a:t>Pinwheel wraps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61848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8249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3677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Spread the soft cheese right to the edges of the wrap.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0312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16712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2311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85415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Spread the mashed avocado over the top of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5176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271576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77977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73405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Scatter the grated carrot and pepper across the middle.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326440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32841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8269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Roll it up tight from the edge nearest you, then slice it into six rounds.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49039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87705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31335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Check it against your four criteria before you eat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342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In pairs. The card on your table has the swaps if you need a different version.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0" y="530352"/>
            <a:ext cx="288036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589788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ONLY IF YOU ARE MAKING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METHOD 2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C3A33"/>
                </a:solidFill>
                <a:latin typeface="Georgia"/>
              </a:rPr>
              <a:t>Oat and seed balls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61848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8249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3677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Mash the banana in the bowl until there are no lumps.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0312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16712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2311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85415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Stir in the oats, the seeds and the cocoa.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5176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271576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77977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73405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Squeeze the mix into balls about the size of a walnut.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326440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32841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8269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Put them on the tray to firm 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49039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87705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31335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Check them against your four criteria while they chill.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342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In pairs. The card on your table has the swaps if you need a different version.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0" y="530352"/>
            <a:ext cx="288036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589788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ONLY IF YOU ARE MAKING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METHOD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C3A33"/>
                </a:solidFill>
                <a:latin typeface="Georgia"/>
              </a:rPr>
              <a:t>Fruit and yoghurt pots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61848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8249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3677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Oats in the bottom of the cup, about two spoonfuls.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0312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16712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2311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85415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Yoghurt over the oats, enough to cover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5176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271576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77977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73405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Chopped fruit on top of that.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326440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32841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82696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Seeds last, one teaspoon, right across the top.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49039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87705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31335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Check it against your four criteria before you eat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342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In pairs. The card on your table has the swaps if you need a different version.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9264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Fifteen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048256"/>
            <a:ext cx="603504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121408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Everything you need is on the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651760"/>
            <a:ext cx="603504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724912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Follow the card, not the person next to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255264"/>
            <a:ext cx="603504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3328416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Clear up as you go; it saves time at the end.</a:t>
            </a:r>
          </a:p>
        </p:txBody>
      </p:sp>
      <p:sp>
        <p:nvSpPr>
          <p:cNvPr id="13" name="Oval 12"/>
          <p:cNvSpPr/>
          <p:nvPr/>
        </p:nvSpPr>
        <p:spPr>
          <a:xfrm>
            <a:off x="4288536" y="3776472"/>
            <a:ext cx="566928" cy="566928"/>
          </a:xfrm>
          <a:prstGeom prst="ellipse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3904488"/>
            <a:ext cx="310896" cy="310896"/>
          </a:xfrm>
          <a:prstGeom prst="rect">
            <a:avLst/>
          </a:prstGeom>
        </p:spPr>
      </p:pic>
      <p:pic>
        <p:nvPicPr>
          <p:cNvPr id="15" name="Picture 14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CLICK THIS NEAR THE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9264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800" b="0" i="0">
                <a:solidFill>
                  <a:srgbClr val="FFFDF7"/>
                </a:solidFill>
                <a:latin typeface="Georgia"/>
              </a:rPr>
              <a:t>Three minutes left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84831"/>
            <a:ext cx="6400800" cy="51206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157984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Finish what you are holding. Do not start anything new.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06624"/>
            <a:ext cx="6400800" cy="51206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779776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Everything reusable back on the trolley, everything else in the 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328415"/>
            <a:ext cx="6400800" cy="51206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40156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Wipe your table. Then sit down with your sheet 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59936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Nobody eats anything until every table is clear.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BEFORE YOU EAT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C3A33"/>
                </a:solidFill>
                <a:latin typeface="Georgia"/>
              </a:rPr>
              <a:t>Does it actually meet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On your sheet, name the ingredient doing each of the four jobs. One word each is enough.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5681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8458" y="211226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8458" y="218541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Protein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195681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67278" y="211226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7278" y="218541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6060" y="261518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Fibre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95681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6098" y="211226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6098" y="218541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1518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A slow carb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2260" y="1956816"/>
            <a:ext cx="1805940" cy="10972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44918" y="211226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4918" y="218541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2615184"/>
            <a:ext cx="1623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56B4A"/>
                </a:solidFill>
                <a:latin typeface="Georgia"/>
              </a:rPr>
              <a:t>Healthy fats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64992"/>
            <a:ext cx="7772400" cy="78638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69B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349300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If one of the four has nothing next to it, what single ingredient would you add to fix it? Write that down too.</a:t>
            </a:r>
          </a:p>
        </p:txBody>
      </p:sp>
      <p:pic>
        <p:nvPicPr>
          <p:cNvPr id="26" name="Picture 25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BACK TO THE GRAPH FROM LESSON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What you just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2994842"/>
            <a:ext cx="6309360" cy="10972"/>
          </a:xfrm>
          <a:prstGeom prst="rect">
            <a:avLst/>
          </a:prstGeom>
          <a:solidFill>
            <a:srgbClr val="98A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664208"/>
            <a:ext cx="18288" cy="1956816"/>
          </a:xfrm>
          <a:prstGeom prst="rect">
            <a:avLst/>
          </a:prstGeom>
          <a:solidFill>
            <a:srgbClr val="5F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3621024"/>
            <a:ext cx="6309360" cy="18288"/>
          </a:xfrm>
          <a:prstGeom prst="rect">
            <a:avLst/>
          </a:prstGeom>
          <a:solidFill>
            <a:srgbClr val="5F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5F6B64"/>
                </a:solidFill>
                <a:latin typeface="Calibri"/>
              </a:rPr>
              <a:t>BLOOD SUGAR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3075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 spc="140">
                <a:solidFill>
                  <a:srgbClr val="5F6B64"/>
                </a:solidFill>
                <a:latin typeface="Calibri"/>
              </a:rPr>
              <a:t>TIME</a:t>
            </a:r>
          </a:p>
        </p:txBody>
      </p:sp>
      <p:sp>
        <p:nvSpPr>
          <p:cNvPr id="12" name="Freeform 11"/>
          <p:cNvSpPr/>
          <p:nvPr/>
        </p:nvSpPr>
        <p:spPr>
          <a:xfrm>
            <a:off x="1417320" y="1664405"/>
            <a:ext cx="6309360" cy="1799892"/>
          </a:xfrm>
          <a:custGeom>
            <a:avLst/>
            <a:gdLst/>
            <a:ahLst/>
            <a:cxnLst/>
            <a:rect l="l" t="t" r="r" b="b"/>
            <a:pathLst>
              <a:path w="6309360" h="1799892">
                <a:moveTo>
                  <a:pt x="0" y="1330437"/>
                </a:moveTo>
                <a:lnTo>
                  <a:pt x="45066" y="1329673"/>
                </a:lnTo>
                <a:lnTo>
                  <a:pt x="90133" y="1327438"/>
                </a:lnTo>
                <a:lnTo>
                  <a:pt x="135200" y="1323908"/>
                </a:lnTo>
                <a:lnTo>
                  <a:pt x="180267" y="1319360"/>
                </a:lnTo>
                <a:lnTo>
                  <a:pt x="225334" y="1314147"/>
                </a:lnTo>
                <a:lnTo>
                  <a:pt x="270401" y="1308678"/>
                </a:lnTo>
                <a:lnTo>
                  <a:pt x="315468" y="1303381"/>
                </a:lnTo>
                <a:lnTo>
                  <a:pt x="360534" y="1298669"/>
                </a:lnTo>
                <a:lnTo>
                  <a:pt x="405601" y="1294910"/>
                </a:lnTo>
                <a:lnTo>
                  <a:pt x="450668" y="1292399"/>
                </a:lnTo>
                <a:lnTo>
                  <a:pt x="495735" y="1291332"/>
                </a:lnTo>
                <a:lnTo>
                  <a:pt x="540802" y="1285999"/>
                </a:lnTo>
                <a:lnTo>
                  <a:pt x="585869" y="1264611"/>
                </a:lnTo>
                <a:lnTo>
                  <a:pt x="630936" y="1227352"/>
                </a:lnTo>
                <a:lnTo>
                  <a:pt x="676002" y="1175177"/>
                </a:lnTo>
                <a:lnTo>
                  <a:pt x="721069" y="1109425"/>
                </a:lnTo>
                <a:lnTo>
                  <a:pt x="766136" y="1031781"/>
                </a:lnTo>
                <a:lnTo>
                  <a:pt x="811203" y="944236"/>
                </a:lnTo>
                <a:lnTo>
                  <a:pt x="856270" y="849033"/>
                </a:lnTo>
                <a:lnTo>
                  <a:pt x="901337" y="748613"/>
                </a:lnTo>
                <a:lnTo>
                  <a:pt x="946404" y="645552"/>
                </a:lnTo>
                <a:lnTo>
                  <a:pt x="991470" y="542490"/>
                </a:lnTo>
                <a:lnTo>
                  <a:pt x="1036537" y="442071"/>
                </a:lnTo>
                <a:lnTo>
                  <a:pt x="1081604" y="346868"/>
                </a:lnTo>
                <a:lnTo>
                  <a:pt x="1126671" y="259322"/>
                </a:lnTo>
                <a:lnTo>
                  <a:pt x="1171738" y="181678"/>
                </a:lnTo>
                <a:lnTo>
                  <a:pt x="1216805" y="115926"/>
                </a:lnTo>
                <a:lnTo>
                  <a:pt x="1261872" y="63752"/>
                </a:lnTo>
                <a:lnTo>
                  <a:pt x="1306938" y="26493"/>
                </a:lnTo>
                <a:lnTo>
                  <a:pt x="1352005" y="5104"/>
                </a:lnTo>
                <a:lnTo>
                  <a:pt x="1397072" y="0"/>
                </a:lnTo>
                <a:lnTo>
                  <a:pt x="1442139" y="6854"/>
                </a:lnTo>
                <a:lnTo>
                  <a:pt x="1487206" y="23168"/>
                </a:lnTo>
                <a:lnTo>
                  <a:pt x="1532273" y="48122"/>
                </a:lnTo>
                <a:lnTo>
                  <a:pt x="1577340" y="80465"/>
                </a:lnTo>
                <a:lnTo>
                  <a:pt x="1622406" y="118576"/>
                </a:lnTo>
                <a:lnTo>
                  <a:pt x="1667473" y="160544"/>
                </a:lnTo>
                <a:lnTo>
                  <a:pt x="1712540" y="204263"/>
                </a:lnTo>
                <a:lnTo>
                  <a:pt x="1757607" y="247543"/>
                </a:lnTo>
                <a:lnTo>
                  <a:pt x="1802674" y="288211"/>
                </a:lnTo>
                <a:lnTo>
                  <a:pt x="1847741" y="324231"/>
                </a:lnTo>
                <a:lnTo>
                  <a:pt x="1892808" y="353794"/>
                </a:lnTo>
                <a:lnTo>
                  <a:pt x="1937874" y="375419"/>
                </a:lnTo>
                <a:lnTo>
                  <a:pt x="1982941" y="388021"/>
                </a:lnTo>
                <a:lnTo>
                  <a:pt x="2028008" y="391528"/>
                </a:lnTo>
                <a:lnTo>
                  <a:pt x="2073075" y="404156"/>
                </a:lnTo>
                <a:lnTo>
                  <a:pt x="2118142" y="434512"/>
                </a:lnTo>
                <a:lnTo>
                  <a:pt x="2163209" y="481816"/>
                </a:lnTo>
                <a:lnTo>
                  <a:pt x="2208276" y="544855"/>
                </a:lnTo>
                <a:lnTo>
                  <a:pt x="2253342" y="622015"/>
                </a:lnTo>
                <a:lnTo>
                  <a:pt x="2298409" y="711315"/>
                </a:lnTo>
                <a:lnTo>
                  <a:pt x="2343476" y="810468"/>
                </a:lnTo>
                <a:lnTo>
                  <a:pt x="2388543" y="916932"/>
                </a:lnTo>
                <a:lnTo>
                  <a:pt x="2433610" y="1027976"/>
                </a:lnTo>
                <a:lnTo>
                  <a:pt x="2478677" y="1140754"/>
                </a:lnTo>
                <a:lnTo>
                  <a:pt x="2523744" y="1252375"/>
                </a:lnTo>
                <a:lnTo>
                  <a:pt x="2568810" y="1359978"/>
                </a:lnTo>
                <a:lnTo>
                  <a:pt x="2613877" y="1460803"/>
                </a:lnTo>
                <a:lnTo>
                  <a:pt x="2658944" y="1552266"/>
                </a:lnTo>
                <a:lnTo>
                  <a:pt x="2704011" y="1632023"/>
                </a:lnTo>
                <a:lnTo>
                  <a:pt x="2749078" y="1698028"/>
                </a:lnTo>
                <a:lnTo>
                  <a:pt x="2794145" y="1748589"/>
                </a:lnTo>
                <a:lnTo>
                  <a:pt x="2839212" y="1782411"/>
                </a:lnTo>
                <a:lnTo>
                  <a:pt x="2884278" y="1798626"/>
                </a:lnTo>
                <a:lnTo>
                  <a:pt x="2929345" y="1799892"/>
                </a:lnTo>
                <a:lnTo>
                  <a:pt x="2974412" y="1798793"/>
                </a:lnTo>
                <a:lnTo>
                  <a:pt x="3019479" y="1796724"/>
                </a:lnTo>
                <a:lnTo>
                  <a:pt x="3064546" y="1793737"/>
                </a:lnTo>
                <a:lnTo>
                  <a:pt x="3109613" y="1789909"/>
                </a:lnTo>
                <a:lnTo>
                  <a:pt x="3154680" y="1785338"/>
                </a:lnTo>
                <a:lnTo>
                  <a:pt x="3199746" y="1780142"/>
                </a:lnTo>
                <a:lnTo>
                  <a:pt x="3244813" y="1774453"/>
                </a:lnTo>
                <a:lnTo>
                  <a:pt x="3289880" y="1768418"/>
                </a:lnTo>
                <a:lnTo>
                  <a:pt x="3334947" y="1762191"/>
                </a:lnTo>
                <a:lnTo>
                  <a:pt x="3380014" y="1755932"/>
                </a:lnTo>
                <a:lnTo>
                  <a:pt x="3425081" y="1749802"/>
                </a:lnTo>
                <a:lnTo>
                  <a:pt x="3470148" y="1743956"/>
                </a:lnTo>
                <a:lnTo>
                  <a:pt x="3515214" y="1738546"/>
                </a:lnTo>
                <a:lnTo>
                  <a:pt x="3560281" y="1733710"/>
                </a:lnTo>
                <a:lnTo>
                  <a:pt x="3605348" y="1729573"/>
                </a:lnTo>
                <a:lnTo>
                  <a:pt x="3650415" y="1726239"/>
                </a:lnTo>
                <a:lnTo>
                  <a:pt x="3695482" y="1723794"/>
                </a:lnTo>
                <a:lnTo>
                  <a:pt x="3740549" y="1722302"/>
                </a:lnTo>
                <a:lnTo>
                  <a:pt x="3785616" y="1721801"/>
                </a:lnTo>
                <a:lnTo>
                  <a:pt x="3830682" y="1721185"/>
                </a:lnTo>
                <a:lnTo>
                  <a:pt x="3875749" y="1719348"/>
                </a:lnTo>
                <a:lnTo>
                  <a:pt x="3920816" y="1716310"/>
                </a:lnTo>
                <a:lnTo>
                  <a:pt x="3965883" y="1712111"/>
                </a:lnTo>
                <a:lnTo>
                  <a:pt x="4010950" y="1706804"/>
                </a:lnTo>
                <a:lnTo>
                  <a:pt x="4056017" y="1700455"/>
                </a:lnTo>
                <a:lnTo>
                  <a:pt x="4101084" y="1693144"/>
                </a:lnTo>
                <a:lnTo>
                  <a:pt x="4146150" y="1684963"/>
                </a:lnTo>
                <a:lnTo>
                  <a:pt x="4191217" y="1676014"/>
                </a:lnTo>
                <a:lnTo>
                  <a:pt x="4236284" y="1666411"/>
                </a:lnTo>
                <a:lnTo>
                  <a:pt x="4281351" y="1656275"/>
                </a:lnTo>
                <a:lnTo>
                  <a:pt x="4326418" y="1645731"/>
                </a:lnTo>
                <a:lnTo>
                  <a:pt x="4371485" y="1634914"/>
                </a:lnTo>
                <a:lnTo>
                  <a:pt x="4416552" y="1623960"/>
                </a:lnTo>
                <a:lnTo>
                  <a:pt x="4461618" y="1613005"/>
                </a:lnTo>
                <a:lnTo>
                  <a:pt x="4506685" y="1602188"/>
                </a:lnTo>
                <a:lnTo>
                  <a:pt x="4551752" y="1591645"/>
                </a:lnTo>
                <a:lnTo>
                  <a:pt x="4596819" y="1581508"/>
                </a:lnTo>
                <a:lnTo>
                  <a:pt x="4641886" y="1571905"/>
                </a:lnTo>
                <a:lnTo>
                  <a:pt x="4686953" y="1562957"/>
                </a:lnTo>
                <a:lnTo>
                  <a:pt x="4732020" y="1554776"/>
                </a:lnTo>
                <a:lnTo>
                  <a:pt x="4777086" y="1547465"/>
                </a:lnTo>
                <a:lnTo>
                  <a:pt x="4822153" y="1541116"/>
                </a:lnTo>
                <a:lnTo>
                  <a:pt x="4867220" y="1535808"/>
                </a:lnTo>
                <a:lnTo>
                  <a:pt x="4912287" y="1531609"/>
                </a:lnTo>
                <a:lnTo>
                  <a:pt x="4957354" y="1528572"/>
                </a:lnTo>
                <a:lnTo>
                  <a:pt x="5002421" y="1526734"/>
                </a:lnTo>
                <a:lnTo>
                  <a:pt x="5047488" y="1526119"/>
                </a:lnTo>
                <a:lnTo>
                  <a:pt x="5092554" y="1525811"/>
                </a:lnTo>
                <a:lnTo>
                  <a:pt x="5137621" y="1524892"/>
                </a:lnTo>
                <a:lnTo>
                  <a:pt x="5182688" y="1523374"/>
                </a:lnTo>
                <a:lnTo>
                  <a:pt x="5227755" y="1521274"/>
                </a:lnTo>
                <a:lnTo>
                  <a:pt x="5272822" y="1518621"/>
                </a:lnTo>
                <a:lnTo>
                  <a:pt x="5317889" y="1515446"/>
                </a:lnTo>
                <a:lnTo>
                  <a:pt x="5362956" y="1511791"/>
                </a:lnTo>
                <a:lnTo>
                  <a:pt x="5408022" y="1507700"/>
                </a:lnTo>
                <a:lnTo>
                  <a:pt x="5453089" y="1503226"/>
                </a:lnTo>
                <a:lnTo>
                  <a:pt x="5498156" y="1498424"/>
                </a:lnTo>
                <a:lnTo>
                  <a:pt x="5543223" y="1493356"/>
                </a:lnTo>
                <a:lnTo>
                  <a:pt x="5588290" y="1488084"/>
                </a:lnTo>
                <a:lnTo>
                  <a:pt x="5633357" y="1482676"/>
                </a:lnTo>
                <a:lnTo>
                  <a:pt x="5678424" y="1477199"/>
                </a:lnTo>
                <a:lnTo>
                  <a:pt x="5723490" y="1471721"/>
                </a:lnTo>
                <a:lnTo>
                  <a:pt x="5768557" y="1466313"/>
                </a:lnTo>
                <a:lnTo>
                  <a:pt x="5813624" y="1461041"/>
                </a:lnTo>
                <a:lnTo>
                  <a:pt x="5858691" y="1455973"/>
                </a:lnTo>
                <a:lnTo>
                  <a:pt x="5903758" y="1451171"/>
                </a:lnTo>
                <a:lnTo>
                  <a:pt x="5948825" y="1446697"/>
                </a:lnTo>
                <a:lnTo>
                  <a:pt x="5993892" y="1442607"/>
                </a:lnTo>
                <a:lnTo>
                  <a:pt x="6038958" y="1438951"/>
                </a:lnTo>
                <a:lnTo>
                  <a:pt x="6084025" y="1435776"/>
                </a:lnTo>
                <a:lnTo>
                  <a:pt x="6129092" y="1433123"/>
                </a:lnTo>
                <a:lnTo>
                  <a:pt x="6174159" y="1431023"/>
                </a:lnTo>
                <a:lnTo>
                  <a:pt x="6219226" y="1429505"/>
                </a:lnTo>
                <a:lnTo>
                  <a:pt x="6264293" y="1428586"/>
                </a:lnTo>
                <a:lnTo>
                  <a:pt x="6309360" y="1428278"/>
                </a:lnTo>
              </a:path>
            </a:pathLst>
          </a:custGeom>
          <a:noFill/>
          <a:ln w="25400">
            <a:solidFill>
              <a:srgbClr val="98A2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17320" y="2446934"/>
            <a:ext cx="6309360" cy="547908"/>
          </a:xfrm>
          <a:custGeom>
            <a:avLst/>
            <a:gdLst/>
            <a:ahLst/>
            <a:cxnLst/>
            <a:rect l="l" t="t" r="r" b="b"/>
            <a:pathLst>
              <a:path w="6309360" h="547908">
                <a:moveTo>
                  <a:pt x="0" y="547908"/>
                </a:moveTo>
                <a:lnTo>
                  <a:pt x="45066" y="546927"/>
                </a:lnTo>
                <a:lnTo>
                  <a:pt x="90133" y="544033"/>
                </a:lnTo>
                <a:lnTo>
                  <a:pt x="135200" y="539370"/>
                </a:lnTo>
                <a:lnTo>
                  <a:pt x="180267" y="533173"/>
                </a:lnTo>
                <a:lnTo>
                  <a:pt x="225334" y="525753"/>
                </a:lnTo>
                <a:lnTo>
                  <a:pt x="270401" y="517481"/>
                </a:lnTo>
                <a:lnTo>
                  <a:pt x="315468" y="508772"/>
                </a:lnTo>
                <a:lnTo>
                  <a:pt x="360534" y="500063"/>
                </a:lnTo>
                <a:lnTo>
                  <a:pt x="405601" y="491791"/>
                </a:lnTo>
                <a:lnTo>
                  <a:pt x="450668" y="484371"/>
                </a:lnTo>
                <a:lnTo>
                  <a:pt x="495735" y="478174"/>
                </a:lnTo>
                <a:lnTo>
                  <a:pt x="540802" y="473511"/>
                </a:lnTo>
                <a:lnTo>
                  <a:pt x="585869" y="470617"/>
                </a:lnTo>
                <a:lnTo>
                  <a:pt x="630936" y="469636"/>
                </a:lnTo>
                <a:lnTo>
                  <a:pt x="676002" y="467965"/>
                </a:lnTo>
                <a:lnTo>
                  <a:pt x="721069" y="462980"/>
                </a:lnTo>
                <a:lnTo>
                  <a:pt x="766136" y="454756"/>
                </a:lnTo>
                <a:lnTo>
                  <a:pt x="811203" y="443423"/>
                </a:lnTo>
                <a:lnTo>
                  <a:pt x="856270" y="429155"/>
                </a:lnTo>
                <a:lnTo>
                  <a:pt x="901337" y="412175"/>
                </a:lnTo>
                <a:lnTo>
                  <a:pt x="946404" y="392746"/>
                </a:lnTo>
                <a:lnTo>
                  <a:pt x="991470" y="371169"/>
                </a:lnTo>
                <a:lnTo>
                  <a:pt x="1036537" y="347779"/>
                </a:lnTo>
                <a:lnTo>
                  <a:pt x="1081604" y="322940"/>
                </a:lnTo>
                <a:lnTo>
                  <a:pt x="1126671" y="297037"/>
                </a:lnTo>
                <a:lnTo>
                  <a:pt x="1171738" y="270472"/>
                </a:lnTo>
                <a:lnTo>
                  <a:pt x="1216805" y="243657"/>
                </a:lnTo>
                <a:lnTo>
                  <a:pt x="1261872" y="217008"/>
                </a:lnTo>
                <a:lnTo>
                  <a:pt x="1306938" y="190940"/>
                </a:lnTo>
                <a:lnTo>
                  <a:pt x="1352005" y="165857"/>
                </a:lnTo>
                <a:lnTo>
                  <a:pt x="1397072" y="142147"/>
                </a:lnTo>
                <a:lnTo>
                  <a:pt x="1442139" y="120180"/>
                </a:lnTo>
                <a:lnTo>
                  <a:pt x="1487206" y="100296"/>
                </a:lnTo>
                <a:lnTo>
                  <a:pt x="1532273" y="82803"/>
                </a:lnTo>
                <a:lnTo>
                  <a:pt x="1577340" y="67974"/>
                </a:lnTo>
                <a:lnTo>
                  <a:pt x="1622406" y="56038"/>
                </a:lnTo>
                <a:lnTo>
                  <a:pt x="1667473" y="47181"/>
                </a:lnTo>
                <a:lnTo>
                  <a:pt x="1712540" y="41540"/>
                </a:lnTo>
                <a:lnTo>
                  <a:pt x="1757607" y="39203"/>
                </a:lnTo>
                <a:lnTo>
                  <a:pt x="1802674" y="39071"/>
                </a:lnTo>
                <a:lnTo>
                  <a:pt x="1847741" y="38807"/>
                </a:lnTo>
                <a:lnTo>
                  <a:pt x="1892808" y="38344"/>
                </a:lnTo>
                <a:lnTo>
                  <a:pt x="1937874" y="37685"/>
                </a:lnTo>
                <a:lnTo>
                  <a:pt x="1982941" y="36837"/>
                </a:lnTo>
                <a:lnTo>
                  <a:pt x="2028008" y="35811"/>
                </a:lnTo>
                <a:lnTo>
                  <a:pt x="2073075" y="34615"/>
                </a:lnTo>
                <a:lnTo>
                  <a:pt x="2118142" y="33263"/>
                </a:lnTo>
                <a:lnTo>
                  <a:pt x="2163209" y="31769"/>
                </a:lnTo>
                <a:lnTo>
                  <a:pt x="2208276" y="30147"/>
                </a:lnTo>
                <a:lnTo>
                  <a:pt x="2253342" y="28416"/>
                </a:lnTo>
                <a:lnTo>
                  <a:pt x="2298409" y="26593"/>
                </a:lnTo>
                <a:lnTo>
                  <a:pt x="2343476" y="24697"/>
                </a:lnTo>
                <a:lnTo>
                  <a:pt x="2388543" y="22747"/>
                </a:lnTo>
                <a:lnTo>
                  <a:pt x="2433610" y="20765"/>
                </a:lnTo>
                <a:lnTo>
                  <a:pt x="2478677" y="18770"/>
                </a:lnTo>
                <a:lnTo>
                  <a:pt x="2523744" y="16783"/>
                </a:lnTo>
                <a:lnTo>
                  <a:pt x="2568810" y="14825"/>
                </a:lnTo>
                <a:lnTo>
                  <a:pt x="2613877" y="12917"/>
                </a:lnTo>
                <a:lnTo>
                  <a:pt x="2658944" y="11078"/>
                </a:lnTo>
                <a:lnTo>
                  <a:pt x="2704011" y="9327"/>
                </a:lnTo>
                <a:lnTo>
                  <a:pt x="2749078" y="7682"/>
                </a:lnTo>
                <a:lnTo>
                  <a:pt x="2794145" y="6161"/>
                </a:lnTo>
                <a:lnTo>
                  <a:pt x="2839212" y="4779"/>
                </a:lnTo>
                <a:lnTo>
                  <a:pt x="2884278" y="3551"/>
                </a:lnTo>
                <a:lnTo>
                  <a:pt x="2929345" y="2490"/>
                </a:lnTo>
                <a:lnTo>
                  <a:pt x="2974412" y="1606"/>
                </a:lnTo>
                <a:lnTo>
                  <a:pt x="3019479" y="909"/>
                </a:lnTo>
                <a:lnTo>
                  <a:pt x="3064546" y="406"/>
                </a:lnTo>
                <a:lnTo>
                  <a:pt x="3109613" y="102"/>
                </a:lnTo>
                <a:lnTo>
                  <a:pt x="3154680" y="0"/>
                </a:lnTo>
                <a:lnTo>
                  <a:pt x="3199746" y="508"/>
                </a:lnTo>
                <a:lnTo>
                  <a:pt x="3244813" y="2029"/>
                </a:lnTo>
                <a:lnTo>
                  <a:pt x="3289880" y="4545"/>
                </a:lnTo>
                <a:lnTo>
                  <a:pt x="3334947" y="8031"/>
                </a:lnTo>
                <a:lnTo>
                  <a:pt x="3380014" y="12451"/>
                </a:lnTo>
                <a:lnTo>
                  <a:pt x="3425081" y="17758"/>
                </a:lnTo>
                <a:lnTo>
                  <a:pt x="3470148" y="23898"/>
                </a:lnTo>
                <a:lnTo>
                  <a:pt x="3515214" y="30806"/>
                </a:lnTo>
                <a:lnTo>
                  <a:pt x="3560281" y="38411"/>
                </a:lnTo>
                <a:lnTo>
                  <a:pt x="3605348" y="46634"/>
                </a:lnTo>
                <a:lnTo>
                  <a:pt x="3650415" y="55389"/>
                </a:lnTo>
                <a:lnTo>
                  <a:pt x="3695482" y="64586"/>
                </a:lnTo>
                <a:lnTo>
                  <a:pt x="3740549" y="74128"/>
                </a:lnTo>
                <a:lnTo>
                  <a:pt x="3785616" y="83917"/>
                </a:lnTo>
                <a:lnTo>
                  <a:pt x="3830682" y="93850"/>
                </a:lnTo>
                <a:lnTo>
                  <a:pt x="3875749" y="103825"/>
                </a:lnTo>
                <a:lnTo>
                  <a:pt x="3920816" y="113737"/>
                </a:lnTo>
                <a:lnTo>
                  <a:pt x="3965883" y="123485"/>
                </a:lnTo>
                <a:lnTo>
                  <a:pt x="4010950" y="132966"/>
                </a:lnTo>
                <a:lnTo>
                  <a:pt x="4056017" y="142082"/>
                </a:lnTo>
                <a:lnTo>
                  <a:pt x="4101084" y="150737"/>
                </a:lnTo>
                <a:lnTo>
                  <a:pt x="4146150" y="158843"/>
                </a:lnTo>
                <a:lnTo>
                  <a:pt x="4191217" y="166315"/>
                </a:lnTo>
                <a:lnTo>
                  <a:pt x="4236284" y="173075"/>
                </a:lnTo>
                <a:lnTo>
                  <a:pt x="4281351" y="179053"/>
                </a:lnTo>
                <a:lnTo>
                  <a:pt x="4326418" y="184187"/>
                </a:lnTo>
                <a:lnTo>
                  <a:pt x="4371485" y="188424"/>
                </a:lnTo>
                <a:lnTo>
                  <a:pt x="4416552" y="191718"/>
                </a:lnTo>
                <a:lnTo>
                  <a:pt x="4461618" y="194037"/>
                </a:lnTo>
                <a:lnTo>
                  <a:pt x="4506685" y="195356"/>
                </a:lnTo>
                <a:lnTo>
                  <a:pt x="4551752" y="195697"/>
                </a:lnTo>
                <a:lnTo>
                  <a:pt x="4596819" y="196224"/>
                </a:lnTo>
                <a:lnTo>
                  <a:pt x="4641886" y="197502"/>
                </a:lnTo>
                <a:lnTo>
                  <a:pt x="4686953" y="199521"/>
                </a:lnTo>
                <a:lnTo>
                  <a:pt x="4732020" y="202270"/>
                </a:lnTo>
                <a:lnTo>
                  <a:pt x="4777086" y="205730"/>
                </a:lnTo>
                <a:lnTo>
                  <a:pt x="4822153" y="209880"/>
                </a:lnTo>
                <a:lnTo>
                  <a:pt x="4867220" y="214691"/>
                </a:lnTo>
                <a:lnTo>
                  <a:pt x="4912287" y="220135"/>
                </a:lnTo>
                <a:lnTo>
                  <a:pt x="4957354" y="226175"/>
                </a:lnTo>
                <a:lnTo>
                  <a:pt x="5002421" y="232773"/>
                </a:lnTo>
                <a:lnTo>
                  <a:pt x="5047488" y="239887"/>
                </a:lnTo>
                <a:lnTo>
                  <a:pt x="5092554" y="247471"/>
                </a:lnTo>
                <a:lnTo>
                  <a:pt x="5137621" y="255476"/>
                </a:lnTo>
                <a:lnTo>
                  <a:pt x="5182688" y="263851"/>
                </a:lnTo>
                <a:lnTo>
                  <a:pt x="5227755" y="272542"/>
                </a:lnTo>
                <a:lnTo>
                  <a:pt x="5272822" y="281493"/>
                </a:lnTo>
                <a:lnTo>
                  <a:pt x="5317889" y="290647"/>
                </a:lnTo>
                <a:lnTo>
                  <a:pt x="5362956" y="299945"/>
                </a:lnTo>
                <a:lnTo>
                  <a:pt x="5408022" y="309327"/>
                </a:lnTo>
                <a:lnTo>
                  <a:pt x="5453089" y="318734"/>
                </a:lnTo>
                <a:lnTo>
                  <a:pt x="5498156" y="328104"/>
                </a:lnTo>
                <a:lnTo>
                  <a:pt x="5543223" y="337378"/>
                </a:lnTo>
                <a:lnTo>
                  <a:pt x="5588290" y="346497"/>
                </a:lnTo>
                <a:lnTo>
                  <a:pt x="5633357" y="355400"/>
                </a:lnTo>
                <a:lnTo>
                  <a:pt x="5678424" y="364032"/>
                </a:lnTo>
                <a:lnTo>
                  <a:pt x="5723490" y="372337"/>
                </a:lnTo>
                <a:lnTo>
                  <a:pt x="5768557" y="380262"/>
                </a:lnTo>
                <a:lnTo>
                  <a:pt x="5813624" y="387756"/>
                </a:lnTo>
                <a:lnTo>
                  <a:pt x="5858691" y="394770"/>
                </a:lnTo>
                <a:lnTo>
                  <a:pt x="5903758" y="401260"/>
                </a:lnTo>
                <a:lnTo>
                  <a:pt x="5948825" y="407184"/>
                </a:lnTo>
                <a:lnTo>
                  <a:pt x="5993892" y="412503"/>
                </a:lnTo>
                <a:lnTo>
                  <a:pt x="6038958" y="417185"/>
                </a:lnTo>
                <a:lnTo>
                  <a:pt x="6084025" y="421199"/>
                </a:lnTo>
                <a:lnTo>
                  <a:pt x="6129092" y="424518"/>
                </a:lnTo>
                <a:lnTo>
                  <a:pt x="6174159" y="427122"/>
                </a:lnTo>
                <a:lnTo>
                  <a:pt x="6219226" y="428994"/>
                </a:lnTo>
                <a:lnTo>
                  <a:pt x="6264293" y="430123"/>
                </a:lnTo>
                <a:lnTo>
                  <a:pt x="6309360" y="430499"/>
                </a:lnTo>
              </a:path>
            </a:pathLst>
          </a:custGeom>
          <a:noFill/>
          <a:ln w="38100">
            <a:solidFill>
              <a:srgbClr val="25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2502" y="13716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1">
                <a:solidFill>
                  <a:srgbClr val="98A29B"/>
                </a:solidFill>
                <a:latin typeface="Calibri"/>
              </a:rPr>
              <a:t>The biscuit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8187" y="2055571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256B4A"/>
                </a:solidFill>
                <a:latin typeface="Calibri"/>
              </a:rPr>
              <a:t>The one you just made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8678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Same energy, spread over hours. No spike, so nothing to fall from.</a:t>
            </a:r>
          </a:p>
        </p:txBody>
      </p:sp>
      <p:pic>
        <p:nvPicPr>
          <p:cNvPr id="17" name="Picture 1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NOW YOU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Eat it, and be honest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847088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911095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837943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Would you actually eat this at break, or is it a lesson thing?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05456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61518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679191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606039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What would you change about it, and why that?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73552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383280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4728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74136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How long do you think it will hold you? Say a number.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The first question is the real test, because a snack you would never choose does not count.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ONE MORE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 i="0">
                <a:solidFill>
                  <a:srgbClr val="2C3A33"/>
                </a:solidFill>
                <a:latin typeface="Georgia"/>
              </a:rPr>
              <a:t>Against what you usually 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Think of what you would actually have bought at break today. Three straight comparisons.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6"/>
            <a:ext cx="2432304" cy="1463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67712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256B4A"/>
                </a:solidFill>
                <a:latin typeface="Georgia"/>
              </a:rPr>
              <a:t>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24912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Which one costs less?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2048256"/>
            <a:ext cx="2432304" cy="14630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67712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256B4A"/>
                </a:solidFill>
                <a:latin typeface="Georgia"/>
              </a:rPr>
              <a:t>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724912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Which one takes less time, including buying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2048256"/>
            <a:ext cx="2432304" cy="1463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267712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256B4A"/>
                </a:solidFill>
                <a:latin typeface="Georgia"/>
              </a:rPr>
              <a:t>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724912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Which one gets you further into the afternoon?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If it loses on all three, you will never make it again, so it is not a real swap.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FOR 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Design your 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On the recipe card. It has to hit the criteria and be something you would actually eat.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0312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Write the recipe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Ingredients, amounts, and the steps in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3464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Mark the four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34640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Which ingredient is the protein, fibre, slow carb and fat.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6616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Make it if you 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At home, if that works for you. If not, the card is enough.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5254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The card is the homework. Making it at home is a bonus, not the task.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IF YOU REMEMBER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You made that in</a:t>
            </a:r>
            <a:br/>
            <a:r>
              <a:rPr sz="3400" b="0" i="0">
                <a:solidFill>
                  <a:srgbClr val="FFFDF7"/>
                </a:solidFill>
                <a:latin typeface="Georgia"/>
              </a:rPr>
              <a:t>fifteen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3127248"/>
            <a:ext cx="1005840" cy="18288"/>
          </a:xfrm>
          <a:prstGeom prst="rect">
            <a:avLst/>
          </a:prstGeom>
          <a:solidFill>
            <a:srgbClr val="69B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198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450" b="0" i="1">
                <a:solidFill>
                  <a:srgbClr val="CBDFD6"/>
                </a:solidFill>
                <a:latin typeface="Calibri"/>
              </a:rPr>
              <a:t>Nobody skips this because the cooking is hard.</a:t>
            </a:r>
            <a:br>
              <a:rPr sz="1450" b="0" i="1">
                <a:solidFill>
                  <a:srgbClr val="CBDFD6"/>
                </a:solidFill>
                <a:latin typeface="Calibri"/>
              </a:rPr>
            </a:br>
            <a:r>
              <a:rPr sz="1450" b="0" i="1">
                <a:solidFill>
                  <a:srgbClr val="CBDFD6"/>
                </a:solidFill>
                <a:latin typeface="Calibri"/>
              </a:rPr>
              <a:t>They skip it because they never decided to.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95" y="1243584"/>
            <a:ext cx="681008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0428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900" b="0" i="0">
                <a:solidFill>
                  <a:srgbClr val="256B4A"/>
                </a:solidFill>
                <a:latin typeface="Georgia"/>
              </a:rPr>
              <a:t>Bring your recipe card next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7238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5F6B64"/>
                </a:solidFill>
                <a:latin typeface="Calibri"/>
              </a:rPr>
              <a:t>Every card that hits all four goes into the class collection, and you all get a copy.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02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98A29B"/>
                </a:solidFill>
                <a:latin typeface="Calibri"/>
              </a:rPr>
              <a:t>Fuel and Focus  ·  Lesson 2 of 3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and Focus: lesson 2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