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974F16"/>
                </a:solidFill>
                <a:latin typeface="Calibri"/>
              </a:rPr>
              <a:t>MORNING REGISTRATION ACTIVITIES</a:t>
            </a:r>
          </a:p>
        </p:txBody>
      </p:sp>
      <p:sp>
        <p:nvSpPr>
          <p:cNvPr id="4" name="TextBox 3"/>
          <p:cNvSpPr txBox="1"/>
          <p:nvPr/>
        </p:nvSpPr>
        <p:spPr>
          <a:xfrm>
            <a:off x="685800" y="621792"/>
            <a:ext cx="7772400" cy="548640"/>
          </a:xfrm>
          <a:prstGeom prst="rect">
            <a:avLst/>
          </a:prstGeom>
          <a:noFill/>
        </p:spPr>
        <p:txBody>
          <a:bodyPr wrap="square" anchor="t" lIns="0" rIns="0" tIns="0" bIns="0">
            <a:spAutoFit/>
          </a:bodyPr>
          <a:lstStyle/>
          <a:p>
            <a:pPr algn="ctr">
              <a:lnSpc>
                <a:spcPct val="105000"/>
              </a:lnSpc>
              <a:spcAft>
                <a:spcPts val="0"/>
              </a:spcAft>
            </a:pPr>
            <a:r>
              <a:rPr sz="3000" b="0" i="0">
                <a:solidFill>
                  <a:srgbClr val="974F16"/>
                </a:solidFill>
                <a:latin typeface="Georgia"/>
              </a:rPr>
              <a:t>The Form Time Quiz</a:t>
            </a:r>
          </a:p>
        </p:txBody>
      </p:sp>
      <p:sp>
        <p:nvSpPr>
          <p:cNvPr id="5" name="Rounded Rectangle 4"/>
          <p:cNvSpPr/>
          <p:nvPr/>
        </p:nvSpPr>
        <p:spPr>
          <a:xfrm>
            <a:off x="3337843" y="1243584"/>
            <a:ext cx="2468312" cy="237744"/>
          </a:xfrm>
          <a:prstGeom prst="roundRect">
            <a:avLst>
              <a:gd name="adj" fmla="val 50000"/>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  ·  YEAR 7 TO 9</a:t>
            </a:r>
          </a:p>
        </p:txBody>
      </p:sp>
      <p:sp>
        <p:nvSpPr>
          <p:cNvPr id="6" name="TextBox 5"/>
          <p:cNvSpPr txBox="1"/>
          <p:nvPr/>
        </p:nvSpPr>
        <p:spPr>
          <a:xfrm>
            <a:off x="914400" y="1572768"/>
            <a:ext cx="7315200" cy="310896"/>
          </a:xfrm>
          <a:prstGeom prst="rect">
            <a:avLst/>
          </a:prstGeom>
          <a:noFill/>
        </p:spPr>
        <p:txBody>
          <a:bodyPr wrap="square" anchor="t" lIns="0" rIns="0" tIns="0" bIns="0">
            <a:spAutoFit/>
          </a:bodyPr>
          <a:lstStyle/>
          <a:p>
            <a:pPr algn="ctr">
              <a:lnSpc>
                <a:spcPct val="125000"/>
              </a:lnSpc>
              <a:spcAft>
                <a:spcPts val="0"/>
              </a:spcAft>
            </a:pPr>
            <a:r>
              <a:rPr sz="1300" b="0" i="0">
                <a:solidFill>
                  <a:srgbClr val="5C6552"/>
                </a:solidFill>
                <a:latin typeface="Calibri"/>
              </a:rPr>
              <a:t>Ten questions: six on healthy habits, then four of general knowledge.</a:t>
            </a:r>
          </a:p>
        </p:txBody>
      </p:sp>
      <p:sp>
        <p:nvSpPr>
          <p:cNvPr id="7" name="Rectangle 6"/>
          <p:cNvSpPr/>
          <p:nvPr/>
        </p:nvSpPr>
        <p:spPr>
          <a:xfrm>
            <a:off x="685800"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54480"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wopeople.png"/>
          <p:cNvPicPr>
            <a:picLocks noChangeAspect="1"/>
          </p:cNvPicPr>
          <p:nvPr/>
        </p:nvPicPr>
        <p:blipFill>
          <a:blip r:embed="rId2"/>
          <a:stretch>
            <a:fillRect/>
          </a:stretch>
        </p:blipFill>
        <p:spPr>
          <a:xfrm>
            <a:off x="1691640" y="2221992"/>
            <a:ext cx="384048" cy="384048"/>
          </a:xfrm>
          <a:prstGeom prst="rect">
            <a:avLst/>
          </a:prstGeom>
        </p:spPr>
      </p:pic>
      <p:sp>
        <p:nvSpPr>
          <p:cNvPr id="10" name="TextBox 9"/>
          <p:cNvSpPr txBox="1"/>
          <p:nvPr/>
        </p:nvSpPr>
        <p:spPr>
          <a:xfrm>
            <a:off x="813816"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Get into teams</a:t>
            </a:r>
          </a:p>
        </p:txBody>
      </p:sp>
      <p:sp>
        <p:nvSpPr>
          <p:cNvPr id="11" name="TextBox 10"/>
          <p:cNvSpPr txBox="1"/>
          <p:nvPr/>
        </p:nvSpPr>
        <p:spPr>
          <a:xfrm>
            <a:off x="850392"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Three or four to a team, with one answer sheet between you.</a:t>
            </a:r>
          </a:p>
        </p:txBody>
      </p:sp>
      <p:sp>
        <p:nvSpPr>
          <p:cNvPr id="12" name="Rectangle 11"/>
          <p:cNvSpPr/>
          <p:nvPr/>
        </p:nvSpPr>
        <p:spPr>
          <a:xfrm>
            <a:off x="3374136"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42816"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en.png"/>
          <p:cNvPicPr>
            <a:picLocks noChangeAspect="1"/>
          </p:cNvPicPr>
          <p:nvPr/>
        </p:nvPicPr>
        <p:blipFill>
          <a:blip r:embed="rId3"/>
          <a:stretch>
            <a:fillRect/>
          </a:stretch>
        </p:blipFill>
        <p:spPr>
          <a:xfrm>
            <a:off x="4379976" y="2221992"/>
            <a:ext cx="384048" cy="384048"/>
          </a:xfrm>
          <a:prstGeom prst="rect">
            <a:avLst/>
          </a:prstGeom>
        </p:spPr>
      </p:pic>
      <p:sp>
        <p:nvSpPr>
          <p:cNvPr id="15" name="TextBox 14"/>
          <p:cNvSpPr txBox="1"/>
          <p:nvPr/>
        </p:nvSpPr>
        <p:spPr>
          <a:xfrm>
            <a:off x="3502152"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Answer together</a:t>
            </a:r>
          </a:p>
        </p:txBody>
      </p:sp>
      <p:sp>
        <p:nvSpPr>
          <p:cNvPr id="16" name="TextBox 15"/>
          <p:cNvSpPr txBox="1"/>
          <p:nvPr/>
        </p:nvSpPr>
        <p:spPr>
          <a:xfrm>
            <a:off x="3538728"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Each question goes up on the board. Agree an answer, then write it down.</a:t>
            </a:r>
          </a:p>
        </p:txBody>
      </p:sp>
      <p:sp>
        <p:nvSpPr>
          <p:cNvPr id="17" name="Rectangle 16"/>
          <p:cNvSpPr/>
          <p:nvPr/>
        </p:nvSpPr>
        <p:spPr>
          <a:xfrm>
            <a:off x="6062472"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31151"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wap.png"/>
          <p:cNvPicPr>
            <a:picLocks noChangeAspect="1"/>
          </p:cNvPicPr>
          <p:nvPr/>
        </p:nvPicPr>
        <p:blipFill>
          <a:blip r:embed="rId4"/>
          <a:stretch>
            <a:fillRect/>
          </a:stretch>
        </p:blipFill>
        <p:spPr>
          <a:xfrm>
            <a:off x="7068312" y="2221992"/>
            <a:ext cx="384048" cy="384048"/>
          </a:xfrm>
          <a:prstGeom prst="rect">
            <a:avLst/>
          </a:prstGeom>
        </p:spPr>
      </p:pic>
      <p:sp>
        <p:nvSpPr>
          <p:cNvPr id="20" name="TextBox 19"/>
          <p:cNvSpPr txBox="1"/>
          <p:nvPr/>
        </p:nvSpPr>
        <p:spPr>
          <a:xfrm>
            <a:off x="6190488"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Swap and mark</a:t>
            </a:r>
          </a:p>
        </p:txBody>
      </p:sp>
      <p:sp>
        <p:nvSpPr>
          <p:cNvPr id="21" name="TextBox 20"/>
          <p:cNvSpPr txBox="1"/>
          <p:nvPr/>
        </p:nvSpPr>
        <p:spPr>
          <a:xfrm>
            <a:off x="6227064"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Swap sheets with the team next to you, then the answers go up one at a time.</a:t>
            </a:r>
          </a:p>
        </p:txBody>
      </p:sp>
      <p:sp>
        <p:nvSpPr>
          <p:cNvPr id="22" name="TextBox 21"/>
          <p:cNvSpPr txBox="1"/>
          <p:nvPr/>
        </p:nvSpPr>
        <p:spPr>
          <a:xfrm>
            <a:off x="685800" y="4078224"/>
            <a:ext cx="7772400" cy="310896"/>
          </a:xfrm>
          <a:prstGeom prst="rect">
            <a:avLst/>
          </a:prstGeom>
          <a:noFill/>
        </p:spPr>
        <p:txBody>
          <a:bodyPr wrap="square" anchor="t" lIns="0" rIns="0" tIns="0" bIns="0">
            <a:spAutoFit/>
          </a:bodyPr>
          <a:lstStyle/>
          <a:p>
            <a:pPr algn="ctr">
              <a:lnSpc>
                <a:spcPct val="125000"/>
              </a:lnSpc>
              <a:spcAft>
                <a:spcPts val="0"/>
              </a:spcAft>
            </a:pPr>
            <a:r>
              <a:rPr sz="1050" b="0" i="0">
                <a:solidFill>
                  <a:srgbClr val="8B9179"/>
                </a:solidFill>
                <a:latin typeface="Calibri"/>
              </a:rPr>
              <a:t>Needs: one answer sheet per team, from the resource pack.</a:t>
            </a:r>
          </a:p>
        </p:txBody>
      </p:sp>
      <p:pic>
        <p:nvPicPr>
          <p:cNvPr id="23" name="Picture 22" descr="logo-mark.png"/>
          <p:cNvPicPr>
            <a:picLocks noChangeAspect="1"/>
          </p:cNvPicPr>
          <p:nvPr/>
        </p:nvPicPr>
        <p:blipFill>
          <a:blip r:embed="rId5"/>
          <a:stretch>
            <a:fillRect/>
          </a:stretch>
        </p:blipFill>
        <p:spPr>
          <a:xfrm>
            <a:off x="384048" y="4727448"/>
            <a:ext cx="158374" cy="182880"/>
          </a:xfrm>
          <a:prstGeom prst="rect">
            <a:avLst/>
          </a:prstGeom>
        </p:spPr>
      </p:pic>
      <p:sp>
        <p:nvSpPr>
          <p:cNvPr id="24" name="TextBox 23"/>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5" name="TextBox 24"/>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 /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68281" y="914400"/>
            <a:ext cx="1207436"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ROUND ONE</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Healthy habits</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Six questions. Some are fact or myth, and some give you three options to choose from.</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1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How much sleep do most teenagers need a night?</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6 to 7 hours</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8 to 10 hours</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11 to 12 hours</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2 OF 10</a:t>
            </a:r>
          </a:p>
        </p:txBody>
      </p:sp>
      <p:sp>
        <p:nvSpPr>
          <p:cNvPr id="4" name="Rounded Rectangle 3"/>
          <p:cNvSpPr/>
          <p:nvPr/>
        </p:nvSpPr>
        <p:spPr>
          <a:xfrm>
            <a:off x="685800" y="841248"/>
            <a:ext cx="7772400" cy="171907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2</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Your body clock shifts later when you are a teenager, so feeling wide awake late at night is normal.</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3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3</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Cracking your knuckles gives you arthritis.</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4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4</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How long should you brush your teeth for?</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30 seconds</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Two minutes</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Five minutes</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5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5</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Eating carrots lets you see in the dark.</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6 OF 10</a:t>
            </a:r>
          </a:p>
        </p:txBody>
      </p:sp>
      <p:sp>
        <p:nvSpPr>
          <p:cNvPr id="4" name="Rounded Rectangle 3"/>
          <p:cNvSpPr/>
          <p:nvPr/>
        </p:nvSpPr>
        <p:spPr>
          <a:xfrm>
            <a:off x="685800" y="841248"/>
            <a:ext cx="7772400" cy="171907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6</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Your brain keeps working on what you learned that day while you sleep.</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52258" y="914400"/>
            <a:ext cx="1239483"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ROUND TWO</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General knowledge</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Four questions to finish. Some have options, and some you will have to write out in full.</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7 OF 10</a:t>
            </a:r>
          </a:p>
        </p:txBody>
      </p:sp>
      <p:sp>
        <p:nvSpPr>
          <p:cNvPr id="4" name="Rounded Rectangle 3"/>
          <p:cNvSpPr/>
          <p:nvPr/>
        </p:nvSpPr>
        <p:spPr>
          <a:xfrm>
            <a:off x="685800" y="1170432"/>
            <a:ext cx="7772400" cy="11887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1704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7</a:t>
            </a:r>
          </a:p>
        </p:txBody>
      </p:sp>
      <p:sp>
        <p:nvSpPr>
          <p:cNvPr id="8" name="TextBox 7"/>
          <p:cNvSpPr txBox="1"/>
          <p:nvPr/>
        </p:nvSpPr>
        <p:spPr>
          <a:xfrm>
            <a:off x="1783080" y="1575816"/>
            <a:ext cx="6309360" cy="377952"/>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What is the largest ocean on Earth?</a:t>
            </a:r>
          </a:p>
        </p:txBody>
      </p:sp>
      <p:sp>
        <p:nvSpPr>
          <p:cNvPr id="9" name="Rectangle 8"/>
          <p:cNvSpPr/>
          <p:nvPr/>
        </p:nvSpPr>
        <p:spPr>
          <a:xfrm>
            <a:off x="1965960" y="32918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4381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8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8</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How many sides does a hexagon have?</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Five</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Six</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Eight</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9 OF 10</a:t>
            </a:r>
          </a:p>
        </p:txBody>
      </p:sp>
      <p:sp>
        <p:nvSpPr>
          <p:cNvPr id="4" name="Rounded Rectangle 3"/>
          <p:cNvSpPr/>
          <p:nvPr/>
        </p:nvSpPr>
        <p:spPr>
          <a:xfrm>
            <a:off x="685800" y="1094232"/>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942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9</a:t>
            </a:r>
          </a:p>
        </p:txBody>
      </p:sp>
      <p:sp>
        <p:nvSpPr>
          <p:cNvPr id="8" name="TextBox 7"/>
          <p:cNvSpPr txBox="1"/>
          <p:nvPr/>
        </p:nvSpPr>
        <p:spPr>
          <a:xfrm>
            <a:off x="1783080" y="1386840"/>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Which country’s flag is a red circle on a white background?</a:t>
            </a:r>
          </a:p>
        </p:txBody>
      </p:sp>
      <p:sp>
        <p:nvSpPr>
          <p:cNvPr id="9" name="Rectangle 8"/>
          <p:cNvSpPr/>
          <p:nvPr/>
        </p:nvSpPr>
        <p:spPr>
          <a:xfrm>
            <a:off x="1965960" y="33680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143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10 OF 10</a:t>
            </a:r>
          </a:p>
        </p:txBody>
      </p:sp>
      <p:sp>
        <p:nvSpPr>
          <p:cNvPr id="4" name="Rounded Rectangle 3"/>
          <p:cNvSpPr/>
          <p:nvPr/>
        </p:nvSpPr>
        <p:spPr>
          <a:xfrm>
            <a:off x="685800" y="1094232"/>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942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10</a:t>
            </a:r>
          </a:p>
        </p:txBody>
      </p:sp>
      <p:sp>
        <p:nvSpPr>
          <p:cNvPr id="8" name="TextBox 7"/>
          <p:cNvSpPr txBox="1"/>
          <p:nvPr/>
        </p:nvSpPr>
        <p:spPr>
          <a:xfrm>
            <a:off x="1783080" y="1386840"/>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Which planet is known as the Red Planet?</a:t>
            </a:r>
          </a:p>
        </p:txBody>
      </p:sp>
      <p:sp>
        <p:nvSpPr>
          <p:cNvPr id="9" name="Rectangle 8"/>
          <p:cNvSpPr/>
          <p:nvPr/>
        </p:nvSpPr>
        <p:spPr>
          <a:xfrm>
            <a:off x="1965960" y="33680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143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049462" y="914400"/>
            <a:ext cx="1045075"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ANSWERS</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Swap sheets</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Swap with the team next to you. Give one mark for each right answer, then add up the score out of ten.</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1</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How much sleep do most teenagers need a night?</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B.  8 to 10 hours</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Most health services put it at eight to ten hours. Most teenagers get less than that on a school night.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2</a:t>
            </a:r>
          </a:p>
        </p:txBody>
      </p:sp>
      <p:sp>
        <p:nvSpPr>
          <p:cNvPr id="4" name="TextBox 3"/>
          <p:cNvSpPr txBox="1"/>
          <p:nvPr/>
        </p:nvSpPr>
        <p:spPr>
          <a:xfrm>
            <a:off x="685800" y="1393190"/>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Your body clock shifts later when you are a teenager, so feeling wide awake late at night is normal.</a:t>
            </a:r>
          </a:p>
        </p:txBody>
      </p:sp>
      <p:sp>
        <p:nvSpPr>
          <p:cNvPr id="5" name="TextBox 4"/>
          <p:cNvSpPr txBox="1"/>
          <p:nvPr/>
        </p:nvSpPr>
        <p:spPr>
          <a:xfrm>
            <a:off x="685800" y="2020570"/>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Fact</a:t>
            </a:r>
          </a:p>
        </p:txBody>
      </p:sp>
      <p:sp>
        <p:nvSpPr>
          <p:cNvPr id="6" name="Rounded Rectangle 5"/>
          <p:cNvSpPr/>
          <p:nvPr/>
        </p:nvSpPr>
        <p:spPr>
          <a:xfrm>
            <a:off x="685800" y="2806954"/>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06954"/>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44698"/>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hormone that makes you sleepy arrives later in the evening during the teenage years. It is biology, not laziness.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3</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Cracking your knuckles gives you arthritis.</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Myth</a:t>
            </a:r>
          </a:p>
        </p:txBody>
      </p:sp>
      <p:sp>
        <p:nvSpPr>
          <p:cNvPr id="6" name="Rounded Rectangle 5"/>
          <p:cNvSpPr/>
          <p:nvPr/>
        </p:nvSpPr>
        <p:spPr>
          <a:xfrm>
            <a:off x="685800" y="2561717"/>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Studies comparing people who crack their knuckles with people who never do have found no link. The pop is a bubble of gas in the fluid around the joint.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4</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How long should you brush your teeth for?</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B.  Two minutes</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Dentists recommend about two minutes, twice a day. Most people stop well before that.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5</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Eating carrots lets you see in the dark.</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Myth</a:t>
            </a:r>
          </a:p>
        </p:txBody>
      </p:sp>
      <p:sp>
        <p:nvSpPr>
          <p:cNvPr id="6" name="Rounded Rectangle 5"/>
          <p:cNvSpPr/>
          <p:nvPr/>
        </p:nvSpPr>
        <p:spPr>
          <a:xfrm>
            <a:off x="685800" y="2561717"/>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story was spread in the Second World War to hide the fact that British pilots were using radar. Carrots are good for your eyes, but they will not give you night vision.</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6</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Your brain keeps working on what you learned that day while you sleep.</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Fact</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Sleep is when the brain sorts and stores the day’s memories, which is why a good night’s sleep matters so much before a test.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7</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What is the largest ocean on Earth?</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The Pacific</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covers about a third of the planet, more than all the land put together.</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8</a:t>
            </a:r>
          </a:p>
        </p:txBody>
      </p:sp>
      <p:sp>
        <p:nvSpPr>
          <p:cNvPr id="4" name="TextBox 3"/>
          <p:cNvSpPr txBox="1"/>
          <p:nvPr/>
        </p:nvSpPr>
        <p:spPr>
          <a:xfrm>
            <a:off x="685800" y="1638427"/>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How many sides does a hexagon have?</a:t>
            </a:r>
          </a:p>
        </p:txBody>
      </p:sp>
      <p:sp>
        <p:nvSpPr>
          <p:cNvPr id="5" name="TextBox 4"/>
          <p:cNvSpPr txBox="1"/>
          <p:nvPr/>
        </p:nvSpPr>
        <p:spPr>
          <a:xfrm>
            <a:off x="685800" y="2043557"/>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B.  Six</a:t>
            </a:r>
          </a:p>
        </p:txBody>
      </p:sp>
      <p:sp>
        <p:nvSpPr>
          <p:cNvPr id="6" name="Rounded Rectangle 5"/>
          <p:cNvSpPr/>
          <p:nvPr/>
        </p:nvSpPr>
        <p:spPr>
          <a:xfrm>
            <a:off x="685800" y="2829941"/>
            <a:ext cx="7772400" cy="74371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29941"/>
            <a:ext cx="64008" cy="74371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67685"/>
            <a:ext cx="7040880" cy="268224"/>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Hex means six. Bees build their honeycomb out of hexagons.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9</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Which country’s flag is a red circle on a white background?</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Japan</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red circle stands for the sun. Japan’s name in Japanese means where the sun comes from.</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10</a:t>
            </a:r>
          </a:p>
        </p:txBody>
      </p:sp>
      <p:sp>
        <p:nvSpPr>
          <p:cNvPr id="4" name="TextBox 3"/>
          <p:cNvSpPr txBox="1"/>
          <p:nvPr/>
        </p:nvSpPr>
        <p:spPr>
          <a:xfrm>
            <a:off x="685800" y="1638427"/>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Which planet is known as the Red Planet?</a:t>
            </a:r>
          </a:p>
        </p:txBody>
      </p:sp>
      <p:sp>
        <p:nvSpPr>
          <p:cNvPr id="5" name="TextBox 4"/>
          <p:cNvSpPr txBox="1"/>
          <p:nvPr/>
        </p:nvSpPr>
        <p:spPr>
          <a:xfrm>
            <a:off x="685800" y="2043557"/>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Mars</a:t>
            </a:r>
          </a:p>
        </p:txBody>
      </p:sp>
      <p:sp>
        <p:nvSpPr>
          <p:cNvPr id="6" name="Rounded Rectangle 5"/>
          <p:cNvSpPr/>
          <p:nvPr/>
        </p:nvSpPr>
        <p:spPr>
          <a:xfrm>
            <a:off x="685800" y="2829941"/>
            <a:ext cx="7772400" cy="74371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29941"/>
            <a:ext cx="64008" cy="74371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67685"/>
            <a:ext cx="7040880" cy="268224"/>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red comes from iron in its soil, which has rusted.</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974F16"/>
                </a:solidFill>
                <a:latin typeface="Calibri"/>
              </a:rPr>
              <a:t>THE FORM TIME QUIZ  ·  VOLUME ONE</a:t>
            </a:r>
          </a:p>
        </p:txBody>
      </p:sp>
      <p:pic>
        <p:nvPicPr>
          <p:cNvPr id="4" name="Picture 3" descr="logo-mark.png"/>
          <p:cNvPicPr>
            <a:picLocks noChangeAspect="1"/>
          </p:cNvPicPr>
          <p:nvPr/>
        </p:nvPicPr>
        <p:blipFill>
          <a:blip r:embed="rId2"/>
          <a:stretch>
            <a:fillRect/>
          </a:stretch>
        </p:blipFill>
        <p:spPr>
          <a:xfrm>
            <a:off x="4255251" y="822960"/>
            <a:ext cx="633496" cy="731520"/>
          </a:xfrm>
          <a:prstGeom prst="rect">
            <a:avLst/>
          </a:prstGeom>
        </p:spPr>
      </p:pic>
      <p:sp>
        <p:nvSpPr>
          <p:cNvPr id="5" name="TextBox 4"/>
          <p:cNvSpPr txBox="1"/>
          <p:nvPr/>
        </p:nvSpPr>
        <p:spPr>
          <a:xfrm>
            <a:off x="548640" y="1755648"/>
            <a:ext cx="8046720" cy="640080"/>
          </a:xfrm>
          <a:prstGeom prst="rect">
            <a:avLst/>
          </a:prstGeom>
          <a:noFill/>
        </p:spPr>
        <p:txBody>
          <a:bodyPr wrap="square" anchor="t" lIns="0" rIns="0" tIns="0" bIns="0">
            <a:spAutoFit/>
          </a:bodyPr>
          <a:lstStyle/>
          <a:p>
            <a:pPr algn="ctr">
              <a:lnSpc>
                <a:spcPct val="105000"/>
              </a:lnSpc>
              <a:spcAft>
                <a:spcPts val="0"/>
              </a:spcAft>
            </a:pPr>
            <a:r>
              <a:rPr sz="3200" b="0" i="0">
                <a:solidFill>
                  <a:srgbClr val="974F16"/>
                </a:solidFill>
                <a:latin typeface="Georgia"/>
              </a:rPr>
              <a:t>Scores back to their owners</a:t>
            </a:r>
          </a:p>
        </p:txBody>
      </p:sp>
      <p:sp>
        <p:nvSpPr>
          <p:cNvPr id="6" name="TextBox 5"/>
          <p:cNvSpPr txBox="1"/>
          <p:nvPr/>
        </p:nvSpPr>
        <p:spPr>
          <a:xfrm>
            <a:off x="1188720" y="2560320"/>
            <a:ext cx="6766560" cy="822960"/>
          </a:xfrm>
          <a:prstGeom prst="rect">
            <a:avLst/>
          </a:prstGeom>
          <a:noFill/>
        </p:spPr>
        <p:txBody>
          <a:bodyPr wrap="square" anchor="t" lIns="0" rIns="0" tIns="0" bIns="0">
            <a:spAutoFit/>
          </a:bodyPr>
          <a:lstStyle/>
          <a:p>
            <a:pPr algn="ctr">
              <a:lnSpc>
                <a:spcPct val="130000"/>
              </a:lnSpc>
              <a:spcAft>
                <a:spcPts val="0"/>
              </a:spcAft>
            </a:pPr>
            <a:r>
              <a:rPr sz="1500" b="0" i="0">
                <a:solidFill>
                  <a:srgbClr val="5C6552"/>
                </a:solidFill>
                <a:latin typeface="Calibri"/>
              </a:rPr>
              <a:t>Hands up if you got ten. Then hands up if one of the answers surprised you, and tell us which.</a:t>
            </a:r>
          </a:p>
        </p:txBody>
      </p:sp>
      <p:sp>
        <p:nvSpPr>
          <p:cNvPr id="7" name="TextBox 6"/>
          <p:cNvSpPr txBox="1"/>
          <p:nvPr/>
        </p:nvSpPr>
        <p:spPr>
          <a:xfrm>
            <a:off x="731520" y="3639312"/>
            <a:ext cx="7680960" cy="36576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Volume Two is available now at thepastoralguide.com.</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FOR THE TEACHER  ·  ADD YOUR OWN</a:t>
            </a:r>
          </a:p>
        </p:txBody>
      </p:sp>
      <p:sp>
        <p:nvSpPr>
          <p:cNvPr id="4" name="Rounded Rectangle 3"/>
          <p:cNvSpPr/>
          <p:nvPr/>
        </p:nvSpPr>
        <p:spPr>
          <a:xfrm>
            <a:off x="685800" y="841248"/>
            <a:ext cx="7772400" cy="11887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133856"/>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261872"/>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a:t>
            </a:r>
          </a:p>
        </p:txBody>
      </p:sp>
      <p:sp>
        <p:nvSpPr>
          <p:cNvPr id="8" name="TextBox 7"/>
          <p:cNvSpPr txBox="1"/>
          <p:nvPr/>
        </p:nvSpPr>
        <p:spPr>
          <a:xfrm>
            <a:off x="1783080" y="1246632"/>
            <a:ext cx="6309360" cy="377952"/>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 Type your own question here ]</a:t>
            </a:r>
          </a:p>
        </p:txBody>
      </p:sp>
      <p:sp>
        <p:nvSpPr>
          <p:cNvPr id="9" name="TextBox 8"/>
          <p:cNvSpPr txBox="1"/>
          <p:nvPr/>
        </p:nvSpPr>
        <p:spPr>
          <a:xfrm>
            <a:off x="685800" y="2432304"/>
            <a:ext cx="7772400" cy="128016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Add your own questions here: something from assembly, a date coming up, or a question about your own school.</a:t>
            </a:r>
          </a:p>
          <a:p>
            <a:pPr algn="l">
              <a:lnSpc>
                <a:spcPct val="130000"/>
              </a:lnSpc>
              <a:spcBef>
                <a:spcPts val="800"/>
              </a:spcBef>
              <a:spcAft>
                <a:spcPts val="0"/>
              </a:spcAft>
            </a:pPr>
            <a:r>
              <a:rPr sz="1250" b="0" i="0">
                <a:solidFill>
                  <a:srgbClr val="5C6552"/>
                </a:solidFill>
                <a:latin typeface="Calibri"/>
              </a:rPr>
              <a:t>Duplicate this slide for each one and drag it in after question 10. There are two spare rows on the answer sheet for them.</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FOR THE TEACHER  ·  ADD YOUR OWN</a:t>
            </a:r>
          </a:p>
        </p:txBody>
      </p:sp>
      <p:sp>
        <p:nvSpPr>
          <p:cNvPr id="4" name="TextBox 3"/>
          <p:cNvSpPr txBox="1"/>
          <p:nvPr/>
        </p:nvSpPr>
        <p:spPr>
          <a:xfrm>
            <a:off x="685800" y="731520"/>
            <a:ext cx="7772400" cy="310896"/>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 Your question again, so the room remembers it ]</a:t>
            </a:r>
          </a:p>
        </p:txBody>
      </p:sp>
      <p:sp>
        <p:nvSpPr>
          <p:cNvPr id="5" name="TextBox 4"/>
          <p:cNvSpPr txBox="1"/>
          <p:nvPr/>
        </p:nvSpPr>
        <p:spPr>
          <a:xfrm>
            <a:off x="685800" y="1225296"/>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 The answer ]</a:t>
            </a:r>
          </a:p>
        </p:txBody>
      </p:sp>
      <p:sp>
        <p:nvSpPr>
          <p:cNvPr id="6" name="Rounded Rectangle 5"/>
          <p:cNvSpPr/>
          <p:nvPr/>
        </p:nvSpPr>
        <p:spPr>
          <a:xfrm>
            <a:off x="685800" y="2011680"/>
            <a:ext cx="7772400" cy="932688"/>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11680"/>
            <a:ext cx="64008" cy="932688"/>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49424"/>
            <a:ext cx="7040880" cy="457200"/>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 One line on why, if there is something worth knowing ]</a:t>
            </a:r>
          </a:p>
        </p:txBody>
      </p:sp>
      <p:sp>
        <p:nvSpPr>
          <p:cNvPr id="9" name="TextBox 8"/>
          <p:cNvSpPr txBox="1"/>
          <p:nvPr/>
        </p:nvSpPr>
        <p:spPr>
          <a:xfrm>
            <a:off x="685800" y="3218688"/>
            <a:ext cx="7772400" cy="73152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Duplicate this slide for each of your own questions and drag it in after the answer to question 10.</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