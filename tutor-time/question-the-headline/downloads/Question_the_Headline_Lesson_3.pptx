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Series</c:v>
                </c:pt>
              </c:strCache>
            </c:strRef>
          </c:tx>
          <c:spPr>
            <a:solidFill>
              <a:srgbClr val="34322F"/>
            </a:solidFill>
          </c:spPr>
          <c:dLbls>
            <c:dLbl>
              <c:idx val="0"/>
              <c:tx>
                <c:rich>
                  <a:bodyPr/>
                  <a:lstStyle/>
                  <a:p>
                    <a:r>
                      <a:rPr sz="1200" b="1">
                        <a:solidFill>
                          <a:srgbClr val="262422"/>
                        </a:solidFill>
                        <a:latin typeface="Calibri"/>
                      </a:rPr>
                      <a:t>0.07</a:t>
                    </a:r>
                  </a:p>
                </c:rich>
              </c:tx>
              <c:dLblPos val="outEnd"/>
              <c:showLegendKey val="0"/>
              <c:showVal val="1"/>
              <c:showCatName val="0"/>
              <c:showSerName val="0"/>
              <c:showPercent val="0"/>
              <c:showBubbleSize val="0"/>
            </c:dLbl>
            <c:dLbl>
              <c:idx val="1"/>
              <c:tx>
                <c:rich>
                  <a:bodyPr/>
                  <a:lstStyle/>
                  <a:p>
                    <a:r>
                      <a:rPr sz="1200" b="1">
                        <a:solidFill>
                          <a:srgbClr val="262422"/>
                        </a:solidFill>
                        <a:latin typeface="Calibri"/>
                      </a:rPr>
                      <a:t>0.57</a:t>
                    </a:r>
                  </a:p>
                </c:rich>
              </c:tx>
              <c:dLblPos val="outEnd"/>
              <c:showLegendKey val="0"/>
              <c:showVal val="1"/>
              <c:showCatName val="0"/>
              <c:showSerName val="0"/>
              <c:showPercent val="0"/>
              <c:showBubbleSize val="0"/>
            </c:dLbl>
            <c:dLbl>
              <c:idx val="2"/>
              <c:tx>
                <c:rich>
                  <a:bodyPr/>
                  <a:lstStyle/>
                  <a:p>
                    <a:r>
                      <a:rPr sz="1200" b="1">
                        <a:solidFill>
                          <a:srgbClr val="262422"/>
                        </a:solidFill>
                        <a:latin typeface="Calibri"/>
                      </a:rPr>
                      <a:t>1.39</a:t>
                    </a:r>
                  </a:p>
                </c:rich>
              </c:tx>
              <c:dLblPos val="outEnd"/>
              <c:showLegendKey val="0"/>
              <c:showVal val="1"/>
              <c:showCatName val="0"/>
              <c:showSerName val="0"/>
              <c:showPercent val="0"/>
              <c:showBubbleSize val="0"/>
            </c:dLbl>
            <c:dLbl>
              <c:idx val="3"/>
              <c:tx>
                <c:rich>
                  <a:bodyPr/>
                  <a:lstStyle/>
                  <a:p>
                    <a:r>
                      <a:rPr sz="1200" b="1">
                        <a:solidFill>
                          <a:srgbClr val="262422"/>
                        </a:solidFill>
                        <a:latin typeface="Calibri"/>
                      </a:rPr>
                      <a:t>2.27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None</c:v>
                </c:pt>
                <c:pt idx="1">
                  <c:v>1 to 14</c:v>
                </c:pt>
                <c:pt idx="2">
                  <c:v>15 to 24</c:v>
                </c:pt>
                <c:pt idx="3">
                  <c:v>25 or more</c:v>
                </c:pt>
              </c:strCache>
            </c:strRef>
          </c:cat>
          <c:val>
            <c:numRef>
              <c:f>Sheet1!$B$2:$B$5</c:f>
              <c:numCache>
                <c:formatCode>General</c:formatCode>
                <c:ptCount val="4"/>
                <c:pt idx="0">
                  <c:v>0.07</c:v>
                </c:pt>
                <c:pt idx="1">
                  <c:v>0.57</c:v>
                </c:pt>
                <c:pt idx="2">
                  <c:v>1.39</c:v>
                </c:pt>
                <c:pt idx="3">
                  <c:v>2.27</c:v>
                </c:pt>
              </c:numCache>
            </c:numRef>
          </c:val>
        </c:ser>
        <c:dLbls>
          <c:txPr>
            <a:bodyPr/>
            <a:lstStyle/>
            <a:p>
              <a:pPr>
                <a:defRPr sz="1200" b="1">
                  <a:solidFill>
                    <a:srgbClr val="262422"/>
                  </a:solidFill>
                  <a:latin typeface="Calibri"/>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title>
          <c:tx>
            <c:rich>
              <a:bodyPr/>
              <a:lstStyle/>
              <a:p>
                <a:r>
                  <a:rPr sz="1000" b="0" i="1">
                    <a:solidFill>
                      <a:srgbClr val="56524B"/>
                    </a:solidFill>
                    <a:latin typeface="Calibri"/>
                  </a:rPr>
                  <a:t>Cigarettes smoked a day</a:t>
                </a:r>
              </a:p>
            </c:rich>
          </c:tx>
          <c:layout/>
          <c:overlay val="0"/>
        </c:title>
        <c:majorTickMark val="out"/>
        <c:minorTickMark val="none"/>
        <c:tickLblPos val="nextTo"/>
        <c:spPr>
          <a:ln>
            <a:solidFill>
              <a:srgbClr val="8C877D"/>
            </a:solidFill>
          </a:ln>
        </c:spPr>
        <c:txPr>
          <a:bodyPr/>
          <a:lstStyle/>
          <a:p>
            <a:pPr>
              <a:defRPr sz="1100">
                <a:solidFill>
                  <a:srgbClr val="262422"/>
                </a:solidFill>
                <a:latin typeface="Calibri"/>
              </a:defRPr>
            </a:pPr>
          </a:p>
        </c:txPr>
        <c:crossAx val="-2113994440"/>
        <c:crosses val="autoZero"/>
        <c:auto val="1"/>
        <c:lblAlgn val="ctr"/>
        <c:lblOffset val="100"/>
        <c:noMultiLvlLbl val="0"/>
      </c:catAx>
      <c:valAx>
        <c:axId val="-2113994440"/>
        <c:scaling>
          <c:max val="2.7694"/>
          <c:min val="0.0"/>
        </c:scaling>
        <c:delete/>
        <c:axPos val="l"/>
        <c:majorTickMark val="out"/>
        <c:minorTickMark val="none"/>
        <c:tickLblPos val="nextTo"/>
        <c:crossAx val="-2068027336"/>
        <c:crosses val="autoZero"/>
      </c:valAx>
    </c:plotArea>
    <c:dispBlanksAs val="gap"/>
  </c:chart>
  <c:txPr>
    <a:bodyPr/>
    <a:lstStyle/>
    <a:p>
      <a:pPr>
        <a:defRPr sz="1100">
          <a:solidFill>
            <a:srgbClr val="262422"/>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34322F"/>
                </a:solidFill>
                <a:latin typeface="Calibri"/>
              </a:rPr>
              <a:t>TUTOR TIME  ·  QUESTION THE HEADLINE  ·  LESSON 3 OF 5</a:t>
            </a:r>
          </a:p>
        </p:txBody>
      </p:sp>
      <p:sp>
        <p:nvSpPr>
          <p:cNvPr id="4" name="Rectangle 3"/>
          <p:cNvSpPr/>
          <p:nvPr/>
        </p:nvSpPr>
        <p:spPr>
          <a:xfrm>
            <a:off x="685800" y="621792"/>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85800" y="658368"/>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6" name="Rectangle 5"/>
          <p:cNvSpPr/>
          <p:nvPr/>
        </p:nvSpPr>
        <p:spPr>
          <a:xfrm>
            <a:off x="685800" y="1170432"/>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1207007"/>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NEW YORK, 1946</a:t>
            </a:r>
          </a:p>
        </p:txBody>
      </p:sp>
      <p:sp>
        <p:nvSpPr>
          <p:cNvPr id="8" name="TextBox 7"/>
          <p:cNvSpPr txBox="1"/>
          <p:nvPr/>
        </p:nvSpPr>
        <p:spPr>
          <a:xfrm>
            <a:off x="3108960" y="1207007"/>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9" name="TextBox 8"/>
          <p:cNvSpPr txBox="1"/>
          <p:nvPr/>
        </p:nvSpPr>
        <p:spPr>
          <a:xfrm>
            <a:off x="5532120" y="1207007"/>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TUTOR TIME</a:t>
            </a:r>
          </a:p>
        </p:txBody>
      </p:sp>
      <p:sp>
        <p:nvSpPr>
          <p:cNvPr id="10" name="Rectangle 9"/>
          <p:cNvSpPr/>
          <p:nvPr/>
        </p:nvSpPr>
        <p:spPr>
          <a:xfrm>
            <a:off x="685800" y="1426464"/>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48640" y="1810512"/>
            <a:ext cx="8046720" cy="731520"/>
          </a:xfrm>
          <a:prstGeom prst="rect">
            <a:avLst/>
          </a:prstGeom>
          <a:noFill/>
          <a:effectLst/>
        </p:spPr>
        <p:txBody>
          <a:bodyPr wrap="square" anchor="t" lIns="0" rIns="0" tIns="0" bIns="0">
            <a:spAutoFit/>
          </a:bodyPr>
          <a:lstStyle/>
          <a:p>
            <a:pPr algn="ctr">
              <a:lnSpc>
                <a:spcPct val="100000"/>
              </a:lnSpc>
              <a:spcAft>
                <a:spcPts val="0"/>
              </a:spcAft>
            </a:pPr>
            <a:r>
              <a:rPr sz="4200" b="0" i="0">
                <a:solidFill>
                  <a:srgbClr val="262422"/>
                </a:solidFill>
                <a:latin typeface="Georgia"/>
              </a:rPr>
              <a:t>Doctors’ Orders</a:t>
            </a:r>
          </a:p>
        </p:txBody>
      </p:sp>
      <p:sp>
        <p:nvSpPr>
          <p:cNvPr id="12" name="Rectangle 11"/>
          <p:cNvSpPr/>
          <p:nvPr/>
        </p:nvSpPr>
        <p:spPr>
          <a:xfrm>
            <a:off x="4069080" y="2761488"/>
            <a:ext cx="1005840" cy="18288"/>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22960" y="2944368"/>
            <a:ext cx="7498079" cy="365760"/>
          </a:xfrm>
          <a:prstGeom prst="rect">
            <a:avLst/>
          </a:prstGeom>
          <a:noFill/>
          <a:effectLst/>
        </p:spPr>
        <p:txBody>
          <a:bodyPr wrap="square" anchor="t" lIns="0" rIns="0" tIns="0" bIns="0">
            <a:spAutoFit/>
          </a:bodyPr>
          <a:lstStyle/>
          <a:p>
            <a:pPr algn="ctr">
              <a:lnSpc>
                <a:spcPct val="125000"/>
              </a:lnSpc>
              <a:spcAft>
                <a:spcPts val="0"/>
              </a:spcAft>
            </a:pPr>
            <a:r>
              <a:rPr sz="1600" b="0" i="0">
                <a:solidFill>
                  <a:srgbClr val="56524B"/>
                </a:solidFill>
                <a:latin typeface="Calibri"/>
              </a:rPr>
              <a:t>A claim that was printed as true, and four pieces of evidence to test it.</a:t>
            </a:r>
          </a:p>
        </p:txBody>
      </p:sp>
      <p:sp>
        <p:nvSpPr>
          <p:cNvPr id="14" name="Rounded Rectangle 13"/>
          <p:cNvSpPr/>
          <p:nvPr/>
        </p:nvSpPr>
        <p:spPr>
          <a:xfrm>
            <a:off x="3928051" y="3584448"/>
            <a:ext cx="1287897"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VOLUME ONE</a:t>
            </a:r>
          </a:p>
        </p:txBody>
      </p:sp>
      <p:pic>
        <p:nvPicPr>
          <p:cNvPr id="15" name="Picture 1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6" name="TextBox 1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7" name="TextBox 1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269682"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TEACHER SLIDE  ·  SKIP IT</a:t>
            </a:r>
          </a:p>
        </p:txBody>
      </p:sp>
      <p:sp>
        <p:nvSpPr>
          <p:cNvPr id="4" name="TextBox 3"/>
          <p:cNvSpPr txBox="1"/>
          <p:nvPr/>
        </p:nvSpPr>
        <p:spPr>
          <a:xfrm>
            <a:off x="685800" y="65836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Before the lesson</a:t>
            </a:r>
          </a:p>
        </p:txBody>
      </p:sp>
      <p:sp>
        <p:nvSpPr>
          <p:cNvPr id="5" name="TextBox 4"/>
          <p:cNvSpPr txBox="1"/>
          <p:nvPr/>
        </p:nvSpPr>
        <p:spPr>
          <a:xfrm>
            <a:off x="685800" y="1188720"/>
            <a:ext cx="7772400" cy="420624"/>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This lesson is about how adverts used doctors to sell cigarettes, and the study that tested the claim.</a:t>
            </a:r>
          </a:p>
        </p:txBody>
      </p:sp>
      <p:sp>
        <p:nvSpPr>
          <p:cNvPr id="6" name="Rectangle 5"/>
          <p:cNvSpPr/>
          <p:nvPr/>
        </p:nvSpPr>
        <p:spPr>
          <a:xfrm>
            <a:off x="685800" y="1682496"/>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68680" y="1783080"/>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868680" y="1865376"/>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1</a:t>
            </a:r>
          </a:p>
        </p:txBody>
      </p:sp>
      <p:sp>
        <p:nvSpPr>
          <p:cNvPr id="9" name="TextBox 8"/>
          <p:cNvSpPr txBox="1"/>
          <p:nvPr/>
        </p:nvSpPr>
        <p:spPr>
          <a:xfrm>
            <a:off x="1399032" y="1764792"/>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and cut the evidence cards</a:t>
            </a:r>
          </a:p>
        </p:txBody>
      </p:sp>
      <p:sp>
        <p:nvSpPr>
          <p:cNvPr id="10" name="TextBox 9"/>
          <p:cNvSpPr txBox="1"/>
          <p:nvPr/>
        </p:nvSpPr>
        <p:spPr>
          <a:xfrm>
            <a:off x="1399032" y="2002536"/>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One set of four per group of three or four. Keep them in order, A to D.</a:t>
            </a:r>
          </a:p>
        </p:txBody>
      </p:sp>
      <p:sp>
        <p:nvSpPr>
          <p:cNvPr id="11" name="Rectangle 10"/>
          <p:cNvSpPr/>
          <p:nvPr/>
        </p:nvSpPr>
        <p:spPr>
          <a:xfrm>
            <a:off x="685800" y="2340864"/>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441448"/>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523744"/>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2</a:t>
            </a:r>
          </a:p>
        </p:txBody>
      </p:sp>
      <p:sp>
        <p:nvSpPr>
          <p:cNvPr id="14" name="TextBox 13"/>
          <p:cNvSpPr txBox="1"/>
          <p:nvPr/>
        </p:nvSpPr>
        <p:spPr>
          <a:xfrm>
            <a:off x="1399032" y="2423160"/>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Print two sheets per student</a:t>
            </a:r>
          </a:p>
        </p:txBody>
      </p:sp>
      <p:sp>
        <p:nvSpPr>
          <p:cNvPr id="15" name="TextBox 14"/>
          <p:cNvSpPr txBox="1"/>
          <p:nvPr/>
        </p:nvSpPr>
        <p:spPr>
          <a:xfrm>
            <a:off x="1399032" y="2660904"/>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This lesson’s evidence sheet, and the front page sheet, which is the same every lesson.</a:t>
            </a:r>
          </a:p>
        </p:txBody>
      </p:sp>
      <p:sp>
        <p:nvSpPr>
          <p:cNvPr id="16" name="Rectangle 15"/>
          <p:cNvSpPr/>
          <p:nvPr/>
        </p:nvSpPr>
        <p:spPr>
          <a:xfrm>
            <a:off x="685800" y="2999232"/>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68680" y="3099816"/>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68680" y="3182112"/>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3</a:t>
            </a:r>
          </a:p>
        </p:txBody>
      </p:sp>
      <p:sp>
        <p:nvSpPr>
          <p:cNvPr id="19" name="TextBox 18"/>
          <p:cNvSpPr txBox="1"/>
          <p:nvPr/>
        </p:nvSpPr>
        <p:spPr>
          <a:xfrm>
            <a:off x="1399032" y="3081528"/>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Mark out the line</a:t>
            </a:r>
          </a:p>
        </p:txBody>
      </p:sp>
      <p:sp>
        <p:nvSpPr>
          <p:cNvPr id="20" name="TextBox 19"/>
          <p:cNvSpPr txBox="1"/>
          <p:nvPr/>
        </p:nvSpPr>
        <p:spPr>
          <a:xfrm>
            <a:off x="1399032" y="3319272"/>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0 at one end of the room and a 10 at the other: definitely false to definitely true.</a:t>
            </a:r>
          </a:p>
        </p:txBody>
      </p:sp>
      <p:sp>
        <p:nvSpPr>
          <p:cNvPr id="21" name="Rectangle 20"/>
          <p:cNvSpPr/>
          <p:nvPr/>
        </p:nvSpPr>
        <p:spPr>
          <a:xfrm>
            <a:off x="685800" y="3657600"/>
            <a:ext cx="7772400" cy="5669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68680" y="3758183"/>
            <a:ext cx="365760" cy="365760"/>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8680" y="3840480"/>
            <a:ext cx="365760" cy="201168"/>
          </a:xfrm>
          <a:prstGeom prst="rect">
            <a:avLst/>
          </a:prstGeom>
          <a:noFill/>
          <a:effectLst/>
        </p:spPr>
        <p:txBody>
          <a:bodyPr wrap="square" anchor="t" lIns="0" rIns="0" tIns="0" bIns="0">
            <a:spAutoFit/>
          </a:bodyPr>
          <a:lstStyle/>
          <a:p>
            <a:pPr algn="ctr">
              <a:lnSpc>
                <a:spcPct val="125000"/>
              </a:lnSpc>
              <a:spcAft>
                <a:spcPts val="0"/>
              </a:spcAft>
            </a:pPr>
            <a:r>
              <a:rPr sz="1100" b="1" i="0">
                <a:solidFill>
                  <a:srgbClr val="FFFDF7"/>
                </a:solidFill>
                <a:latin typeface="Calibri"/>
              </a:rPr>
              <a:t>4</a:t>
            </a:r>
          </a:p>
        </p:txBody>
      </p:sp>
      <p:sp>
        <p:nvSpPr>
          <p:cNvPr id="24" name="TextBox 23"/>
          <p:cNvSpPr txBox="1"/>
          <p:nvPr/>
        </p:nvSpPr>
        <p:spPr>
          <a:xfrm>
            <a:off x="1399032" y="3739896"/>
            <a:ext cx="6858000"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Hold the cards back</a:t>
            </a:r>
          </a:p>
        </p:txBody>
      </p:sp>
      <p:sp>
        <p:nvSpPr>
          <p:cNvPr id="25" name="TextBox 24"/>
          <p:cNvSpPr txBox="1"/>
          <p:nvPr/>
        </p:nvSpPr>
        <p:spPr>
          <a:xfrm>
            <a:off x="1399032" y="3977639"/>
            <a:ext cx="6858000" cy="219456"/>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Hand out one card per round, never the next one early. The verdict stays hidden until the end.</a:t>
            </a:r>
          </a:p>
        </p:txBody>
      </p:sp>
      <p:pic>
        <p:nvPicPr>
          <p:cNvPr id="26" name="Picture 25"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7" name="TextBox 26"/>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8" name="TextBox 27"/>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TextBox 3"/>
          <p:cNvSpPr txBox="1"/>
          <p:nvPr/>
        </p:nvSpPr>
        <p:spPr>
          <a:xfrm>
            <a:off x="4800600" y="274320"/>
            <a:ext cx="3657600" cy="201168"/>
          </a:xfrm>
          <a:prstGeom prst="rect">
            <a:avLst/>
          </a:prstGeom>
          <a:noFill/>
          <a:effectLst/>
        </p:spPr>
        <p:txBody>
          <a:bodyPr wrap="square" anchor="t" lIns="0" rIns="0" tIns="0" bIns="0">
            <a:spAutoFit/>
          </a:bodyPr>
          <a:lstStyle/>
          <a:p>
            <a:pPr algn="r">
              <a:lnSpc>
                <a:spcPct val="125000"/>
              </a:lnSpc>
              <a:spcAft>
                <a:spcPts val="0"/>
              </a:spcAft>
            </a:pPr>
            <a:r>
              <a:rPr sz="850" b="0" i="1">
                <a:solidFill>
                  <a:srgbClr val="8C877D"/>
                </a:solidFill>
                <a:latin typeface="Calibri"/>
              </a:rPr>
              <a:t>A recreated front page</a:t>
            </a:r>
          </a:p>
        </p:txBody>
      </p:sp>
      <p:sp>
        <p:nvSpPr>
          <p:cNvPr id="5" name="Rectangle 4"/>
          <p:cNvSpPr/>
          <p:nvPr/>
        </p:nvSpPr>
        <p:spPr>
          <a:xfrm>
            <a:off x="685800" y="475488"/>
            <a:ext cx="7772400" cy="1097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512064"/>
            <a:ext cx="7772400" cy="457200"/>
          </a:xfrm>
          <a:prstGeom prst="rect">
            <a:avLst/>
          </a:prstGeom>
          <a:noFill/>
          <a:effectLst/>
        </p:spPr>
        <p:txBody>
          <a:bodyPr wrap="square" anchor="t" lIns="0" rIns="0" tIns="0" bIns="0">
            <a:spAutoFit/>
          </a:bodyPr>
          <a:lstStyle/>
          <a:p>
            <a:pPr algn="ctr">
              <a:lnSpc>
                <a:spcPct val="100000"/>
              </a:lnSpc>
              <a:spcAft>
                <a:spcPts val="0"/>
              </a:spcAft>
            </a:pPr>
            <a:r>
              <a:rPr sz="3000" b="0" i="0">
                <a:solidFill>
                  <a:srgbClr val="262422"/>
                </a:solidFill>
                <a:latin typeface="Georgia"/>
              </a:rPr>
              <a:t>The Daily Claim</a:t>
            </a:r>
          </a:p>
        </p:txBody>
      </p:sp>
      <p:sp>
        <p:nvSpPr>
          <p:cNvPr id="7" name="Rectangle 6"/>
          <p:cNvSpPr/>
          <p:nvPr/>
        </p:nvSpPr>
        <p:spPr>
          <a:xfrm>
            <a:off x="685800" y="1024128"/>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685800" y="1060704"/>
            <a:ext cx="292608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56524B"/>
                </a:solidFill>
                <a:latin typeface="Calibri"/>
              </a:rPr>
              <a:t>NEW YORK, 1946</a:t>
            </a:r>
          </a:p>
        </p:txBody>
      </p:sp>
      <p:sp>
        <p:nvSpPr>
          <p:cNvPr id="9" name="TextBox 8"/>
          <p:cNvSpPr txBox="1"/>
          <p:nvPr/>
        </p:nvSpPr>
        <p:spPr>
          <a:xfrm>
            <a:off x="3108960" y="1060704"/>
            <a:ext cx="2926080" cy="182880"/>
          </a:xfrm>
          <a:prstGeom prst="rect">
            <a:avLst/>
          </a:prstGeom>
          <a:noFill/>
          <a:effectLst/>
        </p:spPr>
        <p:txBody>
          <a:bodyPr wrap="square" anchor="t" lIns="0" rIns="0" tIns="0" bIns="0">
            <a:spAutoFit/>
          </a:bodyPr>
          <a:lstStyle/>
          <a:p>
            <a:pPr algn="ctr">
              <a:lnSpc>
                <a:spcPct val="125000"/>
              </a:lnSpc>
              <a:spcAft>
                <a:spcPts val="0"/>
              </a:spcAft>
            </a:pPr>
            <a:r>
              <a:rPr sz="800" b="1" i="0" spc="140">
                <a:solidFill>
                  <a:srgbClr val="56524B"/>
                </a:solidFill>
                <a:latin typeface="Calibri"/>
              </a:rPr>
              <a:t>VOLUME ONE</a:t>
            </a:r>
          </a:p>
        </p:txBody>
      </p:sp>
      <p:sp>
        <p:nvSpPr>
          <p:cNvPr id="10" name="TextBox 9"/>
          <p:cNvSpPr txBox="1"/>
          <p:nvPr/>
        </p:nvSpPr>
        <p:spPr>
          <a:xfrm>
            <a:off x="5532120" y="1060704"/>
            <a:ext cx="2926080" cy="182880"/>
          </a:xfrm>
          <a:prstGeom prst="rect">
            <a:avLst/>
          </a:prstGeom>
          <a:noFill/>
          <a:effectLst/>
        </p:spPr>
        <p:txBody>
          <a:bodyPr wrap="square" anchor="t" lIns="0" rIns="0" tIns="0" bIns="0">
            <a:spAutoFit/>
          </a:bodyPr>
          <a:lstStyle/>
          <a:p>
            <a:pPr algn="r">
              <a:lnSpc>
                <a:spcPct val="125000"/>
              </a:lnSpc>
              <a:spcAft>
                <a:spcPts val="0"/>
              </a:spcAft>
            </a:pPr>
            <a:r>
              <a:rPr sz="800" b="1" i="0" spc="140">
                <a:solidFill>
                  <a:srgbClr val="56524B"/>
                </a:solidFill>
                <a:latin typeface="Calibri"/>
              </a:rPr>
              <a:t>LESSON 3 OF 5</a:t>
            </a:r>
          </a:p>
        </p:txBody>
      </p:sp>
      <p:sp>
        <p:nvSpPr>
          <p:cNvPr id="11" name="Rectangle 10"/>
          <p:cNvSpPr/>
          <p:nvPr/>
        </p:nvSpPr>
        <p:spPr>
          <a:xfrm>
            <a:off x="685800" y="1280160"/>
            <a:ext cx="7772400" cy="3200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685800" y="1421891"/>
            <a:ext cx="7772400" cy="881888"/>
          </a:xfrm>
          <a:prstGeom prst="rect">
            <a:avLst/>
          </a:prstGeom>
          <a:noFill/>
          <a:effectLst/>
        </p:spPr>
        <p:txBody>
          <a:bodyPr wrap="square" anchor="t" lIns="0" rIns="0" tIns="0" bIns="0">
            <a:spAutoFit/>
          </a:bodyPr>
          <a:lstStyle/>
          <a:p>
            <a:pPr algn="l">
              <a:lnSpc>
                <a:spcPct val="100000"/>
              </a:lnSpc>
              <a:spcAft>
                <a:spcPts val="0"/>
              </a:spcAft>
            </a:pPr>
            <a:r>
              <a:rPr sz="2800" b="0" i="0">
                <a:solidFill>
                  <a:srgbClr val="262422"/>
                </a:solidFill>
                <a:latin typeface="Georgia"/>
              </a:rPr>
              <a:t>MORE DOCTORS SMOKE CAMELS</a:t>
            </a:r>
            <a:br>
              <a:rPr lang="en-GB"/>
            </a:br>
            <a:r>
              <a:rPr sz="2800" b="0" i="0">
                <a:solidFill>
                  <a:srgbClr val="262422"/>
                </a:solidFill>
                <a:latin typeface="Georgia"/>
              </a:rPr>
              <a:t>THAN ANY OTHER CIGARETTE</a:t>
            </a:r>
          </a:p>
        </p:txBody>
      </p:sp>
      <p:sp>
        <p:nvSpPr>
          <p:cNvPr id="13" name="TextBox 12"/>
          <p:cNvSpPr txBox="1"/>
          <p:nvPr/>
        </p:nvSpPr>
        <p:spPr>
          <a:xfrm>
            <a:off x="685800" y="2376931"/>
            <a:ext cx="7772400" cy="409448"/>
          </a:xfrm>
          <a:prstGeom prst="rect">
            <a:avLst/>
          </a:prstGeom>
          <a:noFill/>
          <a:effectLst/>
        </p:spPr>
        <p:txBody>
          <a:bodyPr wrap="square" anchor="t" lIns="0" rIns="0" tIns="0" bIns="0">
            <a:spAutoFit/>
          </a:bodyPr>
          <a:lstStyle/>
          <a:p>
            <a:pPr algn="l">
              <a:lnSpc>
                <a:spcPct val="118000"/>
              </a:lnSpc>
              <a:spcAft>
                <a:spcPts val="0"/>
              </a:spcAft>
            </a:pPr>
            <a:r>
              <a:rPr sz="1300" b="0" i="1">
                <a:solidFill>
                  <a:srgbClr val="56524B"/>
                </a:solidFill>
                <a:latin typeface="Georgia"/>
              </a:rPr>
              <a:t>A nationwide survey of 113,597 doctors names the brand they choose for themselves, say the makers of Camel cigarettes.</a:t>
            </a:r>
          </a:p>
        </p:txBody>
      </p:sp>
      <p:sp>
        <p:nvSpPr>
          <p:cNvPr id="14" name="Rectangle 13"/>
          <p:cNvSpPr/>
          <p:nvPr/>
        </p:nvSpPr>
        <p:spPr>
          <a:xfrm>
            <a:off x="685800" y="2877819"/>
            <a:ext cx="7772400" cy="9144"/>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5800" y="2987547"/>
            <a:ext cx="2432304" cy="118872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The survey was carried out for the R.J. Reynolds Tobacco Company, which makes Camels. The result is appearing in magazines and on the radio across the country.</a:t>
            </a:r>
          </a:p>
        </p:txBody>
      </p:sp>
      <p:sp>
        <p:nvSpPr>
          <p:cNvPr id="16" name="Rectangle 15"/>
          <p:cNvSpPr/>
          <p:nvPr/>
        </p:nvSpPr>
        <p:spPr>
          <a:xfrm>
            <a:off x="3236976"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3355848" y="2987547"/>
            <a:ext cx="2432304" cy="990600"/>
          </a:xfrm>
          <a:prstGeom prst="rect">
            <a:avLst/>
          </a:prstGeom>
          <a:noFill/>
          <a:effectLst/>
        </p:spPr>
        <p:txBody>
          <a:bodyPr wrap="square" anchor="t" lIns="0" rIns="0" tIns="0" bIns="0">
            <a:spAutoFit/>
          </a:bodyPr>
          <a:lstStyle/>
          <a:p>
            <a:pPr algn="l">
              <a:lnSpc>
                <a:spcPct val="126000"/>
              </a:lnSpc>
              <a:spcAft>
                <a:spcPts val="0"/>
              </a:spcAft>
            </a:pPr>
            <a:r>
              <a:rPr sz="1200" b="0" i="0">
                <a:solidFill>
                  <a:srgbClr val="262422"/>
                </a:solidFill>
                <a:latin typeface="Georgia"/>
              </a:rPr>
              <a:t>The adverts show doctors in white coats, and some have even appeared in medical journals, where doctors read about new treatments.</a:t>
            </a:r>
          </a:p>
        </p:txBody>
      </p:sp>
      <p:sp>
        <p:nvSpPr>
          <p:cNvPr id="18" name="Rectangle 17"/>
          <p:cNvSpPr/>
          <p:nvPr/>
        </p:nvSpPr>
        <p:spPr>
          <a:xfrm>
            <a:off x="5907024" y="2987547"/>
            <a:ext cx="9144" cy="1511300"/>
          </a:xfrm>
          <a:prstGeom prst="rect">
            <a:avLst/>
          </a:prstGeom>
          <a:solidFill>
            <a:srgbClr val="8C877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6025896" y="2987547"/>
            <a:ext cx="2432304" cy="1505839"/>
          </a:xfrm>
          <a:prstGeom prst="rect">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025896" y="2987547"/>
            <a:ext cx="45720" cy="1505839"/>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208776" y="3133851"/>
            <a:ext cx="2121408" cy="944880"/>
          </a:xfrm>
          <a:prstGeom prst="rect">
            <a:avLst/>
          </a:prstGeom>
          <a:noFill/>
          <a:effectLst/>
        </p:spPr>
        <p:txBody>
          <a:bodyPr wrap="square" anchor="t" lIns="0" rIns="0" tIns="0" bIns="0">
            <a:spAutoFit/>
          </a:bodyPr>
          <a:lstStyle/>
          <a:p>
            <a:pPr algn="l">
              <a:lnSpc>
                <a:spcPct val="112000"/>
              </a:lnSpc>
              <a:spcAft>
                <a:spcPts val="0"/>
              </a:spcAft>
            </a:pPr>
            <a:r>
              <a:rPr sz="1500" b="0" i="0">
                <a:solidFill>
                  <a:srgbClr val="34322F"/>
                </a:solidFill>
                <a:latin typeface="Georgia"/>
              </a:rPr>
              <a:t>“More doctors smoke Camels than any other cigarette.”</a:t>
            </a:r>
          </a:p>
        </p:txBody>
      </p:sp>
      <p:sp>
        <p:nvSpPr>
          <p:cNvPr id="22" name="TextBox 21"/>
          <p:cNvSpPr txBox="1"/>
          <p:nvPr/>
        </p:nvSpPr>
        <p:spPr>
          <a:xfrm>
            <a:off x="6208776" y="4170171"/>
            <a:ext cx="2121408" cy="140335"/>
          </a:xfrm>
          <a:prstGeom prst="rect">
            <a:avLst/>
          </a:prstGeom>
          <a:noFill/>
          <a:effectLst/>
        </p:spPr>
        <p:txBody>
          <a:bodyPr wrap="square" anchor="t" lIns="0" rIns="0" tIns="0" bIns="0">
            <a:spAutoFit/>
          </a:bodyPr>
          <a:lstStyle/>
          <a:p>
            <a:pPr algn="l">
              <a:lnSpc>
                <a:spcPct val="125000"/>
              </a:lnSpc>
              <a:spcAft>
                <a:spcPts val="0"/>
              </a:spcAft>
            </a:pPr>
            <a:r>
              <a:rPr sz="800" b="1" i="0" spc="110">
                <a:solidFill>
                  <a:srgbClr val="56524B"/>
                </a:solidFill>
                <a:latin typeface="Calibri"/>
              </a:rPr>
              <a:t>THE ADVERT’S SLOGAN, 1946</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How much do you believe it?</a:t>
            </a:r>
          </a:p>
        </p:txBody>
      </p:sp>
      <p:sp>
        <p:nvSpPr>
          <p:cNvPr id="6" name="KEEP_SHADOW"/>
          <p:cNvSpPr/>
          <p:nvPr/>
        </p:nvSpPr>
        <p:spPr>
          <a:xfrm>
            <a:off x="685800" y="1225296"/>
            <a:ext cx="7772400" cy="896112"/>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225296"/>
            <a:ext cx="45720" cy="896112"/>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051560" y="1389888"/>
            <a:ext cx="7040880" cy="566928"/>
          </a:xfrm>
          <a:prstGeom prst="rect">
            <a:avLst/>
          </a:prstGeom>
          <a:noFill/>
          <a:effectLst/>
        </p:spPr>
        <p:txBody>
          <a:bodyPr wrap="square" anchor="t" lIns="0" rIns="0" tIns="0" bIns="0">
            <a:spAutoFit/>
          </a:bodyPr>
          <a:lstStyle/>
          <a:p>
            <a:pPr algn="ctr">
              <a:lnSpc>
                <a:spcPct val="112000"/>
              </a:lnSpc>
              <a:spcAft>
                <a:spcPts val="0"/>
              </a:spcAft>
            </a:pPr>
            <a:r>
              <a:rPr sz="1800" b="0" i="0">
                <a:solidFill>
                  <a:srgbClr val="262422"/>
                </a:solidFill>
                <a:latin typeface="Georgia"/>
              </a:rPr>
              <a:t>“If doctors smoke them, cigarettes can’t be that bad for you.”</a:t>
            </a:r>
          </a:p>
        </p:txBody>
      </p:sp>
      <p:sp>
        <p:nvSpPr>
          <p:cNvPr id="9" name="Rectangle 8"/>
          <p:cNvSpPr/>
          <p:nvPr/>
        </p:nvSpPr>
        <p:spPr>
          <a:xfrm>
            <a:off x="960120" y="2395728"/>
            <a:ext cx="7223759" cy="36576"/>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94914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3152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0</a:t>
            </a:r>
          </a:p>
        </p:txBody>
      </p:sp>
      <p:sp>
        <p:nvSpPr>
          <p:cNvPr id="12" name="Rectangle 11"/>
          <p:cNvSpPr/>
          <p:nvPr/>
        </p:nvSpPr>
        <p:spPr>
          <a:xfrm>
            <a:off x="167152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453895"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1</a:t>
            </a:r>
          </a:p>
        </p:txBody>
      </p:sp>
      <p:sp>
        <p:nvSpPr>
          <p:cNvPr id="14" name="Rectangle 13"/>
          <p:cNvSpPr/>
          <p:nvPr/>
        </p:nvSpPr>
        <p:spPr>
          <a:xfrm>
            <a:off x="239389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76272"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2</a:t>
            </a:r>
          </a:p>
        </p:txBody>
      </p:sp>
      <p:sp>
        <p:nvSpPr>
          <p:cNvPr id="16" name="Rectangle 15"/>
          <p:cNvSpPr/>
          <p:nvPr/>
        </p:nvSpPr>
        <p:spPr>
          <a:xfrm>
            <a:off x="311627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2898648"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3</a:t>
            </a:r>
          </a:p>
        </p:txBody>
      </p:sp>
      <p:sp>
        <p:nvSpPr>
          <p:cNvPr id="18" name="Rectangle 17"/>
          <p:cNvSpPr/>
          <p:nvPr/>
        </p:nvSpPr>
        <p:spPr>
          <a:xfrm>
            <a:off x="383865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362102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4</a:t>
            </a:r>
          </a:p>
        </p:txBody>
      </p:sp>
      <p:sp>
        <p:nvSpPr>
          <p:cNvPr id="20" name="Rectangle 19"/>
          <p:cNvSpPr/>
          <p:nvPr/>
        </p:nvSpPr>
        <p:spPr>
          <a:xfrm>
            <a:off x="456102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434340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5</a:t>
            </a:r>
          </a:p>
        </p:txBody>
      </p:sp>
      <p:sp>
        <p:nvSpPr>
          <p:cNvPr id="22" name="Rectangle 21"/>
          <p:cNvSpPr/>
          <p:nvPr/>
        </p:nvSpPr>
        <p:spPr>
          <a:xfrm>
            <a:off x="5283403"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5065776"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6</a:t>
            </a:r>
          </a:p>
        </p:txBody>
      </p:sp>
      <p:sp>
        <p:nvSpPr>
          <p:cNvPr id="24" name="Rectangle 23"/>
          <p:cNvSpPr/>
          <p:nvPr/>
        </p:nvSpPr>
        <p:spPr>
          <a:xfrm>
            <a:off x="6005779"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788151"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7</a:t>
            </a:r>
          </a:p>
        </p:txBody>
      </p:sp>
      <p:sp>
        <p:nvSpPr>
          <p:cNvPr id="26" name="Rectangle 25"/>
          <p:cNvSpPr/>
          <p:nvPr/>
        </p:nvSpPr>
        <p:spPr>
          <a:xfrm>
            <a:off x="6728155"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510527"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8</a:t>
            </a:r>
          </a:p>
        </p:txBody>
      </p:sp>
      <p:sp>
        <p:nvSpPr>
          <p:cNvPr id="28" name="Rectangle 27"/>
          <p:cNvSpPr/>
          <p:nvPr/>
        </p:nvSpPr>
        <p:spPr>
          <a:xfrm>
            <a:off x="7450531" y="2331720"/>
            <a:ext cx="21945" cy="16459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32904"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050" b="0" i="0">
                <a:solidFill>
                  <a:srgbClr val="56524B"/>
                </a:solidFill>
                <a:latin typeface="Calibri"/>
              </a:rPr>
              <a:t>9</a:t>
            </a:r>
          </a:p>
        </p:txBody>
      </p:sp>
      <p:sp>
        <p:nvSpPr>
          <p:cNvPr id="30" name="Rectangle 29"/>
          <p:cNvSpPr/>
          <p:nvPr/>
        </p:nvSpPr>
        <p:spPr>
          <a:xfrm>
            <a:off x="8172907" y="2286000"/>
            <a:ext cx="21945" cy="256032"/>
          </a:xfrm>
          <a:prstGeom prst="rect">
            <a:avLst/>
          </a:prstGeom>
          <a:solidFill>
            <a:srgbClr val="26242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7955280" y="2578608"/>
            <a:ext cx="457200" cy="237744"/>
          </a:xfrm>
          <a:prstGeom prst="rect">
            <a:avLst/>
          </a:prstGeom>
          <a:noFill/>
          <a:effectLst/>
        </p:spPr>
        <p:txBody>
          <a:bodyPr wrap="square" anchor="t" lIns="0" rIns="0" tIns="0" bIns="0">
            <a:spAutoFit/>
          </a:bodyPr>
          <a:lstStyle/>
          <a:p>
            <a:pPr algn="ctr">
              <a:lnSpc>
                <a:spcPct val="125000"/>
              </a:lnSpc>
              <a:spcAft>
                <a:spcPts val="0"/>
              </a:spcAft>
            </a:pPr>
            <a:r>
              <a:rPr sz="1300" b="1" i="0">
                <a:solidFill>
                  <a:srgbClr val="262422"/>
                </a:solidFill>
                <a:latin typeface="Calibri"/>
              </a:rPr>
              <a:t>10</a:t>
            </a:r>
          </a:p>
        </p:txBody>
      </p:sp>
      <p:sp>
        <p:nvSpPr>
          <p:cNvPr id="32" name="TextBox 31"/>
          <p:cNvSpPr txBox="1"/>
          <p:nvPr/>
        </p:nvSpPr>
        <p:spPr>
          <a:xfrm>
            <a:off x="685800" y="2852928"/>
            <a:ext cx="2194560" cy="237744"/>
          </a:xfrm>
          <a:prstGeom prst="rect">
            <a:avLst/>
          </a:prstGeom>
          <a:noFill/>
          <a:effectLst/>
        </p:spPr>
        <p:txBody>
          <a:bodyPr wrap="square" anchor="t" lIns="0" rIns="0" tIns="0" bIns="0">
            <a:spAutoFit/>
          </a:bodyPr>
          <a:lstStyle/>
          <a:p>
            <a:pPr algn="l">
              <a:lnSpc>
                <a:spcPct val="125000"/>
              </a:lnSpc>
              <a:spcAft>
                <a:spcPts val="0"/>
              </a:spcAft>
            </a:pPr>
            <a:r>
              <a:rPr sz="1100" b="1" i="0">
                <a:solidFill>
                  <a:srgbClr val="34322F"/>
                </a:solidFill>
                <a:latin typeface="Calibri"/>
              </a:rPr>
              <a:t>Definitely false</a:t>
            </a:r>
          </a:p>
        </p:txBody>
      </p:sp>
      <p:sp>
        <p:nvSpPr>
          <p:cNvPr id="33" name="TextBox 32"/>
          <p:cNvSpPr txBox="1"/>
          <p:nvPr/>
        </p:nvSpPr>
        <p:spPr>
          <a:xfrm>
            <a:off x="6263640" y="2852928"/>
            <a:ext cx="2194560" cy="237744"/>
          </a:xfrm>
          <a:prstGeom prst="rect">
            <a:avLst/>
          </a:prstGeom>
          <a:noFill/>
          <a:effectLst/>
        </p:spPr>
        <p:txBody>
          <a:bodyPr wrap="square" anchor="t" lIns="0" rIns="0" tIns="0" bIns="0">
            <a:spAutoFit/>
          </a:bodyPr>
          <a:lstStyle/>
          <a:p>
            <a:pPr algn="r">
              <a:lnSpc>
                <a:spcPct val="125000"/>
              </a:lnSpc>
              <a:spcAft>
                <a:spcPts val="0"/>
              </a:spcAft>
            </a:pPr>
            <a:r>
              <a:rPr sz="1100" b="1" i="0">
                <a:solidFill>
                  <a:srgbClr val="34322F"/>
                </a:solidFill>
                <a:latin typeface="Calibri"/>
              </a:rPr>
              <a:t>Definitely true</a:t>
            </a:r>
          </a:p>
        </p:txBody>
      </p:sp>
      <p:sp>
        <p:nvSpPr>
          <p:cNvPr id="34" name="TextBox 33"/>
          <p:cNvSpPr txBox="1"/>
          <p:nvPr/>
        </p:nvSpPr>
        <p:spPr>
          <a:xfrm>
            <a:off x="868680" y="3913632"/>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Stand on the line where you are now. Two or three people say why they are standing there.</a:t>
            </a:r>
          </a:p>
        </p:txBody>
      </p:sp>
      <p:pic>
        <p:nvPicPr>
          <p:cNvPr id="35" name="Picture 34"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36" name="TextBox 35"/>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7" name="TextBox 36"/>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Five questions for any headline</a:t>
            </a:r>
          </a:p>
        </p:txBody>
      </p:sp>
      <p:sp>
        <p:nvSpPr>
          <p:cNvPr id="6" name="Rectangle 5"/>
          <p:cNvSpPr/>
          <p:nvPr/>
        </p:nvSpPr>
        <p:spPr>
          <a:xfrm>
            <a:off x="685800" y="1188720"/>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Oval 6"/>
          <p:cNvSpPr/>
          <p:nvPr/>
        </p:nvSpPr>
        <p:spPr>
          <a:xfrm>
            <a:off x="850392" y="124358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megaphone.png"/>
          <p:cNvPicPr>
            <a:picLocks noChangeAspect="1"/>
          </p:cNvPicPr>
          <p:nvPr/>
        </p:nvPicPr>
        <p:blipFill>
          <a:blip r:embed="rId2"/>
          <a:stretch>
            <a:fillRect/>
          </a:stretch>
        </p:blipFill>
        <p:spPr>
          <a:xfrm>
            <a:off x="932688" y="1325880"/>
            <a:ext cx="237744" cy="237744"/>
          </a:xfrm>
          <a:prstGeom prst="rect">
            <a:avLst/>
          </a:prstGeom>
          <a:effectLst/>
        </p:spPr>
      </p:pic>
      <p:sp>
        <p:nvSpPr>
          <p:cNvPr id="9" name="TextBox 8"/>
          <p:cNvSpPr txBox="1"/>
          <p:nvPr/>
        </p:nvSpPr>
        <p:spPr>
          <a:xfrm>
            <a:off x="1417320" y="1325880"/>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is saying it?</a:t>
            </a:r>
          </a:p>
        </p:txBody>
      </p:sp>
      <p:sp>
        <p:nvSpPr>
          <p:cNvPr id="10" name="TextBox 9"/>
          <p:cNvSpPr txBox="1"/>
          <p:nvPr/>
        </p:nvSpPr>
        <p:spPr>
          <a:xfrm>
            <a:off x="4892040" y="1279398"/>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company, a scientist, a newspaper, a government? Check the name.</a:t>
            </a:r>
          </a:p>
        </p:txBody>
      </p:sp>
      <p:sp>
        <p:nvSpPr>
          <p:cNvPr id="11" name="Rectangle 10"/>
          <p:cNvSpPr/>
          <p:nvPr/>
        </p:nvSpPr>
        <p:spPr>
          <a:xfrm>
            <a:off x="685800" y="1792224"/>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50392" y="184708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Picture 12" descr="coins.png"/>
          <p:cNvPicPr>
            <a:picLocks noChangeAspect="1"/>
          </p:cNvPicPr>
          <p:nvPr/>
        </p:nvPicPr>
        <p:blipFill>
          <a:blip r:embed="rId3"/>
          <a:stretch>
            <a:fillRect/>
          </a:stretch>
        </p:blipFill>
        <p:spPr>
          <a:xfrm>
            <a:off x="932688" y="1929384"/>
            <a:ext cx="237744" cy="237744"/>
          </a:xfrm>
          <a:prstGeom prst="rect">
            <a:avLst/>
          </a:prstGeom>
          <a:effectLst/>
        </p:spPr>
      </p:pic>
      <p:sp>
        <p:nvSpPr>
          <p:cNvPr id="14" name="TextBox 13"/>
          <p:cNvSpPr txBox="1"/>
          <p:nvPr/>
        </p:nvSpPr>
        <p:spPr>
          <a:xfrm>
            <a:off x="1417320" y="1929384"/>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gains if I believe it?</a:t>
            </a:r>
          </a:p>
        </p:txBody>
      </p:sp>
      <p:sp>
        <p:nvSpPr>
          <p:cNvPr id="15" name="TextBox 14"/>
          <p:cNvSpPr txBox="1"/>
          <p:nvPr/>
        </p:nvSpPr>
        <p:spPr>
          <a:xfrm>
            <a:off x="4892040" y="1882902"/>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Somebody always does. Work out who, and what they get.</a:t>
            </a:r>
          </a:p>
        </p:txBody>
      </p:sp>
      <p:sp>
        <p:nvSpPr>
          <p:cNvPr id="16" name="Rectangle 15"/>
          <p:cNvSpPr/>
          <p:nvPr/>
        </p:nvSpPr>
        <p:spPr>
          <a:xfrm>
            <a:off x="685800" y="2395728"/>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Oval 16"/>
          <p:cNvSpPr/>
          <p:nvPr/>
        </p:nvSpPr>
        <p:spPr>
          <a:xfrm>
            <a:off x="850392" y="2450592"/>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purse.png"/>
          <p:cNvPicPr>
            <a:picLocks noChangeAspect="1"/>
          </p:cNvPicPr>
          <p:nvPr/>
        </p:nvPicPr>
        <p:blipFill>
          <a:blip r:embed="rId4"/>
          <a:stretch>
            <a:fillRect/>
          </a:stretch>
        </p:blipFill>
        <p:spPr>
          <a:xfrm>
            <a:off x="932688" y="2532888"/>
            <a:ext cx="237744" cy="237744"/>
          </a:xfrm>
          <a:prstGeom prst="rect">
            <a:avLst/>
          </a:prstGeom>
          <a:effectLst/>
        </p:spPr>
      </p:pic>
      <p:sp>
        <p:nvSpPr>
          <p:cNvPr id="19" name="TextBox 18"/>
          <p:cNvSpPr txBox="1"/>
          <p:nvPr/>
        </p:nvSpPr>
        <p:spPr>
          <a:xfrm>
            <a:off x="1417320" y="2532888"/>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Who paid for it?</a:t>
            </a:r>
          </a:p>
        </p:txBody>
      </p:sp>
      <p:sp>
        <p:nvSpPr>
          <p:cNvPr id="20" name="TextBox 19"/>
          <p:cNvSpPr txBox="1"/>
          <p:nvPr/>
        </p:nvSpPr>
        <p:spPr>
          <a:xfrm>
            <a:off x="4892040" y="2486406"/>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The research, the advert, the survey. Money does not make it false, but you should know.</a:t>
            </a:r>
          </a:p>
        </p:txBody>
      </p:sp>
      <p:sp>
        <p:nvSpPr>
          <p:cNvPr id="21" name="Rectangle 20"/>
          <p:cNvSpPr/>
          <p:nvPr/>
        </p:nvSpPr>
        <p:spPr>
          <a:xfrm>
            <a:off x="685800" y="2999232"/>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Oval 21"/>
          <p:cNvSpPr/>
          <p:nvPr/>
        </p:nvSpPr>
        <p:spPr>
          <a:xfrm>
            <a:off x="850392" y="305409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3" name="Picture 22" descr="magnifier.png"/>
          <p:cNvPicPr>
            <a:picLocks noChangeAspect="1"/>
          </p:cNvPicPr>
          <p:nvPr/>
        </p:nvPicPr>
        <p:blipFill>
          <a:blip r:embed="rId5"/>
          <a:stretch>
            <a:fillRect/>
          </a:stretch>
        </p:blipFill>
        <p:spPr>
          <a:xfrm>
            <a:off x="932688" y="3136392"/>
            <a:ext cx="237744" cy="237744"/>
          </a:xfrm>
          <a:prstGeom prst="rect">
            <a:avLst/>
          </a:prstGeom>
          <a:effectLst/>
        </p:spPr>
      </p:pic>
      <p:sp>
        <p:nvSpPr>
          <p:cNvPr id="24" name="TextBox 23"/>
          <p:cNvSpPr txBox="1"/>
          <p:nvPr/>
        </p:nvSpPr>
        <p:spPr>
          <a:xfrm>
            <a:off x="1417320" y="3136392"/>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What is the evidence?</a:t>
            </a:r>
          </a:p>
        </p:txBody>
      </p:sp>
      <p:sp>
        <p:nvSpPr>
          <p:cNvPr id="25" name="TextBox 24"/>
          <p:cNvSpPr txBox="1"/>
          <p:nvPr/>
        </p:nvSpPr>
        <p:spPr>
          <a:xfrm>
            <a:off x="4892040" y="3089910"/>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A study, a number, a graph? Or only a slogan and a famous face?</a:t>
            </a:r>
          </a:p>
        </p:txBody>
      </p:sp>
      <p:sp>
        <p:nvSpPr>
          <p:cNvPr id="26" name="Rectangle 25"/>
          <p:cNvSpPr/>
          <p:nvPr/>
        </p:nvSpPr>
        <p:spPr>
          <a:xfrm>
            <a:off x="685800" y="3602736"/>
            <a:ext cx="7772400" cy="51206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Oval 26"/>
          <p:cNvSpPr/>
          <p:nvPr/>
        </p:nvSpPr>
        <p:spPr>
          <a:xfrm>
            <a:off x="850392" y="365760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flask.png"/>
          <p:cNvPicPr>
            <a:picLocks noChangeAspect="1"/>
          </p:cNvPicPr>
          <p:nvPr/>
        </p:nvPicPr>
        <p:blipFill>
          <a:blip r:embed="rId6"/>
          <a:stretch>
            <a:fillRect/>
          </a:stretch>
        </p:blipFill>
        <p:spPr>
          <a:xfrm>
            <a:off x="932688" y="3739896"/>
            <a:ext cx="237744" cy="237744"/>
          </a:xfrm>
          <a:prstGeom prst="rect">
            <a:avLst/>
          </a:prstGeom>
          <a:effectLst/>
        </p:spPr>
      </p:pic>
      <p:sp>
        <p:nvSpPr>
          <p:cNvPr id="29" name="TextBox 28"/>
          <p:cNvSpPr txBox="1"/>
          <p:nvPr/>
        </p:nvSpPr>
        <p:spPr>
          <a:xfrm>
            <a:off x="1417320" y="3739896"/>
            <a:ext cx="352044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262422"/>
                </a:solidFill>
                <a:latin typeface="Georgia"/>
              </a:rPr>
              <a:t>Has it been tested, and by whom?</a:t>
            </a:r>
          </a:p>
        </p:txBody>
      </p:sp>
      <p:sp>
        <p:nvSpPr>
          <p:cNvPr id="30" name="TextBox 29"/>
          <p:cNvSpPr txBox="1"/>
          <p:nvPr/>
        </p:nvSpPr>
        <p:spPr>
          <a:xfrm>
            <a:off x="4892040" y="3693414"/>
            <a:ext cx="3383280" cy="330708"/>
          </a:xfrm>
          <a:prstGeom prst="rect">
            <a:avLst/>
          </a:prstGeom>
          <a:noFill/>
          <a:effectLst/>
        </p:spPr>
        <p:txBody>
          <a:bodyPr wrap="square" anchor="t" lIns="0" rIns="0" tIns="0" bIns="0">
            <a:spAutoFit/>
          </a:bodyPr>
          <a:lstStyle/>
          <a:p>
            <a:pPr algn="l">
              <a:lnSpc>
                <a:spcPct val="125000"/>
              </a:lnSpc>
              <a:spcAft>
                <a:spcPts val="0"/>
              </a:spcAft>
            </a:pPr>
            <a:r>
              <a:rPr sz="1050" b="0" i="0">
                <a:solidFill>
                  <a:srgbClr val="56524B"/>
                </a:solidFill>
                <a:latin typeface="Calibri"/>
              </a:rPr>
              <a:t>Tested on whom, for how long, and by somebody with nothing to gain?</a:t>
            </a:r>
          </a:p>
        </p:txBody>
      </p:sp>
      <p:sp>
        <p:nvSpPr>
          <p:cNvPr id="31" name="TextBox 30"/>
          <p:cNvSpPr txBox="1"/>
          <p:nvPr/>
        </p:nvSpPr>
        <p:spPr>
          <a:xfrm>
            <a:off x="868680" y="4261104"/>
            <a:ext cx="7406640" cy="200025"/>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These five come back in every lesson. The first one is on the front page already.</a:t>
            </a:r>
          </a:p>
        </p:txBody>
      </p:sp>
      <p:pic>
        <p:nvPicPr>
          <p:cNvPr id="32" name="Picture 31" descr="logo-mark.png"/>
          <p:cNvPicPr>
            <a:picLocks noChangeAspect="1"/>
          </p:cNvPicPr>
          <p:nvPr/>
        </p:nvPicPr>
        <p:blipFill>
          <a:blip r:embed="rId7"/>
          <a:stretch>
            <a:fillRect/>
          </a:stretch>
        </p:blipFill>
        <p:spPr>
          <a:xfrm>
            <a:off x="384048" y="4727448"/>
            <a:ext cx="158374" cy="182880"/>
          </a:xfrm>
          <a:prstGeom prst="rect">
            <a:avLst/>
          </a:prstGeom>
          <a:effectLst/>
        </p:spPr>
      </p:pic>
      <p:sp>
        <p:nvSpPr>
          <p:cNvPr id="33" name="TextBox 3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4" name="TextBox 3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Watch the first one</a:t>
            </a:r>
          </a:p>
        </p:txBody>
      </p:sp>
      <p:sp>
        <p:nvSpPr>
          <p:cNvPr id="6" name="TextBox 5"/>
          <p:cNvSpPr txBox="1"/>
          <p:nvPr/>
        </p:nvSpPr>
        <p:spPr>
          <a:xfrm>
            <a:off x="685800" y="1170432"/>
            <a:ext cx="7772400" cy="274320"/>
          </a:xfrm>
          <a:prstGeom prst="rect">
            <a:avLst/>
          </a:prstGeom>
          <a:noFill/>
          <a:effectLst/>
        </p:spPr>
        <p:txBody>
          <a:bodyPr wrap="square" anchor="t" lIns="0" rIns="0" tIns="0" bIns="0">
            <a:spAutoFit/>
          </a:bodyPr>
          <a:lstStyle/>
          <a:p>
            <a:pPr algn="l">
              <a:lnSpc>
                <a:spcPct val="125000"/>
              </a:lnSpc>
              <a:spcAft>
                <a:spcPts val="0"/>
              </a:spcAft>
            </a:pPr>
            <a:r>
              <a:rPr sz="1600" b="0" i="0">
                <a:solidFill>
                  <a:srgbClr val="34322F"/>
                </a:solidFill>
                <a:latin typeface="Georgia"/>
              </a:rPr>
              <a:t>Question 1:  Who is saying it?</a:t>
            </a:r>
          </a:p>
        </p:txBody>
      </p:sp>
      <p:sp>
        <p:nvSpPr>
          <p:cNvPr id="7" name="Rectangle 6"/>
          <p:cNvSpPr/>
          <p:nvPr/>
        </p:nvSpPr>
        <p:spPr>
          <a:xfrm>
            <a:off x="685800" y="1609344"/>
            <a:ext cx="7772400" cy="124968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09344"/>
            <a:ext cx="45720" cy="124968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97280" y="1837943"/>
            <a:ext cx="6949440" cy="792480"/>
          </a:xfrm>
          <a:prstGeom prst="rect">
            <a:avLst/>
          </a:prstGeom>
          <a:noFill/>
          <a:effectLst/>
        </p:spPr>
        <p:txBody>
          <a:bodyPr wrap="square" anchor="t" lIns="0" rIns="0" tIns="0" bIns="0">
            <a:spAutoFit/>
          </a:bodyPr>
          <a:lstStyle/>
          <a:p>
            <a:pPr algn="l">
              <a:lnSpc>
                <a:spcPct val="128000"/>
              </a:lnSpc>
              <a:spcAft>
                <a:spcPts val="0"/>
              </a:spcAft>
            </a:pPr>
            <a:r>
              <a:rPr sz="1600" b="0" i="0">
                <a:solidFill>
                  <a:srgbClr val="262422"/>
                </a:solidFill>
                <a:latin typeface="Calibri"/>
              </a:rPr>
              <a:t>The company that makes Camels. It says it asked over a hundred thousand doctors, but not how it asked them, or what they were given first.</a:t>
            </a:r>
          </a:p>
        </p:txBody>
      </p:sp>
      <p:sp>
        <p:nvSpPr>
          <p:cNvPr id="10" name="TextBox 9"/>
          <p:cNvSpPr txBox="1"/>
          <p:nvPr/>
        </p:nvSpPr>
        <p:spPr>
          <a:xfrm>
            <a:off x="685800" y="3133344"/>
            <a:ext cx="7772400" cy="548640"/>
          </a:xfrm>
          <a:prstGeom prst="rect">
            <a:avLst/>
          </a:prstGeom>
          <a:noFill/>
          <a:effectLst/>
        </p:spPr>
        <p:txBody>
          <a:bodyPr wrap="square" anchor="t" lIns="0" rIns="0" tIns="0" bIns="0">
            <a:spAutoFit/>
          </a:bodyPr>
          <a:lstStyle/>
          <a:p>
            <a:pPr algn="ctr">
              <a:lnSpc>
                <a:spcPct val="125000"/>
              </a:lnSpc>
              <a:spcAft>
                <a:spcPts val="0"/>
              </a:spcAft>
            </a:pPr>
            <a:r>
              <a:rPr sz="1400" b="0" i="1">
                <a:solidFill>
                  <a:srgbClr val="56524B"/>
                </a:solidFill>
                <a:latin typeface="Calibri"/>
              </a:rPr>
              <a:t>Notice the answer is not true or false. It tells you what to look for next.</a:t>
            </a:r>
          </a:p>
        </p:txBody>
      </p:sp>
      <p:pic>
        <p:nvPicPr>
          <p:cNvPr id="11" name="Picture 10"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2" name="TextBox 11"/>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3" name="TextBox 12"/>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Now the other four</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400" b="0" i="0">
                <a:solidFill>
                  <a:srgbClr val="56524B"/>
                </a:solidFill>
                <a:latin typeface="Calibri"/>
              </a:rPr>
              <a:t>Can the front page answer them? Talk it through in your group.</a:t>
            </a:r>
          </a:p>
        </p:txBody>
      </p:sp>
      <p:sp>
        <p:nvSpPr>
          <p:cNvPr id="7" name="Rectangle 6"/>
          <p:cNvSpPr/>
          <p:nvPr/>
        </p:nvSpPr>
        <p:spPr>
          <a:xfrm>
            <a:off x="685800"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1316736"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0" name="Picture 9" descr="coins.png"/>
          <p:cNvPicPr>
            <a:picLocks noChangeAspect="1"/>
          </p:cNvPicPr>
          <p:nvPr/>
        </p:nvPicPr>
        <p:blipFill>
          <a:blip r:embed="rId2"/>
          <a:stretch>
            <a:fillRect/>
          </a:stretch>
        </p:blipFill>
        <p:spPr>
          <a:xfrm>
            <a:off x="1426464" y="1947672"/>
            <a:ext cx="310896" cy="310896"/>
          </a:xfrm>
          <a:prstGeom prst="rect">
            <a:avLst/>
          </a:prstGeom>
          <a:effectLst/>
        </p:spPr>
      </p:pic>
      <p:sp>
        <p:nvSpPr>
          <p:cNvPr id="11" name="TextBox 10"/>
          <p:cNvSpPr txBox="1"/>
          <p:nvPr/>
        </p:nvSpPr>
        <p:spPr>
          <a:xfrm>
            <a:off x="822960"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gains if I believe it?</a:t>
            </a:r>
          </a:p>
        </p:txBody>
      </p:sp>
      <p:sp>
        <p:nvSpPr>
          <p:cNvPr id="12" name="Rectangle 11"/>
          <p:cNvSpPr/>
          <p:nvPr/>
        </p:nvSpPr>
        <p:spPr>
          <a:xfrm>
            <a:off x="2679192"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2679192"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3310128"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purse.png"/>
          <p:cNvPicPr>
            <a:picLocks noChangeAspect="1"/>
          </p:cNvPicPr>
          <p:nvPr/>
        </p:nvPicPr>
        <p:blipFill>
          <a:blip r:embed="rId3"/>
          <a:stretch>
            <a:fillRect/>
          </a:stretch>
        </p:blipFill>
        <p:spPr>
          <a:xfrm>
            <a:off x="3419856" y="1947672"/>
            <a:ext cx="310896" cy="310896"/>
          </a:xfrm>
          <a:prstGeom prst="rect">
            <a:avLst/>
          </a:prstGeom>
          <a:effectLst/>
        </p:spPr>
      </p:pic>
      <p:sp>
        <p:nvSpPr>
          <p:cNvPr id="16" name="TextBox 15"/>
          <p:cNvSpPr txBox="1"/>
          <p:nvPr/>
        </p:nvSpPr>
        <p:spPr>
          <a:xfrm>
            <a:off x="2816352" y="2487168"/>
            <a:ext cx="1517904" cy="204724"/>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Who paid for it?</a:t>
            </a:r>
          </a:p>
        </p:txBody>
      </p:sp>
      <p:sp>
        <p:nvSpPr>
          <p:cNvPr id="17" name="Rectangle 16"/>
          <p:cNvSpPr/>
          <p:nvPr/>
        </p:nvSpPr>
        <p:spPr>
          <a:xfrm>
            <a:off x="4672584"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72584"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5303520"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magnifier.png"/>
          <p:cNvPicPr>
            <a:picLocks noChangeAspect="1"/>
          </p:cNvPicPr>
          <p:nvPr/>
        </p:nvPicPr>
        <p:blipFill>
          <a:blip r:embed="rId4"/>
          <a:stretch>
            <a:fillRect/>
          </a:stretch>
        </p:blipFill>
        <p:spPr>
          <a:xfrm>
            <a:off x="5413248" y="1947672"/>
            <a:ext cx="310896" cy="310896"/>
          </a:xfrm>
          <a:prstGeom prst="rect">
            <a:avLst/>
          </a:prstGeom>
          <a:effectLst/>
        </p:spPr>
      </p:pic>
      <p:sp>
        <p:nvSpPr>
          <p:cNvPr id="21" name="TextBox 20"/>
          <p:cNvSpPr txBox="1"/>
          <p:nvPr/>
        </p:nvSpPr>
        <p:spPr>
          <a:xfrm>
            <a:off x="4809744" y="2487168"/>
            <a:ext cx="1517904" cy="409448"/>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What is the evidence?</a:t>
            </a:r>
          </a:p>
        </p:txBody>
      </p:sp>
      <p:sp>
        <p:nvSpPr>
          <p:cNvPr id="22" name="Rectangle 21"/>
          <p:cNvSpPr/>
          <p:nvPr/>
        </p:nvSpPr>
        <p:spPr>
          <a:xfrm>
            <a:off x="6665976" y="1645920"/>
            <a:ext cx="1792224" cy="1481328"/>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6665976" y="1645920"/>
            <a:ext cx="1792224"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val 23"/>
          <p:cNvSpPr/>
          <p:nvPr/>
        </p:nvSpPr>
        <p:spPr>
          <a:xfrm>
            <a:off x="7296912" y="1837943"/>
            <a:ext cx="530352" cy="530352"/>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flask.png"/>
          <p:cNvPicPr>
            <a:picLocks noChangeAspect="1"/>
          </p:cNvPicPr>
          <p:nvPr/>
        </p:nvPicPr>
        <p:blipFill>
          <a:blip r:embed="rId5"/>
          <a:stretch>
            <a:fillRect/>
          </a:stretch>
        </p:blipFill>
        <p:spPr>
          <a:xfrm>
            <a:off x="7406640" y="1947672"/>
            <a:ext cx="310896" cy="310896"/>
          </a:xfrm>
          <a:prstGeom prst="rect">
            <a:avLst/>
          </a:prstGeom>
          <a:effectLst/>
        </p:spPr>
      </p:pic>
      <p:sp>
        <p:nvSpPr>
          <p:cNvPr id="26" name="TextBox 25"/>
          <p:cNvSpPr txBox="1"/>
          <p:nvPr/>
        </p:nvSpPr>
        <p:spPr>
          <a:xfrm>
            <a:off x="6803136" y="2487168"/>
            <a:ext cx="1517904" cy="614172"/>
          </a:xfrm>
          <a:prstGeom prst="rect">
            <a:avLst/>
          </a:prstGeom>
          <a:noFill/>
          <a:effectLst/>
        </p:spPr>
        <p:txBody>
          <a:bodyPr wrap="square" anchor="t" lIns="0" rIns="0" tIns="0" bIns="0">
            <a:spAutoFit/>
          </a:bodyPr>
          <a:lstStyle/>
          <a:p>
            <a:pPr algn="ctr">
              <a:lnSpc>
                <a:spcPct val="110000"/>
              </a:lnSpc>
              <a:spcAft>
                <a:spcPts val="0"/>
              </a:spcAft>
            </a:pPr>
            <a:r>
              <a:rPr sz="1300" b="0" i="0">
                <a:solidFill>
                  <a:srgbClr val="262422"/>
                </a:solidFill>
                <a:latin typeface="Georgia"/>
              </a:rPr>
              <a:t>Has it been tested, and by whom?</a:t>
            </a:r>
          </a:p>
        </p:txBody>
      </p:sp>
      <p:sp>
        <p:nvSpPr>
          <p:cNvPr id="27" name="TextBox 26"/>
          <p:cNvSpPr txBox="1"/>
          <p:nvPr/>
        </p:nvSpPr>
        <p:spPr>
          <a:xfrm>
            <a:off x="868680" y="3474720"/>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Then fill in the top of your evidence sheet: where you stand, and what you would need to know.</a:t>
            </a:r>
          </a:p>
        </p:txBody>
      </p:sp>
      <p:pic>
        <p:nvPicPr>
          <p:cNvPr id="28" name="Picture 27" descr="logo-mark.png"/>
          <p:cNvPicPr>
            <a:picLocks noChangeAspect="1"/>
          </p:cNvPicPr>
          <p:nvPr/>
        </p:nvPicPr>
        <p:blipFill>
          <a:blip r:embed="rId6"/>
          <a:stretch>
            <a:fillRect/>
          </a:stretch>
        </p:blipFill>
        <p:spPr>
          <a:xfrm>
            <a:off x="384048" y="4727448"/>
            <a:ext cx="158374" cy="182880"/>
          </a:xfrm>
          <a:prstGeom prst="rect">
            <a:avLst/>
          </a:prstGeom>
          <a:effectLst/>
        </p:spPr>
      </p:pic>
      <p:sp>
        <p:nvSpPr>
          <p:cNvPr id="29" name="TextBox 2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30" name="TextBox 2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1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A</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advert</a:t>
            </a:r>
          </a:p>
        </p:txBody>
      </p:sp>
      <p:sp>
        <p:nvSpPr>
          <p:cNvPr id="10" name="TextBox 9"/>
          <p:cNvSpPr txBox="1"/>
          <p:nvPr/>
        </p:nvSpPr>
        <p:spPr>
          <a:xfrm>
            <a:off x="1005840" y="1609344"/>
            <a:ext cx="7132320" cy="105664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In 1946, R.J. Reynolds began a campaign with the slogan “More doctors smoke Camels than any other cigarette.” It claimed to be based on a survey of 113,597 doctors. The adverts ran in magazines, on the radio and in medical journals for several years.</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Center for the Study of Tobacco and Society, University of Alabama</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A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2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B</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survey</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The company never explained how the survey was done. One account says doctors were given a free carton of Camels and then asked what brand they smoked. In 1930, another company sent doctors free cartons of its own cigarettes and then advertised that 20,679 of them said its cigarettes were “less irritating”.</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History.com, 2018; CSTS, University of Alabama</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B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3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C</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060704"/>
            <a:ext cx="7132320" cy="365760"/>
          </a:xfrm>
          <a:prstGeom prst="rect">
            <a:avLst/>
          </a:prstGeom>
          <a:noFill/>
          <a:effectLst/>
        </p:spPr>
        <p:txBody>
          <a:bodyPr wrap="square" anchor="t" lIns="0" rIns="0" tIns="0" bIns="0">
            <a:spAutoFit/>
          </a:bodyPr>
          <a:lstStyle/>
          <a:p>
            <a:pPr algn="l">
              <a:lnSpc>
                <a:spcPct val="125000"/>
              </a:lnSpc>
              <a:spcAft>
                <a:spcPts val="0"/>
              </a:spcAft>
            </a:pPr>
            <a:r>
              <a:rPr sz="1800" b="0" i="0">
                <a:solidFill>
                  <a:srgbClr val="262422"/>
                </a:solidFill>
                <a:latin typeface="Georgia"/>
              </a:rPr>
              <a:t>The doctors’ own study</a:t>
            </a:r>
          </a:p>
        </p:txBody>
      </p:sp>
      <p:sp>
        <p:nvSpPr>
          <p:cNvPr id="10" name="Rectangle 9"/>
          <p:cNvSpPr/>
          <p:nvPr/>
        </p:nvSpPr>
        <p:spPr>
          <a:xfrm>
            <a:off x="960120" y="1444752"/>
            <a:ext cx="4754880" cy="217627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60120" y="1444752"/>
            <a:ext cx="475488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2" name="Chart 11"/>
          <p:cNvGraphicFramePr>
            <a:graphicFrameLocks noGrp="1"/>
          </p:cNvGraphicFramePr>
          <p:nvPr/>
        </p:nvGraphicFramePr>
        <p:xfrm>
          <a:off x="1051560" y="1572768"/>
          <a:ext cx="4572000" cy="1645919"/>
        </p:xfrm>
        <a:graphic>
          <a:graphicData uri="http://schemas.openxmlformats.org/drawingml/2006/chart">
            <c:chart xmlns:c="http://schemas.openxmlformats.org/drawingml/2006/chart" r:id="rId2"/>
          </a:graphicData>
        </a:graphic>
      </p:graphicFrame>
      <p:sp>
        <p:nvSpPr>
          <p:cNvPr id="13" name="TextBox 12"/>
          <p:cNvSpPr txBox="1"/>
          <p:nvPr/>
        </p:nvSpPr>
        <p:spPr>
          <a:xfrm>
            <a:off x="1161288" y="3273552"/>
            <a:ext cx="4352544" cy="237744"/>
          </a:xfrm>
          <a:prstGeom prst="rect">
            <a:avLst/>
          </a:prstGeom>
          <a:noFill/>
          <a:effectLst/>
        </p:spPr>
        <p:txBody>
          <a:bodyPr wrap="square" anchor="t" lIns="0" rIns="0" tIns="0" bIns="0">
            <a:spAutoFit/>
          </a:bodyPr>
          <a:lstStyle/>
          <a:p>
            <a:pPr algn="ctr">
              <a:lnSpc>
                <a:spcPct val="125000"/>
              </a:lnSpc>
              <a:spcAft>
                <a:spcPts val="0"/>
              </a:spcAft>
            </a:pPr>
            <a:r>
              <a:rPr sz="900" b="0" i="1">
                <a:solidFill>
                  <a:srgbClr val="56524B"/>
                </a:solidFill>
                <a:latin typeface="Calibri"/>
              </a:rPr>
              <a:t>Lung cancer deaths per 1,000 doctors a year</a:t>
            </a:r>
          </a:p>
        </p:txBody>
      </p:sp>
      <p:sp>
        <p:nvSpPr>
          <p:cNvPr id="14" name="Rectangle 13"/>
          <p:cNvSpPr/>
          <p:nvPr/>
        </p:nvSpPr>
        <p:spPr>
          <a:xfrm>
            <a:off x="5897880" y="1444752"/>
            <a:ext cx="2286000" cy="2176272"/>
          </a:xfrm>
          <a:prstGeom prst="rect">
            <a:avLst/>
          </a:prstGeom>
          <a:solidFill>
            <a:srgbClr val="E9E2D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080760" y="1609344"/>
            <a:ext cx="1920240" cy="182880"/>
          </a:xfrm>
          <a:prstGeom prst="rect">
            <a:avLst/>
          </a:prstGeom>
          <a:noFill/>
          <a:effectLst/>
        </p:spPr>
        <p:txBody>
          <a:bodyPr wrap="square" anchor="t" lIns="0" rIns="0" tIns="0" bIns="0">
            <a:spAutoFit/>
          </a:bodyPr>
          <a:lstStyle/>
          <a:p>
            <a:pPr algn="l">
              <a:lnSpc>
                <a:spcPct val="125000"/>
              </a:lnSpc>
              <a:spcAft>
                <a:spcPts val="0"/>
              </a:spcAft>
            </a:pPr>
            <a:r>
              <a:rPr sz="800" b="1" i="0" spc="140">
                <a:solidFill>
                  <a:srgbClr val="34322F"/>
                </a:solidFill>
                <a:latin typeface="Calibri"/>
              </a:rPr>
              <a:t>ABOUT THIS</a:t>
            </a:r>
          </a:p>
        </p:txBody>
      </p:sp>
      <p:sp>
        <p:nvSpPr>
          <p:cNvPr id="16" name="TextBox 15"/>
          <p:cNvSpPr txBox="1"/>
          <p:nvPr/>
        </p:nvSpPr>
        <p:spPr>
          <a:xfrm>
            <a:off x="6080760" y="1865376"/>
            <a:ext cx="1920240" cy="1386840"/>
          </a:xfrm>
          <a:prstGeom prst="rect">
            <a:avLst/>
          </a:prstGeom>
          <a:noFill/>
          <a:effectLst/>
        </p:spPr>
        <p:txBody>
          <a:bodyPr wrap="square" anchor="t" lIns="0" rIns="0" tIns="0" bIns="0">
            <a:spAutoFit/>
          </a:bodyPr>
          <a:lstStyle/>
          <a:p>
            <a:pPr algn="l">
              <a:lnSpc>
                <a:spcPct val="128000"/>
              </a:lnSpc>
              <a:spcAft>
                <a:spcPts val="0"/>
              </a:spcAft>
            </a:pPr>
            <a:r>
              <a:rPr sz="1200" b="0" i="0">
                <a:solidFill>
                  <a:srgbClr val="262422"/>
                </a:solidFill>
                <a:latin typeface="Calibri"/>
              </a:rPr>
              <a:t>From a study that followed about 40,000 British doctors from 1951. Figures for male doctors, 1951 to 1961.</a:t>
            </a:r>
          </a:p>
        </p:txBody>
      </p:sp>
      <p:sp>
        <p:nvSpPr>
          <p:cNvPr id="17" name="TextBox 16"/>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Doll and Hill, British Medical Journal, 1964</a:t>
            </a:r>
          </a:p>
        </p:txBody>
      </p:sp>
      <p:sp>
        <p:nvSpPr>
          <p:cNvPr id="18" name="TextBox 17"/>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C row on your evidence sheet, then move on the line.</a:t>
            </a:r>
          </a:p>
        </p:txBody>
      </p:sp>
      <p:pic>
        <p:nvPicPr>
          <p:cNvPr id="19" name="Picture 18" descr="logo-mark.png"/>
          <p:cNvPicPr>
            <a:picLocks noChangeAspect="1"/>
          </p:cNvPicPr>
          <p:nvPr/>
        </p:nvPicPr>
        <p:blipFill>
          <a:blip r:embed="rId3"/>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do the numbers say?</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Work them out in your group. Write your working on your evidence sheet.</a:t>
            </a:r>
          </a:p>
        </p:txBody>
      </p:sp>
      <p:sp>
        <p:nvSpPr>
          <p:cNvPr id="7" name="Rectangle 6"/>
          <p:cNvSpPr/>
          <p:nvPr/>
        </p:nvSpPr>
        <p:spPr>
          <a:xfrm>
            <a:off x="685800" y="1481328"/>
            <a:ext cx="7772400" cy="93954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72009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How many times higher was the lung cancer death rate for doctors who smoked 25 or more a day (2.27) than for non-smokers (0.07)?</a:t>
            </a:r>
          </a:p>
        </p:txBody>
      </p:sp>
      <p:sp>
        <p:nvSpPr>
          <p:cNvPr id="11" name="Rectangle 10"/>
          <p:cNvSpPr/>
          <p:nvPr/>
        </p:nvSpPr>
        <p:spPr>
          <a:xfrm>
            <a:off x="685800" y="2585465"/>
            <a:ext cx="7772400" cy="699516"/>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Oval 11"/>
          <p:cNvSpPr/>
          <p:nvPr/>
        </p:nvSpPr>
        <p:spPr>
          <a:xfrm>
            <a:off x="868680" y="2667761"/>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68680" y="2740913"/>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4" name="TextBox 13"/>
          <p:cNvSpPr txBox="1"/>
          <p:nvPr/>
        </p:nvSpPr>
        <p:spPr>
          <a:xfrm>
            <a:off x="1371600" y="2695194"/>
            <a:ext cx="6903720" cy="48006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What happens to the death rate every time the number of cigarettes goes up a band?</a:t>
            </a:r>
          </a:p>
        </p:txBody>
      </p:sp>
      <p:sp>
        <p:nvSpPr>
          <p:cNvPr id="15" name="Rectangle 14"/>
          <p:cNvSpPr/>
          <p:nvPr/>
        </p:nvSpPr>
        <p:spPr>
          <a:xfrm>
            <a:off x="685800" y="3449574"/>
            <a:ext cx="7772400" cy="939545"/>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Oval 15"/>
          <p:cNvSpPr/>
          <p:nvPr/>
        </p:nvSpPr>
        <p:spPr>
          <a:xfrm>
            <a:off x="868680" y="3531870"/>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68680" y="3605022"/>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18" name="TextBox 17"/>
          <p:cNvSpPr txBox="1"/>
          <p:nvPr/>
        </p:nvSpPr>
        <p:spPr>
          <a:xfrm>
            <a:off x="1371600" y="3559302"/>
            <a:ext cx="6903720" cy="720090"/>
          </a:xfrm>
          <a:prstGeom prst="rect">
            <a:avLst/>
          </a:prstGeom>
          <a:noFill/>
          <a:effectLst/>
        </p:spPr>
        <p:txBody>
          <a:bodyPr wrap="square" anchor="t" lIns="0" rIns="0" tIns="0" bIns="0">
            <a:spAutoFit/>
          </a:bodyPr>
          <a:lstStyle/>
          <a:p>
            <a:pPr algn="l">
              <a:lnSpc>
                <a:spcPct val="120000"/>
              </a:lnSpc>
              <a:spcAft>
                <a:spcPts val="0"/>
              </a:spcAft>
            </a:pPr>
            <a:r>
              <a:rPr sz="1500" b="1" i="0">
                <a:solidFill>
                  <a:srgbClr val="262422"/>
                </a:solidFill>
                <a:latin typeface="Calibri"/>
              </a:rPr>
              <a:t>The rates are per 1,000 doctors a year. Out of 1,000 doctors who smoked 25 or more a day, about how many would die of lung cancer over ten years?</a:t>
            </a:r>
          </a:p>
        </p:txBody>
      </p:sp>
      <p:pic>
        <p:nvPicPr>
          <p:cNvPr id="19" name="Picture 18"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0" name="TextBox 19"/>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1" name="TextBox 20"/>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Rounded Rectangle 3"/>
          <p:cNvSpPr/>
          <p:nvPr/>
        </p:nvSpPr>
        <p:spPr>
          <a:xfrm>
            <a:off x="7072528" y="246888"/>
            <a:ext cx="1385671"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THE ANSWERS</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your working</a:t>
            </a:r>
          </a:p>
        </p:txBody>
      </p:sp>
      <p:sp>
        <p:nvSpPr>
          <p:cNvPr id="6" name="TextBox 5"/>
          <p:cNvSpPr txBox="1"/>
          <p:nvPr/>
        </p:nvSpPr>
        <p:spPr>
          <a:xfrm>
            <a:off x="685800" y="1133856"/>
            <a:ext cx="7772400" cy="274320"/>
          </a:xfrm>
          <a:prstGeom prst="rect">
            <a:avLst/>
          </a:prstGeom>
          <a:noFill/>
          <a:effectLst/>
        </p:spPr>
        <p:txBody>
          <a:bodyPr wrap="square" anchor="t" lIns="0" rIns="0" tIns="0" bIns="0">
            <a:spAutoFit/>
          </a:bodyPr>
          <a:lstStyle/>
          <a:p>
            <a:pPr algn="l">
              <a:lnSpc>
                <a:spcPct val="125000"/>
              </a:lnSpc>
              <a:spcAft>
                <a:spcPts val="0"/>
              </a:spcAft>
            </a:pPr>
            <a:r>
              <a:rPr sz="1250" b="0" i="0">
                <a:solidFill>
                  <a:srgbClr val="56524B"/>
                </a:solidFill>
                <a:latin typeface="Calibri"/>
              </a:rPr>
              <a:t>Mark your own. A different method that gets the same answer is fine.</a:t>
            </a:r>
          </a:p>
        </p:txBody>
      </p:sp>
      <p:sp>
        <p:nvSpPr>
          <p:cNvPr id="7" name="Rectangle 6"/>
          <p:cNvSpPr/>
          <p:nvPr/>
        </p:nvSpPr>
        <p:spPr>
          <a:xfrm>
            <a:off x="685800" y="1481328"/>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563624"/>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636776"/>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1</a:t>
            </a:r>
          </a:p>
        </p:txBody>
      </p:sp>
      <p:sp>
        <p:nvSpPr>
          <p:cNvPr id="10" name="TextBox 9"/>
          <p:cNvSpPr txBox="1"/>
          <p:nvPr/>
        </p:nvSpPr>
        <p:spPr>
          <a:xfrm>
            <a:off x="1371600" y="1591056"/>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How many times higher was the lung cancer death rate for doctors who smoked 25 or more a day (2.27) than for non-smokers (0.07)?</a:t>
            </a:r>
          </a:p>
        </p:txBody>
      </p:sp>
      <p:sp>
        <p:nvSpPr>
          <p:cNvPr id="11" name="TextBox 10"/>
          <p:cNvSpPr txBox="1"/>
          <p:nvPr/>
        </p:nvSpPr>
        <p:spPr>
          <a:xfrm>
            <a:off x="1371600" y="2029968"/>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About 32 times (2.27 ÷ 0.07 = 32.4).</a:t>
            </a:r>
          </a:p>
        </p:txBody>
      </p:sp>
      <p:sp>
        <p:nvSpPr>
          <p:cNvPr id="12" name="Rectangle 11"/>
          <p:cNvSpPr/>
          <p:nvPr/>
        </p:nvSpPr>
        <p:spPr>
          <a:xfrm>
            <a:off x="685800" y="2423160"/>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05456"/>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78608"/>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2</a:t>
            </a:r>
          </a:p>
        </p:txBody>
      </p:sp>
      <p:sp>
        <p:nvSpPr>
          <p:cNvPr id="15" name="TextBox 14"/>
          <p:cNvSpPr txBox="1"/>
          <p:nvPr/>
        </p:nvSpPr>
        <p:spPr>
          <a:xfrm>
            <a:off x="1371600" y="2532888"/>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What happens to the death rate every time the number of cigarettes goes up a band?</a:t>
            </a:r>
          </a:p>
        </p:txBody>
      </p:sp>
      <p:sp>
        <p:nvSpPr>
          <p:cNvPr id="16" name="TextBox 15"/>
          <p:cNvSpPr txBox="1"/>
          <p:nvPr/>
        </p:nvSpPr>
        <p:spPr>
          <a:xfrm>
            <a:off x="1371600" y="2971800"/>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It rises every time: 0.07, then 0.57, then 1.39, then 2.27.</a:t>
            </a:r>
          </a:p>
        </p:txBody>
      </p:sp>
      <p:sp>
        <p:nvSpPr>
          <p:cNvPr id="17" name="Rectangle 16"/>
          <p:cNvSpPr/>
          <p:nvPr/>
        </p:nvSpPr>
        <p:spPr>
          <a:xfrm>
            <a:off x="685800" y="3364992"/>
            <a:ext cx="7772400" cy="8503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447288"/>
            <a:ext cx="329184" cy="32918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520440"/>
            <a:ext cx="329184" cy="182880"/>
          </a:xfrm>
          <a:prstGeom prst="rect">
            <a:avLst/>
          </a:prstGeom>
          <a:noFill/>
          <a:effectLst/>
        </p:spPr>
        <p:txBody>
          <a:bodyPr wrap="square" anchor="t" lIns="0" rIns="0" tIns="0" bIns="0">
            <a:spAutoFit/>
          </a:bodyPr>
          <a:lstStyle/>
          <a:p>
            <a:pPr algn="ctr">
              <a:lnSpc>
                <a:spcPct val="125000"/>
              </a:lnSpc>
              <a:spcAft>
                <a:spcPts val="0"/>
              </a:spcAft>
            </a:pPr>
            <a:r>
              <a:rPr sz="1050" b="1" i="0">
                <a:solidFill>
                  <a:srgbClr val="FFFDF7"/>
                </a:solidFill>
                <a:latin typeface="Calibri"/>
              </a:rPr>
              <a:t>3</a:t>
            </a:r>
          </a:p>
        </p:txBody>
      </p:sp>
      <p:sp>
        <p:nvSpPr>
          <p:cNvPr id="20" name="TextBox 19"/>
          <p:cNvSpPr txBox="1"/>
          <p:nvPr/>
        </p:nvSpPr>
        <p:spPr>
          <a:xfrm>
            <a:off x="1371600" y="3474720"/>
            <a:ext cx="6903720" cy="384048"/>
          </a:xfrm>
          <a:prstGeom prst="rect">
            <a:avLst/>
          </a:prstGeom>
          <a:noFill/>
          <a:effectLst/>
        </p:spPr>
        <p:txBody>
          <a:bodyPr wrap="square" anchor="t" lIns="0" rIns="0" tIns="0" bIns="0">
            <a:spAutoFit/>
          </a:bodyPr>
          <a:lstStyle/>
          <a:p>
            <a:pPr algn="l">
              <a:lnSpc>
                <a:spcPct val="120000"/>
              </a:lnSpc>
              <a:spcAft>
                <a:spcPts val="0"/>
              </a:spcAft>
            </a:pPr>
            <a:r>
              <a:rPr sz="1200" b="1" i="0">
                <a:solidFill>
                  <a:srgbClr val="262422"/>
                </a:solidFill>
                <a:latin typeface="Calibri"/>
              </a:rPr>
              <a:t>The rates are per 1,000 doctors a year. Out of 1,000 doctors who smoked 25 or more a day, about how many would die of lung cancer over ten years?</a:t>
            </a:r>
          </a:p>
        </p:txBody>
      </p:sp>
      <p:sp>
        <p:nvSpPr>
          <p:cNvPr id="21" name="TextBox 20"/>
          <p:cNvSpPr txBox="1"/>
          <p:nvPr/>
        </p:nvSpPr>
        <p:spPr>
          <a:xfrm>
            <a:off x="1371600" y="3913632"/>
            <a:ext cx="6903720" cy="192024"/>
          </a:xfrm>
          <a:prstGeom prst="rect">
            <a:avLst/>
          </a:prstGeom>
          <a:noFill/>
          <a:effectLst/>
        </p:spPr>
        <p:txBody>
          <a:bodyPr wrap="square" anchor="t" lIns="0" rIns="0" tIns="0" bIns="0">
            <a:spAutoFit/>
          </a:bodyPr>
          <a:lstStyle/>
          <a:p>
            <a:pPr algn="l">
              <a:lnSpc>
                <a:spcPct val="120000"/>
              </a:lnSpc>
              <a:spcAft>
                <a:spcPts val="0"/>
              </a:spcAft>
            </a:pPr>
            <a:r>
              <a:rPr sz="1200" b="0" i="0">
                <a:solidFill>
                  <a:srgbClr val="34322F"/>
                </a:solidFill>
                <a:latin typeface="Calibri"/>
              </a:rPr>
              <a:t>About 23 (2.27 × 10). For non-smokers it would be fewer than 1.</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Rounded Rectangle 3"/>
          <p:cNvSpPr/>
          <p:nvPr/>
        </p:nvSpPr>
        <p:spPr>
          <a:xfrm>
            <a:off x="7075113" y="246888"/>
            <a:ext cx="1383086" cy="237744"/>
          </a:xfrm>
          <a:prstGeom prst="roundRect">
            <a:avLst>
              <a:gd name="adj" fmla="val 50000"/>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FFFDF7"/>
                </a:solidFill>
                <a:latin typeface="Calibri"/>
              </a:rPr>
              <a:t>ROUND 4 OF 4</a:t>
            </a:r>
          </a:p>
        </p:txBody>
      </p:sp>
      <p:sp>
        <p:nvSpPr>
          <p:cNvPr id="5" name="Rectangle 4"/>
          <p:cNvSpPr/>
          <p:nvPr/>
        </p:nvSpPr>
        <p:spPr>
          <a:xfrm>
            <a:off x="685800" y="603504"/>
            <a:ext cx="1554480" cy="329184"/>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658368"/>
            <a:ext cx="1554480" cy="237744"/>
          </a:xfrm>
          <a:prstGeom prst="rect">
            <a:avLst/>
          </a:prstGeom>
          <a:noFill/>
          <a:effectLst/>
        </p:spPr>
        <p:txBody>
          <a:bodyPr wrap="square" anchor="t" lIns="0" rIns="0" tIns="0" bIns="0">
            <a:spAutoFit/>
          </a:bodyPr>
          <a:lstStyle/>
          <a:p>
            <a:pPr algn="ctr">
              <a:lnSpc>
                <a:spcPct val="125000"/>
              </a:lnSpc>
              <a:spcAft>
                <a:spcPts val="0"/>
              </a:spcAft>
            </a:pPr>
            <a:r>
              <a:rPr sz="1100" b="1" i="0" spc="160">
                <a:solidFill>
                  <a:srgbClr val="FFFDF7"/>
                </a:solidFill>
                <a:latin typeface="Calibri"/>
              </a:rPr>
              <a:t>EVIDENCE D</a:t>
            </a:r>
          </a:p>
        </p:txBody>
      </p:sp>
      <p:sp>
        <p:nvSpPr>
          <p:cNvPr id="7" name="Rectangle 6"/>
          <p:cNvSpPr/>
          <p:nvPr/>
        </p:nvSpPr>
        <p:spPr>
          <a:xfrm>
            <a:off x="685800" y="932688"/>
            <a:ext cx="7772400" cy="3072384"/>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85800" y="932688"/>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005840" y="1115568"/>
            <a:ext cx="7132320" cy="365760"/>
          </a:xfrm>
          <a:prstGeom prst="rect">
            <a:avLst/>
          </a:prstGeom>
          <a:noFill/>
          <a:effectLst/>
        </p:spPr>
        <p:txBody>
          <a:bodyPr wrap="square" anchor="t" lIns="0" rIns="0" tIns="0" bIns="0">
            <a:spAutoFit/>
          </a:bodyPr>
          <a:lstStyle/>
          <a:p>
            <a:pPr algn="l">
              <a:lnSpc>
                <a:spcPct val="125000"/>
              </a:lnSpc>
              <a:spcAft>
                <a:spcPts val="0"/>
              </a:spcAft>
            </a:pPr>
            <a:r>
              <a:rPr sz="2200" b="0" i="0">
                <a:solidFill>
                  <a:srgbClr val="262422"/>
                </a:solidFill>
                <a:latin typeface="Georgia"/>
              </a:rPr>
              <a:t>The scientists</a:t>
            </a:r>
          </a:p>
        </p:txBody>
      </p:sp>
      <p:sp>
        <p:nvSpPr>
          <p:cNvPr id="10" name="TextBox 9"/>
          <p:cNvSpPr txBox="1"/>
          <p:nvPr/>
        </p:nvSpPr>
        <p:spPr>
          <a:xfrm>
            <a:off x="1005840" y="1609344"/>
            <a:ext cx="7132320" cy="1320800"/>
          </a:xfrm>
          <a:prstGeom prst="rect">
            <a:avLst/>
          </a:prstGeom>
          <a:noFill/>
          <a:effectLst/>
        </p:spPr>
        <p:txBody>
          <a:bodyPr wrap="square" anchor="t" lIns="0" rIns="0" tIns="0" bIns="0">
            <a:spAutoFit/>
          </a:bodyPr>
          <a:lstStyle/>
          <a:p>
            <a:pPr algn="l">
              <a:lnSpc>
                <a:spcPct val="130000"/>
              </a:lnSpc>
              <a:spcAft>
                <a:spcPts val="0"/>
              </a:spcAft>
            </a:pPr>
            <a:r>
              <a:rPr sz="1600" b="0" i="0">
                <a:solidFill>
                  <a:srgbClr val="262422"/>
                </a:solidFill>
                <a:latin typeface="Georgia"/>
              </a:rPr>
              <a:t>In 1950, Richard Doll and Austin Bradford Hill studied patients in twenty London hospitals. They wrote that the risk of lung cancer “may be 50 times as great among those who smoke 25 or more cigarettes a day as among non-smokers.” Doll had been a smoker. He gave up.</a:t>
            </a:r>
          </a:p>
        </p:txBody>
      </p:sp>
      <p:sp>
        <p:nvSpPr>
          <p:cNvPr id="11" name="TextBox 10"/>
          <p:cNvSpPr txBox="1"/>
          <p:nvPr/>
        </p:nvSpPr>
        <p:spPr>
          <a:xfrm>
            <a:off x="1005840" y="3675887"/>
            <a:ext cx="7132320" cy="219456"/>
          </a:xfrm>
          <a:prstGeom prst="rect">
            <a:avLst/>
          </a:prstGeom>
          <a:noFill/>
          <a:effectLst/>
        </p:spPr>
        <p:txBody>
          <a:bodyPr wrap="square" anchor="t" lIns="0" rIns="0" tIns="0" bIns="0">
            <a:spAutoFit/>
          </a:bodyPr>
          <a:lstStyle/>
          <a:p>
            <a:pPr algn="l">
              <a:lnSpc>
                <a:spcPct val="125000"/>
              </a:lnSpc>
              <a:spcAft>
                <a:spcPts val="0"/>
              </a:spcAft>
            </a:pPr>
            <a:r>
              <a:rPr sz="950" b="0" i="1">
                <a:solidFill>
                  <a:srgbClr val="8C877D"/>
                </a:solidFill>
                <a:latin typeface="Calibri"/>
              </a:rPr>
              <a:t>Source: Doll and Hill, British Medical Journal, 1950</a:t>
            </a:r>
          </a:p>
        </p:txBody>
      </p:sp>
      <p:sp>
        <p:nvSpPr>
          <p:cNvPr id="12" name="TextBox 11"/>
          <p:cNvSpPr txBox="1"/>
          <p:nvPr/>
        </p:nvSpPr>
        <p:spPr>
          <a:xfrm>
            <a:off x="868680" y="4133087"/>
            <a:ext cx="7406640" cy="400050"/>
          </a:xfrm>
          <a:prstGeom prst="rect">
            <a:avLst/>
          </a:prstGeom>
          <a:noFill/>
          <a:effectLst/>
        </p:spPr>
        <p:txBody>
          <a:bodyPr wrap="square" anchor="t" lIns="0" rIns="0" tIns="0" bIns="0">
            <a:spAutoFit/>
          </a:bodyPr>
          <a:lstStyle/>
          <a:p>
            <a:pPr algn="ctr">
              <a:lnSpc>
                <a:spcPct val="120000"/>
              </a:lnSpc>
              <a:spcAft>
                <a:spcPts val="0"/>
              </a:spcAft>
            </a:pPr>
            <a:r>
              <a:rPr sz="1250" b="1" i="0">
                <a:solidFill>
                  <a:srgbClr val="34322F"/>
                </a:solidFill>
                <a:latin typeface="Calibri"/>
              </a:rPr>
              <a:t>Read it as a group. Fill in the card D row on your evidence sheet, then move on the line.</a:t>
            </a:r>
          </a:p>
        </p:txBody>
      </p:sp>
      <p:pic>
        <p:nvPicPr>
          <p:cNvPr id="13" name="Picture 1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4" name="TextBox 1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5" name="TextBox 1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Write the real front page</a:t>
            </a:r>
          </a:p>
        </p:txBody>
      </p:sp>
      <p:sp>
        <p:nvSpPr>
          <p:cNvPr id="6" name="TextBox 5"/>
          <p:cNvSpPr txBox="1"/>
          <p:nvPr/>
        </p:nvSpPr>
        <p:spPr>
          <a:xfrm>
            <a:off x="685800" y="1115568"/>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On your front page sheet, on your own or with one partner.</a:t>
            </a:r>
          </a:p>
        </p:txBody>
      </p:sp>
      <p:sp>
        <p:nvSpPr>
          <p:cNvPr id="7" name="Rectangle 6"/>
          <p:cNvSpPr/>
          <p:nvPr/>
        </p:nvSpPr>
        <p:spPr>
          <a:xfrm>
            <a:off x="685800" y="14996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636775"/>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732787"/>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002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A headline that is true to the evidence</a:t>
            </a:r>
          </a:p>
        </p:txBody>
      </p:sp>
      <p:sp>
        <p:nvSpPr>
          <p:cNvPr id="11" name="TextBox 10"/>
          <p:cNvSpPr txBox="1"/>
          <p:nvPr/>
        </p:nvSpPr>
        <p:spPr>
          <a:xfrm>
            <a:off x="1417320" y="18470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 bigger than the evidence. If you are not sure, the headline can say so.</a:t>
            </a:r>
          </a:p>
        </p:txBody>
      </p:sp>
      <p:sp>
        <p:nvSpPr>
          <p:cNvPr id="12" name="Rectangle 11"/>
          <p:cNvSpPr/>
          <p:nvPr/>
        </p:nvSpPr>
        <p:spPr>
          <a:xfrm>
            <a:off x="685800" y="2304288"/>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441448"/>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537460"/>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404872"/>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One line under it that sums up the story</a:t>
            </a:r>
          </a:p>
        </p:txBody>
      </p:sp>
      <p:sp>
        <p:nvSpPr>
          <p:cNvPr id="16" name="TextBox 15"/>
          <p:cNvSpPr txBox="1"/>
          <p:nvPr/>
        </p:nvSpPr>
        <p:spPr>
          <a:xfrm>
            <a:off x="1417320" y="2651760"/>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Who made the claim, and what they stood to gain.</a:t>
            </a:r>
          </a:p>
        </p:txBody>
      </p:sp>
      <p:sp>
        <p:nvSpPr>
          <p:cNvPr id="17" name="Rectangle 16"/>
          <p:cNvSpPr/>
          <p:nvPr/>
        </p:nvSpPr>
        <p:spPr>
          <a:xfrm>
            <a:off x="685800" y="3108960"/>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246120"/>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342132"/>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209544"/>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The story, in four or five sentences</a:t>
            </a:r>
          </a:p>
        </p:txBody>
      </p:sp>
      <p:sp>
        <p:nvSpPr>
          <p:cNvPr id="21" name="TextBox 20"/>
          <p:cNvSpPr txBox="1"/>
          <p:nvPr/>
        </p:nvSpPr>
        <p:spPr>
          <a:xfrm>
            <a:off x="1417320" y="3456432"/>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Use at least two cards, name each one, and put in one number from your sums.</a:t>
            </a:r>
          </a:p>
        </p:txBody>
      </p:sp>
      <p:sp>
        <p:nvSpPr>
          <p:cNvPr id="22" name="TextBox 21"/>
          <p:cNvSpPr txBox="1"/>
          <p:nvPr/>
        </p:nvSpPr>
        <p:spPr>
          <a:xfrm>
            <a:off x="868680" y="3986784"/>
            <a:ext cx="7406640" cy="432054"/>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Your evidence sheet has everything you need. Write it for somebody who has not seen the cards.</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Check somebody else’s page</a:t>
            </a:r>
          </a:p>
        </p:txBody>
      </p:sp>
      <p:sp>
        <p:nvSpPr>
          <p:cNvPr id="6" name="TextBox 5"/>
          <p:cNvSpPr txBox="1"/>
          <p:nvPr/>
        </p:nvSpPr>
        <p:spPr>
          <a:xfrm>
            <a:off x="685800" y="1152144"/>
            <a:ext cx="7772400" cy="274320"/>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56524B"/>
                </a:solidFill>
                <a:latin typeface="Calibri"/>
              </a:rPr>
              <a:t>Swap front pages with somebody from another group. Tick each box it passes.</a:t>
            </a:r>
          </a:p>
        </p:txBody>
      </p:sp>
      <p:sp>
        <p:nvSpPr>
          <p:cNvPr id="7" name="Rectangle 6"/>
          <p:cNvSpPr/>
          <p:nvPr/>
        </p:nvSpPr>
        <p:spPr>
          <a:xfrm>
            <a:off x="685800" y="159105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68680" y="172821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68680" y="182422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10" name="TextBox 9"/>
          <p:cNvSpPr txBox="1"/>
          <p:nvPr/>
        </p:nvSpPr>
        <p:spPr>
          <a:xfrm>
            <a:off x="1417320" y="169164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Is the headline true to the evidence?</a:t>
            </a:r>
          </a:p>
        </p:txBody>
      </p:sp>
      <p:sp>
        <p:nvSpPr>
          <p:cNvPr id="11" name="TextBox 10"/>
          <p:cNvSpPr txBox="1"/>
          <p:nvPr/>
        </p:nvSpPr>
        <p:spPr>
          <a:xfrm>
            <a:off x="1417320" y="193852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Not bigger, not smaller, than what the cards show.</a:t>
            </a:r>
          </a:p>
        </p:txBody>
      </p:sp>
      <p:sp>
        <p:nvSpPr>
          <p:cNvPr id="12" name="Rectangle 11"/>
          <p:cNvSpPr/>
          <p:nvPr/>
        </p:nvSpPr>
        <p:spPr>
          <a:xfrm>
            <a:off x="685800" y="241401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68680" y="255117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68680" y="264718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5" name="TextBox 14"/>
          <p:cNvSpPr txBox="1"/>
          <p:nvPr/>
        </p:nvSpPr>
        <p:spPr>
          <a:xfrm>
            <a:off x="1417320" y="251460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Does it say where the evidence came from?</a:t>
            </a:r>
          </a:p>
        </p:txBody>
      </p:sp>
      <p:sp>
        <p:nvSpPr>
          <p:cNvPr id="16" name="TextBox 15"/>
          <p:cNvSpPr txBox="1"/>
          <p:nvPr/>
        </p:nvSpPr>
        <p:spPr>
          <a:xfrm>
            <a:off x="1417320" y="276148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A study, a document, a person with a name.</a:t>
            </a:r>
          </a:p>
        </p:txBody>
      </p:sp>
      <p:sp>
        <p:nvSpPr>
          <p:cNvPr id="17" name="Rectangle 16"/>
          <p:cNvSpPr/>
          <p:nvPr/>
        </p:nvSpPr>
        <p:spPr>
          <a:xfrm>
            <a:off x="685800" y="3236976"/>
            <a:ext cx="7772400" cy="676656"/>
          </a:xfrm>
          <a:prstGeom prst="rect">
            <a:avLst/>
          </a:prstGeom>
          <a:solidFill>
            <a:srgbClr val="FFFD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868680" y="3374136"/>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868680" y="3470148"/>
            <a:ext cx="402336" cy="219456"/>
          </a:xfrm>
          <a:prstGeom prst="rect">
            <a:avLst/>
          </a:prstGeom>
          <a:noFill/>
          <a:effectLst/>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20" name="TextBox 19"/>
          <p:cNvSpPr txBox="1"/>
          <p:nvPr/>
        </p:nvSpPr>
        <p:spPr>
          <a:xfrm>
            <a:off x="1417320" y="3337560"/>
            <a:ext cx="6821424" cy="237744"/>
          </a:xfrm>
          <a:prstGeom prst="rect">
            <a:avLst/>
          </a:prstGeom>
          <a:noFill/>
          <a:effectLst/>
        </p:spPr>
        <p:txBody>
          <a:bodyPr wrap="square" anchor="t" lIns="0" rIns="0" tIns="0" bIns="0">
            <a:spAutoFit/>
          </a:bodyPr>
          <a:lstStyle/>
          <a:p>
            <a:pPr algn="l">
              <a:lnSpc>
                <a:spcPct val="125000"/>
              </a:lnSpc>
              <a:spcAft>
                <a:spcPts val="0"/>
              </a:spcAft>
            </a:pPr>
            <a:r>
              <a:rPr sz="1300" b="0" i="0">
                <a:solidFill>
                  <a:srgbClr val="34322F"/>
                </a:solidFill>
                <a:latin typeface="Georgia"/>
              </a:rPr>
              <a:t>Would it survive the five questions?</a:t>
            </a:r>
          </a:p>
        </p:txBody>
      </p:sp>
      <p:sp>
        <p:nvSpPr>
          <p:cNvPr id="21" name="TextBox 20"/>
          <p:cNvSpPr txBox="1"/>
          <p:nvPr/>
        </p:nvSpPr>
        <p:spPr>
          <a:xfrm>
            <a:off x="1417320" y="3584448"/>
            <a:ext cx="6821424" cy="256031"/>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56524B"/>
                </a:solidFill>
                <a:latin typeface="Calibri"/>
              </a:rPr>
              <a:t>Try one or two of them on it.</a:t>
            </a:r>
          </a:p>
        </p:txBody>
      </p:sp>
      <p:sp>
        <p:nvSpPr>
          <p:cNvPr id="22" name="TextBox 21"/>
          <p:cNvSpPr txBox="1"/>
          <p:nvPr/>
        </p:nvSpPr>
        <p:spPr>
          <a:xfrm>
            <a:off x="868680" y="4023360"/>
            <a:ext cx="7406640" cy="216027"/>
          </a:xfrm>
          <a:prstGeom prst="rect">
            <a:avLst/>
          </a:prstGeom>
          <a:noFill/>
          <a:effectLst/>
        </p:spPr>
        <p:txBody>
          <a:bodyPr wrap="square" anchor="t" lIns="0" rIns="0" tIns="0" bIns="0">
            <a:spAutoFit/>
          </a:bodyPr>
          <a:lstStyle/>
          <a:p>
            <a:pPr algn="ctr">
              <a:lnSpc>
                <a:spcPct val="120000"/>
              </a:lnSpc>
              <a:spcAft>
                <a:spcPts val="0"/>
              </a:spcAft>
            </a:pPr>
            <a:r>
              <a:rPr sz="1350" b="1" i="0">
                <a:solidFill>
                  <a:srgbClr val="34322F"/>
                </a:solidFill>
                <a:latin typeface="Calibri"/>
              </a:rPr>
              <a:t>Write one change that would make it better, then hand it back.</a:t>
            </a:r>
          </a:p>
        </p:txBody>
      </p:sp>
      <p:pic>
        <p:nvPicPr>
          <p:cNvPr id="23" name="Picture 22"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4" name="TextBox 23"/>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5" name="TextBox 24"/>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4" name="TextBox 3"/>
          <p:cNvSpPr txBox="1"/>
          <p:nvPr/>
        </p:nvSpPr>
        <p:spPr>
          <a:xfrm>
            <a:off x="685800" y="566928"/>
            <a:ext cx="512064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What really happened</a:t>
            </a:r>
          </a:p>
        </p:txBody>
      </p:sp>
      <p:sp>
        <p:nvSpPr>
          <p:cNvPr id="5" name="Rounded Rectangle 4"/>
          <p:cNvSpPr/>
          <p:nvPr/>
        </p:nvSpPr>
        <p:spPr>
          <a:xfrm rot="21120000">
            <a:off x="5748829" y="522732"/>
            <a:ext cx="2858421" cy="746760"/>
          </a:xfrm>
          <a:prstGeom prst="roundRect">
            <a:avLst>
              <a:gd name="adj" fmla="val 8000"/>
            </a:avLst>
          </a:prstGeom>
          <a:noFill/>
          <a:ln w="4445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ounded Rectangle 5"/>
          <p:cNvSpPr/>
          <p:nvPr/>
        </p:nvSpPr>
        <p:spPr>
          <a:xfrm rot="21120000">
            <a:off x="5831125" y="605028"/>
            <a:ext cx="2693829" cy="582168"/>
          </a:xfrm>
          <a:prstGeom prst="roundRect">
            <a:avLst>
              <a:gd name="adj" fmla="val 6000"/>
            </a:avLst>
          </a:prstGeom>
          <a:noFill/>
          <a:ln w="15240">
            <a:solidFill>
              <a:srgbClr val="34322F"/>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wrap="none"/>
          <a:lstStyle/>
          <a:p>
            <a:pPr algn="ctr"/>
            <a:r>
              <a:rPr sz="3000" b="1" spc="600">
                <a:solidFill>
                  <a:srgbClr val="34322F"/>
                </a:solidFill>
                <a:latin typeface="Calibri"/>
              </a:rPr>
              <a:t>BUSTED</a:t>
            </a:r>
          </a:p>
        </p:txBody>
      </p:sp>
      <p:sp>
        <p:nvSpPr>
          <p:cNvPr id="7" name="TextBox 6"/>
          <p:cNvSpPr txBox="1"/>
          <p:nvPr/>
        </p:nvSpPr>
        <p:spPr>
          <a:xfrm>
            <a:off x="685800" y="1591056"/>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1946</a:t>
            </a:r>
          </a:p>
        </p:txBody>
      </p:sp>
      <p:sp>
        <p:nvSpPr>
          <p:cNvPr id="8" name="Oval 7"/>
          <p:cNvSpPr/>
          <p:nvPr/>
        </p:nvSpPr>
        <p:spPr>
          <a:xfrm>
            <a:off x="1819656" y="1645919"/>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130552" y="1591056"/>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 “More doctors smoke Camels” adverts begin.</a:t>
            </a:r>
          </a:p>
        </p:txBody>
      </p:sp>
      <p:sp>
        <p:nvSpPr>
          <p:cNvPr id="10" name="TextBox 9"/>
          <p:cNvSpPr txBox="1"/>
          <p:nvPr/>
        </p:nvSpPr>
        <p:spPr>
          <a:xfrm>
            <a:off x="685800" y="2029967"/>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1950</a:t>
            </a:r>
          </a:p>
        </p:txBody>
      </p:sp>
      <p:sp>
        <p:nvSpPr>
          <p:cNvPr id="11" name="Oval 10"/>
          <p:cNvSpPr/>
          <p:nvPr/>
        </p:nvSpPr>
        <p:spPr>
          <a:xfrm>
            <a:off x="1819656" y="2084831"/>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130552" y="2029967"/>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Doll and Hill link smoking to lung cancer.</a:t>
            </a:r>
          </a:p>
        </p:txBody>
      </p:sp>
      <p:sp>
        <p:nvSpPr>
          <p:cNvPr id="13" name="TextBox 12"/>
          <p:cNvSpPr txBox="1"/>
          <p:nvPr/>
        </p:nvSpPr>
        <p:spPr>
          <a:xfrm>
            <a:off x="685800" y="2468879"/>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1951</a:t>
            </a:r>
          </a:p>
        </p:txBody>
      </p:sp>
      <p:sp>
        <p:nvSpPr>
          <p:cNvPr id="14" name="Oval 13"/>
          <p:cNvSpPr/>
          <p:nvPr/>
        </p:nvSpPr>
        <p:spPr>
          <a:xfrm>
            <a:off x="1819656" y="2523744"/>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2130552" y="2468879"/>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They start following about 40,000 British doctors.</a:t>
            </a:r>
          </a:p>
        </p:txBody>
      </p:sp>
      <p:sp>
        <p:nvSpPr>
          <p:cNvPr id="16" name="TextBox 15"/>
          <p:cNvSpPr txBox="1"/>
          <p:nvPr/>
        </p:nvSpPr>
        <p:spPr>
          <a:xfrm>
            <a:off x="685800" y="2907791"/>
            <a:ext cx="1005840" cy="274320"/>
          </a:xfrm>
          <a:prstGeom prst="rect">
            <a:avLst/>
          </a:prstGeom>
          <a:noFill/>
          <a:effectLst/>
        </p:spPr>
        <p:txBody>
          <a:bodyPr wrap="square" anchor="t" lIns="0" rIns="0" tIns="0" bIns="0">
            <a:spAutoFit/>
          </a:bodyPr>
          <a:lstStyle/>
          <a:p>
            <a:pPr algn="r">
              <a:lnSpc>
                <a:spcPct val="125000"/>
              </a:lnSpc>
              <a:spcAft>
                <a:spcPts val="0"/>
              </a:spcAft>
            </a:pPr>
            <a:r>
              <a:rPr sz="1500" b="0" i="0">
                <a:solidFill>
                  <a:srgbClr val="34322F"/>
                </a:solidFill>
                <a:latin typeface="Georgia"/>
              </a:rPr>
              <a:t>1964</a:t>
            </a:r>
          </a:p>
        </p:txBody>
      </p:sp>
      <p:sp>
        <p:nvSpPr>
          <p:cNvPr id="17" name="Oval 16"/>
          <p:cNvSpPr/>
          <p:nvPr/>
        </p:nvSpPr>
        <p:spPr>
          <a:xfrm>
            <a:off x="1819656" y="2962656"/>
            <a:ext cx="146304" cy="146304"/>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2130552" y="2907791"/>
            <a:ext cx="6309360" cy="216027"/>
          </a:xfrm>
          <a:prstGeom prst="rect">
            <a:avLst/>
          </a:prstGeom>
          <a:noFill/>
          <a:effectLst/>
        </p:spPr>
        <p:txBody>
          <a:bodyPr wrap="square" anchor="t" lIns="0" rIns="0" tIns="0" bIns="0">
            <a:spAutoFit/>
          </a:bodyPr>
          <a:lstStyle/>
          <a:p>
            <a:pPr algn="l">
              <a:lnSpc>
                <a:spcPct val="122000"/>
              </a:lnSpc>
              <a:spcAft>
                <a:spcPts val="0"/>
              </a:spcAft>
            </a:pPr>
            <a:r>
              <a:rPr sz="1350" b="0" i="0">
                <a:solidFill>
                  <a:srgbClr val="262422"/>
                </a:solidFill>
                <a:latin typeface="Calibri"/>
              </a:rPr>
              <a:t>Their study of doctors shows the more you smoke, the higher the risk.</a:t>
            </a:r>
          </a:p>
        </p:txBody>
      </p:sp>
      <p:sp>
        <p:nvSpPr>
          <p:cNvPr id="19" name="Rectangle 18"/>
          <p:cNvSpPr/>
          <p:nvPr/>
        </p:nvSpPr>
        <p:spPr>
          <a:xfrm>
            <a:off x="685800" y="3840480"/>
            <a:ext cx="7772400" cy="676656"/>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8680" y="3941063"/>
            <a:ext cx="7406640" cy="182880"/>
          </a:xfrm>
          <a:prstGeom prst="rect">
            <a:avLst/>
          </a:prstGeom>
          <a:noFill/>
          <a:effectLst/>
        </p:spPr>
        <p:txBody>
          <a:bodyPr wrap="square" anchor="t" lIns="0" rIns="0" tIns="0" bIns="0">
            <a:spAutoFit/>
          </a:bodyPr>
          <a:lstStyle/>
          <a:p>
            <a:pPr algn="ctr">
              <a:lnSpc>
                <a:spcPct val="125000"/>
              </a:lnSpc>
              <a:spcAft>
                <a:spcPts val="0"/>
              </a:spcAft>
            </a:pPr>
            <a:r>
              <a:rPr sz="850" b="1" i="0" spc="150">
                <a:solidFill>
                  <a:srgbClr val="D7D2C8"/>
                </a:solidFill>
                <a:latin typeface="Calibri"/>
              </a:rPr>
              <a:t>THE QUESTION THAT WOULD HAVE CAUGHT IT</a:t>
            </a:r>
          </a:p>
        </p:txBody>
      </p:sp>
      <p:sp>
        <p:nvSpPr>
          <p:cNvPr id="21" name="TextBox 20"/>
          <p:cNvSpPr txBox="1"/>
          <p:nvPr/>
        </p:nvSpPr>
        <p:spPr>
          <a:xfrm>
            <a:off x="868680" y="4133087"/>
            <a:ext cx="7406640" cy="310896"/>
          </a:xfrm>
          <a:prstGeom prst="rect">
            <a:avLst/>
          </a:prstGeom>
          <a:noFill/>
          <a:effectLst/>
        </p:spPr>
        <p:txBody>
          <a:bodyPr wrap="square" anchor="t" lIns="0" rIns="0" tIns="0" bIns="0">
            <a:spAutoFit/>
          </a:bodyPr>
          <a:lstStyle/>
          <a:p>
            <a:pPr algn="ctr">
              <a:lnSpc>
                <a:spcPct val="125000"/>
              </a:lnSpc>
              <a:spcAft>
                <a:spcPts val="0"/>
              </a:spcAft>
            </a:pPr>
            <a:r>
              <a:rPr sz="1800" b="0" i="0">
                <a:solidFill>
                  <a:srgbClr val="FFFDF7"/>
                </a:solidFill>
                <a:latin typeface="Georgia"/>
              </a:rPr>
              <a:t>What is the evidence?</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23" name="TextBox 22"/>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24" name="TextBox 23"/>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731520"/>
            <a:ext cx="7772400" cy="201168"/>
          </a:xfrm>
          <a:prstGeom prst="rect">
            <a:avLst/>
          </a:prstGeom>
          <a:noFill/>
          <a:effectLst/>
        </p:spPr>
        <p:txBody>
          <a:bodyPr wrap="square" anchor="t" lIns="0" rIns="0" tIns="0" bIns="0">
            <a:spAutoFit/>
          </a:bodyPr>
          <a:lstStyle/>
          <a:p>
            <a:pPr algn="ctr">
              <a:lnSpc>
                <a:spcPct val="125000"/>
              </a:lnSpc>
              <a:spcAft>
                <a:spcPts val="0"/>
              </a:spcAft>
            </a:pPr>
            <a:r>
              <a:rPr sz="900" b="1" i="0" spc="160">
                <a:solidFill>
                  <a:srgbClr val="56524B"/>
                </a:solidFill>
                <a:latin typeface="Calibri"/>
              </a:rPr>
              <a:t>NO RIGHT ANSWER</a:t>
            </a:r>
          </a:p>
        </p:txBody>
      </p:sp>
      <p:sp>
        <p:nvSpPr>
          <p:cNvPr id="6" name="KEEP_SHADOW"/>
          <p:cNvSpPr/>
          <p:nvPr/>
        </p:nvSpPr>
        <p:spPr>
          <a:xfrm>
            <a:off x="685800" y="1042415"/>
            <a:ext cx="7772400" cy="1588008"/>
          </a:xfrm>
          <a:prstGeom prst="rect">
            <a:avLst/>
          </a:prstGeom>
          <a:solidFill>
            <a:srgbClr val="FFFFFF"/>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042415"/>
            <a:ext cx="7772400" cy="45720"/>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1143000" y="1316736"/>
            <a:ext cx="6858000" cy="1039368"/>
          </a:xfrm>
          <a:prstGeom prst="rect">
            <a:avLst/>
          </a:prstGeom>
          <a:noFill/>
          <a:effectLst/>
        </p:spPr>
        <p:txBody>
          <a:bodyPr wrap="square" anchor="t" lIns="0" rIns="0" tIns="0" bIns="0">
            <a:spAutoFit/>
          </a:bodyPr>
          <a:lstStyle/>
          <a:p>
            <a:pPr algn="ctr">
              <a:lnSpc>
                <a:spcPct val="112000"/>
              </a:lnSpc>
              <a:spcAft>
                <a:spcPts val="0"/>
              </a:spcAft>
            </a:pPr>
            <a:r>
              <a:rPr sz="2200" b="0" i="0">
                <a:solidFill>
                  <a:srgbClr val="262422"/>
                </a:solidFill>
                <a:latin typeface="Georgia"/>
              </a:rPr>
              <a:t>Adverts still use experts, from dentists to scientists in white coats. Would you trust an advert more if it had a doctor in it?</a:t>
            </a:r>
          </a:p>
        </p:txBody>
      </p:sp>
      <p:sp>
        <p:nvSpPr>
          <p:cNvPr id="9" name="TextBox 8"/>
          <p:cNvSpPr txBox="1"/>
          <p:nvPr/>
        </p:nvSpPr>
        <p:spPr>
          <a:xfrm>
            <a:off x="868680" y="2950464"/>
            <a:ext cx="7406640" cy="224028"/>
          </a:xfrm>
          <a:prstGeom prst="rect">
            <a:avLst/>
          </a:prstGeom>
          <a:noFill/>
          <a:effectLst/>
        </p:spPr>
        <p:txBody>
          <a:bodyPr wrap="square" anchor="t" lIns="0" rIns="0" tIns="0" bIns="0">
            <a:spAutoFit/>
          </a:bodyPr>
          <a:lstStyle/>
          <a:p>
            <a:pPr algn="ctr">
              <a:lnSpc>
                <a:spcPct val="120000"/>
              </a:lnSpc>
              <a:spcAft>
                <a:spcPts val="0"/>
              </a:spcAft>
            </a:pPr>
            <a:r>
              <a:rPr sz="1400" b="1" i="0">
                <a:solidFill>
                  <a:srgbClr val="34322F"/>
                </a:solidFill>
                <a:latin typeface="Calibri"/>
              </a:rPr>
              <a:t>Two minutes with the person next to you, then we hear from a few.</a:t>
            </a:r>
          </a:p>
        </p:txBody>
      </p:sp>
      <p:pic>
        <p:nvPicPr>
          <p:cNvPr id="10" name="Picture 9"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1" name="TextBox 10"/>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2" name="TextBox 11"/>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685800" y="274320"/>
            <a:ext cx="5669280" cy="201168"/>
          </a:xfrm>
          <a:prstGeom prst="rect">
            <a:avLst/>
          </a:prstGeom>
          <a:noFill/>
          <a:effectLst/>
        </p:spPr>
        <p:txBody>
          <a:bodyPr wrap="square" anchor="t" lIns="0" rIns="0" tIns="0" bIns="0">
            <a:spAutoFit/>
          </a:bodyPr>
          <a:lstStyle/>
          <a:p>
            <a:pPr algn="l">
              <a:lnSpc>
                <a:spcPct val="125000"/>
              </a:lnSpc>
              <a:spcAft>
                <a:spcPts val="0"/>
              </a:spcAft>
            </a:pPr>
            <a:r>
              <a:rPr sz="900" b="1" i="0" spc="150">
                <a:solidFill>
                  <a:srgbClr val="34322F"/>
                </a:solidFill>
                <a:latin typeface="Calibri"/>
              </a:rPr>
              <a:t>QUESTION THE HEADLINE  ·  LESSON 3 OF 5</a:t>
            </a:r>
          </a:p>
        </p:txBody>
      </p:sp>
      <p:sp>
        <p:nvSpPr>
          <p:cNvPr id="5" name="TextBox 4"/>
          <p:cNvSpPr txBox="1"/>
          <p:nvPr/>
        </p:nvSpPr>
        <p:spPr>
          <a:xfrm>
            <a:off x="685800" y="566928"/>
            <a:ext cx="7772400" cy="434848"/>
          </a:xfrm>
          <a:prstGeom prst="rect">
            <a:avLst/>
          </a:prstGeom>
          <a:noFill/>
          <a:effectLst/>
        </p:spPr>
        <p:txBody>
          <a:bodyPr wrap="square" anchor="t" lIns="0" rIns="0" tIns="0" bIns="0">
            <a:spAutoFit/>
          </a:bodyPr>
          <a:lstStyle/>
          <a:p>
            <a:pPr algn="l">
              <a:lnSpc>
                <a:spcPct val="105000"/>
              </a:lnSpc>
              <a:spcAft>
                <a:spcPts val="0"/>
              </a:spcAft>
            </a:pPr>
            <a:r>
              <a:rPr sz="2800" b="0" i="0">
                <a:solidFill>
                  <a:srgbClr val="262422"/>
                </a:solidFill>
                <a:latin typeface="Georgia"/>
              </a:rPr>
              <a:t>Two questions, just for you</a:t>
            </a:r>
          </a:p>
        </p:txBody>
      </p:sp>
      <p:sp>
        <p:nvSpPr>
          <p:cNvPr id="6" name="Rectangle 5"/>
          <p:cNvSpPr/>
          <p:nvPr/>
        </p:nvSpPr>
        <p:spPr>
          <a:xfrm>
            <a:off x="685800" y="137160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685800" y="137160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Oval 7"/>
          <p:cNvSpPr/>
          <p:nvPr/>
        </p:nvSpPr>
        <p:spPr>
          <a:xfrm>
            <a:off x="896112" y="164363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896112" y="173507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1</a:t>
            </a:r>
          </a:p>
        </p:txBody>
      </p:sp>
      <p:sp>
        <p:nvSpPr>
          <p:cNvPr id="10" name="TextBox 9"/>
          <p:cNvSpPr txBox="1"/>
          <p:nvPr/>
        </p:nvSpPr>
        <p:spPr>
          <a:xfrm>
            <a:off x="1554480" y="157276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Where did you move on the line, and which card moved you?</a:t>
            </a:r>
          </a:p>
        </p:txBody>
      </p:sp>
      <p:sp>
        <p:nvSpPr>
          <p:cNvPr id="11" name="Rectangle 10"/>
          <p:cNvSpPr/>
          <p:nvPr/>
        </p:nvSpPr>
        <p:spPr>
          <a:xfrm>
            <a:off x="685800" y="2537460"/>
            <a:ext cx="7772400" cy="946403"/>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85800" y="2537460"/>
            <a:ext cx="45720" cy="946403"/>
          </a:xfrm>
          <a:prstGeom prst="rect">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896112" y="2809494"/>
            <a:ext cx="402336" cy="402336"/>
          </a:xfrm>
          <a:prstGeom prst="ellipse">
            <a:avLst/>
          </a:prstGeom>
          <a:solidFill>
            <a:srgbClr val="34322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96112" y="2900934"/>
            <a:ext cx="402336" cy="219456"/>
          </a:xfrm>
          <a:prstGeom prst="rect">
            <a:avLst/>
          </a:prstGeom>
          <a:noFill/>
          <a:effectLst/>
        </p:spPr>
        <p:txBody>
          <a:bodyPr wrap="square" anchor="t" lIns="0" rIns="0" tIns="0" bIns="0">
            <a:spAutoFit/>
          </a:bodyPr>
          <a:lstStyle/>
          <a:p>
            <a:pPr algn="ctr">
              <a:lnSpc>
                <a:spcPct val="125000"/>
              </a:lnSpc>
              <a:spcAft>
                <a:spcPts val="0"/>
              </a:spcAft>
            </a:pPr>
            <a:r>
              <a:rPr sz="1200" b="1" i="0">
                <a:solidFill>
                  <a:srgbClr val="FFFDF7"/>
                </a:solidFill>
                <a:latin typeface="Calibri"/>
              </a:rPr>
              <a:t>2</a:t>
            </a:r>
          </a:p>
        </p:txBody>
      </p:sp>
      <p:sp>
        <p:nvSpPr>
          <p:cNvPr id="15" name="TextBox 14"/>
          <p:cNvSpPr txBox="1"/>
          <p:nvPr/>
        </p:nvSpPr>
        <p:spPr>
          <a:xfrm>
            <a:off x="1554480" y="2738628"/>
            <a:ext cx="6675120" cy="544068"/>
          </a:xfrm>
          <a:prstGeom prst="rect">
            <a:avLst/>
          </a:prstGeom>
          <a:noFill/>
          <a:effectLst/>
        </p:spPr>
        <p:txBody>
          <a:bodyPr wrap="square" anchor="t" lIns="0" rIns="0" tIns="0" bIns="0">
            <a:spAutoFit/>
          </a:bodyPr>
          <a:lstStyle/>
          <a:p>
            <a:pPr algn="l">
              <a:lnSpc>
                <a:spcPct val="115000"/>
              </a:lnSpc>
              <a:spcAft>
                <a:spcPts val="0"/>
              </a:spcAft>
            </a:pPr>
            <a:r>
              <a:rPr sz="1700" b="0" i="0">
                <a:solidFill>
                  <a:srgbClr val="262422"/>
                </a:solidFill>
                <a:latin typeface="Georgia"/>
              </a:rPr>
              <a:t>Next time you see a headline, which of the five questions will you ask first?</a:t>
            </a:r>
          </a:p>
        </p:txBody>
      </p:sp>
      <p:sp>
        <p:nvSpPr>
          <p:cNvPr id="16" name="TextBox 15"/>
          <p:cNvSpPr txBox="1"/>
          <p:nvPr/>
        </p:nvSpPr>
        <p:spPr>
          <a:xfrm>
            <a:off x="868680" y="3886200"/>
            <a:ext cx="7406640" cy="416052"/>
          </a:xfrm>
          <a:prstGeom prst="rect">
            <a:avLst/>
          </a:prstGeom>
          <a:noFill/>
          <a:effectLst/>
        </p:spPr>
        <p:txBody>
          <a:bodyPr wrap="square" anchor="t" lIns="0" rIns="0" tIns="0" bIns="0">
            <a:spAutoFit/>
          </a:bodyPr>
          <a:lstStyle/>
          <a:p>
            <a:pPr algn="ctr">
              <a:lnSpc>
                <a:spcPct val="120000"/>
              </a:lnSpc>
              <a:spcAft>
                <a:spcPts val="0"/>
              </a:spcAft>
            </a:pPr>
            <a:r>
              <a:rPr sz="1300" b="1" i="0">
                <a:solidFill>
                  <a:srgbClr val="34322F"/>
                </a:solidFill>
                <a:latin typeface="Calibri"/>
              </a:rPr>
              <a:t>Write your answers in the last box of your evidence sheet. It is yours to keep, and nothing is read out.</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18" name="TextBox 17"/>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9" name="TextBox 18"/>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4EFE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ounded Rectangle 2"/>
          <p:cNvSpPr/>
          <p:nvPr/>
        </p:nvSpPr>
        <p:spPr>
          <a:xfrm>
            <a:off x="685800" y="274320"/>
            <a:ext cx="2635689" cy="237744"/>
          </a:xfrm>
          <a:prstGeom prst="roundRect">
            <a:avLst>
              <a:gd name="adj" fmla="val 50000"/>
            </a:avLst>
          </a:prstGeom>
          <a:solidFill>
            <a:srgbClr val="EFECE5"/>
          </a:solidFill>
          <a:ln>
            <a:noFill/>
          </a:ln>
          <a:effectLst/>
        </p:spPr>
        <p:style>
          <a:lnRef idx="1">
            <a:schemeClr val="accent1"/>
          </a:lnRef>
          <a:fillRef idx="3">
            <a:schemeClr val="accent1"/>
          </a:fillRef>
          <a:effectRef idx="0">
            <a:schemeClr val="accent1"/>
          </a:effectRef>
          <a:fontRef idx="minor">
            <a:schemeClr val="lt1"/>
          </a:fontRef>
        </p:style>
        <p:txBody>
          <a:bodyPr rtlCol="0" anchor="ctr" wrap="none" lIns="0" rIns="0" tIns="0" bIns="0"/>
          <a:lstStyle/>
          <a:p>
            <a:pPr algn="ctr"/>
            <a:r>
              <a:rPr sz="950" b="1" spc="90">
                <a:solidFill>
                  <a:srgbClr val="34322F"/>
                </a:solidFill>
                <a:latin typeface="Calibri"/>
              </a:rPr>
              <a:t>FOR THE TEACHER  ·  SOURCES</a:t>
            </a:r>
          </a:p>
        </p:txBody>
      </p:sp>
      <p:sp>
        <p:nvSpPr>
          <p:cNvPr id="4" name="TextBox 3"/>
          <p:cNvSpPr txBox="1"/>
          <p:nvPr/>
        </p:nvSpPr>
        <p:spPr>
          <a:xfrm>
            <a:off x="685800" y="658368"/>
            <a:ext cx="7772400" cy="406400"/>
          </a:xfrm>
          <a:prstGeom prst="rect">
            <a:avLst/>
          </a:prstGeom>
          <a:noFill/>
          <a:effectLst/>
        </p:spPr>
        <p:txBody>
          <a:bodyPr wrap="square" anchor="t" lIns="0" rIns="0" tIns="0" bIns="0">
            <a:spAutoFit/>
          </a:bodyPr>
          <a:lstStyle/>
          <a:p>
            <a:pPr algn="l">
              <a:lnSpc>
                <a:spcPct val="105000"/>
              </a:lnSpc>
              <a:spcAft>
                <a:spcPts val="0"/>
              </a:spcAft>
            </a:pPr>
            <a:r>
              <a:rPr sz="2600" b="0" i="0">
                <a:solidFill>
                  <a:srgbClr val="262422"/>
                </a:solidFill>
                <a:latin typeface="Georgia"/>
              </a:rPr>
              <a:t>Where the evidence came from</a:t>
            </a:r>
          </a:p>
        </p:txBody>
      </p:sp>
      <p:sp>
        <p:nvSpPr>
          <p:cNvPr id="5" name="TextBox 4"/>
          <p:cNvSpPr txBox="1"/>
          <p:nvPr/>
        </p:nvSpPr>
        <p:spPr>
          <a:xfrm>
            <a:off x="685800" y="1280160"/>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Doll R. and Hill A. B. (1950). Smoking and carcinoma of the lung. British Medical Journal, 2(4682), 739–748.</a:t>
            </a:r>
          </a:p>
        </p:txBody>
      </p:sp>
      <p:sp>
        <p:nvSpPr>
          <p:cNvPr id="6" name="TextBox 5"/>
          <p:cNvSpPr txBox="1"/>
          <p:nvPr/>
        </p:nvSpPr>
        <p:spPr>
          <a:xfrm>
            <a:off x="685800" y="1589786"/>
            <a:ext cx="7772400" cy="36322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Doll R. and Hill A. B. (1964). Mortality in relation to smoking: ten years’ observations of British doctors. British Medical Journal, 1, 1399–1410. Rates as set out in the CDC’s case study on this work.</a:t>
            </a:r>
          </a:p>
        </p:txBody>
      </p:sp>
      <p:sp>
        <p:nvSpPr>
          <p:cNvPr id="7" name="TextBox 6"/>
          <p:cNvSpPr txBox="1"/>
          <p:nvPr/>
        </p:nvSpPr>
        <p:spPr>
          <a:xfrm>
            <a:off x="685800" y="2081022"/>
            <a:ext cx="7772400" cy="181610"/>
          </a:xfrm>
          <a:prstGeom prst="rect">
            <a:avLst/>
          </a:prstGeom>
          <a:noFill/>
          <a:effectLst/>
        </p:spPr>
        <p:txBody>
          <a:bodyPr wrap="square" anchor="t" lIns="0" rIns="0" tIns="0" bIns="0">
            <a:spAutoFit/>
          </a:bodyPr>
          <a:lstStyle/>
          <a:p>
            <a:pPr algn="l">
              <a:lnSpc>
                <a:spcPct val="125000"/>
              </a:lnSpc>
              <a:spcAft>
                <a:spcPts val="0"/>
              </a:spcAft>
            </a:pPr>
            <a:r>
              <a:rPr sz="1100" b="0" i="0">
                <a:solidFill>
                  <a:srgbClr val="262422"/>
                </a:solidFill>
                <a:latin typeface="Calibri"/>
              </a:rPr>
              <a:t>Center for the Study of Tobacco and Society, University of Alabama: More Doctors Smoke Camels.</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a:effectLst/>
        </p:spPr>
      </p:pic>
      <p:sp>
        <p:nvSpPr>
          <p:cNvPr id="9" name="TextBox 8"/>
          <p:cNvSpPr txBox="1"/>
          <p:nvPr/>
        </p:nvSpPr>
        <p:spPr>
          <a:xfrm>
            <a:off x="603504" y="4709160"/>
            <a:ext cx="2194560" cy="210312"/>
          </a:xfrm>
          <a:prstGeom prst="rect">
            <a:avLst/>
          </a:prstGeom>
          <a:noFill/>
          <a:effectLst/>
        </p:spPr>
        <p:txBody>
          <a:bodyPr wrap="square" anchor="t" lIns="0" rIns="0" tIns="0" bIns="0">
            <a:spAutoFit/>
          </a:bodyPr>
          <a:lstStyle/>
          <a:p>
            <a:pPr algn="l">
              <a:lnSpc>
                <a:spcPct val="125000"/>
              </a:lnSpc>
              <a:spcAft>
                <a:spcPts val="0"/>
              </a:spcAft>
            </a:pPr>
            <a:r>
              <a:rPr sz="850" b="0" i="1">
                <a:solidFill>
                  <a:srgbClr val="8C877D"/>
                </a:solidFill>
                <a:latin typeface="Calibri"/>
              </a:rPr>
              <a:t>The Pastoral Guide</a:t>
            </a:r>
          </a:p>
        </p:txBody>
      </p:sp>
      <p:sp>
        <p:nvSpPr>
          <p:cNvPr id="10" name="TextBox 9"/>
          <p:cNvSpPr txBox="1"/>
          <p:nvPr/>
        </p:nvSpPr>
        <p:spPr>
          <a:xfrm>
            <a:off x="7680960" y="4727448"/>
            <a:ext cx="1078992" cy="219456"/>
          </a:xfrm>
          <a:prstGeom prst="rect">
            <a:avLst/>
          </a:prstGeom>
          <a:noFill/>
          <a:effectLst/>
        </p:spPr>
        <p:txBody>
          <a:bodyPr wrap="square" anchor="t" lIns="0" rIns="0" tIns="0" bIns="0">
            <a:spAutoFit/>
          </a:bodyPr>
          <a:lstStyle/>
          <a:p>
            <a:pPr algn="r">
              <a:lnSpc>
                <a:spcPct val="125000"/>
              </a:lnSpc>
              <a:spcAft>
                <a:spcPts val="0"/>
              </a:spcAft>
            </a:pPr>
            <a:r>
              <a:rPr sz="850" b="0" i="0">
                <a:solidFill>
                  <a:srgbClr val="8C877D"/>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