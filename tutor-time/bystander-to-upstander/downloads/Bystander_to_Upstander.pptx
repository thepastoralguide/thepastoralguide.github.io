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rk.png"/>
          <p:cNvPicPr>
            <a:picLocks noChangeAspect="1"/>
          </p:cNvPicPr>
          <p:nvPr/>
        </p:nvPicPr>
        <p:blipFill>
          <a:blip r:embed="rId2"/>
          <a:stretch>
            <a:fillRect/>
          </a:stretch>
        </p:blipFill>
        <p:spPr>
          <a:xfrm>
            <a:off x="4169663" y="640080"/>
            <a:ext cx="804672" cy="932688"/>
          </a:xfrm>
          <a:prstGeom prst="rect">
            <a:avLst/>
          </a:prstGeom>
        </p:spPr>
      </p:pic>
      <p:sp>
        <p:nvSpPr>
          <p:cNvPr id="4" name="TextBox 3"/>
          <p:cNvSpPr txBox="1"/>
          <p:nvPr/>
        </p:nvSpPr>
        <p:spPr>
          <a:xfrm>
            <a:off x="548640" y="1847088"/>
            <a:ext cx="8046720" cy="731520"/>
          </a:xfrm>
          <a:prstGeom prst="rect">
            <a:avLst/>
          </a:prstGeom>
          <a:noFill/>
          <a:effectLst/>
        </p:spPr>
        <p:txBody>
          <a:bodyPr wrap="square" lIns="0" rIns="0" tIns="0" bIns="0" anchor="t">
            <a:spAutoFit/>
          </a:bodyPr>
          <a:lstStyle/>
          <a:p>
            <a:pPr algn="ctr"/>
            <a:r>
              <a:rPr sz="3600" b="0">
                <a:solidFill>
                  <a:srgbClr val="6B4F3E"/>
                </a:solidFill>
                <a:latin typeface="Georgia"/>
              </a:rPr>
              <a:t>Bystander to Upstander</a:t>
            </a:r>
          </a:p>
        </p:txBody>
      </p:sp>
      <p:sp>
        <p:nvSpPr>
          <p:cNvPr id="5" name="Rectangle 4"/>
          <p:cNvSpPr/>
          <p:nvPr/>
        </p:nvSpPr>
        <p:spPr>
          <a:xfrm>
            <a:off x="4069080" y="2779776"/>
            <a:ext cx="1005840" cy="18288"/>
          </a:xfrm>
          <a:prstGeom prst="rect">
            <a:avLst/>
          </a:prstGeom>
          <a:solidFill>
            <a:srgbClr val="A38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99232"/>
            <a:ext cx="7680960" cy="548640"/>
          </a:xfrm>
          <a:prstGeom prst="rect">
            <a:avLst/>
          </a:prstGeom>
          <a:noFill/>
          <a:effectLst/>
        </p:spPr>
        <p:txBody>
          <a:bodyPr wrap="square" lIns="0" rIns="0" tIns="0" bIns="0" anchor="t">
            <a:spAutoFit/>
          </a:bodyPr>
          <a:lstStyle/>
          <a:p>
            <a:pPr algn="ctr">
              <a:lnSpc>
                <a:spcPct val="125000"/>
              </a:lnSpc>
            </a:pPr>
            <a:r>
              <a:rPr sz="1700" b="0">
                <a:solidFill>
                  <a:srgbClr val="706962"/>
                </a:solidFill>
                <a:latin typeface="Calibri"/>
              </a:rPr>
              <a:t>Most of the people in a moment like this think they are not in it.</a:t>
            </a:r>
          </a:p>
        </p:txBody>
      </p:sp>
      <p:sp>
        <p:nvSpPr>
          <p:cNvPr id="7" name="TextBox 6"/>
          <p:cNvSpPr txBox="1"/>
          <p:nvPr/>
        </p:nvSpPr>
        <p:spPr>
          <a:xfrm>
            <a:off x="731520" y="3675887"/>
            <a:ext cx="7680960" cy="274320"/>
          </a:xfrm>
          <a:prstGeom prst="rect">
            <a:avLst/>
          </a:prstGeom>
          <a:noFill/>
          <a:effectLst/>
        </p:spPr>
        <p:txBody>
          <a:bodyPr wrap="square" lIns="0" rIns="0" tIns="0" bIns="0" anchor="t">
            <a:spAutoFit/>
          </a:bodyPr>
          <a:lstStyle/>
          <a:p>
            <a:pPr algn="ctr"/>
            <a:r>
              <a:rPr sz="1250" b="0">
                <a:solidFill>
                  <a:srgbClr val="AAA49D"/>
                </a:solidFill>
                <a:latin typeface="Calibri"/>
              </a:rPr>
              <a:t>One lesson</a:t>
            </a:r>
          </a:p>
        </p:txBody>
      </p:sp>
      <p:pic>
        <p:nvPicPr>
          <p:cNvPr id="8" name="Picture 7" descr="logo-mark.png"/>
          <p:cNvPicPr>
            <a:picLocks noChangeAspect="1"/>
          </p:cNvPicPr>
          <p:nvPr/>
        </p:nvPicPr>
        <p:blipFill>
          <a:blip r:embed="rId2"/>
          <a:stretch>
            <a:fillRect/>
          </a:stretch>
        </p:blipFill>
        <p:spPr>
          <a:xfrm>
            <a:off x="384048" y="4709160"/>
            <a:ext cx="155448" cy="182880"/>
          </a:xfrm>
          <a:prstGeom prst="rect">
            <a:avLst/>
          </a:prstGeom>
        </p:spPr>
      </p:pic>
      <p:sp>
        <p:nvSpPr>
          <p:cNvPr id="9" name="TextBox 8"/>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10" name="TextBox 9"/>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ctr"/>
            <a:r>
              <a:rPr sz="1050" b="1" spc="160">
                <a:solidFill>
                  <a:srgbClr val="A3897A"/>
                </a:solidFill>
                <a:latin typeface="Calibri"/>
              </a:rPr>
              <a:t>TODAY</a:t>
            </a:r>
          </a:p>
        </p:txBody>
      </p:sp>
      <p:sp>
        <p:nvSpPr>
          <p:cNvPr id="4" name="TextBox 3"/>
          <p:cNvSpPr txBox="1"/>
          <p:nvPr/>
        </p:nvSpPr>
        <p:spPr>
          <a:xfrm>
            <a:off x="685800" y="841248"/>
            <a:ext cx="7772400" cy="566928"/>
          </a:xfrm>
          <a:prstGeom prst="rect">
            <a:avLst/>
          </a:prstGeom>
          <a:noFill/>
          <a:effectLst/>
        </p:spPr>
        <p:txBody>
          <a:bodyPr wrap="square" lIns="0" rIns="0" tIns="0" bIns="0" anchor="t">
            <a:spAutoFit/>
          </a:bodyPr>
          <a:lstStyle/>
          <a:p>
            <a:pPr algn="ctr"/>
            <a:r>
              <a:rPr sz="3100" b="0">
                <a:solidFill>
                  <a:srgbClr val="3A332E"/>
                </a:solidFill>
                <a:latin typeface="Georgia"/>
              </a:rPr>
              <a:t>Five things, in this order</a:t>
            </a:r>
          </a:p>
        </p:txBody>
      </p:sp>
      <p:sp>
        <p:nvSpPr>
          <p:cNvPr id="5" name="Rounded Rectangle 4"/>
          <p:cNvSpPr/>
          <p:nvPr/>
        </p:nvSpPr>
        <p:spPr>
          <a:xfrm>
            <a:off x="685800" y="1737360"/>
            <a:ext cx="1364284" cy="233172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8758" y="188366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0253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1</a:t>
            </a:r>
          </a:p>
        </p:txBody>
      </p:sp>
      <p:sp>
        <p:nvSpPr>
          <p:cNvPr id="8" name="TextBox 7"/>
          <p:cNvSpPr txBox="1"/>
          <p:nvPr/>
        </p:nvSpPr>
        <p:spPr>
          <a:xfrm>
            <a:off x="758952" y="2670048"/>
            <a:ext cx="1217980" cy="548640"/>
          </a:xfrm>
          <a:prstGeom prst="rect">
            <a:avLst/>
          </a:prstGeom>
          <a:noFill/>
          <a:effectLst/>
        </p:spPr>
        <p:txBody>
          <a:bodyPr wrap="square" lIns="0" rIns="0" tIns="0" bIns="0" anchor="t">
            <a:spAutoFit/>
          </a:bodyPr>
          <a:lstStyle/>
          <a:p>
            <a:pPr algn="ctr">
              <a:lnSpc>
                <a:spcPct val="105000"/>
              </a:lnSpc>
            </a:pPr>
            <a:r>
              <a:rPr sz="1500" b="0">
                <a:solidFill>
                  <a:srgbClr val="6B4F3E"/>
                </a:solidFill>
                <a:latin typeface="Georgia"/>
              </a:rPr>
              <a:t>Count</a:t>
            </a:r>
          </a:p>
        </p:txBody>
      </p:sp>
      <p:sp>
        <p:nvSpPr>
          <p:cNvPr id="9" name="TextBox 8"/>
          <p:cNvSpPr txBox="1"/>
          <p:nvPr/>
        </p:nvSpPr>
        <p:spPr>
          <a:xfrm>
            <a:off x="795528" y="3236976"/>
            <a:ext cx="1144828" cy="758951"/>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How many people were in one moment?</a:t>
            </a:r>
          </a:p>
        </p:txBody>
      </p:sp>
      <p:sp>
        <p:nvSpPr>
          <p:cNvPr id="10" name="Rounded Rectangle 9"/>
          <p:cNvSpPr/>
          <p:nvPr/>
        </p:nvSpPr>
        <p:spPr>
          <a:xfrm>
            <a:off x="2287828" y="1737360"/>
            <a:ext cx="1364284" cy="233172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40787" y="188366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7828" y="200253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2</a:t>
            </a:r>
          </a:p>
        </p:txBody>
      </p:sp>
      <p:sp>
        <p:nvSpPr>
          <p:cNvPr id="13" name="TextBox 12"/>
          <p:cNvSpPr txBox="1"/>
          <p:nvPr/>
        </p:nvSpPr>
        <p:spPr>
          <a:xfrm>
            <a:off x="2360980" y="2670048"/>
            <a:ext cx="1217980" cy="548640"/>
          </a:xfrm>
          <a:prstGeom prst="rect">
            <a:avLst/>
          </a:prstGeom>
          <a:noFill/>
          <a:effectLst/>
        </p:spPr>
        <p:txBody>
          <a:bodyPr wrap="square" lIns="0" rIns="0" tIns="0" bIns="0" anchor="t">
            <a:spAutoFit/>
          </a:bodyPr>
          <a:lstStyle/>
          <a:p>
            <a:pPr algn="ctr">
              <a:lnSpc>
                <a:spcPct val="105000"/>
              </a:lnSpc>
            </a:pPr>
            <a:r>
              <a:rPr sz="1500" b="0">
                <a:solidFill>
                  <a:srgbClr val="6B4F3E"/>
                </a:solidFill>
                <a:latin typeface="Georgia"/>
              </a:rPr>
              <a:t>Learn</a:t>
            </a:r>
          </a:p>
        </p:txBody>
      </p:sp>
      <p:sp>
        <p:nvSpPr>
          <p:cNvPr id="14" name="TextBox 13"/>
          <p:cNvSpPr txBox="1"/>
          <p:nvPr/>
        </p:nvSpPr>
        <p:spPr>
          <a:xfrm>
            <a:off x="2397556" y="3236976"/>
            <a:ext cx="1144828" cy="758951"/>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The five roles a group falls into.</a:t>
            </a:r>
          </a:p>
        </p:txBody>
      </p:sp>
      <p:sp>
        <p:nvSpPr>
          <p:cNvPr id="15" name="Rounded Rectangle 14"/>
          <p:cNvSpPr/>
          <p:nvPr/>
        </p:nvSpPr>
        <p:spPr>
          <a:xfrm>
            <a:off x="3889857" y="1737360"/>
            <a:ext cx="1364284" cy="233172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242816" y="188366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89857" y="200253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3</a:t>
            </a:r>
          </a:p>
        </p:txBody>
      </p:sp>
      <p:sp>
        <p:nvSpPr>
          <p:cNvPr id="18" name="TextBox 17"/>
          <p:cNvSpPr txBox="1"/>
          <p:nvPr/>
        </p:nvSpPr>
        <p:spPr>
          <a:xfrm>
            <a:off x="3963009" y="2670048"/>
            <a:ext cx="1217980" cy="548640"/>
          </a:xfrm>
          <a:prstGeom prst="rect">
            <a:avLst/>
          </a:prstGeom>
          <a:noFill/>
          <a:effectLst/>
        </p:spPr>
        <p:txBody>
          <a:bodyPr wrap="square" lIns="0" rIns="0" tIns="0" bIns="0" anchor="t">
            <a:spAutoFit/>
          </a:bodyPr>
          <a:lstStyle/>
          <a:p>
            <a:pPr algn="ctr">
              <a:lnSpc>
                <a:spcPct val="105000"/>
              </a:lnSpc>
            </a:pPr>
            <a:r>
              <a:rPr sz="1500" b="0">
                <a:solidFill>
                  <a:srgbClr val="6B4F3E"/>
                </a:solidFill>
                <a:latin typeface="Georgia"/>
              </a:rPr>
              <a:t>Predict</a:t>
            </a:r>
          </a:p>
        </p:txBody>
      </p:sp>
      <p:sp>
        <p:nvSpPr>
          <p:cNvPr id="19" name="TextBox 18"/>
          <p:cNvSpPr txBox="1"/>
          <p:nvPr/>
        </p:nvSpPr>
        <p:spPr>
          <a:xfrm>
            <a:off x="3999585" y="3236976"/>
            <a:ext cx="1144828" cy="758951"/>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What happened when somebody stepped in.</a:t>
            </a:r>
          </a:p>
        </p:txBody>
      </p:sp>
      <p:sp>
        <p:nvSpPr>
          <p:cNvPr id="20" name="Rounded Rectangle 19"/>
          <p:cNvSpPr/>
          <p:nvPr/>
        </p:nvSpPr>
        <p:spPr>
          <a:xfrm>
            <a:off x="5491886" y="1737360"/>
            <a:ext cx="1364284" cy="233172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44844" y="188366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91886" y="200253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4</a:t>
            </a:r>
          </a:p>
        </p:txBody>
      </p:sp>
      <p:sp>
        <p:nvSpPr>
          <p:cNvPr id="23" name="TextBox 22"/>
          <p:cNvSpPr txBox="1"/>
          <p:nvPr/>
        </p:nvSpPr>
        <p:spPr>
          <a:xfrm>
            <a:off x="5565038" y="2670048"/>
            <a:ext cx="1217980" cy="548640"/>
          </a:xfrm>
          <a:prstGeom prst="rect">
            <a:avLst/>
          </a:prstGeom>
          <a:noFill/>
          <a:effectLst/>
        </p:spPr>
        <p:txBody>
          <a:bodyPr wrap="square" lIns="0" rIns="0" tIns="0" bIns="0" anchor="t">
            <a:spAutoFit/>
          </a:bodyPr>
          <a:lstStyle/>
          <a:p>
            <a:pPr algn="ctr">
              <a:lnSpc>
                <a:spcPct val="105000"/>
              </a:lnSpc>
            </a:pPr>
            <a:r>
              <a:rPr sz="1500" b="0">
                <a:solidFill>
                  <a:srgbClr val="6B4F3E"/>
                </a:solidFill>
                <a:latin typeface="Georgia"/>
              </a:rPr>
              <a:t>Practise</a:t>
            </a:r>
          </a:p>
        </p:txBody>
      </p:sp>
      <p:sp>
        <p:nvSpPr>
          <p:cNvPr id="24" name="TextBox 23"/>
          <p:cNvSpPr txBox="1"/>
          <p:nvPr/>
        </p:nvSpPr>
        <p:spPr>
          <a:xfrm>
            <a:off x="5601614" y="3236976"/>
            <a:ext cx="1144828" cy="758951"/>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The words you would actually say.</a:t>
            </a:r>
          </a:p>
        </p:txBody>
      </p:sp>
      <p:sp>
        <p:nvSpPr>
          <p:cNvPr id="25" name="Rounded Rectangle 24"/>
          <p:cNvSpPr/>
          <p:nvPr/>
        </p:nvSpPr>
        <p:spPr>
          <a:xfrm>
            <a:off x="7093915" y="1737360"/>
            <a:ext cx="1364284" cy="233172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446873" y="188366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93915" y="200253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5</a:t>
            </a:r>
          </a:p>
        </p:txBody>
      </p:sp>
      <p:sp>
        <p:nvSpPr>
          <p:cNvPr id="28" name="TextBox 27"/>
          <p:cNvSpPr txBox="1"/>
          <p:nvPr/>
        </p:nvSpPr>
        <p:spPr>
          <a:xfrm>
            <a:off x="7167067" y="2670048"/>
            <a:ext cx="1217980" cy="548640"/>
          </a:xfrm>
          <a:prstGeom prst="rect">
            <a:avLst/>
          </a:prstGeom>
          <a:noFill/>
          <a:effectLst/>
        </p:spPr>
        <p:txBody>
          <a:bodyPr wrap="square" lIns="0" rIns="0" tIns="0" bIns="0" anchor="t">
            <a:spAutoFit/>
          </a:bodyPr>
          <a:lstStyle/>
          <a:p>
            <a:pPr algn="ctr">
              <a:lnSpc>
                <a:spcPct val="105000"/>
              </a:lnSpc>
            </a:pPr>
            <a:r>
              <a:rPr sz="1500" b="0">
                <a:solidFill>
                  <a:srgbClr val="6B4F3E"/>
                </a:solidFill>
                <a:latin typeface="Georgia"/>
              </a:rPr>
              <a:t>Write</a:t>
            </a:r>
          </a:p>
        </p:txBody>
      </p:sp>
      <p:sp>
        <p:nvSpPr>
          <p:cNvPr id="29" name="TextBox 28"/>
          <p:cNvSpPr txBox="1"/>
          <p:nvPr/>
        </p:nvSpPr>
        <p:spPr>
          <a:xfrm>
            <a:off x="7203643" y="3236976"/>
            <a:ext cx="1144828" cy="758951"/>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One thing you will do differently.</a:t>
            </a:r>
          </a:p>
        </p:txBody>
      </p:sp>
      <p:sp>
        <p:nvSpPr>
          <p:cNvPr id="30" name="TextBox 29"/>
          <p:cNvSpPr txBox="1"/>
          <p:nvPr/>
        </p:nvSpPr>
        <p:spPr>
          <a:xfrm>
            <a:off x="685800" y="4224528"/>
            <a:ext cx="7772400" cy="310896"/>
          </a:xfrm>
          <a:prstGeom prst="rect">
            <a:avLst/>
          </a:prstGeom>
          <a:noFill/>
          <a:effectLst/>
        </p:spPr>
        <p:txBody>
          <a:bodyPr wrap="square" lIns="0" rIns="0" tIns="0" bIns="0" anchor="t">
            <a:spAutoFit/>
          </a:bodyPr>
          <a:lstStyle/>
          <a:p>
            <a:pPr algn="ctr">
              <a:lnSpc>
                <a:spcPct val="120000"/>
              </a:lnSpc>
            </a:pPr>
            <a:r>
              <a:rPr sz="1300" b="1">
                <a:solidFill>
                  <a:srgbClr val="6B4F3E"/>
                </a:solidFill>
                <a:latin typeface="Calibri"/>
              </a:rPr>
              <a:t>Nothing you write today gets read out or handed in.</a:t>
            </a:r>
          </a:p>
        </p:txBody>
      </p:sp>
      <p:pic>
        <p:nvPicPr>
          <p:cNvPr id="31" name="Picture 30" descr="logo-mark.png"/>
          <p:cNvPicPr>
            <a:picLocks noChangeAspect="1"/>
          </p:cNvPicPr>
          <p:nvPr/>
        </p:nvPicPr>
        <p:blipFill>
          <a:blip r:embed="rId2"/>
          <a:stretch>
            <a:fillRect/>
          </a:stretch>
        </p:blipFill>
        <p:spPr>
          <a:xfrm>
            <a:off x="384048" y="4709160"/>
            <a:ext cx="155448" cy="182880"/>
          </a:xfrm>
          <a:prstGeom prst="rect">
            <a:avLst/>
          </a:prstGeom>
        </p:spPr>
      </p:pic>
      <p:sp>
        <p:nvSpPr>
          <p:cNvPr id="32" name="TextBox 31"/>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33" name="TextBox 32"/>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COUNT THE PEOPLE</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Who was in this?</a:t>
            </a:r>
          </a:p>
        </p:txBody>
      </p:sp>
      <p:sp>
        <p:nvSpPr>
          <p:cNvPr id="7" name="Rounded Rectangle 6"/>
          <p:cNvSpPr/>
          <p:nvPr/>
        </p:nvSpPr>
        <p:spPr>
          <a:xfrm>
            <a:off x="685800" y="1517904"/>
            <a:ext cx="7772400" cy="2139696"/>
          </a:xfrm>
          <a:prstGeom prst="roundRect">
            <a:avLst>
              <a:gd name="adj" fmla="val 3846"/>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37360"/>
            <a:ext cx="7040880" cy="1737360"/>
          </a:xfrm>
          <a:prstGeom prst="rect">
            <a:avLst/>
          </a:prstGeom>
          <a:noFill/>
          <a:effectLst/>
        </p:spPr>
        <p:txBody>
          <a:bodyPr wrap="square" lIns="0" rIns="0" tIns="0" bIns="0" anchor="t">
            <a:spAutoFit/>
          </a:bodyPr>
          <a:lstStyle/>
          <a:p>
            <a:pPr algn="l">
              <a:lnSpc>
                <a:spcPct val="150000"/>
              </a:lnSpc>
            </a:pPr>
            <a:r>
              <a:rPr sz="1400" b="0">
                <a:solidFill>
                  <a:srgbClr val="3A332E"/>
                </a:solidFill>
                <a:latin typeface="Georgia"/>
              </a:rPr>
              <a:t>Tuesday, outside the science block.</a:t>
            </a:r>
            <a:br/>
            <a:r>
              <a:rPr sz="1400" b="0">
                <a:solidFill>
                  <a:srgbClr val="3A332E"/>
                </a:solidFill>
                <a:latin typeface="Georgia"/>
              </a:rPr>
              <a:t>Nadia answers a question in the lesson and gets it wrong.</a:t>
            </a:r>
            <a:br/>
            <a:r>
              <a:rPr sz="1400" b="0">
                <a:solidFill>
                  <a:srgbClr val="3A332E"/>
                </a:solidFill>
                <a:latin typeface="Georgia"/>
              </a:rPr>
              <a:t>Theo repeats it at break, in her voice, and three people laugh.</a:t>
            </a:r>
            <a:br/>
            <a:r>
              <a:rPr sz="1400" b="0">
                <a:solidFill>
                  <a:srgbClr val="3A332E"/>
                </a:solidFill>
                <a:latin typeface="Georgia"/>
              </a:rPr>
              <a:t>Later, Kai hears it, laughs, and says it again to a different group at lunch.</a:t>
            </a:r>
            <a:br/>
            <a:r>
              <a:rPr sz="1400" b="0">
                <a:solidFill>
                  <a:srgbClr val="3A332E"/>
                </a:solidFill>
                <a:latin typeface="Georgia"/>
              </a:rPr>
              <a:t>By Thursday two people who were not there are saying it.</a:t>
            </a:r>
            <a:br/>
            <a:r>
              <a:rPr sz="1400" b="0">
                <a:solidFill>
                  <a:srgbClr val="3A332E"/>
                </a:solidFill>
                <a:latin typeface="Georgia"/>
              </a:rPr>
              <a:t>On Friday, Nadia stops answering questions in that lesson.</a:t>
            </a:r>
          </a:p>
        </p:txBody>
      </p:sp>
      <p:sp>
        <p:nvSpPr>
          <p:cNvPr id="9" name="TextBox 8"/>
          <p:cNvSpPr txBox="1"/>
          <p:nvPr/>
        </p:nvSpPr>
        <p:spPr>
          <a:xfrm>
            <a:off x="685800" y="3840480"/>
            <a:ext cx="7772400" cy="310896"/>
          </a:xfrm>
          <a:prstGeom prst="rect">
            <a:avLst/>
          </a:prstGeom>
          <a:noFill/>
          <a:effectLst/>
        </p:spPr>
        <p:txBody>
          <a:bodyPr wrap="square" lIns="0" rIns="0" tIns="0" bIns="0" anchor="t">
            <a:spAutoFit/>
          </a:bodyPr>
          <a:lstStyle/>
          <a:p>
            <a:pPr algn="l">
              <a:lnSpc>
                <a:spcPct val="120000"/>
              </a:lnSpc>
            </a:pPr>
            <a:r>
              <a:rPr sz="1300" b="1">
                <a:solidFill>
                  <a:srgbClr val="6B4F3E"/>
                </a:solidFill>
                <a:latin typeface="Calibri"/>
              </a:rPr>
              <a:t>In pairs, two minutes: write down everybody who was part of what happened.</a:t>
            </a:r>
          </a:p>
        </p:txBody>
      </p:sp>
      <p:sp>
        <p:nvSpPr>
          <p:cNvPr id="10" name="TextBox 9"/>
          <p:cNvSpPr txBox="1"/>
          <p:nvPr/>
        </p:nvSpPr>
        <p:spPr>
          <a:xfrm>
            <a:off x="685800" y="4224528"/>
            <a:ext cx="7772400" cy="310896"/>
          </a:xfrm>
          <a:prstGeom prst="rect">
            <a:avLst/>
          </a:prstGeom>
          <a:noFill/>
          <a:effectLst/>
        </p:spPr>
        <p:txBody>
          <a:bodyPr wrap="square" lIns="0" rIns="0" tIns="0" bIns="0" anchor="t">
            <a:spAutoFit/>
          </a:bodyPr>
          <a:lstStyle/>
          <a:p>
            <a:pPr algn="l">
              <a:lnSpc>
                <a:spcPct val="120000"/>
              </a:lnSpc>
            </a:pPr>
            <a:r>
              <a:rPr sz="1300" b="0">
                <a:solidFill>
                  <a:srgbClr val="706962"/>
                </a:solidFill>
                <a:latin typeface="Calibri"/>
              </a:rPr>
              <a:t>Names, or just how many. You will need your list in a minute.</a:t>
            </a:r>
          </a:p>
        </p:txBody>
      </p:sp>
      <p:pic>
        <p:nvPicPr>
          <p:cNvPr id="11" name="Picture 10" descr="logo-mark.png"/>
          <p:cNvPicPr>
            <a:picLocks noChangeAspect="1"/>
          </p:cNvPicPr>
          <p:nvPr/>
        </p:nvPicPr>
        <p:blipFill>
          <a:blip r:embed="rId2"/>
          <a:stretch>
            <a:fillRect/>
          </a:stretch>
        </p:blipFill>
        <p:spPr>
          <a:xfrm>
            <a:off x="384048" y="4709160"/>
            <a:ext cx="155448" cy="182880"/>
          </a:xfrm>
          <a:prstGeom prst="rect">
            <a:avLst/>
          </a:prstGeom>
        </p:spPr>
      </p:pic>
      <p:sp>
        <p:nvSpPr>
          <p:cNvPr id="12" name="TextBox 11"/>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13" name="TextBox 12"/>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FEEDBACK</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Eight people</a:t>
            </a:r>
          </a:p>
        </p:txBody>
      </p:sp>
      <p:sp>
        <p:nvSpPr>
          <p:cNvPr id="7" name="Rounded Rectangle 6"/>
          <p:cNvSpPr/>
          <p:nvPr/>
        </p:nvSpPr>
        <p:spPr>
          <a:xfrm>
            <a:off x="685800" y="1600200"/>
            <a:ext cx="1364284" cy="237744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8758" y="174650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6537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1</a:t>
            </a:r>
          </a:p>
        </p:txBody>
      </p:sp>
      <p:sp>
        <p:nvSpPr>
          <p:cNvPr id="10" name="TextBox 9"/>
          <p:cNvSpPr txBox="1"/>
          <p:nvPr/>
        </p:nvSpPr>
        <p:spPr>
          <a:xfrm>
            <a:off x="740664" y="2532888"/>
            <a:ext cx="1254556" cy="512064"/>
          </a:xfrm>
          <a:prstGeom prst="rect">
            <a:avLst/>
          </a:prstGeom>
          <a:noFill/>
          <a:effectLst/>
        </p:spPr>
        <p:txBody>
          <a:bodyPr wrap="square" lIns="0" rIns="0" tIns="0" bIns="0" anchor="t">
            <a:spAutoFit/>
          </a:bodyPr>
          <a:lstStyle/>
          <a:p>
            <a:pPr algn="ctr">
              <a:lnSpc>
                <a:spcPct val="105000"/>
              </a:lnSpc>
            </a:pPr>
            <a:r>
              <a:rPr sz="1250" b="0">
                <a:solidFill>
                  <a:srgbClr val="6B4F3E"/>
                </a:solidFill>
                <a:latin typeface="Georgia"/>
              </a:rPr>
              <a:t>started it</a:t>
            </a:r>
          </a:p>
        </p:txBody>
      </p:sp>
      <p:sp>
        <p:nvSpPr>
          <p:cNvPr id="11" name="TextBox 10"/>
          <p:cNvSpPr txBox="1"/>
          <p:nvPr/>
        </p:nvSpPr>
        <p:spPr>
          <a:xfrm>
            <a:off x="777240" y="3099815"/>
            <a:ext cx="1181404" cy="804672"/>
          </a:xfrm>
          <a:prstGeom prst="rect">
            <a:avLst/>
          </a:prstGeom>
          <a:noFill/>
          <a:effectLst/>
        </p:spPr>
        <p:txBody>
          <a:bodyPr wrap="square" lIns="0" rIns="0" tIns="0" bIns="0" anchor="t">
            <a:spAutoFit/>
          </a:bodyPr>
          <a:lstStyle/>
          <a:p>
            <a:pPr algn="ctr">
              <a:lnSpc>
                <a:spcPct val="122000"/>
              </a:lnSpc>
            </a:pPr>
            <a:r>
              <a:rPr sz="1000" b="0">
                <a:solidFill>
                  <a:srgbClr val="706962"/>
                </a:solidFill>
                <a:latin typeface="Calibri"/>
              </a:rPr>
              <a:t>Theo, once, at break.</a:t>
            </a:r>
          </a:p>
        </p:txBody>
      </p:sp>
      <p:sp>
        <p:nvSpPr>
          <p:cNvPr id="12" name="Rounded Rectangle 11"/>
          <p:cNvSpPr/>
          <p:nvPr/>
        </p:nvSpPr>
        <p:spPr>
          <a:xfrm>
            <a:off x="2287828" y="1600200"/>
            <a:ext cx="1364284" cy="237744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640787" y="174650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7828" y="186537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3</a:t>
            </a:r>
          </a:p>
        </p:txBody>
      </p:sp>
      <p:sp>
        <p:nvSpPr>
          <p:cNvPr id="15" name="TextBox 14"/>
          <p:cNvSpPr txBox="1"/>
          <p:nvPr/>
        </p:nvSpPr>
        <p:spPr>
          <a:xfrm>
            <a:off x="2342692" y="2532888"/>
            <a:ext cx="1254556" cy="512064"/>
          </a:xfrm>
          <a:prstGeom prst="rect">
            <a:avLst/>
          </a:prstGeom>
          <a:noFill/>
          <a:effectLst/>
        </p:spPr>
        <p:txBody>
          <a:bodyPr wrap="square" lIns="0" rIns="0" tIns="0" bIns="0" anchor="t">
            <a:spAutoFit/>
          </a:bodyPr>
          <a:lstStyle/>
          <a:p>
            <a:pPr algn="ctr">
              <a:lnSpc>
                <a:spcPct val="105000"/>
              </a:lnSpc>
            </a:pPr>
            <a:r>
              <a:rPr sz="1250" b="0">
                <a:solidFill>
                  <a:srgbClr val="6B4F3E"/>
                </a:solidFill>
                <a:latin typeface="Georgia"/>
              </a:rPr>
              <a:t>laughed</a:t>
            </a:r>
          </a:p>
        </p:txBody>
      </p:sp>
      <p:sp>
        <p:nvSpPr>
          <p:cNvPr id="16" name="TextBox 15"/>
          <p:cNvSpPr txBox="1"/>
          <p:nvPr/>
        </p:nvSpPr>
        <p:spPr>
          <a:xfrm>
            <a:off x="2379268" y="3099815"/>
            <a:ext cx="1181404" cy="804672"/>
          </a:xfrm>
          <a:prstGeom prst="rect">
            <a:avLst/>
          </a:prstGeom>
          <a:noFill/>
          <a:effectLst/>
        </p:spPr>
        <p:txBody>
          <a:bodyPr wrap="square" lIns="0" rIns="0" tIns="0" bIns="0" anchor="t">
            <a:spAutoFit/>
          </a:bodyPr>
          <a:lstStyle/>
          <a:p>
            <a:pPr algn="ctr">
              <a:lnSpc>
                <a:spcPct val="122000"/>
              </a:lnSpc>
            </a:pPr>
            <a:r>
              <a:rPr sz="1000" b="0">
                <a:solidFill>
                  <a:srgbClr val="706962"/>
                </a:solidFill>
                <a:latin typeface="Calibri"/>
              </a:rPr>
              <a:t>The three at break. Without them it ends there.</a:t>
            </a:r>
          </a:p>
        </p:txBody>
      </p:sp>
      <p:sp>
        <p:nvSpPr>
          <p:cNvPr id="17" name="Rounded Rectangle 16"/>
          <p:cNvSpPr/>
          <p:nvPr/>
        </p:nvSpPr>
        <p:spPr>
          <a:xfrm>
            <a:off x="3889857" y="1600200"/>
            <a:ext cx="1364284" cy="237744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42816" y="174650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89857" y="186537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1</a:t>
            </a:r>
          </a:p>
        </p:txBody>
      </p:sp>
      <p:sp>
        <p:nvSpPr>
          <p:cNvPr id="20" name="TextBox 19"/>
          <p:cNvSpPr txBox="1"/>
          <p:nvPr/>
        </p:nvSpPr>
        <p:spPr>
          <a:xfrm>
            <a:off x="3944721" y="2532888"/>
            <a:ext cx="1254556" cy="512064"/>
          </a:xfrm>
          <a:prstGeom prst="rect">
            <a:avLst/>
          </a:prstGeom>
          <a:noFill/>
          <a:effectLst/>
        </p:spPr>
        <p:txBody>
          <a:bodyPr wrap="square" lIns="0" rIns="0" tIns="0" bIns="0" anchor="t">
            <a:spAutoFit/>
          </a:bodyPr>
          <a:lstStyle/>
          <a:p>
            <a:pPr algn="ctr">
              <a:lnSpc>
                <a:spcPct val="105000"/>
              </a:lnSpc>
            </a:pPr>
            <a:r>
              <a:rPr sz="1250" b="0">
                <a:solidFill>
                  <a:srgbClr val="6B4F3E"/>
                </a:solidFill>
                <a:latin typeface="Georgia"/>
              </a:rPr>
              <a:t>passed it on</a:t>
            </a:r>
          </a:p>
        </p:txBody>
      </p:sp>
      <p:sp>
        <p:nvSpPr>
          <p:cNvPr id="21" name="TextBox 20"/>
          <p:cNvSpPr txBox="1"/>
          <p:nvPr/>
        </p:nvSpPr>
        <p:spPr>
          <a:xfrm>
            <a:off x="3981297" y="3099815"/>
            <a:ext cx="1181404" cy="804672"/>
          </a:xfrm>
          <a:prstGeom prst="rect">
            <a:avLst/>
          </a:prstGeom>
          <a:noFill/>
          <a:effectLst/>
        </p:spPr>
        <p:txBody>
          <a:bodyPr wrap="square" lIns="0" rIns="0" tIns="0" bIns="0" anchor="t">
            <a:spAutoFit/>
          </a:bodyPr>
          <a:lstStyle/>
          <a:p>
            <a:pPr algn="ctr">
              <a:lnSpc>
                <a:spcPct val="122000"/>
              </a:lnSpc>
            </a:pPr>
            <a:r>
              <a:rPr sz="1000" b="0">
                <a:solidFill>
                  <a:srgbClr val="706962"/>
                </a:solidFill>
                <a:latin typeface="Calibri"/>
              </a:rPr>
              <a:t>Kai, to a group who had not heard it.</a:t>
            </a:r>
          </a:p>
        </p:txBody>
      </p:sp>
      <p:sp>
        <p:nvSpPr>
          <p:cNvPr id="22" name="Rounded Rectangle 21"/>
          <p:cNvSpPr/>
          <p:nvPr/>
        </p:nvSpPr>
        <p:spPr>
          <a:xfrm>
            <a:off x="5491886" y="1600200"/>
            <a:ext cx="1364284" cy="237744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44844" y="174650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91886" y="186537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2</a:t>
            </a:r>
          </a:p>
        </p:txBody>
      </p:sp>
      <p:sp>
        <p:nvSpPr>
          <p:cNvPr id="25" name="TextBox 24"/>
          <p:cNvSpPr txBox="1"/>
          <p:nvPr/>
        </p:nvSpPr>
        <p:spPr>
          <a:xfrm>
            <a:off x="5546750" y="2532888"/>
            <a:ext cx="1254556" cy="512064"/>
          </a:xfrm>
          <a:prstGeom prst="rect">
            <a:avLst/>
          </a:prstGeom>
          <a:noFill/>
          <a:effectLst/>
        </p:spPr>
        <p:txBody>
          <a:bodyPr wrap="square" lIns="0" rIns="0" tIns="0" bIns="0" anchor="t">
            <a:spAutoFit/>
          </a:bodyPr>
          <a:lstStyle/>
          <a:p>
            <a:pPr algn="ctr">
              <a:lnSpc>
                <a:spcPct val="105000"/>
              </a:lnSpc>
            </a:pPr>
            <a:r>
              <a:rPr sz="1250" b="0">
                <a:solidFill>
                  <a:srgbClr val="6B4F3E"/>
                </a:solidFill>
                <a:latin typeface="Georgia"/>
              </a:rPr>
              <a:t>were never there</a:t>
            </a:r>
          </a:p>
        </p:txBody>
      </p:sp>
      <p:sp>
        <p:nvSpPr>
          <p:cNvPr id="26" name="TextBox 25"/>
          <p:cNvSpPr txBox="1"/>
          <p:nvPr/>
        </p:nvSpPr>
        <p:spPr>
          <a:xfrm>
            <a:off x="5583326" y="3099815"/>
            <a:ext cx="1181404" cy="804672"/>
          </a:xfrm>
          <a:prstGeom prst="rect">
            <a:avLst/>
          </a:prstGeom>
          <a:noFill/>
          <a:effectLst/>
        </p:spPr>
        <p:txBody>
          <a:bodyPr wrap="square" lIns="0" rIns="0" tIns="0" bIns="0" anchor="t">
            <a:spAutoFit/>
          </a:bodyPr>
          <a:lstStyle/>
          <a:p>
            <a:pPr algn="ctr">
              <a:lnSpc>
                <a:spcPct val="122000"/>
              </a:lnSpc>
            </a:pPr>
            <a:r>
              <a:rPr sz="1000" b="0">
                <a:solidFill>
                  <a:srgbClr val="706962"/>
                </a:solidFill>
                <a:latin typeface="Calibri"/>
              </a:rPr>
              <a:t>They repeated it anyway, by Thursday.</a:t>
            </a:r>
          </a:p>
        </p:txBody>
      </p:sp>
      <p:sp>
        <p:nvSpPr>
          <p:cNvPr id="27" name="Rounded Rectangle 26"/>
          <p:cNvSpPr/>
          <p:nvPr/>
        </p:nvSpPr>
        <p:spPr>
          <a:xfrm>
            <a:off x="7093915" y="1600200"/>
            <a:ext cx="1364284" cy="237744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46873" y="174650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93915" y="1865376"/>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1</a:t>
            </a:r>
          </a:p>
        </p:txBody>
      </p:sp>
      <p:sp>
        <p:nvSpPr>
          <p:cNvPr id="30" name="TextBox 29"/>
          <p:cNvSpPr txBox="1"/>
          <p:nvPr/>
        </p:nvSpPr>
        <p:spPr>
          <a:xfrm>
            <a:off x="7148779" y="2532888"/>
            <a:ext cx="1254556" cy="512064"/>
          </a:xfrm>
          <a:prstGeom prst="rect">
            <a:avLst/>
          </a:prstGeom>
          <a:noFill/>
          <a:effectLst/>
        </p:spPr>
        <p:txBody>
          <a:bodyPr wrap="square" lIns="0" rIns="0" tIns="0" bIns="0" anchor="t">
            <a:spAutoFit/>
          </a:bodyPr>
          <a:lstStyle/>
          <a:p>
            <a:pPr algn="ctr">
              <a:lnSpc>
                <a:spcPct val="105000"/>
              </a:lnSpc>
            </a:pPr>
            <a:r>
              <a:rPr sz="1250" b="0">
                <a:solidFill>
                  <a:srgbClr val="6B4F3E"/>
                </a:solidFill>
                <a:latin typeface="Georgia"/>
              </a:rPr>
              <a:t>stopped answering</a:t>
            </a:r>
          </a:p>
        </p:txBody>
      </p:sp>
      <p:sp>
        <p:nvSpPr>
          <p:cNvPr id="31" name="TextBox 30"/>
          <p:cNvSpPr txBox="1"/>
          <p:nvPr/>
        </p:nvSpPr>
        <p:spPr>
          <a:xfrm>
            <a:off x="7185355" y="3099815"/>
            <a:ext cx="1181404" cy="804672"/>
          </a:xfrm>
          <a:prstGeom prst="rect">
            <a:avLst/>
          </a:prstGeom>
          <a:noFill/>
          <a:effectLst/>
        </p:spPr>
        <p:txBody>
          <a:bodyPr wrap="square" lIns="0" rIns="0" tIns="0" bIns="0" anchor="t">
            <a:spAutoFit/>
          </a:bodyPr>
          <a:lstStyle/>
          <a:p>
            <a:pPr algn="ctr">
              <a:lnSpc>
                <a:spcPct val="122000"/>
              </a:lnSpc>
            </a:pPr>
            <a:r>
              <a:rPr sz="1000" b="0">
                <a:solidFill>
                  <a:srgbClr val="706962"/>
                </a:solidFill>
                <a:latin typeface="Calibri"/>
              </a:rPr>
              <a:t>Nadia, by Friday.</a:t>
            </a:r>
          </a:p>
        </p:txBody>
      </p:sp>
      <p:sp>
        <p:nvSpPr>
          <p:cNvPr id="32" name="TextBox 31"/>
          <p:cNvSpPr txBox="1"/>
          <p:nvPr/>
        </p:nvSpPr>
        <p:spPr>
          <a:xfrm>
            <a:off x="685800" y="4187952"/>
            <a:ext cx="7772400" cy="457200"/>
          </a:xfrm>
          <a:prstGeom prst="rect">
            <a:avLst/>
          </a:prstGeom>
          <a:noFill/>
          <a:effectLst/>
        </p:spPr>
        <p:txBody>
          <a:bodyPr wrap="square" lIns="0" rIns="0" tIns="0" bIns="0" anchor="t">
            <a:spAutoFit/>
          </a:bodyPr>
          <a:lstStyle/>
          <a:p>
            <a:pPr algn="l">
              <a:lnSpc>
                <a:spcPct val="120000"/>
              </a:lnSpc>
            </a:pPr>
            <a:r>
              <a:rPr sz="1300" b="0">
                <a:solidFill>
                  <a:srgbClr val="706962"/>
                </a:solidFill>
                <a:latin typeface="Calibri"/>
              </a:rPr>
              <a:t>One of them started it. Most forms count two: the one who said it and the one it was about.</a:t>
            </a:r>
          </a:p>
        </p:txBody>
      </p:sp>
      <p:pic>
        <p:nvPicPr>
          <p:cNvPr id="33" name="Picture 32" descr="logo-mark.png"/>
          <p:cNvPicPr>
            <a:picLocks noChangeAspect="1"/>
          </p:cNvPicPr>
          <p:nvPr/>
        </p:nvPicPr>
        <p:blipFill>
          <a:blip r:embed="rId2"/>
          <a:stretch>
            <a:fillRect/>
          </a:stretch>
        </p:blipFill>
        <p:spPr>
          <a:xfrm>
            <a:off x="384048" y="4709160"/>
            <a:ext cx="155448" cy="182880"/>
          </a:xfrm>
          <a:prstGeom prst="rect">
            <a:avLst/>
          </a:prstGeom>
        </p:spPr>
      </p:pic>
      <p:sp>
        <p:nvSpPr>
          <p:cNvPr id="34" name="TextBox 33"/>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35" name="TextBox 34"/>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THINK</a:t>
            </a:r>
          </a:p>
        </p:txBody>
      </p:sp>
      <p:sp>
        <p:nvSpPr>
          <p:cNvPr id="4" name="TextBox 3"/>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You already know this</a:t>
            </a:r>
          </a:p>
        </p:txBody>
      </p:sp>
      <p:sp>
        <p:nvSpPr>
          <p:cNvPr id="5" name="Rounded Rectangle 4"/>
          <p:cNvSpPr/>
          <p:nvPr/>
        </p:nvSpPr>
        <p:spPr>
          <a:xfrm>
            <a:off x="685800" y="1554480"/>
            <a:ext cx="7772400" cy="2103120"/>
          </a:xfrm>
          <a:prstGeom prst="roundRect">
            <a:avLst>
              <a:gd name="adj" fmla="val 3913"/>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10512"/>
            <a:ext cx="6949440" cy="1645920"/>
          </a:xfrm>
          <a:prstGeom prst="rect">
            <a:avLst/>
          </a:prstGeom>
          <a:noFill/>
          <a:effectLst/>
        </p:spPr>
        <p:txBody>
          <a:bodyPr wrap="square" lIns="0" rIns="0" tIns="0" bIns="0" anchor="t">
            <a:spAutoFit/>
          </a:bodyPr>
          <a:lstStyle/>
          <a:p>
            <a:pPr algn="l">
              <a:lnSpc>
                <a:spcPct val="160000"/>
              </a:lnSpc>
            </a:pPr>
            <a:r>
              <a:rPr sz="1550" b="0">
                <a:solidFill>
                  <a:srgbClr val="3A332E"/>
                </a:solidFill>
                <a:latin typeface="Georgia"/>
              </a:rPr>
              <a:t>Most people have laughed at something without deciding to.</a:t>
            </a:r>
            <a:br/>
            <a:r>
              <a:rPr sz="1550" b="0">
                <a:solidFill>
                  <a:srgbClr val="3A332E"/>
                </a:solidFill>
                <a:latin typeface="Georgia"/>
              </a:rPr>
              <a:t>Most people have walked towards a group and heard it go quiet.</a:t>
            </a:r>
            <a:br/>
            <a:r>
              <a:rPr sz="1550" b="0">
                <a:solidFill>
                  <a:srgbClr val="3A332E"/>
                </a:solidFill>
                <a:latin typeface="Georgia"/>
              </a:rPr>
              <a:t>Most people have watched something and assumed somebody else would say it.</a:t>
            </a:r>
          </a:p>
        </p:txBody>
      </p:sp>
      <p:sp>
        <p:nvSpPr>
          <p:cNvPr id="7" name="TextBox 6"/>
          <p:cNvSpPr txBox="1"/>
          <p:nvPr/>
        </p:nvSpPr>
        <p:spPr>
          <a:xfrm>
            <a:off x="685800" y="3931920"/>
            <a:ext cx="7772400" cy="457200"/>
          </a:xfrm>
          <a:prstGeom prst="rect">
            <a:avLst/>
          </a:prstGeom>
          <a:noFill/>
          <a:effectLst/>
        </p:spPr>
        <p:txBody>
          <a:bodyPr wrap="square" lIns="0" rIns="0" tIns="0" bIns="0" anchor="t">
            <a:spAutoFit/>
          </a:bodyPr>
          <a:lstStyle/>
          <a:p>
            <a:pPr algn="l">
              <a:lnSpc>
                <a:spcPct val="120000"/>
              </a:lnSpc>
            </a:pPr>
            <a:r>
              <a:rPr sz="1300" b="1">
                <a:solidFill>
                  <a:srgbClr val="6B4F3E"/>
                </a:solidFill>
                <a:latin typeface="Calibri"/>
              </a:rPr>
              <a:t>None of that makes you the one who started it, and all of it is part of why it kept going.</a:t>
            </a:r>
          </a:p>
        </p:txBody>
      </p:sp>
      <p:pic>
        <p:nvPicPr>
          <p:cNvPr id="8" name="Picture 7" descr="logo-mark.png"/>
          <p:cNvPicPr>
            <a:picLocks noChangeAspect="1"/>
          </p:cNvPicPr>
          <p:nvPr/>
        </p:nvPicPr>
        <p:blipFill>
          <a:blip r:embed="rId2"/>
          <a:stretch>
            <a:fillRect/>
          </a:stretch>
        </p:blipFill>
        <p:spPr>
          <a:xfrm>
            <a:off x="384048" y="4709160"/>
            <a:ext cx="155448" cy="182880"/>
          </a:xfrm>
          <a:prstGeom prst="rect">
            <a:avLst/>
          </a:prstGeom>
        </p:spPr>
      </p:pic>
      <p:sp>
        <p:nvSpPr>
          <p:cNvPr id="9" name="TextBox 8"/>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10" name="TextBox 9"/>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SO WHO IS IN A MOMENT LIKE THAT</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Five roles</a:t>
            </a:r>
          </a:p>
        </p:txBody>
      </p:sp>
      <p:sp>
        <p:nvSpPr>
          <p:cNvPr id="7" name="Rounded Rectangle 6"/>
          <p:cNvSpPr/>
          <p:nvPr/>
        </p:nvSpPr>
        <p:spPr>
          <a:xfrm>
            <a:off x="685800" y="1645920"/>
            <a:ext cx="1364284" cy="228600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8758" y="179222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11095"/>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1</a:t>
            </a:r>
          </a:p>
        </p:txBody>
      </p:sp>
      <p:sp>
        <p:nvSpPr>
          <p:cNvPr id="10" name="TextBox 9"/>
          <p:cNvSpPr txBox="1"/>
          <p:nvPr/>
        </p:nvSpPr>
        <p:spPr>
          <a:xfrm>
            <a:off x="758952" y="2578608"/>
            <a:ext cx="1217980" cy="548640"/>
          </a:xfrm>
          <a:prstGeom prst="rect">
            <a:avLst/>
          </a:prstGeom>
          <a:noFill/>
          <a:effectLst/>
        </p:spPr>
        <p:txBody>
          <a:bodyPr wrap="square" lIns="0" rIns="0" tIns="0" bIns="0" anchor="t">
            <a:spAutoFit/>
          </a:bodyPr>
          <a:lstStyle/>
          <a:p>
            <a:pPr algn="ctr">
              <a:lnSpc>
                <a:spcPct val="105000"/>
              </a:lnSpc>
            </a:pPr>
            <a:r>
              <a:rPr sz="1400" b="0">
                <a:solidFill>
                  <a:srgbClr val="6B4F3E"/>
                </a:solidFill>
                <a:latin typeface="Georgia"/>
              </a:rPr>
              <a:t>Starts it</a:t>
            </a:r>
          </a:p>
        </p:txBody>
      </p:sp>
      <p:sp>
        <p:nvSpPr>
          <p:cNvPr id="11" name="TextBox 10"/>
          <p:cNvSpPr txBox="1"/>
          <p:nvPr/>
        </p:nvSpPr>
        <p:spPr>
          <a:xfrm>
            <a:off x="795528" y="3145536"/>
            <a:ext cx="1144828" cy="713232"/>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Says the thing first.</a:t>
            </a:r>
          </a:p>
        </p:txBody>
      </p:sp>
      <p:sp>
        <p:nvSpPr>
          <p:cNvPr id="12" name="Rounded Rectangle 11"/>
          <p:cNvSpPr/>
          <p:nvPr/>
        </p:nvSpPr>
        <p:spPr>
          <a:xfrm>
            <a:off x="2287828" y="1645920"/>
            <a:ext cx="1364284" cy="228600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640787" y="179222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7828" y="1911095"/>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2</a:t>
            </a:r>
          </a:p>
        </p:txBody>
      </p:sp>
      <p:sp>
        <p:nvSpPr>
          <p:cNvPr id="15" name="TextBox 14"/>
          <p:cNvSpPr txBox="1"/>
          <p:nvPr/>
        </p:nvSpPr>
        <p:spPr>
          <a:xfrm>
            <a:off x="2360980" y="2578608"/>
            <a:ext cx="1217980" cy="548640"/>
          </a:xfrm>
          <a:prstGeom prst="rect">
            <a:avLst/>
          </a:prstGeom>
          <a:noFill/>
          <a:effectLst/>
        </p:spPr>
        <p:txBody>
          <a:bodyPr wrap="square" lIns="0" rIns="0" tIns="0" bIns="0" anchor="t">
            <a:spAutoFit/>
          </a:bodyPr>
          <a:lstStyle/>
          <a:p>
            <a:pPr algn="ctr">
              <a:lnSpc>
                <a:spcPct val="105000"/>
              </a:lnSpc>
            </a:pPr>
            <a:r>
              <a:rPr sz="1400" b="0">
                <a:solidFill>
                  <a:srgbClr val="6B4F3E"/>
                </a:solidFill>
                <a:latin typeface="Georgia"/>
              </a:rPr>
              <a:t>Joins in</a:t>
            </a:r>
          </a:p>
        </p:txBody>
      </p:sp>
      <p:sp>
        <p:nvSpPr>
          <p:cNvPr id="16" name="TextBox 15"/>
          <p:cNvSpPr txBox="1"/>
          <p:nvPr/>
        </p:nvSpPr>
        <p:spPr>
          <a:xfrm>
            <a:off x="2397556" y="3145536"/>
            <a:ext cx="1144828" cy="713232"/>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Repeats it somewhere else.</a:t>
            </a:r>
          </a:p>
        </p:txBody>
      </p:sp>
      <p:sp>
        <p:nvSpPr>
          <p:cNvPr id="17" name="Rounded Rectangle 16"/>
          <p:cNvSpPr/>
          <p:nvPr/>
        </p:nvSpPr>
        <p:spPr>
          <a:xfrm>
            <a:off x="3889857" y="1645920"/>
            <a:ext cx="1364284" cy="228600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42816" y="179222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89857" y="1911095"/>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3</a:t>
            </a:r>
          </a:p>
        </p:txBody>
      </p:sp>
      <p:sp>
        <p:nvSpPr>
          <p:cNvPr id="20" name="TextBox 19"/>
          <p:cNvSpPr txBox="1"/>
          <p:nvPr/>
        </p:nvSpPr>
        <p:spPr>
          <a:xfrm>
            <a:off x="3963009" y="2578608"/>
            <a:ext cx="1217980" cy="548640"/>
          </a:xfrm>
          <a:prstGeom prst="rect">
            <a:avLst/>
          </a:prstGeom>
          <a:noFill/>
          <a:effectLst/>
        </p:spPr>
        <p:txBody>
          <a:bodyPr wrap="square" lIns="0" rIns="0" tIns="0" bIns="0" anchor="t">
            <a:spAutoFit/>
          </a:bodyPr>
          <a:lstStyle/>
          <a:p>
            <a:pPr algn="ctr">
              <a:lnSpc>
                <a:spcPct val="105000"/>
              </a:lnSpc>
            </a:pPr>
            <a:r>
              <a:rPr sz="1400" b="0">
                <a:solidFill>
                  <a:srgbClr val="6B4F3E"/>
                </a:solidFill>
                <a:latin typeface="Georgia"/>
              </a:rPr>
              <a:t>Laughs</a:t>
            </a:r>
          </a:p>
        </p:txBody>
      </p:sp>
      <p:sp>
        <p:nvSpPr>
          <p:cNvPr id="21" name="TextBox 20"/>
          <p:cNvSpPr txBox="1"/>
          <p:nvPr/>
        </p:nvSpPr>
        <p:spPr>
          <a:xfrm>
            <a:off x="3999585" y="3145536"/>
            <a:ext cx="1144828" cy="713232"/>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Gives it an audience.</a:t>
            </a:r>
          </a:p>
        </p:txBody>
      </p:sp>
      <p:sp>
        <p:nvSpPr>
          <p:cNvPr id="22" name="Rounded Rectangle 21"/>
          <p:cNvSpPr/>
          <p:nvPr/>
        </p:nvSpPr>
        <p:spPr>
          <a:xfrm>
            <a:off x="5491886" y="1645920"/>
            <a:ext cx="1364284" cy="228600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44844" y="179222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91886" y="1911095"/>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4</a:t>
            </a:r>
          </a:p>
        </p:txBody>
      </p:sp>
      <p:sp>
        <p:nvSpPr>
          <p:cNvPr id="25" name="TextBox 24"/>
          <p:cNvSpPr txBox="1"/>
          <p:nvPr/>
        </p:nvSpPr>
        <p:spPr>
          <a:xfrm>
            <a:off x="5565038" y="2578608"/>
            <a:ext cx="1217980" cy="548640"/>
          </a:xfrm>
          <a:prstGeom prst="rect">
            <a:avLst/>
          </a:prstGeom>
          <a:noFill/>
          <a:effectLst/>
        </p:spPr>
        <p:txBody>
          <a:bodyPr wrap="square" lIns="0" rIns="0" tIns="0" bIns="0" anchor="t">
            <a:spAutoFit/>
          </a:bodyPr>
          <a:lstStyle/>
          <a:p>
            <a:pPr algn="ctr">
              <a:lnSpc>
                <a:spcPct val="105000"/>
              </a:lnSpc>
            </a:pPr>
            <a:r>
              <a:rPr sz="1400" b="0">
                <a:solidFill>
                  <a:srgbClr val="6B4F3E"/>
                </a:solidFill>
                <a:latin typeface="Georgia"/>
              </a:rPr>
              <a:t>Looks away</a:t>
            </a:r>
          </a:p>
        </p:txBody>
      </p:sp>
      <p:sp>
        <p:nvSpPr>
          <p:cNvPr id="26" name="TextBox 25"/>
          <p:cNvSpPr txBox="1"/>
          <p:nvPr/>
        </p:nvSpPr>
        <p:spPr>
          <a:xfrm>
            <a:off x="5601614" y="3145536"/>
            <a:ext cx="1144828" cy="713232"/>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Waits for it to pass.</a:t>
            </a:r>
          </a:p>
        </p:txBody>
      </p:sp>
      <p:sp>
        <p:nvSpPr>
          <p:cNvPr id="27" name="Rounded Rectangle 26"/>
          <p:cNvSpPr/>
          <p:nvPr/>
        </p:nvSpPr>
        <p:spPr>
          <a:xfrm>
            <a:off x="7093915" y="1645920"/>
            <a:ext cx="1364284" cy="2286000"/>
          </a:xfrm>
          <a:prstGeom prst="roundRect">
            <a:avLst>
              <a:gd name="adj" fmla="val 6032"/>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46873" y="179222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93915" y="1911095"/>
            <a:ext cx="1364284" cy="420624"/>
          </a:xfrm>
          <a:prstGeom prst="rect">
            <a:avLst/>
          </a:prstGeom>
          <a:noFill/>
          <a:effectLst/>
        </p:spPr>
        <p:txBody>
          <a:bodyPr wrap="square" lIns="0" rIns="0" tIns="0" bIns="0" anchor="t">
            <a:spAutoFit/>
          </a:bodyPr>
          <a:lstStyle/>
          <a:p>
            <a:pPr algn="ctr"/>
            <a:r>
              <a:rPr sz="1800" b="0">
                <a:solidFill>
                  <a:srgbClr val="FFFDF7"/>
                </a:solidFill>
                <a:latin typeface="Georgia"/>
              </a:rPr>
              <a:t>5</a:t>
            </a:r>
          </a:p>
        </p:txBody>
      </p:sp>
      <p:sp>
        <p:nvSpPr>
          <p:cNvPr id="30" name="TextBox 29"/>
          <p:cNvSpPr txBox="1"/>
          <p:nvPr/>
        </p:nvSpPr>
        <p:spPr>
          <a:xfrm>
            <a:off x="7167067" y="2578608"/>
            <a:ext cx="1217980" cy="548640"/>
          </a:xfrm>
          <a:prstGeom prst="rect">
            <a:avLst/>
          </a:prstGeom>
          <a:noFill/>
          <a:effectLst/>
        </p:spPr>
        <p:txBody>
          <a:bodyPr wrap="square" lIns="0" rIns="0" tIns="0" bIns="0" anchor="t">
            <a:spAutoFit/>
          </a:bodyPr>
          <a:lstStyle/>
          <a:p>
            <a:pPr algn="ctr">
              <a:lnSpc>
                <a:spcPct val="105000"/>
              </a:lnSpc>
            </a:pPr>
            <a:r>
              <a:rPr sz="1400" b="0">
                <a:solidFill>
                  <a:srgbClr val="6B4F3E"/>
                </a:solidFill>
                <a:latin typeface="Georgia"/>
              </a:rPr>
              <a:t>Steps in</a:t>
            </a:r>
          </a:p>
        </p:txBody>
      </p:sp>
      <p:sp>
        <p:nvSpPr>
          <p:cNvPr id="31" name="TextBox 30"/>
          <p:cNvSpPr txBox="1"/>
          <p:nvPr/>
        </p:nvSpPr>
        <p:spPr>
          <a:xfrm>
            <a:off x="7203643" y="3145536"/>
            <a:ext cx="1144828" cy="713232"/>
          </a:xfrm>
          <a:prstGeom prst="rect">
            <a:avLst/>
          </a:prstGeom>
          <a:noFill/>
          <a:effectLst/>
        </p:spPr>
        <p:txBody>
          <a:bodyPr wrap="square" lIns="0" rIns="0" tIns="0" bIns="0" anchor="t">
            <a:spAutoFit/>
          </a:bodyPr>
          <a:lstStyle/>
          <a:p>
            <a:pPr algn="ctr">
              <a:lnSpc>
                <a:spcPct val="122000"/>
              </a:lnSpc>
            </a:pPr>
            <a:r>
              <a:rPr sz="1050" b="0">
                <a:solidFill>
                  <a:srgbClr val="706962"/>
                </a:solidFill>
                <a:latin typeface="Calibri"/>
              </a:rPr>
              <a:t>Changes what happens next.</a:t>
            </a:r>
          </a:p>
        </p:txBody>
      </p:sp>
      <p:sp>
        <p:nvSpPr>
          <p:cNvPr id="32" name="TextBox 31"/>
          <p:cNvSpPr txBox="1"/>
          <p:nvPr/>
        </p:nvSpPr>
        <p:spPr>
          <a:xfrm>
            <a:off x="685800" y="4114800"/>
            <a:ext cx="7772400" cy="457200"/>
          </a:xfrm>
          <a:prstGeom prst="rect">
            <a:avLst/>
          </a:prstGeom>
          <a:noFill/>
          <a:effectLst/>
        </p:spPr>
        <p:txBody>
          <a:bodyPr wrap="square" lIns="0" rIns="0" tIns="0" bIns="0" anchor="t">
            <a:spAutoFit/>
          </a:bodyPr>
          <a:lstStyle/>
          <a:p>
            <a:pPr algn="l">
              <a:lnSpc>
                <a:spcPct val="120000"/>
              </a:lnSpc>
            </a:pPr>
            <a:r>
              <a:rPr sz="1300" b="0">
                <a:solidFill>
                  <a:srgbClr val="706962"/>
                </a:solidFill>
                <a:latin typeface="Calibri"/>
              </a:rPr>
              <a:t>The biggest groups are the third and fourth ones. The roles are not fixed, and most people are a different one on a different day.</a:t>
            </a:r>
          </a:p>
        </p:txBody>
      </p:sp>
      <p:pic>
        <p:nvPicPr>
          <p:cNvPr id="33" name="Picture 32" descr="logo-mark.png"/>
          <p:cNvPicPr>
            <a:picLocks noChangeAspect="1"/>
          </p:cNvPicPr>
          <p:nvPr/>
        </p:nvPicPr>
        <p:blipFill>
          <a:blip r:embed="rId2"/>
          <a:stretch>
            <a:fillRect/>
          </a:stretch>
        </p:blipFill>
        <p:spPr>
          <a:xfrm>
            <a:off x="384048" y="4709160"/>
            <a:ext cx="155448" cy="182880"/>
          </a:xfrm>
          <a:prstGeom prst="rect">
            <a:avLst/>
          </a:prstGeom>
        </p:spPr>
      </p:pic>
      <p:sp>
        <p:nvSpPr>
          <p:cNvPr id="34" name="TextBox 33"/>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35" name="TextBox 34"/>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WHERE THE FIVE COME FROM</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Somebody counted this</a:t>
            </a:r>
          </a:p>
        </p:txBody>
      </p:sp>
      <p:sp>
        <p:nvSpPr>
          <p:cNvPr id="7" name="Rounded Rectangle 6"/>
          <p:cNvSpPr/>
          <p:nvPr/>
        </p:nvSpPr>
        <p:spPr>
          <a:xfrm>
            <a:off x="685800" y="1554480"/>
            <a:ext cx="7772400" cy="2139696"/>
          </a:xfrm>
          <a:prstGeom prst="roundRect">
            <a:avLst>
              <a:gd name="adj" fmla="val 3846"/>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10512"/>
            <a:ext cx="6949440" cy="402336"/>
          </a:xfrm>
          <a:prstGeom prst="rect">
            <a:avLst/>
          </a:prstGeom>
          <a:noFill/>
          <a:effectLst/>
        </p:spPr>
        <p:txBody>
          <a:bodyPr wrap="square" lIns="0" rIns="0" tIns="0" bIns="0" anchor="t">
            <a:spAutoFit/>
          </a:bodyPr>
          <a:lstStyle/>
          <a:p>
            <a:pPr algn="l"/>
            <a:r>
              <a:rPr sz="2000" b="0">
                <a:solidFill>
                  <a:srgbClr val="6B4F3E"/>
                </a:solidFill>
                <a:latin typeface="Georgia"/>
              </a:rPr>
              <a:t>573 students in Finland, 1996.</a:t>
            </a:r>
          </a:p>
        </p:txBody>
      </p:sp>
      <p:sp>
        <p:nvSpPr>
          <p:cNvPr id="9" name="TextBox 8"/>
          <p:cNvSpPr txBox="1"/>
          <p:nvPr/>
        </p:nvSpPr>
        <p:spPr>
          <a:xfrm>
            <a:off x="1097280" y="2304288"/>
            <a:ext cx="6949440" cy="1188720"/>
          </a:xfrm>
          <a:prstGeom prst="rect">
            <a:avLst/>
          </a:prstGeom>
          <a:noFill/>
          <a:effectLst/>
        </p:spPr>
        <p:txBody>
          <a:bodyPr wrap="square" lIns="0" rIns="0" tIns="0" bIns="0" anchor="t">
            <a:spAutoFit/>
          </a:bodyPr>
          <a:lstStyle/>
          <a:p>
            <a:pPr algn="l">
              <a:lnSpc>
                <a:spcPct val="140000"/>
              </a:lnSpc>
            </a:pPr>
            <a:r>
              <a:rPr sz="1300" b="0">
                <a:solidFill>
                  <a:srgbClr val="706962"/>
                </a:solidFill>
                <a:latin typeface="Calibri"/>
              </a:rPr>
              <a:t>Researchers asked a whole year group who did what when somebody was picked on. Almost everybody held a role. The biggest group was not the one who started it. It was the people who laughed along, or who were simply there and said nothing.</a:t>
            </a:r>
          </a:p>
        </p:txBody>
      </p:sp>
      <p:sp>
        <p:nvSpPr>
          <p:cNvPr id="10" name="TextBox 9"/>
          <p:cNvSpPr txBox="1"/>
          <p:nvPr/>
        </p:nvSpPr>
        <p:spPr>
          <a:xfrm>
            <a:off x="685800" y="4023360"/>
            <a:ext cx="7772400" cy="310896"/>
          </a:xfrm>
          <a:prstGeom prst="rect">
            <a:avLst/>
          </a:prstGeom>
          <a:noFill/>
          <a:effectLst/>
        </p:spPr>
        <p:txBody>
          <a:bodyPr wrap="square" lIns="0" rIns="0" tIns="0" bIns="0" anchor="t">
            <a:spAutoFit/>
          </a:bodyPr>
          <a:lstStyle/>
          <a:p>
            <a:pPr algn="l">
              <a:lnSpc>
                <a:spcPct val="120000"/>
              </a:lnSpc>
            </a:pPr>
            <a:r>
              <a:rPr sz="1300" b="0">
                <a:solidFill>
                  <a:srgbClr val="706962"/>
                </a:solidFill>
                <a:latin typeface="Calibri"/>
              </a:rPr>
              <a:t>That study is thirty years old and from another country. The roles have held up since.</a:t>
            </a:r>
          </a:p>
        </p:txBody>
      </p:sp>
      <p:pic>
        <p:nvPicPr>
          <p:cNvPr id="11" name="Picture 10" descr="logo-mark.png"/>
          <p:cNvPicPr>
            <a:picLocks noChangeAspect="1"/>
          </p:cNvPicPr>
          <p:nvPr/>
        </p:nvPicPr>
        <p:blipFill>
          <a:blip r:embed="rId2"/>
          <a:stretch>
            <a:fillRect/>
          </a:stretch>
        </p:blipFill>
        <p:spPr>
          <a:xfrm>
            <a:off x="384048" y="4709160"/>
            <a:ext cx="155448" cy="182880"/>
          </a:xfrm>
          <a:prstGeom prst="rect">
            <a:avLst/>
          </a:prstGeom>
        </p:spPr>
      </p:pic>
      <p:sp>
        <p:nvSpPr>
          <p:cNvPr id="12" name="TextBox 11"/>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13" name="TextBox 12"/>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BEFORE THE ANSWER</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What did they find?</a:t>
            </a:r>
          </a:p>
        </p:txBody>
      </p:sp>
      <p:sp>
        <p:nvSpPr>
          <p:cNvPr id="7" name="Rounded Rectangle 6"/>
          <p:cNvSpPr/>
          <p:nvPr/>
        </p:nvSpPr>
        <p:spPr>
          <a:xfrm>
            <a:off x="685800" y="1481328"/>
            <a:ext cx="7772400" cy="1060704"/>
          </a:xfrm>
          <a:prstGeom prst="roundRect">
            <a:avLst>
              <a:gd name="adj" fmla="val 7758"/>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64208"/>
            <a:ext cx="7040880" cy="786384"/>
          </a:xfrm>
          <a:prstGeom prst="rect">
            <a:avLst/>
          </a:prstGeom>
          <a:noFill/>
          <a:effectLst/>
        </p:spPr>
        <p:txBody>
          <a:bodyPr wrap="square" lIns="0" rIns="0" tIns="0" bIns="0" anchor="t">
            <a:spAutoFit/>
          </a:bodyPr>
          <a:lstStyle/>
          <a:p>
            <a:pPr algn="l">
              <a:lnSpc>
                <a:spcPct val="135000"/>
              </a:lnSpc>
            </a:pPr>
            <a:r>
              <a:rPr sz="1300" b="0">
                <a:solidFill>
                  <a:srgbClr val="706962"/>
                </a:solidFill>
                <a:latin typeface="Calibri"/>
              </a:rPr>
              <a:t>Two schools in Toronto. Cameras and microphones on the playground for 125 hours. Researchers recorded 306 moments of somebody being picked on, and watched what other children did.</a:t>
            </a:r>
          </a:p>
        </p:txBody>
      </p:sp>
      <p:sp>
        <p:nvSpPr>
          <p:cNvPr id="9" name="Rounded Rectangle 8"/>
          <p:cNvSpPr/>
          <p:nvPr/>
        </p:nvSpPr>
        <p:spPr>
          <a:xfrm>
            <a:off x="685800" y="2706624"/>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41832" y="2825496"/>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926080"/>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1</a:t>
            </a:r>
          </a:p>
        </p:txBody>
      </p:sp>
      <p:sp>
        <p:nvSpPr>
          <p:cNvPr id="12" name="TextBox 11"/>
          <p:cNvSpPr txBox="1"/>
          <p:nvPr/>
        </p:nvSpPr>
        <p:spPr>
          <a:xfrm>
            <a:off x="1572768" y="2852928"/>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In how many of those 306 moments did another child step in?</a:t>
            </a:r>
          </a:p>
        </p:txBody>
      </p:sp>
      <p:sp>
        <p:nvSpPr>
          <p:cNvPr id="13" name="Rounded Rectangle 12"/>
          <p:cNvSpPr/>
          <p:nvPr/>
        </p:nvSpPr>
        <p:spPr>
          <a:xfrm>
            <a:off x="685800" y="3456432"/>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3575303"/>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675887"/>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2</a:t>
            </a:r>
          </a:p>
        </p:txBody>
      </p:sp>
      <p:sp>
        <p:nvSpPr>
          <p:cNvPr id="16" name="TextBox 15"/>
          <p:cNvSpPr txBox="1"/>
          <p:nvPr/>
        </p:nvSpPr>
        <p:spPr>
          <a:xfrm>
            <a:off x="1572768" y="3602736"/>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When one did step in, how often did it stop within ten seconds?</a:t>
            </a:r>
          </a:p>
        </p:txBody>
      </p:sp>
      <p:sp>
        <p:nvSpPr>
          <p:cNvPr id="17" name="TextBox 16"/>
          <p:cNvSpPr txBox="1"/>
          <p:nvPr/>
        </p:nvSpPr>
        <p:spPr>
          <a:xfrm>
            <a:off x="685800" y="4315968"/>
            <a:ext cx="7772400" cy="310896"/>
          </a:xfrm>
          <a:prstGeom prst="rect">
            <a:avLst/>
          </a:prstGeom>
          <a:noFill/>
          <a:effectLst/>
        </p:spPr>
        <p:txBody>
          <a:bodyPr wrap="square" lIns="0" rIns="0" tIns="0" bIns="0" anchor="t">
            <a:spAutoFit/>
          </a:bodyPr>
          <a:lstStyle/>
          <a:p>
            <a:pPr algn="l">
              <a:lnSpc>
                <a:spcPct val="120000"/>
              </a:lnSpc>
            </a:pPr>
            <a:r>
              <a:rPr sz="1300" b="1">
                <a:solidFill>
                  <a:srgbClr val="6B4F3E"/>
                </a:solidFill>
                <a:latin typeface="Calibri"/>
              </a:rPr>
              <a:t>In pairs, two minutes. Write a percentage for each.</a:t>
            </a:r>
          </a:p>
        </p:txBody>
      </p:sp>
      <p:pic>
        <p:nvPicPr>
          <p:cNvPr id="18" name="Picture 17" descr="logo-mark.png"/>
          <p:cNvPicPr>
            <a:picLocks noChangeAspect="1"/>
          </p:cNvPicPr>
          <p:nvPr/>
        </p:nvPicPr>
        <p:blipFill>
          <a:blip r:embed="rId2"/>
          <a:stretch>
            <a:fillRect/>
          </a:stretch>
        </p:blipFill>
        <p:spPr>
          <a:xfrm>
            <a:off x="384048" y="4709160"/>
            <a:ext cx="155448" cy="182880"/>
          </a:xfrm>
          <a:prstGeom prst="rect">
            <a:avLst/>
          </a:prstGeom>
        </p:spPr>
      </p:pic>
      <p:sp>
        <p:nvSpPr>
          <p:cNvPr id="19" name="TextBox 18"/>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20" name="TextBox 19"/>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THE ANSWER</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What they found</a:t>
            </a:r>
          </a:p>
        </p:txBody>
      </p:sp>
      <p:sp>
        <p:nvSpPr>
          <p:cNvPr id="7" name="Rounded Rectangle 6"/>
          <p:cNvSpPr/>
          <p:nvPr/>
        </p:nvSpPr>
        <p:spPr>
          <a:xfrm>
            <a:off x="685800" y="1554480"/>
            <a:ext cx="3749039" cy="2011680"/>
          </a:xfrm>
          <a:prstGeom prst="roundRect">
            <a:avLst>
              <a:gd name="adj" fmla="val 409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73936"/>
            <a:ext cx="3749039" cy="868680"/>
          </a:xfrm>
          <a:prstGeom prst="rect">
            <a:avLst/>
          </a:prstGeom>
          <a:noFill/>
          <a:effectLst/>
        </p:spPr>
        <p:txBody>
          <a:bodyPr wrap="square" lIns="0" rIns="0" tIns="0" bIns="0" anchor="t">
            <a:spAutoFit/>
          </a:bodyPr>
          <a:lstStyle/>
          <a:p>
            <a:pPr algn="ctr"/>
            <a:r>
              <a:rPr sz="5200" b="0">
                <a:solidFill>
                  <a:srgbClr val="6B4F3E"/>
                </a:solidFill>
                <a:latin typeface="Georgia"/>
              </a:rPr>
              <a:t>19%</a:t>
            </a:r>
          </a:p>
        </p:txBody>
      </p:sp>
      <p:sp>
        <p:nvSpPr>
          <p:cNvPr id="9" name="TextBox 8"/>
          <p:cNvSpPr txBox="1"/>
          <p:nvPr/>
        </p:nvSpPr>
        <p:spPr>
          <a:xfrm>
            <a:off x="1051560" y="2706624"/>
            <a:ext cx="3017520" cy="786384"/>
          </a:xfrm>
          <a:prstGeom prst="rect">
            <a:avLst/>
          </a:prstGeom>
          <a:noFill/>
          <a:effectLst/>
        </p:spPr>
        <p:txBody>
          <a:bodyPr wrap="square" lIns="0" rIns="0" tIns="0" bIns="0" anchor="t">
            <a:spAutoFit/>
          </a:bodyPr>
          <a:lstStyle/>
          <a:p>
            <a:pPr algn="ctr">
              <a:lnSpc>
                <a:spcPct val="130000"/>
              </a:lnSpc>
            </a:pPr>
            <a:r>
              <a:rPr sz="1250" b="0">
                <a:solidFill>
                  <a:srgbClr val="706962"/>
                </a:solidFill>
                <a:latin typeface="Calibri"/>
              </a:rPr>
              <a:t>of the 306 moments had somebody step in. Four out of five had nobody.</a:t>
            </a:r>
          </a:p>
        </p:txBody>
      </p:sp>
      <p:sp>
        <p:nvSpPr>
          <p:cNvPr id="10" name="Rounded Rectangle 9"/>
          <p:cNvSpPr/>
          <p:nvPr/>
        </p:nvSpPr>
        <p:spPr>
          <a:xfrm>
            <a:off x="4709159" y="1554480"/>
            <a:ext cx="3749039" cy="2011680"/>
          </a:xfrm>
          <a:prstGeom prst="roundRect">
            <a:avLst>
              <a:gd name="adj" fmla="val 409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59" y="1773936"/>
            <a:ext cx="3749039" cy="868680"/>
          </a:xfrm>
          <a:prstGeom prst="rect">
            <a:avLst/>
          </a:prstGeom>
          <a:noFill/>
          <a:effectLst/>
        </p:spPr>
        <p:txBody>
          <a:bodyPr wrap="square" lIns="0" rIns="0" tIns="0" bIns="0" anchor="t">
            <a:spAutoFit/>
          </a:bodyPr>
          <a:lstStyle/>
          <a:p>
            <a:pPr algn="ctr"/>
            <a:r>
              <a:rPr sz="5200" b="0">
                <a:solidFill>
                  <a:srgbClr val="6B4F3E"/>
                </a:solidFill>
                <a:latin typeface="Georgia"/>
              </a:rPr>
              <a:t>57%</a:t>
            </a:r>
          </a:p>
        </p:txBody>
      </p:sp>
      <p:sp>
        <p:nvSpPr>
          <p:cNvPr id="12" name="TextBox 11"/>
          <p:cNvSpPr txBox="1"/>
          <p:nvPr/>
        </p:nvSpPr>
        <p:spPr>
          <a:xfrm>
            <a:off x="5074920" y="2706624"/>
            <a:ext cx="3017520" cy="786384"/>
          </a:xfrm>
          <a:prstGeom prst="rect">
            <a:avLst/>
          </a:prstGeom>
          <a:noFill/>
          <a:effectLst/>
        </p:spPr>
        <p:txBody>
          <a:bodyPr wrap="square" lIns="0" rIns="0" tIns="0" bIns="0" anchor="t">
            <a:spAutoFit/>
          </a:bodyPr>
          <a:lstStyle/>
          <a:p>
            <a:pPr algn="ctr">
              <a:lnSpc>
                <a:spcPct val="130000"/>
              </a:lnSpc>
            </a:pPr>
            <a:r>
              <a:rPr sz="1250" b="0">
                <a:solidFill>
                  <a:srgbClr val="706962"/>
                </a:solidFill>
                <a:latin typeface="Calibri"/>
              </a:rPr>
              <a:t>of the times somebody did step in, it stopped within ten seconds.</a:t>
            </a:r>
          </a:p>
        </p:txBody>
      </p:sp>
      <p:sp>
        <p:nvSpPr>
          <p:cNvPr id="13" name="TextBox 12"/>
          <p:cNvSpPr txBox="1"/>
          <p:nvPr/>
        </p:nvSpPr>
        <p:spPr>
          <a:xfrm>
            <a:off x="685800" y="3803904"/>
            <a:ext cx="7772400" cy="310896"/>
          </a:xfrm>
          <a:prstGeom prst="rect">
            <a:avLst/>
          </a:prstGeom>
          <a:noFill/>
          <a:effectLst/>
        </p:spPr>
        <p:txBody>
          <a:bodyPr wrap="square" lIns="0" rIns="0" tIns="0" bIns="0" anchor="t">
            <a:spAutoFit/>
          </a:bodyPr>
          <a:lstStyle/>
          <a:p>
            <a:pPr algn="l">
              <a:lnSpc>
                <a:spcPct val="120000"/>
              </a:lnSpc>
            </a:pPr>
            <a:r>
              <a:rPr sz="1300" b="1">
                <a:solidFill>
                  <a:srgbClr val="6B4F3E"/>
                </a:solidFill>
                <a:latin typeface="Calibri"/>
              </a:rPr>
              <a:t>Stepping in is rare, and more than half the time it works within ten seconds.</a:t>
            </a:r>
          </a:p>
        </p:txBody>
      </p:sp>
      <p:sp>
        <p:nvSpPr>
          <p:cNvPr id="14" name="TextBox 13"/>
          <p:cNvSpPr txBox="1"/>
          <p:nvPr/>
        </p:nvSpPr>
        <p:spPr>
          <a:xfrm>
            <a:off x="685800" y="4187952"/>
            <a:ext cx="7772400" cy="457200"/>
          </a:xfrm>
          <a:prstGeom prst="rect">
            <a:avLst/>
          </a:prstGeom>
          <a:noFill/>
          <a:effectLst/>
        </p:spPr>
        <p:txBody>
          <a:bodyPr wrap="square" lIns="0" rIns="0" tIns="0" bIns="0" anchor="t">
            <a:spAutoFit/>
          </a:bodyPr>
          <a:lstStyle/>
          <a:p>
            <a:pPr algn="l">
              <a:lnSpc>
                <a:spcPct val="120000"/>
              </a:lnSpc>
            </a:pPr>
            <a:r>
              <a:rPr sz="1300" b="0">
                <a:solidFill>
                  <a:srgbClr val="706962"/>
                </a:solidFill>
                <a:latin typeface="Calibri"/>
              </a:rPr>
              <a:t>These were younger students, on a playground, in 2001. Whether it holds here is worth arguing about.</a:t>
            </a:r>
          </a:p>
        </p:txBody>
      </p:sp>
      <p:pic>
        <p:nvPicPr>
          <p:cNvPr id="15" name="Picture 14" descr="logo-mark.png"/>
          <p:cNvPicPr>
            <a:picLocks noChangeAspect="1"/>
          </p:cNvPicPr>
          <p:nvPr/>
        </p:nvPicPr>
        <p:blipFill>
          <a:blip r:embed="rId2"/>
          <a:stretch>
            <a:fillRect/>
          </a:stretch>
        </p:blipFill>
        <p:spPr>
          <a:xfrm>
            <a:off x="384048" y="4709160"/>
            <a:ext cx="155448" cy="182880"/>
          </a:xfrm>
          <a:prstGeom prst="rect">
            <a:avLst/>
          </a:prstGeom>
        </p:spPr>
      </p:pic>
      <p:sp>
        <p:nvSpPr>
          <p:cNvPr id="16" name="TextBox 15"/>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17" name="TextBox 16"/>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WATCH THIS FIRST</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Two ways of stepping in</a:t>
            </a:r>
          </a:p>
        </p:txBody>
      </p:sp>
      <p:sp>
        <p:nvSpPr>
          <p:cNvPr id="7" name="Rounded Rectangle 6"/>
          <p:cNvSpPr/>
          <p:nvPr/>
        </p:nvSpPr>
        <p:spPr>
          <a:xfrm>
            <a:off x="685800" y="1554480"/>
            <a:ext cx="3749039" cy="2011680"/>
          </a:xfrm>
          <a:prstGeom prst="roundRect">
            <a:avLst>
              <a:gd name="adj" fmla="val 409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73936"/>
            <a:ext cx="3200399" cy="310896"/>
          </a:xfrm>
          <a:prstGeom prst="rect">
            <a:avLst/>
          </a:prstGeom>
          <a:noFill/>
          <a:effectLst/>
        </p:spPr>
        <p:txBody>
          <a:bodyPr wrap="square" lIns="0" rIns="0" tIns="0" bIns="0" anchor="t">
            <a:spAutoFit/>
          </a:bodyPr>
          <a:lstStyle/>
          <a:p>
            <a:pPr algn="ctr"/>
            <a:r>
              <a:rPr sz="1600" b="0">
                <a:solidFill>
                  <a:srgbClr val="6B4F3E"/>
                </a:solidFill>
                <a:latin typeface="Georgia"/>
              </a:rPr>
              <a:t>This one works</a:t>
            </a:r>
          </a:p>
        </p:txBody>
      </p:sp>
      <p:sp>
        <p:nvSpPr>
          <p:cNvPr id="9" name="TextBox 8"/>
          <p:cNvSpPr txBox="1"/>
          <p:nvPr/>
        </p:nvSpPr>
        <p:spPr>
          <a:xfrm>
            <a:off x="960120" y="2231136"/>
            <a:ext cx="3200399" cy="566928"/>
          </a:xfrm>
          <a:prstGeom prst="rect">
            <a:avLst/>
          </a:prstGeom>
          <a:noFill/>
          <a:effectLst/>
        </p:spPr>
        <p:txBody>
          <a:bodyPr wrap="square" lIns="0" rIns="0" tIns="0" bIns="0" anchor="t">
            <a:spAutoFit/>
          </a:bodyPr>
          <a:lstStyle/>
          <a:p>
            <a:pPr algn="ctr">
              <a:lnSpc>
                <a:spcPct val="125000"/>
              </a:lnSpc>
            </a:pPr>
            <a:r>
              <a:rPr sz="1500" b="0">
                <a:solidFill>
                  <a:srgbClr val="3A332E"/>
                </a:solidFill>
                <a:latin typeface="Georgia"/>
              </a:rPr>
              <a:t>“That is not funny any more.”</a:t>
            </a:r>
          </a:p>
        </p:txBody>
      </p:sp>
      <p:sp>
        <p:nvSpPr>
          <p:cNvPr id="10" name="TextBox 9"/>
          <p:cNvSpPr txBox="1"/>
          <p:nvPr/>
        </p:nvSpPr>
        <p:spPr>
          <a:xfrm>
            <a:off x="960120" y="2907792"/>
            <a:ext cx="3200399" cy="512064"/>
          </a:xfrm>
          <a:prstGeom prst="rect">
            <a:avLst/>
          </a:prstGeom>
          <a:noFill/>
          <a:effectLst/>
        </p:spPr>
        <p:txBody>
          <a:bodyPr wrap="square" lIns="0" rIns="0" tIns="0" bIns="0" anchor="t">
            <a:spAutoFit/>
          </a:bodyPr>
          <a:lstStyle/>
          <a:p>
            <a:pPr algn="ctr">
              <a:lnSpc>
                <a:spcPct val="125000"/>
              </a:lnSpc>
            </a:pPr>
            <a:r>
              <a:rPr sz="1200" b="0">
                <a:solidFill>
                  <a:srgbClr val="706962"/>
                </a:solidFill>
                <a:latin typeface="Calibri"/>
              </a:rPr>
              <a:t>Said flatly, then straight on to something else.</a:t>
            </a:r>
          </a:p>
        </p:txBody>
      </p:sp>
      <p:sp>
        <p:nvSpPr>
          <p:cNvPr id="11" name="Rounded Rectangle 10"/>
          <p:cNvSpPr/>
          <p:nvPr/>
        </p:nvSpPr>
        <p:spPr>
          <a:xfrm>
            <a:off x="4709159" y="1554480"/>
            <a:ext cx="3749039" cy="2011680"/>
          </a:xfrm>
          <a:prstGeom prst="roundRect">
            <a:avLst>
              <a:gd name="adj" fmla="val 409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3479" y="1773936"/>
            <a:ext cx="3200399" cy="310896"/>
          </a:xfrm>
          <a:prstGeom prst="rect">
            <a:avLst/>
          </a:prstGeom>
          <a:noFill/>
          <a:effectLst/>
        </p:spPr>
        <p:txBody>
          <a:bodyPr wrap="square" lIns="0" rIns="0" tIns="0" bIns="0" anchor="t">
            <a:spAutoFit/>
          </a:bodyPr>
          <a:lstStyle/>
          <a:p>
            <a:pPr algn="ctr"/>
            <a:r>
              <a:rPr sz="1600" b="0">
                <a:solidFill>
                  <a:srgbClr val="6B4F3E"/>
                </a:solidFill>
                <a:latin typeface="Georgia"/>
              </a:rPr>
              <a:t>This one backfires</a:t>
            </a:r>
          </a:p>
        </p:txBody>
      </p:sp>
      <p:sp>
        <p:nvSpPr>
          <p:cNvPr id="13" name="TextBox 12"/>
          <p:cNvSpPr txBox="1"/>
          <p:nvPr/>
        </p:nvSpPr>
        <p:spPr>
          <a:xfrm>
            <a:off x="4983479" y="2231136"/>
            <a:ext cx="3200399" cy="566928"/>
          </a:xfrm>
          <a:prstGeom prst="rect">
            <a:avLst/>
          </a:prstGeom>
          <a:noFill/>
          <a:effectLst/>
        </p:spPr>
        <p:txBody>
          <a:bodyPr wrap="square" lIns="0" rIns="0" tIns="0" bIns="0" anchor="t">
            <a:spAutoFit/>
          </a:bodyPr>
          <a:lstStyle/>
          <a:p>
            <a:pPr algn="ctr">
              <a:lnSpc>
                <a:spcPct val="125000"/>
              </a:lnSpc>
            </a:pPr>
            <a:r>
              <a:rPr sz="1500" b="0">
                <a:solidFill>
                  <a:srgbClr val="3A332E"/>
                </a:solidFill>
                <a:latin typeface="Georgia"/>
              </a:rPr>
              <a:t>“You are such a bully.”</a:t>
            </a:r>
          </a:p>
        </p:txBody>
      </p:sp>
      <p:sp>
        <p:nvSpPr>
          <p:cNvPr id="14" name="TextBox 13"/>
          <p:cNvSpPr txBox="1"/>
          <p:nvPr/>
        </p:nvSpPr>
        <p:spPr>
          <a:xfrm>
            <a:off x="4983479" y="2907792"/>
            <a:ext cx="3200399" cy="512064"/>
          </a:xfrm>
          <a:prstGeom prst="rect">
            <a:avLst/>
          </a:prstGeom>
          <a:noFill/>
          <a:effectLst/>
        </p:spPr>
        <p:txBody>
          <a:bodyPr wrap="square" lIns="0" rIns="0" tIns="0" bIns="0" anchor="t">
            <a:spAutoFit/>
          </a:bodyPr>
          <a:lstStyle/>
          <a:p>
            <a:pPr algn="ctr">
              <a:lnSpc>
                <a:spcPct val="125000"/>
              </a:lnSpc>
            </a:pPr>
            <a:r>
              <a:rPr sz="1200" b="0">
                <a:solidFill>
                  <a:srgbClr val="706962"/>
                </a:solidFill>
                <a:latin typeface="Calibri"/>
              </a:rPr>
              <a:t>Puts somebody on trial in front of the audience.</a:t>
            </a:r>
          </a:p>
        </p:txBody>
      </p:sp>
      <p:sp>
        <p:nvSpPr>
          <p:cNvPr id="15" name="TextBox 14"/>
          <p:cNvSpPr txBox="1"/>
          <p:nvPr/>
        </p:nvSpPr>
        <p:spPr>
          <a:xfrm>
            <a:off x="685800" y="3803904"/>
            <a:ext cx="7772400" cy="310896"/>
          </a:xfrm>
          <a:prstGeom prst="rect">
            <a:avLst/>
          </a:prstGeom>
          <a:noFill/>
          <a:effectLst/>
        </p:spPr>
        <p:txBody>
          <a:bodyPr wrap="square" lIns="0" rIns="0" tIns="0" bIns="0" anchor="t">
            <a:spAutoFit/>
          </a:bodyPr>
          <a:lstStyle/>
          <a:p>
            <a:pPr algn="l">
              <a:lnSpc>
                <a:spcPct val="120000"/>
              </a:lnSpc>
            </a:pPr>
            <a:r>
              <a:rPr sz="1300" b="0">
                <a:solidFill>
                  <a:srgbClr val="706962"/>
                </a:solidFill>
                <a:latin typeface="Calibri"/>
              </a:rPr>
              <a:t>The second one sounds braver, and it does not work. The audience defends the joke.</a:t>
            </a:r>
          </a:p>
        </p:txBody>
      </p:sp>
      <p:sp>
        <p:nvSpPr>
          <p:cNvPr id="16" name="TextBox 15"/>
          <p:cNvSpPr txBox="1"/>
          <p:nvPr/>
        </p:nvSpPr>
        <p:spPr>
          <a:xfrm>
            <a:off x="685800" y="4187952"/>
            <a:ext cx="7772400" cy="310896"/>
          </a:xfrm>
          <a:prstGeom prst="rect">
            <a:avLst/>
          </a:prstGeom>
          <a:noFill/>
          <a:effectLst/>
        </p:spPr>
        <p:txBody>
          <a:bodyPr wrap="square" lIns="0" rIns="0" tIns="0" bIns="0" anchor="t">
            <a:spAutoFit/>
          </a:bodyPr>
          <a:lstStyle/>
          <a:p>
            <a:pPr algn="l">
              <a:lnSpc>
                <a:spcPct val="120000"/>
              </a:lnSpc>
            </a:pPr>
            <a:r>
              <a:rPr sz="1300" b="1">
                <a:solidFill>
                  <a:srgbClr val="6B4F3E"/>
                </a:solidFill>
                <a:latin typeface="Calibri"/>
              </a:rPr>
              <a:t>What you are trying to do is end the audience, not win an argument.</a:t>
            </a:r>
          </a:p>
        </p:txBody>
      </p:sp>
      <p:pic>
        <p:nvPicPr>
          <p:cNvPr id="17" name="Picture 16" descr="logo-mark.png"/>
          <p:cNvPicPr>
            <a:picLocks noChangeAspect="1"/>
          </p:cNvPicPr>
          <p:nvPr/>
        </p:nvPicPr>
        <p:blipFill>
          <a:blip r:embed="rId2"/>
          <a:stretch>
            <a:fillRect/>
          </a:stretch>
        </p:blipFill>
        <p:spPr>
          <a:xfrm>
            <a:off x="384048" y="4709160"/>
            <a:ext cx="155448" cy="182880"/>
          </a:xfrm>
          <a:prstGeom prst="rect">
            <a:avLst/>
          </a:prstGeom>
        </p:spPr>
      </p:pic>
      <p:sp>
        <p:nvSpPr>
          <p:cNvPr id="18" name="TextBox 17"/>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19" name="TextBox 18"/>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WHAT YOU CAN ACTUALLY DO</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Three ways out</a:t>
            </a:r>
          </a:p>
        </p:txBody>
      </p:sp>
      <p:sp>
        <p:nvSpPr>
          <p:cNvPr id="7" name="Rounded Rectangle 6"/>
          <p:cNvSpPr/>
          <p:nvPr/>
        </p:nvSpPr>
        <p:spPr>
          <a:xfrm>
            <a:off x="685800" y="1645920"/>
            <a:ext cx="2432304" cy="2286000"/>
          </a:xfrm>
          <a:prstGeom prst="roundRect">
            <a:avLst>
              <a:gd name="adj" fmla="val 3599"/>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2768" y="179222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11095"/>
            <a:ext cx="2432304" cy="420624"/>
          </a:xfrm>
          <a:prstGeom prst="rect">
            <a:avLst/>
          </a:prstGeom>
          <a:noFill/>
          <a:effectLst/>
        </p:spPr>
        <p:txBody>
          <a:bodyPr wrap="square" lIns="0" rIns="0" tIns="0" bIns="0" anchor="t">
            <a:spAutoFit/>
          </a:bodyPr>
          <a:lstStyle/>
          <a:p>
            <a:pPr algn="ctr"/>
            <a:r>
              <a:rPr sz="1800" b="0">
                <a:solidFill>
                  <a:srgbClr val="FFFDF7"/>
                </a:solidFill>
                <a:latin typeface="Georgia"/>
              </a:rPr>
              <a:t>1</a:t>
            </a:r>
          </a:p>
        </p:txBody>
      </p:sp>
      <p:sp>
        <p:nvSpPr>
          <p:cNvPr id="10" name="TextBox 9"/>
          <p:cNvSpPr txBox="1"/>
          <p:nvPr/>
        </p:nvSpPr>
        <p:spPr>
          <a:xfrm>
            <a:off x="758952" y="2578608"/>
            <a:ext cx="2286000" cy="548640"/>
          </a:xfrm>
          <a:prstGeom prst="rect">
            <a:avLst/>
          </a:prstGeom>
          <a:noFill/>
          <a:effectLst/>
        </p:spPr>
        <p:txBody>
          <a:bodyPr wrap="square" lIns="0" rIns="0" tIns="0" bIns="0" anchor="t">
            <a:spAutoFit/>
          </a:bodyPr>
          <a:lstStyle/>
          <a:p>
            <a:pPr algn="ctr">
              <a:lnSpc>
                <a:spcPct val="105000"/>
              </a:lnSpc>
            </a:pPr>
            <a:r>
              <a:rPr sz="1500" b="0">
                <a:solidFill>
                  <a:srgbClr val="6B4F3E"/>
                </a:solidFill>
                <a:latin typeface="Georgia"/>
              </a:rPr>
              <a:t>Do not laugh</a:t>
            </a:r>
          </a:p>
        </p:txBody>
      </p:sp>
      <p:sp>
        <p:nvSpPr>
          <p:cNvPr id="11" name="TextBox 10"/>
          <p:cNvSpPr txBox="1"/>
          <p:nvPr/>
        </p:nvSpPr>
        <p:spPr>
          <a:xfrm>
            <a:off x="795528" y="3145536"/>
            <a:ext cx="2212848" cy="713232"/>
          </a:xfrm>
          <a:prstGeom prst="rect">
            <a:avLst/>
          </a:prstGeom>
          <a:noFill/>
          <a:effectLst/>
        </p:spPr>
        <p:txBody>
          <a:bodyPr wrap="square" lIns="0" rIns="0" tIns="0" bIns="0" anchor="t">
            <a:spAutoFit/>
          </a:bodyPr>
          <a:lstStyle/>
          <a:p>
            <a:pPr algn="ctr">
              <a:lnSpc>
                <a:spcPct val="122000"/>
              </a:lnSpc>
            </a:pPr>
            <a:r>
              <a:rPr sz="1100" b="0">
                <a:solidFill>
                  <a:srgbClr val="706962"/>
                </a:solidFill>
                <a:latin typeface="Calibri"/>
              </a:rPr>
              <a:t>A joke with no audience runs out.</a:t>
            </a:r>
          </a:p>
        </p:txBody>
      </p:sp>
      <p:sp>
        <p:nvSpPr>
          <p:cNvPr id="12" name="Rounded Rectangle 11"/>
          <p:cNvSpPr/>
          <p:nvPr/>
        </p:nvSpPr>
        <p:spPr>
          <a:xfrm>
            <a:off x="3355848" y="1645920"/>
            <a:ext cx="2432304" cy="2286000"/>
          </a:xfrm>
          <a:prstGeom prst="roundRect">
            <a:avLst>
              <a:gd name="adj" fmla="val 3599"/>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42816" y="179222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5848" y="1911095"/>
            <a:ext cx="2432304" cy="420624"/>
          </a:xfrm>
          <a:prstGeom prst="rect">
            <a:avLst/>
          </a:prstGeom>
          <a:noFill/>
          <a:effectLst/>
        </p:spPr>
        <p:txBody>
          <a:bodyPr wrap="square" lIns="0" rIns="0" tIns="0" bIns="0" anchor="t">
            <a:spAutoFit/>
          </a:bodyPr>
          <a:lstStyle/>
          <a:p>
            <a:pPr algn="ctr"/>
            <a:r>
              <a:rPr sz="1800" b="0">
                <a:solidFill>
                  <a:srgbClr val="FFFDF7"/>
                </a:solidFill>
                <a:latin typeface="Georgia"/>
              </a:rPr>
              <a:t>2</a:t>
            </a:r>
          </a:p>
        </p:txBody>
      </p:sp>
      <p:sp>
        <p:nvSpPr>
          <p:cNvPr id="15" name="TextBox 14"/>
          <p:cNvSpPr txBox="1"/>
          <p:nvPr/>
        </p:nvSpPr>
        <p:spPr>
          <a:xfrm>
            <a:off x="3429000" y="2578608"/>
            <a:ext cx="2286000" cy="548640"/>
          </a:xfrm>
          <a:prstGeom prst="rect">
            <a:avLst/>
          </a:prstGeom>
          <a:noFill/>
          <a:effectLst/>
        </p:spPr>
        <p:txBody>
          <a:bodyPr wrap="square" lIns="0" rIns="0" tIns="0" bIns="0" anchor="t">
            <a:spAutoFit/>
          </a:bodyPr>
          <a:lstStyle/>
          <a:p>
            <a:pPr algn="ctr">
              <a:lnSpc>
                <a:spcPct val="105000"/>
              </a:lnSpc>
            </a:pPr>
            <a:r>
              <a:rPr sz="1500" b="0">
                <a:solidFill>
                  <a:srgbClr val="6B4F3E"/>
                </a:solidFill>
                <a:latin typeface="Georgia"/>
              </a:rPr>
              <a:t>Move it on</a:t>
            </a:r>
          </a:p>
        </p:txBody>
      </p:sp>
      <p:sp>
        <p:nvSpPr>
          <p:cNvPr id="16" name="TextBox 15"/>
          <p:cNvSpPr txBox="1"/>
          <p:nvPr/>
        </p:nvSpPr>
        <p:spPr>
          <a:xfrm>
            <a:off x="3465576" y="3145536"/>
            <a:ext cx="2212848" cy="713232"/>
          </a:xfrm>
          <a:prstGeom prst="rect">
            <a:avLst/>
          </a:prstGeom>
          <a:noFill/>
          <a:effectLst/>
        </p:spPr>
        <p:txBody>
          <a:bodyPr wrap="square" lIns="0" rIns="0" tIns="0" bIns="0" anchor="t">
            <a:spAutoFit/>
          </a:bodyPr>
          <a:lstStyle/>
          <a:p>
            <a:pPr algn="ctr">
              <a:lnSpc>
                <a:spcPct val="122000"/>
              </a:lnSpc>
            </a:pPr>
            <a:r>
              <a:rPr sz="1100" b="0">
                <a:solidFill>
                  <a:srgbClr val="706962"/>
                </a:solidFill>
                <a:latin typeface="Calibri"/>
              </a:rPr>
              <a:t>Change the subject. Give everyone something else to do.</a:t>
            </a:r>
          </a:p>
        </p:txBody>
      </p:sp>
      <p:sp>
        <p:nvSpPr>
          <p:cNvPr id="17" name="Rounded Rectangle 16"/>
          <p:cNvSpPr/>
          <p:nvPr/>
        </p:nvSpPr>
        <p:spPr>
          <a:xfrm>
            <a:off x="6025896" y="1645920"/>
            <a:ext cx="2432304" cy="2286000"/>
          </a:xfrm>
          <a:prstGeom prst="roundRect">
            <a:avLst>
              <a:gd name="adj" fmla="val 3599"/>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12864" y="1792224"/>
            <a:ext cx="658368" cy="658368"/>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5896" y="1911095"/>
            <a:ext cx="2432304" cy="420624"/>
          </a:xfrm>
          <a:prstGeom prst="rect">
            <a:avLst/>
          </a:prstGeom>
          <a:noFill/>
          <a:effectLst/>
        </p:spPr>
        <p:txBody>
          <a:bodyPr wrap="square" lIns="0" rIns="0" tIns="0" bIns="0" anchor="t">
            <a:spAutoFit/>
          </a:bodyPr>
          <a:lstStyle/>
          <a:p>
            <a:pPr algn="ctr"/>
            <a:r>
              <a:rPr sz="1800" b="0">
                <a:solidFill>
                  <a:srgbClr val="FFFDF7"/>
                </a:solidFill>
                <a:latin typeface="Georgia"/>
              </a:rPr>
              <a:t>3</a:t>
            </a:r>
          </a:p>
        </p:txBody>
      </p:sp>
      <p:sp>
        <p:nvSpPr>
          <p:cNvPr id="20" name="TextBox 19"/>
          <p:cNvSpPr txBox="1"/>
          <p:nvPr/>
        </p:nvSpPr>
        <p:spPr>
          <a:xfrm>
            <a:off x="6099048" y="2578608"/>
            <a:ext cx="2286000" cy="548640"/>
          </a:xfrm>
          <a:prstGeom prst="rect">
            <a:avLst/>
          </a:prstGeom>
          <a:noFill/>
          <a:effectLst/>
        </p:spPr>
        <p:txBody>
          <a:bodyPr wrap="square" lIns="0" rIns="0" tIns="0" bIns="0" anchor="t">
            <a:spAutoFit/>
          </a:bodyPr>
          <a:lstStyle/>
          <a:p>
            <a:pPr algn="ctr">
              <a:lnSpc>
                <a:spcPct val="105000"/>
              </a:lnSpc>
            </a:pPr>
            <a:r>
              <a:rPr sz="1500" b="0">
                <a:solidFill>
                  <a:srgbClr val="6B4F3E"/>
                </a:solidFill>
                <a:latin typeface="Georgia"/>
              </a:rPr>
              <a:t>Say something after</a:t>
            </a:r>
          </a:p>
        </p:txBody>
      </p:sp>
      <p:sp>
        <p:nvSpPr>
          <p:cNvPr id="21" name="TextBox 20"/>
          <p:cNvSpPr txBox="1"/>
          <p:nvPr/>
        </p:nvSpPr>
        <p:spPr>
          <a:xfrm>
            <a:off x="6135624" y="3145536"/>
            <a:ext cx="2212848" cy="713232"/>
          </a:xfrm>
          <a:prstGeom prst="rect">
            <a:avLst/>
          </a:prstGeom>
          <a:noFill/>
          <a:effectLst/>
        </p:spPr>
        <p:txBody>
          <a:bodyPr wrap="square" lIns="0" rIns="0" tIns="0" bIns="0" anchor="t">
            <a:spAutoFit/>
          </a:bodyPr>
          <a:lstStyle/>
          <a:p>
            <a:pPr algn="ctr">
              <a:lnSpc>
                <a:spcPct val="122000"/>
              </a:lnSpc>
            </a:pPr>
            <a:r>
              <a:rPr sz="1100" b="0">
                <a:solidFill>
                  <a:srgbClr val="706962"/>
                </a:solidFill>
                <a:latin typeface="Calibri"/>
              </a:rPr>
              <a:t>Find the person later. One sentence is enough.</a:t>
            </a:r>
          </a:p>
        </p:txBody>
      </p:sp>
      <p:sp>
        <p:nvSpPr>
          <p:cNvPr id="22" name="TextBox 21"/>
          <p:cNvSpPr txBox="1"/>
          <p:nvPr/>
        </p:nvSpPr>
        <p:spPr>
          <a:xfrm>
            <a:off x="685800" y="4114800"/>
            <a:ext cx="7772400" cy="310896"/>
          </a:xfrm>
          <a:prstGeom prst="rect">
            <a:avLst/>
          </a:prstGeom>
          <a:noFill/>
          <a:effectLst/>
        </p:spPr>
        <p:txBody>
          <a:bodyPr wrap="square" lIns="0" rIns="0" tIns="0" bIns="0" anchor="t">
            <a:spAutoFit/>
          </a:bodyPr>
          <a:lstStyle/>
          <a:p>
            <a:pPr algn="l">
              <a:lnSpc>
                <a:spcPct val="120000"/>
              </a:lnSpc>
            </a:pPr>
            <a:r>
              <a:rPr sz="1300" b="0">
                <a:solidFill>
                  <a:srgbClr val="706962"/>
                </a:solidFill>
                <a:latin typeface="Calibri"/>
              </a:rPr>
              <a:t>One of these is silent, and none of them needs you to be brave in front of everyone.</a:t>
            </a:r>
          </a:p>
        </p:txBody>
      </p:sp>
      <p:pic>
        <p:nvPicPr>
          <p:cNvPr id="23" name="Picture 22" descr="logo-mark.png"/>
          <p:cNvPicPr>
            <a:picLocks noChangeAspect="1"/>
          </p:cNvPicPr>
          <p:nvPr/>
        </p:nvPicPr>
        <p:blipFill>
          <a:blip r:embed="rId2"/>
          <a:stretch>
            <a:fillRect/>
          </a:stretch>
        </p:blipFill>
        <p:spPr>
          <a:xfrm>
            <a:off x="384048" y="4709160"/>
            <a:ext cx="155448" cy="182880"/>
          </a:xfrm>
          <a:prstGeom prst="rect">
            <a:avLst/>
          </a:prstGeom>
        </p:spPr>
      </p:pic>
      <p:sp>
        <p:nvSpPr>
          <p:cNvPr id="24" name="TextBox 23"/>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NOW ONE OUT LOUD</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Try it on this one</a:t>
            </a:r>
          </a:p>
        </p:txBody>
      </p:sp>
      <p:sp>
        <p:nvSpPr>
          <p:cNvPr id="7" name="Rounded Rectangle 6"/>
          <p:cNvSpPr/>
          <p:nvPr/>
        </p:nvSpPr>
        <p:spPr>
          <a:xfrm>
            <a:off x="685800" y="1481328"/>
            <a:ext cx="7772400" cy="548640"/>
          </a:xfrm>
          <a:prstGeom prst="roundRect">
            <a:avLst>
              <a:gd name="adj" fmla="val 15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27632"/>
            <a:ext cx="7040880" cy="310896"/>
          </a:xfrm>
          <a:prstGeom prst="rect">
            <a:avLst/>
          </a:prstGeom>
          <a:noFill/>
          <a:effectLst/>
        </p:spPr>
        <p:txBody>
          <a:bodyPr wrap="square" lIns="0" rIns="0" tIns="0" bIns="0" anchor="t">
            <a:spAutoFit/>
          </a:bodyPr>
          <a:lstStyle/>
          <a:p>
            <a:pPr algn="l"/>
            <a:r>
              <a:rPr sz="1300" b="0">
                <a:solidFill>
                  <a:srgbClr val="3A332E"/>
                </a:solidFill>
                <a:latin typeface="Georgia"/>
              </a:rPr>
              <a:t>Somebody at your table does an impression of a classmate, and everyone laughs.</a:t>
            </a:r>
          </a:p>
        </p:txBody>
      </p:sp>
      <p:sp>
        <p:nvSpPr>
          <p:cNvPr id="9" name="Rounded Rectangle 8"/>
          <p:cNvSpPr/>
          <p:nvPr/>
        </p:nvSpPr>
        <p:spPr>
          <a:xfrm>
            <a:off x="685800" y="2194560"/>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41832" y="2313432"/>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414015"/>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1</a:t>
            </a:r>
          </a:p>
        </p:txBody>
      </p:sp>
      <p:sp>
        <p:nvSpPr>
          <p:cNvPr id="12" name="TextBox 11"/>
          <p:cNvSpPr txBox="1"/>
          <p:nvPr/>
        </p:nvSpPr>
        <p:spPr>
          <a:xfrm>
            <a:off x="1572768" y="2340864"/>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What would you actually say?</a:t>
            </a:r>
          </a:p>
        </p:txBody>
      </p:sp>
      <p:sp>
        <p:nvSpPr>
          <p:cNvPr id="13" name="Rounded Rectangle 12"/>
          <p:cNvSpPr/>
          <p:nvPr/>
        </p:nvSpPr>
        <p:spPr>
          <a:xfrm>
            <a:off x="685800" y="2907791"/>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 y="3026663"/>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127248"/>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2</a:t>
            </a:r>
          </a:p>
        </p:txBody>
      </p:sp>
      <p:sp>
        <p:nvSpPr>
          <p:cNvPr id="16" name="TextBox 15"/>
          <p:cNvSpPr txBox="1"/>
          <p:nvPr/>
        </p:nvSpPr>
        <p:spPr>
          <a:xfrm>
            <a:off x="1572768" y="3054096"/>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Which of the three is it?</a:t>
            </a:r>
          </a:p>
        </p:txBody>
      </p:sp>
      <p:sp>
        <p:nvSpPr>
          <p:cNvPr id="17" name="Rounded Rectangle 16"/>
          <p:cNvSpPr/>
          <p:nvPr/>
        </p:nvSpPr>
        <p:spPr>
          <a:xfrm>
            <a:off x="685800" y="3621024"/>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41832" y="3739896"/>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3840480"/>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3</a:t>
            </a:r>
          </a:p>
        </p:txBody>
      </p:sp>
      <p:sp>
        <p:nvSpPr>
          <p:cNvPr id="20" name="TextBox 19"/>
          <p:cNvSpPr txBox="1"/>
          <p:nvPr/>
        </p:nvSpPr>
        <p:spPr>
          <a:xfrm>
            <a:off x="1572768" y="3767328"/>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Would it work in this form, honestly?</a:t>
            </a:r>
          </a:p>
        </p:txBody>
      </p:sp>
      <p:sp>
        <p:nvSpPr>
          <p:cNvPr id="21" name="TextBox 20"/>
          <p:cNvSpPr txBox="1"/>
          <p:nvPr/>
        </p:nvSpPr>
        <p:spPr>
          <a:xfrm>
            <a:off x="685800" y="4370832"/>
            <a:ext cx="7772400" cy="274320"/>
          </a:xfrm>
          <a:prstGeom prst="rect">
            <a:avLst/>
          </a:prstGeom>
          <a:noFill/>
          <a:effectLst/>
        </p:spPr>
        <p:txBody>
          <a:bodyPr wrap="square" lIns="0" rIns="0" tIns="0" bIns="0" anchor="t">
            <a:spAutoFit/>
          </a:bodyPr>
          <a:lstStyle/>
          <a:p>
            <a:pPr algn="l">
              <a:lnSpc>
                <a:spcPct val="120000"/>
              </a:lnSpc>
            </a:pPr>
            <a:r>
              <a:rPr sz="1300" b="1">
                <a:solidFill>
                  <a:srgbClr val="6B4F3E"/>
                </a:solidFill>
                <a:latin typeface="Calibri"/>
              </a:rPr>
              <a:t>Say it out loud. Two or three go on the board.</a:t>
            </a:r>
          </a:p>
        </p:txBody>
      </p:sp>
      <p:pic>
        <p:nvPicPr>
          <p:cNvPr id="22" name="Picture 21" descr="logo-mark.png"/>
          <p:cNvPicPr>
            <a:picLocks noChangeAspect="1"/>
          </p:cNvPicPr>
          <p:nvPr/>
        </p:nvPicPr>
        <p:blipFill>
          <a:blip r:embed="rId2"/>
          <a:stretch>
            <a:fillRect/>
          </a:stretch>
        </p:blipFill>
        <p:spPr>
          <a:xfrm>
            <a:off x="384048" y="4709160"/>
            <a:ext cx="155448" cy="182880"/>
          </a:xfrm>
          <a:prstGeom prst="rect">
            <a:avLst/>
          </a:prstGeom>
        </p:spPr>
      </p:pic>
      <p:sp>
        <p:nvSpPr>
          <p:cNvPr id="23" name="TextBox 22"/>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24" name="TextBox 23"/>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TWELVE MINUTES, IN PAIRS</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What would you say?</a:t>
            </a:r>
          </a:p>
        </p:txBody>
      </p:sp>
      <p:sp>
        <p:nvSpPr>
          <p:cNvPr id="7" name="Rounded Rectangle 6"/>
          <p:cNvSpPr/>
          <p:nvPr/>
        </p:nvSpPr>
        <p:spPr>
          <a:xfrm>
            <a:off x="685800" y="1737360"/>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1832" y="1856231"/>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956815"/>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1</a:t>
            </a:r>
          </a:p>
        </p:txBody>
      </p:sp>
      <p:sp>
        <p:nvSpPr>
          <p:cNvPr id="10" name="TextBox 9"/>
          <p:cNvSpPr txBox="1"/>
          <p:nvPr/>
        </p:nvSpPr>
        <p:spPr>
          <a:xfrm>
            <a:off x="1572768" y="1883664"/>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Take one moment card between two.</a:t>
            </a:r>
          </a:p>
        </p:txBody>
      </p:sp>
      <p:sp>
        <p:nvSpPr>
          <p:cNvPr id="11" name="Rounded Rectangle 10"/>
          <p:cNvSpPr/>
          <p:nvPr/>
        </p:nvSpPr>
        <p:spPr>
          <a:xfrm>
            <a:off x="685800" y="2487168"/>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41832" y="2606039"/>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706624"/>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2</a:t>
            </a:r>
          </a:p>
        </p:txBody>
      </p:sp>
      <p:sp>
        <p:nvSpPr>
          <p:cNvPr id="14" name="TextBox 13"/>
          <p:cNvSpPr txBox="1"/>
          <p:nvPr/>
        </p:nvSpPr>
        <p:spPr>
          <a:xfrm>
            <a:off x="1572768" y="2633472"/>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Write the exact words for two of the three ways out.</a:t>
            </a:r>
          </a:p>
        </p:txBody>
      </p:sp>
      <p:sp>
        <p:nvSpPr>
          <p:cNvPr id="15" name="Rounded Rectangle 14"/>
          <p:cNvSpPr/>
          <p:nvPr/>
        </p:nvSpPr>
        <p:spPr>
          <a:xfrm>
            <a:off x="685800" y="3236976"/>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41832" y="3355848"/>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3456432"/>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3</a:t>
            </a:r>
          </a:p>
        </p:txBody>
      </p:sp>
      <p:sp>
        <p:nvSpPr>
          <p:cNvPr id="18" name="TextBox 17"/>
          <p:cNvSpPr txBox="1"/>
          <p:nvPr/>
        </p:nvSpPr>
        <p:spPr>
          <a:xfrm>
            <a:off x="1572768" y="3383280"/>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Say them to each other. If you would not say it out loud, change it.</a:t>
            </a:r>
          </a:p>
        </p:txBody>
      </p:sp>
      <p:sp>
        <p:nvSpPr>
          <p:cNvPr id="19" name="TextBox 18"/>
          <p:cNvSpPr txBox="1"/>
          <p:nvPr/>
        </p:nvSpPr>
        <p:spPr>
          <a:xfrm>
            <a:off x="685800" y="4114800"/>
            <a:ext cx="7772400" cy="310896"/>
          </a:xfrm>
          <a:prstGeom prst="rect">
            <a:avLst/>
          </a:prstGeom>
          <a:noFill/>
          <a:effectLst/>
        </p:spPr>
        <p:txBody>
          <a:bodyPr wrap="square" lIns="0" rIns="0" tIns="0" bIns="0" anchor="t">
            <a:spAutoFit/>
          </a:bodyPr>
          <a:lstStyle/>
          <a:p>
            <a:pPr algn="l">
              <a:lnSpc>
                <a:spcPct val="120000"/>
              </a:lnSpc>
            </a:pPr>
            <a:r>
              <a:rPr sz="1300" b="1">
                <a:solidFill>
                  <a:srgbClr val="6B4F3E"/>
                </a:solidFill>
                <a:latin typeface="Calibri"/>
              </a:rPr>
              <a:t>Real words, not the ones that sound good. Nobody is marking you on being nice.</a:t>
            </a:r>
          </a:p>
        </p:txBody>
      </p:sp>
      <p:pic>
        <p:nvPicPr>
          <p:cNvPr id="20" name="Picture 19" descr="logo-mark.png"/>
          <p:cNvPicPr>
            <a:picLocks noChangeAspect="1"/>
          </p:cNvPicPr>
          <p:nvPr/>
        </p:nvPicPr>
        <p:blipFill>
          <a:blip r:embed="rId2"/>
          <a:stretch>
            <a:fillRect/>
          </a:stretch>
        </p:blipFill>
        <p:spPr>
          <a:xfrm>
            <a:off x="384048" y="4709160"/>
            <a:ext cx="155448" cy="182880"/>
          </a:xfrm>
          <a:prstGeom prst="rect">
            <a:avLst/>
          </a:prstGeom>
        </p:spPr>
      </p:pic>
      <p:sp>
        <p:nvSpPr>
          <p:cNvPr id="21" name="TextBox 20"/>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22" name="TextBox 21"/>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SWAP</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Mark somebody else’s</a:t>
            </a:r>
          </a:p>
        </p:txBody>
      </p:sp>
      <p:sp>
        <p:nvSpPr>
          <p:cNvPr id="7" name="Rounded Rectangle 6"/>
          <p:cNvSpPr/>
          <p:nvPr/>
        </p:nvSpPr>
        <p:spPr>
          <a:xfrm>
            <a:off x="685800" y="1737360"/>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1832" y="1856231"/>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956815"/>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1</a:t>
            </a:r>
          </a:p>
        </p:txBody>
      </p:sp>
      <p:sp>
        <p:nvSpPr>
          <p:cNvPr id="10" name="TextBox 9"/>
          <p:cNvSpPr txBox="1"/>
          <p:nvPr/>
        </p:nvSpPr>
        <p:spPr>
          <a:xfrm>
            <a:off x="1572768" y="1883664"/>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Could they actually say this out loud, in this school?</a:t>
            </a:r>
          </a:p>
        </p:txBody>
      </p:sp>
      <p:sp>
        <p:nvSpPr>
          <p:cNvPr id="11" name="Rounded Rectangle 10"/>
          <p:cNvSpPr/>
          <p:nvPr/>
        </p:nvSpPr>
        <p:spPr>
          <a:xfrm>
            <a:off x="685800" y="2487168"/>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41832" y="2606039"/>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706624"/>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2</a:t>
            </a:r>
          </a:p>
        </p:txBody>
      </p:sp>
      <p:sp>
        <p:nvSpPr>
          <p:cNvPr id="14" name="TextBox 13"/>
          <p:cNvSpPr txBox="1"/>
          <p:nvPr/>
        </p:nvSpPr>
        <p:spPr>
          <a:xfrm>
            <a:off x="1572768" y="2633472"/>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Does it avoid putting anybody on trial?</a:t>
            </a:r>
          </a:p>
        </p:txBody>
      </p:sp>
      <p:sp>
        <p:nvSpPr>
          <p:cNvPr id="15" name="Rounded Rectangle 14"/>
          <p:cNvSpPr/>
          <p:nvPr/>
        </p:nvSpPr>
        <p:spPr>
          <a:xfrm>
            <a:off x="685800" y="3236976"/>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41832" y="3355848"/>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3456432"/>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3</a:t>
            </a:r>
          </a:p>
        </p:txBody>
      </p:sp>
      <p:sp>
        <p:nvSpPr>
          <p:cNvPr id="18" name="TextBox 17"/>
          <p:cNvSpPr txBox="1"/>
          <p:nvPr/>
        </p:nvSpPr>
        <p:spPr>
          <a:xfrm>
            <a:off x="1572768" y="3383280"/>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Would it end the audience, or start an argument?</a:t>
            </a:r>
          </a:p>
        </p:txBody>
      </p:sp>
      <p:sp>
        <p:nvSpPr>
          <p:cNvPr id="19" name="TextBox 18"/>
          <p:cNvSpPr txBox="1"/>
          <p:nvPr/>
        </p:nvSpPr>
        <p:spPr>
          <a:xfrm>
            <a:off x="685800" y="4114800"/>
            <a:ext cx="7772400" cy="475488"/>
          </a:xfrm>
          <a:prstGeom prst="rect">
            <a:avLst/>
          </a:prstGeom>
          <a:noFill/>
          <a:effectLst/>
        </p:spPr>
        <p:txBody>
          <a:bodyPr wrap="square" lIns="0" rIns="0" tIns="0" bIns="0" anchor="t">
            <a:spAutoFit/>
          </a:bodyPr>
          <a:lstStyle/>
          <a:p>
            <a:pPr algn="l">
              <a:lnSpc>
                <a:spcPct val="120000"/>
              </a:lnSpc>
            </a:pPr>
            <a:r>
              <a:rPr sz="1300" b="1">
                <a:solidFill>
                  <a:srgbClr val="6B4F3E"/>
                </a:solidFill>
                <a:latin typeface="Calibri"/>
              </a:rPr>
              <a:t>Move your sheet two tables along. Tick what it passes, write one change that would get it said, then send it back.</a:t>
            </a:r>
          </a:p>
        </p:txBody>
      </p:sp>
      <p:pic>
        <p:nvPicPr>
          <p:cNvPr id="20" name="Picture 19" descr="logo-mark.png"/>
          <p:cNvPicPr>
            <a:picLocks noChangeAspect="1"/>
          </p:cNvPicPr>
          <p:nvPr/>
        </p:nvPicPr>
        <p:blipFill>
          <a:blip r:embed="rId2"/>
          <a:stretch>
            <a:fillRect/>
          </a:stretch>
        </p:blipFill>
        <p:spPr>
          <a:xfrm>
            <a:off x="384048" y="4709160"/>
            <a:ext cx="155448" cy="182880"/>
          </a:xfrm>
          <a:prstGeom prst="rect">
            <a:avLst/>
          </a:prstGeom>
        </p:spPr>
      </p:pic>
      <p:sp>
        <p:nvSpPr>
          <p:cNvPr id="21" name="TextBox 20"/>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22" name="TextBox 21"/>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NO RIGHT ANSWER</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Is not laughing enough?</a:t>
            </a:r>
          </a:p>
        </p:txBody>
      </p:sp>
      <p:sp>
        <p:nvSpPr>
          <p:cNvPr id="7" name="Rounded Rectangle 6"/>
          <p:cNvSpPr/>
          <p:nvPr/>
        </p:nvSpPr>
        <p:spPr>
          <a:xfrm>
            <a:off x="685800" y="1645920"/>
            <a:ext cx="7772400" cy="1645920"/>
          </a:xfrm>
          <a:prstGeom prst="roundRect">
            <a:avLst>
              <a:gd name="adj" fmla="val 5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975104"/>
            <a:ext cx="6766560" cy="1097280"/>
          </a:xfrm>
          <a:prstGeom prst="rect">
            <a:avLst/>
          </a:prstGeom>
          <a:noFill/>
          <a:effectLst/>
        </p:spPr>
        <p:txBody>
          <a:bodyPr wrap="square" lIns="0" rIns="0" tIns="0" bIns="0" anchor="t">
            <a:spAutoFit/>
          </a:bodyPr>
          <a:lstStyle/>
          <a:p>
            <a:pPr algn="ctr">
              <a:lnSpc>
                <a:spcPct val="145000"/>
              </a:lnSpc>
            </a:pPr>
            <a:r>
              <a:rPr sz="1900" b="0">
                <a:solidFill>
                  <a:srgbClr val="3A332E"/>
                </a:solidFill>
                <a:latin typeface="Georgia"/>
              </a:rPr>
              <a:t>You did not say anything.</a:t>
            </a:r>
            <a:br/>
            <a:r>
              <a:rPr sz="1900" b="0">
                <a:solidFill>
                  <a:srgbClr val="3A332E"/>
                </a:solidFill>
                <a:latin typeface="Georgia"/>
              </a:rPr>
              <a:t>You did not laugh either.</a:t>
            </a:r>
            <a:br/>
            <a:r>
              <a:rPr sz="1900" b="0">
                <a:solidFill>
                  <a:srgbClr val="3A332E"/>
                </a:solidFill>
                <a:latin typeface="Georgia"/>
              </a:rPr>
              <a:t>Have you done something, or nothing?</a:t>
            </a:r>
          </a:p>
        </p:txBody>
      </p:sp>
      <p:sp>
        <p:nvSpPr>
          <p:cNvPr id="9" name="TextBox 8"/>
          <p:cNvSpPr txBox="1"/>
          <p:nvPr/>
        </p:nvSpPr>
        <p:spPr>
          <a:xfrm>
            <a:off x="685800" y="3657600"/>
            <a:ext cx="7772400" cy="310896"/>
          </a:xfrm>
          <a:prstGeom prst="rect">
            <a:avLst/>
          </a:prstGeom>
          <a:noFill/>
          <a:effectLst/>
        </p:spPr>
        <p:txBody>
          <a:bodyPr wrap="square" lIns="0" rIns="0" tIns="0" bIns="0" anchor="t">
            <a:spAutoFit/>
          </a:bodyPr>
          <a:lstStyle/>
          <a:p>
            <a:pPr algn="l">
              <a:lnSpc>
                <a:spcPct val="120000"/>
              </a:lnSpc>
            </a:pPr>
            <a:r>
              <a:rPr sz="1300" b="0">
                <a:solidFill>
                  <a:srgbClr val="706962"/>
                </a:solidFill>
                <a:latin typeface="Calibri"/>
              </a:rPr>
              <a:t>Both answers can be argued. Five minutes, and see where your form lands.</a:t>
            </a:r>
          </a:p>
        </p:txBody>
      </p:sp>
      <p:pic>
        <p:nvPicPr>
          <p:cNvPr id="10" name="Picture 9" descr="logo-mark.png"/>
          <p:cNvPicPr>
            <a:picLocks noChangeAspect="1"/>
          </p:cNvPicPr>
          <p:nvPr/>
        </p:nvPicPr>
        <p:blipFill>
          <a:blip r:embed="rId2"/>
          <a:stretch>
            <a:fillRect/>
          </a:stretch>
        </p:blipFill>
        <p:spPr>
          <a:xfrm>
            <a:off x="384048" y="4709160"/>
            <a:ext cx="155448" cy="182880"/>
          </a:xfrm>
          <a:prstGeom prst="rect">
            <a:avLst/>
          </a:prstGeom>
        </p:spPr>
      </p:pic>
      <p:sp>
        <p:nvSpPr>
          <p:cNvPr id="11" name="TextBox 10"/>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12" name="TextBox 11"/>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LAST FIVE MINUTES</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Two questions, for you</a:t>
            </a:r>
          </a:p>
        </p:txBody>
      </p:sp>
      <p:sp>
        <p:nvSpPr>
          <p:cNvPr id="7" name="Rounded Rectangle 6"/>
          <p:cNvSpPr/>
          <p:nvPr/>
        </p:nvSpPr>
        <p:spPr>
          <a:xfrm>
            <a:off x="685800" y="1874519"/>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1832" y="1993391"/>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093976"/>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1</a:t>
            </a:r>
          </a:p>
        </p:txBody>
      </p:sp>
      <p:sp>
        <p:nvSpPr>
          <p:cNvPr id="10" name="TextBox 9"/>
          <p:cNvSpPr txBox="1"/>
          <p:nvPr/>
        </p:nvSpPr>
        <p:spPr>
          <a:xfrm>
            <a:off x="1572768" y="2020824"/>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Which of the five roles are you most often?</a:t>
            </a:r>
          </a:p>
        </p:txBody>
      </p:sp>
      <p:sp>
        <p:nvSpPr>
          <p:cNvPr id="11" name="Rounded Rectangle 10"/>
          <p:cNvSpPr/>
          <p:nvPr/>
        </p:nvSpPr>
        <p:spPr>
          <a:xfrm>
            <a:off x="685800" y="2660903"/>
            <a:ext cx="7772400" cy="640080"/>
          </a:xfrm>
          <a:prstGeom prst="roundRect">
            <a:avLst>
              <a:gd name="adj" fmla="val 12857"/>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41832" y="2779775"/>
            <a:ext cx="402336" cy="402336"/>
          </a:xfrm>
          <a:prstGeom prst="ellipse">
            <a:avLst/>
          </a:prstGeom>
          <a:solidFill>
            <a:srgbClr val="6B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880359"/>
            <a:ext cx="402336" cy="402336"/>
          </a:xfrm>
          <a:prstGeom prst="rect">
            <a:avLst/>
          </a:prstGeom>
          <a:noFill/>
          <a:effectLst/>
        </p:spPr>
        <p:txBody>
          <a:bodyPr wrap="square" lIns="0" rIns="0" tIns="0" bIns="0" anchor="t">
            <a:spAutoFit/>
          </a:bodyPr>
          <a:lstStyle/>
          <a:p>
            <a:pPr algn="ctr"/>
            <a:r>
              <a:rPr sz="1400" b="0">
                <a:solidFill>
                  <a:srgbClr val="FFFDF7"/>
                </a:solidFill>
                <a:latin typeface="Georgia"/>
              </a:rPr>
              <a:t>2</a:t>
            </a:r>
          </a:p>
        </p:txBody>
      </p:sp>
      <p:sp>
        <p:nvSpPr>
          <p:cNvPr id="14" name="TextBox 13"/>
          <p:cNvSpPr txBox="1"/>
          <p:nvPr/>
        </p:nvSpPr>
        <p:spPr>
          <a:xfrm>
            <a:off x="1572768" y="2807208"/>
            <a:ext cx="6583680" cy="457200"/>
          </a:xfrm>
          <a:prstGeom prst="rect">
            <a:avLst/>
          </a:prstGeom>
          <a:noFill/>
          <a:effectLst/>
        </p:spPr>
        <p:txBody>
          <a:bodyPr wrap="square" lIns="0" rIns="0" tIns="0" bIns="0" anchor="ctr">
            <a:spAutoFit/>
          </a:bodyPr>
          <a:lstStyle/>
          <a:p>
            <a:pPr algn="l">
              <a:lnSpc>
                <a:spcPct val="110000"/>
              </a:lnSpc>
            </a:pPr>
            <a:r>
              <a:rPr sz="1400" b="0">
                <a:solidFill>
                  <a:srgbClr val="6B4F3E"/>
                </a:solidFill>
                <a:latin typeface="Georgia"/>
              </a:rPr>
              <a:t>What is one thing you will do differently this week?</a:t>
            </a:r>
          </a:p>
        </p:txBody>
      </p:sp>
      <p:sp>
        <p:nvSpPr>
          <p:cNvPr id="15" name="TextBox 14"/>
          <p:cNvSpPr txBox="1"/>
          <p:nvPr/>
        </p:nvSpPr>
        <p:spPr>
          <a:xfrm>
            <a:off x="685800" y="3931920"/>
            <a:ext cx="7772400" cy="310896"/>
          </a:xfrm>
          <a:prstGeom prst="rect">
            <a:avLst/>
          </a:prstGeom>
          <a:noFill/>
          <a:effectLst/>
        </p:spPr>
        <p:txBody>
          <a:bodyPr wrap="square" lIns="0" rIns="0" tIns="0" bIns="0" anchor="t">
            <a:spAutoFit/>
          </a:bodyPr>
          <a:lstStyle/>
          <a:p>
            <a:pPr algn="l">
              <a:lnSpc>
                <a:spcPct val="120000"/>
              </a:lnSpc>
            </a:pPr>
            <a:r>
              <a:rPr sz="1300" b="1">
                <a:solidFill>
                  <a:srgbClr val="6B4F3E"/>
                </a:solidFill>
                <a:latin typeface="Calibri"/>
              </a:rPr>
              <a:t>Write it on your sheet. Nobody collects it, so keep it or bin it on the way out.</a:t>
            </a:r>
          </a:p>
        </p:txBody>
      </p:sp>
      <p:pic>
        <p:nvPicPr>
          <p:cNvPr id="16" name="Picture 15" descr="logo-mark.png"/>
          <p:cNvPicPr>
            <a:picLocks noChangeAspect="1"/>
          </p:cNvPicPr>
          <p:nvPr/>
        </p:nvPicPr>
        <p:blipFill>
          <a:blip r:embed="rId2"/>
          <a:stretch>
            <a:fillRect/>
          </a:stretch>
        </p:blipFill>
        <p:spPr>
          <a:xfrm>
            <a:off x="384048" y="4709160"/>
            <a:ext cx="155448" cy="182880"/>
          </a:xfrm>
          <a:prstGeom prst="rect">
            <a:avLst/>
          </a:prstGeom>
        </p:spPr>
      </p:pic>
      <p:sp>
        <p:nvSpPr>
          <p:cNvPr id="17" name="TextBox 16"/>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18" name="TextBox 17"/>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0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783080"/>
            <a:ext cx="7772400" cy="640080"/>
          </a:xfrm>
          <a:prstGeom prst="rect">
            <a:avLst/>
          </a:prstGeom>
          <a:noFill/>
          <a:effectLst/>
        </p:spPr>
        <p:txBody>
          <a:bodyPr wrap="square" lIns="0" rIns="0" tIns="0" bIns="0" anchor="t">
            <a:spAutoFit/>
          </a:bodyPr>
          <a:lstStyle/>
          <a:p>
            <a:pPr algn="ctr"/>
            <a:r>
              <a:rPr sz="3400" b="0">
                <a:solidFill>
                  <a:srgbClr val="6B4F3E"/>
                </a:solidFill>
                <a:latin typeface="Georgia"/>
              </a:rPr>
              <a:t>Nobody had to be brave</a:t>
            </a:r>
          </a:p>
        </p:txBody>
      </p:sp>
      <p:sp>
        <p:nvSpPr>
          <p:cNvPr id="4" name="Rectangle 3"/>
          <p:cNvSpPr/>
          <p:nvPr/>
        </p:nvSpPr>
        <p:spPr>
          <a:xfrm>
            <a:off x="4069080" y="2788920"/>
            <a:ext cx="1005840" cy="18288"/>
          </a:xfrm>
          <a:prstGeom prst="rect">
            <a:avLst/>
          </a:prstGeom>
          <a:solidFill>
            <a:srgbClr val="A38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017520"/>
            <a:ext cx="7680960" cy="731520"/>
          </a:xfrm>
          <a:prstGeom prst="rect">
            <a:avLst/>
          </a:prstGeom>
          <a:noFill/>
          <a:effectLst/>
        </p:spPr>
        <p:txBody>
          <a:bodyPr wrap="square" lIns="0" rIns="0" tIns="0" bIns="0" anchor="t">
            <a:spAutoFit/>
          </a:bodyPr>
          <a:lstStyle/>
          <a:p>
            <a:pPr algn="ctr">
              <a:lnSpc>
                <a:spcPct val="130000"/>
              </a:lnSpc>
            </a:pPr>
            <a:r>
              <a:rPr sz="1600" b="0">
                <a:solidFill>
                  <a:srgbClr val="706962"/>
                </a:solidFill>
                <a:latin typeface="Calibri"/>
              </a:rPr>
              <a:t>They had to stop laughing, and one of them had to say six words.</a:t>
            </a:r>
          </a:p>
        </p:txBody>
      </p:sp>
      <p:pic>
        <p:nvPicPr>
          <p:cNvPr id="6" name="Picture 5" descr="logo-mark.png"/>
          <p:cNvPicPr>
            <a:picLocks noChangeAspect="1"/>
          </p:cNvPicPr>
          <p:nvPr/>
        </p:nvPicPr>
        <p:blipFill>
          <a:blip r:embed="rId2"/>
          <a:stretch>
            <a:fillRect/>
          </a:stretch>
        </p:blipFill>
        <p:spPr>
          <a:xfrm>
            <a:off x="384048" y="4709160"/>
            <a:ext cx="155448" cy="182880"/>
          </a:xfrm>
          <a:prstGeom prst="rect">
            <a:avLst/>
          </a:prstGeom>
        </p:spPr>
      </p:pic>
      <p:sp>
        <p:nvSpPr>
          <p:cNvPr id="7" name="TextBox 6"/>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8" name="TextBox 7"/>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7772400" cy="201168"/>
          </a:xfrm>
          <a:prstGeom prst="rect">
            <a:avLst/>
          </a:prstGeom>
          <a:noFill/>
          <a:effectLst/>
        </p:spPr>
        <p:txBody>
          <a:bodyPr wrap="square" lIns="0" rIns="0" tIns="0" bIns="0" anchor="t">
            <a:spAutoFit/>
          </a:bodyPr>
          <a:lstStyle/>
          <a:p>
            <a:pPr algn="l"/>
            <a:r>
              <a:rPr sz="1050" b="1" spc="160">
                <a:solidFill>
                  <a:srgbClr val="A3897A"/>
                </a:solidFill>
                <a:latin typeface="Calibri"/>
              </a:rPr>
              <a:t>FOR THE TEACHER</a:t>
            </a:r>
          </a:p>
        </p:txBody>
      </p:sp>
      <p:sp>
        <p:nvSpPr>
          <p:cNvPr id="6" name="TextBox 5"/>
          <p:cNvSpPr txBox="1"/>
          <p:nvPr/>
        </p:nvSpPr>
        <p:spPr>
          <a:xfrm>
            <a:off x="685800" y="841248"/>
            <a:ext cx="6309360" cy="566928"/>
          </a:xfrm>
          <a:prstGeom prst="rect">
            <a:avLst/>
          </a:prstGeom>
          <a:noFill/>
          <a:effectLst/>
        </p:spPr>
        <p:txBody>
          <a:bodyPr wrap="square" lIns="0" rIns="0" tIns="0" bIns="0" anchor="t">
            <a:spAutoFit/>
          </a:bodyPr>
          <a:lstStyle/>
          <a:p>
            <a:pPr algn="l"/>
            <a:r>
              <a:rPr sz="3100" b="0">
                <a:solidFill>
                  <a:srgbClr val="3A332E"/>
                </a:solidFill>
                <a:latin typeface="Georgia"/>
              </a:rPr>
              <a:t>Where these came from</a:t>
            </a:r>
          </a:p>
        </p:txBody>
      </p:sp>
      <p:sp>
        <p:nvSpPr>
          <p:cNvPr id="7" name="TextBox 6"/>
          <p:cNvSpPr txBox="1"/>
          <p:nvPr/>
        </p:nvSpPr>
        <p:spPr>
          <a:xfrm>
            <a:off x="685800" y="1463040"/>
            <a:ext cx="7772400" cy="201168"/>
          </a:xfrm>
          <a:prstGeom prst="rect">
            <a:avLst/>
          </a:prstGeom>
          <a:noFill/>
          <a:effectLst/>
        </p:spPr>
        <p:txBody>
          <a:bodyPr wrap="square" lIns="0" rIns="0" tIns="0" bIns="0" anchor="t">
            <a:spAutoFit/>
          </a:bodyPr>
          <a:lstStyle/>
          <a:p>
            <a:pPr algn="l"/>
            <a:r>
              <a:rPr sz="1050" b="1">
                <a:solidFill>
                  <a:srgbClr val="6B4F3E"/>
                </a:solidFill>
                <a:latin typeface="Calibri"/>
              </a:rPr>
              <a:t>Salmivalli, C., Björkqvist, K., Lagerspetz, K., Österman, K. and Kaukiainen, A. (1996).</a:t>
            </a:r>
          </a:p>
        </p:txBody>
      </p:sp>
      <p:sp>
        <p:nvSpPr>
          <p:cNvPr id="8" name="TextBox 7"/>
          <p:cNvSpPr txBox="1"/>
          <p:nvPr/>
        </p:nvSpPr>
        <p:spPr>
          <a:xfrm>
            <a:off x="685800" y="1700784"/>
            <a:ext cx="7772400" cy="365760"/>
          </a:xfrm>
          <a:prstGeom prst="rect">
            <a:avLst/>
          </a:prstGeom>
          <a:noFill/>
          <a:effectLst/>
        </p:spPr>
        <p:txBody>
          <a:bodyPr wrap="square" lIns="0" rIns="0" tIns="0" bIns="0" anchor="t">
            <a:spAutoFit/>
          </a:bodyPr>
          <a:lstStyle/>
          <a:p>
            <a:pPr algn="l">
              <a:lnSpc>
                <a:spcPct val="125000"/>
              </a:lnSpc>
            </a:pPr>
            <a:r>
              <a:rPr sz="1000" b="0">
                <a:solidFill>
                  <a:srgbClr val="706962"/>
                </a:solidFill>
                <a:latin typeface="Calibri"/>
              </a:rPr>
              <a:t>Bullying as a group process: participant roles and their relations to social status within the group. Aggressive Behavior, 22, 1 to 15.</a:t>
            </a:r>
          </a:p>
        </p:txBody>
      </p:sp>
      <p:sp>
        <p:nvSpPr>
          <p:cNvPr id="9" name="TextBox 8"/>
          <p:cNvSpPr txBox="1"/>
          <p:nvPr/>
        </p:nvSpPr>
        <p:spPr>
          <a:xfrm>
            <a:off x="685800" y="2103120"/>
            <a:ext cx="7772400" cy="475488"/>
          </a:xfrm>
          <a:prstGeom prst="rect">
            <a:avLst/>
          </a:prstGeom>
          <a:noFill/>
          <a:effectLst/>
        </p:spPr>
        <p:txBody>
          <a:bodyPr wrap="square" lIns="0" rIns="0" tIns="0" bIns="0" anchor="t">
            <a:spAutoFit/>
          </a:bodyPr>
          <a:lstStyle/>
          <a:p>
            <a:pPr algn="l">
              <a:lnSpc>
                <a:spcPct val="125000"/>
              </a:lnSpc>
            </a:pPr>
            <a:r>
              <a:rPr sz="1000" b="0">
                <a:solidFill>
                  <a:srgbClr val="706962"/>
                </a:solidFill>
                <a:latin typeface="Calibri"/>
              </a:rPr>
              <a:t>573 students aged twelve and thirteen in Finland. Almost everyone in a class holds a role, and the largest of them is the one that laughs, encourages or is simply the audience.</a:t>
            </a:r>
          </a:p>
        </p:txBody>
      </p:sp>
      <p:sp>
        <p:nvSpPr>
          <p:cNvPr id="10" name="TextBox 9"/>
          <p:cNvSpPr txBox="1"/>
          <p:nvPr/>
        </p:nvSpPr>
        <p:spPr>
          <a:xfrm>
            <a:off x="685800" y="2560320"/>
            <a:ext cx="7772400" cy="201168"/>
          </a:xfrm>
          <a:prstGeom prst="rect">
            <a:avLst/>
          </a:prstGeom>
          <a:noFill/>
          <a:effectLst/>
        </p:spPr>
        <p:txBody>
          <a:bodyPr wrap="square" lIns="0" rIns="0" tIns="0" bIns="0" anchor="t">
            <a:spAutoFit/>
          </a:bodyPr>
          <a:lstStyle/>
          <a:p>
            <a:pPr algn="l"/>
            <a:r>
              <a:rPr sz="1050" b="1">
                <a:solidFill>
                  <a:srgbClr val="6B4F3E"/>
                </a:solidFill>
                <a:latin typeface="Calibri"/>
              </a:rPr>
              <a:t>Hawkins, D. L., Pepler, D. J. and Craig, W. M. (2001).</a:t>
            </a:r>
          </a:p>
        </p:txBody>
      </p:sp>
      <p:sp>
        <p:nvSpPr>
          <p:cNvPr id="11" name="TextBox 10"/>
          <p:cNvSpPr txBox="1"/>
          <p:nvPr/>
        </p:nvSpPr>
        <p:spPr>
          <a:xfrm>
            <a:off x="685800" y="2798063"/>
            <a:ext cx="7772400" cy="365760"/>
          </a:xfrm>
          <a:prstGeom prst="rect">
            <a:avLst/>
          </a:prstGeom>
          <a:noFill/>
          <a:effectLst/>
        </p:spPr>
        <p:txBody>
          <a:bodyPr wrap="square" lIns="0" rIns="0" tIns="0" bIns="0" anchor="t">
            <a:spAutoFit/>
          </a:bodyPr>
          <a:lstStyle/>
          <a:p>
            <a:pPr algn="l">
              <a:lnSpc>
                <a:spcPct val="125000"/>
              </a:lnSpc>
            </a:pPr>
            <a:r>
              <a:rPr sz="1000" b="0">
                <a:solidFill>
                  <a:srgbClr val="706962"/>
                </a:solidFill>
                <a:latin typeface="Calibri"/>
              </a:rPr>
              <a:t>Naturalistic observations of peer interventions in bullying. Social Development, 10(4), 512 to 527.</a:t>
            </a:r>
          </a:p>
        </p:txBody>
      </p:sp>
      <p:sp>
        <p:nvSpPr>
          <p:cNvPr id="12" name="TextBox 11"/>
          <p:cNvSpPr txBox="1"/>
          <p:nvPr/>
        </p:nvSpPr>
        <p:spPr>
          <a:xfrm>
            <a:off x="685800" y="3200400"/>
            <a:ext cx="7772400" cy="475488"/>
          </a:xfrm>
          <a:prstGeom prst="rect">
            <a:avLst/>
          </a:prstGeom>
          <a:noFill/>
          <a:effectLst/>
        </p:spPr>
        <p:txBody>
          <a:bodyPr wrap="square" lIns="0" rIns="0" tIns="0" bIns="0" anchor="t">
            <a:spAutoFit/>
          </a:bodyPr>
          <a:lstStyle/>
          <a:p>
            <a:pPr algn="l">
              <a:lnSpc>
                <a:spcPct val="125000"/>
              </a:lnSpc>
            </a:pPr>
            <a:r>
              <a:rPr sz="1000" b="0">
                <a:solidFill>
                  <a:srgbClr val="706962"/>
                </a:solidFill>
                <a:latin typeface="Calibri"/>
              </a:rPr>
              <a:t>306 bullying episodes recorded across 125 hours of playground footage at two schools in Toronto. Another child stepped in during 19 per cent of them, and when they did, the bullying stopped within ten seconds 57 per cent of the time.</a:t>
            </a:r>
          </a:p>
        </p:txBody>
      </p:sp>
      <p:sp>
        <p:nvSpPr>
          <p:cNvPr id="13" name="TextBox 12"/>
          <p:cNvSpPr txBox="1"/>
          <p:nvPr/>
        </p:nvSpPr>
        <p:spPr>
          <a:xfrm>
            <a:off x="685800" y="3657600"/>
            <a:ext cx="7772400" cy="201168"/>
          </a:xfrm>
          <a:prstGeom prst="rect">
            <a:avLst/>
          </a:prstGeom>
          <a:noFill/>
          <a:effectLst/>
        </p:spPr>
        <p:txBody>
          <a:bodyPr wrap="square" lIns="0" rIns="0" tIns="0" bIns="0" anchor="t">
            <a:spAutoFit/>
          </a:bodyPr>
          <a:lstStyle/>
          <a:p>
            <a:pPr algn="l"/>
            <a:r>
              <a:rPr sz="1050" b="1">
                <a:solidFill>
                  <a:srgbClr val="6B4F3E"/>
                </a:solidFill>
                <a:latin typeface="Calibri"/>
              </a:rPr>
              <a:t>Chen, Q., Lin, W., Wu, Q. and Chan, K. L. (2025).</a:t>
            </a:r>
          </a:p>
        </p:txBody>
      </p:sp>
      <p:sp>
        <p:nvSpPr>
          <p:cNvPr id="14" name="TextBox 13"/>
          <p:cNvSpPr txBox="1"/>
          <p:nvPr/>
        </p:nvSpPr>
        <p:spPr>
          <a:xfrm>
            <a:off x="685800" y="3895344"/>
            <a:ext cx="7772400" cy="365760"/>
          </a:xfrm>
          <a:prstGeom prst="rect">
            <a:avLst/>
          </a:prstGeom>
          <a:noFill/>
          <a:effectLst/>
        </p:spPr>
        <p:txBody>
          <a:bodyPr wrap="square" lIns="0" rIns="0" tIns="0" bIns="0" anchor="t">
            <a:spAutoFit/>
          </a:bodyPr>
          <a:lstStyle/>
          <a:p>
            <a:pPr algn="l">
              <a:lnSpc>
                <a:spcPct val="125000"/>
              </a:lnSpc>
            </a:pPr>
            <a:r>
              <a:rPr sz="1000" b="0">
                <a:solidFill>
                  <a:srgbClr val="706962"/>
                </a:solidFill>
                <a:latin typeface="Calibri"/>
              </a:rPr>
              <a:t>The effectiveness of interventions on bullying and cyberbullying bystander: a meta-analysis. Trauma, Violence, and Abuse, 26(5), 938 to 954.</a:t>
            </a:r>
          </a:p>
        </p:txBody>
      </p:sp>
      <p:sp>
        <p:nvSpPr>
          <p:cNvPr id="15" name="TextBox 14"/>
          <p:cNvSpPr txBox="1"/>
          <p:nvPr/>
        </p:nvSpPr>
        <p:spPr>
          <a:xfrm>
            <a:off x="685800" y="4297680"/>
            <a:ext cx="7772400" cy="475488"/>
          </a:xfrm>
          <a:prstGeom prst="rect">
            <a:avLst/>
          </a:prstGeom>
          <a:noFill/>
          <a:effectLst/>
        </p:spPr>
        <p:txBody>
          <a:bodyPr wrap="square" lIns="0" rIns="0" tIns="0" bIns="0" anchor="t">
            <a:spAutoFit/>
          </a:bodyPr>
          <a:lstStyle/>
          <a:p>
            <a:pPr algn="l">
              <a:lnSpc>
                <a:spcPct val="125000"/>
              </a:lnSpc>
            </a:pPr>
            <a:r>
              <a:rPr sz="1000" b="0">
                <a:solidFill>
                  <a:srgbClr val="706962"/>
                </a:solidFill>
                <a:latin typeface="Calibri"/>
              </a:rPr>
              <a:t>49 studies pulled together. Teaching bystanders what to do does change what they do, and the programmes that worked best taught specific words rather than attitudes.</a:t>
            </a:r>
          </a:p>
        </p:txBody>
      </p:sp>
      <p:pic>
        <p:nvPicPr>
          <p:cNvPr id="16" name="Picture 15" descr="logo-mark.png"/>
          <p:cNvPicPr>
            <a:picLocks noChangeAspect="1"/>
          </p:cNvPicPr>
          <p:nvPr/>
        </p:nvPicPr>
        <p:blipFill>
          <a:blip r:embed="rId2"/>
          <a:stretch>
            <a:fillRect/>
          </a:stretch>
        </p:blipFill>
        <p:spPr>
          <a:xfrm>
            <a:off x="384048" y="4709160"/>
            <a:ext cx="155448" cy="182880"/>
          </a:xfrm>
          <a:prstGeom prst="rect">
            <a:avLst/>
          </a:prstGeom>
        </p:spPr>
      </p:pic>
      <p:sp>
        <p:nvSpPr>
          <p:cNvPr id="17" name="TextBox 16"/>
          <p:cNvSpPr txBox="1"/>
          <p:nvPr/>
        </p:nvSpPr>
        <p:spPr>
          <a:xfrm>
            <a:off x="603504" y="4709160"/>
            <a:ext cx="2194560" cy="210312"/>
          </a:xfrm>
          <a:prstGeom prst="rect">
            <a:avLst/>
          </a:prstGeom>
          <a:noFill/>
          <a:effectLst/>
        </p:spPr>
        <p:txBody>
          <a:bodyPr wrap="square" lIns="0" rIns="0" tIns="0" bIns="0" anchor="t">
            <a:spAutoFit/>
          </a:bodyPr>
          <a:lstStyle/>
          <a:p>
            <a:pPr algn="l"/>
            <a:r>
              <a:rPr sz="850" b="0">
                <a:solidFill>
                  <a:srgbClr val="AAA49D"/>
                </a:solidFill>
                <a:latin typeface="Calibri"/>
              </a:rPr>
              <a:t>The Pastoral Guide</a:t>
            </a:r>
          </a:p>
        </p:txBody>
      </p:sp>
      <p:sp>
        <p:nvSpPr>
          <p:cNvPr id="18" name="TextBox 17"/>
          <p:cNvSpPr txBox="1"/>
          <p:nvPr/>
        </p:nvSpPr>
        <p:spPr>
          <a:xfrm>
            <a:off x="7680960" y="4727448"/>
            <a:ext cx="1078992" cy="219456"/>
          </a:xfrm>
          <a:prstGeom prst="rect">
            <a:avLst/>
          </a:prstGeom>
          <a:noFill/>
          <a:effectLst/>
        </p:spPr>
        <p:txBody>
          <a:bodyPr wrap="square" lIns="0" rIns="0" tIns="0" bIns="0" anchor="t">
            <a:spAutoFit/>
          </a:bodyPr>
          <a:lstStyle/>
          <a:p>
            <a:pPr algn="r"/>
            <a:r>
              <a:rPr sz="850" b="0">
                <a:solidFill>
                  <a:srgbClr val="AAA49D"/>
                </a:solidFill>
                <a:latin typeface="Calibr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The Pastoral Guide</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Bystander to Upstander: the slides</dc:title>
  <dc:subject>A free pastoral resource for form tutors, from The Pastoral Guide, thepastoralguide.com</dc:subject>
  <dc:creator>The Pastoral Guide</dc:creator>
  <cp:keywords>form time, tutor time, pastoral, PSHE, secondary, free</cp:keywords>
  <dc:description>A free pastoral resource for form tutors, from The Pastoral Guide, thepastoralguide.com</dc:description>
  <cp:lastModifiedBy>The Pastoral Guide</cp:lastModifiedBy>
  <cp:revision>1</cp:revision>
  <dcterms:created xsi:type="dcterms:W3CDTF">2026-09-14T05:55:02Z</dcterms:created>
  <dcterms:modified xsi:type="dcterms:W3CDTF">2026-09-14T05:55:02Z</dcterms:modified>
  <cp:category>Pastoral resources</cp:category>
</cp:coreProperties>
</file>