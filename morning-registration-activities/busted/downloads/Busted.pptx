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AD2E3C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62422"/>
                        </a:solidFill>
                        <a:latin typeface="Calibri"/>
                      </a:rPr>
                      <a:t>about 2,000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62422"/>
                        </a:solidFill>
                        <a:latin typeface="Calibri"/>
                      </a:rPr>
                      <a:t>17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United Kingdom</c:v>
                </c:pt>
                <c:pt idx="1">
                  <c:v>United States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2000</c:v>
                </c:pt>
                <c:pt idx="1">
                  <c:v>17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262422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8C877D"/>
            </a:solidFill>
          </a:ln>
        </c:spPr>
        <c:txPr>
          <a:bodyPr/>
          <a:lstStyle/>
          <a:p>
            <a:pPr>
              <a:defRPr sz="1100">
                <a:solidFill>
                  <a:srgbClr val="2624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4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6242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AD2E3C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62422"/>
                        </a:solidFill>
                        <a:latin typeface="Calibri"/>
                      </a:rPr>
                      <a:t>0.07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62422"/>
                        </a:solidFill>
                        <a:latin typeface="Calibri"/>
                      </a:rPr>
                      <a:t>0.57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62422"/>
                        </a:solidFill>
                        <a:latin typeface="Calibri"/>
                      </a:rPr>
                      <a:t>1.39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62422"/>
                        </a:solidFill>
                        <a:latin typeface="Calibri"/>
                      </a:rPr>
                      <a:t>2.27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None</c:v>
                </c:pt>
                <c:pt idx="1">
                  <c:v>1 to 14</c:v>
                </c:pt>
                <c:pt idx="2">
                  <c:v>15 to 24</c:v>
                </c:pt>
                <c:pt idx="3">
                  <c:v>25 or more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0.07</c:v>
                </c:pt>
                <c:pt idx="1">
                  <c:v>0.57</c:v>
                </c:pt>
                <c:pt idx="2">
                  <c:v>1.39</c:v>
                </c:pt>
                <c:pt idx="3">
                  <c:v>2.27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262422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 i="1">
                    <a:solidFill>
                      <a:srgbClr val="56524B"/>
                    </a:solidFill>
                    <a:latin typeface="Calibri"/>
                  </a:rPr>
                  <a:t>Cigarettes smoked a day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8C877D"/>
            </a:solidFill>
          </a:ln>
        </c:spPr>
        <c:txPr>
          <a:bodyPr/>
          <a:lstStyle/>
          <a:p>
            <a:pPr>
              <a:defRPr sz="1100">
                <a:solidFill>
                  <a:srgbClr val="2624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7694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6242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AD2E3C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62422"/>
                        </a:solidFill>
                        <a:latin typeface="Calibri"/>
                      </a:rPr>
                      <a:t>15.2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62422"/>
                        </a:solidFill>
                        <a:latin typeface="Calibri"/>
                      </a:rPr>
                      <a:t>2.2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62422"/>
                        </a:solidFill>
                        <a:latin typeface="Calibri"/>
                      </a:rPr>
                      <a:t>1.5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62422"/>
                        </a:solidFill>
                        <a:latin typeface="Calibri"/>
                      </a:rPr>
                      <a:t>1.0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62422"/>
                        </a:solidFill>
                        <a:latin typeface="Calibri"/>
                      </a:rPr>
                      <a:t>0.7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1976–80</c:v>
                </c:pt>
                <c:pt idx="1">
                  <c:v>1999–2000</c:v>
                </c:pt>
                <c:pt idx="2">
                  <c:v>2005–06</c:v>
                </c:pt>
                <c:pt idx="3">
                  <c:v>2011–12</c:v>
                </c:pt>
                <c:pt idx="4">
                  <c:v>2017–18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15.2</c:v>
                </c:pt>
                <c:pt idx="1">
                  <c:v>2.23</c:v>
                </c:pt>
                <c:pt idx="2">
                  <c:v>1.46</c:v>
                </c:pt>
                <c:pt idx="3">
                  <c:v>0.97</c:v>
                </c:pt>
                <c:pt idx="4">
                  <c:v>0.67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262422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 i="1">
                    <a:solidFill>
                      <a:srgbClr val="56524B"/>
                    </a:solidFill>
                    <a:latin typeface="Calibri"/>
                  </a:rPr>
                  <a:t>Survey years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8C877D"/>
            </a:solidFill>
          </a:ln>
        </c:spPr>
        <c:txPr>
          <a:bodyPr/>
          <a:lstStyle/>
          <a:p>
            <a:pPr>
              <a:defRPr sz="1100">
                <a:solidFill>
                  <a:srgbClr val="2624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544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6242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“Bad” LDL cholesterol</c:v>
                </c:pt>
              </c:strCache>
            </c:strRef>
          </c:tx>
          <c:spPr>
            <a:solidFill>
              <a:srgbClr val="AD2E3C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Trans fat (like early Crisco)</c:v>
                </c:pt>
                <c:pt idx="1">
                  <c:v>Saturated fat (like butter and lard)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0.37</c:v>
                </c:pt>
                <c:pt idx="1">
                  <c:v>0.47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“Good” HDL cholesterol</c:v>
                </c:pt>
              </c:strCache>
            </c:strRef>
          </c:tx>
          <c:spPr>
            <a:solidFill>
              <a:srgbClr val="C85A64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Trans fat (like early Crisco)</c:v>
                </c:pt>
                <c:pt idx="1">
                  <c:v>Saturated fat (like butter and lard)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-0.17</c:v>
                </c:pt>
                <c:pt idx="1">
                  <c:v>0.0</c:v>
                </c:pt>
              </c:numCache>
            </c:numRef>
          </c:val>
        </c:ser>
        <c:dLbls>
          <c:numFmt formatCode="+0.00;-0.00;0.00" sourceLinked="0"/>
          <c:txPr>
            <a:bodyPr/>
            <a:lstStyle/>
            <a:p>
              <a:pPr>
                <a:defRPr sz="1200" b="1">
                  <a:solidFill>
                    <a:srgbClr val="262422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56524B"/>
            </a:solidFill>
          </a:ln>
        </c:spPr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8"/>
          <c:min val="-0.3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26242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77724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1" i="0" spc="160">
                <a:solidFill>
                  <a:srgbClr val="AD2E3C"/>
                </a:solidFill>
                <a:latin typeface="Calibri"/>
              </a:rPr>
              <a:t>MORNING REGISTRATION ACTIVITIES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21792"/>
            <a:ext cx="7772400" cy="1097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777240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262422"/>
                </a:solidFill>
                <a:latin typeface="Georgia"/>
              </a:rPr>
              <a:t>The Daily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70432"/>
            <a:ext cx="7772400" cy="914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07007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EVERY MORNING, ONE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07007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VOLUME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207007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FIVE DAYS, FIVE CLAIMS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426464"/>
            <a:ext cx="7772400" cy="3200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 rot="21180000">
            <a:off x="2226186" y="1869948"/>
            <a:ext cx="4691626" cy="1051560"/>
          </a:xfrm>
          <a:prstGeom prst="roundRect">
            <a:avLst>
              <a:gd name="adj" fmla="val 8000"/>
            </a:avLst>
          </a:prstGeom>
          <a:noFill/>
          <a:ln w="44450">
            <a:solidFill>
              <a:srgbClr val="AD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 rot="21180000">
            <a:off x="2308482" y="1952243"/>
            <a:ext cx="4527034" cy="886968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AD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5400" b="1" spc="600">
                <a:solidFill>
                  <a:srgbClr val="AD2E3C"/>
                </a:solidFill>
                <a:latin typeface="Calibri"/>
              </a:rPr>
              <a:t>BUSTED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73552"/>
            <a:ext cx="7315200" cy="51206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56524B"/>
                </a:solidFill>
                <a:latin typeface="Calibri"/>
              </a:rPr>
              <a:t>Five claims that were printed as true, and the evidence that took them apart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28051" y="3986784"/>
            <a:ext cx="1287897" cy="237744"/>
          </a:xfrm>
          <a:prstGeom prst="roundRect">
            <a:avLst>
              <a:gd name="adj" fmla="val 50000"/>
            </a:avLst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FFFDF7"/>
                </a:solidFill>
                <a:latin typeface="Calibri"/>
              </a:rPr>
              <a:t>VOLUME ONE</a:t>
            </a:r>
          </a:p>
        </p:txBody>
      </p:sp>
      <p:pic>
        <p:nvPicPr>
          <p:cNvPr id="15" name="Picture 14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777240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One story a day, in four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52144"/>
            <a:ext cx="77724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6524B"/>
                </a:solidFill>
                <a:latin typeface="Calibri"/>
              </a:rPr>
              <a:t>About ten minutes a morning. Nothing to print.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177850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1778508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6726" y="1874519"/>
            <a:ext cx="676656" cy="676656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ews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030" y="2020824"/>
            <a:ext cx="384048" cy="384048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795528" y="2706624"/>
            <a:ext cx="1559052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The front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072384"/>
            <a:ext cx="1449324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A claim that was once reported as true.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3764" y="1645920"/>
            <a:ext cx="177850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83764" y="1645920"/>
            <a:ext cx="1778508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34690" y="1874519"/>
            <a:ext cx="676656" cy="676656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wo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994" y="2020824"/>
            <a:ext cx="384048" cy="384048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2793492" y="2706624"/>
            <a:ext cx="1559052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Argue it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8356" y="3072384"/>
            <a:ext cx="1449324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Do you believe it? Who is saying it, and who gains?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1728" y="1645920"/>
            <a:ext cx="177850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81728" y="1645920"/>
            <a:ext cx="1778508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32654" y="1874519"/>
            <a:ext cx="676656" cy="676656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958" y="2020824"/>
            <a:ext cx="384048" cy="384048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4791456" y="2706624"/>
            <a:ext cx="1559052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The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072384"/>
            <a:ext cx="1449324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A graph or a document goes up. What does it show?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9692" y="1645920"/>
            <a:ext cx="177850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9692" y="1645920"/>
            <a:ext cx="1778508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30618" y="1874519"/>
            <a:ext cx="676656" cy="676656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ta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921" y="2020824"/>
            <a:ext cx="384048" cy="384048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6789420" y="2706624"/>
            <a:ext cx="1559052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The verdict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4283" y="3072384"/>
            <a:ext cx="1449324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6524B"/>
                </a:solidFill>
                <a:latin typeface="Calibri"/>
              </a:rPr>
              <a:t>What really happened, and the question that would have caught it.</a:t>
            </a:r>
          </a:p>
        </p:txBody>
      </p:sp>
      <p:pic>
        <p:nvPicPr>
          <p:cNvPr id="30" name="Picture 29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MONDAY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274320"/>
            <a:ext cx="36576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A recreated front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75488"/>
            <a:ext cx="7772400" cy="1097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12064"/>
            <a:ext cx="777240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262422"/>
                </a:solidFill>
                <a:latin typeface="Georgia"/>
              </a:rPr>
              <a:t>The Daily Claim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24128"/>
            <a:ext cx="7772400" cy="914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60704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BOSTON, 1967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060704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VOLUME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060704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STORY 1 OF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280160"/>
            <a:ext cx="7772400" cy="3200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21891"/>
            <a:ext cx="7772400" cy="8818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FAT, NOT SUGAR, IS THE</a:t>
            </a:r>
            <a:br>
              <a:rPr lang="en-GB"/>
            </a:br>
            <a:r>
              <a:rPr sz="2800" b="0" i="0">
                <a:solidFill>
                  <a:srgbClr val="262422"/>
                </a:solidFill>
                <a:latin typeface="Georgia"/>
              </a:rPr>
              <a:t>DANGER TO YOUR HEART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76931"/>
            <a:ext cx="7772400" cy="4094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56524B"/>
                </a:solidFill>
                <a:latin typeface="Georgia"/>
              </a:rPr>
              <a:t>Harvard scientists review the evidence and find only one change to diet that can prevent heart disease: cutting fat and cholesterol.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877819"/>
            <a:ext cx="7772400" cy="914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7547"/>
            <a:ext cx="2432304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 i="0">
                <a:solidFill>
                  <a:srgbClr val="262422"/>
                </a:solidFill>
                <a:latin typeface="Georgia"/>
              </a:rPr>
              <a:t>A review in the New England Journal of Medicine, one of the most respected medical journals in the world, has looked at the studies blaming sugar for heart disease.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6976" y="2987547"/>
            <a:ext cx="9144" cy="1511300"/>
          </a:xfrm>
          <a:prstGeom prst="rect">
            <a:avLst/>
          </a:prstGeom>
          <a:solidFill>
            <a:srgbClr val="8C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2987547"/>
            <a:ext cx="2432304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 i="0">
                <a:solidFill>
                  <a:srgbClr val="262422"/>
                </a:solidFill>
                <a:latin typeface="Georgia"/>
              </a:rPr>
              <a:t>Its authors, from Harvard’s School of Public Health, found those studies weak. The answer, they say, is fat and cholesterol, and that is where families should look.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07024" y="2987547"/>
            <a:ext cx="9144" cy="1511300"/>
          </a:xfrm>
          <a:prstGeom prst="rect">
            <a:avLst/>
          </a:prstGeom>
          <a:solidFill>
            <a:srgbClr val="8C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25896" y="2987547"/>
            <a:ext cx="2432304" cy="1379855"/>
          </a:xfrm>
          <a:prstGeom prst="rect">
            <a:avLst/>
          </a:prstGeom>
          <a:solidFill>
            <a:srgbClr val="F9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5896" y="2987547"/>
            <a:ext cx="45720" cy="1379855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6" y="3133851"/>
            <a:ext cx="2121408" cy="818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AD2E3C"/>
                </a:solidFill>
                <a:latin typeface="Georgia"/>
              </a:rPr>
              <a:t>The only diet change that can prevent heart disease is cutting fat and cholesterol.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4044187"/>
            <a:ext cx="2121408" cy="14033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10">
                <a:solidFill>
                  <a:srgbClr val="56524B"/>
                </a:solidFill>
                <a:latin typeface="Calibri"/>
              </a:rPr>
              <a:t>WHAT THE REVIEW CONCLUDED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MONDAY  ·  STORY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77724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1" i="0" spc="160">
                <a:solidFill>
                  <a:srgbClr val="56524B"/>
                </a:solidFill>
                <a:latin typeface="Calibri"/>
              </a:rPr>
              <a:t>THE CLAIM</a:t>
            </a:r>
          </a:p>
        </p:txBody>
      </p:sp>
      <p:sp>
        <p:nvSpPr>
          <p:cNvPr id="6" name="KEEP_SHADOW"/>
          <p:cNvSpPr/>
          <p:nvPr/>
        </p:nvSpPr>
        <p:spPr>
          <a:xfrm>
            <a:off x="685800" y="896112"/>
            <a:ext cx="7772400" cy="11765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896112"/>
            <a:ext cx="7772400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06424"/>
            <a:ext cx="6858000" cy="7559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 i="0">
                <a:solidFill>
                  <a:srgbClr val="AD2E3C"/>
                </a:solidFill>
                <a:latin typeface="Georgia"/>
              </a:rPr>
              <a:t>“Sugar is not a problem for your heart. Fat is.”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55520"/>
            <a:ext cx="77724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62422"/>
                </a:solidFill>
                <a:latin typeface="Calibri"/>
              </a:rPr>
              <a:t>Hands up for agree, then for disagree, then two or three people say why.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731008"/>
            <a:ext cx="2407920" cy="1712976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3285744"/>
            <a:ext cx="603504" cy="6035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ega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3413760"/>
            <a:ext cx="347472" cy="347472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1600200" y="3367024"/>
            <a:ext cx="1383791" cy="4409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Who is saying it?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8040" y="2731008"/>
            <a:ext cx="2407920" cy="1712976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69208" y="3285744"/>
            <a:ext cx="603504" cy="6035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7223" y="3413760"/>
            <a:ext cx="347472" cy="347472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4282440" y="3256788"/>
            <a:ext cx="1383791" cy="66141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Who gains if you believe it?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0280" y="2731008"/>
            <a:ext cx="2407920" cy="1712976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51447" y="3285744"/>
            <a:ext cx="603504" cy="6035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agnif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463" y="3413760"/>
            <a:ext cx="347472" cy="347472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6964680" y="3256788"/>
            <a:ext cx="1383791" cy="66141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What would you need to see first?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MONDAY  ·  STORY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406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422"/>
                </a:solidFill>
                <a:latin typeface="Georgia"/>
              </a:rPr>
              <a:t>Who paid for the review?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15568"/>
            <a:ext cx="5120640" cy="2834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115568"/>
            <a:ext cx="5120640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30552" y="1463040"/>
            <a:ext cx="18288" cy="2024252"/>
          </a:xfrm>
          <a:prstGeom prst="rect">
            <a:avLst/>
          </a:prstGeom>
          <a:solidFill>
            <a:srgbClr val="C8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66543" y="1380744"/>
            <a:ext cx="146304" cy="1463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353312"/>
            <a:ext cx="1133856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AD2E3C"/>
                </a:solidFill>
                <a:latin typeface="Georgia"/>
              </a:rPr>
              <a:t>1965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8" y="1353312"/>
            <a:ext cx="3255263" cy="50006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62422"/>
                </a:solidFill>
                <a:latin typeface="Calibri"/>
              </a:rPr>
              <a:t>The Sugar Research Foundation pays two Harvard scientists $6,500 to write a review of the studies blaming sugar.</a:t>
            </a:r>
          </a:p>
        </p:txBody>
      </p:sp>
      <p:sp>
        <p:nvSpPr>
          <p:cNvPr id="12" name="Oval 11"/>
          <p:cNvSpPr/>
          <p:nvPr/>
        </p:nvSpPr>
        <p:spPr>
          <a:xfrm>
            <a:off x="2066543" y="2027110"/>
            <a:ext cx="146304" cy="1463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1999678"/>
            <a:ext cx="1133856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AD2E3C"/>
                </a:solidFill>
                <a:latin typeface="Georgia"/>
              </a:rPr>
              <a:t>Before 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1999678"/>
            <a:ext cx="3255263" cy="50006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62422"/>
                </a:solidFill>
                <a:latin typeface="Calibri"/>
              </a:rPr>
              <a:t>The industry reads a draft and writes back: “Let me assure you this is quite what we had in mind.”</a:t>
            </a:r>
          </a:p>
        </p:txBody>
      </p:sp>
      <p:sp>
        <p:nvSpPr>
          <p:cNvPr id="15" name="Oval 14"/>
          <p:cNvSpPr/>
          <p:nvPr/>
        </p:nvSpPr>
        <p:spPr>
          <a:xfrm>
            <a:off x="2066543" y="2673477"/>
            <a:ext cx="146304" cy="1463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646045"/>
            <a:ext cx="1133856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AD2E3C"/>
                </a:solidFill>
                <a:latin typeface="Georgia"/>
              </a:rPr>
              <a:t>1967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0008" y="2646045"/>
            <a:ext cx="3255263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62422"/>
                </a:solidFill>
                <a:latin typeface="Calibri"/>
              </a:rPr>
              <a:t>The review is published. It never mentions who paid for it, and at the time journals did not ask.</a:t>
            </a:r>
          </a:p>
        </p:txBody>
      </p:sp>
      <p:sp>
        <p:nvSpPr>
          <p:cNvPr id="18" name="Oval 17"/>
          <p:cNvSpPr/>
          <p:nvPr/>
        </p:nvSpPr>
        <p:spPr>
          <a:xfrm>
            <a:off x="2066543" y="3185541"/>
            <a:ext cx="146304" cy="1463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158109"/>
            <a:ext cx="1133856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AD2E3C"/>
                </a:solidFill>
                <a:latin typeface="Georgia"/>
              </a:rPr>
              <a:t>2016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0008" y="3158109"/>
            <a:ext cx="3255263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262422"/>
                </a:solidFill>
                <a:latin typeface="Calibri"/>
              </a:rPr>
              <a:t>A researcher, Cristin Kearns, finds the letters in a Harvard library, and the story comes out.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115568"/>
            <a:ext cx="2423160" cy="2834640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280160"/>
            <a:ext cx="20574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AD2E3C"/>
                </a:solidFill>
                <a:latin typeface="Calibri"/>
              </a:rPr>
              <a:t>WHERE THIS COMES FROM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536192"/>
            <a:ext cx="2057400" cy="990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262422"/>
                </a:solidFill>
                <a:latin typeface="Calibri"/>
              </a:rPr>
              <a:t>$6,500 in 1965 is about $48,000 in 2016 money. Letters found by Kearns, Schmidt and Glantz, JAMA Internal Medicine, 2016.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133087"/>
            <a:ext cx="77724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AD2E3C"/>
                </a:solidFill>
                <a:latin typeface="Georgia"/>
              </a:rPr>
              <a:t>What does this change about the front page?</a:t>
            </a:r>
          </a:p>
        </p:txBody>
      </p:sp>
      <p:pic>
        <p:nvPicPr>
          <p:cNvPr id="25" name="Picture 24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MONDAY  ·  STORY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512064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What really happened</a:t>
            </a:r>
          </a:p>
        </p:txBody>
      </p:sp>
      <p:sp>
        <p:nvSpPr>
          <p:cNvPr id="5" name="Rounded Rectangle 4"/>
          <p:cNvSpPr/>
          <p:nvPr/>
        </p:nvSpPr>
        <p:spPr>
          <a:xfrm rot="21120000">
            <a:off x="5748829" y="522732"/>
            <a:ext cx="2858421" cy="746760"/>
          </a:xfrm>
          <a:prstGeom prst="roundRect">
            <a:avLst>
              <a:gd name="adj" fmla="val 8000"/>
            </a:avLst>
          </a:prstGeom>
          <a:noFill/>
          <a:ln w="44450">
            <a:solidFill>
              <a:srgbClr val="AD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21120000">
            <a:off x="5831125" y="605028"/>
            <a:ext cx="2693829" cy="582168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AD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1" spc="600">
                <a:solidFill>
                  <a:srgbClr val="AD2E3C"/>
                </a:solidFill>
                <a:latin typeface="Calibri"/>
              </a:rPr>
              <a:t>BUSTED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563624"/>
            <a:ext cx="292608" cy="292608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618488"/>
            <a:ext cx="29260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591056"/>
            <a:ext cx="7205472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The sugar industry paid for the review, read it before it was published, and nobody reading it was told.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2148839"/>
            <a:ext cx="292608" cy="292608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03703"/>
            <a:ext cx="29260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176272"/>
            <a:ext cx="7205472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One of the researchers who found the letters said the review delayed agreement about sugar and heart disease for decades.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2734056"/>
            <a:ext cx="292608" cy="292608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788920"/>
            <a:ext cx="29260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761488"/>
            <a:ext cx="7205472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Today, health advice says to cut down on both added sugar and saturated fat. The review picked one and waved the other away.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840480"/>
            <a:ext cx="7772400" cy="676656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41064"/>
            <a:ext cx="74066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50" b="1" i="0" spc="150">
                <a:solidFill>
                  <a:srgbClr val="EBC4C6"/>
                </a:solidFill>
                <a:latin typeface="Calibri"/>
              </a:rPr>
              <a:t>THE QUESTION THAT WOULD HAVE CAUGHT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33088"/>
            <a:ext cx="740664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FFFDF7"/>
                </a:solidFill>
                <a:latin typeface="Georgia"/>
              </a:rPr>
              <a:t>Who paid for it?</a:t>
            </a:r>
          </a:p>
        </p:txBody>
      </p:sp>
      <p:pic>
        <p:nvPicPr>
          <p:cNvPr id="19" name="Picture 1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TUESDAY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274320"/>
            <a:ext cx="36576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A recreated front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75488"/>
            <a:ext cx="7772400" cy="1097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12064"/>
            <a:ext cx="777240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262422"/>
                </a:solidFill>
                <a:latin typeface="Georgia"/>
              </a:rPr>
              <a:t>The Daily Claim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24128"/>
            <a:ext cx="7772400" cy="914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60704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LONDON, 1958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060704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VOLUME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060704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STORY 2 OF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280160"/>
            <a:ext cx="7772400" cy="3200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21891"/>
            <a:ext cx="7772400" cy="8818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NEW SLEEPING PILL IS SAFE</a:t>
            </a:r>
            <a:br>
              <a:rPr lang="en-GB"/>
            </a:br>
            <a:r>
              <a:rPr sz="2800" b="0" i="0">
                <a:solidFill>
                  <a:srgbClr val="262422"/>
                </a:solidFill>
                <a:latin typeface="Georgia"/>
              </a:rPr>
              <a:t>FOR MOTHERS-TO-BE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76931"/>
            <a:ext cx="7772400" cy="4094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56524B"/>
                </a:solidFill>
                <a:latin typeface="Georgia"/>
              </a:rPr>
              <a:t>Doctors can now prescribe Distaval for sleeplessness, nerves and morning sickness, and its makers say it is safe in pregnancy.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877819"/>
            <a:ext cx="7772400" cy="914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7547"/>
            <a:ext cx="2432304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 i="0">
                <a:solidFill>
                  <a:srgbClr val="262422"/>
                </a:solidFill>
                <a:latin typeface="Georgia"/>
              </a:rPr>
              <a:t>Distaval, the British name for a new drug called thalidomide, went on sale this year. It is already popular in Germany, where it is sold without a prescription.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6976" y="2987547"/>
            <a:ext cx="9144" cy="1511300"/>
          </a:xfrm>
          <a:prstGeom prst="rect">
            <a:avLst/>
          </a:prstGeom>
          <a:solidFill>
            <a:srgbClr val="8C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2987547"/>
            <a:ext cx="2432304" cy="7924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 i="0">
                <a:solidFill>
                  <a:srgbClr val="262422"/>
                </a:solidFill>
                <a:latin typeface="Georgia"/>
              </a:rPr>
              <a:t>Its makers, the Distillers Company, are telling doctors it is safe for mother and baby alike.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07024" y="2987547"/>
            <a:ext cx="9144" cy="1511300"/>
          </a:xfrm>
          <a:prstGeom prst="rect">
            <a:avLst/>
          </a:prstGeom>
          <a:solidFill>
            <a:srgbClr val="8C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25896" y="2987547"/>
            <a:ext cx="2432304" cy="1316863"/>
          </a:xfrm>
          <a:prstGeom prst="rect">
            <a:avLst/>
          </a:prstGeom>
          <a:solidFill>
            <a:srgbClr val="F9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5896" y="2987547"/>
            <a:ext cx="45720" cy="1316863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6" y="3133851"/>
            <a:ext cx="2121408" cy="7559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AD2E3C"/>
                </a:solidFill>
                <a:latin typeface="Georgia"/>
              </a:rPr>
              <a:t>“Distaval can be given with complete safety to pregnant women and nursing mothers…”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981195"/>
            <a:ext cx="2121408" cy="14033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10">
                <a:solidFill>
                  <a:srgbClr val="56524B"/>
                </a:solidFill>
                <a:latin typeface="Calibri"/>
              </a:rPr>
              <a:t>FROM AN ADVERT FOR DISTAVAL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TUESDAY  ·  STORY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77724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1" i="0" spc="160">
                <a:solidFill>
                  <a:srgbClr val="56524B"/>
                </a:solidFill>
                <a:latin typeface="Calibri"/>
              </a:rPr>
              <a:t>THE CLAIM</a:t>
            </a:r>
          </a:p>
        </p:txBody>
      </p:sp>
      <p:sp>
        <p:nvSpPr>
          <p:cNvPr id="6" name="KEEP_SHADOW"/>
          <p:cNvSpPr/>
          <p:nvPr/>
        </p:nvSpPr>
        <p:spPr>
          <a:xfrm>
            <a:off x="685800" y="896112"/>
            <a:ext cx="7772400" cy="14127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896112"/>
            <a:ext cx="7772400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06424"/>
            <a:ext cx="6858000" cy="99212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100" b="0" i="0">
                <a:solidFill>
                  <a:srgbClr val="AD2E3C"/>
                </a:solidFill>
                <a:latin typeface="Georgia"/>
              </a:rPr>
              <a:t>“If a medicine is sold by a big company and prescribed by doctors, it must have been tested properly.”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1740"/>
            <a:ext cx="77724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62422"/>
                </a:solidFill>
                <a:latin typeface="Calibri"/>
              </a:rPr>
              <a:t>Hands up for agree, then for disagree, then two or three people say why.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967228"/>
            <a:ext cx="2407920" cy="1476756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3403854"/>
            <a:ext cx="603504" cy="6035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ega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3531870"/>
            <a:ext cx="347472" cy="347472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1600200" y="3485134"/>
            <a:ext cx="1383791" cy="4409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Who is saying it?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8040" y="2967228"/>
            <a:ext cx="2407920" cy="1476756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69208" y="3403854"/>
            <a:ext cx="603504" cy="6035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7223" y="3531870"/>
            <a:ext cx="347472" cy="347472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4282440" y="3374898"/>
            <a:ext cx="1383791" cy="66141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Who gains if you believe it?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0280" y="2967228"/>
            <a:ext cx="2407920" cy="1476756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51447" y="3403854"/>
            <a:ext cx="603504" cy="6035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agnif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463" y="3531870"/>
            <a:ext cx="347472" cy="347472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6964680" y="3374898"/>
            <a:ext cx="1383791" cy="66141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What would you need to see first?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TUESDAY  ·  STORY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406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422"/>
                </a:solidFill>
                <a:latin typeface="Georgia"/>
              </a:rPr>
              <a:t>Babies harmed by thalidomide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15568"/>
            <a:ext cx="5120640" cy="2834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115568"/>
            <a:ext cx="5120640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243584"/>
          <a:ext cx="4937759" cy="23042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86968" y="3602736"/>
            <a:ext cx="4718303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1">
                <a:solidFill>
                  <a:srgbClr val="56524B"/>
                </a:solidFill>
                <a:latin typeface="Calibri"/>
              </a:rPr>
              <a:t>Babies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15568"/>
            <a:ext cx="2423160" cy="2834640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20574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AD2E3C"/>
                </a:solidFill>
                <a:latin typeface="Calibri"/>
              </a:rPr>
              <a:t>WHERE THIS COMES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536192"/>
            <a:ext cx="2057400" cy="13868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262422"/>
                </a:solidFill>
                <a:latin typeface="Calibri"/>
              </a:rPr>
              <a:t>Both countries had the drug. In the United States it was only ever given out in trials, because one official at the medicines regulator, Frances Kelsey, refused to approve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33087"/>
            <a:ext cx="77724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AD2E3C"/>
                </a:solidFill>
                <a:latin typeface="Georgia"/>
              </a:rPr>
              <a:t>Why is one bar so much smaller than the other?</a:t>
            </a:r>
          </a:p>
        </p:txBody>
      </p:sp>
      <p:pic>
        <p:nvPicPr>
          <p:cNvPr id="14" name="Picture 13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TUESDAY  ·  STORY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512064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What really happened</a:t>
            </a:r>
          </a:p>
        </p:txBody>
      </p:sp>
      <p:sp>
        <p:nvSpPr>
          <p:cNvPr id="5" name="Rounded Rectangle 4"/>
          <p:cNvSpPr/>
          <p:nvPr/>
        </p:nvSpPr>
        <p:spPr>
          <a:xfrm rot="21120000">
            <a:off x="5748829" y="522732"/>
            <a:ext cx="2858421" cy="746760"/>
          </a:xfrm>
          <a:prstGeom prst="roundRect">
            <a:avLst>
              <a:gd name="adj" fmla="val 8000"/>
            </a:avLst>
          </a:prstGeom>
          <a:noFill/>
          <a:ln w="44450">
            <a:solidFill>
              <a:srgbClr val="AD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21120000">
            <a:off x="5831125" y="605028"/>
            <a:ext cx="2693829" cy="582168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AD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1" spc="600">
                <a:solidFill>
                  <a:srgbClr val="AD2E3C"/>
                </a:solidFill>
                <a:latin typeface="Calibri"/>
              </a:rPr>
              <a:t>BUSTED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563624"/>
            <a:ext cx="292608" cy="292608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618488"/>
            <a:ext cx="29260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591056"/>
            <a:ext cx="7205472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Thalidomide had been tested on rodents to see if it was poisonous. Nobody had tested what it did to a baby before birth.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2148839"/>
            <a:ext cx="292608" cy="292608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03703"/>
            <a:ext cx="29260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176272"/>
            <a:ext cx="7205472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In 1961, doctors in Germany and Australia linked it to birth defects. More than 10,000 babies were affected worldwide, and many did not survive.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2734056"/>
            <a:ext cx="292608" cy="292608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788920"/>
            <a:ext cx="29260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761488"/>
            <a:ext cx="7205472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In the United States, Frances Kelsey kept asking for better evidence and kept saying no. In 1962 the President gave her an award for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840480"/>
            <a:ext cx="7772400" cy="676656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41064"/>
            <a:ext cx="74066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50" b="1" i="0" spc="150">
                <a:solidFill>
                  <a:srgbClr val="EBC4C6"/>
                </a:solidFill>
                <a:latin typeface="Calibri"/>
              </a:rPr>
              <a:t>THE QUESTION THAT WOULD HAVE CAUGHT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33088"/>
            <a:ext cx="740664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FFFDF7"/>
                </a:solidFill>
                <a:latin typeface="Georgia"/>
              </a:rPr>
              <a:t>Has it been tested, and by whom?</a:t>
            </a:r>
          </a:p>
        </p:txBody>
      </p:sp>
      <p:pic>
        <p:nvPicPr>
          <p:cNvPr id="19" name="Picture 1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WEDNESDAY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274320"/>
            <a:ext cx="36576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A recreated front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75488"/>
            <a:ext cx="7772400" cy="1097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12064"/>
            <a:ext cx="777240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262422"/>
                </a:solidFill>
                <a:latin typeface="Georgia"/>
              </a:rPr>
              <a:t>The Daily Claim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24128"/>
            <a:ext cx="7772400" cy="914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60704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NEW YORK, 1946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060704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VOLUME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060704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STORY 3 OF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280160"/>
            <a:ext cx="7772400" cy="3200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21891"/>
            <a:ext cx="7772400" cy="8818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MORE DOCTORS SMOKE CAMELS</a:t>
            </a:r>
            <a:br>
              <a:rPr lang="en-GB"/>
            </a:br>
            <a:r>
              <a:rPr sz="2800" b="0" i="0">
                <a:solidFill>
                  <a:srgbClr val="262422"/>
                </a:solidFill>
                <a:latin typeface="Georgia"/>
              </a:rPr>
              <a:t>THAN ANY OTHER CIGARETTE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76931"/>
            <a:ext cx="7772400" cy="4094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56524B"/>
                </a:solidFill>
                <a:latin typeface="Georgia"/>
              </a:rPr>
              <a:t>A nationwide survey of 113,597 doctors names the brand they choose for themselves, say the makers of Camel cigarettes.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877819"/>
            <a:ext cx="7772400" cy="914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7547"/>
            <a:ext cx="2432304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 i="0">
                <a:solidFill>
                  <a:srgbClr val="262422"/>
                </a:solidFill>
                <a:latin typeface="Georgia"/>
              </a:rPr>
              <a:t>The survey was carried out for the R.J. Reynolds Tobacco Company, which makes Camels. The result is appearing in magazines and on the radio across the country.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6976" y="2987547"/>
            <a:ext cx="9144" cy="1511300"/>
          </a:xfrm>
          <a:prstGeom prst="rect">
            <a:avLst/>
          </a:prstGeom>
          <a:solidFill>
            <a:srgbClr val="8C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2987547"/>
            <a:ext cx="2432304" cy="990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 i="0">
                <a:solidFill>
                  <a:srgbClr val="262422"/>
                </a:solidFill>
                <a:latin typeface="Georgia"/>
              </a:rPr>
              <a:t>The adverts show doctors in white coats, and some have even appeared in medical journals, where doctors read about new treatments.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07024" y="2987547"/>
            <a:ext cx="9144" cy="1511300"/>
          </a:xfrm>
          <a:prstGeom prst="rect">
            <a:avLst/>
          </a:prstGeom>
          <a:solidFill>
            <a:srgbClr val="8C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25896" y="2987547"/>
            <a:ext cx="2432304" cy="1505839"/>
          </a:xfrm>
          <a:prstGeom prst="rect">
            <a:avLst/>
          </a:prstGeom>
          <a:solidFill>
            <a:srgbClr val="F9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5896" y="2987547"/>
            <a:ext cx="45720" cy="1505839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6" y="3133851"/>
            <a:ext cx="2121408" cy="944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AD2E3C"/>
                </a:solidFill>
                <a:latin typeface="Georgia"/>
              </a:rPr>
              <a:t>“More doctors smoke Camels than any other cigarette.”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4170171"/>
            <a:ext cx="2121408" cy="14033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10">
                <a:solidFill>
                  <a:srgbClr val="56524B"/>
                </a:solidFill>
                <a:latin typeface="Calibri"/>
              </a:rPr>
              <a:t>THE ADVERT’S SLOGAN, 1946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WEDNESDAY  ·  STORY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77724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1" i="0" spc="160">
                <a:solidFill>
                  <a:srgbClr val="56524B"/>
                </a:solidFill>
                <a:latin typeface="Calibri"/>
              </a:rPr>
              <a:t>THE CLAIM</a:t>
            </a:r>
          </a:p>
        </p:txBody>
      </p:sp>
      <p:sp>
        <p:nvSpPr>
          <p:cNvPr id="6" name="KEEP_SHADOW"/>
          <p:cNvSpPr/>
          <p:nvPr/>
        </p:nvSpPr>
        <p:spPr>
          <a:xfrm>
            <a:off x="685800" y="896112"/>
            <a:ext cx="7772400" cy="11765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896112"/>
            <a:ext cx="7772400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06424"/>
            <a:ext cx="6858000" cy="7559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 i="0">
                <a:solidFill>
                  <a:srgbClr val="AD2E3C"/>
                </a:solidFill>
                <a:latin typeface="Georgia"/>
              </a:rPr>
              <a:t>“If doctors smoke them, cigarettes can’t be that bad for you.”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55520"/>
            <a:ext cx="77724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62422"/>
                </a:solidFill>
                <a:latin typeface="Calibri"/>
              </a:rPr>
              <a:t>Hands up for agree, then for disagree, then two or three people say why.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731008"/>
            <a:ext cx="2407920" cy="1712976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3285744"/>
            <a:ext cx="603504" cy="6035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ega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3413760"/>
            <a:ext cx="347472" cy="347472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1600200" y="3367024"/>
            <a:ext cx="1383791" cy="4409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Who is saying it?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8040" y="2731008"/>
            <a:ext cx="2407920" cy="1712976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69208" y="3285744"/>
            <a:ext cx="603504" cy="6035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7223" y="3413760"/>
            <a:ext cx="347472" cy="347472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4282440" y="3256788"/>
            <a:ext cx="1383791" cy="66141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Who gains if you believe it?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0280" y="2731008"/>
            <a:ext cx="2407920" cy="1712976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51447" y="3285744"/>
            <a:ext cx="603504" cy="6035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agnif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463" y="3413760"/>
            <a:ext cx="347472" cy="347472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6964680" y="3256788"/>
            <a:ext cx="1383791" cy="66141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What would you need to see first?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WEDNESDAY  ·  STORY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406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422"/>
                </a:solidFill>
                <a:latin typeface="Georgia"/>
              </a:rPr>
              <a:t>Lung cancer deaths among doctors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15568"/>
            <a:ext cx="5120640" cy="2834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115568"/>
            <a:ext cx="5120640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243584"/>
          <a:ext cx="4937759" cy="23042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86968" y="3602736"/>
            <a:ext cx="4718303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1">
                <a:solidFill>
                  <a:srgbClr val="56524B"/>
                </a:solidFill>
                <a:latin typeface="Calibri"/>
              </a:rPr>
              <a:t>Deaths per 1,000 doctors a 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15568"/>
            <a:ext cx="2423160" cy="2834640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20574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AD2E3C"/>
                </a:solidFill>
                <a:latin typeface="Calibri"/>
              </a:rPr>
              <a:t>WHERE THIS COMES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536192"/>
            <a:ext cx="2057400" cy="11887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262422"/>
                </a:solidFill>
                <a:latin typeface="Calibri"/>
              </a:rPr>
              <a:t>From a study that followed about 40,000 British doctors from 1951. Figures for male doctors, 1951 to 1961. Doll and Hill, British Medical Journal, 1964.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33087"/>
            <a:ext cx="77724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AD2E3C"/>
                </a:solidFill>
                <a:latin typeface="Georgia"/>
              </a:rPr>
              <a:t>What happens to the bars as the number of cigarettes goes up?</a:t>
            </a:r>
          </a:p>
        </p:txBody>
      </p:sp>
      <p:pic>
        <p:nvPicPr>
          <p:cNvPr id="14" name="Picture 13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WEDNESDAY  ·  STORY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512064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What really happened</a:t>
            </a:r>
          </a:p>
        </p:txBody>
      </p:sp>
      <p:sp>
        <p:nvSpPr>
          <p:cNvPr id="5" name="Rounded Rectangle 4"/>
          <p:cNvSpPr/>
          <p:nvPr/>
        </p:nvSpPr>
        <p:spPr>
          <a:xfrm rot="21120000">
            <a:off x="5748829" y="522732"/>
            <a:ext cx="2858421" cy="746760"/>
          </a:xfrm>
          <a:prstGeom prst="roundRect">
            <a:avLst>
              <a:gd name="adj" fmla="val 8000"/>
            </a:avLst>
          </a:prstGeom>
          <a:noFill/>
          <a:ln w="44450">
            <a:solidFill>
              <a:srgbClr val="AD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21120000">
            <a:off x="5831125" y="605028"/>
            <a:ext cx="2693829" cy="582168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AD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1" spc="600">
                <a:solidFill>
                  <a:srgbClr val="AD2E3C"/>
                </a:solidFill>
                <a:latin typeface="Calibri"/>
              </a:rPr>
              <a:t>BUSTED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563624"/>
            <a:ext cx="292608" cy="292608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618488"/>
            <a:ext cx="29260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591056"/>
            <a:ext cx="7205472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The company never explained how its survey was done. One account says doctors were given a free carton of Camels before being asked which brand they smoked.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2148839"/>
            <a:ext cx="292608" cy="292608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03703"/>
            <a:ext cx="29260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176272"/>
            <a:ext cx="7205472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In 1950, two British scientists, Richard Doll and Austin Bradford Hill, found a strong link between smoking and lung cancer. Doll gave up smoking.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2734056"/>
            <a:ext cx="292608" cy="292608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788920"/>
            <a:ext cx="29260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761488"/>
            <a:ext cx="7205472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Their study of doctors found that the heaviest smokers died of lung cancer about 32 times as often as doctors who did not smoke.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840480"/>
            <a:ext cx="7772400" cy="676656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41064"/>
            <a:ext cx="74066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50" b="1" i="0" spc="150">
                <a:solidFill>
                  <a:srgbClr val="EBC4C6"/>
                </a:solidFill>
                <a:latin typeface="Calibri"/>
              </a:rPr>
              <a:t>THE QUESTION THAT WOULD HAVE CAUGHT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33088"/>
            <a:ext cx="740664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FFFDF7"/>
                </a:solidFill>
                <a:latin typeface="Georgia"/>
              </a:rPr>
              <a:t>What is the evidence?</a:t>
            </a:r>
          </a:p>
        </p:txBody>
      </p:sp>
      <p:pic>
        <p:nvPicPr>
          <p:cNvPr id="19" name="Picture 1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THURSDAY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274320"/>
            <a:ext cx="36576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A recreated front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75488"/>
            <a:ext cx="7772400" cy="1097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12064"/>
            <a:ext cx="777240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262422"/>
                </a:solidFill>
                <a:latin typeface="Georgia"/>
              </a:rPr>
              <a:t>The Daily Claim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24128"/>
            <a:ext cx="7772400" cy="914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60704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WASHINGTON, 1926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060704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VOLUME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060704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STORY 4 OF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280160"/>
            <a:ext cx="7772400" cy="3200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21891"/>
            <a:ext cx="7772400" cy="8818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LEADED PETROL: ‘NO REAL</a:t>
            </a:r>
            <a:br>
              <a:rPr lang="en-GB"/>
            </a:br>
            <a:r>
              <a:rPr sz="2800" b="0" i="0">
                <a:solidFill>
                  <a:srgbClr val="262422"/>
                </a:solidFill>
                <a:latin typeface="Georgia"/>
              </a:rPr>
              <a:t>EVIDENCE’ OF DANGER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76931"/>
            <a:ext cx="7772400" cy="4094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56524B"/>
                </a:solidFill>
                <a:latin typeface="Georgia"/>
              </a:rPr>
              <a:t>A government committee clears the new fuel after last year’s pause, and leaded petrol goes back on sale across the country.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877819"/>
            <a:ext cx="7772400" cy="914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7547"/>
            <a:ext cx="2432304" cy="990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 i="0">
                <a:solidFill>
                  <a:srgbClr val="262422"/>
                </a:solidFill>
                <a:latin typeface="Georgia"/>
              </a:rPr>
              <a:t>Adding lead to petrol stops engines knocking and makes cars run better. Sales were paused for a year after workers died at refineries in New Jersey.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6976" y="2987547"/>
            <a:ext cx="9144" cy="1511300"/>
          </a:xfrm>
          <a:prstGeom prst="rect">
            <a:avLst/>
          </a:prstGeom>
          <a:solidFill>
            <a:srgbClr val="8C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2987547"/>
            <a:ext cx="2432304" cy="990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 i="0">
                <a:solidFill>
                  <a:srgbClr val="262422"/>
                </a:solidFill>
                <a:latin typeface="Georgia"/>
              </a:rPr>
              <a:t>Now a committee called in by the government says it has found no real evidence that the fuel harms the public, and the pumps are open again.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07024" y="2987547"/>
            <a:ext cx="9144" cy="1511300"/>
          </a:xfrm>
          <a:prstGeom prst="rect">
            <a:avLst/>
          </a:prstGeom>
          <a:solidFill>
            <a:srgbClr val="8C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25896" y="2987547"/>
            <a:ext cx="2432304" cy="1505839"/>
          </a:xfrm>
          <a:prstGeom prst="rect">
            <a:avLst/>
          </a:prstGeom>
          <a:solidFill>
            <a:srgbClr val="F9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5896" y="2987547"/>
            <a:ext cx="45720" cy="1505839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6" y="3133851"/>
            <a:ext cx="2121408" cy="944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AD2E3C"/>
                </a:solidFill>
                <a:latin typeface="Georgia"/>
              </a:rPr>
              <a:t>There is “no real evidence” that the new fuel harms the public.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4170171"/>
            <a:ext cx="2121408" cy="14033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10">
                <a:solidFill>
                  <a:srgbClr val="56524B"/>
                </a:solidFill>
                <a:latin typeface="Calibri"/>
              </a:rPr>
              <a:t>WHAT THE COMMITTEE FOUND, 1926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THURSDAY  ·  STORY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77724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1" i="0" spc="160">
                <a:solidFill>
                  <a:srgbClr val="56524B"/>
                </a:solidFill>
                <a:latin typeface="Calibri"/>
              </a:rPr>
              <a:t>THE CLAIM</a:t>
            </a:r>
          </a:p>
        </p:txBody>
      </p:sp>
      <p:sp>
        <p:nvSpPr>
          <p:cNvPr id="6" name="KEEP_SHADOW"/>
          <p:cNvSpPr/>
          <p:nvPr/>
        </p:nvSpPr>
        <p:spPr>
          <a:xfrm>
            <a:off x="685800" y="896112"/>
            <a:ext cx="7772400" cy="11765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896112"/>
            <a:ext cx="7772400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06424"/>
            <a:ext cx="6858000" cy="7559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 i="0">
                <a:solidFill>
                  <a:srgbClr val="AD2E3C"/>
                </a:solidFill>
                <a:latin typeface="Georgia"/>
              </a:rPr>
              <a:t>“If nobody has proved something is harmful, it must be safe.”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55520"/>
            <a:ext cx="77724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62422"/>
                </a:solidFill>
                <a:latin typeface="Calibri"/>
              </a:rPr>
              <a:t>Hands up for agree, then for disagree, then two or three people say why.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731008"/>
            <a:ext cx="2407920" cy="1712976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3285744"/>
            <a:ext cx="603504" cy="6035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ega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3413760"/>
            <a:ext cx="347472" cy="347472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1600200" y="3367024"/>
            <a:ext cx="1383791" cy="4409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Who is saying it?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8040" y="2731008"/>
            <a:ext cx="2407920" cy="1712976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69208" y="3285744"/>
            <a:ext cx="603504" cy="6035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7223" y="3413760"/>
            <a:ext cx="347472" cy="347472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4282440" y="3256788"/>
            <a:ext cx="1383791" cy="66141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Who gains if you believe it?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0280" y="2731008"/>
            <a:ext cx="2407920" cy="1712976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51447" y="3285744"/>
            <a:ext cx="603504" cy="6035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agnif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463" y="3413760"/>
            <a:ext cx="347472" cy="347472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6964680" y="3256788"/>
            <a:ext cx="1383791" cy="66141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What would you need to see first?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THURSDAY  ·  STORY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406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422"/>
                </a:solidFill>
                <a:latin typeface="Georgia"/>
              </a:rPr>
              <a:t>Lead in young children’s blood,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15568"/>
            <a:ext cx="5120640" cy="2834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115568"/>
            <a:ext cx="5120640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243584"/>
          <a:ext cx="4937759" cy="23042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86968" y="3602736"/>
            <a:ext cx="4718303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1">
                <a:solidFill>
                  <a:srgbClr val="56524B"/>
                </a:solidFill>
                <a:latin typeface="Calibri"/>
              </a:rPr>
              <a:t>Micrograms of lead per decilitre of blood, children aged 1 to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15568"/>
            <a:ext cx="2423160" cy="2834640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20574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AD2E3C"/>
                </a:solidFill>
                <a:latin typeface="Calibri"/>
              </a:rPr>
              <a:t>WHERE THIS COMES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536192"/>
            <a:ext cx="2057400" cy="1584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262422"/>
                </a:solidFill>
                <a:latin typeface="Calibri"/>
              </a:rPr>
              <a:t>The US took lead out of petrol from 1975 and banned it for cars in 1996. Lead paint and lead solder were also banned. Egan and others, 2021; US Environmental Protection Agency.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33087"/>
            <a:ext cx="77724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AD2E3C"/>
                </a:solidFill>
                <a:latin typeface="Georgia"/>
              </a:rPr>
              <a:t>What happened to the lead, and what else might explain it?</a:t>
            </a:r>
          </a:p>
        </p:txBody>
      </p:sp>
      <p:pic>
        <p:nvPicPr>
          <p:cNvPr id="14" name="Picture 13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THURSDAY  ·  STORY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512064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What really happened</a:t>
            </a:r>
          </a:p>
        </p:txBody>
      </p:sp>
      <p:sp>
        <p:nvSpPr>
          <p:cNvPr id="5" name="Rounded Rectangle 4"/>
          <p:cNvSpPr/>
          <p:nvPr/>
        </p:nvSpPr>
        <p:spPr>
          <a:xfrm rot="21120000">
            <a:off x="5748829" y="522732"/>
            <a:ext cx="2858421" cy="746760"/>
          </a:xfrm>
          <a:prstGeom prst="roundRect">
            <a:avLst>
              <a:gd name="adj" fmla="val 8000"/>
            </a:avLst>
          </a:prstGeom>
          <a:noFill/>
          <a:ln w="44450">
            <a:solidFill>
              <a:srgbClr val="AD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21120000">
            <a:off x="5831125" y="605028"/>
            <a:ext cx="2693829" cy="582168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AD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1" spc="600">
                <a:solidFill>
                  <a:srgbClr val="AD2E3C"/>
                </a:solidFill>
                <a:latin typeface="Calibri"/>
              </a:rPr>
              <a:t>BUSTED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563624"/>
            <a:ext cx="292608" cy="292608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618488"/>
            <a:ext cx="29260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591056"/>
            <a:ext cx="7205472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The scientist Clair Patterson showed that lead levels in people and in the environment were far higher than they had been before leaded petrol.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2148839"/>
            <a:ext cx="292608" cy="292608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03703"/>
            <a:ext cx="29260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176272"/>
            <a:ext cx="7205472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The leading expert who said leaded fuel was no threat, Robert Kehoe, was paid by the industry. Lead harms the developing brain, and there is no safe level.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2734056"/>
            <a:ext cx="292608" cy="292608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788920"/>
            <a:ext cx="29260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761488"/>
            <a:ext cx="720547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The UK banned leaded petrol in 2000. The last country stopped selling it in 2021.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840480"/>
            <a:ext cx="7772400" cy="676656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41064"/>
            <a:ext cx="74066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50" b="1" i="0" spc="150">
                <a:solidFill>
                  <a:srgbClr val="EBC4C6"/>
                </a:solidFill>
                <a:latin typeface="Calibri"/>
              </a:rPr>
              <a:t>THE QUESTION THAT WOULD HAVE CAUGHT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33088"/>
            <a:ext cx="740664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FFFDF7"/>
                </a:solidFill>
                <a:latin typeface="Georgia"/>
              </a:rPr>
              <a:t>Has it been tested, and by whom?</a:t>
            </a:r>
          </a:p>
        </p:txBody>
      </p:sp>
      <p:pic>
        <p:nvPicPr>
          <p:cNvPr id="19" name="Picture 1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FRIDAY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274320"/>
            <a:ext cx="36576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A recreated front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75488"/>
            <a:ext cx="7772400" cy="10972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12064"/>
            <a:ext cx="777240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262422"/>
                </a:solidFill>
                <a:latin typeface="Georgia"/>
              </a:rPr>
              <a:t>The Daily Claim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24128"/>
            <a:ext cx="7772400" cy="914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60704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CINCINNATI, 1912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060704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VOLUME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060704"/>
            <a:ext cx="292608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56524B"/>
                </a:solidFill>
                <a:latin typeface="Calibri"/>
              </a:rPr>
              <a:t>STORY 5 OF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280160"/>
            <a:ext cx="7772400" cy="3200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21891"/>
            <a:ext cx="7772400" cy="88188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IT’S ALL VEGETABLE!</a:t>
            </a:r>
            <a:br>
              <a:rPr lang="en-GB"/>
            </a:br>
            <a:r>
              <a:rPr sz="2800" b="0" i="0">
                <a:solidFill>
                  <a:srgbClr val="262422"/>
                </a:solidFill>
                <a:latin typeface="Georgia"/>
              </a:rPr>
              <a:t>IT’S DIGESTIBLE!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76931"/>
            <a:ext cx="7772400" cy="4094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56524B"/>
                </a:solidFill>
                <a:latin typeface="Georgia"/>
              </a:rPr>
              <a:t>Procter &amp; Gamble’s new Crisco is healthier and cheaper than butter and lard, say its makers, and every home should try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877819"/>
            <a:ext cx="7772400" cy="9144"/>
          </a:xfrm>
          <a:prstGeom prst="rect">
            <a:avLst/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7547"/>
            <a:ext cx="2432304" cy="990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 i="0">
                <a:solidFill>
                  <a:srgbClr val="262422"/>
                </a:solidFill>
                <a:latin typeface="Georgia"/>
              </a:rPr>
              <a:t>Crisco is a solid white cooking fat made from cottonseed oil, which is left over when cotton is grown. Its makers are best known for soap and candles.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6976" y="2987547"/>
            <a:ext cx="9144" cy="1511300"/>
          </a:xfrm>
          <a:prstGeom prst="rect">
            <a:avLst/>
          </a:prstGeom>
          <a:solidFill>
            <a:srgbClr val="8C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2987547"/>
            <a:ext cx="2432304" cy="990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00" b="0" i="0">
                <a:solidFill>
                  <a:srgbClr val="262422"/>
                </a:solidFill>
                <a:latin typeface="Georgia"/>
              </a:rPr>
              <a:t>A new factory process turns the liquid oil solid. Shoppers are being given free cookbooks, and every single recipe in them uses Crisco.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07024" y="2987547"/>
            <a:ext cx="9144" cy="1511300"/>
          </a:xfrm>
          <a:prstGeom prst="rect">
            <a:avLst/>
          </a:prstGeom>
          <a:solidFill>
            <a:srgbClr val="8C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25896" y="2987547"/>
            <a:ext cx="2432304" cy="1505839"/>
          </a:xfrm>
          <a:prstGeom prst="rect">
            <a:avLst/>
          </a:prstGeom>
          <a:solidFill>
            <a:srgbClr val="F9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5896" y="2987547"/>
            <a:ext cx="45720" cy="1505839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6" y="3133851"/>
            <a:ext cx="2121408" cy="944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AD2E3C"/>
                </a:solidFill>
                <a:latin typeface="Georgia"/>
              </a:rPr>
              <a:t>Healthier and more cost-effective than butter and other fats.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4170171"/>
            <a:ext cx="2121408" cy="140335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10">
                <a:solidFill>
                  <a:srgbClr val="56524B"/>
                </a:solidFill>
                <a:latin typeface="Calibri"/>
              </a:rPr>
              <a:t>HOW CRISCO WAS ADVERTISED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FRIDAY  ·  STORY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777240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1" i="0" spc="160">
                <a:solidFill>
                  <a:srgbClr val="56524B"/>
                </a:solidFill>
                <a:latin typeface="Calibri"/>
              </a:rPr>
              <a:t>THE CLAIM</a:t>
            </a:r>
          </a:p>
        </p:txBody>
      </p:sp>
      <p:sp>
        <p:nvSpPr>
          <p:cNvPr id="6" name="KEEP_SHADOW"/>
          <p:cNvSpPr/>
          <p:nvPr/>
        </p:nvSpPr>
        <p:spPr>
          <a:xfrm>
            <a:off x="685800" y="896112"/>
            <a:ext cx="7772400" cy="1082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896112"/>
            <a:ext cx="7772400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06424"/>
            <a:ext cx="6858000" cy="66141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100" b="0" i="0">
                <a:solidFill>
                  <a:srgbClr val="AD2E3C"/>
                </a:solidFill>
                <a:latin typeface="Georgia"/>
              </a:rPr>
              <a:t>“A new food made in a factory by scientists is probably better for you than the old one.”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61032"/>
            <a:ext cx="77724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262422"/>
                </a:solidFill>
                <a:latin typeface="Calibri"/>
              </a:rPr>
              <a:t>Hands up for agree, then for disagree, then two or three people say why.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36520"/>
            <a:ext cx="2407920" cy="1807464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3238500"/>
            <a:ext cx="603504" cy="6035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ega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3366516"/>
            <a:ext cx="347472" cy="347472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1600200" y="3319780"/>
            <a:ext cx="1383791" cy="4409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Who is saying it?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8040" y="2636520"/>
            <a:ext cx="2407920" cy="1807464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69208" y="3238500"/>
            <a:ext cx="603504" cy="6035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7223" y="3366516"/>
            <a:ext cx="347472" cy="347472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4282440" y="3209544"/>
            <a:ext cx="1383791" cy="66141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Who gains if you believe it?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0280" y="2636520"/>
            <a:ext cx="2407920" cy="1807464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51447" y="3238500"/>
            <a:ext cx="603504" cy="603504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agnif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463" y="3366516"/>
            <a:ext cx="347472" cy="347472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6964680" y="3209544"/>
            <a:ext cx="1383791" cy="66141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62422"/>
                </a:solidFill>
                <a:latin typeface="Georgia"/>
              </a:rPr>
              <a:t>What would you need to see first?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FRIDAY  ·  STORY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406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62422"/>
                </a:solidFill>
                <a:latin typeface="Georgia"/>
              </a:rPr>
              <a:t>What two fats did to cholesterol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15568"/>
            <a:ext cx="5120640" cy="2834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115568"/>
            <a:ext cx="5120640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77240" y="1207008"/>
          <a:ext cx="4937759" cy="23591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86968" y="3602736"/>
            <a:ext cx="4718303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 i="1">
                <a:solidFill>
                  <a:srgbClr val="56524B"/>
                </a:solidFill>
                <a:latin typeface="Calibri"/>
              </a:rPr>
              <a:t>Change in mmol per litre, compared with a diet high in fat like olive oil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15568"/>
            <a:ext cx="2423160" cy="2834640"/>
          </a:xfrm>
          <a:prstGeom prst="rect">
            <a:avLst/>
          </a:prstGeom>
          <a:solidFill>
            <a:srgbClr val="E9E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20574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1" i="0" spc="140">
                <a:solidFill>
                  <a:srgbClr val="AD2E3C"/>
                </a:solidFill>
                <a:latin typeface="Calibri"/>
              </a:rPr>
              <a:t>WHERE THIS COMES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536192"/>
            <a:ext cx="2057400" cy="990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262422"/>
                </a:solidFill>
                <a:latin typeface="Calibri"/>
              </a:rPr>
              <a:t>59 healthy volunteers ate each diet for three weeks. Mensink and Katan, New England Journal of Medicine, 1990.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33087"/>
            <a:ext cx="777240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AD2E3C"/>
                </a:solidFill>
                <a:latin typeface="Georgia"/>
              </a:rPr>
              <a:t>Which fat moved both numbers the wrong way?</a:t>
            </a:r>
          </a:p>
        </p:txBody>
      </p:sp>
      <p:pic>
        <p:nvPicPr>
          <p:cNvPr id="14" name="Picture 13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FRIDAY  ·  STORY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5120640" cy="4348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262422"/>
                </a:solidFill>
                <a:latin typeface="Georgia"/>
              </a:rPr>
              <a:t>What really happened</a:t>
            </a:r>
          </a:p>
        </p:txBody>
      </p:sp>
      <p:sp>
        <p:nvSpPr>
          <p:cNvPr id="5" name="Rounded Rectangle 4"/>
          <p:cNvSpPr/>
          <p:nvPr/>
        </p:nvSpPr>
        <p:spPr>
          <a:xfrm rot="21120000">
            <a:off x="5748829" y="522732"/>
            <a:ext cx="2858421" cy="746760"/>
          </a:xfrm>
          <a:prstGeom prst="roundRect">
            <a:avLst>
              <a:gd name="adj" fmla="val 8000"/>
            </a:avLst>
          </a:prstGeom>
          <a:noFill/>
          <a:ln w="44450">
            <a:solidFill>
              <a:srgbClr val="AD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21120000">
            <a:off x="5831125" y="605028"/>
            <a:ext cx="2693829" cy="582168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AD2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1" spc="600">
                <a:solidFill>
                  <a:srgbClr val="AD2E3C"/>
                </a:solidFill>
                <a:latin typeface="Calibri"/>
              </a:rPr>
              <a:t>BUSTED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563624"/>
            <a:ext cx="292608" cy="292608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618488"/>
            <a:ext cx="29260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591056"/>
            <a:ext cx="7205472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Turning oil solid in the factory made trans fats. Trans fat raises the bad cholesterol and lowers the good kind at the same time.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2148839"/>
            <a:ext cx="292608" cy="292608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03703"/>
            <a:ext cx="29260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176272"/>
            <a:ext cx="7205472" cy="6583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The World Health Organization links more than 278,000 deaths a year to trans fats made in factories. The US ruled them unsafe in 2015, and Crisco changed its recipe in 2007.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2953511"/>
            <a:ext cx="292608" cy="292608"/>
          </a:xfrm>
          <a:prstGeom prst="ellipse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008375"/>
            <a:ext cx="292608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980944"/>
            <a:ext cx="7205472" cy="4389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62422"/>
                </a:solidFill>
                <a:latin typeface="Calibri"/>
              </a:rPr>
              <a:t>Butter is not off the hook. Saturated fat raised the bad cholesterol too. The claim that failed was that the new factory fat was the healthy 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840480"/>
            <a:ext cx="7772400" cy="676656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41064"/>
            <a:ext cx="740664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50" b="1" i="0" spc="150">
                <a:solidFill>
                  <a:srgbClr val="EBC4C6"/>
                </a:solidFill>
                <a:latin typeface="Calibri"/>
              </a:rPr>
              <a:t>THE QUESTION THAT WOULD HAVE CAUGHT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33088"/>
            <a:ext cx="740664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FFFDF7"/>
                </a:solidFill>
                <a:latin typeface="Georgia"/>
              </a:rPr>
              <a:t>Who gains if I believe it?</a:t>
            </a:r>
          </a:p>
        </p:txBody>
      </p:sp>
      <p:pic>
        <p:nvPicPr>
          <p:cNvPr id="19" name="Picture 1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56692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 spc="150">
                <a:solidFill>
                  <a:srgbClr val="AD2E3C"/>
                </a:solidFill>
                <a:latin typeface="Calibri"/>
              </a:rPr>
              <a:t>BUSTED  ·  VOLUME ONE</a:t>
            </a:r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007" y="640080"/>
            <a:ext cx="585984" cy="676656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548640" y="1481328"/>
            <a:ext cx="804672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000" b="0" i="0">
                <a:solidFill>
                  <a:srgbClr val="262422"/>
                </a:solidFill>
                <a:latin typeface="Georgia"/>
              </a:rPr>
              <a:t>All five were printed as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39696"/>
            <a:ext cx="694944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6524B"/>
                </a:solidFill>
                <a:latin typeface="Calibri"/>
              </a:rPr>
              <a:t>Next time you see a headline, ask these five questions.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816352"/>
            <a:ext cx="1437436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816352"/>
            <a:ext cx="1437436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38856"/>
            <a:ext cx="1254556" cy="37795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AD2E3C"/>
                </a:solidFill>
                <a:latin typeface="Georgia"/>
              </a:rPr>
              <a:t>Who is saying it?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69540" y="2816352"/>
            <a:ext cx="1437436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69540" y="2816352"/>
            <a:ext cx="1437436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60980" y="3038856"/>
            <a:ext cx="1254556" cy="37795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AD2E3C"/>
                </a:solidFill>
                <a:latin typeface="Georgia"/>
              </a:rPr>
              <a:t>Who gains if I believe it?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53281" y="2816352"/>
            <a:ext cx="1437436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53281" y="2816352"/>
            <a:ext cx="1437436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44721" y="3038856"/>
            <a:ext cx="1254556" cy="37795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AD2E3C"/>
                </a:solidFill>
                <a:latin typeface="Georgia"/>
              </a:rPr>
              <a:t>Who paid for it?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37022" y="2816352"/>
            <a:ext cx="1437436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37022" y="2816352"/>
            <a:ext cx="1437436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8462" y="3038856"/>
            <a:ext cx="1254556" cy="37795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AD2E3C"/>
                </a:solidFill>
                <a:latin typeface="Georgia"/>
              </a:rPr>
              <a:t>What is the evidence?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763" y="2816352"/>
            <a:ext cx="1437436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20763" y="2816352"/>
            <a:ext cx="1437436" cy="45720"/>
          </a:xfrm>
          <a:prstGeom prst="rect">
            <a:avLst/>
          </a:prstGeom>
          <a:solidFill>
            <a:srgbClr val="AD2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2203" y="3038856"/>
            <a:ext cx="1254556" cy="37795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AD2E3C"/>
                </a:solidFill>
                <a:latin typeface="Georgia"/>
              </a:rPr>
              <a:t>Has it been tested?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913632"/>
            <a:ext cx="7680960" cy="31089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C877D"/>
                </a:solidFill>
                <a:latin typeface="Calibri"/>
              </a:rPr>
              <a:t>Volume Two is on its way to thepastoralguide.com.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C877D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C877D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