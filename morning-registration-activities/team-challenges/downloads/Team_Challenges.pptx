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ctr">
              <a:lnSpc>
                <a:spcPct val="125000"/>
              </a:lnSpc>
              <a:spcAft>
                <a:spcPts val="0"/>
              </a:spcAft>
            </a:pPr>
            <a:r>
              <a:rPr sz="1000" b="1" i="0" spc="160">
                <a:solidFill>
                  <a:srgbClr val="265C92"/>
                </a:solidFill>
                <a:latin typeface="Karla"/>
              </a:rPr>
              <a:t>MORNING REGISTRATION ACTIVITIES</a:t>
            </a:r>
          </a:p>
        </p:txBody>
      </p:sp>
      <p:sp>
        <p:nvSpPr>
          <p:cNvPr id="4" name="TextBox 3"/>
          <p:cNvSpPr txBox="1"/>
          <p:nvPr/>
        </p:nvSpPr>
        <p:spPr>
          <a:xfrm>
            <a:off x="685800" y="621792"/>
            <a:ext cx="7772400" cy="603504"/>
          </a:xfrm>
          <a:prstGeom prst="rect">
            <a:avLst/>
          </a:prstGeom>
          <a:noFill/>
          <a:effectLst/>
        </p:spPr>
        <p:txBody>
          <a:bodyPr wrap="square" anchor="t" lIns="0" rIns="0" tIns="0" bIns="0">
            <a:spAutoFit/>
          </a:bodyPr>
          <a:lstStyle/>
          <a:p>
            <a:pPr algn="ctr">
              <a:lnSpc>
                <a:spcPct val="105000"/>
              </a:lnSpc>
              <a:spcAft>
                <a:spcPts val="0"/>
              </a:spcAft>
            </a:pPr>
            <a:r>
              <a:rPr sz="3800" b="1" i="0">
                <a:solidFill>
                  <a:srgbClr val="265C92"/>
                </a:solidFill>
                <a:latin typeface="Libre Caslon Display"/>
              </a:rPr>
              <a:t>Team Challenges</a:t>
            </a:r>
          </a:p>
        </p:txBody>
      </p:sp>
      <p:sp>
        <p:nvSpPr>
          <p:cNvPr id="5" name="Rounded Rectangle 4"/>
          <p:cNvSpPr/>
          <p:nvPr/>
        </p:nvSpPr>
        <p:spPr>
          <a:xfrm>
            <a:off x="3928051" y="1316736"/>
            <a:ext cx="1287897" cy="237744"/>
          </a:xfrm>
          <a:prstGeom prst="roundRect">
            <a:avLst>
              <a:gd name="adj" fmla="val 50000"/>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Karla"/>
              </a:rPr>
              <a:t>VOLUME ONE</a:t>
            </a:r>
          </a:p>
        </p:txBody>
      </p:sp>
      <p:sp>
        <p:nvSpPr>
          <p:cNvPr id="6" name="TextBox 5"/>
          <p:cNvSpPr txBox="1"/>
          <p:nvPr/>
        </p:nvSpPr>
        <p:spPr>
          <a:xfrm>
            <a:off x="914400" y="1682496"/>
            <a:ext cx="7315200" cy="310896"/>
          </a:xfrm>
          <a:prstGeom prst="rect">
            <a:avLst/>
          </a:prstGeom>
          <a:noFill/>
          <a:effectLst/>
        </p:spPr>
        <p:txBody>
          <a:bodyPr wrap="square" anchor="t" lIns="0" rIns="0" tIns="0" bIns="0">
            <a:spAutoFit/>
          </a:bodyPr>
          <a:lstStyle/>
          <a:p>
            <a:pPr algn="ctr">
              <a:lnSpc>
                <a:spcPct val="125000"/>
              </a:lnSpc>
              <a:spcAft>
                <a:spcPts val="0"/>
              </a:spcAft>
            </a:pPr>
            <a:r>
              <a:rPr sz="1350" b="0" i="0">
                <a:solidFill>
                  <a:srgbClr val="5C6552"/>
                </a:solidFill>
                <a:latin typeface="Karla"/>
              </a:rPr>
              <a:t>Five challenges for teams of four or five. Describe and Draw is done in pairs.</a:t>
            </a:r>
          </a:p>
        </p:txBody>
      </p:sp>
      <p:sp>
        <p:nvSpPr>
          <p:cNvPr id="7" name="Rectangle 6"/>
          <p:cNvSpPr/>
          <p:nvPr/>
        </p:nvSpPr>
        <p:spPr>
          <a:xfrm>
            <a:off x="685800" y="2139696"/>
            <a:ext cx="2395728" cy="2029968"/>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1554480" y="2286000"/>
            <a:ext cx="658368" cy="65836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twopeople.png"/>
          <p:cNvPicPr>
            <a:picLocks noChangeAspect="1"/>
          </p:cNvPicPr>
          <p:nvPr/>
        </p:nvPicPr>
        <p:blipFill>
          <a:blip r:embed="rId2"/>
          <a:stretch>
            <a:fillRect/>
          </a:stretch>
        </p:blipFill>
        <p:spPr>
          <a:xfrm>
            <a:off x="1691640" y="2423160"/>
            <a:ext cx="384048" cy="384048"/>
          </a:xfrm>
          <a:prstGeom prst="rect">
            <a:avLst/>
          </a:prstGeom>
          <a:effectLst/>
        </p:spPr>
      </p:pic>
      <p:sp>
        <p:nvSpPr>
          <p:cNvPr id="10" name="TextBox 9"/>
          <p:cNvSpPr txBox="1"/>
          <p:nvPr/>
        </p:nvSpPr>
        <p:spPr>
          <a:xfrm>
            <a:off x="813816" y="3054096"/>
            <a:ext cx="2139696" cy="475488"/>
          </a:xfrm>
          <a:prstGeom prst="rect">
            <a:avLst/>
          </a:prstGeom>
          <a:noFill/>
          <a:effectLst/>
        </p:spPr>
        <p:txBody>
          <a:bodyPr wrap="square" anchor="t" lIns="0" rIns="0" tIns="0" bIns="0">
            <a:spAutoFit/>
          </a:bodyPr>
          <a:lstStyle/>
          <a:p>
            <a:pPr algn="ctr">
              <a:lnSpc>
                <a:spcPct val="125000"/>
              </a:lnSpc>
              <a:spcAft>
                <a:spcPts val="0"/>
              </a:spcAft>
            </a:pPr>
            <a:r>
              <a:rPr sz="1350" b="1" i="0">
                <a:solidFill>
                  <a:srgbClr val="265C92"/>
                </a:solidFill>
                <a:latin typeface="Libre Caslon Display"/>
              </a:rPr>
              <a:t>Get into teams</a:t>
            </a:r>
          </a:p>
        </p:txBody>
      </p:sp>
      <p:sp>
        <p:nvSpPr>
          <p:cNvPr id="11" name="TextBox 10"/>
          <p:cNvSpPr txBox="1"/>
          <p:nvPr/>
        </p:nvSpPr>
        <p:spPr>
          <a:xfrm>
            <a:off x="850392" y="3547872"/>
            <a:ext cx="2066544" cy="51206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C6552"/>
                </a:solidFill>
                <a:latin typeface="Karla"/>
              </a:rPr>
              <a:t>Four or five to a team, sitting together, with the chairs turned in.</a:t>
            </a:r>
          </a:p>
        </p:txBody>
      </p:sp>
      <p:sp>
        <p:nvSpPr>
          <p:cNvPr id="12" name="Rectangle 11"/>
          <p:cNvSpPr/>
          <p:nvPr/>
        </p:nvSpPr>
        <p:spPr>
          <a:xfrm>
            <a:off x="3374136" y="2139696"/>
            <a:ext cx="2395728" cy="2029968"/>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4242816" y="2286000"/>
            <a:ext cx="658368" cy="65836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clock.png"/>
          <p:cNvPicPr>
            <a:picLocks noChangeAspect="1"/>
          </p:cNvPicPr>
          <p:nvPr/>
        </p:nvPicPr>
        <p:blipFill>
          <a:blip r:embed="rId3"/>
          <a:stretch>
            <a:fillRect/>
          </a:stretch>
        </p:blipFill>
        <p:spPr>
          <a:xfrm>
            <a:off x="4379976" y="2423160"/>
            <a:ext cx="384048" cy="384048"/>
          </a:xfrm>
          <a:prstGeom prst="rect">
            <a:avLst/>
          </a:prstGeom>
          <a:effectLst/>
        </p:spPr>
      </p:pic>
      <p:sp>
        <p:nvSpPr>
          <p:cNvPr id="15" name="TextBox 14"/>
          <p:cNvSpPr txBox="1"/>
          <p:nvPr/>
        </p:nvSpPr>
        <p:spPr>
          <a:xfrm>
            <a:off x="3502152" y="3054096"/>
            <a:ext cx="2139696" cy="475488"/>
          </a:xfrm>
          <a:prstGeom prst="rect">
            <a:avLst/>
          </a:prstGeom>
          <a:noFill/>
          <a:effectLst/>
        </p:spPr>
        <p:txBody>
          <a:bodyPr wrap="square" anchor="t" lIns="0" rIns="0" tIns="0" bIns="0">
            <a:spAutoFit/>
          </a:bodyPr>
          <a:lstStyle/>
          <a:p>
            <a:pPr algn="ctr">
              <a:lnSpc>
                <a:spcPct val="125000"/>
              </a:lnSpc>
              <a:spcAft>
                <a:spcPts val="0"/>
              </a:spcAft>
            </a:pPr>
            <a:r>
              <a:rPr sz="1350" b="1" i="0">
                <a:solidFill>
                  <a:srgbClr val="265C92"/>
                </a:solidFill>
                <a:latin typeface="Libre Caslon Display"/>
              </a:rPr>
              <a:t>Do the challenge</a:t>
            </a:r>
          </a:p>
        </p:txBody>
      </p:sp>
      <p:sp>
        <p:nvSpPr>
          <p:cNvPr id="16" name="TextBox 15"/>
          <p:cNvSpPr txBox="1"/>
          <p:nvPr/>
        </p:nvSpPr>
        <p:spPr>
          <a:xfrm>
            <a:off x="3538728" y="3547872"/>
            <a:ext cx="2066544" cy="51206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C6552"/>
                </a:solidFill>
                <a:latin typeface="Karla"/>
              </a:rPr>
              <a:t>Each challenge runs from its own slides. Follow them in order.</a:t>
            </a:r>
          </a:p>
        </p:txBody>
      </p:sp>
      <p:sp>
        <p:nvSpPr>
          <p:cNvPr id="17" name="Rectangle 16"/>
          <p:cNvSpPr/>
          <p:nvPr/>
        </p:nvSpPr>
        <p:spPr>
          <a:xfrm>
            <a:off x="6062472" y="2139696"/>
            <a:ext cx="2395728" cy="2029968"/>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6931151" y="2286000"/>
            <a:ext cx="658368" cy="65836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askbubble.png"/>
          <p:cNvPicPr>
            <a:picLocks noChangeAspect="1"/>
          </p:cNvPicPr>
          <p:nvPr/>
        </p:nvPicPr>
        <p:blipFill>
          <a:blip r:embed="rId4"/>
          <a:stretch>
            <a:fillRect/>
          </a:stretch>
        </p:blipFill>
        <p:spPr>
          <a:xfrm>
            <a:off x="7068312" y="2423160"/>
            <a:ext cx="384048" cy="384048"/>
          </a:xfrm>
          <a:prstGeom prst="rect">
            <a:avLst/>
          </a:prstGeom>
          <a:effectLst/>
        </p:spPr>
      </p:pic>
      <p:sp>
        <p:nvSpPr>
          <p:cNvPr id="20" name="TextBox 19"/>
          <p:cNvSpPr txBox="1"/>
          <p:nvPr/>
        </p:nvSpPr>
        <p:spPr>
          <a:xfrm>
            <a:off x="6190488" y="3054096"/>
            <a:ext cx="2139696" cy="475488"/>
          </a:xfrm>
          <a:prstGeom prst="rect">
            <a:avLst/>
          </a:prstGeom>
          <a:noFill/>
          <a:effectLst/>
        </p:spPr>
        <p:txBody>
          <a:bodyPr wrap="square" anchor="t" lIns="0" rIns="0" tIns="0" bIns="0">
            <a:spAutoFit/>
          </a:bodyPr>
          <a:lstStyle/>
          <a:p>
            <a:pPr algn="ctr">
              <a:lnSpc>
                <a:spcPct val="125000"/>
              </a:lnSpc>
              <a:spcAft>
                <a:spcPts val="0"/>
              </a:spcAft>
            </a:pPr>
            <a:r>
              <a:rPr sz="1350" b="1" i="0">
                <a:solidFill>
                  <a:srgbClr val="265C92"/>
                </a:solidFill>
                <a:latin typeface="Libre Caslon Display"/>
              </a:rPr>
              <a:t>Talk about it</a:t>
            </a:r>
          </a:p>
        </p:txBody>
      </p:sp>
      <p:sp>
        <p:nvSpPr>
          <p:cNvPr id="21" name="TextBox 20"/>
          <p:cNvSpPr txBox="1"/>
          <p:nvPr/>
        </p:nvSpPr>
        <p:spPr>
          <a:xfrm>
            <a:off x="6227064" y="3547872"/>
            <a:ext cx="2066544" cy="51206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C6552"/>
                </a:solidFill>
                <a:latin typeface="Karla"/>
              </a:rPr>
              <a:t>Every challenge ends with a question for the whole form to talk about.</a:t>
            </a:r>
          </a:p>
        </p:txBody>
      </p:sp>
      <p:pic>
        <p:nvPicPr>
          <p:cNvPr id="22" name="Picture 21" descr="logo-mark.png"/>
          <p:cNvPicPr>
            <a:picLocks noChangeAspect="1"/>
          </p:cNvPicPr>
          <p:nvPr/>
        </p:nvPicPr>
        <p:blipFill>
          <a:blip r:embed="rId5"/>
          <a:stretch>
            <a:fillRect/>
          </a:stretch>
        </p:blipFill>
        <p:spPr>
          <a:xfrm>
            <a:off x="384048" y="4727448"/>
            <a:ext cx="158374" cy="182880"/>
          </a:xfrm>
          <a:prstGeom prst="rect">
            <a:avLst/>
          </a:prstGeom>
          <a:effectLst/>
        </p:spPr>
      </p:pic>
      <p:sp>
        <p:nvSpPr>
          <p:cNvPr id="23" name="TextBox 2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4" name="TextBox 2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1 / 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TEAM CHALLENGES  ·  VOLUME ONE</a:t>
            </a:r>
          </a:p>
        </p:txBody>
      </p:sp>
      <p:sp>
        <p:nvSpPr>
          <p:cNvPr id="4" name="TextBox 3"/>
          <p:cNvSpPr txBox="1"/>
          <p:nvPr/>
        </p:nvSpPr>
        <p:spPr>
          <a:xfrm>
            <a:off x="685800" y="640080"/>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The five challenges</a:t>
            </a:r>
          </a:p>
        </p:txBody>
      </p:sp>
      <p:sp>
        <p:nvSpPr>
          <p:cNvPr id="5" name="Rectangle 4"/>
          <p:cNvSpPr/>
          <p:nvPr/>
        </p:nvSpPr>
        <p:spPr>
          <a:xfrm>
            <a:off x="685800" y="1335024"/>
            <a:ext cx="1364284" cy="2304288"/>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1554480"/>
            <a:ext cx="1364284" cy="256032"/>
          </a:xfrm>
          <a:prstGeom prst="rect">
            <a:avLst/>
          </a:prstGeom>
          <a:noFill/>
          <a:effectLst/>
        </p:spPr>
        <p:txBody>
          <a:bodyPr wrap="square" anchor="t" lIns="0" rIns="0" tIns="0" bIns="0">
            <a:spAutoFit/>
          </a:bodyPr>
          <a:lstStyle/>
          <a:p>
            <a:pPr algn="ctr">
              <a:lnSpc>
                <a:spcPct val="125000"/>
              </a:lnSpc>
              <a:spcAft>
                <a:spcPts val="0"/>
              </a:spcAft>
            </a:pPr>
            <a:r>
              <a:rPr sz="1150" b="1" i="0" spc="140">
                <a:solidFill>
                  <a:srgbClr val="265C92"/>
                </a:solidFill>
                <a:latin typeface="Karla"/>
              </a:rPr>
              <a:t>ONE</a:t>
            </a:r>
          </a:p>
        </p:txBody>
      </p:sp>
      <p:sp>
        <p:nvSpPr>
          <p:cNvPr id="7" name="Oval 6"/>
          <p:cNvSpPr/>
          <p:nvPr/>
        </p:nvSpPr>
        <p:spPr>
          <a:xfrm>
            <a:off x="956462" y="1911095"/>
            <a:ext cx="822960" cy="822960"/>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raft.png"/>
          <p:cNvPicPr>
            <a:picLocks noChangeAspect="1"/>
          </p:cNvPicPr>
          <p:nvPr/>
        </p:nvPicPr>
        <p:blipFill>
          <a:blip r:embed="rId2"/>
          <a:stretch>
            <a:fillRect/>
          </a:stretch>
        </p:blipFill>
        <p:spPr>
          <a:xfrm>
            <a:off x="1130198" y="2084832"/>
            <a:ext cx="475488" cy="475488"/>
          </a:xfrm>
          <a:prstGeom prst="rect">
            <a:avLst/>
          </a:prstGeom>
          <a:effectLst/>
        </p:spPr>
      </p:pic>
      <p:sp>
        <p:nvSpPr>
          <p:cNvPr id="9" name="TextBox 8"/>
          <p:cNvSpPr txBox="1"/>
          <p:nvPr/>
        </p:nvSpPr>
        <p:spPr>
          <a:xfrm>
            <a:off x="813816" y="2889504"/>
            <a:ext cx="1108252" cy="786384"/>
          </a:xfrm>
          <a:prstGeom prst="rect">
            <a:avLst/>
          </a:prstGeom>
          <a:noFill/>
          <a:effectLst/>
        </p:spPr>
        <p:txBody>
          <a:bodyPr wrap="square" anchor="t" lIns="0" rIns="0" tIns="0" bIns="0">
            <a:spAutoFit/>
          </a:bodyPr>
          <a:lstStyle/>
          <a:p>
            <a:pPr algn="ctr">
              <a:lnSpc>
                <a:spcPct val="125000"/>
              </a:lnSpc>
              <a:spcAft>
                <a:spcPts val="0"/>
              </a:spcAft>
            </a:pPr>
            <a:r>
              <a:rPr sz="1350" b="1" i="0">
                <a:solidFill>
                  <a:srgbClr val="265C92"/>
                </a:solidFill>
                <a:latin typeface="Libre Caslon Display"/>
              </a:rPr>
              <a:t>Lost</a:t>
            </a:r>
            <a:br>
              <a:rPr lang="en-GB"/>
            </a:br>
            <a:r>
              <a:rPr sz="1350" b="1" i="0">
                <a:solidFill>
                  <a:srgbClr val="265C92"/>
                </a:solidFill>
                <a:latin typeface="Libre Caslon Display"/>
              </a:rPr>
              <a:t>at Sea</a:t>
            </a:r>
          </a:p>
        </p:txBody>
      </p:sp>
      <p:sp>
        <p:nvSpPr>
          <p:cNvPr id="10" name="Rectangle 9"/>
          <p:cNvSpPr/>
          <p:nvPr/>
        </p:nvSpPr>
        <p:spPr>
          <a:xfrm>
            <a:off x="2287828" y="1335024"/>
            <a:ext cx="1364284" cy="2304288"/>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2287828" y="1554480"/>
            <a:ext cx="1364284" cy="256032"/>
          </a:xfrm>
          <a:prstGeom prst="rect">
            <a:avLst/>
          </a:prstGeom>
          <a:noFill/>
          <a:effectLst/>
        </p:spPr>
        <p:txBody>
          <a:bodyPr wrap="square" anchor="t" lIns="0" rIns="0" tIns="0" bIns="0">
            <a:spAutoFit/>
          </a:bodyPr>
          <a:lstStyle/>
          <a:p>
            <a:pPr algn="ctr">
              <a:lnSpc>
                <a:spcPct val="125000"/>
              </a:lnSpc>
              <a:spcAft>
                <a:spcPts val="0"/>
              </a:spcAft>
            </a:pPr>
            <a:r>
              <a:rPr sz="1150" b="1" i="0" spc="140">
                <a:solidFill>
                  <a:srgbClr val="265C92"/>
                </a:solidFill>
                <a:latin typeface="Karla"/>
              </a:rPr>
              <a:t>TWO</a:t>
            </a:r>
          </a:p>
        </p:txBody>
      </p:sp>
      <p:sp>
        <p:nvSpPr>
          <p:cNvPr id="12" name="Oval 11"/>
          <p:cNvSpPr/>
          <p:nvPr/>
        </p:nvSpPr>
        <p:spPr>
          <a:xfrm>
            <a:off x="2558491" y="1911095"/>
            <a:ext cx="822960" cy="822960"/>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tower.png"/>
          <p:cNvPicPr>
            <a:picLocks noChangeAspect="1"/>
          </p:cNvPicPr>
          <p:nvPr/>
        </p:nvPicPr>
        <p:blipFill>
          <a:blip r:embed="rId3"/>
          <a:stretch>
            <a:fillRect/>
          </a:stretch>
        </p:blipFill>
        <p:spPr>
          <a:xfrm>
            <a:off x="2732227" y="2084832"/>
            <a:ext cx="475488" cy="475488"/>
          </a:xfrm>
          <a:prstGeom prst="rect">
            <a:avLst/>
          </a:prstGeom>
          <a:effectLst/>
        </p:spPr>
      </p:pic>
      <p:sp>
        <p:nvSpPr>
          <p:cNvPr id="14" name="TextBox 13"/>
          <p:cNvSpPr txBox="1"/>
          <p:nvPr/>
        </p:nvSpPr>
        <p:spPr>
          <a:xfrm>
            <a:off x="2415844" y="2889504"/>
            <a:ext cx="1108252" cy="786384"/>
          </a:xfrm>
          <a:prstGeom prst="rect">
            <a:avLst/>
          </a:prstGeom>
          <a:noFill/>
          <a:effectLst/>
        </p:spPr>
        <p:txBody>
          <a:bodyPr wrap="square" anchor="t" lIns="0" rIns="0" tIns="0" bIns="0">
            <a:spAutoFit/>
          </a:bodyPr>
          <a:lstStyle/>
          <a:p>
            <a:pPr algn="ctr">
              <a:lnSpc>
                <a:spcPct val="125000"/>
              </a:lnSpc>
              <a:spcAft>
                <a:spcPts val="0"/>
              </a:spcAft>
            </a:pPr>
            <a:r>
              <a:rPr sz="1350" b="1" i="0">
                <a:solidFill>
                  <a:srgbClr val="265C92"/>
                </a:solidFill>
                <a:latin typeface="Libre Caslon Display"/>
              </a:rPr>
              <a:t>Paper</a:t>
            </a:r>
            <a:br>
              <a:rPr lang="en-GB"/>
            </a:br>
            <a:r>
              <a:rPr sz="1350" b="1" i="0">
                <a:solidFill>
                  <a:srgbClr val="265C92"/>
                </a:solidFill>
                <a:latin typeface="Libre Caslon Display"/>
              </a:rPr>
              <a:t>Tower</a:t>
            </a:r>
          </a:p>
        </p:txBody>
      </p:sp>
      <p:sp>
        <p:nvSpPr>
          <p:cNvPr id="15" name="Rectangle 14"/>
          <p:cNvSpPr/>
          <p:nvPr/>
        </p:nvSpPr>
        <p:spPr>
          <a:xfrm>
            <a:off x="3889857" y="1335024"/>
            <a:ext cx="1364284" cy="2304288"/>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889857" y="1554480"/>
            <a:ext cx="1364284" cy="256032"/>
          </a:xfrm>
          <a:prstGeom prst="rect">
            <a:avLst/>
          </a:prstGeom>
          <a:noFill/>
          <a:effectLst/>
        </p:spPr>
        <p:txBody>
          <a:bodyPr wrap="square" anchor="t" lIns="0" rIns="0" tIns="0" bIns="0">
            <a:spAutoFit/>
          </a:bodyPr>
          <a:lstStyle/>
          <a:p>
            <a:pPr algn="ctr">
              <a:lnSpc>
                <a:spcPct val="125000"/>
              </a:lnSpc>
              <a:spcAft>
                <a:spcPts val="0"/>
              </a:spcAft>
            </a:pPr>
            <a:r>
              <a:rPr sz="1150" b="1" i="0" spc="140">
                <a:solidFill>
                  <a:srgbClr val="265C92"/>
                </a:solidFill>
                <a:latin typeface="Karla"/>
              </a:rPr>
              <a:t>THREE</a:t>
            </a:r>
          </a:p>
        </p:txBody>
      </p:sp>
      <p:sp>
        <p:nvSpPr>
          <p:cNvPr id="17" name="Oval 16"/>
          <p:cNvSpPr/>
          <p:nvPr/>
        </p:nvSpPr>
        <p:spPr>
          <a:xfrm>
            <a:off x="4160520" y="1911095"/>
            <a:ext cx="822960" cy="822960"/>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jigsaw.png"/>
          <p:cNvPicPr>
            <a:picLocks noChangeAspect="1"/>
          </p:cNvPicPr>
          <p:nvPr/>
        </p:nvPicPr>
        <p:blipFill>
          <a:blip r:embed="rId4"/>
          <a:stretch>
            <a:fillRect/>
          </a:stretch>
        </p:blipFill>
        <p:spPr>
          <a:xfrm>
            <a:off x="4334256" y="2084832"/>
            <a:ext cx="475488" cy="475488"/>
          </a:xfrm>
          <a:prstGeom prst="rect">
            <a:avLst/>
          </a:prstGeom>
          <a:effectLst/>
        </p:spPr>
      </p:pic>
      <p:sp>
        <p:nvSpPr>
          <p:cNvPr id="19" name="TextBox 18"/>
          <p:cNvSpPr txBox="1"/>
          <p:nvPr/>
        </p:nvSpPr>
        <p:spPr>
          <a:xfrm>
            <a:off x="4017873" y="2889504"/>
            <a:ext cx="1108252" cy="786384"/>
          </a:xfrm>
          <a:prstGeom prst="rect">
            <a:avLst/>
          </a:prstGeom>
          <a:noFill/>
          <a:effectLst/>
        </p:spPr>
        <p:txBody>
          <a:bodyPr wrap="square" anchor="t" lIns="0" rIns="0" tIns="0" bIns="0">
            <a:spAutoFit/>
          </a:bodyPr>
          <a:lstStyle/>
          <a:p>
            <a:pPr algn="ctr">
              <a:lnSpc>
                <a:spcPct val="125000"/>
              </a:lnSpc>
              <a:spcAft>
                <a:spcPts val="0"/>
              </a:spcAft>
            </a:pPr>
            <a:r>
              <a:rPr sz="1350" b="1" i="0">
                <a:solidFill>
                  <a:srgbClr val="265C92"/>
                </a:solidFill>
                <a:latin typeface="Libre Caslon Display"/>
              </a:rPr>
              <a:t>Split</a:t>
            </a:r>
            <a:br>
              <a:rPr lang="en-GB"/>
            </a:br>
            <a:r>
              <a:rPr sz="1350" b="1" i="0">
                <a:solidFill>
                  <a:srgbClr val="265C92"/>
                </a:solidFill>
                <a:latin typeface="Libre Caslon Display"/>
              </a:rPr>
              <a:t>Clues</a:t>
            </a:r>
          </a:p>
        </p:txBody>
      </p:sp>
      <p:sp>
        <p:nvSpPr>
          <p:cNvPr id="20" name="Rectangle 19"/>
          <p:cNvSpPr/>
          <p:nvPr/>
        </p:nvSpPr>
        <p:spPr>
          <a:xfrm>
            <a:off x="5491886" y="1335024"/>
            <a:ext cx="1364284" cy="2304288"/>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491886" y="1554480"/>
            <a:ext cx="1364284" cy="256032"/>
          </a:xfrm>
          <a:prstGeom prst="rect">
            <a:avLst/>
          </a:prstGeom>
          <a:noFill/>
          <a:effectLst/>
        </p:spPr>
        <p:txBody>
          <a:bodyPr wrap="square" anchor="t" lIns="0" rIns="0" tIns="0" bIns="0">
            <a:spAutoFit/>
          </a:bodyPr>
          <a:lstStyle/>
          <a:p>
            <a:pPr algn="ctr">
              <a:lnSpc>
                <a:spcPct val="125000"/>
              </a:lnSpc>
              <a:spcAft>
                <a:spcPts val="0"/>
              </a:spcAft>
            </a:pPr>
            <a:r>
              <a:rPr sz="1150" b="1" i="0" spc="140">
                <a:solidFill>
                  <a:srgbClr val="265C92"/>
                </a:solidFill>
                <a:latin typeface="Karla"/>
              </a:rPr>
              <a:t>FOUR</a:t>
            </a:r>
          </a:p>
        </p:txBody>
      </p:sp>
      <p:sp>
        <p:nvSpPr>
          <p:cNvPr id="22" name="Oval 21"/>
          <p:cNvSpPr/>
          <p:nvPr/>
        </p:nvSpPr>
        <p:spPr>
          <a:xfrm>
            <a:off x="5762548" y="1911095"/>
            <a:ext cx="822960" cy="822960"/>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pen.png"/>
          <p:cNvPicPr>
            <a:picLocks noChangeAspect="1"/>
          </p:cNvPicPr>
          <p:nvPr/>
        </p:nvPicPr>
        <p:blipFill>
          <a:blip r:embed="rId5"/>
          <a:stretch>
            <a:fillRect/>
          </a:stretch>
        </p:blipFill>
        <p:spPr>
          <a:xfrm>
            <a:off x="5936284" y="2084832"/>
            <a:ext cx="475488" cy="475488"/>
          </a:xfrm>
          <a:prstGeom prst="rect">
            <a:avLst/>
          </a:prstGeom>
          <a:effectLst/>
        </p:spPr>
      </p:pic>
      <p:sp>
        <p:nvSpPr>
          <p:cNvPr id="24" name="TextBox 23"/>
          <p:cNvSpPr txBox="1"/>
          <p:nvPr/>
        </p:nvSpPr>
        <p:spPr>
          <a:xfrm>
            <a:off x="5619902" y="2889504"/>
            <a:ext cx="1108252" cy="786384"/>
          </a:xfrm>
          <a:prstGeom prst="rect">
            <a:avLst/>
          </a:prstGeom>
          <a:noFill/>
          <a:effectLst/>
        </p:spPr>
        <p:txBody>
          <a:bodyPr wrap="square" anchor="t" lIns="0" rIns="0" tIns="0" bIns="0">
            <a:spAutoFit/>
          </a:bodyPr>
          <a:lstStyle/>
          <a:p>
            <a:pPr algn="ctr">
              <a:lnSpc>
                <a:spcPct val="125000"/>
              </a:lnSpc>
              <a:spcAft>
                <a:spcPts val="0"/>
              </a:spcAft>
            </a:pPr>
            <a:r>
              <a:rPr sz="1350" b="1" i="0">
                <a:solidFill>
                  <a:srgbClr val="265C92"/>
                </a:solidFill>
                <a:latin typeface="Libre Caslon Display"/>
              </a:rPr>
              <a:t>Describe</a:t>
            </a:r>
            <a:br>
              <a:rPr lang="en-GB"/>
            </a:br>
            <a:r>
              <a:rPr sz="1350" b="1" i="0">
                <a:solidFill>
                  <a:srgbClr val="265C92"/>
                </a:solidFill>
                <a:latin typeface="Libre Caslon Display"/>
              </a:rPr>
              <a:t>and Draw</a:t>
            </a:r>
          </a:p>
        </p:txBody>
      </p:sp>
      <p:sp>
        <p:nvSpPr>
          <p:cNvPr id="25" name="Rectangle 24"/>
          <p:cNvSpPr/>
          <p:nvPr/>
        </p:nvSpPr>
        <p:spPr>
          <a:xfrm>
            <a:off x="7093915" y="1335024"/>
            <a:ext cx="1364284" cy="2304288"/>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093915" y="1554480"/>
            <a:ext cx="1364284" cy="256032"/>
          </a:xfrm>
          <a:prstGeom prst="rect">
            <a:avLst/>
          </a:prstGeom>
          <a:noFill/>
          <a:effectLst/>
        </p:spPr>
        <p:txBody>
          <a:bodyPr wrap="square" anchor="t" lIns="0" rIns="0" tIns="0" bIns="0">
            <a:spAutoFit/>
          </a:bodyPr>
          <a:lstStyle/>
          <a:p>
            <a:pPr algn="ctr">
              <a:lnSpc>
                <a:spcPct val="125000"/>
              </a:lnSpc>
              <a:spcAft>
                <a:spcPts val="0"/>
              </a:spcAft>
            </a:pPr>
            <a:r>
              <a:rPr sz="1150" b="1" i="0" spc="140">
                <a:solidFill>
                  <a:srgbClr val="265C92"/>
                </a:solidFill>
                <a:latin typeface="Karla"/>
              </a:rPr>
              <a:t>FIVE</a:t>
            </a:r>
          </a:p>
        </p:txBody>
      </p:sp>
      <p:sp>
        <p:nvSpPr>
          <p:cNvPr id="27" name="Oval 26"/>
          <p:cNvSpPr/>
          <p:nvPr/>
        </p:nvSpPr>
        <p:spPr>
          <a:xfrm>
            <a:off x="7364577" y="1911095"/>
            <a:ext cx="822960" cy="822960"/>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lineup.png"/>
          <p:cNvPicPr>
            <a:picLocks noChangeAspect="1"/>
          </p:cNvPicPr>
          <p:nvPr/>
        </p:nvPicPr>
        <p:blipFill>
          <a:blip r:embed="rId6"/>
          <a:stretch>
            <a:fillRect/>
          </a:stretch>
        </p:blipFill>
        <p:spPr>
          <a:xfrm>
            <a:off x="7538313" y="2084832"/>
            <a:ext cx="475488" cy="475488"/>
          </a:xfrm>
          <a:prstGeom prst="rect">
            <a:avLst/>
          </a:prstGeom>
          <a:effectLst/>
        </p:spPr>
      </p:pic>
      <p:sp>
        <p:nvSpPr>
          <p:cNvPr id="29" name="TextBox 28"/>
          <p:cNvSpPr txBox="1"/>
          <p:nvPr/>
        </p:nvSpPr>
        <p:spPr>
          <a:xfrm>
            <a:off x="7221931" y="2889504"/>
            <a:ext cx="1108252" cy="786384"/>
          </a:xfrm>
          <a:prstGeom prst="rect">
            <a:avLst/>
          </a:prstGeom>
          <a:noFill/>
          <a:effectLst/>
        </p:spPr>
        <p:txBody>
          <a:bodyPr wrap="square" anchor="t" lIns="0" rIns="0" tIns="0" bIns="0">
            <a:spAutoFit/>
          </a:bodyPr>
          <a:lstStyle/>
          <a:p>
            <a:pPr algn="ctr">
              <a:lnSpc>
                <a:spcPct val="125000"/>
              </a:lnSpc>
              <a:spcAft>
                <a:spcPts val="0"/>
              </a:spcAft>
            </a:pPr>
            <a:r>
              <a:rPr sz="1350" b="1" i="0">
                <a:solidFill>
                  <a:srgbClr val="265C92"/>
                </a:solidFill>
                <a:latin typeface="Libre Caslon Display"/>
              </a:rPr>
              <a:t>Silent</a:t>
            </a:r>
            <a:br>
              <a:rPr lang="en-GB"/>
            </a:br>
            <a:r>
              <a:rPr sz="1350" b="1" i="0">
                <a:solidFill>
                  <a:srgbClr val="265C92"/>
                </a:solidFill>
                <a:latin typeface="Libre Caslon Display"/>
              </a:rPr>
              <a:t>Line-Up</a:t>
            </a:r>
          </a:p>
        </p:txBody>
      </p:sp>
      <p:sp>
        <p:nvSpPr>
          <p:cNvPr id="30" name="TextBox 29"/>
          <p:cNvSpPr txBox="1"/>
          <p:nvPr/>
        </p:nvSpPr>
        <p:spPr>
          <a:xfrm>
            <a:off x="685800" y="3858768"/>
            <a:ext cx="7772400" cy="548640"/>
          </a:xfrm>
          <a:prstGeom prst="rect">
            <a:avLst/>
          </a:prstGeom>
          <a:noFill/>
          <a:effectLst/>
        </p:spPr>
        <p:txBody>
          <a:bodyPr wrap="square" anchor="t" lIns="0" rIns="0" tIns="0" bIns="0">
            <a:spAutoFit/>
          </a:bodyPr>
          <a:lstStyle/>
          <a:p>
            <a:pPr algn="ctr">
              <a:lnSpc>
                <a:spcPct val="130000"/>
              </a:lnSpc>
              <a:spcAft>
                <a:spcPts val="0"/>
              </a:spcAft>
            </a:pPr>
            <a:r>
              <a:rPr sz="1350" b="0" i="0">
                <a:solidFill>
                  <a:srgbClr val="5C6552"/>
                </a:solidFill>
                <a:latin typeface="Karla"/>
              </a:rPr>
              <a:t>Every one of them ends by asking what the best team,</a:t>
            </a:r>
          </a:p>
          <a:p>
            <a:pPr algn="ctr">
              <a:lnSpc>
                <a:spcPct val="130000"/>
              </a:lnSpc>
              <a:spcAft>
                <a:spcPts val="0"/>
              </a:spcAft>
            </a:pPr>
            <a:r>
              <a:rPr sz="1350" b="0" i="0">
                <a:solidFill>
                  <a:srgbClr val="5C6552"/>
                </a:solidFill>
                <a:latin typeface="Karla"/>
              </a:rPr>
              <a:t>or the best pair, actually did.</a:t>
            </a:r>
          </a:p>
        </p:txBody>
      </p:sp>
      <p:pic>
        <p:nvPicPr>
          <p:cNvPr id="31" name="Picture 30" descr="logo-mark.png"/>
          <p:cNvPicPr>
            <a:picLocks noChangeAspect="1"/>
          </p:cNvPicPr>
          <p:nvPr/>
        </p:nvPicPr>
        <p:blipFill>
          <a:blip r:embed="rId7"/>
          <a:stretch>
            <a:fillRect/>
          </a:stretch>
        </p:blipFill>
        <p:spPr>
          <a:xfrm>
            <a:off x="384048" y="4727448"/>
            <a:ext cx="158374" cy="182880"/>
          </a:xfrm>
          <a:prstGeom prst="rect">
            <a:avLst/>
          </a:prstGeom>
          <a:effectLst/>
        </p:spPr>
      </p:pic>
      <p:sp>
        <p:nvSpPr>
          <p:cNvPr id="32" name="TextBox 31"/>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33" name="TextBox 32"/>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2 / 35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710555" y="786384"/>
            <a:ext cx="1722888" cy="237744"/>
          </a:xfrm>
          <a:prstGeom prst="roundRect">
            <a:avLst>
              <a:gd name="adj" fmla="val 50000"/>
            </a:avLst>
          </a:prstGeom>
          <a:solidFill>
            <a:srgbClr val="C2D1E0"/>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265C92"/>
                </a:solidFill>
                <a:latin typeface="Karla"/>
              </a:rPr>
              <a:t>CHALLENGE 1 OF 5</a:t>
            </a:r>
          </a:p>
        </p:txBody>
      </p:sp>
      <p:sp>
        <p:nvSpPr>
          <p:cNvPr id="4" name="Oval 3"/>
          <p:cNvSpPr/>
          <p:nvPr/>
        </p:nvSpPr>
        <p:spPr>
          <a:xfrm>
            <a:off x="4178808" y="1234440"/>
            <a:ext cx="786384" cy="786384"/>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raft.png"/>
          <p:cNvPicPr>
            <a:picLocks noChangeAspect="1"/>
          </p:cNvPicPr>
          <p:nvPr/>
        </p:nvPicPr>
        <p:blipFill>
          <a:blip r:embed="rId2"/>
          <a:stretch>
            <a:fillRect/>
          </a:stretch>
        </p:blipFill>
        <p:spPr>
          <a:xfrm>
            <a:off x="4334256" y="1389888"/>
            <a:ext cx="475488" cy="475488"/>
          </a:xfrm>
          <a:prstGeom prst="rect">
            <a:avLst/>
          </a:prstGeom>
          <a:effectLst/>
        </p:spPr>
      </p:pic>
      <p:sp>
        <p:nvSpPr>
          <p:cNvPr id="6" name="TextBox 5"/>
          <p:cNvSpPr txBox="1"/>
          <p:nvPr/>
        </p:nvSpPr>
        <p:spPr>
          <a:xfrm>
            <a:off x="548640" y="2194560"/>
            <a:ext cx="8046720" cy="731520"/>
          </a:xfrm>
          <a:prstGeom prst="rect">
            <a:avLst/>
          </a:prstGeom>
          <a:noFill/>
          <a:effectLst/>
        </p:spPr>
        <p:txBody>
          <a:bodyPr wrap="square" anchor="t" lIns="0" rIns="0" tIns="0" bIns="0">
            <a:spAutoFit/>
          </a:bodyPr>
          <a:lstStyle/>
          <a:p>
            <a:pPr algn="ctr">
              <a:lnSpc>
                <a:spcPct val="105000"/>
              </a:lnSpc>
              <a:spcAft>
                <a:spcPts val="0"/>
              </a:spcAft>
            </a:pPr>
            <a:r>
              <a:rPr sz="4400" b="1" i="0">
                <a:solidFill>
                  <a:srgbClr val="FFFDF7"/>
                </a:solidFill>
                <a:latin typeface="Libre Caslon Display"/>
              </a:rPr>
              <a:t>Lost at Sea</a:t>
            </a:r>
          </a:p>
        </p:txBody>
      </p:sp>
      <p:sp>
        <p:nvSpPr>
          <p:cNvPr id="7" name="Rectangle 6"/>
          <p:cNvSpPr/>
          <p:nvPr/>
        </p:nvSpPr>
        <p:spPr>
          <a:xfrm>
            <a:off x="4114800" y="3054096"/>
            <a:ext cx="914400" cy="18288"/>
          </a:xfrm>
          <a:prstGeom prst="rect">
            <a:avLst/>
          </a:prstGeom>
          <a:solidFill>
            <a:srgbClr val="C2D1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188720" y="3255264"/>
            <a:ext cx="6766560" cy="822960"/>
          </a:xfrm>
          <a:prstGeom prst="rect">
            <a:avLst/>
          </a:prstGeom>
          <a:noFill/>
          <a:effectLst/>
        </p:spPr>
        <p:txBody>
          <a:bodyPr wrap="square" anchor="t" lIns="0" rIns="0" tIns="0" bIns="0">
            <a:spAutoFit/>
          </a:bodyPr>
          <a:lstStyle/>
          <a:p>
            <a:pPr algn="ctr">
              <a:lnSpc>
                <a:spcPct val="130000"/>
              </a:lnSpc>
              <a:spcAft>
                <a:spcPts val="0"/>
              </a:spcAft>
            </a:pPr>
            <a:r>
              <a:rPr sz="1600" b="0" i="0">
                <a:solidFill>
                  <a:srgbClr val="C2D1E0"/>
                </a:solidFill>
                <a:latin typeface="Karla"/>
              </a:rPr>
              <a:t>Rank ten things by how much they would help you survive at sea, first on your own and then as a team.</a:t>
            </a:r>
          </a:p>
        </p:txBody>
      </p:sp>
      <p:pic>
        <p:nvPicPr>
          <p:cNvPr id="9" name="Picture 8" descr="logo-mark.png"/>
          <p:cNvPicPr>
            <a:picLocks noChangeAspect="1"/>
          </p:cNvPicPr>
          <p:nvPr/>
        </p:nvPicPr>
        <p:blipFill>
          <a:blip r:embed="rId3"/>
          <a:stretch>
            <a:fillRect/>
          </a:stretch>
        </p:blipFill>
        <p:spPr>
          <a:xfrm>
            <a:off x="384048" y="4727448"/>
            <a:ext cx="158374" cy="182880"/>
          </a:xfrm>
          <a:prstGeom prst="rect">
            <a:avLst/>
          </a:prstGeom>
          <a:effectLst/>
        </p:spPr>
      </p:pic>
      <p:sp>
        <p:nvSpPr>
          <p:cNvPr id="10" name="TextBox 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C2D1E0"/>
                </a:solidFill>
                <a:latin typeface="Karla"/>
              </a:rPr>
              <a:t>The Pastoral Guide</a:t>
            </a:r>
          </a:p>
        </p:txBody>
      </p:sp>
      <p:sp>
        <p:nvSpPr>
          <p:cNvPr id="11" name="TextBox 1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C2D1E0"/>
                </a:solidFill>
                <a:latin typeface="Karla"/>
              </a:rPr>
              <a:t>3 / 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LOST AT SEA  ·  THE STORY</a:t>
            </a:r>
          </a:p>
        </p:txBody>
      </p:sp>
      <p:sp>
        <p:nvSpPr>
          <p:cNvPr id="4" name="TextBox 3"/>
          <p:cNvSpPr txBox="1"/>
          <p:nvPr/>
        </p:nvSpPr>
        <p:spPr>
          <a:xfrm>
            <a:off x="685800" y="621792"/>
            <a:ext cx="7772400" cy="486918"/>
          </a:xfrm>
          <a:prstGeom prst="rect">
            <a:avLst/>
          </a:prstGeom>
          <a:noFill/>
          <a:effectLst/>
        </p:spPr>
        <p:txBody>
          <a:bodyPr wrap="square" anchor="t" lIns="0" rIns="0" tIns="0" bIns="0">
            <a:spAutoFit/>
          </a:bodyPr>
          <a:lstStyle/>
          <a:p>
            <a:pPr algn="l">
              <a:lnSpc>
                <a:spcPct val="130000"/>
              </a:lnSpc>
              <a:spcAft>
                <a:spcPts val="0"/>
              </a:spcAft>
            </a:pPr>
            <a:r>
              <a:rPr sz="1350" b="0" i="0">
                <a:solidFill>
                  <a:srgbClr val="2E3436"/>
                </a:solidFill>
                <a:latin typeface="Karla"/>
              </a:rPr>
              <a:t>Your sailing boat has sunk. Everyone is in the life raft, which has no roof, no engine and no oars. It is cold, land is days away, and nobody knows where you are.</a:t>
            </a:r>
          </a:p>
        </p:txBody>
      </p:sp>
      <p:sp>
        <p:nvSpPr>
          <p:cNvPr id="5" name="TextBox 4"/>
          <p:cNvSpPr txBox="1"/>
          <p:nvPr/>
        </p:nvSpPr>
        <p:spPr>
          <a:xfrm>
            <a:off x="685800" y="1200150"/>
            <a:ext cx="7772400" cy="429260"/>
          </a:xfrm>
          <a:prstGeom prst="rect">
            <a:avLst/>
          </a:prstGeom>
          <a:noFill/>
          <a:effectLst/>
        </p:spPr>
        <p:txBody>
          <a:bodyPr wrap="square" anchor="t" lIns="0" rIns="0" tIns="0" bIns="0">
            <a:spAutoFit/>
          </a:bodyPr>
          <a:lstStyle/>
          <a:p>
            <a:pPr algn="l">
              <a:lnSpc>
                <a:spcPct val="125000"/>
              </a:lnSpc>
              <a:spcAft>
                <a:spcPts val="0"/>
              </a:spcAft>
            </a:pPr>
            <a:r>
              <a:rPr sz="1300" b="1" i="0">
                <a:solidFill>
                  <a:srgbClr val="265C92"/>
                </a:solidFill>
                <a:latin typeface="Karla"/>
              </a:rPr>
              <a:t>The raft holds the ten things below. Number them from 1, the most useful for getting home safely, to 10, the least useful.</a:t>
            </a:r>
          </a:p>
        </p:txBody>
      </p:sp>
      <p:sp>
        <p:nvSpPr>
          <p:cNvPr id="6" name="Rounded Rectangle 5"/>
          <p:cNvSpPr/>
          <p:nvPr/>
        </p:nvSpPr>
        <p:spPr>
          <a:xfrm>
            <a:off x="685800" y="2066543"/>
            <a:ext cx="3749039" cy="40233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13816" y="2121408"/>
            <a:ext cx="292608" cy="29260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13816" y="2176272"/>
            <a:ext cx="292608"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Karla"/>
              </a:rPr>
              <a:t>A</a:t>
            </a:r>
          </a:p>
        </p:txBody>
      </p:sp>
      <p:sp>
        <p:nvSpPr>
          <p:cNvPr id="9" name="TextBox 8"/>
          <p:cNvSpPr txBox="1"/>
          <p:nvPr/>
        </p:nvSpPr>
        <p:spPr>
          <a:xfrm>
            <a:off x="1234440" y="2167127"/>
            <a:ext cx="3108959" cy="219456"/>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E3436"/>
                </a:solidFill>
                <a:latin typeface="Karla"/>
              </a:rPr>
              <a:t>A large plastic sheet</a:t>
            </a:r>
          </a:p>
        </p:txBody>
      </p:sp>
      <p:sp>
        <p:nvSpPr>
          <p:cNvPr id="10" name="Rounded Rectangle 9"/>
          <p:cNvSpPr/>
          <p:nvPr/>
        </p:nvSpPr>
        <p:spPr>
          <a:xfrm>
            <a:off x="685800" y="2542032"/>
            <a:ext cx="3749039" cy="40233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813816" y="2596896"/>
            <a:ext cx="292608" cy="29260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3816" y="2651760"/>
            <a:ext cx="292608"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Karla"/>
              </a:rPr>
              <a:t>B</a:t>
            </a:r>
          </a:p>
        </p:txBody>
      </p:sp>
      <p:sp>
        <p:nvSpPr>
          <p:cNvPr id="13" name="TextBox 12"/>
          <p:cNvSpPr txBox="1"/>
          <p:nvPr/>
        </p:nvSpPr>
        <p:spPr>
          <a:xfrm>
            <a:off x="1234440" y="2642615"/>
            <a:ext cx="3108959" cy="219456"/>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E3436"/>
                </a:solidFill>
                <a:latin typeface="Karla"/>
              </a:rPr>
              <a:t>A pack of cards</a:t>
            </a:r>
          </a:p>
        </p:txBody>
      </p:sp>
      <p:sp>
        <p:nvSpPr>
          <p:cNvPr id="14" name="Rounded Rectangle 13"/>
          <p:cNvSpPr/>
          <p:nvPr/>
        </p:nvSpPr>
        <p:spPr>
          <a:xfrm>
            <a:off x="685800" y="3017520"/>
            <a:ext cx="3749039" cy="40233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813816" y="3072384"/>
            <a:ext cx="292608" cy="29260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13816" y="3127248"/>
            <a:ext cx="292608"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Karla"/>
              </a:rPr>
              <a:t>C</a:t>
            </a:r>
          </a:p>
        </p:txBody>
      </p:sp>
      <p:sp>
        <p:nvSpPr>
          <p:cNvPr id="17" name="TextBox 16"/>
          <p:cNvSpPr txBox="1"/>
          <p:nvPr/>
        </p:nvSpPr>
        <p:spPr>
          <a:xfrm>
            <a:off x="1234440" y="3118103"/>
            <a:ext cx="3108959" cy="219456"/>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E3436"/>
                </a:solidFill>
                <a:latin typeface="Karla"/>
              </a:rPr>
              <a:t>Dry, warm clothes for everyone</a:t>
            </a:r>
          </a:p>
        </p:txBody>
      </p:sp>
      <p:sp>
        <p:nvSpPr>
          <p:cNvPr id="18" name="Rounded Rectangle 17"/>
          <p:cNvSpPr/>
          <p:nvPr/>
        </p:nvSpPr>
        <p:spPr>
          <a:xfrm>
            <a:off x="685800" y="3493008"/>
            <a:ext cx="3749039" cy="40233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813816" y="3547872"/>
            <a:ext cx="292608" cy="29260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13816" y="3602736"/>
            <a:ext cx="292608"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Karla"/>
              </a:rPr>
              <a:t>D</a:t>
            </a:r>
          </a:p>
        </p:txBody>
      </p:sp>
      <p:sp>
        <p:nvSpPr>
          <p:cNvPr id="21" name="TextBox 20"/>
          <p:cNvSpPr txBox="1"/>
          <p:nvPr/>
        </p:nvSpPr>
        <p:spPr>
          <a:xfrm>
            <a:off x="1234440" y="3593591"/>
            <a:ext cx="3108959" cy="219456"/>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E3436"/>
                </a:solidFill>
                <a:latin typeface="Karla"/>
              </a:rPr>
              <a:t>A bar of chocolate each</a:t>
            </a:r>
          </a:p>
        </p:txBody>
      </p:sp>
      <p:sp>
        <p:nvSpPr>
          <p:cNvPr id="22" name="Rounded Rectangle 21"/>
          <p:cNvSpPr/>
          <p:nvPr/>
        </p:nvSpPr>
        <p:spPr>
          <a:xfrm>
            <a:off x="685800" y="3968496"/>
            <a:ext cx="3749039" cy="40233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813816" y="4023359"/>
            <a:ext cx="292608" cy="29260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3816" y="4078224"/>
            <a:ext cx="292608"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Karla"/>
              </a:rPr>
              <a:t>E</a:t>
            </a:r>
          </a:p>
        </p:txBody>
      </p:sp>
      <p:sp>
        <p:nvSpPr>
          <p:cNvPr id="25" name="TextBox 24"/>
          <p:cNvSpPr txBox="1"/>
          <p:nvPr/>
        </p:nvSpPr>
        <p:spPr>
          <a:xfrm>
            <a:off x="1234440" y="4069080"/>
            <a:ext cx="3108959" cy="219456"/>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E3436"/>
                </a:solidFill>
                <a:latin typeface="Karla"/>
              </a:rPr>
              <a:t>A small mirror</a:t>
            </a:r>
          </a:p>
        </p:txBody>
      </p:sp>
      <p:sp>
        <p:nvSpPr>
          <p:cNvPr id="26" name="Rounded Rectangle 25"/>
          <p:cNvSpPr/>
          <p:nvPr/>
        </p:nvSpPr>
        <p:spPr>
          <a:xfrm>
            <a:off x="4709159" y="2066543"/>
            <a:ext cx="3749039" cy="40233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4837175" y="2121408"/>
            <a:ext cx="292608" cy="29260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4837175" y="2176272"/>
            <a:ext cx="292608"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Karla"/>
              </a:rPr>
              <a:t>F</a:t>
            </a:r>
          </a:p>
        </p:txBody>
      </p:sp>
      <p:sp>
        <p:nvSpPr>
          <p:cNvPr id="29" name="TextBox 28"/>
          <p:cNvSpPr txBox="1"/>
          <p:nvPr/>
        </p:nvSpPr>
        <p:spPr>
          <a:xfrm>
            <a:off x="5257799" y="2167127"/>
            <a:ext cx="3108959" cy="219456"/>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E3436"/>
                </a:solidFill>
                <a:latin typeface="Karla"/>
              </a:rPr>
              <a:t>A map of the ocean</a:t>
            </a:r>
          </a:p>
        </p:txBody>
      </p:sp>
      <p:sp>
        <p:nvSpPr>
          <p:cNvPr id="30" name="Rounded Rectangle 29"/>
          <p:cNvSpPr/>
          <p:nvPr/>
        </p:nvSpPr>
        <p:spPr>
          <a:xfrm>
            <a:off x="4709159" y="2542032"/>
            <a:ext cx="3749039" cy="40233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Oval 30"/>
          <p:cNvSpPr/>
          <p:nvPr/>
        </p:nvSpPr>
        <p:spPr>
          <a:xfrm>
            <a:off x="4837175" y="2596896"/>
            <a:ext cx="292608" cy="29260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37175" y="2651760"/>
            <a:ext cx="292608"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Karla"/>
              </a:rPr>
              <a:t>G</a:t>
            </a:r>
          </a:p>
        </p:txBody>
      </p:sp>
      <p:sp>
        <p:nvSpPr>
          <p:cNvPr id="33" name="TextBox 32"/>
          <p:cNvSpPr txBox="1"/>
          <p:nvPr/>
        </p:nvSpPr>
        <p:spPr>
          <a:xfrm>
            <a:off x="5257799" y="2642615"/>
            <a:ext cx="3108959" cy="219456"/>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E3436"/>
                </a:solidFill>
                <a:latin typeface="Karla"/>
              </a:rPr>
              <a:t>Three distress flares</a:t>
            </a:r>
          </a:p>
        </p:txBody>
      </p:sp>
      <p:sp>
        <p:nvSpPr>
          <p:cNvPr id="34" name="Rounded Rectangle 33"/>
          <p:cNvSpPr/>
          <p:nvPr/>
        </p:nvSpPr>
        <p:spPr>
          <a:xfrm>
            <a:off x="4709159" y="3017520"/>
            <a:ext cx="3749039" cy="40233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val 34"/>
          <p:cNvSpPr/>
          <p:nvPr/>
        </p:nvSpPr>
        <p:spPr>
          <a:xfrm>
            <a:off x="4837175" y="3072384"/>
            <a:ext cx="292608" cy="29260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4837175" y="3127248"/>
            <a:ext cx="292608"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Karla"/>
              </a:rPr>
              <a:t>H</a:t>
            </a:r>
          </a:p>
        </p:txBody>
      </p:sp>
      <p:sp>
        <p:nvSpPr>
          <p:cNvPr id="37" name="TextBox 36"/>
          <p:cNvSpPr txBox="1"/>
          <p:nvPr/>
        </p:nvSpPr>
        <p:spPr>
          <a:xfrm>
            <a:off x="5257799" y="3118103"/>
            <a:ext cx="3108959" cy="219456"/>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E3436"/>
                </a:solidFill>
                <a:latin typeface="Karla"/>
              </a:rPr>
              <a:t>A torch</a:t>
            </a:r>
          </a:p>
        </p:txBody>
      </p:sp>
      <p:sp>
        <p:nvSpPr>
          <p:cNvPr id="38" name="Rounded Rectangle 37"/>
          <p:cNvSpPr/>
          <p:nvPr/>
        </p:nvSpPr>
        <p:spPr>
          <a:xfrm>
            <a:off x="4709159" y="3493008"/>
            <a:ext cx="3749039" cy="40233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4837175" y="3547872"/>
            <a:ext cx="292608" cy="29260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4837175" y="3602736"/>
            <a:ext cx="292608"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Karla"/>
              </a:rPr>
              <a:t>I</a:t>
            </a:r>
          </a:p>
        </p:txBody>
      </p:sp>
      <p:sp>
        <p:nvSpPr>
          <p:cNvPr id="41" name="TextBox 40"/>
          <p:cNvSpPr txBox="1"/>
          <p:nvPr/>
        </p:nvSpPr>
        <p:spPr>
          <a:xfrm>
            <a:off x="5257799" y="3593591"/>
            <a:ext cx="3108959" cy="219456"/>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E3436"/>
                </a:solidFill>
                <a:latin typeface="Karla"/>
              </a:rPr>
              <a:t>A fishing line and hooks</a:t>
            </a:r>
          </a:p>
        </p:txBody>
      </p:sp>
      <p:sp>
        <p:nvSpPr>
          <p:cNvPr id="42" name="Rounded Rectangle 41"/>
          <p:cNvSpPr/>
          <p:nvPr/>
        </p:nvSpPr>
        <p:spPr>
          <a:xfrm>
            <a:off x="4709159" y="3968496"/>
            <a:ext cx="3749039" cy="40233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Oval 42"/>
          <p:cNvSpPr/>
          <p:nvPr/>
        </p:nvSpPr>
        <p:spPr>
          <a:xfrm>
            <a:off x="4837175" y="4023359"/>
            <a:ext cx="292608" cy="292608"/>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4837175" y="4078224"/>
            <a:ext cx="292608"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Karla"/>
              </a:rPr>
              <a:t>J</a:t>
            </a:r>
          </a:p>
        </p:txBody>
      </p:sp>
      <p:sp>
        <p:nvSpPr>
          <p:cNvPr id="45" name="TextBox 44"/>
          <p:cNvSpPr txBox="1"/>
          <p:nvPr/>
        </p:nvSpPr>
        <p:spPr>
          <a:xfrm>
            <a:off x="5257799" y="4069080"/>
            <a:ext cx="3108959" cy="219456"/>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E3436"/>
                </a:solidFill>
                <a:latin typeface="Karla"/>
              </a:rPr>
              <a:t>Ten litres of drinking water</a:t>
            </a:r>
          </a:p>
        </p:txBody>
      </p:sp>
      <p:pic>
        <p:nvPicPr>
          <p:cNvPr id="46" name="Picture 45"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47" name="TextBox 46"/>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48" name="TextBox 47"/>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4 / 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LOST AT SEA  ·  STEP ONE</a:t>
            </a:r>
          </a:p>
        </p:txBody>
      </p:sp>
      <p:sp>
        <p:nvSpPr>
          <p:cNvPr id="4" name="Rounded Rectangle 3"/>
          <p:cNvSpPr/>
          <p:nvPr/>
        </p:nvSpPr>
        <p:spPr>
          <a:xfrm>
            <a:off x="685800" y="640080"/>
            <a:ext cx="1402042" cy="237744"/>
          </a:xfrm>
          <a:prstGeom prst="roundRect">
            <a:avLst>
              <a:gd name="adj" fmla="val 50000"/>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265C92"/>
                </a:solidFill>
                <a:latin typeface="Karla"/>
              </a:rPr>
              <a:t>ON YOUR OWN</a:t>
            </a:r>
          </a:p>
        </p:txBody>
      </p:sp>
      <p:sp>
        <p:nvSpPr>
          <p:cNvPr id="5" name="TextBox 4"/>
          <p:cNvSpPr txBox="1"/>
          <p:nvPr/>
        </p:nvSpPr>
        <p:spPr>
          <a:xfrm>
            <a:off x="685800" y="969264"/>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Your own answer first</a:t>
            </a:r>
          </a:p>
        </p:txBody>
      </p:sp>
      <p:sp>
        <p:nvSpPr>
          <p:cNvPr id="6" name="Rounded Rectangle 5"/>
          <p:cNvSpPr/>
          <p:nvPr/>
        </p:nvSpPr>
        <p:spPr>
          <a:xfrm>
            <a:off x="685800" y="1682496"/>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682496"/>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96112" y="1862804"/>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6112" y="1963388"/>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a:t>
            </a:r>
          </a:p>
        </p:txBody>
      </p:sp>
      <p:sp>
        <p:nvSpPr>
          <p:cNvPr id="10" name="TextBox 9"/>
          <p:cNvSpPr txBox="1"/>
          <p:nvPr/>
        </p:nvSpPr>
        <p:spPr>
          <a:xfrm>
            <a:off x="1472184" y="1801368"/>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Rank all ten</a:t>
            </a:r>
          </a:p>
        </p:txBody>
      </p:sp>
      <p:sp>
        <p:nvSpPr>
          <p:cNvPr id="11" name="TextBox 10"/>
          <p:cNvSpPr txBox="1"/>
          <p:nvPr/>
        </p:nvSpPr>
        <p:spPr>
          <a:xfrm>
            <a:off x="1472184" y="2130552"/>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1 is the most useful and 10 the least. Use every number once.</a:t>
            </a:r>
          </a:p>
        </p:txBody>
      </p:sp>
      <p:sp>
        <p:nvSpPr>
          <p:cNvPr id="12" name="Rounded Rectangle 11"/>
          <p:cNvSpPr/>
          <p:nvPr/>
        </p:nvSpPr>
        <p:spPr>
          <a:xfrm>
            <a:off x="685800" y="2610040"/>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85800" y="2610040"/>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896112" y="2790348"/>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890932"/>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2</a:t>
            </a:r>
          </a:p>
        </p:txBody>
      </p:sp>
      <p:sp>
        <p:nvSpPr>
          <p:cNvPr id="16" name="TextBox 15"/>
          <p:cNvSpPr txBox="1"/>
          <p:nvPr/>
        </p:nvSpPr>
        <p:spPr>
          <a:xfrm>
            <a:off x="1472184" y="2728912"/>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Write them in the Me column</a:t>
            </a:r>
          </a:p>
        </p:txBody>
      </p:sp>
      <p:sp>
        <p:nvSpPr>
          <p:cNvPr id="17" name="TextBox 16"/>
          <p:cNvSpPr txBox="1"/>
          <p:nvPr/>
        </p:nvSpPr>
        <p:spPr>
          <a:xfrm>
            <a:off x="1472184" y="3058096"/>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Write your numbers on your sheet, beside each letter.</a:t>
            </a:r>
          </a:p>
        </p:txBody>
      </p:sp>
      <p:sp>
        <p:nvSpPr>
          <p:cNvPr id="18" name="Rounded Rectangle 17"/>
          <p:cNvSpPr/>
          <p:nvPr/>
        </p:nvSpPr>
        <p:spPr>
          <a:xfrm>
            <a:off x="685800" y="3537585"/>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85800" y="3537585"/>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896112" y="3717893"/>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96112" y="3818477"/>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3</a:t>
            </a:r>
          </a:p>
        </p:txBody>
      </p:sp>
      <p:sp>
        <p:nvSpPr>
          <p:cNvPr id="22" name="TextBox 21"/>
          <p:cNvSpPr txBox="1"/>
          <p:nvPr/>
        </p:nvSpPr>
        <p:spPr>
          <a:xfrm>
            <a:off x="1472184" y="3656457"/>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No talking yet</a:t>
            </a:r>
          </a:p>
        </p:txBody>
      </p:sp>
      <p:sp>
        <p:nvSpPr>
          <p:cNvPr id="23" name="TextBox 22"/>
          <p:cNvSpPr txBox="1"/>
          <p:nvPr/>
        </p:nvSpPr>
        <p:spPr>
          <a:xfrm>
            <a:off x="1472184" y="3985641"/>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This is your answer, before you hear anybody else’s.</a:t>
            </a:r>
          </a:p>
        </p:txBody>
      </p:sp>
      <p:pic>
        <p:nvPicPr>
          <p:cNvPr id="24" name="Picture 23"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5" name="TextBox 24"/>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6" name="TextBox 25"/>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5 /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LOST AT SEA  ·  STEP TWO</a:t>
            </a:r>
          </a:p>
        </p:txBody>
      </p:sp>
      <p:sp>
        <p:nvSpPr>
          <p:cNvPr id="4" name="Rounded Rectangle 3"/>
          <p:cNvSpPr/>
          <p:nvPr/>
        </p:nvSpPr>
        <p:spPr>
          <a:xfrm>
            <a:off x="685800" y="640080"/>
            <a:ext cx="1120768" cy="237744"/>
          </a:xfrm>
          <a:prstGeom prst="roundRect">
            <a:avLst>
              <a:gd name="adj" fmla="val 50000"/>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265C92"/>
                </a:solidFill>
                <a:latin typeface="Karla"/>
              </a:rPr>
              <a:t>AS A TEAM</a:t>
            </a:r>
          </a:p>
        </p:txBody>
      </p:sp>
      <p:sp>
        <p:nvSpPr>
          <p:cNvPr id="5" name="TextBox 4"/>
          <p:cNvSpPr txBox="1"/>
          <p:nvPr/>
        </p:nvSpPr>
        <p:spPr>
          <a:xfrm>
            <a:off x="685800" y="969264"/>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Now agree one order</a:t>
            </a:r>
          </a:p>
        </p:txBody>
      </p:sp>
      <p:sp>
        <p:nvSpPr>
          <p:cNvPr id="6" name="Rounded Rectangle 5"/>
          <p:cNvSpPr/>
          <p:nvPr/>
        </p:nvSpPr>
        <p:spPr>
          <a:xfrm>
            <a:off x="685800" y="1682496"/>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682496"/>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96112" y="1862804"/>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6112" y="1963388"/>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a:t>
            </a:r>
          </a:p>
        </p:txBody>
      </p:sp>
      <p:sp>
        <p:nvSpPr>
          <p:cNvPr id="10" name="TextBox 9"/>
          <p:cNvSpPr txBox="1"/>
          <p:nvPr/>
        </p:nvSpPr>
        <p:spPr>
          <a:xfrm>
            <a:off x="1472184" y="1801368"/>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Talk it through</a:t>
            </a:r>
          </a:p>
        </p:txBody>
      </p:sp>
      <p:sp>
        <p:nvSpPr>
          <p:cNvPr id="11" name="TextBox 10"/>
          <p:cNvSpPr txBox="1"/>
          <p:nvPr/>
        </p:nvSpPr>
        <p:spPr>
          <a:xfrm>
            <a:off x="1472184" y="2130552"/>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Keep going until the whole team can live with the order.</a:t>
            </a:r>
          </a:p>
        </p:txBody>
      </p:sp>
      <p:sp>
        <p:nvSpPr>
          <p:cNvPr id="12" name="Rounded Rectangle 11"/>
          <p:cNvSpPr/>
          <p:nvPr/>
        </p:nvSpPr>
        <p:spPr>
          <a:xfrm>
            <a:off x="685800" y="2610040"/>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85800" y="2610040"/>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896112" y="2790348"/>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890932"/>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2</a:t>
            </a:r>
          </a:p>
        </p:txBody>
      </p:sp>
      <p:sp>
        <p:nvSpPr>
          <p:cNvPr id="16" name="TextBox 15"/>
          <p:cNvSpPr txBox="1"/>
          <p:nvPr/>
        </p:nvSpPr>
        <p:spPr>
          <a:xfrm>
            <a:off x="1472184" y="2728912"/>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Write it in the Team column</a:t>
            </a:r>
          </a:p>
        </p:txBody>
      </p:sp>
      <p:sp>
        <p:nvSpPr>
          <p:cNvPr id="17" name="TextBox 16"/>
          <p:cNvSpPr txBox="1"/>
          <p:nvPr/>
        </p:nvSpPr>
        <p:spPr>
          <a:xfrm>
            <a:off x="1472184" y="3058096"/>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Leave your own column as it is.</a:t>
            </a:r>
          </a:p>
        </p:txBody>
      </p:sp>
      <p:sp>
        <p:nvSpPr>
          <p:cNvPr id="18" name="Rounded Rectangle 17"/>
          <p:cNvSpPr/>
          <p:nvPr/>
        </p:nvSpPr>
        <p:spPr>
          <a:xfrm>
            <a:off x="685800" y="3537585"/>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85800" y="3537585"/>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896112" y="3717893"/>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96112" y="3818477"/>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3</a:t>
            </a:r>
          </a:p>
        </p:txBody>
      </p:sp>
      <p:sp>
        <p:nvSpPr>
          <p:cNvPr id="22" name="TextBox 21"/>
          <p:cNvSpPr txBox="1"/>
          <p:nvPr/>
        </p:nvSpPr>
        <p:spPr>
          <a:xfrm>
            <a:off x="1472184" y="3656457"/>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No voting</a:t>
            </a:r>
          </a:p>
        </p:txBody>
      </p:sp>
      <p:sp>
        <p:nvSpPr>
          <p:cNvPr id="23" name="TextBox 22"/>
          <p:cNvSpPr txBox="1"/>
          <p:nvPr/>
        </p:nvSpPr>
        <p:spPr>
          <a:xfrm>
            <a:off x="1472184" y="3985641"/>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Try to get there by talking, not by counting hands.</a:t>
            </a:r>
          </a:p>
        </p:txBody>
      </p:sp>
      <p:pic>
        <p:nvPicPr>
          <p:cNvPr id="24" name="Picture 23"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5" name="TextBox 24"/>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6" name="TextBox 25"/>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6 / 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LOST AT SEA  ·  THE ANSWER</a:t>
            </a:r>
          </a:p>
        </p:txBody>
      </p:sp>
      <p:sp>
        <p:nvSpPr>
          <p:cNvPr id="4" name="TextBox 3"/>
          <p:cNvSpPr txBox="1"/>
          <p:nvPr/>
        </p:nvSpPr>
        <p:spPr>
          <a:xfrm>
            <a:off x="685800" y="603504"/>
            <a:ext cx="7772400" cy="434848"/>
          </a:xfrm>
          <a:prstGeom prst="rect">
            <a:avLst/>
          </a:prstGeom>
          <a:noFill/>
          <a:effectLst/>
        </p:spPr>
        <p:txBody>
          <a:bodyPr wrap="square" anchor="t" lIns="0" rIns="0" tIns="0" bIns="0">
            <a:spAutoFit/>
          </a:bodyPr>
          <a:lstStyle/>
          <a:p>
            <a:pPr algn="l">
              <a:lnSpc>
                <a:spcPct val="105000"/>
              </a:lnSpc>
              <a:spcAft>
                <a:spcPts val="0"/>
              </a:spcAft>
            </a:pPr>
            <a:r>
              <a:rPr sz="2800" b="1" i="0">
                <a:solidFill>
                  <a:srgbClr val="265C92"/>
                </a:solidFill>
                <a:latin typeface="Libre Caslon Display"/>
              </a:rPr>
              <a:t>The answer, 1 to 5</a:t>
            </a:r>
          </a:p>
        </p:txBody>
      </p:sp>
      <p:sp>
        <p:nvSpPr>
          <p:cNvPr id="5" name="Rounded Rectangle 4"/>
          <p:cNvSpPr/>
          <p:nvPr/>
        </p:nvSpPr>
        <p:spPr>
          <a:xfrm>
            <a:off x="685800" y="1133856"/>
            <a:ext cx="7772400" cy="6035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85800" y="1133856"/>
            <a:ext cx="54864" cy="603504"/>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86968" y="1234440"/>
            <a:ext cx="402336" cy="402336"/>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86968" y="1325880"/>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a:t>
            </a:r>
          </a:p>
        </p:txBody>
      </p:sp>
      <p:sp>
        <p:nvSpPr>
          <p:cNvPr id="9" name="TextBox 8"/>
          <p:cNvSpPr txBox="1"/>
          <p:nvPr/>
        </p:nvSpPr>
        <p:spPr>
          <a:xfrm>
            <a:off x="1453895" y="1229233"/>
            <a:ext cx="2697480" cy="412750"/>
          </a:xfrm>
          <a:prstGeom prst="rect">
            <a:avLst/>
          </a:prstGeom>
          <a:noFill/>
          <a:effectLst/>
        </p:spPr>
        <p:txBody>
          <a:bodyPr wrap="square" anchor="t" lIns="0" rIns="0" tIns="0" bIns="0">
            <a:spAutoFit/>
          </a:bodyPr>
          <a:lstStyle/>
          <a:p>
            <a:pPr algn="l">
              <a:lnSpc>
                <a:spcPct val="108000"/>
              </a:lnSpc>
              <a:spcAft>
                <a:spcPts val="0"/>
              </a:spcAft>
            </a:pPr>
            <a:r>
              <a:rPr sz="1300" b="1" i="0">
                <a:solidFill>
                  <a:srgbClr val="265C92"/>
                </a:solidFill>
                <a:latin typeface="Libre Caslon Display"/>
              </a:rPr>
              <a:t>Dry, warm clothes for everyone (C)</a:t>
            </a:r>
          </a:p>
        </p:txBody>
      </p:sp>
      <p:sp>
        <p:nvSpPr>
          <p:cNvPr id="10" name="TextBox 9"/>
          <p:cNvSpPr txBox="1"/>
          <p:nvPr/>
        </p:nvSpPr>
        <p:spPr>
          <a:xfrm>
            <a:off x="4334256" y="1253045"/>
            <a:ext cx="3904487" cy="365125"/>
          </a:xfrm>
          <a:prstGeom prst="rect">
            <a:avLst/>
          </a:prstGeom>
          <a:noFill/>
          <a:effectLst/>
        </p:spPr>
        <p:txBody>
          <a:bodyPr wrap="square" anchor="t" lIns="0" rIns="0" tIns="0" bIns="0">
            <a:spAutoFit/>
          </a:bodyPr>
          <a:lstStyle/>
          <a:p>
            <a:pPr algn="l">
              <a:lnSpc>
                <a:spcPct val="118000"/>
              </a:lnSpc>
              <a:spcAft>
                <a:spcPts val="0"/>
              </a:spcAft>
            </a:pPr>
            <a:r>
              <a:rPr sz="1150" b="0" i="0">
                <a:solidFill>
                  <a:srgbClr val="5C6552"/>
                </a:solidFill>
                <a:latin typeface="Karla"/>
              </a:rPr>
              <a:t>Cold is the biggest danger at sea, so keeping warm comes first.</a:t>
            </a:r>
          </a:p>
        </p:txBody>
      </p:sp>
      <p:sp>
        <p:nvSpPr>
          <p:cNvPr id="11" name="Rounded Rectangle 10"/>
          <p:cNvSpPr/>
          <p:nvPr/>
        </p:nvSpPr>
        <p:spPr>
          <a:xfrm>
            <a:off x="685800" y="1810512"/>
            <a:ext cx="7772400" cy="6035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1810512"/>
            <a:ext cx="54864" cy="603504"/>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86968" y="1911095"/>
            <a:ext cx="402336" cy="402336"/>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86968" y="2002536"/>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2</a:t>
            </a:r>
          </a:p>
        </p:txBody>
      </p:sp>
      <p:sp>
        <p:nvSpPr>
          <p:cNvPr id="15" name="TextBox 14"/>
          <p:cNvSpPr txBox="1"/>
          <p:nvPr/>
        </p:nvSpPr>
        <p:spPr>
          <a:xfrm>
            <a:off x="1453895" y="2009076"/>
            <a:ext cx="2697480" cy="206375"/>
          </a:xfrm>
          <a:prstGeom prst="rect">
            <a:avLst/>
          </a:prstGeom>
          <a:noFill/>
          <a:effectLst/>
        </p:spPr>
        <p:txBody>
          <a:bodyPr wrap="square" anchor="t" lIns="0" rIns="0" tIns="0" bIns="0">
            <a:spAutoFit/>
          </a:bodyPr>
          <a:lstStyle/>
          <a:p>
            <a:pPr algn="l">
              <a:lnSpc>
                <a:spcPct val="108000"/>
              </a:lnSpc>
              <a:spcAft>
                <a:spcPts val="0"/>
              </a:spcAft>
            </a:pPr>
            <a:r>
              <a:rPr sz="1300" b="1" i="0">
                <a:solidFill>
                  <a:srgbClr val="265C92"/>
                </a:solidFill>
                <a:latin typeface="Libre Caslon Display"/>
              </a:rPr>
              <a:t>Three distress flares (G)</a:t>
            </a:r>
          </a:p>
        </p:txBody>
      </p:sp>
      <p:sp>
        <p:nvSpPr>
          <p:cNvPr id="16" name="TextBox 15"/>
          <p:cNvSpPr txBox="1"/>
          <p:nvPr/>
        </p:nvSpPr>
        <p:spPr>
          <a:xfrm>
            <a:off x="4334256" y="1929701"/>
            <a:ext cx="3904487" cy="365125"/>
          </a:xfrm>
          <a:prstGeom prst="rect">
            <a:avLst/>
          </a:prstGeom>
          <a:noFill/>
          <a:effectLst/>
        </p:spPr>
        <p:txBody>
          <a:bodyPr wrap="square" anchor="t" lIns="0" rIns="0" tIns="0" bIns="0">
            <a:spAutoFit/>
          </a:bodyPr>
          <a:lstStyle/>
          <a:p>
            <a:pPr algn="l">
              <a:lnSpc>
                <a:spcPct val="118000"/>
              </a:lnSpc>
              <a:spcAft>
                <a:spcPts val="0"/>
              </a:spcAft>
            </a:pPr>
            <a:r>
              <a:rPr sz="1150" b="0" i="0">
                <a:solidFill>
                  <a:srgbClr val="5C6552"/>
                </a:solidFill>
                <a:latin typeface="Karla"/>
              </a:rPr>
              <a:t>Fire one straight away. Keep the other two for when you can see a boat or a plane.</a:t>
            </a:r>
          </a:p>
        </p:txBody>
      </p:sp>
      <p:sp>
        <p:nvSpPr>
          <p:cNvPr id="17" name="Rounded Rectangle 16"/>
          <p:cNvSpPr/>
          <p:nvPr/>
        </p:nvSpPr>
        <p:spPr>
          <a:xfrm>
            <a:off x="685800" y="2487168"/>
            <a:ext cx="7772400" cy="6035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85800" y="2487168"/>
            <a:ext cx="54864" cy="603504"/>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886968" y="2587751"/>
            <a:ext cx="402336" cy="402336"/>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86968" y="2679191"/>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3</a:t>
            </a:r>
          </a:p>
        </p:txBody>
      </p:sp>
      <p:sp>
        <p:nvSpPr>
          <p:cNvPr id="21" name="TextBox 20"/>
          <p:cNvSpPr txBox="1"/>
          <p:nvPr/>
        </p:nvSpPr>
        <p:spPr>
          <a:xfrm>
            <a:off x="1453895" y="2685732"/>
            <a:ext cx="2697480" cy="206375"/>
          </a:xfrm>
          <a:prstGeom prst="rect">
            <a:avLst/>
          </a:prstGeom>
          <a:noFill/>
          <a:effectLst/>
        </p:spPr>
        <p:txBody>
          <a:bodyPr wrap="square" anchor="t" lIns="0" rIns="0" tIns="0" bIns="0">
            <a:spAutoFit/>
          </a:bodyPr>
          <a:lstStyle/>
          <a:p>
            <a:pPr algn="l">
              <a:lnSpc>
                <a:spcPct val="108000"/>
              </a:lnSpc>
              <a:spcAft>
                <a:spcPts val="0"/>
              </a:spcAft>
            </a:pPr>
            <a:r>
              <a:rPr sz="1300" b="1" i="0">
                <a:solidFill>
                  <a:srgbClr val="265C92"/>
                </a:solidFill>
                <a:latin typeface="Libre Caslon Display"/>
              </a:rPr>
              <a:t>A small mirror (E)</a:t>
            </a:r>
          </a:p>
        </p:txBody>
      </p:sp>
      <p:sp>
        <p:nvSpPr>
          <p:cNvPr id="22" name="TextBox 21"/>
          <p:cNvSpPr txBox="1"/>
          <p:nvPr/>
        </p:nvSpPr>
        <p:spPr>
          <a:xfrm>
            <a:off x="4334256" y="2606357"/>
            <a:ext cx="3904487" cy="365125"/>
          </a:xfrm>
          <a:prstGeom prst="rect">
            <a:avLst/>
          </a:prstGeom>
          <a:noFill/>
          <a:effectLst/>
        </p:spPr>
        <p:txBody>
          <a:bodyPr wrap="square" anchor="t" lIns="0" rIns="0" tIns="0" bIns="0">
            <a:spAutoFit/>
          </a:bodyPr>
          <a:lstStyle/>
          <a:p>
            <a:pPr algn="l">
              <a:lnSpc>
                <a:spcPct val="118000"/>
              </a:lnSpc>
              <a:spcAft>
                <a:spcPts val="0"/>
              </a:spcAft>
            </a:pPr>
            <a:r>
              <a:rPr sz="1150" b="0" i="0">
                <a:solidFill>
                  <a:srgbClr val="5C6552"/>
                </a:solidFill>
                <a:latin typeface="Karla"/>
              </a:rPr>
              <a:t>On a sunny day its flash can be seen from miles away, and it never runs out.</a:t>
            </a:r>
          </a:p>
        </p:txBody>
      </p:sp>
      <p:sp>
        <p:nvSpPr>
          <p:cNvPr id="23" name="Rounded Rectangle 22"/>
          <p:cNvSpPr/>
          <p:nvPr/>
        </p:nvSpPr>
        <p:spPr>
          <a:xfrm>
            <a:off x="685800" y="3163824"/>
            <a:ext cx="7772400" cy="6035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685800" y="3163824"/>
            <a:ext cx="54864" cy="603504"/>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val 24"/>
          <p:cNvSpPr/>
          <p:nvPr/>
        </p:nvSpPr>
        <p:spPr>
          <a:xfrm>
            <a:off x="886968" y="3264408"/>
            <a:ext cx="402336" cy="402336"/>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86968" y="3355848"/>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4</a:t>
            </a:r>
          </a:p>
        </p:txBody>
      </p:sp>
      <p:sp>
        <p:nvSpPr>
          <p:cNvPr id="27" name="TextBox 26"/>
          <p:cNvSpPr txBox="1"/>
          <p:nvPr/>
        </p:nvSpPr>
        <p:spPr>
          <a:xfrm>
            <a:off x="1453895" y="3259201"/>
            <a:ext cx="2697480" cy="412750"/>
          </a:xfrm>
          <a:prstGeom prst="rect">
            <a:avLst/>
          </a:prstGeom>
          <a:noFill/>
          <a:effectLst/>
        </p:spPr>
        <p:txBody>
          <a:bodyPr wrap="square" anchor="t" lIns="0" rIns="0" tIns="0" bIns="0">
            <a:spAutoFit/>
          </a:bodyPr>
          <a:lstStyle/>
          <a:p>
            <a:pPr algn="l">
              <a:lnSpc>
                <a:spcPct val="108000"/>
              </a:lnSpc>
              <a:spcAft>
                <a:spcPts val="0"/>
              </a:spcAft>
            </a:pPr>
            <a:r>
              <a:rPr sz="1300" b="1" i="0">
                <a:solidFill>
                  <a:srgbClr val="265C92"/>
                </a:solidFill>
                <a:latin typeface="Libre Caslon Display"/>
              </a:rPr>
              <a:t>Ten litres of drinking water (J)</a:t>
            </a:r>
          </a:p>
        </p:txBody>
      </p:sp>
      <p:sp>
        <p:nvSpPr>
          <p:cNvPr id="28" name="TextBox 27"/>
          <p:cNvSpPr txBox="1"/>
          <p:nvPr/>
        </p:nvSpPr>
        <p:spPr>
          <a:xfrm>
            <a:off x="4334256" y="3283013"/>
            <a:ext cx="3904487" cy="365125"/>
          </a:xfrm>
          <a:prstGeom prst="rect">
            <a:avLst/>
          </a:prstGeom>
          <a:noFill/>
          <a:effectLst/>
        </p:spPr>
        <p:txBody>
          <a:bodyPr wrap="square" anchor="t" lIns="0" rIns="0" tIns="0" bIns="0">
            <a:spAutoFit/>
          </a:bodyPr>
          <a:lstStyle/>
          <a:p>
            <a:pPr algn="l">
              <a:lnSpc>
                <a:spcPct val="118000"/>
              </a:lnSpc>
              <a:spcAft>
                <a:spcPts val="0"/>
              </a:spcAft>
            </a:pPr>
            <a:r>
              <a:rPr sz="1150" b="0" i="0">
                <a:solidFill>
                  <a:srgbClr val="5C6552"/>
                </a:solidFill>
                <a:latin typeface="Karla"/>
              </a:rPr>
              <a:t>People can last weeks without food, but only a few days without water.</a:t>
            </a:r>
          </a:p>
        </p:txBody>
      </p:sp>
      <p:sp>
        <p:nvSpPr>
          <p:cNvPr id="29" name="Rounded Rectangle 28"/>
          <p:cNvSpPr/>
          <p:nvPr/>
        </p:nvSpPr>
        <p:spPr>
          <a:xfrm>
            <a:off x="685800" y="3840480"/>
            <a:ext cx="7772400" cy="6035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685800" y="3840480"/>
            <a:ext cx="54864" cy="603504"/>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Oval 30"/>
          <p:cNvSpPr/>
          <p:nvPr/>
        </p:nvSpPr>
        <p:spPr>
          <a:xfrm>
            <a:off x="886968" y="3941064"/>
            <a:ext cx="402336" cy="402336"/>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86968" y="4032504"/>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5</a:t>
            </a:r>
          </a:p>
        </p:txBody>
      </p:sp>
      <p:sp>
        <p:nvSpPr>
          <p:cNvPr id="33" name="TextBox 32"/>
          <p:cNvSpPr txBox="1"/>
          <p:nvPr/>
        </p:nvSpPr>
        <p:spPr>
          <a:xfrm>
            <a:off x="1453895" y="4039044"/>
            <a:ext cx="2697480" cy="206375"/>
          </a:xfrm>
          <a:prstGeom prst="rect">
            <a:avLst/>
          </a:prstGeom>
          <a:noFill/>
          <a:effectLst/>
        </p:spPr>
        <p:txBody>
          <a:bodyPr wrap="square" anchor="t" lIns="0" rIns="0" tIns="0" bIns="0">
            <a:spAutoFit/>
          </a:bodyPr>
          <a:lstStyle/>
          <a:p>
            <a:pPr algn="l">
              <a:lnSpc>
                <a:spcPct val="108000"/>
              </a:lnSpc>
              <a:spcAft>
                <a:spcPts val="0"/>
              </a:spcAft>
            </a:pPr>
            <a:r>
              <a:rPr sz="1300" b="1" i="0">
                <a:solidFill>
                  <a:srgbClr val="265C92"/>
                </a:solidFill>
                <a:latin typeface="Libre Caslon Display"/>
              </a:rPr>
              <a:t>A large plastic sheet (A)</a:t>
            </a:r>
          </a:p>
        </p:txBody>
      </p:sp>
      <p:sp>
        <p:nvSpPr>
          <p:cNvPr id="34" name="TextBox 33"/>
          <p:cNvSpPr txBox="1"/>
          <p:nvPr/>
        </p:nvSpPr>
        <p:spPr>
          <a:xfrm>
            <a:off x="4334256" y="3959669"/>
            <a:ext cx="3904487" cy="365125"/>
          </a:xfrm>
          <a:prstGeom prst="rect">
            <a:avLst/>
          </a:prstGeom>
          <a:noFill/>
          <a:effectLst/>
        </p:spPr>
        <p:txBody>
          <a:bodyPr wrap="square" anchor="t" lIns="0" rIns="0" tIns="0" bIns="0">
            <a:spAutoFit/>
          </a:bodyPr>
          <a:lstStyle/>
          <a:p>
            <a:pPr algn="l">
              <a:lnSpc>
                <a:spcPct val="118000"/>
              </a:lnSpc>
              <a:spcAft>
                <a:spcPts val="0"/>
              </a:spcAft>
            </a:pPr>
            <a:r>
              <a:rPr sz="1150" b="0" i="0">
                <a:solidFill>
                  <a:srgbClr val="5C6552"/>
                </a:solidFill>
                <a:latin typeface="Karla"/>
              </a:rPr>
              <a:t>It catches rainwater to drink, and keeps off the spray and the wind.</a:t>
            </a:r>
          </a:p>
        </p:txBody>
      </p:sp>
      <p:pic>
        <p:nvPicPr>
          <p:cNvPr id="35" name="Picture 34"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36" name="TextBox 3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37" name="TextBox 3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7 / 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LOST AT SEA  ·  THE ANSWER</a:t>
            </a:r>
          </a:p>
        </p:txBody>
      </p:sp>
      <p:sp>
        <p:nvSpPr>
          <p:cNvPr id="4" name="TextBox 3"/>
          <p:cNvSpPr txBox="1"/>
          <p:nvPr/>
        </p:nvSpPr>
        <p:spPr>
          <a:xfrm>
            <a:off x="685800" y="603504"/>
            <a:ext cx="7772400" cy="434848"/>
          </a:xfrm>
          <a:prstGeom prst="rect">
            <a:avLst/>
          </a:prstGeom>
          <a:noFill/>
          <a:effectLst/>
        </p:spPr>
        <p:txBody>
          <a:bodyPr wrap="square" anchor="t" lIns="0" rIns="0" tIns="0" bIns="0">
            <a:spAutoFit/>
          </a:bodyPr>
          <a:lstStyle/>
          <a:p>
            <a:pPr algn="l">
              <a:lnSpc>
                <a:spcPct val="105000"/>
              </a:lnSpc>
              <a:spcAft>
                <a:spcPts val="0"/>
              </a:spcAft>
            </a:pPr>
            <a:r>
              <a:rPr sz="2800" b="1" i="0">
                <a:solidFill>
                  <a:srgbClr val="265C92"/>
                </a:solidFill>
                <a:latin typeface="Libre Caslon Display"/>
              </a:rPr>
              <a:t>The answer, 6 to 10</a:t>
            </a:r>
          </a:p>
        </p:txBody>
      </p:sp>
      <p:sp>
        <p:nvSpPr>
          <p:cNvPr id="5" name="Rounded Rectangle 4"/>
          <p:cNvSpPr/>
          <p:nvPr/>
        </p:nvSpPr>
        <p:spPr>
          <a:xfrm>
            <a:off x="685800" y="1133856"/>
            <a:ext cx="7772400" cy="6035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85800" y="1133856"/>
            <a:ext cx="54864" cy="603504"/>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86968" y="1234440"/>
            <a:ext cx="402336" cy="402336"/>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86968" y="1325880"/>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6</a:t>
            </a:r>
          </a:p>
        </p:txBody>
      </p:sp>
      <p:sp>
        <p:nvSpPr>
          <p:cNvPr id="9" name="TextBox 8"/>
          <p:cNvSpPr txBox="1"/>
          <p:nvPr/>
        </p:nvSpPr>
        <p:spPr>
          <a:xfrm>
            <a:off x="1453895" y="1332420"/>
            <a:ext cx="2697480" cy="206375"/>
          </a:xfrm>
          <a:prstGeom prst="rect">
            <a:avLst/>
          </a:prstGeom>
          <a:noFill/>
          <a:effectLst/>
        </p:spPr>
        <p:txBody>
          <a:bodyPr wrap="square" anchor="t" lIns="0" rIns="0" tIns="0" bIns="0">
            <a:spAutoFit/>
          </a:bodyPr>
          <a:lstStyle/>
          <a:p>
            <a:pPr algn="l">
              <a:lnSpc>
                <a:spcPct val="108000"/>
              </a:lnSpc>
              <a:spcAft>
                <a:spcPts val="0"/>
              </a:spcAft>
            </a:pPr>
            <a:r>
              <a:rPr sz="1300" b="1" i="0">
                <a:solidFill>
                  <a:srgbClr val="265C92"/>
                </a:solidFill>
                <a:latin typeface="Libre Caslon Display"/>
              </a:rPr>
              <a:t>A torch (H)</a:t>
            </a:r>
          </a:p>
        </p:txBody>
      </p:sp>
      <p:sp>
        <p:nvSpPr>
          <p:cNvPr id="10" name="TextBox 9"/>
          <p:cNvSpPr txBox="1"/>
          <p:nvPr/>
        </p:nvSpPr>
        <p:spPr>
          <a:xfrm>
            <a:off x="4334256" y="1253045"/>
            <a:ext cx="3904487" cy="365125"/>
          </a:xfrm>
          <a:prstGeom prst="rect">
            <a:avLst/>
          </a:prstGeom>
          <a:noFill/>
          <a:effectLst/>
        </p:spPr>
        <p:txBody>
          <a:bodyPr wrap="square" anchor="t" lIns="0" rIns="0" tIns="0" bIns="0">
            <a:spAutoFit/>
          </a:bodyPr>
          <a:lstStyle/>
          <a:p>
            <a:pPr algn="l">
              <a:lnSpc>
                <a:spcPct val="118000"/>
              </a:lnSpc>
              <a:spcAft>
                <a:spcPts val="0"/>
              </a:spcAft>
            </a:pPr>
            <a:r>
              <a:rPr sz="1150" b="0" i="0">
                <a:solidFill>
                  <a:srgbClr val="5C6552"/>
                </a:solidFill>
                <a:latin typeface="Karla"/>
              </a:rPr>
              <a:t>For signalling at night. Save the battery until you can see or hear something.</a:t>
            </a:r>
          </a:p>
        </p:txBody>
      </p:sp>
      <p:sp>
        <p:nvSpPr>
          <p:cNvPr id="11" name="Rounded Rectangle 10"/>
          <p:cNvSpPr/>
          <p:nvPr/>
        </p:nvSpPr>
        <p:spPr>
          <a:xfrm>
            <a:off x="685800" y="1810512"/>
            <a:ext cx="7772400" cy="6035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1810512"/>
            <a:ext cx="54864" cy="603504"/>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86968" y="1911095"/>
            <a:ext cx="402336" cy="402336"/>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86968" y="2002536"/>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7</a:t>
            </a:r>
          </a:p>
        </p:txBody>
      </p:sp>
      <p:sp>
        <p:nvSpPr>
          <p:cNvPr id="15" name="TextBox 14"/>
          <p:cNvSpPr txBox="1"/>
          <p:nvPr/>
        </p:nvSpPr>
        <p:spPr>
          <a:xfrm>
            <a:off x="1453895" y="2009076"/>
            <a:ext cx="2697480" cy="206375"/>
          </a:xfrm>
          <a:prstGeom prst="rect">
            <a:avLst/>
          </a:prstGeom>
          <a:noFill/>
          <a:effectLst/>
        </p:spPr>
        <p:txBody>
          <a:bodyPr wrap="square" anchor="t" lIns="0" rIns="0" tIns="0" bIns="0">
            <a:spAutoFit/>
          </a:bodyPr>
          <a:lstStyle/>
          <a:p>
            <a:pPr algn="l">
              <a:lnSpc>
                <a:spcPct val="108000"/>
              </a:lnSpc>
              <a:spcAft>
                <a:spcPts val="0"/>
              </a:spcAft>
            </a:pPr>
            <a:r>
              <a:rPr sz="1300" b="1" i="0">
                <a:solidFill>
                  <a:srgbClr val="265C92"/>
                </a:solidFill>
                <a:latin typeface="Libre Caslon Display"/>
              </a:rPr>
              <a:t>A bar of chocolate each (D)</a:t>
            </a:r>
          </a:p>
        </p:txBody>
      </p:sp>
      <p:sp>
        <p:nvSpPr>
          <p:cNvPr id="16" name="TextBox 15"/>
          <p:cNvSpPr txBox="1"/>
          <p:nvPr/>
        </p:nvSpPr>
        <p:spPr>
          <a:xfrm>
            <a:off x="4334256" y="1929701"/>
            <a:ext cx="3904487" cy="365125"/>
          </a:xfrm>
          <a:prstGeom prst="rect">
            <a:avLst/>
          </a:prstGeom>
          <a:noFill/>
          <a:effectLst/>
        </p:spPr>
        <p:txBody>
          <a:bodyPr wrap="square" anchor="t" lIns="0" rIns="0" tIns="0" bIns="0">
            <a:spAutoFit/>
          </a:bodyPr>
          <a:lstStyle/>
          <a:p>
            <a:pPr algn="l">
              <a:lnSpc>
                <a:spcPct val="118000"/>
              </a:lnSpc>
              <a:spcAft>
                <a:spcPts val="0"/>
              </a:spcAft>
            </a:pPr>
            <a:r>
              <a:rPr sz="1150" b="0" i="0">
                <a:solidFill>
                  <a:srgbClr val="5C6552"/>
                </a:solidFill>
                <a:latin typeface="Karla"/>
              </a:rPr>
              <a:t>Food keeps spirits up, but only eat when there is water to drink, because digesting food uses water.</a:t>
            </a:r>
          </a:p>
        </p:txBody>
      </p:sp>
      <p:sp>
        <p:nvSpPr>
          <p:cNvPr id="17" name="Rounded Rectangle 16"/>
          <p:cNvSpPr/>
          <p:nvPr/>
        </p:nvSpPr>
        <p:spPr>
          <a:xfrm>
            <a:off x="685800" y="2487168"/>
            <a:ext cx="7772400" cy="6035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85800" y="2487168"/>
            <a:ext cx="54864" cy="603504"/>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886968" y="2587751"/>
            <a:ext cx="402336" cy="402336"/>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86968" y="2679191"/>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8</a:t>
            </a:r>
          </a:p>
        </p:txBody>
      </p:sp>
      <p:sp>
        <p:nvSpPr>
          <p:cNvPr id="21" name="TextBox 20"/>
          <p:cNvSpPr txBox="1"/>
          <p:nvPr/>
        </p:nvSpPr>
        <p:spPr>
          <a:xfrm>
            <a:off x="1453895" y="2685732"/>
            <a:ext cx="2697480" cy="206375"/>
          </a:xfrm>
          <a:prstGeom prst="rect">
            <a:avLst/>
          </a:prstGeom>
          <a:noFill/>
          <a:effectLst/>
        </p:spPr>
        <p:txBody>
          <a:bodyPr wrap="square" anchor="t" lIns="0" rIns="0" tIns="0" bIns="0">
            <a:spAutoFit/>
          </a:bodyPr>
          <a:lstStyle/>
          <a:p>
            <a:pPr algn="l">
              <a:lnSpc>
                <a:spcPct val="108000"/>
              </a:lnSpc>
              <a:spcAft>
                <a:spcPts val="0"/>
              </a:spcAft>
            </a:pPr>
            <a:r>
              <a:rPr sz="1300" b="1" i="0">
                <a:solidFill>
                  <a:srgbClr val="265C92"/>
                </a:solidFill>
                <a:latin typeface="Libre Caslon Display"/>
              </a:rPr>
              <a:t>A fishing line and hooks (I)</a:t>
            </a:r>
          </a:p>
        </p:txBody>
      </p:sp>
      <p:sp>
        <p:nvSpPr>
          <p:cNvPr id="22" name="TextBox 21"/>
          <p:cNvSpPr txBox="1"/>
          <p:nvPr/>
        </p:nvSpPr>
        <p:spPr>
          <a:xfrm>
            <a:off x="4334256" y="2606357"/>
            <a:ext cx="3904487" cy="365125"/>
          </a:xfrm>
          <a:prstGeom prst="rect">
            <a:avLst/>
          </a:prstGeom>
          <a:noFill/>
          <a:effectLst/>
        </p:spPr>
        <p:txBody>
          <a:bodyPr wrap="square" anchor="t" lIns="0" rIns="0" tIns="0" bIns="0">
            <a:spAutoFit/>
          </a:bodyPr>
          <a:lstStyle/>
          <a:p>
            <a:pPr algn="l">
              <a:lnSpc>
                <a:spcPct val="118000"/>
              </a:lnSpc>
              <a:spcAft>
                <a:spcPts val="0"/>
              </a:spcAft>
            </a:pPr>
            <a:r>
              <a:rPr sz="1150" b="0" i="0">
                <a:solidFill>
                  <a:srgbClr val="5C6552"/>
                </a:solidFill>
                <a:latin typeface="Karla"/>
              </a:rPr>
              <a:t>Fish is food, but digesting it takes a lot of water, so it only helps once water is sorted.</a:t>
            </a:r>
          </a:p>
        </p:txBody>
      </p:sp>
      <p:sp>
        <p:nvSpPr>
          <p:cNvPr id="23" name="Rounded Rectangle 22"/>
          <p:cNvSpPr/>
          <p:nvPr/>
        </p:nvSpPr>
        <p:spPr>
          <a:xfrm>
            <a:off x="685800" y="3163824"/>
            <a:ext cx="7772400" cy="6035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685800" y="3163824"/>
            <a:ext cx="54864" cy="603504"/>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val 24"/>
          <p:cNvSpPr/>
          <p:nvPr/>
        </p:nvSpPr>
        <p:spPr>
          <a:xfrm>
            <a:off x="886968" y="3264408"/>
            <a:ext cx="402336" cy="402336"/>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86968" y="3355848"/>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9</a:t>
            </a:r>
          </a:p>
        </p:txBody>
      </p:sp>
      <p:sp>
        <p:nvSpPr>
          <p:cNvPr id="27" name="TextBox 26"/>
          <p:cNvSpPr txBox="1"/>
          <p:nvPr/>
        </p:nvSpPr>
        <p:spPr>
          <a:xfrm>
            <a:off x="1453895" y="3362388"/>
            <a:ext cx="2697480" cy="206375"/>
          </a:xfrm>
          <a:prstGeom prst="rect">
            <a:avLst/>
          </a:prstGeom>
          <a:noFill/>
          <a:effectLst/>
        </p:spPr>
        <p:txBody>
          <a:bodyPr wrap="square" anchor="t" lIns="0" rIns="0" tIns="0" bIns="0">
            <a:spAutoFit/>
          </a:bodyPr>
          <a:lstStyle/>
          <a:p>
            <a:pPr algn="l">
              <a:lnSpc>
                <a:spcPct val="108000"/>
              </a:lnSpc>
              <a:spcAft>
                <a:spcPts val="0"/>
              </a:spcAft>
            </a:pPr>
            <a:r>
              <a:rPr sz="1300" b="1" i="0">
                <a:solidFill>
                  <a:srgbClr val="265C92"/>
                </a:solidFill>
                <a:latin typeface="Libre Caslon Display"/>
              </a:rPr>
              <a:t>A pack of cards (B)</a:t>
            </a:r>
          </a:p>
        </p:txBody>
      </p:sp>
      <p:sp>
        <p:nvSpPr>
          <p:cNvPr id="28" name="TextBox 27"/>
          <p:cNvSpPr txBox="1"/>
          <p:nvPr/>
        </p:nvSpPr>
        <p:spPr>
          <a:xfrm>
            <a:off x="4334256" y="3283013"/>
            <a:ext cx="3904487" cy="365125"/>
          </a:xfrm>
          <a:prstGeom prst="rect">
            <a:avLst/>
          </a:prstGeom>
          <a:noFill/>
          <a:effectLst/>
        </p:spPr>
        <p:txBody>
          <a:bodyPr wrap="square" anchor="t" lIns="0" rIns="0" tIns="0" bIns="0">
            <a:spAutoFit/>
          </a:bodyPr>
          <a:lstStyle/>
          <a:p>
            <a:pPr algn="l">
              <a:lnSpc>
                <a:spcPct val="118000"/>
              </a:lnSpc>
              <a:spcAft>
                <a:spcPts val="0"/>
              </a:spcAft>
            </a:pPr>
            <a:r>
              <a:rPr sz="1150" b="0" i="0">
                <a:solidFill>
                  <a:srgbClr val="5C6552"/>
                </a:solidFill>
                <a:latin typeface="Karla"/>
              </a:rPr>
              <a:t>Keeping busy and keeping everyone’s spirits up really does help people survive.</a:t>
            </a:r>
          </a:p>
        </p:txBody>
      </p:sp>
      <p:sp>
        <p:nvSpPr>
          <p:cNvPr id="29" name="Rounded Rectangle 28"/>
          <p:cNvSpPr/>
          <p:nvPr/>
        </p:nvSpPr>
        <p:spPr>
          <a:xfrm>
            <a:off x="685800" y="3840480"/>
            <a:ext cx="7772400" cy="6035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685800" y="3840480"/>
            <a:ext cx="54864" cy="603504"/>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Oval 30"/>
          <p:cNvSpPr/>
          <p:nvPr/>
        </p:nvSpPr>
        <p:spPr>
          <a:xfrm>
            <a:off x="886968" y="3941064"/>
            <a:ext cx="402336" cy="402336"/>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86968" y="4032504"/>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10</a:t>
            </a:r>
          </a:p>
        </p:txBody>
      </p:sp>
      <p:sp>
        <p:nvSpPr>
          <p:cNvPr id="33" name="TextBox 32"/>
          <p:cNvSpPr txBox="1"/>
          <p:nvPr/>
        </p:nvSpPr>
        <p:spPr>
          <a:xfrm>
            <a:off x="1453895" y="4039044"/>
            <a:ext cx="2697480" cy="206375"/>
          </a:xfrm>
          <a:prstGeom prst="rect">
            <a:avLst/>
          </a:prstGeom>
          <a:noFill/>
          <a:effectLst/>
        </p:spPr>
        <p:txBody>
          <a:bodyPr wrap="square" anchor="t" lIns="0" rIns="0" tIns="0" bIns="0">
            <a:spAutoFit/>
          </a:bodyPr>
          <a:lstStyle/>
          <a:p>
            <a:pPr algn="l">
              <a:lnSpc>
                <a:spcPct val="108000"/>
              </a:lnSpc>
              <a:spcAft>
                <a:spcPts val="0"/>
              </a:spcAft>
            </a:pPr>
            <a:r>
              <a:rPr sz="1300" b="1" i="0">
                <a:solidFill>
                  <a:srgbClr val="265C92"/>
                </a:solidFill>
                <a:latin typeface="Libre Caslon Display"/>
              </a:rPr>
              <a:t>A map of the ocean (F)</a:t>
            </a:r>
          </a:p>
        </p:txBody>
      </p:sp>
      <p:sp>
        <p:nvSpPr>
          <p:cNvPr id="34" name="TextBox 33"/>
          <p:cNvSpPr txBox="1"/>
          <p:nvPr/>
        </p:nvSpPr>
        <p:spPr>
          <a:xfrm>
            <a:off x="4334256" y="3959669"/>
            <a:ext cx="3904487" cy="365125"/>
          </a:xfrm>
          <a:prstGeom prst="rect">
            <a:avLst/>
          </a:prstGeom>
          <a:noFill/>
          <a:effectLst/>
        </p:spPr>
        <p:txBody>
          <a:bodyPr wrap="square" anchor="t" lIns="0" rIns="0" tIns="0" bIns="0">
            <a:spAutoFit/>
          </a:bodyPr>
          <a:lstStyle/>
          <a:p>
            <a:pPr algn="l">
              <a:lnSpc>
                <a:spcPct val="118000"/>
              </a:lnSpc>
              <a:spcAft>
                <a:spcPts val="0"/>
              </a:spcAft>
            </a:pPr>
            <a:r>
              <a:rPr sz="1150" b="0" i="0">
                <a:solidFill>
                  <a:srgbClr val="5C6552"/>
                </a:solidFill>
                <a:latin typeface="Karla"/>
              </a:rPr>
              <a:t>With no engine or oars you cannot go anywhere, so knowing where you are helps very little.</a:t>
            </a:r>
          </a:p>
        </p:txBody>
      </p:sp>
      <p:pic>
        <p:nvPicPr>
          <p:cNvPr id="35" name="Picture 34"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36" name="TextBox 3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37" name="TextBox 3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8 / 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LOST AT SEA  ·  SCORE IT</a:t>
            </a:r>
          </a:p>
        </p:txBody>
      </p:sp>
      <p:sp>
        <p:nvSpPr>
          <p:cNvPr id="4" name="TextBox 3"/>
          <p:cNvSpPr txBox="1"/>
          <p:nvPr/>
        </p:nvSpPr>
        <p:spPr>
          <a:xfrm>
            <a:off x="685800" y="640080"/>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Work out your scores</a:t>
            </a:r>
          </a:p>
        </p:txBody>
      </p:sp>
      <p:sp>
        <p:nvSpPr>
          <p:cNvPr id="5" name="Rounded Rectangle 4"/>
          <p:cNvSpPr/>
          <p:nvPr/>
        </p:nvSpPr>
        <p:spPr>
          <a:xfrm>
            <a:off x="685800" y="1316736"/>
            <a:ext cx="7772400" cy="995553"/>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85800" y="1316736"/>
            <a:ext cx="54864" cy="995553"/>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96112" y="1604200"/>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96112" y="1704784"/>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a:t>
            </a:r>
          </a:p>
        </p:txBody>
      </p:sp>
      <p:sp>
        <p:nvSpPr>
          <p:cNvPr id="9" name="TextBox 8"/>
          <p:cNvSpPr txBox="1"/>
          <p:nvPr/>
        </p:nvSpPr>
        <p:spPr>
          <a:xfrm>
            <a:off x="1472184" y="1435607"/>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Copy the answer, then find the gap</a:t>
            </a:r>
          </a:p>
        </p:txBody>
      </p:sp>
      <p:sp>
        <p:nvSpPr>
          <p:cNvPr id="10" name="TextBox 9"/>
          <p:cNvSpPr txBox="1"/>
          <p:nvPr/>
        </p:nvSpPr>
        <p:spPr>
          <a:xfrm>
            <a:off x="1472184" y="1764792"/>
            <a:ext cx="6729984" cy="520065"/>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Copy each answer into The Answer column. Your gap is the difference: a 3 against a 7 is a gap of 4.</a:t>
            </a:r>
          </a:p>
        </p:txBody>
      </p:sp>
      <p:sp>
        <p:nvSpPr>
          <p:cNvPr id="11" name="Rounded Rectangle 10"/>
          <p:cNvSpPr/>
          <p:nvPr/>
        </p:nvSpPr>
        <p:spPr>
          <a:xfrm>
            <a:off x="685800" y="2458593"/>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458593"/>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638901"/>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739485"/>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2</a:t>
            </a:r>
          </a:p>
        </p:txBody>
      </p:sp>
      <p:sp>
        <p:nvSpPr>
          <p:cNvPr id="15" name="TextBox 14"/>
          <p:cNvSpPr txBox="1"/>
          <p:nvPr/>
        </p:nvSpPr>
        <p:spPr>
          <a:xfrm>
            <a:off x="1472184" y="2577464"/>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Add up both gap columns</a:t>
            </a:r>
          </a:p>
        </p:txBody>
      </p:sp>
      <p:sp>
        <p:nvSpPr>
          <p:cNvPr id="16" name="TextBox 15"/>
          <p:cNvSpPr txBox="1"/>
          <p:nvPr/>
        </p:nvSpPr>
        <p:spPr>
          <a:xfrm>
            <a:off x="1472184" y="2906649"/>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Add up My Gap, then Team Gap. The lower the score, the better.</a:t>
            </a:r>
          </a:p>
        </p:txBody>
      </p:sp>
      <p:sp>
        <p:nvSpPr>
          <p:cNvPr id="17" name="Rounded Rectangle 16"/>
          <p:cNvSpPr/>
          <p:nvPr/>
        </p:nvSpPr>
        <p:spPr>
          <a:xfrm>
            <a:off x="685800" y="3386137"/>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85800" y="3386137"/>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896112" y="3566445"/>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96112" y="3667029"/>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3</a:t>
            </a:r>
          </a:p>
        </p:txBody>
      </p:sp>
      <p:sp>
        <p:nvSpPr>
          <p:cNvPr id="21" name="TextBox 20"/>
          <p:cNvSpPr txBox="1"/>
          <p:nvPr/>
        </p:nvSpPr>
        <p:spPr>
          <a:xfrm>
            <a:off x="1472184" y="3505009"/>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Compare</a:t>
            </a:r>
          </a:p>
        </p:txBody>
      </p:sp>
      <p:sp>
        <p:nvSpPr>
          <p:cNvPr id="22" name="TextBox 21"/>
          <p:cNvSpPr txBox="1"/>
          <p:nvPr/>
        </p:nvSpPr>
        <p:spPr>
          <a:xfrm>
            <a:off x="1472184" y="3834193"/>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Hands up if the team scored lower than you did on your own.</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9 / 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LOST AT SEA  ·  TALK ABOUT IT</a:t>
            </a:r>
          </a:p>
        </p:txBody>
      </p:sp>
      <p:sp>
        <p:nvSpPr>
          <p:cNvPr id="4" name="KEEP_SHADOW"/>
          <p:cNvSpPr/>
          <p:nvPr/>
        </p:nvSpPr>
        <p:spPr>
          <a:xfrm>
            <a:off x="685800" y="713232"/>
            <a:ext cx="7772400" cy="1225296"/>
          </a:xfrm>
          <a:prstGeom prst="roundRect">
            <a:avLst>
              <a:gd name="adj" fmla="val 6000"/>
            </a:avLst>
          </a:prstGeom>
          <a:solidFill>
            <a:srgbClr val="F0F4F7"/>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85800" y="713232"/>
            <a:ext cx="64008" cy="1225296"/>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896112"/>
            <a:ext cx="7040880" cy="877824"/>
          </a:xfrm>
          <a:prstGeom prst="rect">
            <a:avLst/>
          </a:prstGeom>
          <a:noFill/>
          <a:effectLst/>
        </p:spPr>
        <p:txBody>
          <a:bodyPr wrap="square" anchor="t" lIns="0" rIns="0" tIns="0" bIns="0">
            <a:spAutoFit/>
          </a:bodyPr>
          <a:lstStyle/>
          <a:p>
            <a:pPr algn="l">
              <a:lnSpc>
                <a:spcPct val="108000"/>
              </a:lnSpc>
              <a:spcAft>
                <a:spcPts val="0"/>
              </a:spcAft>
            </a:pPr>
            <a:r>
              <a:rPr sz="2600" b="1" i="0">
                <a:solidFill>
                  <a:srgbClr val="265C92"/>
                </a:solidFill>
                <a:latin typeface="Libre Caslon Display"/>
              </a:rPr>
              <a:t>What did the team that did best</a:t>
            </a:r>
            <a:br>
              <a:rPr lang="en-GB"/>
            </a:br>
            <a:r>
              <a:rPr sz="2600" b="1" i="0">
                <a:solidFill>
                  <a:srgbClr val="265C92"/>
                </a:solidFill>
                <a:latin typeface="Libre Caslon Display"/>
              </a:rPr>
              <a:t>actually do?</a:t>
            </a:r>
          </a:p>
        </p:txBody>
      </p:sp>
      <p:sp>
        <p:nvSpPr>
          <p:cNvPr id="7" name="TextBox 6"/>
          <p:cNvSpPr txBox="1"/>
          <p:nvPr/>
        </p:nvSpPr>
        <p:spPr>
          <a:xfrm>
            <a:off x="685800" y="2139696"/>
            <a:ext cx="7772400" cy="219456"/>
          </a:xfrm>
          <a:prstGeom prst="rect">
            <a:avLst/>
          </a:prstGeom>
          <a:noFill/>
          <a:effectLst/>
        </p:spPr>
        <p:txBody>
          <a:bodyPr wrap="square" anchor="t" lIns="0" rIns="0" tIns="0" bIns="0">
            <a:spAutoFit/>
          </a:bodyPr>
          <a:lstStyle/>
          <a:p>
            <a:pPr algn="l">
              <a:lnSpc>
                <a:spcPct val="125000"/>
              </a:lnSpc>
              <a:spcAft>
                <a:spcPts val="0"/>
              </a:spcAft>
            </a:pPr>
            <a:r>
              <a:rPr sz="1000" b="1" i="0" spc="140">
                <a:solidFill>
                  <a:srgbClr val="8B9179"/>
                </a:solidFill>
                <a:latin typeface="Karla"/>
              </a:rPr>
              <a:t>THEN ASK</a:t>
            </a:r>
          </a:p>
        </p:txBody>
      </p:sp>
      <p:sp>
        <p:nvSpPr>
          <p:cNvPr id="8" name="Oval 7"/>
          <p:cNvSpPr/>
          <p:nvPr/>
        </p:nvSpPr>
        <p:spPr>
          <a:xfrm>
            <a:off x="754380" y="2510028"/>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51560" y="2432304"/>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Did the team’s score beat most of the scores people got on their own?</a:t>
            </a:r>
          </a:p>
        </p:txBody>
      </p:sp>
      <p:sp>
        <p:nvSpPr>
          <p:cNvPr id="10" name="Oval 9"/>
          <p:cNvSpPr/>
          <p:nvPr/>
        </p:nvSpPr>
        <p:spPr>
          <a:xfrm>
            <a:off x="754380" y="2983484"/>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905760"/>
            <a:ext cx="7223760" cy="508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Who changed the team’s mind about something, and how did they do it?</a:t>
            </a:r>
          </a:p>
        </p:txBody>
      </p:sp>
      <p:sp>
        <p:nvSpPr>
          <p:cNvPr id="12" name="Oval 11"/>
          <p:cNvSpPr/>
          <p:nvPr/>
        </p:nvSpPr>
        <p:spPr>
          <a:xfrm>
            <a:off x="754380" y="3710940"/>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51560" y="3633216"/>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Did anybody have it right at first, but then give way to the team?</a:t>
            </a:r>
          </a:p>
        </p:txBody>
      </p:sp>
      <p:pic>
        <p:nvPicPr>
          <p:cNvPr id="14" name="Picture 13"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5" name="TextBox 14"/>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6" name="TextBox 15"/>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10 / 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710555" y="786384"/>
            <a:ext cx="1722888" cy="237744"/>
          </a:xfrm>
          <a:prstGeom prst="roundRect">
            <a:avLst>
              <a:gd name="adj" fmla="val 50000"/>
            </a:avLst>
          </a:prstGeom>
          <a:solidFill>
            <a:srgbClr val="C2D1E0"/>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265C92"/>
                </a:solidFill>
                <a:latin typeface="Karla"/>
              </a:rPr>
              <a:t>CHALLENGE 2 OF 5</a:t>
            </a:r>
          </a:p>
        </p:txBody>
      </p:sp>
      <p:sp>
        <p:nvSpPr>
          <p:cNvPr id="4" name="Oval 3"/>
          <p:cNvSpPr/>
          <p:nvPr/>
        </p:nvSpPr>
        <p:spPr>
          <a:xfrm>
            <a:off x="4178808" y="1234440"/>
            <a:ext cx="786384" cy="786384"/>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tower.png"/>
          <p:cNvPicPr>
            <a:picLocks noChangeAspect="1"/>
          </p:cNvPicPr>
          <p:nvPr/>
        </p:nvPicPr>
        <p:blipFill>
          <a:blip r:embed="rId2"/>
          <a:stretch>
            <a:fillRect/>
          </a:stretch>
        </p:blipFill>
        <p:spPr>
          <a:xfrm>
            <a:off x="4334256" y="1389888"/>
            <a:ext cx="475488" cy="475488"/>
          </a:xfrm>
          <a:prstGeom prst="rect">
            <a:avLst/>
          </a:prstGeom>
          <a:effectLst/>
        </p:spPr>
      </p:pic>
      <p:sp>
        <p:nvSpPr>
          <p:cNvPr id="6" name="TextBox 5"/>
          <p:cNvSpPr txBox="1"/>
          <p:nvPr/>
        </p:nvSpPr>
        <p:spPr>
          <a:xfrm>
            <a:off x="548640" y="2194560"/>
            <a:ext cx="8046720" cy="731520"/>
          </a:xfrm>
          <a:prstGeom prst="rect">
            <a:avLst/>
          </a:prstGeom>
          <a:noFill/>
          <a:effectLst/>
        </p:spPr>
        <p:txBody>
          <a:bodyPr wrap="square" anchor="t" lIns="0" rIns="0" tIns="0" bIns="0">
            <a:spAutoFit/>
          </a:bodyPr>
          <a:lstStyle/>
          <a:p>
            <a:pPr algn="ctr">
              <a:lnSpc>
                <a:spcPct val="105000"/>
              </a:lnSpc>
              <a:spcAft>
                <a:spcPts val="0"/>
              </a:spcAft>
            </a:pPr>
            <a:r>
              <a:rPr sz="4400" b="1" i="0">
                <a:solidFill>
                  <a:srgbClr val="FFFDF7"/>
                </a:solidFill>
                <a:latin typeface="Libre Caslon Display"/>
              </a:rPr>
              <a:t>Paper Tower</a:t>
            </a:r>
          </a:p>
        </p:txBody>
      </p:sp>
      <p:sp>
        <p:nvSpPr>
          <p:cNvPr id="7" name="Rectangle 6"/>
          <p:cNvSpPr/>
          <p:nvPr/>
        </p:nvSpPr>
        <p:spPr>
          <a:xfrm>
            <a:off x="4114800" y="3054096"/>
            <a:ext cx="914400" cy="18288"/>
          </a:xfrm>
          <a:prstGeom prst="rect">
            <a:avLst/>
          </a:prstGeom>
          <a:solidFill>
            <a:srgbClr val="C2D1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188720" y="3255264"/>
            <a:ext cx="6766560" cy="822960"/>
          </a:xfrm>
          <a:prstGeom prst="rect">
            <a:avLst/>
          </a:prstGeom>
          <a:noFill/>
          <a:effectLst/>
        </p:spPr>
        <p:txBody>
          <a:bodyPr wrap="square" anchor="t" lIns="0" rIns="0" tIns="0" bIns="0">
            <a:spAutoFit/>
          </a:bodyPr>
          <a:lstStyle/>
          <a:p>
            <a:pPr algn="ctr">
              <a:lnSpc>
                <a:spcPct val="130000"/>
              </a:lnSpc>
              <a:spcAft>
                <a:spcPts val="0"/>
              </a:spcAft>
            </a:pPr>
            <a:r>
              <a:rPr sz="1600" b="0" i="0">
                <a:solidFill>
                  <a:srgbClr val="C2D1E0"/>
                </a:solidFill>
                <a:latin typeface="Karla"/>
              </a:rPr>
              <a:t>Build the tallest tower you can from ten sheets of paper, with nothing to stick it together.</a:t>
            </a:r>
          </a:p>
        </p:txBody>
      </p:sp>
      <p:pic>
        <p:nvPicPr>
          <p:cNvPr id="9" name="Picture 8" descr="logo-mark.png"/>
          <p:cNvPicPr>
            <a:picLocks noChangeAspect="1"/>
          </p:cNvPicPr>
          <p:nvPr/>
        </p:nvPicPr>
        <p:blipFill>
          <a:blip r:embed="rId3"/>
          <a:stretch>
            <a:fillRect/>
          </a:stretch>
        </p:blipFill>
        <p:spPr>
          <a:xfrm>
            <a:off x="384048" y="4727448"/>
            <a:ext cx="158374" cy="182880"/>
          </a:xfrm>
          <a:prstGeom prst="rect">
            <a:avLst/>
          </a:prstGeom>
          <a:effectLst/>
        </p:spPr>
      </p:pic>
      <p:sp>
        <p:nvSpPr>
          <p:cNvPr id="10" name="TextBox 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C2D1E0"/>
                </a:solidFill>
                <a:latin typeface="Karla"/>
              </a:rPr>
              <a:t>The Pastoral Guide</a:t>
            </a:r>
          </a:p>
        </p:txBody>
      </p:sp>
      <p:sp>
        <p:nvSpPr>
          <p:cNvPr id="11" name="TextBox 1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C2D1E0"/>
                </a:solidFill>
                <a:latin typeface="Karla"/>
              </a:rPr>
              <a:t>11 / 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PAPER TOWER  ·  THE RULES</a:t>
            </a:r>
          </a:p>
        </p:txBody>
      </p:sp>
      <p:sp>
        <p:nvSpPr>
          <p:cNvPr id="4" name="TextBox 3"/>
          <p:cNvSpPr txBox="1"/>
          <p:nvPr/>
        </p:nvSpPr>
        <p:spPr>
          <a:xfrm>
            <a:off x="685800" y="640080"/>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Tallest tower wins</a:t>
            </a:r>
          </a:p>
        </p:txBody>
      </p:sp>
      <p:sp>
        <p:nvSpPr>
          <p:cNvPr id="5" name="Rounded Rectangle 4"/>
          <p:cNvSpPr/>
          <p:nvPr/>
        </p:nvSpPr>
        <p:spPr>
          <a:xfrm>
            <a:off x="685800" y="1316736"/>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85800" y="1316736"/>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96112" y="1497044"/>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96112" y="1597628"/>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a:t>
            </a:r>
          </a:p>
        </p:txBody>
      </p:sp>
      <p:sp>
        <p:nvSpPr>
          <p:cNvPr id="9" name="TextBox 8"/>
          <p:cNvSpPr txBox="1"/>
          <p:nvPr/>
        </p:nvSpPr>
        <p:spPr>
          <a:xfrm>
            <a:off x="1472184" y="1435607"/>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Ten sheets per team</a:t>
            </a:r>
          </a:p>
        </p:txBody>
      </p:sp>
      <p:sp>
        <p:nvSpPr>
          <p:cNvPr id="10" name="TextBox 9"/>
          <p:cNvSpPr txBox="1"/>
          <p:nvPr/>
        </p:nvSpPr>
        <p:spPr>
          <a:xfrm>
            <a:off x="1472184" y="1764792"/>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Every team gets ten sheets of paper. No tape, no glue and no scissors.</a:t>
            </a:r>
          </a:p>
        </p:txBody>
      </p:sp>
      <p:sp>
        <p:nvSpPr>
          <p:cNvPr id="11" name="Rounded Rectangle 10"/>
          <p:cNvSpPr/>
          <p:nvPr/>
        </p:nvSpPr>
        <p:spPr>
          <a:xfrm>
            <a:off x="685800" y="2244280"/>
            <a:ext cx="7772400" cy="995553"/>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244280"/>
            <a:ext cx="54864" cy="995553"/>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531745"/>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632328"/>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2</a:t>
            </a:r>
          </a:p>
        </p:txBody>
      </p:sp>
      <p:sp>
        <p:nvSpPr>
          <p:cNvPr id="15" name="TextBox 14"/>
          <p:cNvSpPr txBox="1"/>
          <p:nvPr/>
        </p:nvSpPr>
        <p:spPr>
          <a:xfrm>
            <a:off x="1472184" y="2363152"/>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Fold, roll or tear</a:t>
            </a:r>
          </a:p>
        </p:txBody>
      </p:sp>
      <p:sp>
        <p:nvSpPr>
          <p:cNvPr id="16" name="TextBox 15"/>
          <p:cNvSpPr txBox="1"/>
          <p:nvPr/>
        </p:nvSpPr>
        <p:spPr>
          <a:xfrm>
            <a:off x="1472184" y="2692336"/>
            <a:ext cx="6729984" cy="520065"/>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You can do anything to the paper, but you cannot fix it to the table or the wall.</a:t>
            </a:r>
          </a:p>
        </p:txBody>
      </p:sp>
      <p:sp>
        <p:nvSpPr>
          <p:cNvPr id="17" name="Rounded Rectangle 16"/>
          <p:cNvSpPr/>
          <p:nvPr/>
        </p:nvSpPr>
        <p:spPr>
          <a:xfrm>
            <a:off x="685800" y="3386137"/>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85800" y="3386137"/>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896112" y="3566445"/>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96112" y="3667029"/>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3</a:t>
            </a:r>
          </a:p>
        </p:txBody>
      </p:sp>
      <p:sp>
        <p:nvSpPr>
          <p:cNvPr id="21" name="TextBox 20"/>
          <p:cNvSpPr txBox="1"/>
          <p:nvPr/>
        </p:nvSpPr>
        <p:spPr>
          <a:xfrm>
            <a:off x="1472184" y="3505009"/>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Ten seconds</a:t>
            </a:r>
          </a:p>
        </p:txBody>
      </p:sp>
      <p:sp>
        <p:nvSpPr>
          <p:cNvPr id="22" name="TextBox 21"/>
          <p:cNvSpPr txBox="1"/>
          <p:nvPr/>
        </p:nvSpPr>
        <p:spPr>
          <a:xfrm>
            <a:off x="1472184" y="3834193"/>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At the end it has to stand on its own for ten seconds. The tallest one wins.</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12 / 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ctr">
              <a:lnSpc>
                <a:spcPct val="125000"/>
              </a:lnSpc>
              <a:spcAft>
                <a:spcPts val="0"/>
              </a:spcAft>
            </a:pPr>
            <a:r>
              <a:rPr sz="1000" b="1" i="0" spc="160">
                <a:solidFill>
                  <a:srgbClr val="265C92"/>
                </a:solidFill>
                <a:latin typeface="Karla"/>
              </a:rPr>
              <a:t>PAPER TOWER</a:t>
            </a:r>
          </a:p>
        </p:txBody>
      </p:sp>
      <p:sp>
        <p:nvSpPr>
          <p:cNvPr id="4" name="Rounded Rectangle 3"/>
          <p:cNvSpPr/>
          <p:nvPr/>
        </p:nvSpPr>
        <p:spPr>
          <a:xfrm>
            <a:off x="4220283" y="1280160"/>
            <a:ext cx="703432" cy="237744"/>
          </a:xfrm>
          <a:prstGeom prst="roundRect">
            <a:avLst>
              <a:gd name="adj" fmla="val 50000"/>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Karla"/>
              </a:rPr>
              <a:t>PLAN</a:t>
            </a:r>
          </a:p>
        </p:txBody>
      </p:sp>
      <p:sp>
        <p:nvSpPr>
          <p:cNvPr id="5" name="TextBox 4"/>
          <p:cNvSpPr txBox="1"/>
          <p:nvPr/>
        </p:nvSpPr>
        <p:spPr>
          <a:xfrm>
            <a:off x="548640" y="1847088"/>
            <a:ext cx="8046720" cy="768096"/>
          </a:xfrm>
          <a:prstGeom prst="rect">
            <a:avLst/>
          </a:prstGeom>
          <a:noFill/>
          <a:effectLst/>
        </p:spPr>
        <p:txBody>
          <a:bodyPr wrap="square" anchor="t" lIns="0" rIns="0" tIns="0" bIns="0">
            <a:spAutoFit/>
          </a:bodyPr>
          <a:lstStyle/>
          <a:p>
            <a:pPr algn="ctr">
              <a:lnSpc>
                <a:spcPct val="105000"/>
              </a:lnSpc>
              <a:spcAft>
                <a:spcPts val="0"/>
              </a:spcAft>
            </a:pPr>
            <a:r>
              <a:rPr sz="4400" b="1" i="0">
                <a:solidFill>
                  <a:srgbClr val="265C92"/>
                </a:solidFill>
                <a:latin typeface="Libre Caslon Display"/>
              </a:rPr>
              <a:t>Two minutes to plan</a:t>
            </a:r>
          </a:p>
        </p:txBody>
      </p:sp>
      <p:sp>
        <p:nvSpPr>
          <p:cNvPr id="6" name="Rectangle 5"/>
          <p:cNvSpPr/>
          <p:nvPr/>
        </p:nvSpPr>
        <p:spPr>
          <a:xfrm>
            <a:off x="4114800" y="2798064"/>
            <a:ext cx="914400" cy="18288"/>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188720" y="2999232"/>
            <a:ext cx="6766560" cy="1097280"/>
          </a:xfrm>
          <a:prstGeom prst="rect">
            <a:avLst/>
          </a:prstGeom>
          <a:noFill/>
          <a:effectLst/>
        </p:spPr>
        <p:txBody>
          <a:bodyPr wrap="square" anchor="t" lIns="0" rIns="0" tIns="0" bIns="0">
            <a:spAutoFit/>
          </a:bodyPr>
          <a:lstStyle/>
          <a:p>
            <a:pPr algn="ctr">
              <a:lnSpc>
                <a:spcPct val="130000"/>
              </a:lnSpc>
              <a:spcAft>
                <a:spcPts val="0"/>
              </a:spcAft>
            </a:pPr>
            <a:r>
              <a:rPr sz="1800" b="0" i="0">
                <a:solidFill>
                  <a:srgbClr val="5C6552"/>
                </a:solidFill>
                <a:latin typeface="Karla"/>
              </a:rPr>
              <a:t>Talk about how you will build it. Nobody touches the paper yet.</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9" name="TextBox 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0" name="TextBox 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13 / 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ctr">
              <a:lnSpc>
                <a:spcPct val="125000"/>
              </a:lnSpc>
              <a:spcAft>
                <a:spcPts val="0"/>
              </a:spcAft>
            </a:pPr>
            <a:r>
              <a:rPr sz="1000" b="1" i="0" spc="160">
                <a:solidFill>
                  <a:srgbClr val="265C92"/>
                </a:solidFill>
                <a:latin typeface="Karla"/>
              </a:rPr>
              <a:t>PAPER TOWER</a:t>
            </a:r>
          </a:p>
        </p:txBody>
      </p:sp>
      <p:sp>
        <p:nvSpPr>
          <p:cNvPr id="4" name="Rounded Rectangle 3"/>
          <p:cNvSpPr/>
          <p:nvPr/>
        </p:nvSpPr>
        <p:spPr>
          <a:xfrm>
            <a:off x="4190024" y="1280160"/>
            <a:ext cx="763950" cy="237744"/>
          </a:xfrm>
          <a:prstGeom prst="roundRect">
            <a:avLst>
              <a:gd name="adj" fmla="val 50000"/>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Karla"/>
              </a:rPr>
              <a:t>BUILD</a:t>
            </a:r>
          </a:p>
        </p:txBody>
      </p:sp>
      <p:sp>
        <p:nvSpPr>
          <p:cNvPr id="5" name="TextBox 4"/>
          <p:cNvSpPr txBox="1"/>
          <p:nvPr/>
        </p:nvSpPr>
        <p:spPr>
          <a:xfrm>
            <a:off x="548640" y="1847088"/>
            <a:ext cx="8046720" cy="768096"/>
          </a:xfrm>
          <a:prstGeom prst="rect">
            <a:avLst/>
          </a:prstGeom>
          <a:noFill/>
          <a:effectLst/>
        </p:spPr>
        <p:txBody>
          <a:bodyPr wrap="square" anchor="t" lIns="0" rIns="0" tIns="0" bIns="0">
            <a:spAutoFit/>
          </a:bodyPr>
          <a:lstStyle/>
          <a:p>
            <a:pPr algn="ctr">
              <a:lnSpc>
                <a:spcPct val="105000"/>
              </a:lnSpc>
              <a:spcAft>
                <a:spcPts val="0"/>
              </a:spcAft>
            </a:pPr>
            <a:r>
              <a:rPr sz="4400" b="1" i="0">
                <a:solidFill>
                  <a:srgbClr val="265C92"/>
                </a:solidFill>
                <a:latin typeface="Libre Caslon Display"/>
              </a:rPr>
              <a:t>Eight minutes to build</a:t>
            </a:r>
          </a:p>
        </p:txBody>
      </p:sp>
      <p:sp>
        <p:nvSpPr>
          <p:cNvPr id="6" name="Rectangle 5"/>
          <p:cNvSpPr/>
          <p:nvPr/>
        </p:nvSpPr>
        <p:spPr>
          <a:xfrm>
            <a:off x="4114800" y="2798064"/>
            <a:ext cx="914400" cy="18288"/>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188720" y="2999232"/>
            <a:ext cx="6766560" cy="1097280"/>
          </a:xfrm>
          <a:prstGeom prst="rect">
            <a:avLst/>
          </a:prstGeom>
          <a:noFill/>
          <a:effectLst/>
        </p:spPr>
        <p:txBody>
          <a:bodyPr wrap="square" anchor="t" lIns="0" rIns="0" tIns="0" bIns="0">
            <a:spAutoFit/>
          </a:bodyPr>
          <a:lstStyle/>
          <a:p>
            <a:pPr algn="ctr">
              <a:lnSpc>
                <a:spcPct val="130000"/>
              </a:lnSpc>
              <a:spcAft>
                <a:spcPts val="0"/>
              </a:spcAft>
            </a:pPr>
            <a:r>
              <a:rPr sz="1800" b="0" i="0">
                <a:solidFill>
                  <a:srgbClr val="5C6552"/>
                </a:solidFill>
                <a:latin typeface="Karla"/>
              </a:rPr>
              <a:t>When the time is up, your tower has to stand on its own for ten seconds.</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9" name="TextBox 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0" name="TextBox 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14 / 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ctr">
              <a:lnSpc>
                <a:spcPct val="125000"/>
              </a:lnSpc>
              <a:spcAft>
                <a:spcPts val="0"/>
              </a:spcAft>
            </a:pPr>
            <a:r>
              <a:rPr sz="1000" b="1" i="0" spc="160">
                <a:solidFill>
                  <a:srgbClr val="265C92"/>
                </a:solidFill>
                <a:latin typeface="Karla"/>
              </a:rPr>
              <a:t>PAPER TOWER</a:t>
            </a:r>
          </a:p>
        </p:txBody>
      </p:sp>
      <p:sp>
        <p:nvSpPr>
          <p:cNvPr id="4" name="Rounded Rectangle 3"/>
          <p:cNvSpPr/>
          <p:nvPr/>
        </p:nvSpPr>
        <p:spPr>
          <a:xfrm>
            <a:off x="4059731" y="1280160"/>
            <a:ext cx="1024537" cy="237744"/>
          </a:xfrm>
          <a:prstGeom prst="roundRect">
            <a:avLst>
              <a:gd name="adj" fmla="val 50000"/>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Karla"/>
              </a:rPr>
              <a:t>MEASURE</a:t>
            </a:r>
          </a:p>
        </p:txBody>
      </p:sp>
      <p:sp>
        <p:nvSpPr>
          <p:cNvPr id="5" name="TextBox 4"/>
          <p:cNvSpPr txBox="1"/>
          <p:nvPr/>
        </p:nvSpPr>
        <p:spPr>
          <a:xfrm>
            <a:off x="548640" y="1847088"/>
            <a:ext cx="8046720" cy="768096"/>
          </a:xfrm>
          <a:prstGeom prst="rect">
            <a:avLst/>
          </a:prstGeom>
          <a:noFill/>
          <a:effectLst/>
        </p:spPr>
        <p:txBody>
          <a:bodyPr wrap="square" anchor="t" lIns="0" rIns="0" tIns="0" bIns="0">
            <a:spAutoFit/>
          </a:bodyPr>
          <a:lstStyle/>
          <a:p>
            <a:pPr algn="ctr">
              <a:lnSpc>
                <a:spcPct val="105000"/>
              </a:lnSpc>
              <a:spcAft>
                <a:spcPts val="0"/>
              </a:spcAft>
            </a:pPr>
            <a:r>
              <a:rPr sz="4400" b="1" i="0">
                <a:solidFill>
                  <a:srgbClr val="265C92"/>
                </a:solidFill>
                <a:latin typeface="Libre Caslon Display"/>
              </a:rPr>
              <a:t>Hands off</a:t>
            </a:r>
          </a:p>
        </p:txBody>
      </p:sp>
      <p:sp>
        <p:nvSpPr>
          <p:cNvPr id="6" name="Rectangle 5"/>
          <p:cNvSpPr/>
          <p:nvPr/>
        </p:nvSpPr>
        <p:spPr>
          <a:xfrm>
            <a:off x="4114800" y="2798064"/>
            <a:ext cx="914400" cy="18288"/>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188720" y="2999232"/>
            <a:ext cx="6766560" cy="1097280"/>
          </a:xfrm>
          <a:prstGeom prst="rect">
            <a:avLst/>
          </a:prstGeom>
          <a:noFill/>
          <a:effectLst/>
        </p:spPr>
        <p:txBody>
          <a:bodyPr wrap="square" anchor="t" lIns="0" rIns="0" tIns="0" bIns="0">
            <a:spAutoFit/>
          </a:bodyPr>
          <a:lstStyle/>
          <a:p>
            <a:pPr algn="ctr">
              <a:lnSpc>
                <a:spcPct val="130000"/>
              </a:lnSpc>
              <a:spcAft>
                <a:spcPts val="0"/>
              </a:spcAft>
            </a:pPr>
            <a:r>
              <a:rPr sz="1800" b="0" i="0">
                <a:solidFill>
                  <a:srgbClr val="5C6552"/>
                </a:solidFill>
                <a:latin typeface="Karla"/>
              </a:rPr>
              <a:t>Everybody steps back. Count to ten out loud together, then the towers still standing get measured.</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9" name="TextBox 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0" name="TextBox 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15 / 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PAPER TOWER  ·  TALK ABOUT IT</a:t>
            </a:r>
          </a:p>
        </p:txBody>
      </p:sp>
      <p:sp>
        <p:nvSpPr>
          <p:cNvPr id="4" name="KEEP_SHADOW"/>
          <p:cNvSpPr/>
          <p:nvPr/>
        </p:nvSpPr>
        <p:spPr>
          <a:xfrm>
            <a:off x="685800" y="713232"/>
            <a:ext cx="7772400" cy="1225296"/>
          </a:xfrm>
          <a:prstGeom prst="roundRect">
            <a:avLst>
              <a:gd name="adj" fmla="val 6000"/>
            </a:avLst>
          </a:prstGeom>
          <a:solidFill>
            <a:srgbClr val="F0F4F7"/>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85800" y="713232"/>
            <a:ext cx="64008" cy="1225296"/>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896112"/>
            <a:ext cx="7040880" cy="877824"/>
          </a:xfrm>
          <a:prstGeom prst="rect">
            <a:avLst/>
          </a:prstGeom>
          <a:noFill/>
          <a:effectLst/>
        </p:spPr>
        <p:txBody>
          <a:bodyPr wrap="square" anchor="t" lIns="0" rIns="0" tIns="0" bIns="0">
            <a:spAutoFit/>
          </a:bodyPr>
          <a:lstStyle/>
          <a:p>
            <a:pPr algn="l">
              <a:lnSpc>
                <a:spcPct val="108000"/>
              </a:lnSpc>
              <a:spcAft>
                <a:spcPts val="0"/>
              </a:spcAft>
            </a:pPr>
            <a:r>
              <a:rPr sz="2600" b="1" i="0">
                <a:solidFill>
                  <a:srgbClr val="265C92"/>
                </a:solidFill>
                <a:latin typeface="Libre Caslon Display"/>
              </a:rPr>
              <a:t>What did the team that did best</a:t>
            </a:r>
            <a:br>
              <a:rPr lang="en-GB"/>
            </a:br>
            <a:r>
              <a:rPr sz="2600" b="1" i="0">
                <a:solidFill>
                  <a:srgbClr val="265C92"/>
                </a:solidFill>
                <a:latin typeface="Libre Caslon Display"/>
              </a:rPr>
              <a:t>actually do?</a:t>
            </a:r>
          </a:p>
        </p:txBody>
      </p:sp>
      <p:sp>
        <p:nvSpPr>
          <p:cNvPr id="7" name="TextBox 6"/>
          <p:cNvSpPr txBox="1"/>
          <p:nvPr/>
        </p:nvSpPr>
        <p:spPr>
          <a:xfrm>
            <a:off x="685800" y="2139696"/>
            <a:ext cx="7772400" cy="219456"/>
          </a:xfrm>
          <a:prstGeom prst="rect">
            <a:avLst/>
          </a:prstGeom>
          <a:noFill/>
          <a:effectLst/>
        </p:spPr>
        <p:txBody>
          <a:bodyPr wrap="square" anchor="t" lIns="0" rIns="0" tIns="0" bIns="0">
            <a:spAutoFit/>
          </a:bodyPr>
          <a:lstStyle/>
          <a:p>
            <a:pPr algn="l">
              <a:lnSpc>
                <a:spcPct val="125000"/>
              </a:lnSpc>
              <a:spcAft>
                <a:spcPts val="0"/>
              </a:spcAft>
            </a:pPr>
            <a:r>
              <a:rPr sz="1000" b="1" i="0" spc="140">
                <a:solidFill>
                  <a:srgbClr val="8B9179"/>
                </a:solidFill>
                <a:latin typeface="Karla"/>
              </a:rPr>
              <a:t>THEN ASK</a:t>
            </a:r>
          </a:p>
        </p:txBody>
      </p:sp>
      <p:sp>
        <p:nvSpPr>
          <p:cNvPr id="8" name="Oval 7"/>
          <p:cNvSpPr/>
          <p:nvPr/>
        </p:nvSpPr>
        <p:spPr>
          <a:xfrm>
            <a:off x="754380" y="2510028"/>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51560" y="2432304"/>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Why did the tallest tower stay up when others fell?</a:t>
            </a:r>
          </a:p>
        </p:txBody>
      </p:sp>
      <p:sp>
        <p:nvSpPr>
          <p:cNvPr id="10" name="Oval 9"/>
          <p:cNvSpPr/>
          <p:nvPr/>
        </p:nvSpPr>
        <p:spPr>
          <a:xfrm>
            <a:off x="754380" y="2983484"/>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905760"/>
            <a:ext cx="7223760" cy="508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Did your team use the planning time, or start building as soon as it could?</a:t>
            </a:r>
          </a:p>
        </p:txBody>
      </p:sp>
      <p:sp>
        <p:nvSpPr>
          <p:cNvPr id="12" name="Oval 11"/>
          <p:cNvSpPr/>
          <p:nvPr/>
        </p:nvSpPr>
        <p:spPr>
          <a:xfrm>
            <a:off x="754380" y="3710940"/>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51560" y="3633216"/>
            <a:ext cx="7223760" cy="508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Whose idea did the team end up using, and did the team listen to it the first time?</a:t>
            </a:r>
          </a:p>
        </p:txBody>
      </p:sp>
      <p:pic>
        <p:nvPicPr>
          <p:cNvPr id="14" name="Picture 13"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5" name="TextBox 14"/>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6" name="TextBox 15"/>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16 / 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710555" y="786384"/>
            <a:ext cx="1722888" cy="237744"/>
          </a:xfrm>
          <a:prstGeom prst="roundRect">
            <a:avLst>
              <a:gd name="adj" fmla="val 50000"/>
            </a:avLst>
          </a:prstGeom>
          <a:solidFill>
            <a:srgbClr val="C2D1E0"/>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265C92"/>
                </a:solidFill>
                <a:latin typeface="Karla"/>
              </a:rPr>
              <a:t>CHALLENGE 3 OF 5</a:t>
            </a:r>
          </a:p>
        </p:txBody>
      </p:sp>
      <p:sp>
        <p:nvSpPr>
          <p:cNvPr id="4" name="Oval 3"/>
          <p:cNvSpPr/>
          <p:nvPr/>
        </p:nvSpPr>
        <p:spPr>
          <a:xfrm>
            <a:off x="4178808" y="1234440"/>
            <a:ext cx="786384" cy="786384"/>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jigsaw.png"/>
          <p:cNvPicPr>
            <a:picLocks noChangeAspect="1"/>
          </p:cNvPicPr>
          <p:nvPr/>
        </p:nvPicPr>
        <p:blipFill>
          <a:blip r:embed="rId2"/>
          <a:stretch>
            <a:fillRect/>
          </a:stretch>
        </p:blipFill>
        <p:spPr>
          <a:xfrm>
            <a:off x="4334256" y="1389888"/>
            <a:ext cx="475488" cy="475488"/>
          </a:xfrm>
          <a:prstGeom prst="rect">
            <a:avLst/>
          </a:prstGeom>
          <a:effectLst/>
        </p:spPr>
      </p:pic>
      <p:sp>
        <p:nvSpPr>
          <p:cNvPr id="6" name="TextBox 5"/>
          <p:cNvSpPr txBox="1"/>
          <p:nvPr/>
        </p:nvSpPr>
        <p:spPr>
          <a:xfrm>
            <a:off x="548640" y="2194560"/>
            <a:ext cx="8046720" cy="731520"/>
          </a:xfrm>
          <a:prstGeom prst="rect">
            <a:avLst/>
          </a:prstGeom>
          <a:noFill/>
          <a:effectLst/>
        </p:spPr>
        <p:txBody>
          <a:bodyPr wrap="square" anchor="t" lIns="0" rIns="0" tIns="0" bIns="0">
            <a:spAutoFit/>
          </a:bodyPr>
          <a:lstStyle/>
          <a:p>
            <a:pPr algn="ctr">
              <a:lnSpc>
                <a:spcPct val="105000"/>
              </a:lnSpc>
              <a:spcAft>
                <a:spcPts val="0"/>
              </a:spcAft>
            </a:pPr>
            <a:r>
              <a:rPr sz="4400" b="1" i="0">
                <a:solidFill>
                  <a:srgbClr val="FFFDF7"/>
                </a:solidFill>
                <a:latin typeface="Libre Caslon Display"/>
              </a:rPr>
              <a:t>Split Clues</a:t>
            </a:r>
          </a:p>
        </p:txBody>
      </p:sp>
      <p:sp>
        <p:nvSpPr>
          <p:cNvPr id="7" name="Rectangle 6"/>
          <p:cNvSpPr/>
          <p:nvPr/>
        </p:nvSpPr>
        <p:spPr>
          <a:xfrm>
            <a:off x="4114800" y="3054096"/>
            <a:ext cx="914400" cy="18288"/>
          </a:xfrm>
          <a:prstGeom prst="rect">
            <a:avLst/>
          </a:prstGeom>
          <a:solidFill>
            <a:srgbClr val="C2D1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188720" y="3255264"/>
            <a:ext cx="6766560" cy="822960"/>
          </a:xfrm>
          <a:prstGeom prst="rect">
            <a:avLst/>
          </a:prstGeom>
          <a:noFill/>
          <a:effectLst/>
        </p:spPr>
        <p:txBody>
          <a:bodyPr wrap="square" anchor="t" lIns="0" rIns="0" tIns="0" bIns="0">
            <a:spAutoFit/>
          </a:bodyPr>
          <a:lstStyle/>
          <a:p>
            <a:pPr algn="ctr">
              <a:lnSpc>
                <a:spcPct val="130000"/>
              </a:lnSpc>
              <a:spcAft>
                <a:spcPts val="0"/>
              </a:spcAft>
            </a:pPr>
            <a:r>
              <a:rPr sz="1600" b="0" i="0">
                <a:solidFill>
                  <a:srgbClr val="C2D1E0"/>
                </a:solidFill>
                <a:latin typeface="Karla"/>
              </a:rPr>
              <a:t>Solve a puzzle together when the clues are shared out and nobody can see anyone else’s.</a:t>
            </a:r>
          </a:p>
        </p:txBody>
      </p:sp>
      <p:pic>
        <p:nvPicPr>
          <p:cNvPr id="9" name="Picture 8" descr="logo-mark.png"/>
          <p:cNvPicPr>
            <a:picLocks noChangeAspect="1"/>
          </p:cNvPicPr>
          <p:nvPr/>
        </p:nvPicPr>
        <p:blipFill>
          <a:blip r:embed="rId3"/>
          <a:stretch>
            <a:fillRect/>
          </a:stretch>
        </p:blipFill>
        <p:spPr>
          <a:xfrm>
            <a:off x="384048" y="4727448"/>
            <a:ext cx="158374" cy="182880"/>
          </a:xfrm>
          <a:prstGeom prst="rect">
            <a:avLst/>
          </a:prstGeom>
          <a:effectLst/>
        </p:spPr>
      </p:pic>
      <p:sp>
        <p:nvSpPr>
          <p:cNvPr id="10" name="TextBox 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C2D1E0"/>
                </a:solidFill>
                <a:latin typeface="Karla"/>
              </a:rPr>
              <a:t>The Pastoral Guide</a:t>
            </a:r>
          </a:p>
        </p:txBody>
      </p:sp>
      <p:sp>
        <p:nvSpPr>
          <p:cNvPr id="11" name="TextBox 1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C2D1E0"/>
                </a:solidFill>
                <a:latin typeface="Karla"/>
              </a:rPr>
              <a:t>17 / 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SPLIT CLUES  ·  THE RULES</a:t>
            </a:r>
          </a:p>
        </p:txBody>
      </p:sp>
      <p:sp>
        <p:nvSpPr>
          <p:cNvPr id="4" name="TextBox 3"/>
          <p:cNvSpPr txBox="1"/>
          <p:nvPr/>
        </p:nvSpPr>
        <p:spPr>
          <a:xfrm>
            <a:off x="685800" y="640080"/>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Everyone holds a clue</a:t>
            </a:r>
          </a:p>
        </p:txBody>
      </p:sp>
      <p:sp>
        <p:nvSpPr>
          <p:cNvPr id="5" name="Rounded Rectangle 4"/>
          <p:cNvSpPr/>
          <p:nvPr/>
        </p:nvSpPr>
        <p:spPr>
          <a:xfrm>
            <a:off x="685800" y="1316736"/>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85800" y="1316736"/>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96112" y="1497044"/>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96112" y="1597628"/>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a:t>
            </a:r>
          </a:p>
        </p:txBody>
      </p:sp>
      <p:sp>
        <p:nvSpPr>
          <p:cNvPr id="9" name="TextBox 8"/>
          <p:cNvSpPr txBox="1"/>
          <p:nvPr/>
        </p:nvSpPr>
        <p:spPr>
          <a:xfrm>
            <a:off x="1472184" y="1435607"/>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Share out the cards</a:t>
            </a:r>
          </a:p>
        </p:txBody>
      </p:sp>
      <p:sp>
        <p:nvSpPr>
          <p:cNvPr id="10" name="TextBox 9"/>
          <p:cNvSpPr txBox="1"/>
          <p:nvPr/>
        </p:nvSpPr>
        <p:spPr>
          <a:xfrm>
            <a:off x="1472184" y="1764792"/>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Deal out the eight clue cards so that everybody has one or two.</a:t>
            </a:r>
          </a:p>
        </p:txBody>
      </p:sp>
      <p:sp>
        <p:nvSpPr>
          <p:cNvPr id="11" name="Rounded Rectangle 10"/>
          <p:cNvSpPr/>
          <p:nvPr/>
        </p:nvSpPr>
        <p:spPr>
          <a:xfrm>
            <a:off x="685800" y="2244280"/>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244280"/>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424588"/>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525172"/>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2</a:t>
            </a:r>
          </a:p>
        </p:txBody>
      </p:sp>
      <p:sp>
        <p:nvSpPr>
          <p:cNvPr id="15" name="TextBox 14"/>
          <p:cNvSpPr txBox="1"/>
          <p:nvPr/>
        </p:nvSpPr>
        <p:spPr>
          <a:xfrm>
            <a:off x="1472184" y="2363152"/>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Say it, never show it</a:t>
            </a:r>
          </a:p>
        </p:txBody>
      </p:sp>
      <p:sp>
        <p:nvSpPr>
          <p:cNvPr id="16" name="TextBox 15"/>
          <p:cNvSpPr txBox="1"/>
          <p:nvPr/>
        </p:nvSpPr>
        <p:spPr>
          <a:xfrm>
            <a:off x="1472184" y="2692336"/>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You can read your clue out as often as you like, but nobody else can see it.</a:t>
            </a:r>
          </a:p>
        </p:txBody>
      </p:sp>
      <p:sp>
        <p:nvSpPr>
          <p:cNvPr id="17" name="Rounded Rectangle 16"/>
          <p:cNvSpPr/>
          <p:nvPr/>
        </p:nvSpPr>
        <p:spPr>
          <a:xfrm>
            <a:off x="685800" y="3171825"/>
            <a:ext cx="7772400" cy="995553"/>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85800" y="3171825"/>
            <a:ext cx="54864" cy="995553"/>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896112" y="3459289"/>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96112" y="3559873"/>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3</a:t>
            </a:r>
          </a:p>
        </p:txBody>
      </p:sp>
      <p:sp>
        <p:nvSpPr>
          <p:cNvPr id="21" name="TextBox 20"/>
          <p:cNvSpPr txBox="1"/>
          <p:nvPr/>
        </p:nvSpPr>
        <p:spPr>
          <a:xfrm>
            <a:off x="1472184" y="3290697"/>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Solve it together</a:t>
            </a:r>
          </a:p>
        </p:txBody>
      </p:sp>
      <p:sp>
        <p:nvSpPr>
          <p:cNvPr id="22" name="TextBox 21"/>
          <p:cNvSpPr txBox="1"/>
          <p:nvPr/>
        </p:nvSpPr>
        <p:spPr>
          <a:xfrm>
            <a:off x="1472184" y="3619881"/>
            <a:ext cx="6729984" cy="520065"/>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Work out who lost what, and on which day. Use the grid on your sheet to keep track.</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18 / 35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SPLIT CLUES  ·  THE PUZZLE</a:t>
            </a:r>
          </a:p>
        </p:txBody>
      </p:sp>
      <p:sp>
        <p:nvSpPr>
          <p:cNvPr id="4" name="TextBox 3"/>
          <p:cNvSpPr txBox="1"/>
          <p:nvPr/>
        </p:nvSpPr>
        <p:spPr>
          <a:xfrm>
            <a:off x="685800" y="640080"/>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The lost property box</a:t>
            </a:r>
          </a:p>
        </p:txBody>
      </p:sp>
      <p:sp>
        <p:nvSpPr>
          <p:cNvPr id="5" name="TextBox 4"/>
          <p:cNvSpPr txBox="1"/>
          <p:nvPr/>
        </p:nvSpPr>
        <p:spPr>
          <a:xfrm>
            <a:off x="685800" y="1280160"/>
            <a:ext cx="7772400" cy="914400"/>
          </a:xfrm>
          <a:prstGeom prst="rect">
            <a:avLst/>
          </a:prstGeom>
          <a:noFill/>
          <a:effectLst/>
        </p:spPr>
        <p:txBody>
          <a:bodyPr wrap="square" anchor="t" lIns="0" rIns="0" tIns="0" bIns="0">
            <a:spAutoFit/>
          </a:bodyPr>
          <a:lstStyle/>
          <a:p>
            <a:pPr algn="l">
              <a:lnSpc>
                <a:spcPct val="132000"/>
              </a:lnSpc>
              <a:spcAft>
                <a:spcPts val="0"/>
              </a:spcAft>
            </a:pPr>
            <a:r>
              <a:rPr sz="1600" b="0" i="0">
                <a:solidFill>
                  <a:srgbClr val="2E3436"/>
                </a:solidFill>
                <a:latin typeface="Karla"/>
              </a:rPr>
              <a:t>Last week, four students each lost one thing, on a different day from Monday to Thursday. The students were Amira, Ben, Chloe and Dev. The four things were a scarf, a water bottle, a PE bag and a pencil case.</a:t>
            </a:r>
          </a:p>
        </p:txBody>
      </p:sp>
      <p:sp>
        <p:nvSpPr>
          <p:cNvPr id="6" name="Rounded Rectangle 5"/>
          <p:cNvSpPr/>
          <p:nvPr/>
        </p:nvSpPr>
        <p:spPr>
          <a:xfrm>
            <a:off x="685800" y="2432304"/>
            <a:ext cx="7772400" cy="1005840"/>
          </a:xfrm>
          <a:prstGeom prst="roundRect">
            <a:avLst>
              <a:gd name="adj" fmla="val 6000"/>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2432304"/>
            <a:ext cx="64008" cy="1005840"/>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051560" y="2706624"/>
            <a:ext cx="7040880" cy="457200"/>
          </a:xfrm>
          <a:prstGeom prst="rect">
            <a:avLst/>
          </a:prstGeom>
          <a:noFill/>
          <a:effectLst/>
        </p:spPr>
        <p:txBody>
          <a:bodyPr wrap="square" anchor="t" lIns="0" rIns="0" tIns="0" bIns="0">
            <a:spAutoFit/>
          </a:bodyPr>
          <a:lstStyle/>
          <a:p>
            <a:pPr algn="l">
              <a:lnSpc>
                <a:spcPct val="125000"/>
              </a:lnSpc>
              <a:spcAft>
                <a:spcPts val="0"/>
              </a:spcAft>
            </a:pPr>
            <a:r>
              <a:rPr sz="2600" b="1" i="0">
                <a:solidFill>
                  <a:srgbClr val="265C92"/>
                </a:solidFill>
                <a:latin typeface="Libre Caslon Display"/>
              </a:rPr>
              <a:t>Who lost what, and on which day?</a:t>
            </a:r>
          </a:p>
        </p:txBody>
      </p:sp>
      <p:sp>
        <p:nvSpPr>
          <p:cNvPr id="9" name="TextBox 8"/>
          <p:cNvSpPr txBox="1"/>
          <p:nvPr/>
        </p:nvSpPr>
        <p:spPr>
          <a:xfrm>
            <a:off x="685800" y="3694176"/>
            <a:ext cx="7772400" cy="548640"/>
          </a:xfrm>
          <a:prstGeom prst="rect">
            <a:avLst/>
          </a:prstGeom>
          <a:noFill/>
          <a:effectLst/>
        </p:spPr>
        <p:txBody>
          <a:bodyPr wrap="square" anchor="t" lIns="0" rIns="0" tIns="0" bIns="0">
            <a:spAutoFit/>
          </a:bodyPr>
          <a:lstStyle/>
          <a:p>
            <a:pPr algn="l">
              <a:lnSpc>
                <a:spcPct val="125000"/>
              </a:lnSpc>
              <a:spcAft>
                <a:spcPts val="0"/>
              </a:spcAft>
            </a:pPr>
            <a:r>
              <a:rPr sz="1300" b="0" i="1">
                <a:solidFill>
                  <a:srgbClr val="5C6552"/>
                </a:solidFill>
                <a:latin typeface="Karla"/>
              </a:rPr>
              <a:t>Every one of the eight clues is needed. When your team thinks it has the answer, put your hands up and your teacher will check it.</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1" name="TextBox 10"/>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2" name="TextBox 11"/>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19 / 35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SPLIT CLUES  ·  THE ANSWER</a:t>
            </a:r>
          </a:p>
        </p:txBody>
      </p:sp>
      <p:sp>
        <p:nvSpPr>
          <p:cNvPr id="4" name="TextBox 3"/>
          <p:cNvSpPr txBox="1"/>
          <p:nvPr/>
        </p:nvSpPr>
        <p:spPr>
          <a:xfrm>
            <a:off x="685800" y="640080"/>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Who lost what</a:t>
            </a:r>
          </a:p>
        </p:txBody>
      </p:sp>
      <p:sp>
        <p:nvSpPr>
          <p:cNvPr id="5" name="Rounded Rectangle 4"/>
          <p:cNvSpPr/>
          <p:nvPr/>
        </p:nvSpPr>
        <p:spPr>
          <a:xfrm>
            <a:off x="685800" y="1426464"/>
            <a:ext cx="7772400" cy="585216"/>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85800" y="1426464"/>
            <a:ext cx="54864" cy="585216"/>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14983" y="1591056"/>
            <a:ext cx="2194560" cy="274320"/>
          </a:xfrm>
          <a:prstGeom prst="rect">
            <a:avLst/>
          </a:prstGeom>
          <a:noFill/>
          <a:effectLst/>
        </p:spPr>
        <p:txBody>
          <a:bodyPr wrap="square" anchor="t" lIns="0" rIns="0" tIns="0" bIns="0">
            <a:spAutoFit/>
          </a:bodyPr>
          <a:lstStyle/>
          <a:p>
            <a:pPr algn="l">
              <a:lnSpc>
                <a:spcPct val="125000"/>
              </a:lnSpc>
              <a:spcAft>
                <a:spcPts val="0"/>
              </a:spcAft>
            </a:pPr>
            <a:r>
              <a:rPr sz="1200" b="1" i="0" spc="120">
                <a:solidFill>
                  <a:srgbClr val="265C92"/>
                </a:solidFill>
                <a:latin typeface="Karla"/>
              </a:rPr>
              <a:t>MONDAY</a:t>
            </a:r>
          </a:p>
        </p:txBody>
      </p:sp>
      <p:sp>
        <p:nvSpPr>
          <p:cNvPr id="8" name="TextBox 7"/>
          <p:cNvSpPr txBox="1"/>
          <p:nvPr/>
        </p:nvSpPr>
        <p:spPr>
          <a:xfrm>
            <a:off x="3063240" y="1545336"/>
            <a:ext cx="5120640" cy="365760"/>
          </a:xfrm>
          <a:prstGeom prst="rect">
            <a:avLst/>
          </a:prstGeom>
          <a:noFill/>
          <a:effectLst/>
        </p:spPr>
        <p:txBody>
          <a:bodyPr wrap="square" anchor="t" lIns="0" rIns="0" tIns="0" bIns="0">
            <a:spAutoFit/>
          </a:bodyPr>
          <a:lstStyle/>
          <a:p>
            <a:pPr algn="l">
              <a:lnSpc>
                <a:spcPct val="125000"/>
              </a:lnSpc>
              <a:spcAft>
                <a:spcPts val="0"/>
              </a:spcAft>
            </a:pPr>
            <a:r>
              <a:rPr sz="1800" b="1" i="0">
                <a:solidFill>
                  <a:srgbClr val="2E3436"/>
                </a:solidFill>
                <a:latin typeface="Libre Caslon Display"/>
              </a:rPr>
              <a:t>Amira lost the PE bag.</a:t>
            </a:r>
          </a:p>
        </p:txBody>
      </p:sp>
      <p:sp>
        <p:nvSpPr>
          <p:cNvPr id="9" name="Rounded Rectangle 8"/>
          <p:cNvSpPr/>
          <p:nvPr/>
        </p:nvSpPr>
        <p:spPr>
          <a:xfrm>
            <a:off x="685800" y="2139696"/>
            <a:ext cx="7772400" cy="585216"/>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85800" y="2139696"/>
            <a:ext cx="54864" cy="585216"/>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14983" y="2304288"/>
            <a:ext cx="2194560" cy="274320"/>
          </a:xfrm>
          <a:prstGeom prst="rect">
            <a:avLst/>
          </a:prstGeom>
          <a:noFill/>
          <a:effectLst/>
        </p:spPr>
        <p:txBody>
          <a:bodyPr wrap="square" anchor="t" lIns="0" rIns="0" tIns="0" bIns="0">
            <a:spAutoFit/>
          </a:bodyPr>
          <a:lstStyle/>
          <a:p>
            <a:pPr algn="l">
              <a:lnSpc>
                <a:spcPct val="125000"/>
              </a:lnSpc>
              <a:spcAft>
                <a:spcPts val="0"/>
              </a:spcAft>
            </a:pPr>
            <a:r>
              <a:rPr sz="1200" b="1" i="0" spc="120">
                <a:solidFill>
                  <a:srgbClr val="265C92"/>
                </a:solidFill>
                <a:latin typeface="Karla"/>
              </a:rPr>
              <a:t>TUESDAY</a:t>
            </a:r>
          </a:p>
        </p:txBody>
      </p:sp>
      <p:sp>
        <p:nvSpPr>
          <p:cNvPr id="12" name="TextBox 11"/>
          <p:cNvSpPr txBox="1"/>
          <p:nvPr/>
        </p:nvSpPr>
        <p:spPr>
          <a:xfrm>
            <a:off x="3063240" y="2258568"/>
            <a:ext cx="5120640" cy="365760"/>
          </a:xfrm>
          <a:prstGeom prst="rect">
            <a:avLst/>
          </a:prstGeom>
          <a:noFill/>
          <a:effectLst/>
        </p:spPr>
        <p:txBody>
          <a:bodyPr wrap="square" anchor="t" lIns="0" rIns="0" tIns="0" bIns="0">
            <a:spAutoFit/>
          </a:bodyPr>
          <a:lstStyle/>
          <a:p>
            <a:pPr algn="l">
              <a:lnSpc>
                <a:spcPct val="125000"/>
              </a:lnSpc>
              <a:spcAft>
                <a:spcPts val="0"/>
              </a:spcAft>
            </a:pPr>
            <a:r>
              <a:rPr sz="1800" b="1" i="0">
                <a:solidFill>
                  <a:srgbClr val="2E3436"/>
                </a:solidFill>
                <a:latin typeface="Libre Caslon Display"/>
              </a:rPr>
              <a:t>Dev lost the scarf.</a:t>
            </a:r>
          </a:p>
        </p:txBody>
      </p:sp>
      <p:sp>
        <p:nvSpPr>
          <p:cNvPr id="13" name="Rounded Rectangle 12"/>
          <p:cNvSpPr/>
          <p:nvPr/>
        </p:nvSpPr>
        <p:spPr>
          <a:xfrm>
            <a:off x="685800" y="2852928"/>
            <a:ext cx="7772400" cy="585216"/>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85800" y="2852928"/>
            <a:ext cx="54864" cy="585216"/>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14983" y="3017520"/>
            <a:ext cx="2194560" cy="274320"/>
          </a:xfrm>
          <a:prstGeom prst="rect">
            <a:avLst/>
          </a:prstGeom>
          <a:noFill/>
          <a:effectLst/>
        </p:spPr>
        <p:txBody>
          <a:bodyPr wrap="square" anchor="t" lIns="0" rIns="0" tIns="0" bIns="0">
            <a:spAutoFit/>
          </a:bodyPr>
          <a:lstStyle/>
          <a:p>
            <a:pPr algn="l">
              <a:lnSpc>
                <a:spcPct val="125000"/>
              </a:lnSpc>
              <a:spcAft>
                <a:spcPts val="0"/>
              </a:spcAft>
            </a:pPr>
            <a:r>
              <a:rPr sz="1200" b="1" i="0" spc="120">
                <a:solidFill>
                  <a:srgbClr val="265C92"/>
                </a:solidFill>
                <a:latin typeface="Karla"/>
              </a:rPr>
              <a:t>WEDNESDAY</a:t>
            </a:r>
          </a:p>
        </p:txBody>
      </p:sp>
      <p:sp>
        <p:nvSpPr>
          <p:cNvPr id="16" name="TextBox 15"/>
          <p:cNvSpPr txBox="1"/>
          <p:nvPr/>
        </p:nvSpPr>
        <p:spPr>
          <a:xfrm>
            <a:off x="3063240" y="2971800"/>
            <a:ext cx="5120640" cy="365760"/>
          </a:xfrm>
          <a:prstGeom prst="rect">
            <a:avLst/>
          </a:prstGeom>
          <a:noFill/>
          <a:effectLst/>
        </p:spPr>
        <p:txBody>
          <a:bodyPr wrap="square" anchor="t" lIns="0" rIns="0" tIns="0" bIns="0">
            <a:spAutoFit/>
          </a:bodyPr>
          <a:lstStyle/>
          <a:p>
            <a:pPr algn="l">
              <a:lnSpc>
                <a:spcPct val="125000"/>
              </a:lnSpc>
              <a:spcAft>
                <a:spcPts val="0"/>
              </a:spcAft>
            </a:pPr>
            <a:r>
              <a:rPr sz="1800" b="1" i="0">
                <a:solidFill>
                  <a:srgbClr val="2E3436"/>
                </a:solidFill>
                <a:latin typeface="Libre Caslon Display"/>
              </a:rPr>
              <a:t>Chloe lost the water bottle.</a:t>
            </a:r>
          </a:p>
        </p:txBody>
      </p:sp>
      <p:sp>
        <p:nvSpPr>
          <p:cNvPr id="17" name="Rounded Rectangle 16"/>
          <p:cNvSpPr/>
          <p:nvPr/>
        </p:nvSpPr>
        <p:spPr>
          <a:xfrm>
            <a:off x="685800" y="3566160"/>
            <a:ext cx="7772400" cy="585216"/>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85800" y="3566160"/>
            <a:ext cx="54864" cy="585216"/>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14983" y="3730752"/>
            <a:ext cx="2194560" cy="274320"/>
          </a:xfrm>
          <a:prstGeom prst="rect">
            <a:avLst/>
          </a:prstGeom>
          <a:noFill/>
          <a:effectLst/>
        </p:spPr>
        <p:txBody>
          <a:bodyPr wrap="square" anchor="t" lIns="0" rIns="0" tIns="0" bIns="0">
            <a:spAutoFit/>
          </a:bodyPr>
          <a:lstStyle/>
          <a:p>
            <a:pPr algn="l">
              <a:lnSpc>
                <a:spcPct val="125000"/>
              </a:lnSpc>
              <a:spcAft>
                <a:spcPts val="0"/>
              </a:spcAft>
            </a:pPr>
            <a:r>
              <a:rPr sz="1200" b="1" i="0" spc="120">
                <a:solidFill>
                  <a:srgbClr val="265C92"/>
                </a:solidFill>
                <a:latin typeface="Karla"/>
              </a:rPr>
              <a:t>THURSDAY</a:t>
            </a:r>
          </a:p>
        </p:txBody>
      </p:sp>
      <p:sp>
        <p:nvSpPr>
          <p:cNvPr id="20" name="TextBox 19"/>
          <p:cNvSpPr txBox="1"/>
          <p:nvPr/>
        </p:nvSpPr>
        <p:spPr>
          <a:xfrm>
            <a:off x="3063240" y="3685032"/>
            <a:ext cx="5120640" cy="365760"/>
          </a:xfrm>
          <a:prstGeom prst="rect">
            <a:avLst/>
          </a:prstGeom>
          <a:noFill/>
          <a:effectLst/>
        </p:spPr>
        <p:txBody>
          <a:bodyPr wrap="square" anchor="t" lIns="0" rIns="0" tIns="0" bIns="0">
            <a:spAutoFit/>
          </a:bodyPr>
          <a:lstStyle/>
          <a:p>
            <a:pPr algn="l">
              <a:lnSpc>
                <a:spcPct val="125000"/>
              </a:lnSpc>
              <a:spcAft>
                <a:spcPts val="0"/>
              </a:spcAft>
            </a:pPr>
            <a:r>
              <a:rPr sz="1800" b="1" i="0">
                <a:solidFill>
                  <a:srgbClr val="2E3436"/>
                </a:solidFill>
                <a:latin typeface="Libre Caslon Display"/>
              </a:rPr>
              <a:t>Ben lost the pencil case.</a:t>
            </a:r>
          </a:p>
        </p:txBody>
      </p:sp>
      <p:pic>
        <p:nvPicPr>
          <p:cNvPr id="21" name="Picture 20"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2" name="TextBox 21"/>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3" name="TextBox 22"/>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20 / 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SPLIT CLUES  ·  TALK ABOUT IT</a:t>
            </a:r>
          </a:p>
        </p:txBody>
      </p:sp>
      <p:sp>
        <p:nvSpPr>
          <p:cNvPr id="4" name="KEEP_SHADOW"/>
          <p:cNvSpPr/>
          <p:nvPr/>
        </p:nvSpPr>
        <p:spPr>
          <a:xfrm>
            <a:off x="685800" y="713232"/>
            <a:ext cx="7772400" cy="1225296"/>
          </a:xfrm>
          <a:prstGeom prst="roundRect">
            <a:avLst>
              <a:gd name="adj" fmla="val 6000"/>
            </a:avLst>
          </a:prstGeom>
          <a:solidFill>
            <a:srgbClr val="F0F4F7"/>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85800" y="713232"/>
            <a:ext cx="64008" cy="1225296"/>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896112"/>
            <a:ext cx="7040880" cy="877824"/>
          </a:xfrm>
          <a:prstGeom prst="rect">
            <a:avLst/>
          </a:prstGeom>
          <a:noFill/>
          <a:effectLst/>
        </p:spPr>
        <p:txBody>
          <a:bodyPr wrap="square" anchor="t" lIns="0" rIns="0" tIns="0" bIns="0">
            <a:spAutoFit/>
          </a:bodyPr>
          <a:lstStyle/>
          <a:p>
            <a:pPr algn="l">
              <a:lnSpc>
                <a:spcPct val="108000"/>
              </a:lnSpc>
              <a:spcAft>
                <a:spcPts val="0"/>
              </a:spcAft>
            </a:pPr>
            <a:r>
              <a:rPr sz="2600" b="1" i="0">
                <a:solidFill>
                  <a:srgbClr val="265C92"/>
                </a:solidFill>
                <a:latin typeface="Libre Caslon Display"/>
              </a:rPr>
              <a:t>What did the team that did best</a:t>
            </a:r>
            <a:br>
              <a:rPr lang="en-GB"/>
            </a:br>
            <a:r>
              <a:rPr sz="2600" b="1" i="0">
                <a:solidFill>
                  <a:srgbClr val="265C92"/>
                </a:solidFill>
                <a:latin typeface="Libre Caslon Display"/>
              </a:rPr>
              <a:t>actually do?</a:t>
            </a:r>
          </a:p>
        </p:txBody>
      </p:sp>
      <p:sp>
        <p:nvSpPr>
          <p:cNvPr id="7" name="TextBox 6"/>
          <p:cNvSpPr txBox="1"/>
          <p:nvPr/>
        </p:nvSpPr>
        <p:spPr>
          <a:xfrm>
            <a:off x="685800" y="2139696"/>
            <a:ext cx="7772400" cy="219456"/>
          </a:xfrm>
          <a:prstGeom prst="rect">
            <a:avLst/>
          </a:prstGeom>
          <a:noFill/>
          <a:effectLst/>
        </p:spPr>
        <p:txBody>
          <a:bodyPr wrap="square" anchor="t" lIns="0" rIns="0" tIns="0" bIns="0">
            <a:spAutoFit/>
          </a:bodyPr>
          <a:lstStyle/>
          <a:p>
            <a:pPr algn="l">
              <a:lnSpc>
                <a:spcPct val="125000"/>
              </a:lnSpc>
              <a:spcAft>
                <a:spcPts val="0"/>
              </a:spcAft>
            </a:pPr>
            <a:r>
              <a:rPr sz="1000" b="1" i="0" spc="140">
                <a:solidFill>
                  <a:srgbClr val="8B9179"/>
                </a:solidFill>
                <a:latin typeface="Karla"/>
              </a:rPr>
              <a:t>THEN ASK</a:t>
            </a:r>
          </a:p>
        </p:txBody>
      </p:sp>
      <p:sp>
        <p:nvSpPr>
          <p:cNvPr id="8" name="Oval 7"/>
          <p:cNvSpPr/>
          <p:nvPr/>
        </p:nvSpPr>
        <p:spPr>
          <a:xfrm>
            <a:off x="754380" y="2510028"/>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51560" y="2432304"/>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Did every clue get heard, or was somebody’s clue missed at first?</a:t>
            </a:r>
          </a:p>
        </p:txBody>
      </p:sp>
      <p:sp>
        <p:nvSpPr>
          <p:cNvPr id="10" name="Oval 9"/>
          <p:cNvSpPr/>
          <p:nvPr/>
        </p:nvSpPr>
        <p:spPr>
          <a:xfrm>
            <a:off x="754380" y="2983484"/>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905760"/>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Who wrote things down, and did it help the rest of the team?</a:t>
            </a:r>
          </a:p>
        </p:txBody>
      </p:sp>
      <p:sp>
        <p:nvSpPr>
          <p:cNvPr id="12" name="Oval 11"/>
          <p:cNvSpPr/>
          <p:nvPr/>
        </p:nvSpPr>
        <p:spPr>
          <a:xfrm>
            <a:off x="754380" y="3456940"/>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51560" y="3379216"/>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If you had a new set of clues tomorrow, what would you do first?</a:t>
            </a:r>
          </a:p>
        </p:txBody>
      </p:sp>
      <p:pic>
        <p:nvPicPr>
          <p:cNvPr id="14" name="Picture 13"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5" name="TextBox 14"/>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6" name="TextBox 15"/>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21 / 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710555" y="786384"/>
            <a:ext cx="1722888" cy="237744"/>
          </a:xfrm>
          <a:prstGeom prst="roundRect">
            <a:avLst>
              <a:gd name="adj" fmla="val 50000"/>
            </a:avLst>
          </a:prstGeom>
          <a:solidFill>
            <a:srgbClr val="C2D1E0"/>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265C92"/>
                </a:solidFill>
                <a:latin typeface="Karla"/>
              </a:rPr>
              <a:t>CHALLENGE 4 OF 5</a:t>
            </a:r>
          </a:p>
        </p:txBody>
      </p:sp>
      <p:sp>
        <p:nvSpPr>
          <p:cNvPr id="4" name="Oval 3"/>
          <p:cNvSpPr/>
          <p:nvPr/>
        </p:nvSpPr>
        <p:spPr>
          <a:xfrm>
            <a:off x="4178808" y="1234440"/>
            <a:ext cx="786384" cy="786384"/>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pen.png"/>
          <p:cNvPicPr>
            <a:picLocks noChangeAspect="1"/>
          </p:cNvPicPr>
          <p:nvPr/>
        </p:nvPicPr>
        <p:blipFill>
          <a:blip r:embed="rId2"/>
          <a:stretch>
            <a:fillRect/>
          </a:stretch>
        </p:blipFill>
        <p:spPr>
          <a:xfrm>
            <a:off x="4334256" y="1389888"/>
            <a:ext cx="475488" cy="475488"/>
          </a:xfrm>
          <a:prstGeom prst="rect">
            <a:avLst/>
          </a:prstGeom>
          <a:effectLst/>
        </p:spPr>
      </p:pic>
      <p:sp>
        <p:nvSpPr>
          <p:cNvPr id="6" name="TextBox 5"/>
          <p:cNvSpPr txBox="1"/>
          <p:nvPr/>
        </p:nvSpPr>
        <p:spPr>
          <a:xfrm>
            <a:off x="548640" y="2194560"/>
            <a:ext cx="8046720" cy="731520"/>
          </a:xfrm>
          <a:prstGeom prst="rect">
            <a:avLst/>
          </a:prstGeom>
          <a:noFill/>
          <a:effectLst/>
        </p:spPr>
        <p:txBody>
          <a:bodyPr wrap="square" anchor="t" lIns="0" rIns="0" tIns="0" bIns="0">
            <a:spAutoFit/>
          </a:bodyPr>
          <a:lstStyle/>
          <a:p>
            <a:pPr algn="ctr">
              <a:lnSpc>
                <a:spcPct val="105000"/>
              </a:lnSpc>
              <a:spcAft>
                <a:spcPts val="0"/>
              </a:spcAft>
            </a:pPr>
            <a:r>
              <a:rPr sz="4400" b="1" i="0">
                <a:solidFill>
                  <a:srgbClr val="FFFDF7"/>
                </a:solidFill>
                <a:latin typeface="Libre Caslon Display"/>
              </a:rPr>
              <a:t>Describe and Draw</a:t>
            </a:r>
          </a:p>
        </p:txBody>
      </p:sp>
      <p:sp>
        <p:nvSpPr>
          <p:cNvPr id="7" name="Rectangle 6"/>
          <p:cNvSpPr/>
          <p:nvPr/>
        </p:nvSpPr>
        <p:spPr>
          <a:xfrm>
            <a:off x="4114800" y="3054096"/>
            <a:ext cx="914400" cy="18288"/>
          </a:xfrm>
          <a:prstGeom prst="rect">
            <a:avLst/>
          </a:prstGeom>
          <a:solidFill>
            <a:srgbClr val="C2D1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188720" y="3255264"/>
            <a:ext cx="6766560" cy="822960"/>
          </a:xfrm>
          <a:prstGeom prst="rect">
            <a:avLst/>
          </a:prstGeom>
          <a:noFill/>
          <a:effectLst/>
        </p:spPr>
        <p:txBody>
          <a:bodyPr wrap="square" anchor="t" lIns="0" rIns="0" tIns="0" bIns="0">
            <a:spAutoFit/>
          </a:bodyPr>
          <a:lstStyle/>
          <a:p>
            <a:pPr algn="ctr">
              <a:lnSpc>
                <a:spcPct val="130000"/>
              </a:lnSpc>
              <a:spcAft>
                <a:spcPts val="0"/>
              </a:spcAft>
            </a:pPr>
            <a:r>
              <a:rPr sz="1600" b="0" i="0">
                <a:solidFill>
                  <a:srgbClr val="C2D1E0"/>
                </a:solidFill>
                <a:latin typeface="Karla"/>
              </a:rPr>
              <a:t>One of you describes a picture and the other draws it without seeing it.</a:t>
            </a:r>
          </a:p>
        </p:txBody>
      </p:sp>
      <p:pic>
        <p:nvPicPr>
          <p:cNvPr id="9" name="Picture 8" descr="logo-mark.png"/>
          <p:cNvPicPr>
            <a:picLocks noChangeAspect="1"/>
          </p:cNvPicPr>
          <p:nvPr/>
        </p:nvPicPr>
        <p:blipFill>
          <a:blip r:embed="rId3"/>
          <a:stretch>
            <a:fillRect/>
          </a:stretch>
        </p:blipFill>
        <p:spPr>
          <a:xfrm>
            <a:off x="384048" y="4727448"/>
            <a:ext cx="158374" cy="182880"/>
          </a:xfrm>
          <a:prstGeom prst="rect">
            <a:avLst/>
          </a:prstGeom>
          <a:effectLst/>
        </p:spPr>
      </p:pic>
      <p:sp>
        <p:nvSpPr>
          <p:cNvPr id="10" name="TextBox 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C2D1E0"/>
                </a:solidFill>
                <a:latin typeface="Karla"/>
              </a:rPr>
              <a:t>The Pastoral Guide</a:t>
            </a:r>
          </a:p>
        </p:txBody>
      </p:sp>
      <p:sp>
        <p:nvSpPr>
          <p:cNvPr id="11" name="TextBox 1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C2D1E0"/>
                </a:solidFill>
                <a:latin typeface="Karla"/>
              </a:rPr>
              <a:t>22 / 35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DESCRIBE AND DRAW  ·  SET UP</a:t>
            </a:r>
          </a:p>
        </p:txBody>
      </p:sp>
      <p:sp>
        <p:nvSpPr>
          <p:cNvPr id="4" name="TextBox 3"/>
          <p:cNvSpPr txBox="1"/>
          <p:nvPr/>
        </p:nvSpPr>
        <p:spPr>
          <a:xfrm>
            <a:off x="685800" y="640080"/>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Get into pairs</a:t>
            </a:r>
          </a:p>
        </p:txBody>
      </p:sp>
      <p:sp>
        <p:nvSpPr>
          <p:cNvPr id="5" name="Rounded Rectangle 4"/>
          <p:cNvSpPr/>
          <p:nvPr/>
        </p:nvSpPr>
        <p:spPr>
          <a:xfrm>
            <a:off x="685800" y="1316736"/>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85800" y="1316736"/>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96112" y="1497044"/>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96112" y="1597628"/>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a:t>
            </a:r>
          </a:p>
        </p:txBody>
      </p:sp>
      <p:sp>
        <p:nvSpPr>
          <p:cNvPr id="9" name="TextBox 8"/>
          <p:cNvSpPr txBox="1"/>
          <p:nvPr/>
        </p:nvSpPr>
        <p:spPr>
          <a:xfrm>
            <a:off x="1472184" y="1435607"/>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Facing the board</a:t>
            </a:r>
          </a:p>
        </p:txBody>
      </p:sp>
      <p:sp>
        <p:nvSpPr>
          <p:cNvPr id="10" name="TextBox 9"/>
          <p:cNvSpPr txBox="1"/>
          <p:nvPr/>
        </p:nvSpPr>
        <p:spPr>
          <a:xfrm>
            <a:off x="1472184" y="1764792"/>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The describer faces the board and describes the picture on it.</a:t>
            </a:r>
          </a:p>
        </p:txBody>
      </p:sp>
      <p:sp>
        <p:nvSpPr>
          <p:cNvPr id="11" name="Rounded Rectangle 10"/>
          <p:cNvSpPr/>
          <p:nvPr/>
        </p:nvSpPr>
        <p:spPr>
          <a:xfrm>
            <a:off x="685800" y="2244280"/>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244280"/>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424588"/>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525172"/>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2</a:t>
            </a:r>
          </a:p>
        </p:txBody>
      </p:sp>
      <p:sp>
        <p:nvSpPr>
          <p:cNvPr id="15" name="TextBox 14"/>
          <p:cNvSpPr txBox="1"/>
          <p:nvPr/>
        </p:nvSpPr>
        <p:spPr>
          <a:xfrm>
            <a:off x="1472184" y="2363152"/>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Back to the board</a:t>
            </a:r>
          </a:p>
        </p:txBody>
      </p:sp>
      <p:sp>
        <p:nvSpPr>
          <p:cNvPr id="16" name="TextBox 15"/>
          <p:cNvSpPr txBox="1"/>
          <p:nvPr/>
        </p:nvSpPr>
        <p:spPr>
          <a:xfrm>
            <a:off x="1472184" y="2692336"/>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The drawer sits with their back to the board, with a pen and a sheet of paper.</a:t>
            </a:r>
          </a:p>
        </p:txBody>
      </p:sp>
      <p:sp>
        <p:nvSpPr>
          <p:cNvPr id="17" name="TextBox 16"/>
          <p:cNvSpPr txBox="1"/>
          <p:nvPr/>
        </p:nvSpPr>
        <p:spPr>
          <a:xfrm>
            <a:off x="685800" y="3226689"/>
            <a:ext cx="7772400" cy="640080"/>
          </a:xfrm>
          <a:prstGeom prst="rect">
            <a:avLst/>
          </a:prstGeom>
          <a:noFill/>
          <a:effectLst/>
        </p:spPr>
        <p:txBody>
          <a:bodyPr wrap="square" anchor="t" lIns="0" rIns="0" tIns="0" bIns="0">
            <a:spAutoFit/>
          </a:bodyPr>
          <a:lstStyle/>
          <a:p>
            <a:pPr algn="l">
              <a:lnSpc>
                <a:spcPct val="125000"/>
              </a:lnSpc>
              <a:spcAft>
                <a:spcPts val="0"/>
              </a:spcAft>
            </a:pPr>
            <a:r>
              <a:rPr sz="1400" b="1" i="0">
                <a:solidFill>
                  <a:srgbClr val="265C92"/>
                </a:solidFill>
                <a:latin typeface="Karla"/>
              </a:rPr>
              <a:t>Drawers: turn your chair round now, before the picture goes up. If there are three of you, two draw and one describes.</a:t>
            </a:r>
          </a:p>
        </p:txBody>
      </p:sp>
      <p:pic>
        <p:nvPicPr>
          <p:cNvPr id="18" name="Picture 17"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9" name="TextBox 1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0" name="TextBox 1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23 / 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DESCRIBE AND DRAW  ·  ROUND ONE</a:t>
            </a:r>
          </a:p>
        </p:txBody>
      </p:sp>
      <p:sp>
        <p:nvSpPr>
          <p:cNvPr id="4" name="TextBox 3"/>
          <p:cNvSpPr txBox="1"/>
          <p:nvPr/>
        </p:nvSpPr>
        <p:spPr>
          <a:xfrm>
            <a:off x="685800" y="640080"/>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Round one: no questions</a:t>
            </a:r>
          </a:p>
        </p:txBody>
      </p:sp>
      <p:sp>
        <p:nvSpPr>
          <p:cNvPr id="5" name="Rounded Rectangle 4"/>
          <p:cNvSpPr/>
          <p:nvPr/>
        </p:nvSpPr>
        <p:spPr>
          <a:xfrm>
            <a:off x="685800" y="1316736"/>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85800" y="1316736"/>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96112" y="1497044"/>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96112" y="1597628"/>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a:t>
            </a:r>
          </a:p>
        </p:txBody>
      </p:sp>
      <p:sp>
        <p:nvSpPr>
          <p:cNvPr id="9" name="TextBox 8"/>
          <p:cNvSpPr txBox="1"/>
          <p:nvPr/>
        </p:nvSpPr>
        <p:spPr>
          <a:xfrm>
            <a:off x="1472184" y="1435607"/>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Describer</a:t>
            </a:r>
          </a:p>
        </p:txBody>
      </p:sp>
      <p:sp>
        <p:nvSpPr>
          <p:cNvPr id="10" name="TextBox 9"/>
          <p:cNvSpPr txBox="1"/>
          <p:nvPr/>
        </p:nvSpPr>
        <p:spPr>
          <a:xfrm>
            <a:off x="1472184" y="1764792"/>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Say what you see. No pointing, and no drawing shapes in the air.</a:t>
            </a:r>
          </a:p>
        </p:txBody>
      </p:sp>
      <p:sp>
        <p:nvSpPr>
          <p:cNvPr id="11" name="Rounded Rectangle 10"/>
          <p:cNvSpPr/>
          <p:nvPr/>
        </p:nvSpPr>
        <p:spPr>
          <a:xfrm>
            <a:off x="685800" y="2244280"/>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244280"/>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424588"/>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525172"/>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2</a:t>
            </a:r>
          </a:p>
        </p:txBody>
      </p:sp>
      <p:sp>
        <p:nvSpPr>
          <p:cNvPr id="15" name="TextBox 14"/>
          <p:cNvSpPr txBox="1"/>
          <p:nvPr/>
        </p:nvSpPr>
        <p:spPr>
          <a:xfrm>
            <a:off x="1472184" y="2363152"/>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Drawer</a:t>
            </a:r>
          </a:p>
        </p:txBody>
      </p:sp>
      <p:sp>
        <p:nvSpPr>
          <p:cNvPr id="16" name="TextBox 15"/>
          <p:cNvSpPr txBox="1"/>
          <p:nvPr/>
        </p:nvSpPr>
        <p:spPr>
          <a:xfrm>
            <a:off x="1472184" y="2692336"/>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Draw what you hear, without asking questions or talking.</a:t>
            </a:r>
          </a:p>
        </p:txBody>
      </p:sp>
      <p:sp>
        <p:nvSpPr>
          <p:cNvPr id="17" name="TextBox 16"/>
          <p:cNvSpPr txBox="1"/>
          <p:nvPr/>
        </p:nvSpPr>
        <p:spPr>
          <a:xfrm>
            <a:off x="685800" y="3226689"/>
            <a:ext cx="7772400" cy="640080"/>
          </a:xfrm>
          <a:prstGeom prst="rect">
            <a:avLst/>
          </a:prstGeom>
          <a:noFill/>
          <a:effectLst/>
        </p:spPr>
        <p:txBody>
          <a:bodyPr wrap="square" anchor="t" lIns="0" rIns="0" tIns="0" bIns="0">
            <a:spAutoFit/>
          </a:bodyPr>
          <a:lstStyle/>
          <a:p>
            <a:pPr algn="l">
              <a:lnSpc>
                <a:spcPct val="125000"/>
              </a:lnSpc>
              <a:spcAft>
                <a:spcPts val="0"/>
              </a:spcAft>
            </a:pPr>
            <a:r>
              <a:rPr sz="1400" b="1" i="0">
                <a:solidFill>
                  <a:srgbClr val="265C92"/>
                </a:solidFill>
                <a:latin typeface="Karla"/>
              </a:rPr>
              <a:t>When the picture goes up, you have three minutes.</a:t>
            </a:r>
          </a:p>
        </p:txBody>
      </p:sp>
      <p:pic>
        <p:nvPicPr>
          <p:cNvPr id="18" name="Picture 17"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9" name="TextBox 1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0" name="TextBox 1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24 / 35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158514" y="329184"/>
            <a:ext cx="2826971" cy="237744"/>
          </a:xfrm>
          <a:prstGeom prst="roundRect">
            <a:avLst>
              <a:gd name="adj" fmla="val 50000"/>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Karla"/>
              </a:rPr>
              <a:t>ROUND ONE  ·  DESCRIBERS ONLY</a:t>
            </a:r>
          </a:p>
        </p:txBody>
      </p:sp>
      <p:pic>
        <p:nvPicPr>
          <p:cNvPr id="4" name="Picture 3" descr="a.png"/>
          <p:cNvPicPr>
            <a:picLocks noChangeAspect="1"/>
          </p:cNvPicPr>
          <p:nvPr/>
        </p:nvPicPr>
        <p:blipFill>
          <a:blip r:embed="rId2"/>
          <a:stretch>
            <a:fillRect/>
          </a:stretch>
        </p:blipFill>
        <p:spPr>
          <a:xfrm>
            <a:off x="2011679" y="731520"/>
            <a:ext cx="5120640" cy="3840480"/>
          </a:xfrm>
          <a:prstGeom prst="rect">
            <a:avLst/>
          </a:prstGeom>
          <a:effectLst/>
        </p:spPr>
      </p:pic>
      <p:pic>
        <p:nvPicPr>
          <p:cNvPr id="5" name="Picture 4" descr="logo-mark.png"/>
          <p:cNvPicPr>
            <a:picLocks noChangeAspect="1"/>
          </p:cNvPicPr>
          <p:nvPr/>
        </p:nvPicPr>
        <p:blipFill>
          <a:blip r:embed="rId3"/>
          <a:stretch>
            <a:fillRect/>
          </a:stretch>
        </p:blipFill>
        <p:spPr>
          <a:xfrm>
            <a:off x="384048" y="4727448"/>
            <a:ext cx="158374" cy="182880"/>
          </a:xfrm>
          <a:prstGeom prst="rect">
            <a:avLst/>
          </a:prstGeom>
          <a:effectLst/>
        </p:spPr>
      </p:pic>
      <p:sp>
        <p:nvSpPr>
          <p:cNvPr id="6" name="TextBox 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7" name="TextBox 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25 / 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DESCRIBE AND DRAW  ·  ROUND TWO</a:t>
            </a:r>
          </a:p>
        </p:txBody>
      </p:sp>
      <p:sp>
        <p:nvSpPr>
          <p:cNvPr id="4" name="TextBox 3"/>
          <p:cNvSpPr txBox="1"/>
          <p:nvPr/>
        </p:nvSpPr>
        <p:spPr>
          <a:xfrm>
            <a:off x="685800" y="640080"/>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Round two: ask away</a:t>
            </a:r>
          </a:p>
        </p:txBody>
      </p:sp>
      <p:sp>
        <p:nvSpPr>
          <p:cNvPr id="5" name="Rounded Rectangle 4"/>
          <p:cNvSpPr/>
          <p:nvPr/>
        </p:nvSpPr>
        <p:spPr>
          <a:xfrm>
            <a:off x="685800" y="1316736"/>
            <a:ext cx="7772400" cy="995553"/>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85800" y="1316736"/>
            <a:ext cx="54864" cy="995553"/>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96112" y="1604200"/>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96112" y="1704784"/>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a:t>
            </a:r>
          </a:p>
        </p:txBody>
      </p:sp>
      <p:sp>
        <p:nvSpPr>
          <p:cNvPr id="9" name="TextBox 8"/>
          <p:cNvSpPr txBox="1"/>
          <p:nvPr/>
        </p:nvSpPr>
        <p:spPr>
          <a:xfrm>
            <a:off x="1472184" y="1435607"/>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Swap jobs</a:t>
            </a:r>
          </a:p>
        </p:txBody>
      </p:sp>
      <p:sp>
        <p:nvSpPr>
          <p:cNvPr id="10" name="TextBox 9"/>
          <p:cNvSpPr txBox="1"/>
          <p:nvPr/>
        </p:nvSpPr>
        <p:spPr>
          <a:xfrm>
            <a:off x="1472184" y="1764792"/>
            <a:ext cx="6729984" cy="520065"/>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Last round’s drawer now faces the board and describes. Last round’s describer turns round and draws.</a:t>
            </a:r>
          </a:p>
        </p:txBody>
      </p:sp>
      <p:sp>
        <p:nvSpPr>
          <p:cNvPr id="11" name="Rounded Rectangle 10"/>
          <p:cNvSpPr/>
          <p:nvPr/>
        </p:nvSpPr>
        <p:spPr>
          <a:xfrm>
            <a:off x="685800" y="2458593"/>
            <a:ext cx="7772400" cy="995553"/>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458593"/>
            <a:ext cx="54864" cy="995553"/>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746057"/>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846641"/>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2</a:t>
            </a:r>
          </a:p>
        </p:txBody>
      </p:sp>
      <p:sp>
        <p:nvSpPr>
          <p:cNvPr id="15" name="TextBox 14"/>
          <p:cNvSpPr txBox="1"/>
          <p:nvPr/>
        </p:nvSpPr>
        <p:spPr>
          <a:xfrm>
            <a:off x="1472184" y="2577464"/>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This time</a:t>
            </a:r>
          </a:p>
        </p:txBody>
      </p:sp>
      <p:sp>
        <p:nvSpPr>
          <p:cNvPr id="16" name="TextBox 15"/>
          <p:cNvSpPr txBox="1"/>
          <p:nvPr/>
        </p:nvSpPr>
        <p:spPr>
          <a:xfrm>
            <a:off x="1472184" y="2906649"/>
            <a:ext cx="6729984" cy="520065"/>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The drawer can ask as many questions as they like, and there is still no pointing. You have three minutes again.</a:t>
            </a:r>
          </a:p>
        </p:txBody>
      </p:sp>
      <p:sp>
        <p:nvSpPr>
          <p:cNvPr id="17" name="TextBox 16"/>
          <p:cNvSpPr txBox="1"/>
          <p:nvPr/>
        </p:nvSpPr>
        <p:spPr>
          <a:xfrm>
            <a:off x="685800" y="3655314"/>
            <a:ext cx="7772400" cy="640080"/>
          </a:xfrm>
          <a:prstGeom prst="rect">
            <a:avLst/>
          </a:prstGeom>
          <a:noFill/>
          <a:effectLst/>
        </p:spPr>
        <p:txBody>
          <a:bodyPr wrap="square" anchor="t" lIns="0" rIns="0" tIns="0" bIns="0">
            <a:spAutoFit/>
          </a:bodyPr>
          <a:lstStyle/>
          <a:p>
            <a:pPr algn="l">
              <a:lnSpc>
                <a:spcPct val="125000"/>
              </a:lnSpc>
              <a:spcAft>
                <a:spcPts val="0"/>
              </a:spcAft>
            </a:pPr>
            <a:r>
              <a:rPr sz="1400" b="1" i="0">
                <a:solidFill>
                  <a:srgbClr val="265C92"/>
                </a:solidFill>
                <a:latin typeface="Karla"/>
              </a:rPr>
              <a:t>Keep your round one drawing. You will need it at the end.</a:t>
            </a:r>
          </a:p>
        </p:txBody>
      </p:sp>
      <p:pic>
        <p:nvPicPr>
          <p:cNvPr id="18" name="Picture 17"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9" name="TextBox 1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0" name="TextBox 1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26 / 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142490" y="329184"/>
            <a:ext cx="2859019" cy="237744"/>
          </a:xfrm>
          <a:prstGeom prst="roundRect">
            <a:avLst>
              <a:gd name="adj" fmla="val 50000"/>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Karla"/>
              </a:rPr>
              <a:t>ROUND TWO  ·  DESCRIBERS ONLY</a:t>
            </a:r>
          </a:p>
        </p:txBody>
      </p:sp>
      <p:pic>
        <p:nvPicPr>
          <p:cNvPr id="4" name="Picture 3" descr="b.png"/>
          <p:cNvPicPr>
            <a:picLocks noChangeAspect="1"/>
          </p:cNvPicPr>
          <p:nvPr/>
        </p:nvPicPr>
        <p:blipFill>
          <a:blip r:embed="rId2"/>
          <a:stretch>
            <a:fillRect/>
          </a:stretch>
        </p:blipFill>
        <p:spPr>
          <a:xfrm>
            <a:off x="2011679" y="731520"/>
            <a:ext cx="5120640" cy="3840480"/>
          </a:xfrm>
          <a:prstGeom prst="rect">
            <a:avLst/>
          </a:prstGeom>
          <a:effectLst/>
        </p:spPr>
      </p:pic>
      <p:pic>
        <p:nvPicPr>
          <p:cNvPr id="5" name="Picture 4" descr="logo-mark.png"/>
          <p:cNvPicPr>
            <a:picLocks noChangeAspect="1"/>
          </p:cNvPicPr>
          <p:nvPr/>
        </p:nvPicPr>
        <p:blipFill>
          <a:blip r:embed="rId3"/>
          <a:stretch>
            <a:fillRect/>
          </a:stretch>
        </p:blipFill>
        <p:spPr>
          <a:xfrm>
            <a:off x="384048" y="4727448"/>
            <a:ext cx="158374" cy="182880"/>
          </a:xfrm>
          <a:prstGeom prst="rect">
            <a:avLst/>
          </a:prstGeom>
          <a:effectLst/>
        </p:spPr>
      </p:pic>
      <p:sp>
        <p:nvSpPr>
          <p:cNvPr id="6" name="TextBox 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7" name="TextBox 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27 / 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749791" y="329184"/>
            <a:ext cx="1644417" cy="237744"/>
          </a:xfrm>
          <a:prstGeom prst="roundRect">
            <a:avLst>
              <a:gd name="adj" fmla="val 50000"/>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Karla"/>
              </a:rPr>
              <a:t>EVERYBODY LOOK</a:t>
            </a:r>
          </a:p>
        </p:txBody>
      </p:sp>
      <p:pic>
        <p:nvPicPr>
          <p:cNvPr id="4" name="Picture 3" descr="a.png"/>
          <p:cNvPicPr>
            <a:picLocks noChangeAspect="1"/>
          </p:cNvPicPr>
          <p:nvPr/>
        </p:nvPicPr>
        <p:blipFill>
          <a:blip r:embed="rId2"/>
          <a:stretch>
            <a:fillRect/>
          </a:stretch>
        </p:blipFill>
        <p:spPr>
          <a:xfrm>
            <a:off x="861060" y="822960"/>
            <a:ext cx="3535680" cy="2651760"/>
          </a:xfrm>
          <a:prstGeom prst="rect">
            <a:avLst/>
          </a:prstGeom>
          <a:effectLst/>
        </p:spPr>
      </p:pic>
      <p:sp>
        <p:nvSpPr>
          <p:cNvPr id="5" name="TextBox 4"/>
          <p:cNvSpPr txBox="1"/>
          <p:nvPr/>
        </p:nvSpPr>
        <p:spPr>
          <a:xfrm>
            <a:off x="685800" y="3566160"/>
            <a:ext cx="3886200" cy="329184"/>
          </a:xfrm>
          <a:prstGeom prst="rect">
            <a:avLst/>
          </a:prstGeom>
          <a:noFill/>
          <a:effectLst/>
        </p:spPr>
        <p:txBody>
          <a:bodyPr wrap="square" anchor="t" lIns="0" rIns="0" tIns="0" bIns="0">
            <a:spAutoFit/>
          </a:bodyPr>
          <a:lstStyle/>
          <a:p>
            <a:pPr algn="ctr">
              <a:lnSpc>
                <a:spcPct val="125000"/>
              </a:lnSpc>
              <a:spcAft>
                <a:spcPts val="0"/>
              </a:spcAft>
            </a:pPr>
            <a:r>
              <a:rPr sz="1800" b="1" i="0">
                <a:solidFill>
                  <a:srgbClr val="265C92"/>
                </a:solidFill>
                <a:latin typeface="Libre Caslon Display"/>
              </a:rPr>
              <a:t>Round one</a:t>
            </a:r>
          </a:p>
        </p:txBody>
      </p:sp>
      <p:pic>
        <p:nvPicPr>
          <p:cNvPr id="6" name="Picture 5" descr="b.png"/>
          <p:cNvPicPr>
            <a:picLocks noChangeAspect="1"/>
          </p:cNvPicPr>
          <p:nvPr/>
        </p:nvPicPr>
        <p:blipFill>
          <a:blip r:embed="rId3"/>
          <a:stretch>
            <a:fillRect/>
          </a:stretch>
        </p:blipFill>
        <p:spPr>
          <a:xfrm>
            <a:off x="4747260" y="822960"/>
            <a:ext cx="3535680" cy="2651760"/>
          </a:xfrm>
          <a:prstGeom prst="rect">
            <a:avLst/>
          </a:prstGeom>
          <a:effectLst/>
        </p:spPr>
      </p:pic>
      <p:sp>
        <p:nvSpPr>
          <p:cNvPr id="7" name="TextBox 6"/>
          <p:cNvSpPr txBox="1"/>
          <p:nvPr/>
        </p:nvSpPr>
        <p:spPr>
          <a:xfrm>
            <a:off x="4572000" y="3566160"/>
            <a:ext cx="3886200" cy="329184"/>
          </a:xfrm>
          <a:prstGeom prst="rect">
            <a:avLst/>
          </a:prstGeom>
          <a:noFill/>
          <a:effectLst/>
        </p:spPr>
        <p:txBody>
          <a:bodyPr wrap="square" anchor="t" lIns="0" rIns="0" tIns="0" bIns="0">
            <a:spAutoFit/>
          </a:bodyPr>
          <a:lstStyle/>
          <a:p>
            <a:pPr algn="ctr">
              <a:lnSpc>
                <a:spcPct val="125000"/>
              </a:lnSpc>
              <a:spcAft>
                <a:spcPts val="0"/>
              </a:spcAft>
            </a:pPr>
            <a:r>
              <a:rPr sz="1800" b="1" i="0">
                <a:solidFill>
                  <a:srgbClr val="265C92"/>
                </a:solidFill>
                <a:latin typeface="Libre Caslon Display"/>
              </a:rPr>
              <a:t>Round two</a:t>
            </a:r>
          </a:p>
        </p:txBody>
      </p:sp>
      <p:sp>
        <p:nvSpPr>
          <p:cNvPr id="8" name="TextBox 7"/>
          <p:cNvSpPr txBox="1"/>
          <p:nvPr/>
        </p:nvSpPr>
        <p:spPr>
          <a:xfrm>
            <a:off x="685800" y="4023360"/>
            <a:ext cx="7772400" cy="329184"/>
          </a:xfrm>
          <a:prstGeom prst="rect">
            <a:avLst/>
          </a:prstGeom>
          <a:noFill/>
          <a:effectLst/>
        </p:spPr>
        <p:txBody>
          <a:bodyPr wrap="square" anchor="t" lIns="0" rIns="0" tIns="0" bIns="0">
            <a:spAutoFit/>
          </a:bodyPr>
          <a:lstStyle/>
          <a:p>
            <a:pPr algn="ctr">
              <a:lnSpc>
                <a:spcPct val="125000"/>
              </a:lnSpc>
              <a:spcAft>
                <a:spcPts val="0"/>
              </a:spcAft>
            </a:pPr>
            <a:r>
              <a:rPr sz="1350" b="0" i="0">
                <a:solidFill>
                  <a:srgbClr val="5C6552"/>
                </a:solidFill>
                <a:latin typeface="Karla"/>
              </a:rPr>
              <a:t>Put your two drawings side by side. Which one is closer to its picture?</a:t>
            </a:r>
          </a:p>
        </p:txBody>
      </p:sp>
      <p:pic>
        <p:nvPicPr>
          <p:cNvPr id="9" name="Picture 8" descr="logo-mark.png"/>
          <p:cNvPicPr>
            <a:picLocks noChangeAspect="1"/>
          </p:cNvPicPr>
          <p:nvPr/>
        </p:nvPicPr>
        <p:blipFill>
          <a:blip r:embed="rId4"/>
          <a:stretch>
            <a:fillRect/>
          </a:stretch>
        </p:blipFill>
        <p:spPr>
          <a:xfrm>
            <a:off x="384048" y="4727448"/>
            <a:ext cx="158374" cy="182880"/>
          </a:xfrm>
          <a:prstGeom prst="rect">
            <a:avLst/>
          </a:prstGeom>
          <a:effectLst/>
        </p:spPr>
      </p:pic>
      <p:sp>
        <p:nvSpPr>
          <p:cNvPr id="10" name="TextBox 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1" name="TextBox 1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28 / 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DESCRIBE AND DRAW  ·  TALK ABOUT IT</a:t>
            </a:r>
          </a:p>
        </p:txBody>
      </p:sp>
      <p:sp>
        <p:nvSpPr>
          <p:cNvPr id="4" name="KEEP_SHADOW"/>
          <p:cNvSpPr/>
          <p:nvPr/>
        </p:nvSpPr>
        <p:spPr>
          <a:xfrm>
            <a:off x="685800" y="713232"/>
            <a:ext cx="7772400" cy="1225296"/>
          </a:xfrm>
          <a:prstGeom prst="roundRect">
            <a:avLst>
              <a:gd name="adj" fmla="val 6000"/>
            </a:avLst>
          </a:prstGeom>
          <a:solidFill>
            <a:srgbClr val="F0F4F7"/>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85800" y="713232"/>
            <a:ext cx="64008" cy="1225296"/>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896112"/>
            <a:ext cx="7040880" cy="877824"/>
          </a:xfrm>
          <a:prstGeom prst="rect">
            <a:avLst/>
          </a:prstGeom>
          <a:noFill/>
          <a:effectLst/>
        </p:spPr>
        <p:txBody>
          <a:bodyPr wrap="square" anchor="t" lIns="0" rIns="0" tIns="0" bIns="0">
            <a:spAutoFit/>
          </a:bodyPr>
          <a:lstStyle/>
          <a:p>
            <a:pPr algn="l">
              <a:lnSpc>
                <a:spcPct val="108000"/>
              </a:lnSpc>
              <a:spcAft>
                <a:spcPts val="0"/>
              </a:spcAft>
            </a:pPr>
            <a:r>
              <a:rPr sz="2600" b="1" i="0">
                <a:solidFill>
                  <a:srgbClr val="265C92"/>
                </a:solidFill>
                <a:latin typeface="Libre Caslon Display"/>
              </a:rPr>
              <a:t>What did the pair with the closest</a:t>
            </a:r>
            <a:br>
              <a:rPr lang="en-GB"/>
            </a:br>
            <a:r>
              <a:rPr sz="2600" b="1" i="0">
                <a:solidFill>
                  <a:srgbClr val="265C92"/>
                </a:solidFill>
                <a:latin typeface="Libre Caslon Display"/>
              </a:rPr>
              <a:t>drawing actually do?</a:t>
            </a:r>
          </a:p>
        </p:txBody>
      </p:sp>
      <p:sp>
        <p:nvSpPr>
          <p:cNvPr id="7" name="TextBox 6"/>
          <p:cNvSpPr txBox="1"/>
          <p:nvPr/>
        </p:nvSpPr>
        <p:spPr>
          <a:xfrm>
            <a:off x="685800" y="2139696"/>
            <a:ext cx="7772400" cy="219456"/>
          </a:xfrm>
          <a:prstGeom prst="rect">
            <a:avLst/>
          </a:prstGeom>
          <a:noFill/>
          <a:effectLst/>
        </p:spPr>
        <p:txBody>
          <a:bodyPr wrap="square" anchor="t" lIns="0" rIns="0" tIns="0" bIns="0">
            <a:spAutoFit/>
          </a:bodyPr>
          <a:lstStyle/>
          <a:p>
            <a:pPr algn="l">
              <a:lnSpc>
                <a:spcPct val="125000"/>
              </a:lnSpc>
              <a:spcAft>
                <a:spcPts val="0"/>
              </a:spcAft>
            </a:pPr>
            <a:r>
              <a:rPr sz="1000" b="1" i="0" spc="140">
                <a:solidFill>
                  <a:srgbClr val="8B9179"/>
                </a:solidFill>
                <a:latin typeface="Karla"/>
              </a:rPr>
              <a:t>THEN ASK</a:t>
            </a:r>
          </a:p>
        </p:txBody>
      </p:sp>
      <p:sp>
        <p:nvSpPr>
          <p:cNvPr id="8" name="Oval 7"/>
          <p:cNvSpPr/>
          <p:nvPr/>
        </p:nvSpPr>
        <p:spPr>
          <a:xfrm>
            <a:off x="754380" y="2510028"/>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51560" y="2432304"/>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What did the describer say that made the drawing easier?</a:t>
            </a:r>
          </a:p>
        </p:txBody>
      </p:sp>
      <p:sp>
        <p:nvSpPr>
          <p:cNvPr id="10" name="Oval 9"/>
          <p:cNvSpPr/>
          <p:nvPr/>
        </p:nvSpPr>
        <p:spPr>
          <a:xfrm>
            <a:off x="754380" y="2983484"/>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905760"/>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What made a description hard to follow?</a:t>
            </a:r>
          </a:p>
        </p:txBody>
      </p:sp>
      <p:sp>
        <p:nvSpPr>
          <p:cNvPr id="12" name="Oval 11"/>
          <p:cNvSpPr/>
          <p:nvPr/>
        </p:nvSpPr>
        <p:spPr>
          <a:xfrm>
            <a:off x="754380" y="3456940"/>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51560" y="3379216"/>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In round two, which question helped the most?</a:t>
            </a:r>
          </a:p>
        </p:txBody>
      </p:sp>
      <p:pic>
        <p:nvPicPr>
          <p:cNvPr id="14" name="Picture 13"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5" name="TextBox 14"/>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6" name="TextBox 15"/>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29 / 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710555" y="786384"/>
            <a:ext cx="1722888" cy="237744"/>
          </a:xfrm>
          <a:prstGeom prst="roundRect">
            <a:avLst>
              <a:gd name="adj" fmla="val 50000"/>
            </a:avLst>
          </a:prstGeom>
          <a:solidFill>
            <a:srgbClr val="C2D1E0"/>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265C92"/>
                </a:solidFill>
                <a:latin typeface="Karla"/>
              </a:rPr>
              <a:t>CHALLENGE 5 OF 5</a:t>
            </a:r>
          </a:p>
        </p:txBody>
      </p:sp>
      <p:sp>
        <p:nvSpPr>
          <p:cNvPr id="4" name="Oval 3"/>
          <p:cNvSpPr/>
          <p:nvPr/>
        </p:nvSpPr>
        <p:spPr>
          <a:xfrm>
            <a:off x="4178808" y="1234440"/>
            <a:ext cx="786384" cy="786384"/>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lineup.png"/>
          <p:cNvPicPr>
            <a:picLocks noChangeAspect="1"/>
          </p:cNvPicPr>
          <p:nvPr/>
        </p:nvPicPr>
        <p:blipFill>
          <a:blip r:embed="rId2"/>
          <a:stretch>
            <a:fillRect/>
          </a:stretch>
        </p:blipFill>
        <p:spPr>
          <a:xfrm>
            <a:off x="4334256" y="1389888"/>
            <a:ext cx="475488" cy="475488"/>
          </a:xfrm>
          <a:prstGeom prst="rect">
            <a:avLst/>
          </a:prstGeom>
          <a:effectLst/>
        </p:spPr>
      </p:pic>
      <p:sp>
        <p:nvSpPr>
          <p:cNvPr id="6" name="TextBox 5"/>
          <p:cNvSpPr txBox="1"/>
          <p:nvPr/>
        </p:nvSpPr>
        <p:spPr>
          <a:xfrm>
            <a:off x="548640" y="2194560"/>
            <a:ext cx="8046720" cy="731520"/>
          </a:xfrm>
          <a:prstGeom prst="rect">
            <a:avLst/>
          </a:prstGeom>
          <a:noFill/>
          <a:effectLst/>
        </p:spPr>
        <p:txBody>
          <a:bodyPr wrap="square" anchor="t" lIns="0" rIns="0" tIns="0" bIns="0">
            <a:spAutoFit/>
          </a:bodyPr>
          <a:lstStyle/>
          <a:p>
            <a:pPr algn="ctr">
              <a:lnSpc>
                <a:spcPct val="105000"/>
              </a:lnSpc>
              <a:spcAft>
                <a:spcPts val="0"/>
              </a:spcAft>
            </a:pPr>
            <a:r>
              <a:rPr sz="4400" b="1" i="0">
                <a:solidFill>
                  <a:srgbClr val="FFFDF7"/>
                </a:solidFill>
                <a:latin typeface="Libre Caslon Display"/>
              </a:rPr>
              <a:t>Silent Line-Up</a:t>
            </a:r>
          </a:p>
        </p:txBody>
      </p:sp>
      <p:sp>
        <p:nvSpPr>
          <p:cNvPr id="7" name="Rectangle 6"/>
          <p:cNvSpPr/>
          <p:nvPr/>
        </p:nvSpPr>
        <p:spPr>
          <a:xfrm>
            <a:off x="4114800" y="3054096"/>
            <a:ext cx="914400" cy="18288"/>
          </a:xfrm>
          <a:prstGeom prst="rect">
            <a:avLst/>
          </a:prstGeom>
          <a:solidFill>
            <a:srgbClr val="C2D1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188720" y="3255264"/>
            <a:ext cx="6766560" cy="822960"/>
          </a:xfrm>
          <a:prstGeom prst="rect">
            <a:avLst/>
          </a:prstGeom>
          <a:noFill/>
          <a:effectLst/>
        </p:spPr>
        <p:txBody>
          <a:bodyPr wrap="square" anchor="t" lIns="0" rIns="0" tIns="0" bIns="0">
            <a:spAutoFit/>
          </a:bodyPr>
          <a:lstStyle/>
          <a:p>
            <a:pPr algn="ctr">
              <a:lnSpc>
                <a:spcPct val="130000"/>
              </a:lnSpc>
              <a:spcAft>
                <a:spcPts val="0"/>
              </a:spcAft>
            </a:pPr>
            <a:r>
              <a:rPr sz="1600" b="0" i="0">
                <a:solidFill>
                  <a:srgbClr val="C2D1E0"/>
                </a:solidFill>
                <a:latin typeface="Karla"/>
              </a:rPr>
              <a:t>Get your whole team into birthday order without saying a word.</a:t>
            </a:r>
          </a:p>
        </p:txBody>
      </p:sp>
      <p:pic>
        <p:nvPicPr>
          <p:cNvPr id="9" name="Picture 8" descr="logo-mark.png"/>
          <p:cNvPicPr>
            <a:picLocks noChangeAspect="1"/>
          </p:cNvPicPr>
          <p:nvPr/>
        </p:nvPicPr>
        <p:blipFill>
          <a:blip r:embed="rId3"/>
          <a:stretch>
            <a:fillRect/>
          </a:stretch>
        </p:blipFill>
        <p:spPr>
          <a:xfrm>
            <a:off x="384048" y="4727448"/>
            <a:ext cx="158374" cy="182880"/>
          </a:xfrm>
          <a:prstGeom prst="rect">
            <a:avLst/>
          </a:prstGeom>
          <a:effectLst/>
        </p:spPr>
      </p:pic>
      <p:sp>
        <p:nvSpPr>
          <p:cNvPr id="10" name="TextBox 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C2D1E0"/>
                </a:solidFill>
                <a:latin typeface="Karla"/>
              </a:rPr>
              <a:t>The Pastoral Guide</a:t>
            </a:r>
          </a:p>
        </p:txBody>
      </p:sp>
      <p:sp>
        <p:nvSpPr>
          <p:cNvPr id="11" name="TextBox 1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C2D1E0"/>
                </a:solidFill>
                <a:latin typeface="Karla"/>
              </a:rPr>
              <a:t>30 / 35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SILENT LINE-UP  ·  THE RULES</a:t>
            </a:r>
          </a:p>
        </p:txBody>
      </p:sp>
      <p:sp>
        <p:nvSpPr>
          <p:cNvPr id="4" name="TextBox 3"/>
          <p:cNvSpPr txBox="1"/>
          <p:nvPr/>
        </p:nvSpPr>
        <p:spPr>
          <a:xfrm>
            <a:off x="685800" y="640080"/>
            <a:ext cx="7772400" cy="463296"/>
          </a:xfrm>
          <a:prstGeom prst="rect">
            <a:avLst/>
          </a:prstGeom>
          <a:noFill/>
          <a:effectLst/>
        </p:spPr>
        <p:txBody>
          <a:bodyPr wrap="square" anchor="t" lIns="0" rIns="0" tIns="0" bIns="0">
            <a:spAutoFit/>
          </a:bodyPr>
          <a:lstStyle/>
          <a:p>
            <a:pPr algn="l">
              <a:lnSpc>
                <a:spcPct val="105000"/>
              </a:lnSpc>
              <a:spcAft>
                <a:spcPts val="0"/>
              </a:spcAft>
            </a:pPr>
            <a:r>
              <a:rPr sz="3000" b="1" i="0">
                <a:solidFill>
                  <a:srgbClr val="265C92"/>
                </a:solidFill>
                <a:latin typeface="Libre Caslon Display"/>
              </a:rPr>
              <a:t>Not a word</a:t>
            </a:r>
          </a:p>
        </p:txBody>
      </p:sp>
      <p:sp>
        <p:nvSpPr>
          <p:cNvPr id="5" name="Rounded Rectangle 4"/>
          <p:cNvSpPr/>
          <p:nvPr/>
        </p:nvSpPr>
        <p:spPr>
          <a:xfrm>
            <a:off x="685800" y="1316736"/>
            <a:ext cx="7772400" cy="78124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85800" y="1316736"/>
            <a:ext cx="54864" cy="781240"/>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96112" y="1497044"/>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96112" y="1597628"/>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1</a:t>
            </a:r>
          </a:p>
        </p:txBody>
      </p:sp>
      <p:sp>
        <p:nvSpPr>
          <p:cNvPr id="9" name="TextBox 8"/>
          <p:cNvSpPr txBox="1"/>
          <p:nvPr/>
        </p:nvSpPr>
        <p:spPr>
          <a:xfrm>
            <a:off x="1472184" y="1435607"/>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The order</a:t>
            </a:r>
          </a:p>
        </p:txBody>
      </p:sp>
      <p:sp>
        <p:nvSpPr>
          <p:cNvPr id="10" name="TextBox 9"/>
          <p:cNvSpPr txBox="1"/>
          <p:nvPr/>
        </p:nvSpPr>
        <p:spPr>
          <a:xfrm>
            <a:off x="1472184" y="1764792"/>
            <a:ext cx="6729984" cy="305752"/>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Line up by birthday, from 1 January at one end to 31 December at the other.</a:t>
            </a:r>
          </a:p>
        </p:txBody>
      </p:sp>
      <p:sp>
        <p:nvSpPr>
          <p:cNvPr id="11" name="Rounded Rectangle 10"/>
          <p:cNvSpPr/>
          <p:nvPr/>
        </p:nvSpPr>
        <p:spPr>
          <a:xfrm>
            <a:off x="685800" y="2244280"/>
            <a:ext cx="7772400" cy="995553"/>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244280"/>
            <a:ext cx="54864" cy="995553"/>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531745"/>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632328"/>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2</a:t>
            </a:r>
          </a:p>
        </p:txBody>
      </p:sp>
      <p:sp>
        <p:nvSpPr>
          <p:cNvPr id="15" name="TextBox 14"/>
          <p:cNvSpPr txBox="1"/>
          <p:nvPr/>
        </p:nvSpPr>
        <p:spPr>
          <a:xfrm>
            <a:off x="1472184" y="2363152"/>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No words</a:t>
            </a:r>
          </a:p>
        </p:txBody>
      </p:sp>
      <p:sp>
        <p:nvSpPr>
          <p:cNvPr id="16" name="TextBox 15"/>
          <p:cNvSpPr txBox="1"/>
          <p:nvPr/>
        </p:nvSpPr>
        <p:spPr>
          <a:xfrm>
            <a:off x="1472184" y="2692336"/>
            <a:ext cx="6729984" cy="520065"/>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Nobody speaks, mouths words or writes anything down. Using your hands is fine.</a:t>
            </a:r>
          </a:p>
        </p:txBody>
      </p:sp>
      <p:sp>
        <p:nvSpPr>
          <p:cNvPr id="17" name="Rounded Rectangle 16"/>
          <p:cNvSpPr/>
          <p:nvPr/>
        </p:nvSpPr>
        <p:spPr>
          <a:xfrm>
            <a:off x="685800" y="3386137"/>
            <a:ext cx="7772400" cy="995553"/>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85800" y="3386137"/>
            <a:ext cx="54864" cy="995553"/>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896112" y="3673602"/>
            <a:ext cx="420624" cy="420624"/>
          </a:xfrm>
          <a:prstGeom prst="ellipse">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96112" y="3774186"/>
            <a:ext cx="420624"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Karla"/>
              </a:rPr>
              <a:t>3</a:t>
            </a:r>
          </a:p>
        </p:txBody>
      </p:sp>
      <p:sp>
        <p:nvSpPr>
          <p:cNvPr id="21" name="TextBox 20"/>
          <p:cNvSpPr txBox="1"/>
          <p:nvPr/>
        </p:nvSpPr>
        <p:spPr>
          <a:xfrm>
            <a:off x="1472184" y="3505009"/>
            <a:ext cx="6729984" cy="274320"/>
          </a:xfrm>
          <a:prstGeom prst="rect">
            <a:avLst/>
          </a:prstGeom>
          <a:noFill/>
          <a:effectLst/>
        </p:spPr>
        <p:txBody>
          <a:bodyPr wrap="square" anchor="t" lIns="0" rIns="0" tIns="0" bIns="0">
            <a:spAutoFit/>
          </a:bodyPr>
          <a:lstStyle/>
          <a:p>
            <a:pPr algn="l">
              <a:lnSpc>
                <a:spcPct val="125000"/>
              </a:lnSpc>
              <a:spcAft>
                <a:spcPts val="0"/>
              </a:spcAft>
            </a:pPr>
            <a:r>
              <a:rPr sz="1600" b="1" i="0">
                <a:solidFill>
                  <a:srgbClr val="265C92"/>
                </a:solidFill>
                <a:latin typeface="Libre Caslon Display"/>
              </a:rPr>
              <a:t>Done</a:t>
            </a:r>
          </a:p>
        </p:txBody>
      </p:sp>
      <p:sp>
        <p:nvSpPr>
          <p:cNvPr id="22" name="TextBox 21"/>
          <p:cNvSpPr txBox="1"/>
          <p:nvPr/>
        </p:nvSpPr>
        <p:spPr>
          <a:xfrm>
            <a:off x="1472184" y="3834193"/>
            <a:ext cx="6729984" cy="520065"/>
          </a:xfrm>
          <a:prstGeom prst="rect">
            <a:avLst/>
          </a:prstGeom>
          <a:noFill/>
          <a:effectLst/>
        </p:spPr>
        <p:txBody>
          <a:bodyPr wrap="square" anchor="t" lIns="0" rIns="0" tIns="0" bIns="0">
            <a:spAutoFit/>
          </a:bodyPr>
          <a:lstStyle/>
          <a:p>
            <a:pPr algn="l">
              <a:lnSpc>
                <a:spcPct val="125000"/>
              </a:lnSpc>
              <a:spcAft>
                <a:spcPts val="0"/>
              </a:spcAft>
            </a:pPr>
            <a:r>
              <a:rPr sz="1350" b="0" i="0">
                <a:solidFill>
                  <a:srgbClr val="5C6552"/>
                </a:solidFill>
                <a:latin typeface="Karla"/>
              </a:rPr>
              <a:t>When your team is in order, everyone folds their arms. The first team in the right order wins.</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31 / 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ctr">
              <a:lnSpc>
                <a:spcPct val="125000"/>
              </a:lnSpc>
              <a:spcAft>
                <a:spcPts val="0"/>
              </a:spcAft>
            </a:pPr>
            <a:r>
              <a:rPr sz="1000" b="1" i="0" spc="160">
                <a:solidFill>
                  <a:srgbClr val="265C92"/>
                </a:solidFill>
                <a:latin typeface="Karla"/>
              </a:rPr>
              <a:t>SILENT LINE-UP</a:t>
            </a:r>
          </a:p>
        </p:txBody>
      </p:sp>
      <p:sp>
        <p:nvSpPr>
          <p:cNvPr id="4" name="Rounded Rectangle 3"/>
          <p:cNvSpPr/>
          <p:nvPr/>
        </p:nvSpPr>
        <p:spPr>
          <a:xfrm>
            <a:off x="4168990" y="1280160"/>
            <a:ext cx="806019" cy="237744"/>
          </a:xfrm>
          <a:prstGeom prst="roundRect">
            <a:avLst>
              <a:gd name="adj" fmla="val 50000"/>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Karla"/>
              </a:rPr>
              <a:t>CHECK</a:t>
            </a:r>
          </a:p>
        </p:txBody>
      </p:sp>
      <p:sp>
        <p:nvSpPr>
          <p:cNvPr id="5" name="TextBox 4"/>
          <p:cNvSpPr txBox="1"/>
          <p:nvPr/>
        </p:nvSpPr>
        <p:spPr>
          <a:xfrm>
            <a:off x="548640" y="1847088"/>
            <a:ext cx="8046720" cy="768096"/>
          </a:xfrm>
          <a:prstGeom prst="rect">
            <a:avLst/>
          </a:prstGeom>
          <a:noFill/>
          <a:effectLst/>
        </p:spPr>
        <p:txBody>
          <a:bodyPr wrap="square" anchor="t" lIns="0" rIns="0" tIns="0" bIns="0">
            <a:spAutoFit/>
          </a:bodyPr>
          <a:lstStyle/>
          <a:p>
            <a:pPr algn="ctr">
              <a:lnSpc>
                <a:spcPct val="105000"/>
              </a:lnSpc>
              <a:spcAft>
                <a:spcPts val="0"/>
              </a:spcAft>
            </a:pPr>
            <a:r>
              <a:rPr sz="4400" b="1" i="0">
                <a:solidFill>
                  <a:srgbClr val="265C92"/>
                </a:solidFill>
                <a:latin typeface="Libre Caslon Display"/>
              </a:rPr>
              <a:t>Check it out loud</a:t>
            </a:r>
          </a:p>
        </p:txBody>
      </p:sp>
      <p:sp>
        <p:nvSpPr>
          <p:cNvPr id="6" name="Rectangle 5"/>
          <p:cNvSpPr/>
          <p:nvPr/>
        </p:nvSpPr>
        <p:spPr>
          <a:xfrm>
            <a:off x="4114800" y="2798064"/>
            <a:ext cx="914400" cy="18288"/>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188720" y="2999232"/>
            <a:ext cx="6766560" cy="1097280"/>
          </a:xfrm>
          <a:prstGeom prst="rect">
            <a:avLst/>
          </a:prstGeom>
          <a:noFill/>
          <a:effectLst/>
        </p:spPr>
        <p:txBody>
          <a:bodyPr wrap="square" anchor="t" lIns="0" rIns="0" tIns="0" bIns="0">
            <a:spAutoFit/>
          </a:bodyPr>
          <a:lstStyle/>
          <a:p>
            <a:pPr algn="ctr">
              <a:lnSpc>
                <a:spcPct val="130000"/>
              </a:lnSpc>
              <a:spcAft>
                <a:spcPts val="0"/>
              </a:spcAft>
            </a:pPr>
            <a:r>
              <a:rPr sz="1800" b="0" i="0">
                <a:solidFill>
                  <a:srgbClr val="5C6552"/>
                </a:solidFill>
                <a:latin typeface="Karla"/>
              </a:rPr>
              <a:t>Starting at the January end, each person says their birthday out loud. Is anybody in the wrong place?</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9" name="TextBox 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0" name="TextBox 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32 / 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ctr">
              <a:lnSpc>
                <a:spcPct val="125000"/>
              </a:lnSpc>
              <a:spcAft>
                <a:spcPts val="0"/>
              </a:spcAft>
            </a:pPr>
            <a:r>
              <a:rPr sz="1000" b="1" i="0" spc="160">
                <a:solidFill>
                  <a:srgbClr val="265C92"/>
                </a:solidFill>
                <a:latin typeface="Karla"/>
              </a:rPr>
              <a:t>SILENT LINE-UP</a:t>
            </a:r>
          </a:p>
        </p:txBody>
      </p:sp>
      <p:sp>
        <p:nvSpPr>
          <p:cNvPr id="4" name="Rounded Rectangle 3"/>
          <p:cNvSpPr/>
          <p:nvPr/>
        </p:nvSpPr>
        <p:spPr>
          <a:xfrm>
            <a:off x="4180177" y="1280160"/>
            <a:ext cx="783645" cy="237744"/>
          </a:xfrm>
          <a:prstGeom prst="roundRect">
            <a:avLst>
              <a:gd name="adj" fmla="val 50000"/>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Karla"/>
              </a:rPr>
              <a:t>AGAIN</a:t>
            </a:r>
          </a:p>
        </p:txBody>
      </p:sp>
      <p:sp>
        <p:nvSpPr>
          <p:cNvPr id="5" name="TextBox 4"/>
          <p:cNvSpPr txBox="1"/>
          <p:nvPr/>
        </p:nvSpPr>
        <p:spPr>
          <a:xfrm>
            <a:off x="548640" y="1847088"/>
            <a:ext cx="8046720" cy="768096"/>
          </a:xfrm>
          <a:prstGeom prst="rect">
            <a:avLst/>
          </a:prstGeom>
          <a:noFill/>
          <a:effectLst/>
        </p:spPr>
        <p:txBody>
          <a:bodyPr wrap="square" anchor="t" lIns="0" rIns="0" tIns="0" bIns="0">
            <a:spAutoFit/>
          </a:bodyPr>
          <a:lstStyle/>
          <a:p>
            <a:pPr algn="ctr">
              <a:lnSpc>
                <a:spcPct val="105000"/>
              </a:lnSpc>
              <a:spcAft>
                <a:spcPts val="0"/>
              </a:spcAft>
            </a:pPr>
            <a:r>
              <a:rPr sz="4400" b="1" i="0">
                <a:solidFill>
                  <a:srgbClr val="265C92"/>
                </a:solidFill>
                <a:latin typeface="Libre Caslon Display"/>
              </a:rPr>
              <a:t>Round two</a:t>
            </a:r>
          </a:p>
        </p:txBody>
      </p:sp>
      <p:sp>
        <p:nvSpPr>
          <p:cNvPr id="6" name="Rectangle 5"/>
          <p:cNvSpPr/>
          <p:nvPr/>
        </p:nvSpPr>
        <p:spPr>
          <a:xfrm>
            <a:off x="4114800" y="2798064"/>
            <a:ext cx="914400" cy="18288"/>
          </a:xfrm>
          <a:prstGeom prst="rect">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188720" y="2999232"/>
            <a:ext cx="6766560" cy="1097280"/>
          </a:xfrm>
          <a:prstGeom prst="rect">
            <a:avLst/>
          </a:prstGeom>
          <a:noFill/>
          <a:effectLst/>
        </p:spPr>
        <p:txBody>
          <a:bodyPr wrap="square" anchor="t" lIns="0" rIns="0" tIns="0" bIns="0">
            <a:spAutoFit/>
          </a:bodyPr>
          <a:lstStyle/>
          <a:p>
            <a:pPr algn="ctr">
              <a:lnSpc>
                <a:spcPct val="130000"/>
              </a:lnSpc>
              <a:spcAft>
                <a:spcPts val="0"/>
              </a:spcAft>
            </a:pPr>
            <a:r>
              <a:rPr sz="1800" b="0" i="0">
                <a:solidFill>
                  <a:srgbClr val="5C6552"/>
                </a:solidFill>
                <a:latin typeface="Karla"/>
              </a:rPr>
              <a:t>Now do it again, in alphabetical order of your first names. The same rules apply.</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9" name="TextBox 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0" name="TextBox 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33 / 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l">
              <a:lnSpc>
                <a:spcPct val="125000"/>
              </a:lnSpc>
              <a:spcAft>
                <a:spcPts val="0"/>
              </a:spcAft>
            </a:pPr>
            <a:r>
              <a:rPr sz="1000" b="1" i="0" spc="160">
                <a:solidFill>
                  <a:srgbClr val="265C92"/>
                </a:solidFill>
                <a:latin typeface="Karla"/>
              </a:rPr>
              <a:t>SILENT LINE-UP  ·  TALK ABOUT IT</a:t>
            </a:r>
          </a:p>
        </p:txBody>
      </p:sp>
      <p:sp>
        <p:nvSpPr>
          <p:cNvPr id="4" name="KEEP_SHADOW"/>
          <p:cNvSpPr/>
          <p:nvPr/>
        </p:nvSpPr>
        <p:spPr>
          <a:xfrm>
            <a:off x="685800" y="713232"/>
            <a:ext cx="7772400" cy="1225296"/>
          </a:xfrm>
          <a:prstGeom prst="roundRect">
            <a:avLst>
              <a:gd name="adj" fmla="val 6000"/>
            </a:avLst>
          </a:prstGeom>
          <a:solidFill>
            <a:srgbClr val="F0F4F7"/>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85800" y="713232"/>
            <a:ext cx="64008" cy="1225296"/>
          </a:xfrm>
          <a:prstGeom prst="rect">
            <a:avLst/>
          </a:prstGeom>
          <a:solidFill>
            <a:srgbClr val="265C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051560" y="896112"/>
            <a:ext cx="7040880" cy="877824"/>
          </a:xfrm>
          <a:prstGeom prst="rect">
            <a:avLst/>
          </a:prstGeom>
          <a:noFill/>
          <a:effectLst/>
        </p:spPr>
        <p:txBody>
          <a:bodyPr wrap="square" anchor="t" lIns="0" rIns="0" tIns="0" bIns="0">
            <a:spAutoFit/>
          </a:bodyPr>
          <a:lstStyle/>
          <a:p>
            <a:pPr algn="l">
              <a:lnSpc>
                <a:spcPct val="108000"/>
              </a:lnSpc>
              <a:spcAft>
                <a:spcPts val="0"/>
              </a:spcAft>
            </a:pPr>
            <a:r>
              <a:rPr sz="2600" b="1" i="0">
                <a:solidFill>
                  <a:srgbClr val="265C92"/>
                </a:solidFill>
                <a:latin typeface="Libre Caslon Display"/>
              </a:rPr>
              <a:t>What did the team that did best</a:t>
            </a:r>
            <a:br>
              <a:rPr lang="en-GB"/>
            </a:br>
            <a:r>
              <a:rPr sz="2600" b="1" i="0">
                <a:solidFill>
                  <a:srgbClr val="265C92"/>
                </a:solidFill>
                <a:latin typeface="Libre Caslon Display"/>
              </a:rPr>
              <a:t>actually do?</a:t>
            </a:r>
          </a:p>
        </p:txBody>
      </p:sp>
      <p:sp>
        <p:nvSpPr>
          <p:cNvPr id="7" name="TextBox 6"/>
          <p:cNvSpPr txBox="1"/>
          <p:nvPr/>
        </p:nvSpPr>
        <p:spPr>
          <a:xfrm>
            <a:off x="685800" y="2139696"/>
            <a:ext cx="7772400" cy="219456"/>
          </a:xfrm>
          <a:prstGeom prst="rect">
            <a:avLst/>
          </a:prstGeom>
          <a:noFill/>
          <a:effectLst/>
        </p:spPr>
        <p:txBody>
          <a:bodyPr wrap="square" anchor="t" lIns="0" rIns="0" tIns="0" bIns="0">
            <a:spAutoFit/>
          </a:bodyPr>
          <a:lstStyle/>
          <a:p>
            <a:pPr algn="l">
              <a:lnSpc>
                <a:spcPct val="125000"/>
              </a:lnSpc>
              <a:spcAft>
                <a:spcPts val="0"/>
              </a:spcAft>
            </a:pPr>
            <a:r>
              <a:rPr sz="1000" b="1" i="0" spc="140">
                <a:solidFill>
                  <a:srgbClr val="8B9179"/>
                </a:solidFill>
                <a:latin typeface="Karla"/>
              </a:rPr>
              <a:t>THEN ASK</a:t>
            </a:r>
          </a:p>
        </p:txBody>
      </p:sp>
      <p:sp>
        <p:nvSpPr>
          <p:cNvPr id="8" name="Oval 7"/>
          <p:cNvSpPr/>
          <p:nvPr/>
        </p:nvSpPr>
        <p:spPr>
          <a:xfrm>
            <a:off x="754380" y="2510028"/>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51560" y="2432304"/>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How did your team get birthdays across without any words?</a:t>
            </a:r>
          </a:p>
        </p:txBody>
      </p:sp>
      <p:sp>
        <p:nvSpPr>
          <p:cNvPr id="10" name="Oval 9"/>
          <p:cNvSpPr/>
          <p:nvPr/>
        </p:nvSpPr>
        <p:spPr>
          <a:xfrm>
            <a:off x="754380" y="2983484"/>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905760"/>
            <a:ext cx="7223760" cy="508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Did somebody take charge? Did the team decide that, or did it just happen?</a:t>
            </a:r>
          </a:p>
        </p:txBody>
      </p:sp>
      <p:sp>
        <p:nvSpPr>
          <p:cNvPr id="12" name="Oval 11"/>
          <p:cNvSpPr/>
          <p:nvPr/>
        </p:nvSpPr>
        <p:spPr>
          <a:xfrm>
            <a:off x="754380" y="3710940"/>
            <a:ext cx="118872" cy="118872"/>
          </a:xfrm>
          <a:prstGeom prst="ellipse">
            <a:avLst/>
          </a:prstGeom>
          <a:solidFill>
            <a:srgbClr val="578F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51560" y="3633216"/>
            <a:ext cx="7223760" cy="25400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2E3436"/>
                </a:solidFill>
                <a:latin typeface="Karla"/>
              </a:rPr>
              <a:t>What would have made it faster?</a:t>
            </a:r>
          </a:p>
        </p:txBody>
      </p:sp>
      <p:pic>
        <p:nvPicPr>
          <p:cNvPr id="14" name="Picture 13"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5" name="TextBox 14"/>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6" name="TextBox 15"/>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34 / 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0F4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a:effectLst/>
        </p:spPr>
        <p:txBody>
          <a:bodyPr wrap="square" anchor="t" lIns="0" rIns="0" tIns="0" bIns="0">
            <a:spAutoFit/>
          </a:bodyPr>
          <a:lstStyle/>
          <a:p>
            <a:pPr algn="ctr">
              <a:lnSpc>
                <a:spcPct val="125000"/>
              </a:lnSpc>
              <a:spcAft>
                <a:spcPts val="0"/>
              </a:spcAft>
            </a:pPr>
            <a:r>
              <a:rPr sz="1000" b="1" i="0" spc="160">
                <a:solidFill>
                  <a:srgbClr val="265C92"/>
                </a:solidFill>
                <a:latin typeface="Karla"/>
              </a:rPr>
              <a:t>TEAM CHALLENGES  ·  VOLUME ONE</a:t>
            </a:r>
          </a:p>
        </p:txBody>
      </p:sp>
      <p:pic>
        <p:nvPicPr>
          <p:cNvPr id="4" name="Picture 3" descr="logo-mark.png"/>
          <p:cNvPicPr>
            <a:picLocks noChangeAspect="1"/>
          </p:cNvPicPr>
          <p:nvPr/>
        </p:nvPicPr>
        <p:blipFill>
          <a:blip r:embed="rId2"/>
          <a:stretch>
            <a:fillRect/>
          </a:stretch>
        </p:blipFill>
        <p:spPr>
          <a:xfrm>
            <a:off x="4255251" y="822960"/>
            <a:ext cx="633496" cy="731520"/>
          </a:xfrm>
          <a:prstGeom prst="rect">
            <a:avLst/>
          </a:prstGeom>
          <a:effectLst/>
        </p:spPr>
      </p:pic>
      <p:sp>
        <p:nvSpPr>
          <p:cNvPr id="5" name="TextBox 4"/>
          <p:cNvSpPr txBox="1"/>
          <p:nvPr/>
        </p:nvSpPr>
        <p:spPr>
          <a:xfrm>
            <a:off x="548640" y="1755648"/>
            <a:ext cx="8046720" cy="640080"/>
          </a:xfrm>
          <a:prstGeom prst="rect">
            <a:avLst/>
          </a:prstGeom>
          <a:noFill/>
          <a:effectLst/>
        </p:spPr>
        <p:txBody>
          <a:bodyPr wrap="square" anchor="t" lIns="0" rIns="0" tIns="0" bIns="0">
            <a:spAutoFit/>
          </a:bodyPr>
          <a:lstStyle/>
          <a:p>
            <a:pPr algn="ctr">
              <a:lnSpc>
                <a:spcPct val="105000"/>
              </a:lnSpc>
              <a:spcAft>
                <a:spcPts val="0"/>
              </a:spcAft>
            </a:pPr>
            <a:r>
              <a:rPr sz="3200" b="1" i="0">
                <a:solidFill>
                  <a:srgbClr val="265C92"/>
                </a:solidFill>
                <a:latin typeface="Libre Caslon Display"/>
              </a:rPr>
              <a:t>The end of Volume One</a:t>
            </a:r>
          </a:p>
        </p:txBody>
      </p:sp>
      <p:sp>
        <p:nvSpPr>
          <p:cNvPr id="6" name="TextBox 5"/>
          <p:cNvSpPr txBox="1"/>
          <p:nvPr/>
        </p:nvSpPr>
        <p:spPr>
          <a:xfrm>
            <a:off x="1188720" y="2560320"/>
            <a:ext cx="6766560" cy="822960"/>
          </a:xfrm>
          <a:prstGeom prst="rect">
            <a:avLst/>
          </a:prstGeom>
          <a:noFill/>
          <a:effectLst/>
        </p:spPr>
        <p:txBody>
          <a:bodyPr wrap="square" anchor="t" lIns="0" rIns="0" tIns="0" bIns="0">
            <a:spAutoFit/>
          </a:bodyPr>
          <a:lstStyle/>
          <a:p>
            <a:pPr algn="ctr">
              <a:lnSpc>
                <a:spcPct val="130000"/>
              </a:lnSpc>
              <a:spcAft>
                <a:spcPts val="0"/>
              </a:spcAft>
            </a:pPr>
            <a:r>
              <a:rPr sz="1500" b="0" i="0">
                <a:solidFill>
                  <a:srgbClr val="5C6552"/>
                </a:solidFill>
                <a:latin typeface="Karla"/>
              </a:rPr>
              <a:t>Which challenge has your form done best at so far, and which would you like to do again? Volume Two is on the way.</a:t>
            </a:r>
          </a:p>
        </p:txBody>
      </p:sp>
      <p:sp>
        <p:nvSpPr>
          <p:cNvPr id="7" name="TextBox 6"/>
          <p:cNvSpPr txBox="1"/>
          <p:nvPr/>
        </p:nvSpPr>
        <p:spPr>
          <a:xfrm>
            <a:off x="731520" y="3639312"/>
            <a:ext cx="7680960" cy="365760"/>
          </a:xfrm>
          <a:prstGeom prst="rect">
            <a:avLst/>
          </a:prstGeom>
          <a:noFill/>
          <a:effectLst/>
        </p:spPr>
        <p:txBody>
          <a:bodyPr wrap="square" anchor="t" lIns="0" rIns="0" tIns="0" bIns="0">
            <a:spAutoFit/>
          </a:bodyPr>
          <a:lstStyle/>
          <a:p>
            <a:pPr algn="ctr">
              <a:lnSpc>
                <a:spcPct val="125000"/>
              </a:lnSpc>
              <a:spcAft>
                <a:spcPts val="0"/>
              </a:spcAft>
            </a:pPr>
            <a:r>
              <a:rPr sz="1200" b="0" i="1">
                <a:solidFill>
                  <a:srgbClr val="8B9179"/>
                </a:solidFill>
                <a:latin typeface="Karla"/>
              </a:rPr>
              <a:t>More free form time activities at thepastoralguide.com.</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9" name="TextBox 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B9179"/>
                </a:solidFill>
                <a:latin typeface="Karla"/>
              </a:rPr>
              <a:t>The Pastoral Guide</a:t>
            </a:r>
          </a:p>
        </p:txBody>
      </p:sp>
      <p:sp>
        <p:nvSpPr>
          <p:cNvPr id="10" name="TextBox 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B9179"/>
                </a:solidFill>
                <a:latin typeface="Karla"/>
              </a:rPr>
              <a:t>35 /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