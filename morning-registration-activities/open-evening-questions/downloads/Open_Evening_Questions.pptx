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4A7331"/>
                </a:solidFill>
                <a:latin typeface="Karla"/>
              </a:rPr>
              <a:t>MORNING REGISTRATION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77724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4A7331"/>
                </a:solidFill>
                <a:latin typeface="Libre Caslon Display"/>
              </a:rPr>
              <a:t>Questions to Ask at an Open Evening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2774" y="1188720"/>
            <a:ext cx="1538451" cy="237744"/>
          </a:xfrm>
          <a:prstGeom prst="roundRect">
            <a:avLst>
              <a:gd name="adj" fmla="val 50000"/>
            </a:avLst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FFFDF7"/>
                </a:solidFill>
                <a:latin typeface="Karla"/>
              </a:rPr>
              <a:t>YEAR 10 AND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Five kinds of question, one a morning, and a sheet to take with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83664"/>
            <a:ext cx="2395728" cy="2066543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2029968"/>
            <a:ext cx="658368" cy="658368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sk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167128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" y="2798064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4A7331"/>
                </a:solidFill>
                <a:latin typeface="Libre Caslon Display"/>
              </a:rPr>
              <a:t>One kind of question a morning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291840"/>
            <a:ext cx="2066544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The course, the day, the people, the money, and what could go wrong.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4136" y="1883664"/>
            <a:ext cx="2395728" cy="2066543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42816" y="2029968"/>
            <a:ext cx="658368" cy="658368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wo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167128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02152" y="2798064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4A7331"/>
                </a:solidFill>
                <a:latin typeface="Libre Caslon Display"/>
              </a:rPr>
              <a:t>The form adds its 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3291840"/>
            <a:ext cx="2066544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Two or three from the room go on the board and onto the sheet.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2472" y="1883664"/>
            <a:ext cx="2395728" cy="2066543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31151" y="2029968"/>
            <a:ext cx="658368" cy="658368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a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2167128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90488" y="2798064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4A7331"/>
                </a:solidFill>
                <a:latin typeface="Libre Caslon Display"/>
              </a:rPr>
              <a:t>The sheet goes in the bag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3291840"/>
            <a:ext cx="2066544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Fifteen questions, the form’s own underneath, and a line for each answer.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23360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8B9179"/>
                </a:solidFill>
                <a:latin typeface="Karla"/>
              </a:rPr>
              <a:t>Needs: the question sheet from the resource pack, one per student, and a pen.</a:t>
            </a:r>
          </a:p>
        </p:txBody>
      </p:sp>
      <p:pic>
        <p:nvPicPr>
          <p:cNvPr id="23" name="Picture 22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4A7331"/>
                </a:solidFill>
                <a:latin typeface="Karla"/>
              </a:rPr>
              <a:t>QUESTIONS TO ASK AT AN OPEN EVENING  ·  MORNING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301752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115568"/>
            <a:ext cx="70408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4A7331"/>
                </a:solidFill>
                <a:latin typeface="Libre Caslon Display"/>
              </a:rPr>
              <a:t>About the course</a:t>
            </a:r>
          </a:p>
        </p:txBody>
      </p:sp>
      <p:sp>
        <p:nvSpPr>
          <p:cNvPr id="7" name="Oval 6"/>
          <p:cNvSpPr/>
          <p:nvPr/>
        </p:nvSpPr>
        <p:spPr>
          <a:xfrm>
            <a:off x="1106424" y="1883664"/>
            <a:ext cx="109728" cy="109728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810512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Karla"/>
              </a:rPr>
              <a:t>How is it assessed: exams, coursework, or both?</a:t>
            </a:r>
          </a:p>
        </p:txBody>
      </p:sp>
      <p:sp>
        <p:nvSpPr>
          <p:cNvPr id="9" name="Oval 8"/>
          <p:cNvSpPr/>
          <p:nvPr/>
        </p:nvSpPr>
        <p:spPr>
          <a:xfrm>
            <a:off x="1106424" y="2277618"/>
            <a:ext cx="109728" cy="109728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2204466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Karla"/>
              </a:rPr>
              <a:t>What did last year’s students go on to do?</a:t>
            </a:r>
          </a:p>
        </p:txBody>
      </p:sp>
      <p:sp>
        <p:nvSpPr>
          <p:cNvPr id="11" name="Oval 10"/>
          <p:cNvSpPr/>
          <p:nvPr/>
        </p:nvSpPr>
        <p:spPr>
          <a:xfrm>
            <a:off x="1106424" y="2671572"/>
            <a:ext cx="109728" cy="109728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2598420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Karla"/>
              </a:rPr>
              <a:t>What does a normal week of this course look like?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4164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Add one of your own. The best question is the one you actually want the answer to.</a:t>
            </a:r>
          </a:p>
        </p:txBody>
      </p:sp>
      <p:pic>
        <p:nvPicPr>
          <p:cNvPr id="14" name="Picture 1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4A7331"/>
                </a:solidFill>
                <a:latin typeface="Karla"/>
              </a:rPr>
              <a:t>QUESTIONS TO ASK AT AN OPEN EVENING  ·  MORNING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301752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115568"/>
            <a:ext cx="70408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4A7331"/>
                </a:solidFill>
                <a:latin typeface="Libre Caslon Display"/>
              </a:rPr>
              <a:t>About the day</a:t>
            </a:r>
          </a:p>
        </p:txBody>
      </p:sp>
      <p:sp>
        <p:nvSpPr>
          <p:cNvPr id="7" name="Oval 6"/>
          <p:cNvSpPr/>
          <p:nvPr/>
        </p:nvSpPr>
        <p:spPr>
          <a:xfrm>
            <a:off x="1106424" y="1883664"/>
            <a:ext cx="109728" cy="109728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810512"/>
            <a:ext cx="658368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Karla"/>
              </a:rPr>
              <a:t>How many hours a week am I in lessons, and what happens in the gaps?</a:t>
            </a:r>
          </a:p>
        </p:txBody>
      </p:sp>
      <p:sp>
        <p:nvSpPr>
          <p:cNvPr id="9" name="Oval 8"/>
          <p:cNvSpPr/>
          <p:nvPr/>
        </p:nvSpPr>
        <p:spPr>
          <a:xfrm>
            <a:off x="1106424" y="2525268"/>
            <a:ext cx="109728" cy="109728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2452116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Karla"/>
              </a:rPr>
              <a:t>Where do students go when they have a free period?</a:t>
            </a:r>
          </a:p>
        </p:txBody>
      </p:sp>
      <p:sp>
        <p:nvSpPr>
          <p:cNvPr id="11" name="Oval 10"/>
          <p:cNvSpPr/>
          <p:nvPr/>
        </p:nvSpPr>
        <p:spPr>
          <a:xfrm>
            <a:off x="1106424" y="2919222"/>
            <a:ext cx="109728" cy="109728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2846070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Karla"/>
              </a:rPr>
              <a:t>What time does the day start and finish?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4164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Add one of your own. The best question is the one you actually want the answer to.</a:t>
            </a:r>
          </a:p>
        </p:txBody>
      </p:sp>
      <p:pic>
        <p:nvPicPr>
          <p:cNvPr id="14" name="Picture 1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4A7331"/>
                </a:solidFill>
                <a:latin typeface="Karla"/>
              </a:rPr>
              <a:t>QUESTIONS TO ASK AT AN OPEN EVENING  ·  MORNING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301752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115568"/>
            <a:ext cx="70408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4A7331"/>
                </a:solidFill>
                <a:latin typeface="Libre Caslon Display"/>
              </a:rPr>
              <a:t>About the people</a:t>
            </a:r>
          </a:p>
        </p:txBody>
      </p:sp>
      <p:sp>
        <p:nvSpPr>
          <p:cNvPr id="7" name="Oval 6"/>
          <p:cNvSpPr/>
          <p:nvPr/>
        </p:nvSpPr>
        <p:spPr>
          <a:xfrm>
            <a:off x="1106424" y="1883664"/>
            <a:ext cx="109728" cy="109728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810512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Karla"/>
              </a:rPr>
              <a:t>Who would I go to if I was struggling?</a:t>
            </a:r>
          </a:p>
        </p:txBody>
      </p:sp>
      <p:sp>
        <p:nvSpPr>
          <p:cNvPr id="9" name="Oval 8"/>
          <p:cNvSpPr/>
          <p:nvPr/>
        </p:nvSpPr>
        <p:spPr>
          <a:xfrm>
            <a:off x="1106424" y="2277618"/>
            <a:ext cx="109728" cy="109728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2204466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Karla"/>
              </a:rPr>
              <a:t>How many people are usually in a class?</a:t>
            </a:r>
          </a:p>
        </p:txBody>
      </p:sp>
      <p:sp>
        <p:nvSpPr>
          <p:cNvPr id="11" name="Oval 10"/>
          <p:cNvSpPr/>
          <p:nvPr/>
        </p:nvSpPr>
        <p:spPr>
          <a:xfrm>
            <a:off x="1106424" y="2671572"/>
            <a:ext cx="109728" cy="109728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2598420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Karla"/>
              </a:rPr>
              <a:t>Do students who did not come from this school settle in?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4164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Add one of your own. The best question is the one you actually want the answer to.</a:t>
            </a:r>
          </a:p>
        </p:txBody>
      </p:sp>
      <p:pic>
        <p:nvPicPr>
          <p:cNvPr id="14" name="Picture 1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4A7331"/>
                </a:solidFill>
                <a:latin typeface="Karla"/>
              </a:rPr>
              <a:t>QUESTIONS TO ASK AT AN OPEN EVENING  ·  MORNING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301752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115568"/>
            <a:ext cx="70408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4A7331"/>
                </a:solidFill>
                <a:latin typeface="Libre Caslon Display"/>
              </a:rPr>
              <a:t>About money and getting there</a:t>
            </a:r>
          </a:p>
        </p:txBody>
      </p:sp>
      <p:sp>
        <p:nvSpPr>
          <p:cNvPr id="7" name="Oval 6"/>
          <p:cNvSpPr/>
          <p:nvPr/>
        </p:nvSpPr>
        <p:spPr>
          <a:xfrm>
            <a:off x="1106424" y="1883664"/>
            <a:ext cx="109728" cy="109728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810512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Karla"/>
              </a:rPr>
              <a:t>Is there any cost for trips, books or equipment?</a:t>
            </a:r>
          </a:p>
        </p:txBody>
      </p:sp>
      <p:sp>
        <p:nvSpPr>
          <p:cNvPr id="9" name="Oval 8"/>
          <p:cNvSpPr/>
          <p:nvPr/>
        </p:nvSpPr>
        <p:spPr>
          <a:xfrm>
            <a:off x="1106424" y="2277618"/>
            <a:ext cx="109728" cy="109728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2204466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Karla"/>
              </a:rPr>
              <a:t>Is there a bursary or any help with costs, and how do I apply?</a:t>
            </a:r>
          </a:p>
        </p:txBody>
      </p:sp>
      <p:sp>
        <p:nvSpPr>
          <p:cNvPr id="11" name="Oval 10"/>
          <p:cNvSpPr/>
          <p:nvPr/>
        </p:nvSpPr>
        <p:spPr>
          <a:xfrm>
            <a:off x="1106424" y="2671572"/>
            <a:ext cx="109728" cy="109728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2598420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Karla"/>
              </a:rPr>
              <a:t>How do most students get here in the morning?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4164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Add one of your own. The best question is the one you actually want the answer to.</a:t>
            </a:r>
          </a:p>
        </p:txBody>
      </p:sp>
      <p:pic>
        <p:nvPicPr>
          <p:cNvPr id="14" name="Picture 1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4A7331"/>
                </a:solidFill>
                <a:latin typeface="Karla"/>
              </a:rPr>
              <a:t>QUESTIONS TO ASK AT AN OPEN EVENING  ·  MORNING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301752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115568"/>
            <a:ext cx="70408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4A7331"/>
                </a:solidFill>
                <a:latin typeface="Libre Caslon Display"/>
              </a:rPr>
              <a:t>If it goes wrong</a:t>
            </a:r>
          </a:p>
        </p:txBody>
      </p:sp>
      <p:sp>
        <p:nvSpPr>
          <p:cNvPr id="7" name="Oval 6"/>
          <p:cNvSpPr/>
          <p:nvPr/>
        </p:nvSpPr>
        <p:spPr>
          <a:xfrm>
            <a:off x="1106424" y="1883664"/>
            <a:ext cx="109728" cy="109728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810512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Karla"/>
              </a:rPr>
              <a:t>What happens if I pick the wrong subject in the first term?</a:t>
            </a:r>
          </a:p>
        </p:txBody>
      </p:sp>
      <p:sp>
        <p:nvSpPr>
          <p:cNvPr id="9" name="Oval 8"/>
          <p:cNvSpPr/>
          <p:nvPr/>
        </p:nvSpPr>
        <p:spPr>
          <a:xfrm>
            <a:off x="1106424" y="2277618"/>
            <a:ext cx="109728" cy="109728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2204466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Karla"/>
              </a:rPr>
              <a:t>Can I change courses, and until when?</a:t>
            </a:r>
          </a:p>
        </p:txBody>
      </p:sp>
      <p:sp>
        <p:nvSpPr>
          <p:cNvPr id="11" name="Oval 10"/>
          <p:cNvSpPr/>
          <p:nvPr/>
        </p:nvSpPr>
        <p:spPr>
          <a:xfrm>
            <a:off x="1106424" y="2671572"/>
            <a:ext cx="109728" cy="109728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2598420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Karla"/>
              </a:rPr>
              <a:t>What support is there if my grades are not what I hoped?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4164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Add one of your own. The best question is the one you actually want the answer to.</a:t>
            </a:r>
          </a:p>
        </p:txBody>
      </p:sp>
      <p:pic>
        <p:nvPicPr>
          <p:cNvPr id="14" name="Picture 1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4A7331"/>
                </a:solidFill>
                <a:latin typeface="Karla"/>
              </a:rPr>
              <a:t>QUESTIONS TO ASK AT AN OPEN EVENING  ·  THE WEEK AFTER</a:t>
            </a:r>
          </a:p>
        </p:txBody>
      </p:sp>
      <p:pic>
        <p:nvPicPr>
          <p:cNvPr id="4" name="Picture 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251" y="822960"/>
            <a:ext cx="633496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755648"/>
            <a:ext cx="8046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4A7331"/>
                </a:solidFill>
                <a:latin typeface="Libre Caslon Display"/>
              </a:rPr>
              <a:t>What did you find out?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C6552"/>
                </a:solidFill>
                <a:latin typeface="Karla"/>
              </a:rPr>
              <a:t>Bring the sheet back. Which question got the most useful answer, and which one did nobody answer properly?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3931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Karla"/>
              </a:rPr>
              <a:t>An unanswered question is worth asking somewhere else.</a:t>
            </a:r>
          </a:p>
        </p:txBody>
      </p:sp>
      <p:pic>
        <p:nvPicPr>
          <p:cNvPr id="8" name="Picture 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