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8146" y="640080"/>
            <a:ext cx="807707" cy="9326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810512"/>
            <a:ext cx="8046720" cy="7533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4400" b="0" i="0">
                <a:solidFill>
                  <a:srgbClr val="5A6428"/>
                </a:solidFill>
                <a:latin typeface="Georgia"/>
              </a:rPr>
              <a:t>After the Mocks</a:t>
            </a:r>
          </a:p>
        </p:txBody>
      </p:sp>
      <p:sp>
        <p:nvSpPr>
          <p:cNvPr id="5" name="Rectangle 4"/>
          <p:cNvSpPr/>
          <p:nvPr/>
        </p:nvSpPr>
        <p:spPr>
          <a:xfrm>
            <a:off x="4069080" y="2816352"/>
            <a:ext cx="1005840" cy="18288"/>
          </a:xfrm>
          <a:prstGeom prst="rect">
            <a:avLst/>
          </a:prstGeom>
          <a:solidFill>
            <a:srgbClr val="8F9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3017520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800" b="0" i="0">
                <a:solidFill>
                  <a:srgbClr val="5C6552"/>
                </a:solidFill>
                <a:latin typeface="Calibri"/>
              </a:rPr>
              <a:t>A result is information. The story is optional.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47872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8B9179"/>
                </a:solidFill>
                <a:latin typeface="Calibri"/>
              </a:rPr>
              <a:t>Tutor Time  ·  a lesson for the week after mock results, Year 10 to 13</a:t>
            </a:r>
          </a:p>
        </p:txBody>
      </p:sp>
      <p:pic>
        <p:nvPicPr>
          <p:cNvPr id="8" name="Picture 7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1 / 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548640"/>
            <a:ext cx="2269682" cy="237744"/>
          </a:xfrm>
          <a:prstGeom prst="roundRect">
            <a:avLst>
              <a:gd name="adj" fmla="val 50000"/>
            </a:avLst>
          </a:prstGeom>
          <a:solidFill>
            <a:srgbClr val="F3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5A6428"/>
                </a:solidFill>
                <a:latin typeface="Calibri"/>
              </a:rPr>
              <a:t>TEACHER SLIDE  ·  SKIP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77724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0" i="0">
                <a:solidFill>
                  <a:srgbClr val="2E3436"/>
                </a:solidFill>
                <a:latin typeface="Georgia"/>
              </a:rPr>
              <a:t>Before the lesson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54480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C6552"/>
                </a:solidFill>
                <a:latin typeface="Calibri"/>
              </a:rPr>
              <a:t>One set of cards per table and one sheet per student. Nothing written today is collected.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975104"/>
            <a:ext cx="7772400" cy="64008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093976"/>
            <a:ext cx="402336" cy="402336"/>
          </a:xfrm>
          <a:prstGeom prst="ellipse">
            <a:avLst/>
          </a:prstGeom>
          <a:solidFill>
            <a:srgbClr val="5A6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189988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075688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A6428"/>
                </a:solidFill>
                <a:latin typeface="Georgia"/>
              </a:rPr>
              <a:t>Cut the cards once, one set per table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322576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Calibri"/>
              </a:rPr>
              <a:t>Page 2 of the pack, eight cards. They are sorted on slide 3 before anything is taught.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724912"/>
            <a:ext cx="7772400" cy="64008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" y="2843784"/>
            <a:ext cx="402336" cy="402336"/>
          </a:xfrm>
          <a:prstGeom prst="ellipse">
            <a:avLst/>
          </a:prstGeom>
          <a:solidFill>
            <a:srgbClr val="5A6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939796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2825496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A6428"/>
                </a:solidFill>
                <a:latin typeface="Georgia"/>
              </a:rPr>
              <a:t>Print the sheet, one per student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072384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Calibri"/>
              </a:rPr>
              <a:t>Page 3. Students need their own mock result in front of them, or a rough memory of it.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474720"/>
            <a:ext cx="7772400" cy="64008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3593591"/>
            <a:ext cx="402336" cy="402336"/>
          </a:xfrm>
          <a:prstGeom prst="ellipse">
            <a:avLst/>
          </a:prstGeom>
          <a:solidFill>
            <a:srgbClr val="5A6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689603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3575303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A6428"/>
                </a:solidFill>
                <a:latin typeface="Georgia"/>
              </a:rPr>
              <a:t>Read the safeguarding line on page 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3822191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Calibri"/>
              </a:rPr>
              <a:t>A bad mock lands on top of other things for some students. The exit slip is private.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224528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5C6552"/>
                </a:solidFill>
                <a:latin typeface="Calibri"/>
              </a:rPr>
              <a:t>The pack has the hour minute by minute against these slide numbers.</a:t>
            </a:r>
          </a:p>
        </p:txBody>
      </p:sp>
      <p:pic>
        <p:nvPicPr>
          <p:cNvPr id="22" name="Picture 21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77724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0" i="0">
                <a:solidFill>
                  <a:srgbClr val="2E3436"/>
                </a:solidFill>
                <a:latin typeface="Georgia"/>
              </a:rPr>
              <a:t>Sort the cards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54480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C6552"/>
                </a:solidFill>
                <a:latin typeface="Calibri"/>
              </a:rPr>
              <a:t>Eight things people say in the week after results. On your table, two piles.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956816"/>
            <a:ext cx="7772400" cy="621792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066543"/>
            <a:ext cx="402336" cy="402336"/>
          </a:xfrm>
          <a:prstGeom prst="ellipse">
            <a:avLst/>
          </a:prstGeom>
          <a:solidFill>
            <a:srgbClr val="5A6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162556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057400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A6428"/>
                </a:solidFill>
                <a:latin typeface="Georgia"/>
              </a:rPr>
              <a:t>Facts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304288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Calibri"/>
              </a:rPr>
              <a:t>Things you could check. A number, a question, a page.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706624"/>
            <a:ext cx="7772400" cy="621792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" y="2816351"/>
            <a:ext cx="402336" cy="402336"/>
          </a:xfrm>
          <a:prstGeom prst="ellipse">
            <a:avLst/>
          </a:prstGeom>
          <a:solidFill>
            <a:srgbClr val="5A6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912363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2807208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A6428"/>
                </a:solidFill>
                <a:latin typeface="Georgia"/>
              </a:rPr>
              <a:t>Stories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054096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Calibri"/>
              </a:rPr>
              <a:t>Things that feel true. Watch for words like always, never or just.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456432"/>
            <a:ext cx="7772400" cy="621792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3566160"/>
            <a:ext cx="402336" cy="402336"/>
          </a:xfrm>
          <a:prstGeom prst="ellipse">
            <a:avLst/>
          </a:prstGeom>
          <a:solidFill>
            <a:srgbClr val="5A6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662172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3557016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A6428"/>
                </a:solidFill>
                <a:latin typeface="Georgia"/>
              </a:rPr>
              <a:t>Disagree out loud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3803904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Calibri"/>
              </a:rPr>
              <a:t>If your table cannot agree on a card, that card goes on the board.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224528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5C6552"/>
                </a:solidFill>
                <a:latin typeface="Calibri"/>
              </a:rPr>
              <a:t>Four minutes. Then we look at the ones that caused an argument.</a:t>
            </a:r>
          </a:p>
        </p:txBody>
      </p:sp>
      <p:pic>
        <p:nvPicPr>
          <p:cNvPr id="22" name="Picture 21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77724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0" i="0">
                <a:solidFill>
                  <a:srgbClr val="2E3436"/>
                </a:solidFill>
                <a:latin typeface="Georgia"/>
              </a:rPr>
              <a:t>The two piles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27632"/>
            <a:ext cx="3730752" cy="2249424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83664"/>
            <a:ext cx="31821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5A6428"/>
                </a:solidFill>
                <a:latin typeface="Georgia"/>
              </a:rPr>
              <a:t>Facts</a:t>
            </a:r>
          </a:p>
        </p:txBody>
      </p:sp>
      <p:sp>
        <p:nvSpPr>
          <p:cNvPr id="7" name="Oval 6"/>
          <p:cNvSpPr/>
          <p:nvPr/>
        </p:nvSpPr>
        <p:spPr>
          <a:xfrm>
            <a:off x="1005839" y="2359152"/>
            <a:ext cx="91440" cy="91440"/>
          </a:xfrm>
          <a:prstGeom prst="ellipse">
            <a:avLst/>
          </a:prstGeom>
          <a:solidFill>
            <a:srgbClr val="8F9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2304288"/>
            <a:ext cx="2889504" cy="182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Calibri"/>
              </a:rPr>
              <a:t>I got a 4 in maths.</a:t>
            </a:r>
          </a:p>
        </p:txBody>
      </p:sp>
      <p:sp>
        <p:nvSpPr>
          <p:cNvPr id="9" name="Oval 8"/>
          <p:cNvSpPr/>
          <p:nvPr/>
        </p:nvSpPr>
        <p:spPr>
          <a:xfrm>
            <a:off x="1005839" y="2633630"/>
            <a:ext cx="91440" cy="91440"/>
          </a:xfrm>
          <a:prstGeom prst="ellipse">
            <a:avLst/>
          </a:prstGeom>
          <a:solidFill>
            <a:srgbClr val="8F9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2578766"/>
            <a:ext cx="2889504" cy="182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Calibri"/>
              </a:rPr>
              <a:t>I ran out of time on paper two.</a:t>
            </a:r>
          </a:p>
        </p:txBody>
      </p:sp>
      <p:sp>
        <p:nvSpPr>
          <p:cNvPr id="11" name="Oval 10"/>
          <p:cNvSpPr/>
          <p:nvPr/>
        </p:nvSpPr>
        <p:spPr>
          <a:xfrm>
            <a:off x="1005839" y="2908109"/>
            <a:ext cx="91440" cy="91440"/>
          </a:xfrm>
          <a:prstGeom prst="ellipse">
            <a:avLst/>
          </a:prstGeom>
          <a:solidFill>
            <a:srgbClr val="8F9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2853245"/>
            <a:ext cx="2889504" cy="3651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Calibri"/>
              </a:rPr>
              <a:t>I lost most of the marks on the last two questions.</a:t>
            </a:r>
          </a:p>
        </p:txBody>
      </p:sp>
      <p:sp>
        <p:nvSpPr>
          <p:cNvPr id="13" name="Oval 12"/>
          <p:cNvSpPr/>
          <p:nvPr/>
        </p:nvSpPr>
        <p:spPr>
          <a:xfrm>
            <a:off x="1005839" y="3365150"/>
            <a:ext cx="91440" cy="91440"/>
          </a:xfrm>
          <a:prstGeom prst="ellipse">
            <a:avLst/>
          </a:prstGeom>
          <a:solidFill>
            <a:srgbClr val="8F9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34440" y="3310286"/>
            <a:ext cx="2889504" cy="3651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Calibri"/>
              </a:rPr>
              <a:t>The topics I revised were not the ones that came up.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27448" y="1627632"/>
            <a:ext cx="3730752" cy="2249424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1768" y="1883664"/>
            <a:ext cx="31821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5A6428"/>
                </a:solidFill>
                <a:latin typeface="Georgia"/>
              </a:rPr>
              <a:t>Stories</a:t>
            </a:r>
          </a:p>
        </p:txBody>
      </p:sp>
      <p:sp>
        <p:nvSpPr>
          <p:cNvPr id="17" name="Oval 16"/>
          <p:cNvSpPr/>
          <p:nvPr/>
        </p:nvSpPr>
        <p:spPr>
          <a:xfrm>
            <a:off x="5047488" y="2359152"/>
            <a:ext cx="91440" cy="91440"/>
          </a:xfrm>
          <a:prstGeom prst="ellipse">
            <a:avLst/>
          </a:prstGeom>
          <a:solidFill>
            <a:srgbClr val="8F9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76088" y="2304288"/>
            <a:ext cx="2889504" cy="182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Calibri"/>
              </a:rPr>
              <a:t>I am just not a maths person.</a:t>
            </a:r>
          </a:p>
        </p:txBody>
      </p:sp>
      <p:sp>
        <p:nvSpPr>
          <p:cNvPr id="19" name="Oval 18"/>
          <p:cNvSpPr/>
          <p:nvPr/>
        </p:nvSpPr>
        <p:spPr>
          <a:xfrm>
            <a:off x="5047488" y="2724912"/>
            <a:ext cx="91440" cy="91440"/>
          </a:xfrm>
          <a:prstGeom prst="ellipse">
            <a:avLst/>
          </a:prstGeom>
          <a:solidFill>
            <a:srgbClr val="8F9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76088" y="2670048"/>
            <a:ext cx="2889504" cy="182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Calibri"/>
              </a:rPr>
              <a:t>Everyone else found it easy.</a:t>
            </a:r>
          </a:p>
        </p:txBody>
      </p:sp>
      <p:sp>
        <p:nvSpPr>
          <p:cNvPr id="21" name="Oval 20"/>
          <p:cNvSpPr/>
          <p:nvPr/>
        </p:nvSpPr>
        <p:spPr>
          <a:xfrm>
            <a:off x="5047488" y="3090672"/>
            <a:ext cx="91440" cy="91440"/>
          </a:xfrm>
          <a:prstGeom prst="ellipse">
            <a:avLst/>
          </a:prstGeom>
          <a:solidFill>
            <a:srgbClr val="8F9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76088" y="3035808"/>
            <a:ext cx="2889504" cy="182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Calibri"/>
              </a:rPr>
              <a:t>There is no point now.</a:t>
            </a:r>
          </a:p>
        </p:txBody>
      </p:sp>
      <p:sp>
        <p:nvSpPr>
          <p:cNvPr id="23" name="Oval 22"/>
          <p:cNvSpPr/>
          <p:nvPr/>
        </p:nvSpPr>
        <p:spPr>
          <a:xfrm>
            <a:off x="5047488" y="3456432"/>
            <a:ext cx="91440" cy="91440"/>
          </a:xfrm>
          <a:prstGeom prst="ellipse">
            <a:avLst/>
          </a:prstGeom>
          <a:solidFill>
            <a:srgbClr val="8F9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76088" y="3401568"/>
            <a:ext cx="2889504" cy="182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Calibri"/>
              </a:rPr>
              <a:t>The teacher has it in for me.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224528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5C6552"/>
                </a:solidFill>
                <a:latin typeface="Calibri"/>
              </a:rPr>
              <a:t>A story is not a lie. It is a feeling written down as if it were a result.</a:t>
            </a:r>
          </a:p>
        </p:txBody>
      </p:sp>
      <p:pic>
        <p:nvPicPr>
          <p:cNvPr id="26" name="Picture 25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77724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0" i="0">
                <a:solidFill>
                  <a:srgbClr val="2E3436"/>
                </a:solidFill>
                <a:latin typeface="Georgia"/>
              </a:rPr>
              <a:t>A result says three things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27632"/>
            <a:ext cx="2395728" cy="2139696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54480" y="1773936"/>
            <a:ext cx="658368" cy="658368"/>
          </a:xfrm>
          <a:prstGeom prst="ellipse">
            <a:avLst/>
          </a:prstGeom>
          <a:solidFill>
            <a:srgbClr val="5A6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ey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40" y="1911095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3816" y="2542032"/>
            <a:ext cx="21396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5A6428"/>
                </a:solidFill>
                <a:latin typeface="Georgia"/>
              </a:rPr>
              <a:t>What was tested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3035808"/>
            <a:ext cx="2066544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Calibri"/>
              </a:rPr>
              <a:t>A paper, on a day, on some topics. Not the subject, and not you.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74136" y="1627632"/>
            <a:ext cx="2395728" cy="2139696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242816" y="1773936"/>
            <a:ext cx="658368" cy="658368"/>
          </a:xfrm>
          <a:prstGeom prst="ellipse">
            <a:avLst/>
          </a:prstGeom>
          <a:solidFill>
            <a:srgbClr val="5A6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9976" y="1911095"/>
            <a:ext cx="384048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502152" y="2542032"/>
            <a:ext cx="21396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5A6428"/>
                </a:solidFill>
                <a:latin typeface="Georgia"/>
              </a:rPr>
              <a:t>What you did on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3035808"/>
            <a:ext cx="2066544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Calibri"/>
              </a:rPr>
              <a:t>Where the marks came from and where they went. The useful part.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62472" y="1627632"/>
            <a:ext cx="2395728" cy="2139696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931151" y="1773936"/>
            <a:ext cx="658368" cy="658368"/>
          </a:xfrm>
          <a:prstGeom prst="ellipse">
            <a:avLst/>
          </a:prstGeom>
          <a:solidFill>
            <a:srgbClr val="5A6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clo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8312" y="1911095"/>
            <a:ext cx="384048" cy="3840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190488" y="2542032"/>
            <a:ext cx="21396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5A6428"/>
                </a:solidFill>
                <a:latin typeface="Georgia"/>
              </a:rPr>
              <a:t>Nothing about next time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27064" y="3035808"/>
            <a:ext cx="2066544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Calibri"/>
              </a:rPr>
              <a:t>A mock is a rehearsal. The real paper has not been sat yet.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224528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5C6552"/>
                </a:solidFill>
                <a:latin typeface="Calibri"/>
              </a:rPr>
              <a:t>Everything else you hear yourself saying is the fourth thing.</a:t>
            </a:r>
          </a:p>
        </p:txBody>
      </p:sp>
      <p:pic>
        <p:nvPicPr>
          <p:cNvPr id="21" name="Picture 20" descr="logo-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77724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0" i="0">
                <a:solidFill>
                  <a:srgbClr val="2E3436"/>
                </a:solidFill>
                <a:latin typeface="Georgia"/>
              </a:rPr>
              <a:t>The story adds a fourth thing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54480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C6552"/>
                </a:solidFill>
                <a:latin typeface="Calibri"/>
              </a:rPr>
              <a:t>What the result says about you, forever.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956816"/>
            <a:ext cx="7772400" cy="621792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066543"/>
            <a:ext cx="402336" cy="402336"/>
          </a:xfrm>
          <a:prstGeom prst="ellipse">
            <a:avLst/>
          </a:prstGeom>
          <a:solidFill>
            <a:srgbClr val="5A6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162556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057400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A6428"/>
                </a:solidFill>
                <a:latin typeface="Georgia"/>
              </a:rPr>
              <a:t>It turns a paper into a person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304288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Calibri"/>
              </a:rPr>
              <a:t>“I got a 4” becomes “I am a 4.”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706624"/>
            <a:ext cx="7772400" cy="621792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" y="2816351"/>
            <a:ext cx="402336" cy="402336"/>
          </a:xfrm>
          <a:prstGeom prst="ellipse">
            <a:avLst/>
          </a:prstGeom>
          <a:solidFill>
            <a:srgbClr val="5A6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912363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2807208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A6428"/>
                </a:solidFill>
                <a:latin typeface="Georgia"/>
              </a:rPr>
              <a:t>It turns a day into always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054096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Calibri"/>
              </a:rPr>
              <a:t>“I ran out of time” becomes “I always mess up exams.”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456432"/>
            <a:ext cx="7772400" cy="621792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3566160"/>
            <a:ext cx="402336" cy="402336"/>
          </a:xfrm>
          <a:prstGeom prst="ellipse">
            <a:avLst/>
          </a:prstGeom>
          <a:solidFill>
            <a:srgbClr val="5A6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662172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3557016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A6428"/>
                </a:solidFill>
                <a:latin typeface="Georgia"/>
              </a:rPr>
              <a:t>It leaves you with a feeling and nothing to 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3803904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Calibri"/>
              </a:rPr>
              <a:t>A fact points somewhere. A story only points at you.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224528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5C6552"/>
                </a:solidFill>
                <a:latin typeface="Calibri"/>
              </a:rPr>
              <a:t>You cannot stop the story arriving. You can decide not to write it down.</a:t>
            </a:r>
          </a:p>
        </p:txBody>
      </p:sp>
      <p:pic>
        <p:nvPicPr>
          <p:cNvPr id="22" name="Picture 21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77724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0" i="0">
                <a:solidFill>
                  <a:srgbClr val="2E3436"/>
                </a:solidFill>
                <a:latin typeface="Georgia"/>
              </a:rPr>
              <a:t>One result, two 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27632"/>
            <a:ext cx="3730752" cy="2249424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83664"/>
            <a:ext cx="31821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5A6428"/>
                </a:solidFill>
                <a:latin typeface="Georgia"/>
              </a:rPr>
              <a:t>The story</a:t>
            </a:r>
          </a:p>
        </p:txBody>
      </p:sp>
      <p:sp>
        <p:nvSpPr>
          <p:cNvPr id="7" name="Oval 6"/>
          <p:cNvSpPr/>
          <p:nvPr/>
        </p:nvSpPr>
        <p:spPr>
          <a:xfrm>
            <a:off x="1005839" y="2359152"/>
            <a:ext cx="91440" cy="91440"/>
          </a:xfrm>
          <a:prstGeom prst="ellipse">
            <a:avLst/>
          </a:prstGeom>
          <a:solidFill>
            <a:srgbClr val="8F9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2304288"/>
            <a:ext cx="2889504" cy="182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Calibri"/>
              </a:rPr>
              <a:t>I got a 5 in English.</a:t>
            </a:r>
          </a:p>
        </p:txBody>
      </p:sp>
      <p:sp>
        <p:nvSpPr>
          <p:cNvPr id="9" name="Oval 8"/>
          <p:cNvSpPr/>
          <p:nvPr/>
        </p:nvSpPr>
        <p:spPr>
          <a:xfrm>
            <a:off x="1005839" y="2633630"/>
            <a:ext cx="91440" cy="91440"/>
          </a:xfrm>
          <a:prstGeom prst="ellipse">
            <a:avLst/>
          </a:prstGeom>
          <a:solidFill>
            <a:srgbClr val="8F9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2578766"/>
            <a:ext cx="2889504" cy="3651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Calibri"/>
              </a:rPr>
              <a:t>I am rubbish at essays. I always have been.</a:t>
            </a:r>
          </a:p>
        </p:txBody>
      </p:sp>
      <p:sp>
        <p:nvSpPr>
          <p:cNvPr id="11" name="Oval 10"/>
          <p:cNvSpPr/>
          <p:nvPr/>
        </p:nvSpPr>
        <p:spPr>
          <a:xfrm>
            <a:off x="1005839" y="3090672"/>
            <a:ext cx="91440" cy="91440"/>
          </a:xfrm>
          <a:prstGeom prst="ellipse">
            <a:avLst/>
          </a:prstGeom>
          <a:solidFill>
            <a:srgbClr val="8F9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3035808"/>
            <a:ext cx="2889504" cy="182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Calibri"/>
              </a:rPr>
              <a:t>Everyone else is on 7s.</a:t>
            </a:r>
          </a:p>
        </p:txBody>
      </p:sp>
      <p:sp>
        <p:nvSpPr>
          <p:cNvPr id="13" name="Oval 12"/>
          <p:cNvSpPr/>
          <p:nvPr/>
        </p:nvSpPr>
        <p:spPr>
          <a:xfrm>
            <a:off x="1005839" y="3365150"/>
            <a:ext cx="91440" cy="91440"/>
          </a:xfrm>
          <a:prstGeom prst="ellipse">
            <a:avLst/>
          </a:prstGeom>
          <a:solidFill>
            <a:srgbClr val="8F9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34440" y="3310286"/>
            <a:ext cx="2889504" cy="3651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Calibri"/>
              </a:rPr>
              <a:t>I might as well not bother in the real one.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27448" y="1627632"/>
            <a:ext cx="3730752" cy="2249424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1768" y="1883664"/>
            <a:ext cx="31821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5A6428"/>
                </a:solidFill>
                <a:latin typeface="Georgia"/>
              </a:rPr>
              <a:t>The fact, and a first move</a:t>
            </a:r>
          </a:p>
        </p:txBody>
      </p:sp>
      <p:sp>
        <p:nvSpPr>
          <p:cNvPr id="17" name="Oval 16"/>
          <p:cNvSpPr/>
          <p:nvPr/>
        </p:nvSpPr>
        <p:spPr>
          <a:xfrm>
            <a:off x="5047488" y="2359152"/>
            <a:ext cx="91440" cy="91440"/>
          </a:xfrm>
          <a:prstGeom prst="ellipse">
            <a:avLst/>
          </a:prstGeom>
          <a:solidFill>
            <a:srgbClr val="8F9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76088" y="2304288"/>
            <a:ext cx="2889504" cy="182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Calibri"/>
              </a:rPr>
              <a:t>I got a 5 in English.</a:t>
            </a:r>
          </a:p>
        </p:txBody>
      </p:sp>
      <p:sp>
        <p:nvSpPr>
          <p:cNvPr id="19" name="Oval 18"/>
          <p:cNvSpPr/>
          <p:nvPr/>
        </p:nvSpPr>
        <p:spPr>
          <a:xfrm>
            <a:off x="5047488" y="2633630"/>
            <a:ext cx="91440" cy="91440"/>
          </a:xfrm>
          <a:prstGeom prst="ellipse">
            <a:avLst/>
          </a:prstGeom>
          <a:solidFill>
            <a:srgbClr val="8F9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76088" y="2578766"/>
            <a:ext cx="2889504" cy="3651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Calibri"/>
              </a:rPr>
              <a:t>The marks came off for the structure of the second essay.</a:t>
            </a:r>
          </a:p>
        </p:txBody>
      </p:sp>
      <p:sp>
        <p:nvSpPr>
          <p:cNvPr id="21" name="Oval 20"/>
          <p:cNvSpPr/>
          <p:nvPr/>
        </p:nvSpPr>
        <p:spPr>
          <a:xfrm>
            <a:off x="5047488" y="3090672"/>
            <a:ext cx="91440" cy="91440"/>
          </a:xfrm>
          <a:prstGeom prst="ellipse">
            <a:avLst/>
          </a:prstGeom>
          <a:solidFill>
            <a:srgbClr val="8F9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76088" y="3035808"/>
            <a:ext cx="2889504" cy="182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Calibri"/>
              </a:rPr>
              <a:t>The first essay was fine.</a:t>
            </a:r>
          </a:p>
        </p:txBody>
      </p:sp>
      <p:sp>
        <p:nvSpPr>
          <p:cNvPr id="23" name="Oval 22"/>
          <p:cNvSpPr/>
          <p:nvPr/>
        </p:nvSpPr>
        <p:spPr>
          <a:xfrm>
            <a:off x="5047488" y="3365150"/>
            <a:ext cx="91440" cy="91440"/>
          </a:xfrm>
          <a:prstGeom prst="ellipse">
            <a:avLst/>
          </a:prstGeom>
          <a:solidFill>
            <a:srgbClr val="8F9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76088" y="3310286"/>
            <a:ext cx="2889504" cy="3651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Calibri"/>
              </a:rPr>
              <a:t>First move: two essay plans this week, checked by somebody.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224528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5C6552"/>
                </a:solidFill>
                <a:latin typeface="Calibri"/>
              </a:rPr>
              <a:t>Same result. One version has something to do on Tuesday.</a:t>
            </a:r>
          </a:p>
        </p:txBody>
      </p:sp>
      <p:pic>
        <p:nvPicPr>
          <p:cNvPr id="26" name="Picture 25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77724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0" i="0">
                <a:solidFill>
                  <a:srgbClr val="2E3436"/>
                </a:solidFill>
                <a:latin typeface="Georgia"/>
              </a:rPr>
              <a:t>Do one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54480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C6552"/>
                </a:solidFill>
                <a:latin typeface="Calibri"/>
              </a:rPr>
              <a:t>A made-up result on the board. The room turns it into a fact and a first move.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956816"/>
            <a:ext cx="7772400" cy="621792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066543"/>
            <a:ext cx="402336" cy="402336"/>
          </a:xfrm>
          <a:prstGeom prst="ellipse">
            <a:avLst/>
          </a:prstGeom>
          <a:solidFill>
            <a:srgbClr val="5A6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162556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057400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A6428"/>
                </a:solidFill>
                <a:latin typeface="Georgia"/>
              </a:rPr>
              <a:t>The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304288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Calibri"/>
              </a:rPr>
              <a:t>A 3 in science. Ran out of time on paper one, and lost most marks on the first topic.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706624"/>
            <a:ext cx="7772400" cy="621792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" y="2816351"/>
            <a:ext cx="402336" cy="402336"/>
          </a:xfrm>
          <a:prstGeom prst="ellipse">
            <a:avLst/>
          </a:prstGeom>
          <a:solidFill>
            <a:srgbClr val="5A6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912363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2807208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A6428"/>
                </a:solidFill>
                <a:latin typeface="Georgia"/>
              </a:rPr>
              <a:t>The fact 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054096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Calibri"/>
              </a:rPr>
              <a:t>Say it out loud until it has no always, never or just in it.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456432"/>
            <a:ext cx="7772400" cy="621792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3566160"/>
            <a:ext cx="402336" cy="402336"/>
          </a:xfrm>
          <a:prstGeom prst="ellipse">
            <a:avLst/>
          </a:prstGeom>
          <a:solidFill>
            <a:srgbClr val="5A6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662172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3557016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A6428"/>
                </a:solidFill>
                <a:latin typeface="Georgia"/>
              </a:rPr>
              <a:t>The first move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3803904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Calibri"/>
              </a:rPr>
              <a:t>Something that takes less than an hour and could happen this week.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224528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5C6552"/>
                </a:solidFill>
                <a:latin typeface="Calibri"/>
              </a:rPr>
              <a:t>If the first move is “revise more”, it is not a move yet. Make it smaller.</a:t>
            </a:r>
          </a:p>
        </p:txBody>
      </p:sp>
      <p:pic>
        <p:nvPicPr>
          <p:cNvPr id="22" name="Picture 21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77724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0" i="0">
                <a:solidFill>
                  <a:srgbClr val="2E3436"/>
                </a:solidFill>
                <a:latin typeface="Georgia"/>
              </a:rPr>
              <a:t>Your own result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54480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C6552"/>
                </a:solidFill>
                <a:latin typeface="Calibri"/>
              </a:rPr>
              <a:t>On the sheet. Pick one result, the one that bothers you most.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956816"/>
            <a:ext cx="7772400" cy="621792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066543"/>
            <a:ext cx="402336" cy="402336"/>
          </a:xfrm>
          <a:prstGeom prst="ellipse">
            <a:avLst/>
          </a:prstGeom>
          <a:solidFill>
            <a:srgbClr val="5A6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162556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057400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A6428"/>
                </a:solidFill>
                <a:latin typeface="Georgia"/>
              </a:rPr>
              <a:t>What it tested, and what you did on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304288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Calibri"/>
              </a:rPr>
              <a:t>Where the marks went, if you know. If you do not know, the first move is to find out.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706624"/>
            <a:ext cx="7772400" cy="621792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" y="2816351"/>
            <a:ext cx="402336" cy="402336"/>
          </a:xfrm>
          <a:prstGeom prst="ellipse">
            <a:avLst/>
          </a:prstGeom>
          <a:solidFill>
            <a:srgbClr val="5A6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912363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2807208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A6428"/>
                </a:solidFill>
                <a:latin typeface="Georgia"/>
              </a:rPr>
              <a:t>One line of fact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054096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Calibri"/>
              </a:rPr>
              <a:t>No always, never or just. If it has one, cross it out and try again.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456432"/>
            <a:ext cx="7772400" cy="621792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3566160"/>
            <a:ext cx="402336" cy="402336"/>
          </a:xfrm>
          <a:prstGeom prst="ellipse">
            <a:avLst/>
          </a:prstGeom>
          <a:solidFill>
            <a:srgbClr val="5A6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662172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3557016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A6428"/>
                </a:solidFill>
                <a:latin typeface="Georgia"/>
              </a:rPr>
              <a:t>One first move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3803904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Calibri"/>
              </a:rPr>
              <a:t>Under an hour, this week, and you could tell someone you had done it.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224528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5C6552"/>
                </a:solidFill>
                <a:latin typeface="Calibri"/>
              </a:rPr>
              <a:t>Eight minutes. The sheet is yours and it is not collected.</a:t>
            </a:r>
          </a:p>
        </p:txBody>
      </p:sp>
      <p:pic>
        <p:nvPicPr>
          <p:cNvPr id="22" name="Picture 21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77724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0" i="0">
                <a:solidFill>
                  <a:srgbClr val="2E3436"/>
                </a:solidFill>
                <a:latin typeface="Georgia"/>
              </a:rPr>
              <a:t>Check a fact line that is not yours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54480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C6552"/>
                </a:solidFill>
                <a:latin typeface="Calibri"/>
              </a:rPr>
              <a:t>Swap sheets with the person next to you.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956816"/>
            <a:ext cx="7772400" cy="621792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066543"/>
            <a:ext cx="402336" cy="402336"/>
          </a:xfrm>
          <a:prstGeom prst="ellipse">
            <a:avLst/>
          </a:prstGeom>
          <a:solidFill>
            <a:srgbClr val="5A6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162556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057400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A6428"/>
                </a:solidFill>
                <a:latin typeface="Georgia"/>
              </a:rPr>
              <a:t>Is the fact line a fact?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304288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Calibri"/>
              </a:rPr>
              <a:t>Could you check it? If not, it is a story in disguise. Underline the word that gives it away.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706624"/>
            <a:ext cx="7772400" cy="621792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" y="2816351"/>
            <a:ext cx="402336" cy="402336"/>
          </a:xfrm>
          <a:prstGeom prst="ellipse">
            <a:avLst/>
          </a:prstGeom>
          <a:solidFill>
            <a:srgbClr val="5A6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912363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2807208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A6428"/>
                </a:solidFill>
                <a:latin typeface="Georgia"/>
              </a:rPr>
              <a:t>Is the first move small enough?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054096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Calibri"/>
              </a:rPr>
              <a:t>If it would take more than an hour, write “smaller” next to it.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456432"/>
            <a:ext cx="7772400" cy="621792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3566160"/>
            <a:ext cx="402336" cy="402336"/>
          </a:xfrm>
          <a:prstGeom prst="ellipse">
            <a:avLst/>
          </a:prstGeom>
          <a:solidFill>
            <a:srgbClr val="5A6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662172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3557016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A6428"/>
                </a:solidFill>
                <a:latin typeface="Georgia"/>
              </a:rPr>
              <a:t>Would you know when it was done?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3803904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Calibri"/>
              </a:rPr>
              <a:t>A move you cannot tick off is not a move.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224528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5C6552"/>
                </a:solidFill>
                <a:latin typeface="Calibri"/>
              </a:rPr>
              <a:t>Hand it back. Change anything that got underlined.</a:t>
            </a:r>
          </a:p>
        </p:txBody>
      </p:sp>
      <p:pic>
        <p:nvPicPr>
          <p:cNvPr id="22" name="Picture 21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5A6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896112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 spc="120">
                <a:solidFill>
                  <a:srgbClr val="D6DBB6"/>
                </a:solidFill>
                <a:latin typeface="Calibri"/>
              </a:rPr>
              <a:t>Two 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89888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2800" b="0" i="0">
                <a:solidFill>
                  <a:srgbClr val="FFFDF7"/>
                </a:solidFill>
                <a:latin typeface="Georgia"/>
              </a:rPr>
              <a:t>Who is a mock result for?</a:t>
            </a:r>
            <a:br>
              <a:rPr lang="en-GB"/>
            </a:br>
            <a:r>
              <a:rPr sz="2800" b="0" i="0">
                <a:solidFill>
                  <a:srgbClr val="FFFDF7"/>
                </a:solidFill>
                <a:latin typeface="Georgia"/>
              </a:rPr>
              <a:t>And what is a mock actually for?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0" y="3108960"/>
            <a:ext cx="914400" cy="18288"/>
          </a:xfrm>
          <a:prstGeom prst="rect">
            <a:avLst/>
          </a:prstGeom>
          <a:solidFill>
            <a:srgbClr val="D6DB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3346704"/>
            <a:ext cx="6400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D6DBB6"/>
                </a:solidFill>
                <a:latin typeface="Calibri"/>
              </a:rPr>
              <a:t>Take one at a time. The second one has a better answer than most people give it.</a:t>
            </a:r>
          </a:p>
        </p:txBody>
      </p:sp>
      <p:pic>
        <p:nvPicPr>
          <p:cNvPr id="8" name="Picture 7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D6DBB6"/>
                </a:solidFill>
                <a:latin typeface="Calibri"/>
              </a:rPr>
              <a:t>The Pastoral Guide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D6DBB6"/>
                </a:solidFill>
                <a:latin typeface="Calibri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548640"/>
            <a:ext cx="1133468" cy="237744"/>
          </a:xfrm>
          <a:prstGeom prst="roundRect">
            <a:avLst>
              <a:gd name="adj" fmla="val 50000"/>
            </a:avLst>
          </a:prstGeom>
          <a:solidFill>
            <a:srgbClr val="F3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5A6428"/>
                </a:solidFill>
                <a:latin typeface="Calibri"/>
              </a:rPr>
              <a:t>THIS WEEK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77724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0" i="0">
                <a:solidFill>
                  <a:srgbClr val="2E3436"/>
                </a:solidFill>
                <a:latin typeface="Georgia"/>
              </a:rPr>
              <a:t>The week after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54480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C6552"/>
                </a:solidFill>
                <a:latin typeface="Calibri"/>
              </a:rPr>
              <a:t>Three things to do before the next set of lessons in that subject.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956816"/>
            <a:ext cx="7772400" cy="621792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066543"/>
            <a:ext cx="402336" cy="402336"/>
          </a:xfrm>
          <a:prstGeom prst="ellipse">
            <a:avLst/>
          </a:prstGeom>
          <a:solidFill>
            <a:srgbClr val="5A6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162556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057400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A6428"/>
                </a:solidFill>
                <a:latin typeface="Georgia"/>
              </a:rPr>
              <a:t>Find out where the marks went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304288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Calibri"/>
              </a:rPr>
              <a:t>Ask for the paper back, or ask which questions cost the most marks.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706624"/>
            <a:ext cx="7772400" cy="621792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" y="2816351"/>
            <a:ext cx="402336" cy="402336"/>
          </a:xfrm>
          <a:prstGeom prst="ellipse">
            <a:avLst/>
          </a:prstGeom>
          <a:solidFill>
            <a:srgbClr val="5A6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912363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2807208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A6428"/>
                </a:solidFill>
                <a:latin typeface="Georgia"/>
              </a:rPr>
              <a:t>Make the first move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054096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Calibri"/>
              </a:rPr>
              <a:t>The one on your sheet. Under an hour.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456432"/>
            <a:ext cx="7772400" cy="621792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3566160"/>
            <a:ext cx="402336" cy="402336"/>
          </a:xfrm>
          <a:prstGeom prst="ellipse">
            <a:avLst/>
          </a:prstGeom>
          <a:solidFill>
            <a:srgbClr val="5A6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662172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3557016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A6428"/>
                </a:solidFill>
                <a:latin typeface="Georgia"/>
              </a:rPr>
              <a:t>Tell one person what your first move 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3803904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Calibri"/>
              </a:rPr>
              <a:t>Not the result. The move. It is much easier to do a thing somebody knows you are doing.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224528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5C6552"/>
                </a:solidFill>
                <a:latin typeface="Calibri"/>
              </a:rPr>
              <a:t>A result you have looked at is worth more than a result you have felt.</a:t>
            </a:r>
          </a:p>
        </p:txBody>
      </p:sp>
      <p:pic>
        <p:nvPicPr>
          <p:cNvPr id="22" name="Picture 21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77724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0" i="0">
                <a:solidFill>
                  <a:srgbClr val="2E3436"/>
                </a:solidFill>
                <a:latin typeface="Georgia"/>
              </a:rPr>
              <a:t>One 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54480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C6552"/>
                </a:solidFill>
                <a:latin typeface="Calibri"/>
              </a:rPr>
              <a:t>At the bottom of the sheet. Private, not collected.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956816"/>
            <a:ext cx="7772400" cy="621792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066543"/>
            <a:ext cx="402336" cy="402336"/>
          </a:xfrm>
          <a:prstGeom prst="ellipse">
            <a:avLst/>
          </a:prstGeom>
          <a:solidFill>
            <a:srgbClr val="5A6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162556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057400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A6428"/>
                </a:solidFill>
                <a:latin typeface="Georgia"/>
              </a:rPr>
              <a:t>A friend got your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304288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Calibri"/>
              </a:rPr>
              <a:t>Same mark, same paper. Write the one sentence you would say to them.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706624"/>
            <a:ext cx="7772400" cy="621792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" y="2816351"/>
            <a:ext cx="402336" cy="402336"/>
          </a:xfrm>
          <a:prstGeom prst="ellipse">
            <a:avLst/>
          </a:prstGeom>
          <a:solidFill>
            <a:srgbClr val="5A6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912363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2807208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A6428"/>
                </a:solidFill>
                <a:latin typeface="Georgia"/>
              </a:rPr>
              <a:t>Read it 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054096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Calibri"/>
              </a:rPr>
              <a:t>It is probably not what you said to yourself on results day.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456432"/>
            <a:ext cx="7772400" cy="621792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3566160"/>
            <a:ext cx="402336" cy="402336"/>
          </a:xfrm>
          <a:prstGeom prst="ellipse">
            <a:avLst/>
          </a:prstGeom>
          <a:solidFill>
            <a:srgbClr val="5A6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662172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3557016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A6428"/>
                </a:solidFill>
                <a:latin typeface="Georgia"/>
              </a:rPr>
              <a:t>Keep the sheet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3803904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Calibri"/>
              </a:rPr>
              <a:t>The first move is on it, and it is due this week.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224528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</a:p>
        </p:txBody>
      </p:sp>
      <p:pic>
        <p:nvPicPr>
          <p:cNvPr id="22" name="Picture 21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5251" y="950976"/>
            <a:ext cx="633496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993392"/>
            <a:ext cx="8046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200" b="0" i="0">
                <a:solidFill>
                  <a:srgbClr val="5A6428"/>
                </a:solidFill>
                <a:latin typeface="Georgia"/>
              </a:rPr>
              <a:t>Find out where the marks went.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871216"/>
            <a:ext cx="6766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5C6552"/>
                </a:solidFill>
                <a:latin typeface="Calibri"/>
              </a:rPr>
              <a:t>Then make one move. A mock is a rehearsal, and the story about it is optional.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03904"/>
            <a:ext cx="7680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8B9179"/>
                </a:solidFill>
                <a:latin typeface="Calibri"/>
              </a:rPr>
              <a:t>The Pastoral Guide  ·  thepastoralguide.com</a:t>
            </a:r>
          </a:p>
        </p:txBody>
      </p:sp>
      <p:pic>
        <p:nvPicPr>
          <p:cNvPr id="7" name="Picture 6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