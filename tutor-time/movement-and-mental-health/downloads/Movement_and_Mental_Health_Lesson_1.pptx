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739" y="566928"/>
            <a:ext cx="728520" cy="841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572768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220">
                <a:solidFill>
                  <a:srgbClr val="502961"/>
                </a:solidFill>
                <a:latin typeface="Calibri"/>
              </a:rPr>
              <a:t>MOVEMENT AND MENTAL HEALTH  ·  LESSON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56816"/>
            <a:ext cx="84124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3400" b="0" i="0">
                <a:solidFill>
                  <a:srgbClr val="502961"/>
                </a:solidFill>
                <a:latin typeface="Georgia"/>
              </a:rPr>
              <a:t>What five minutes actually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2962656"/>
            <a:ext cx="1005840" cy="18288"/>
          </a:xfrm>
          <a:prstGeom prst="rect">
            <a:avLst/>
          </a:prstGeom>
          <a:solidFill>
            <a:srgbClr val="A9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63824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500" b="0" i="0">
                <a:solidFill>
                  <a:srgbClr val="635C6B"/>
                </a:solidFill>
                <a:latin typeface="Calibri"/>
              </a:rPr>
              <a:t>Sitting still all morning does something to how you feel.</a:t>
            </a:r>
            <a:br/>
            <a:r>
              <a:rPr sz="1500" b="0" i="0">
                <a:solidFill>
                  <a:srgbClr val="635C6B"/>
                </a:solidFill>
                <a:latin typeface="Calibri"/>
              </a:rPr>
              <a:t>Today: what it does, and how little it takes to change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13632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9C95A3"/>
                </a:solidFill>
                <a:latin typeface="Calibri"/>
              </a:rPr>
              <a:t>Healthy Body, Healthy Mind</a:t>
            </a:r>
          </a:p>
        </p:txBody>
      </p:sp>
      <p:pic>
        <p:nvPicPr>
          <p:cNvPr id="9" name="Picture 8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52160" y="530352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F0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0" y="589788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502961"/>
                </a:solidFill>
                <a:latin typeface="Calibri"/>
              </a:rPr>
              <a:t>TEACHER SLIDE  ·  SKIP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WHERE THIS LESSON SITS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2F2A36"/>
                </a:solidFill>
                <a:latin typeface="Georgia"/>
              </a:rPr>
              <a:t>Three lessons, one idea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7772400" cy="84124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A97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746504"/>
            <a:ext cx="493776" cy="493776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828800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00784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502961"/>
                </a:solidFill>
                <a:latin typeface="Georgia"/>
              </a:rPr>
              <a:t>The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029967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What movement does, and everyone writes a prediction.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05456"/>
            <a:ext cx="7772400" cy="841248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544" y="2679192"/>
            <a:ext cx="493776" cy="493776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761488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63347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502961"/>
                </a:solidFill>
                <a:latin typeface="Georgia"/>
              </a:rPr>
              <a:t>The experiment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962656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Five minutes of it, measured before and after.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38144"/>
            <a:ext cx="7772400" cy="841248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" y="3611879"/>
            <a:ext cx="493776" cy="493776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3694176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56616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502961"/>
                </a:solidFill>
                <a:latin typeface="Georgia"/>
              </a:rPr>
              <a:t>Their own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895344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Four weeks, designed to survive a bad day.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7083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This one ends with a written prediction. Lesson two tests it, so they have to keep it.</a:t>
            </a:r>
          </a:p>
        </p:txBody>
      </p:sp>
      <p:pic>
        <p:nvPicPr>
          <p:cNvPr id="23" name="Picture 2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D8BCE4"/>
                </a:solidFill>
                <a:latin typeface="Calibri"/>
              </a:rPr>
              <a:t>ON YOUR TABLE, RIGHT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32688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900" b="0" i="0">
                <a:solidFill>
                  <a:srgbClr val="FFFDF7"/>
                </a:solidFill>
                <a:latin typeface="Georgia"/>
              </a:rPr>
              <a:t>Which one wakes you up the most?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56816"/>
            <a:ext cx="2444496" cy="78638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84832"/>
            <a:ext cx="2115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Lying 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9752" y="1956816"/>
            <a:ext cx="2444496" cy="78638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4344" y="2084832"/>
            <a:ext cx="2115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A walk outside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3704" y="1956816"/>
            <a:ext cx="2444496" cy="78638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8295" y="2084832"/>
            <a:ext cx="2115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Talking to somebody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9504"/>
            <a:ext cx="2444496" cy="78638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017520"/>
            <a:ext cx="2115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Five minutes of moving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9752" y="2889504"/>
            <a:ext cx="2444496" cy="78638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4344" y="3017520"/>
            <a:ext cx="2115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Something sugary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3704" y="2889504"/>
            <a:ext cx="2444496" cy="78638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8295" y="3017520"/>
            <a:ext cx="2115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Sitting still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00507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D8BCE4"/>
                </a:solidFill>
                <a:latin typeface="Calibri"/>
              </a:rPr>
              <a:t>In pairs. Best at the top. Imagine you have ten minutes and want to feel awake at the end.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D8BCE4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D8BCE4"/>
                </a:solidFill>
                <a:latin typeface="Calibr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BEFORE ANYBODY IS TOLD ANYTHING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2F2A36"/>
                </a:solidFill>
                <a:latin typeface="Georgia"/>
              </a:rPr>
              <a:t>Who put what at the top?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35C6B"/>
                </a:solidFill>
                <a:latin typeface="Calibri"/>
              </a:rPr>
              <a:t>Two pairs who disagree. Both explain. Do not settle it yet.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103120"/>
            <a:ext cx="6583680" cy="1298448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A97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377440"/>
            <a:ext cx="58521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502961"/>
                </a:solidFill>
                <a:latin typeface="Georgia"/>
              </a:rPr>
              <a:t>Lying down for ten minutes and moving for five</a:t>
            </a:r>
            <a:br/>
            <a:r>
              <a:rPr sz="1700" b="0" i="0">
                <a:solidFill>
                  <a:srgbClr val="502961"/>
                </a:solidFill>
                <a:latin typeface="Georgia"/>
              </a:rPr>
              <a:t>leave you feeling very different by lunch.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0390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502961"/>
                </a:solidFill>
                <a:latin typeface="Calibri"/>
              </a:rPr>
              <a:t>So why does the tiring one leave you with more energy?</a:t>
            </a:r>
          </a:p>
        </p:txBody>
      </p:sp>
      <p:pic>
        <p:nvPicPr>
          <p:cNvPr id="11" name="Picture 10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D8BCE4"/>
                </a:solidFill>
                <a:latin typeface="Calibri"/>
              </a:rPr>
              <a:t>WHAT IS ACTUALLY HAPPENING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9264"/>
            <a:ext cx="7772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000"/>
              </a:lnSpc>
              <a:spcAft>
                <a:spcPts val="0"/>
              </a:spcAft>
            </a:pPr>
            <a:r>
              <a:rPr sz="2800" b="0" i="0">
                <a:solidFill>
                  <a:srgbClr val="FFFDF7"/>
                </a:solidFill>
                <a:latin typeface="Georgia"/>
              </a:rPr>
              <a:t>It changes your mood and your focus,</a:t>
            </a:r>
            <a:br/>
            <a:r>
              <a:rPr sz="2800" b="0" i="0">
                <a:solidFill>
                  <a:srgbClr val="FFFDF7"/>
                </a:solidFill>
                <a:latin typeface="Georgia"/>
              </a:rPr>
              <a:t>and it does it in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2798064"/>
            <a:ext cx="1005840" cy="18288"/>
          </a:xfrm>
          <a:prstGeom prst="rect">
            <a:avLst/>
          </a:prstGeom>
          <a:solidFill>
            <a:srgbClr val="A9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54096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00" b="0" i="1">
                <a:solidFill>
                  <a:srgbClr val="D8BCE4"/>
                </a:solidFill>
                <a:latin typeface="Calibri"/>
              </a:rPr>
              <a:t>Your heart rate rises, more blood reaches your brain, and your body releases</a:t>
            </a:r>
            <a:br/>
            <a:r>
              <a:rPr sz="1400" b="0" i="1">
                <a:solidFill>
                  <a:srgbClr val="D8BCE4"/>
                </a:solidFill>
                <a:latin typeface="Calibri"/>
              </a:rPr>
              <a:t>the chemicals attention runs on. That is why it works in minutes, not months.</a:t>
            </a:r>
          </a:p>
        </p:txBody>
      </p:sp>
      <p:pic>
        <p:nvPicPr>
          <p:cNvPr id="9" name="Picture 8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D8BCE4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D8BCE4"/>
                </a:solidFill>
                <a:latin typeface="Calibr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THE WHOLE LESSON IS THIS SHAPE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F2A36"/>
                </a:solidFill>
                <a:latin typeface="Georgia"/>
              </a:rPr>
              <a:t>Two versions of one morning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64208"/>
            <a:ext cx="7772400" cy="1261872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A97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02961"/>
                </a:solidFill>
                <a:latin typeface="Georgia"/>
              </a:rPr>
              <a:t>The still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39696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635C6B"/>
                </a:solidFill>
                <a:latin typeface="Calibri"/>
              </a:rPr>
              <a:t>Same chair, same position, all morning.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7223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2F2A36"/>
                </a:solidFill>
                <a:latin typeface="Calibri"/>
              </a:rPr>
              <a:t>Nothing changes, so nothing lifts. Your attention drifts down through the morning and you call it being tired.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72384"/>
            <a:ext cx="7772400" cy="126187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18688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02961"/>
                </a:solidFill>
                <a:latin typeface="Georgia"/>
              </a:rPr>
              <a:t>The five-minute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47872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635C6B"/>
                </a:solidFill>
                <a:latin typeface="Calibri"/>
              </a:rPr>
              <a:t>One short burst, somewhere in the middle.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40480"/>
            <a:ext cx="7223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2F2A36"/>
                </a:solidFill>
                <a:latin typeface="Calibri"/>
              </a:rPr>
              <a:t>Heart rate up, blood flow up, chemistry up. The lift arrives within minutes and fades gradually over an hour or two.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Same morning, same person. One difference, and it is five minutes long.</a:t>
            </a:r>
          </a:p>
        </p:txBody>
      </p:sp>
      <p:pic>
        <p:nvPicPr>
          <p:cNvPr id="16" name="Picture 15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WATCH ME DO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2F2A36"/>
                </a:solidFill>
                <a:latin typeface="Georgia"/>
              </a:rPr>
              <a:t>Trace the still morning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700784"/>
            <a:ext cx="18288" cy="2011680"/>
          </a:xfrm>
          <a:prstGeom prst="rect">
            <a:avLst/>
          </a:prstGeom>
          <a:solidFill>
            <a:srgbClr val="63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3712464"/>
            <a:ext cx="6309360" cy="18288"/>
          </a:xfrm>
          <a:prstGeom prst="rect">
            <a:avLst/>
          </a:prstGeom>
          <a:solidFill>
            <a:srgbClr val="63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8988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40">
                <a:solidFill>
                  <a:srgbClr val="635C6B"/>
                </a:solidFill>
                <a:latin typeface="Calibri"/>
              </a:rPr>
              <a:t>HOW YOU FEEL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822192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 i="0" spc="140">
                <a:solidFill>
                  <a:srgbClr val="635C6B"/>
                </a:solidFill>
                <a:latin typeface="Calibri"/>
              </a:rPr>
              <a:t>TIME</a:t>
            </a:r>
          </a:p>
        </p:txBody>
      </p:sp>
      <p:sp>
        <p:nvSpPr>
          <p:cNvPr id="11" name="Freeform 10"/>
          <p:cNvSpPr/>
          <p:nvPr/>
        </p:nvSpPr>
        <p:spPr>
          <a:xfrm>
            <a:off x="1417320" y="2465222"/>
            <a:ext cx="6309360" cy="663854"/>
          </a:xfrm>
          <a:custGeom>
            <a:avLst/>
            <a:gdLst/>
            <a:ahLst/>
            <a:cxnLst/>
            <a:rect l="l" t="t" r="r" b="b"/>
            <a:pathLst>
              <a:path w="6309360" h="663854">
                <a:moveTo>
                  <a:pt x="0" y="0"/>
                </a:moveTo>
                <a:lnTo>
                  <a:pt x="45066" y="443"/>
                </a:lnTo>
                <a:lnTo>
                  <a:pt x="90133" y="1765"/>
                </a:lnTo>
                <a:lnTo>
                  <a:pt x="135200" y="3951"/>
                </a:lnTo>
                <a:lnTo>
                  <a:pt x="180267" y="6973"/>
                </a:lnTo>
                <a:lnTo>
                  <a:pt x="225334" y="10792"/>
                </a:lnTo>
                <a:lnTo>
                  <a:pt x="270401" y="15361"/>
                </a:lnTo>
                <a:lnTo>
                  <a:pt x="315468" y="20622"/>
                </a:lnTo>
                <a:lnTo>
                  <a:pt x="360534" y="26510"/>
                </a:lnTo>
                <a:lnTo>
                  <a:pt x="405601" y="32949"/>
                </a:lnTo>
                <a:lnTo>
                  <a:pt x="450668" y="39859"/>
                </a:lnTo>
                <a:lnTo>
                  <a:pt x="495735" y="47154"/>
                </a:lnTo>
                <a:lnTo>
                  <a:pt x="540802" y="54741"/>
                </a:lnTo>
                <a:lnTo>
                  <a:pt x="585869" y="62525"/>
                </a:lnTo>
                <a:lnTo>
                  <a:pt x="630936" y="70409"/>
                </a:lnTo>
                <a:lnTo>
                  <a:pt x="676002" y="78292"/>
                </a:lnTo>
                <a:lnTo>
                  <a:pt x="721069" y="86076"/>
                </a:lnTo>
                <a:lnTo>
                  <a:pt x="766136" y="93663"/>
                </a:lnTo>
                <a:lnTo>
                  <a:pt x="811203" y="100958"/>
                </a:lnTo>
                <a:lnTo>
                  <a:pt x="856270" y="107868"/>
                </a:lnTo>
                <a:lnTo>
                  <a:pt x="901337" y="114308"/>
                </a:lnTo>
                <a:lnTo>
                  <a:pt x="946404" y="120195"/>
                </a:lnTo>
                <a:lnTo>
                  <a:pt x="991470" y="125457"/>
                </a:lnTo>
                <a:lnTo>
                  <a:pt x="1036537" y="130026"/>
                </a:lnTo>
                <a:lnTo>
                  <a:pt x="1081604" y="133845"/>
                </a:lnTo>
                <a:lnTo>
                  <a:pt x="1126671" y="136866"/>
                </a:lnTo>
                <a:lnTo>
                  <a:pt x="1171738" y="139052"/>
                </a:lnTo>
                <a:lnTo>
                  <a:pt x="1216805" y="140375"/>
                </a:lnTo>
                <a:lnTo>
                  <a:pt x="1261872" y="140818"/>
                </a:lnTo>
                <a:lnTo>
                  <a:pt x="1306938" y="141323"/>
                </a:lnTo>
                <a:lnTo>
                  <a:pt x="1352005" y="142835"/>
                </a:lnTo>
                <a:lnTo>
                  <a:pt x="1397072" y="145333"/>
                </a:lnTo>
                <a:lnTo>
                  <a:pt x="1442139" y="148786"/>
                </a:lnTo>
                <a:lnTo>
                  <a:pt x="1487206" y="153151"/>
                </a:lnTo>
                <a:lnTo>
                  <a:pt x="1532273" y="158373"/>
                </a:lnTo>
                <a:lnTo>
                  <a:pt x="1577340" y="164386"/>
                </a:lnTo>
                <a:lnTo>
                  <a:pt x="1622406" y="171114"/>
                </a:lnTo>
                <a:lnTo>
                  <a:pt x="1667473" y="178474"/>
                </a:lnTo>
                <a:lnTo>
                  <a:pt x="1712540" y="186371"/>
                </a:lnTo>
                <a:lnTo>
                  <a:pt x="1757607" y="194708"/>
                </a:lnTo>
                <a:lnTo>
                  <a:pt x="1802674" y="203379"/>
                </a:lnTo>
                <a:lnTo>
                  <a:pt x="1847741" y="212275"/>
                </a:lnTo>
                <a:lnTo>
                  <a:pt x="1892808" y="221285"/>
                </a:lnTo>
                <a:lnTo>
                  <a:pt x="1937874" y="230294"/>
                </a:lnTo>
                <a:lnTo>
                  <a:pt x="1982941" y="239190"/>
                </a:lnTo>
                <a:lnTo>
                  <a:pt x="2028008" y="247861"/>
                </a:lnTo>
                <a:lnTo>
                  <a:pt x="2073075" y="256198"/>
                </a:lnTo>
                <a:lnTo>
                  <a:pt x="2118142" y="264096"/>
                </a:lnTo>
                <a:lnTo>
                  <a:pt x="2163209" y="271455"/>
                </a:lnTo>
                <a:lnTo>
                  <a:pt x="2208276" y="278184"/>
                </a:lnTo>
                <a:lnTo>
                  <a:pt x="2253342" y="284196"/>
                </a:lnTo>
                <a:lnTo>
                  <a:pt x="2298409" y="289418"/>
                </a:lnTo>
                <a:lnTo>
                  <a:pt x="2343476" y="293783"/>
                </a:lnTo>
                <a:lnTo>
                  <a:pt x="2388543" y="297236"/>
                </a:lnTo>
                <a:lnTo>
                  <a:pt x="2433610" y="299734"/>
                </a:lnTo>
                <a:lnTo>
                  <a:pt x="2478677" y="301246"/>
                </a:lnTo>
                <a:lnTo>
                  <a:pt x="2523744" y="301752"/>
                </a:lnTo>
                <a:lnTo>
                  <a:pt x="2568810" y="302258"/>
                </a:lnTo>
                <a:lnTo>
                  <a:pt x="2613877" y="303769"/>
                </a:lnTo>
                <a:lnTo>
                  <a:pt x="2658944" y="306267"/>
                </a:lnTo>
                <a:lnTo>
                  <a:pt x="2704011" y="309721"/>
                </a:lnTo>
                <a:lnTo>
                  <a:pt x="2749078" y="314086"/>
                </a:lnTo>
                <a:lnTo>
                  <a:pt x="2794145" y="319307"/>
                </a:lnTo>
                <a:lnTo>
                  <a:pt x="2839212" y="325320"/>
                </a:lnTo>
                <a:lnTo>
                  <a:pt x="2884278" y="332049"/>
                </a:lnTo>
                <a:lnTo>
                  <a:pt x="2929345" y="339408"/>
                </a:lnTo>
                <a:lnTo>
                  <a:pt x="2974412" y="347306"/>
                </a:lnTo>
                <a:lnTo>
                  <a:pt x="3019479" y="355642"/>
                </a:lnTo>
                <a:lnTo>
                  <a:pt x="3064546" y="364313"/>
                </a:lnTo>
                <a:lnTo>
                  <a:pt x="3109613" y="373210"/>
                </a:lnTo>
                <a:lnTo>
                  <a:pt x="3154680" y="382219"/>
                </a:lnTo>
                <a:lnTo>
                  <a:pt x="3199746" y="391229"/>
                </a:lnTo>
                <a:lnTo>
                  <a:pt x="3244813" y="400125"/>
                </a:lnTo>
                <a:lnTo>
                  <a:pt x="3289880" y="408796"/>
                </a:lnTo>
                <a:lnTo>
                  <a:pt x="3334947" y="417133"/>
                </a:lnTo>
                <a:lnTo>
                  <a:pt x="3380014" y="425030"/>
                </a:lnTo>
                <a:lnTo>
                  <a:pt x="3425081" y="432390"/>
                </a:lnTo>
                <a:lnTo>
                  <a:pt x="3470148" y="439118"/>
                </a:lnTo>
                <a:lnTo>
                  <a:pt x="3515214" y="445131"/>
                </a:lnTo>
                <a:lnTo>
                  <a:pt x="3560281" y="450353"/>
                </a:lnTo>
                <a:lnTo>
                  <a:pt x="3605348" y="454718"/>
                </a:lnTo>
                <a:lnTo>
                  <a:pt x="3650415" y="458171"/>
                </a:lnTo>
                <a:lnTo>
                  <a:pt x="3695482" y="460669"/>
                </a:lnTo>
                <a:lnTo>
                  <a:pt x="3740549" y="462180"/>
                </a:lnTo>
                <a:lnTo>
                  <a:pt x="3785616" y="462686"/>
                </a:lnTo>
                <a:lnTo>
                  <a:pt x="3830682" y="463066"/>
                </a:lnTo>
                <a:lnTo>
                  <a:pt x="3875749" y="464199"/>
                </a:lnTo>
                <a:lnTo>
                  <a:pt x="3920816" y="466073"/>
                </a:lnTo>
                <a:lnTo>
                  <a:pt x="3965883" y="468663"/>
                </a:lnTo>
                <a:lnTo>
                  <a:pt x="4010950" y="471937"/>
                </a:lnTo>
                <a:lnTo>
                  <a:pt x="4056017" y="475853"/>
                </a:lnTo>
                <a:lnTo>
                  <a:pt x="4101084" y="480363"/>
                </a:lnTo>
                <a:lnTo>
                  <a:pt x="4146150" y="485409"/>
                </a:lnTo>
                <a:lnTo>
                  <a:pt x="4191217" y="490928"/>
                </a:lnTo>
                <a:lnTo>
                  <a:pt x="4236284" y="496852"/>
                </a:lnTo>
                <a:lnTo>
                  <a:pt x="4281351" y="503104"/>
                </a:lnTo>
                <a:lnTo>
                  <a:pt x="4326418" y="509607"/>
                </a:lnTo>
                <a:lnTo>
                  <a:pt x="4371485" y="516280"/>
                </a:lnTo>
                <a:lnTo>
                  <a:pt x="4416552" y="523037"/>
                </a:lnTo>
                <a:lnTo>
                  <a:pt x="4461618" y="529794"/>
                </a:lnTo>
                <a:lnTo>
                  <a:pt x="4506685" y="536466"/>
                </a:lnTo>
                <a:lnTo>
                  <a:pt x="4551752" y="542969"/>
                </a:lnTo>
                <a:lnTo>
                  <a:pt x="4596819" y="549222"/>
                </a:lnTo>
                <a:lnTo>
                  <a:pt x="4641886" y="555145"/>
                </a:lnTo>
                <a:lnTo>
                  <a:pt x="4686953" y="560665"/>
                </a:lnTo>
                <a:lnTo>
                  <a:pt x="4732020" y="565711"/>
                </a:lnTo>
                <a:lnTo>
                  <a:pt x="4777086" y="570221"/>
                </a:lnTo>
                <a:lnTo>
                  <a:pt x="4822153" y="574137"/>
                </a:lnTo>
                <a:lnTo>
                  <a:pt x="4867220" y="577411"/>
                </a:lnTo>
                <a:lnTo>
                  <a:pt x="4912287" y="580000"/>
                </a:lnTo>
                <a:lnTo>
                  <a:pt x="4957354" y="581874"/>
                </a:lnTo>
                <a:lnTo>
                  <a:pt x="5002421" y="583008"/>
                </a:lnTo>
                <a:lnTo>
                  <a:pt x="5047488" y="583387"/>
                </a:lnTo>
                <a:lnTo>
                  <a:pt x="5092554" y="583640"/>
                </a:lnTo>
                <a:lnTo>
                  <a:pt x="5137621" y="584396"/>
                </a:lnTo>
                <a:lnTo>
                  <a:pt x="5182688" y="585645"/>
                </a:lnTo>
                <a:lnTo>
                  <a:pt x="5227755" y="587371"/>
                </a:lnTo>
                <a:lnTo>
                  <a:pt x="5272822" y="589554"/>
                </a:lnTo>
                <a:lnTo>
                  <a:pt x="5317889" y="592165"/>
                </a:lnTo>
                <a:lnTo>
                  <a:pt x="5362956" y="595171"/>
                </a:lnTo>
                <a:lnTo>
                  <a:pt x="5408022" y="598535"/>
                </a:lnTo>
                <a:lnTo>
                  <a:pt x="5453089" y="602215"/>
                </a:lnTo>
                <a:lnTo>
                  <a:pt x="5498156" y="606164"/>
                </a:lnTo>
                <a:lnTo>
                  <a:pt x="5543223" y="610332"/>
                </a:lnTo>
                <a:lnTo>
                  <a:pt x="5588290" y="614668"/>
                </a:lnTo>
                <a:lnTo>
                  <a:pt x="5633357" y="619116"/>
                </a:lnTo>
                <a:lnTo>
                  <a:pt x="5678424" y="623621"/>
                </a:lnTo>
                <a:lnTo>
                  <a:pt x="5723490" y="628125"/>
                </a:lnTo>
                <a:lnTo>
                  <a:pt x="5768557" y="632574"/>
                </a:lnTo>
                <a:lnTo>
                  <a:pt x="5813624" y="636909"/>
                </a:lnTo>
                <a:lnTo>
                  <a:pt x="5858691" y="641077"/>
                </a:lnTo>
                <a:lnTo>
                  <a:pt x="5903758" y="645026"/>
                </a:lnTo>
                <a:lnTo>
                  <a:pt x="5948825" y="648706"/>
                </a:lnTo>
                <a:lnTo>
                  <a:pt x="5993892" y="652070"/>
                </a:lnTo>
                <a:lnTo>
                  <a:pt x="6038958" y="655077"/>
                </a:lnTo>
                <a:lnTo>
                  <a:pt x="6084025" y="657687"/>
                </a:lnTo>
                <a:lnTo>
                  <a:pt x="6129092" y="659870"/>
                </a:lnTo>
                <a:lnTo>
                  <a:pt x="6174159" y="661597"/>
                </a:lnTo>
                <a:lnTo>
                  <a:pt x="6219226" y="662846"/>
                </a:lnTo>
                <a:lnTo>
                  <a:pt x="6264293" y="663601"/>
                </a:lnTo>
                <a:lnTo>
                  <a:pt x="6309360" y="663854"/>
                </a:lnTo>
              </a:path>
            </a:pathLst>
          </a:custGeom>
          <a:noFill/>
          <a:ln w="38100">
            <a:solidFill>
              <a:srgbClr val="502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7884" y="2405786"/>
            <a:ext cx="118872" cy="118872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0390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502961"/>
                </a:solidFill>
                <a:latin typeface="Calibri"/>
              </a:rPr>
              <a:t>09:00</a:t>
            </a:r>
          </a:p>
        </p:txBody>
      </p:sp>
      <p:sp>
        <p:nvSpPr>
          <p:cNvPr id="14" name="Oval 13"/>
          <p:cNvSpPr/>
          <p:nvPr/>
        </p:nvSpPr>
        <p:spPr>
          <a:xfrm>
            <a:off x="3881628" y="2707538"/>
            <a:ext cx="118872" cy="118872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5264" y="380390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502961"/>
                </a:solidFill>
                <a:latin typeface="Calibri"/>
              </a:rPr>
              <a:t>11:00</a:t>
            </a:r>
          </a:p>
        </p:txBody>
      </p:sp>
      <p:sp>
        <p:nvSpPr>
          <p:cNvPr id="16" name="Oval 15"/>
          <p:cNvSpPr/>
          <p:nvPr/>
        </p:nvSpPr>
        <p:spPr>
          <a:xfrm>
            <a:off x="6089904" y="2958998"/>
            <a:ext cx="118872" cy="118872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63540" y="380390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502961"/>
                </a:solidFill>
                <a:latin typeface="Calibri"/>
              </a:rPr>
              <a:t>12:30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9123" y="202265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0"/>
              </a:spcAft>
            </a:pPr>
            <a:r>
              <a:rPr sz="1050" b="1" i="0">
                <a:solidFill>
                  <a:srgbClr val="502961"/>
                </a:solidFill>
                <a:latin typeface="Calibri"/>
              </a:rPr>
              <a:t>You call this</a:t>
            </a:r>
            <a:br/>
            <a:r>
              <a:rPr sz="1050" b="1" i="0">
                <a:solidFill>
                  <a:srgbClr val="502961"/>
                </a:solidFill>
                <a:latin typeface="Calibri"/>
              </a:rPr>
              <a:t>being tired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891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Nothing has gone wrong here. This is what a morning in a chair looks like.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NOW THE ROOM DOES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2A36"/>
                </a:solidFill>
                <a:latin typeface="Georgia"/>
              </a:rPr>
              <a:t>Draw the other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35C6B"/>
                </a:solidFill>
                <a:latin typeface="Calibri"/>
              </a:rPr>
              <a:t>Five minutes of moving, at eleven o’clock. Where does the line go?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7772400" cy="98755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249424"/>
            <a:ext cx="512064" cy="51206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40864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2194560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02961"/>
                </a:solidFill>
                <a:latin typeface="Georgia"/>
              </a:rPr>
              <a:t>How fast does it go up?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542032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635C6B"/>
                </a:solidFill>
                <a:latin typeface="Calibri"/>
              </a:rPr>
              <a:t>Minutes, hours, or the next day? Say which.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45536"/>
            <a:ext cx="7772400" cy="987552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6112" y="3383280"/>
            <a:ext cx="512064" cy="51206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3328416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02961"/>
                </a:solidFill>
                <a:latin typeface="Georgia"/>
              </a:rPr>
              <a:t>How long does it stay up?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675888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635C6B"/>
                </a:solidFill>
                <a:latin typeface="Calibri"/>
              </a:rPr>
              <a:t>And does it drop back below where it started?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5254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Guess out loud before the next slide. You are going to measure this yourselves.</a:t>
            </a:r>
          </a:p>
        </p:txBody>
      </p:sp>
      <p:pic>
        <p:nvPicPr>
          <p:cNvPr id="19" name="Picture 18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WHAT IT ACTUALLY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2F2A36"/>
                </a:solidFill>
                <a:latin typeface="Georgia"/>
              </a:rPr>
              <a:t>Minutes up, hours 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773936"/>
            <a:ext cx="18288" cy="1920240"/>
          </a:xfrm>
          <a:prstGeom prst="rect">
            <a:avLst/>
          </a:prstGeom>
          <a:solidFill>
            <a:srgbClr val="63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3694176"/>
            <a:ext cx="6309360" cy="18288"/>
          </a:xfrm>
          <a:prstGeom prst="rect">
            <a:avLst/>
          </a:prstGeom>
          <a:solidFill>
            <a:srgbClr val="63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39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40">
                <a:solidFill>
                  <a:srgbClr val="635C6B"/>
                </a:solidFill>
                <a:latin typeface="Calibri"/>
              </a:rPr>
              <a:t>HOW YOU FEEL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80390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 i="0" spc="140">
                <a:solidFill>
                  <a:srgbClr val="635C6B"/>
                </a:solidFill>
                <a:latin typeface="Calibri"/>
              </a:rPr>
              <a:t>TIME</a:t>
            </a:r>
          </a:p>
        </p:txBody>
      </p:sp>
      <p:sp>
        <p:nvSpPr>
          <p:cNvPr id="11" name="Freeform 10"/>
          <p:cNvSpPr/>
          <p:nvPr/>
        </p:nvSpPr>
        <p:spPr>
          <a:xfrm>
            <a:off x="1417320" y="2503627"/>
            <a:ext cx="6309360" cy="633679"/>
          </a:xfrm>
          <a:custGeom>
            <a:avLst/>
            <a:gdLst/>
            <a:ahLst/>
            <a:cxnLst/>
            <a:rect l="l" t="t" r="r" b="b"/>
            <a:pathLst>
              <a:path w="6309360" h="633679">
                <a:moveTo>
                  <a:pt x="0" y="0"/>
                </a:moveTo>
                <a:lnTo>
                  <a:pt x="45066" y="422"/>
                </a:lnTo>
                <a:lnTo>
                  <a:pt x="90133" y="1685"/>
                </a:lnTo>
                <a:lnTo>
                  <a:pt x="135200" y="3771"/>
                </a:lnTo>
                <a:lnTo>
                  <a:pt x="180267" y="6655"/>
                </a:lnTo>
                <a:lnTo>
                  <a:pt x="225334" y="10301"/>
                </a:lnTo>
                <a:lnTo>
                  <a:pt x="270401" y="14662"/>
                </a:lnTo>
                <a:lnTo>
                  <a:pt x="315468" y="19685"/>
                </a:lnTo>
                <a:lnTo>
                  <a:pt x="360534" y="25304"/>
                </a:lnTo>
                <a:lnTo>
                  <a:pt x="405601" y="31451"/>
                </a:lnTo>
                <a:lnTo>
                  <a:pt x="450668" y="38047"/>
                </a:lnTo>
                <a:lnTo>
                  <a:pt x="495735" y="45011"/>
                </a:lnTo>
                <a:lnTo>
                  <a:pt x="540802" y="52253"/>
                </a:lnTo>
                <a:lnTo>
                  <a:pt x="585869" y="59683"/>
                </a:lnTo>
                <a:lnTo>
                  <a:pt x="630936" y="67208"/>
                </a:lnTo>
                <a:lnTo>
                  <a:pt x="676002" y="74733"/>
                </a:lnTo>
                <a:lnTo>
                  <a:pt x="721069" y="82163"/>
                </a:lnTo>
                <a:lnTo>
                  <a:pt x="766136" y="89406"/>
                </a:lnTo>
                <a:lnTo>
                  <a:pt x="811203" y="96369"/>
                </a:lnTo>
                <a:lnTo>
                  <a:pt x="856270" y="102965"/>
                </a:lnTo>
                <a:lnTo>
                  <a:pt x="901337" y="109112"/>
                </a:lnTo>
                <a:lnTo>
                  <a:pt x="946404" y="114732"/>
                </a:lnTo>
                <a:lnTo>
                  <a:pt x="991470" y="119754"/>
                </a:lnTo>
                <a:lnTo>
                  <a:pt x="1036537" y="124115"/>
                </a:lnTo>
                <a:lnTo>
                  <a:pt x="1081604" y="127761"/>
                </a:lnTo>
                <a:lnTo>
                  <a:pt x="1126671" y="130645"/>
                </a:lnTo>
                <a:lnTo>
                  <a:pt x="1171738" y="132731"/>
                </a:lnTo>
                <a:lnTo>
                  <a:pt x="1216805" y="133994"/>
                </a:lnTo>
                <a:lnTo>
                  <a:pt x="1261872" y="134417"/>
                </a:lnTo>
                <a:lnTo>
                  <a:pt x="1306938" y="134899"/>
                </a:lnTo>
                <a:lnTo>
                  <a:pt x="1352005" y="136342"/>
                </a:lnTo>
                <a:lnTo>
                  <a:pt x="1397072" y="138727"/>
                </a:lnTo>
                <a:lnTo>
                  <a:pt x="1442139" y="142023"/>
                </a:lnTo>
                <a:lnTo>
                  <a:pt x="1487206" y="146190"/>
                </a:lnTo>
                <a:lnTo>
                  <a:pt x="1532273" y="151174"/>
                </a:lnTo>
                <a:lnTo>
                  <a:pt x="1577340" y="156914"/>
                </a:lnTo>
                <a:lnTo>
                  <a:pt x="1622406" y="163336"/>
                </a:lnTo>
                <a:lnTo>
                  <a:pt x="1667473" y="170361"/>
                </a:lnTo>
                <a:lnTo>
                  <a:pt x="1712540" y="177900"/>
                </a:lnTo>
                <a:lnTo>
                  <a:pt x="1757607" y="185857"/>
                </a:lnTo>
                <a:lnTo>
                  <a:pt x="1802674" y="194134"/>
                </a:lnTo>
                <a:lnTo>
                  <a:pt x="1847741" y="202626"/>
                </a:lnTo>
                <a:lnTo>
                  <a:pt x="1892808" y="211226"/>
                </a:lnTo>
                <a:lnTo>
                  <a:pt x="1937874" y="219826"/>
                </a:lnTo>
                <a:lnTo>
                  <a:pt x="1982941" y="228318"/>
                </a:lnTo>
                <a:lnTo>
                  <a:pt x="2028008" y="236595"/>
                </a:lnTo>
                <a:lnTo>
                  <a:pt x="2073075" y="244553"/>
                </a:lnTo>
                <a:lnTo>
                  <a:pt x="2118142" y="252091"/>
                </a:lnTo>
                <a:lnTo>
                  <a:pt x="2163209" y="259116"/>
                </a:lnTo>
                <a:lnTo>
                  <a:pt x="2208276" y="265539"/>
                </a:lnTo>
                <a:lnTo>
                  <a:pt x="2253342" y="271278"/>
                </a:lnTo>
                <a:lnTo>
                  <a:pt x="2298409" y="276263"/>
                </a:lnTo>
                <a:lnTo>
                  <a:pt x="2343476" y="280429"/>
                </a:lnTo>
                <a:lnTo>
                  <a:pt x="2388543" y="283725"/>
                </a:lnTo>
                <a:lnTo>
                  <a:pt x="2433610" y="286110"/>
                </a:lnTo>
                <a:lnTo>
                  <a:pt x="2478677" y="287553"/>
                </a:lnTo>
                <a:lnTo>
                  <a:pt x="2523744" y="288036"/>
                </a:lnTo>
                <a:lnTo>
                  <a:pt x="2568810" y="288519"/>
                </a:lnTo>
                <a:lnTo>
                  <a:pt x="2613877" y="289961"/>
                </a:lnTo>
                <a:lnTo>
                  <a:pt x="2658944" y="292346"/>
                </a:lnTo>
                <a:lnTo>
                  <a:pt x="2704011" y="295642"/>
                </a:lnTo>
                <a:lnTo>
                  <a:pt x="2749078" y="299809"/>
                </a:lnTo>
                <a:lnTo>
                  <a:pt x="2794145" y="304793"/>
                </a:lnTo>
                <a:lnTo>
                  <a:pt x="2839212" y="310533"/>
                </a:lnTo>
                <a:lnTo>
                  <a:pt x="2884278" y="316955"/>
                </a:lnTo>
                <a:lnTo>
                  <a:pt x="2929345" y="323980"/>
                </a:lnTo>
                <a:lnTo>
                  <a:pt x="2974412" y="331519"/>
                </a:lnTo>
                <a:lnTo>
                  <a:pt x="3019479" y="339477"/>
                </a:lnTo>
                <a:lnTo>
                  <a:pt x="3064546" y="347754"/>
                </a:lnTo>
                <a:lnTo>
                  <a:pt x="3109613" y="356245"/>
                </a:lnTo>
                <a:lnTo>
                  <a:pt x="3154680" y="364845"/>
                </a:lnTo>
                <a:lnTo>
                  <a:pt x="3199746" y="373445"/>
                </a:lnTo>
                <a:lnTo>
                  <a:pt x="3244813" y="381937"/>
                </a:lnTo>
                <a:lnTo>
                  <a:pt x="3289880" y="390214"/>
                </a:lnTo>
                <a:lnTo>
                  <a:pt x="3334947" y="398172"/>
                </a:lnTo>
                <a:lnTo>
                  <a:pt x="3380014" y="405710"/>
                </a:lnTo>
                <a:lnTo>
                  <a:pt x="3425081" y="412735"/>
                </a:lnTo>
                <a:lnTo>
                  <a:pt x="3470148" y="419158"/>
                </a:lnTo>
                <a:lnTo>
                  <a:pt x="3515214" y="424897"/>
                </a:lnTo>
                <a:lnTo>
                  <a:pt x="3560281" y="429882"/>
                </a:lnTo>
                <a:lnTo>
                  <a:pt x="3605348" y="434048"/>
                </a:lnTo>
                <a:lnTo>
                  <a:pt x="3650415" y="437345"/>
                </a:lnTo>
                <a:lnTo>
                  <a:pt x="3695482" y="439729"/>
                </a:lnTo>
                <a:lnTo>
                  <a:pt x="3740549" y="441172"/>
                </a:lnTo>
                <a:lnTo>
                  <a:pt x="3785616" y="441655"/>
                </a:lnTo>
                <a:lnTo>
                  <a:pt x="3830682" y="442017"/>
                </a:lnTo>
                <a:lnTo>
                  <a:pt x="3875749" y="443099"/>
                </a:lnTo>
                <a:lnTo>
                  <a:pt x="3920816" y="444888"/>
                </a:lnTo>
                <a:lnTo>
                  <a:pt x="3965883" y="447360"/>
                </a:lnTo>
                <a:lnTo>
                  <a:pt x="4010950" y="450485"/>
                </a:lnTo>
                <a:lnTo>
                  <a:pt x="4056017" y="454223"/>
                </a:lnTo>
                <a:lnTo>
                  <a:pt x="4101084" y="458528"/>
                </a:lnTo>
                <a:lnTo>
                  <a:pt x="4146150" y="463345"/>
                </a:lnTo>
                <a:lnTo>
                  <a:pt x="4191217" y="468613"/>
                </a:lnTo>
                <a:lnTo>
                  <a:pt x="4236284" y="474267"/>
                </a:lnTo>
                <a:lnTo>
                  <a:pt x="4281351" y="480236"/>
                </a:lnTo>
                <a:lnTo>
                  <a:pt x="4326418" y="486443"/>
                </a:lnTo>
                <a:lnTo>
                  <a:pt x="4371485" y="492812"/>
                </a:lnTo>
                <a:lnTo>
                  <a:pt x="4416552" y="499262"/>
                </a:lnTo>
                <a:lnTo>
                  <a:pt x="4461618" y="505712"/>
                </a:lnTo>
                <a:lnTo>
                  <a:pt x="4506685" y="512081"/>
                </a:lnTo>
                <a:lnTo>
                  <a:pt x="4551752" y="518289"/>
                </a:lnTo>
                <a:lnTo>
                  <a:pt x="4596819" y="524257"/>
                </a:lnTo>
                <a:lnTo>
                  <a:pt x="4641886" y="529911"/>
                </a:lnTo>
                <a:lnTo>
                  <a:pt x="4686953" y="535180"/>
                </a:lnTo>
                <a:lnTo>
                  <a:pt x="4732020" y="539997"/>
                </a:lnTo>
                <a:lnTo>
                  <a:pt x="4777086" y="544301"/>
                </a:lnTo>
                <a:lnTo>
                  <a:pt x="4822153" y="548040"/>
                </a:lnTo>
                <a:lnTo>
                  <a:pt x="4867220" y="551164"/>
                </a:lnTo>
                <a:lnTo>
                  <a:pt x="4912287" y="553637"/>
                </a:lnTo>
                <a:lnTo>
                  <a:pt x="4957354" y="555425"/>
                </a:lnTo>
                <a:lnTo>
                  <a:pt x="5002421" y="556507"/>
                </a:lnTo>
                <a:lnTo>
                  <a:pt x="5047488" y="556869"/>
                </a:lnTo>
                <a:lnTo>
                  <a:pt x="5092554" y="557111"/>
                </a:lnTo>
                <a:lnTo>
                  <a:pt x="5137621" y="557832"/>
                </a:lnTo>
                <a:lnTo>
                  <a:pt x="5182688" y="559024"/>
                </a:lnTo>
                <a:lnTo>
                  <a:pt x="5227755" y="560673"/>
                </a:lnTo>
                <a:lnTo>
                  <a:pt x="5272822" y="562756"/>
                </a:lnTo>
                <a:lnTo>
                  <a:pt x="5317889" y="565248"/>
                </a:lnTo>
                <a:lnTo>
                  <a:pt x="5362956" y="568118"/>
                </a:lnTo>
                <a:lnTo>
                  <a:pt x="5408022" y="571329"/>
                </a:lnTo>
                <a:lnTo>
                  <a:pt x="5453089" y="574842"/>
                </a:lnTo>
                <a:lnTo>
                  <a:pt x="5498156" y="578611"/>
                </a:lnTo>
                <a:lnTo>
                  <a:pt x="5543223" y="582590"/>
                </a:lnTo>
                <a:lnTo>
                  <a:pt x="5588290" y="586728"/>
                </a:lnTo>
                <a:lnTo>
                  <a:pt x="5633357" y="590974"/>
                </a:lnTo>
                <a:lnTo>
                  <a:pt x="5678424" y="595274"/>
                </a:lnTo>
                <a:lnTo>
                  <a:pt x="5723490" y="599574"/>
                </a:lnTo>
                <a:lnTo>
                  <a:pt x="5768557" y="603820"/>
                </a:lnTo>
                <a:lnTo>
                  <a:pt x="5813624" y="607958"/>
                </a:lnTo>
                <a:lnTo>
                  <a:pt x="5858691" y="611937"/>
                </a:lnTo>
                <a:lnTo>
                  <a:pt x="5903758" y="615707"/>
                </a:lnTo>
                <a:lnTo>
                  <a:pt x="5948825" y="619219"/>
                </a:lnTo>
                <a:lnTo>
                  <a:pt x="5993892" y="622430"/>
                </a:lnTo>
                <a:lnTo>
                  <a:pt x="6038958" y="625300"/>
                </a:lnTo>
                <a:lnTo>
                  <a:pt x="6084025" y="627792"/>
                </a:lnTo>
                <a:lnTo>
                  <a:pt x="6129092" y="629876"/>
                </a:lnTo>
                <a:lnTo>
                  <a:pt x="6174159" y="631524"/>
                </a:lnTo>
                <a:lnTo>
                  <a:pt x="6219226" y="632716"/>
                </a:lnTo>
                <a:lnTo>
                  <a:pt x="6264293" y="633437"/>
                </a:lnTo>
                <a:lnTo>
                  <a:pt x="6309360" y="633679"/>
                </a:lnTo>
              </a:path>
            </a:pathLst>
          </a:custGeom>
          <a:noFill/>
          <a:ln w="25400">
            <a:solidFill>
              <a:srgbClr val="9C95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417320" y="1908711"/>
            <a:ext cx="6309360" cy="863749"/>
          </a:xfrm>
          <a:custGeom>
            <a:avLst/>
            <a:gdLst/>
            <a:ahLst/>
            <a:cxnLst/>
            <a:rect l="l" t="t" r="r" b="b"/>
            <a:pathLst>
              <a:path w="6309360" h="863749">
                <a:moveTo>
                  <a:pt x="0" y="594916"/>
                </a:moveTo>
                <a:lnTo>
                  <a:pt x="45066" y="595387"/>
                </a:lnTo>
                <a:lnTo>
                  <a:pt x="90133" y="596792"/>
                </a:lnTo>
                <a:lnTo>
                  <a:pt x="135200" y="599103"/>
                </a:lnTo>
                <a:lnTo>
                  <a:pt x="180267" y="602274"/>
                </a:lnTo>
                <a:lnTo>
                  <a:pt x="225334" y="606243"/>
                </a:lnTo>
                <a:lnTo>
                  <a:pt x="270401" y="610933"/>
                </a:lnTo>
                <a:lnTo>
                  <a:pt x="315468" y="616251"/>
                </a:lnTo>
                <a:lnTo>
                  <a:pt x="360534" y="622093"/>
                </a:lnTo>
                <a:lnTo>
                  <a:pt x="405601" y="628343"/>
                </a:lnTo>
                <a:lnTo>
                  <a:pt x="450668" y="634880"/>
                </a:lnTo>
                <a:lnTo>
                  <a:pt x="495735" y="641575"/>
                </a:lnTo>
                <a:lnTo>
                  <a:pt x="540802" y="648297"/>
                </a:lnTo>
                <a:lnTo>
                  <a:pt x="585869" y="654912"/>
                </a:lnTo>
                <a:lnTo>
                  <a:pt x="630936" y="661293"/>
                </a:lnTo>
                <a:lnTo>
                  <a:pt x="676002" y="667312"/>
                </a:lnTo>
                <a:lnTo>
                  <a:pt x="721069" y="672853"/>
                </a:lnTo>
                <a:lnTo>
                  <a:pt x="766136" y="677806"/>
                </a:lnTo>
                <a:lnTo>
                  <a:pt x="811203" y="682074"/>
                </a:lnTo>
                <a:lnTo>
                  <a:pt x="856270" y="685572"/>
                </a:lnTo>
                <a:lnTo>
                  <a:pt x="901337" y="688234"/>
                </a:lnTo>
                <a:lnTo>
                  <a:pt x="946404" y="690005"/>
                </a:lnTo>
                <a:lnTo>
                  <a:pt x="991470" y="690852"/>
                </a:lnTo>
                <a:lnTo>
                  <a:pt x="1036537" y="690687"/>
                </a:lnTo>
                <a:lnTo>
                  <a:pt x="1081604" y="689259"/>
                </a:lnTo>
                <a:lnTo>
                  <a:pt x="1126671" y="686735"/>
                </a:lnTo>
                <a:lnTo>
                  <a:pt x="1171738" y="683463"/>
                </a:lnTo>
                <a:lnTo>
                  <a:pt x="1216805" y="679896"/>
                </a:lnTo>
                <a:lnTo>
                  <a:pt x="1261872" y="676526"/>
                </a:lnTo>
                <a:lnTo>
                  <a:pt x="1306938" y="673820"/>
                </a:lnTo>
                <a:lnTo>
                  <a:pt x="1352005" y="672152"/>
                </a:lnTo>
                <a:lnTo>
                  <a:pt x="1397072" y="671308"/>
                </a:lnTo>
                <a:lnTo>
                  <a:pt x="1442139" y="656796"/>
                </a:lnTo>
                <a:lnTo>
                  <a:pt x="1487206" y="622425"/>
                </a:lnTo>
                <a:lnTo>
                  <a:pt x="1532273" y="570320"/>
                </a:lnTo>
                <a:lnTo>
                  <a:pt x="1577340" y="503704"/>
                </a:lnTo>
                <a:lnTo>
                  <a:pt x="1622406" y="426697"/>
                </a:lnTo>
                <a:lnTo>
                  <a:pt x="1667473" y="344061"/>
                </a:lnTo>
                <a:lnTo>
                  <a:pt x="1712540" y="260907"/>
                </a:lnTo>
                <a:lnTo>
                  <a:pt x="1757607" y="182377"/>
                </a:lnTo>
                <a:lnTo>
                  <a:pt x="1802674" y="113329"/>
                </a:lnTo>
                <a:lnTo>
                  <a:pt x="1847741" y="58032"/>
                </a:lnTo>
                <a:lnTo>
                  <a:pt x="1892808" y="19907"/>
                </a:lnTo>
                <a:lnTo>
                  <a:pt x="1937874" y="1311"/>
                </a:lnTo>
                <a:lnTo>
                  <a:pt x="1982941" y="0"/>
                </a:lnTo>
                <a:lnTo>
                  <a:pt x="2028008" y="2176"/>
                </a:lnTo>
                <a:lnTo>
                  <a:pt x="2073075" y="6237"/>
                </a:lnTo>
                <a:lnTo>
                  <a:pt x="2118142" y="12016"/>
                </a:lnTo>
                <a:lnTo>
                  <a:pt x="2163209" y="19272"/>
                </a:lnTo>
                <a:lnTo>
                  <a:pt x="2208276" y="27705"/>
                </a:lnTo>
                <a:lnTo>
                  <a:pt x="2253342" y="36965"/>
                </a:lnTo>
                <a:lnTo>
                  <a:pt x="2298409" y="46668"/>
                </a:lnTo>
                <a:lnTo>
                  <a:pt x="2343476" y="56412"/>
                </a:lnTo>
                <a:lnTo>
                  <a:pt x="2388543" y="65792"/>
                </a:lnTo>
                <a:lnTo>
                  <a:pt x="2433610" y="74420"/>
                </a:lnTo>
                <a:lnTo>
                  <a:pt x="2478677" y="81937"/>
                </a:lnTo>
                <a:lnTo>
                  <a:pt x="2523744" y="88033"/>
                </a:lnTo>
                <a:lnTo>
                  <a:pt x="2568810" y="92453"/>
                </a:lnTo>
                <a:lnTo>
                  <a:pt x="2613877" y="95015"/>
                </a:lnTo>
                <a:lnTo>
                  <a:pt x="2658944" y="95699"/>
                </a:lnTo>
                <a:lnTo>
                  <a:pt x="2704011" y="97281"/>
                </a:lnTo>
                <a:lnTo>
                  <a:pt x="2749078" y="101094"/>
                </a:lnTo>
                <a:lnTo>
                  <a:pt x="2794145" y="107063"/>
                </a:lnTo>
                <a:lnTo>
                  <a:pt x="2839212" y="115070"/>
                </a:lnTo>
                <a:lnTo>
                  <a:pt x="2884278" y="124959"/>
                </a:lnTo>
                <a:lnTo>
                  <a:pt x="2929345" y="136535"/>
                </a:lnTo>
                <a:lnTo>
                  <a:pt x="2974412" y="149570"/>
                </a:lnTo>
                <a:lnTo>
                  <a:pt x="3019479" y="163809"/>
                </a:lnTo>
                <a:lnTo>
                  <a:pt x="3064546" y="178972"/>
                </a:lnTo>
                <a:lnTo>
                  <a:pt x="3109613" y="194762"/>
                </a:lnTo>
                <a:lnTo>
                  <a:pt x="3154680" y="210868"/>
                </a:lnTo>
                <a:lnTo>
                  <a:pt x="3199746" y="226974"/>
                </a:lnTo>
                <a:lnTo>
                  <a:pt x="3244813" y="242763"/>
                </a:lnTo>
                <a:lnTo>
                  <a:pt x="3289880" y="257926"/>
                </a:lnTo>
                <a:lnTo>
                  <a:pt x="3334947" y="272165"/>
                </a:lnTo>
                <a:lnTo>
                  <a:pt x="3380014" y="285201"/>
                </a:lnTo>
                <a:lnTo>
                  <a:pt x="3425081" y="296776"/>
                </a:lnTo>
                <a:lnTo>
                  <a:pt x="3470148" y="306665"/>
                </a:lnTo>
                <a:lnTo>
                  <a:pt x="3515214" y="314672"/>
                </a:lnTo>
                <a:lnTo>
                  <a:pt x="3560281" y="320641"/>
                </a:lnTo>
                <a:lnTo>
                  <a:pt x="3605348" y="324454"/>
                </a:lnTo>
                <a:lnTo>
                  <a:pt x="3650415" y="326037"/>
                </a:lnTo>
                <a:lnTo>
                  <a:pt x="3695482" y="326807"/>
                </a:lnTo>
                <a:lnTo>
                  <a:pt x="3740549" y="329734"/>
                </a:lnTo>
                <a:lnTo>
                  <a:pt x="3785616" y="334852"/>
                </a:lnTo>
                <a:lnTo>
                  <a:pt x="3830682" y="342061"/>
                </a:lnTo>
                <a:lnTo>
                  <a:pt x="3875749" y="351218"/>
                </a:lnTo>
                <a:lnTo>
                  <a:pt x="3920816" y="362145"/>
                </a:lnTo>
                <a:lnTo>
                  <a:pt x="3965883" y="374625"/>
                </a:lnTo>
                <a:lnTo>
                  <a:pt x="4010950" y="388415"/>
                </a:lnTo>
                <a:lnTo>
                  <a:pt x="4056017" y="403244"/>
                </a:lnTo>
                <a:lnTo>
                  <a:pt x="4101084" y="418819"/>
                </a:lnTo>
                <a:lnTo>
                  <a:pt x="4146150" y="434836"/>
                </a:lnTo>
                <a:lnTo>
                  <a:pt x="4191217" y="450980"/>
                </a:lnTo>
                <a:lnTo>
                  <a:pt x="4236284" y="466934"/>
                </a:lnTo>
                <a:lnTo>
                  <a:pt x="4281351" y="482384"/>
                </a:lnTo>
                <a:lnTo>
                  <a:pt x="4326418" y="497028"/>
                </a:lnTo>
                <a:lnTo>
                  <a:pt x="4371485" y="510577"/>
                </a:lnTo>
                <a:lnTo>
                  <a:pt x="4416552" y="522765"/>
                </a:lnTo>
                <a:lnTo>
                  <a:pt x="4461618" y="533354"/>
                </a:lnTo>
                <a:lnTo>
                  <a:pt x="4506685" y="542135"/>
                </a:lnTo>
                <a:lnTo>
                  <a:pt x="4551752" y="548935"/>
                </a:lnTo>
                <a:lnTo>
                  <a:pt x="4596819" y="553622"/>
                </a:lnTo>
                <a:lnTo>
                  <a:pt x="4641886" y="556103"/>
                </a:lnTo>
                <a:lnTo>
                  <a:pt x="4686953" y="556688"/>
                </a:lnTo>
                <a:lnTo>
                  <a:pt x="4732020" y="558677"/>
                </a:lnTo>
                <a:lnTo>
                  <a:pt x="4777086" y="562826"/>
                </a:lnTo>
                <a:lnTo>
                  <a:pt x="4822153" y="569028"/>
                </a:lnTo>
                <a:lnTo>
                  <a:pt x="4867220" y="577125"/>
                </a:lnTo>
                <a:lnTo>
                  <a:pt x="4912287" y="586908"/>
                </a:lnTo>
                <a:lnTo>
                  <a:pt x="4957354" y="598127"/>
                </a:lnTo>
                <a:lnTo>
                  <a:pt x="5002421" y="610495"/>
                </a:lnTo>
                <a:lnTo>
                  <a:pt x="5047488" y="623693"/>
                </a:lnTo>
                <a:lnTo>
                  <a:pt x="5092554" y="637385"/>
                </a:lnTo>
                <a:lnTo>
                  <a:pt x="5137621" y="651219"/>
                </a:lnTo>
                <a:lnTo>
                  <a:pt x="5182688" y="664840"/>
                </a:lnTo>
                <a:lnTo>
                  <a:pt x="5227755" y="677899"/>
                </a:lnTo>
                <a:lnTo>
                  <a:pt x="5272822" y="690062"/>
                </a:lnTo>
                <a:lnTo>
                  <a:pt x="5317889" y="701016"/>
                </a:lnTo>
                <a:lnTo>
                  <a:pt x="5362956" y="710480"/>
                </a:lnTo>
                <a:lnTo>
                  <a:pt x="5408022" y="718213"/>
                </a:lnTo>
                <a:lnTo>
                  <a:pt x="5453089" y="724016"/>
                </a:lnTo>
                <a:lnTo>
                  <a:pt x="5498156" y="727739"/>
                </a:lnTo>
                <a:lnTo>
                  <a:pt x="5543223" y="729288"/>
                </a:lnTo>
                <a:lnTo>
                  <a:pt x="5588290" y="730083"/>
                </a:lnTo>
                <a:lnTo>
                  <a:pt x="5633357" y="733104"/>
                </a:lnTo>
                <a:lnTo>
                  <a:pt x="5678424" y="738337"/>
                </a:lnTo>
                <a:lnTo>
                  <a:pt x="5723490" y="745599"/>
                </a:lnTo>
                <a:lnTo>
                  <a:pt x="5768557" y="754637"/>
                </a:lnTo>
                <a:lnTo>
                  <a:pt x="5813624" y="765137"/>
                </a:lnTo>
                <a:lnTo>
                  <a:pt x="5858691" y="776731"/>
                </a:lnTo>
                <a:lnTo>
                  <a:pt x="5903758" y="789016"/>
                </a:lnTo>
                <a:lnTo>
                  <a:pt x="5948825" y="801563"/>
                </a:lnTo>
                <a:lnTo>
                  <a:pt x="5993892" y="813936"/>
                </a:lnTo>
                <a:lnTo>
                  <a:pt x="6038958" y="825702"/>
                </a:lnTo>
                <a:lnTo>
                  <a:pt x="6084025" y="836451"/>
                </a:lnTo>
                <a:lnTo>
                  <a:pt x="6129092" y="845808"/>
                </a:lnTo>
                <a:lnTo>
                  <a:pt x="6174159" y="853448"/>
                </a:lnTo>
                <a:lnTo>
                  <a:pt x="6219226" y="859103"/>
                </a:lnTo>
                <a:lnTo>
                  <a:pt x="6264293" y="862578"/>
                </a:lnTo>
                <a:lnTo>
                  <a:pt x="6309360" y="863749"/>
                </a:lnTo>
              </a:path>
            </a:pathLst>
          </a:custGeom>
          <a:noFill/>
          <a:ln w="38100">
            <a:solidFill>
              <a:srgbClr val="502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45943" y="2521000"/>
            <a:ext cx="118872" cy="118872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70939" y="27724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0"/>
              </a:spcAft>
            </a:pPr>
            <a:r>
              <a:rPr sz="1050" b="1" i="0">
                <a:solidFill>
                  <a:srgbClr val="502961"/>
                </a:solidFill>
                <a:latin typeface="Calibri"/>
              </a:rPr>
              <a:t>Five minutes,</a:t>
            </a:r>
            <a:br/>
            <a:r>
              <a:rPr sz="1050" b="1" i="0">
                <a:solidFill>
                  <a:srgbClr val="502961"/>
                </a:solidFill>
                <a:latin typeface="Calibri"/>
              </a:rPr>
              <a:t>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8187" y="171907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502961"/>
                </a:solidFill>
                <a:latin typeface="Calibri"/>
              </a:rPr>
              <a:t>Still up an hour later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936" y="315650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0" i="1">
                <a:solidFill>
                  <a:srgbClr val="9C95A3"/>
                </a:solidFill>
                <a:latin typeface="Calibri"/>
              </a:rPr>
              <a:t>The still morning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159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It is not permanent, and it is not meant to be. It gets you through the next hour.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D8BCE4"/>
                </a:solidFill>
                <a:latin typeface="Calibri"/>
              </a:rPr>
              <a:t>BEFORE YOU SEE THE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77824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FFFDF7"/>
                </a:solidFill>
                <a:latin typeface="Georgia"/>
              </a:rPr>
              <a:t>Be the researcher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1">
                <a:solidFill>
                  <a:srgbClr val="D8BCE4"/>
                </a:solidFill>
                <a:latin typeface="Calibri"/>
              </a:rPr>
              <a:t>A real study, run on 168 students your age. You get the set-up. You do not get the result.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29968"/>
            <a:ext cx="7315200" cy="54864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12140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Half of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12140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Twenty minutes of moving at break. Games, running, skipping.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651760"/>
            <a:ext cx="7315200" cy="54864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743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The other half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7432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Break as normal. Sitting, talking, nothing physical.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73552"/>
            <a:ext cx="7315200" cy="54864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3649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Then, both halves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36499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The same attention test, and a maths lesson watched by a researcher.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86784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FFDF7"/>
                </a:solidFill>
                <a:latin typeface="Calibri"/>
              </a:rPr>
              <a:t>In pairs. Who scored better on attention, and by how much?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D8BCE4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D8BCE4"/>
                </a:solidFill>
                <a:latin typeface="Calibr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NOW THE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6035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F2A36"/>
                </a:solidFill>
                <a:latin typeface="Georgia"/>
              </a:rPr>
              <a:t>What actually happened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44752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A97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499616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502961"/>
                </a:solidFill>
                <a:latin typeface="Calibri"/>
              </a:rPr>
              <a:t>168 students aged 12 to 15. Half moved for twenty minutes at break, half did not.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66543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832" y="2121408"/>
            <a:ext cx="384048" cy="38404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185415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139696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F2A36"/>
                </a:solidFill>
                <a:latin typeface="Calibri"/>
              </a:rPr>
              <a:t>The movers’ attention scores went up. The others’ went slightly 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33472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2688336"/>
            <a:ext cx="384048" cy="38404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752344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2706624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F2A36"/>
                </a:solidFill>
                <a:latin typeface="Calibri"/>
              </a:rPr>
              <a:t>The gap was large enough that it is very unlikely to be chance.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00400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2" y="3255264"/>
            <a:ext cx="384048" cy="38404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31927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273552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F2A36"/>
                </a:solidFill>
                <a:latin typeface="Calibri"/>
              </a:rPr>
              <a:t>Researchers then watched a maths lesson. The movers spent more of it on task.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877055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One active break showed up in the next lesson, in a test and in behaviour.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7939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1">
                <a:solidFill>
                  <a:srgbClr val="9C95A3"/>
                </a:solidFill>
                <a:latin typeface="Calibri"/>
              </a:rPr>
              <a:t>Xiao, X. (2026). Frontiers in Psychology, 17, 1781997.</a:t>
            </a:r>
          </a:p>
        </p:txBody>
      </p:sp>
      <p:pic>
        <p:nvPicPr>
          <p:cNvPr id="23" name="Picture 2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THE QUESTION EVERYBODY 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6035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F2A36"/>
                </a:solidFill>
                <a:latin typeface="Georgia"/>
              </a:rPr>
              <a:t>How long does it last?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44752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A97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499616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502961"/>
                </a:solidFill>
                <a:latin typeface="Calibri"/>
              </a:rPr>
              <a:t>40 children. Twenty minutes of exercise one day, twenty of sitting reading another.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66543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832" y="2121408"/>
            <a:ext cx="384048" cy="38404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185415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139696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F2A36"/>
                </a:solidFill>
                <a:latin typeface="Calibri"/>
              </a:rPr>
              <a:t>Attention was tested up to twenty-seven minutes after they stopped. Still better.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33472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2688336"/>
            <a:ext cx="384048" cy="38404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752344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2706624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F2A36"/>
                </a:solidFill>
                <a:latin typeface="Calibri"/>
              </a:rPr>
              <a:t>Reading and maths were tested about thirty-eight minutes after. Both were still better.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00400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2" y="3255264"/>
            <a:ext cx="384048" cy="38404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31927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273552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F2A36"/>
                </a:solidFill>
                <a:latin typeface="Calibri"/>
              </a:rPr>
              <a:t>The same pattern showed in a brain recording taken during the attention test.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877055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It does not vanish when your heart rate drops, and that is the part you will measure.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7939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1">
                <a:solidFill>
                  <a:srgbClr val="9C95A3"/>
                </a:solidFill>
                <a:latin typeface="Calibri"/>
              </a:rPr>
              <a:t>Pontifex, M. B., Saliba, B. J., Raine, L. B., Picchietti, D. L. &amp; Hillman, C. H. (2013). The Journal of Pediatrics, 162(3), 543–551.</a:t>
            </a:r>
          </a:p>
        </p:txBody>
      </p:sp>
      <p:pic>
        <p:nvPicPr>
          <p:cNvPr id="23" name="Picture 2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BEING HONEST ABOUT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6035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2F2A36"/>
                </a:solidFill>
                <a:latin typeface="Georgia"/>
              </a:rPr>
              <a:t>Where it is mixed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44752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A97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499616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502961"/>
                </a:solidFill>
                <a:latin typeface="Calibri"/>
              </a:rPr>
              <a:t>A review of 22 studies of movement breaks, covering 3,615 students aged 5 to 18.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66543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130551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02961"/>
                </a:solidFill>
                <a:latin typeface="Georgia"/>
              </a:rPr>
              <a:t>Behaviour in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30551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Six studies out of seven found it better after a movement break.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33472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697479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02961"/>
                </a:solidFill>
                <a:latin typeface="Georgia"/>
              </a:rPr>
              <a:t>Attention and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9747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Four studies found an improvement. Four found nothing at 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00400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26440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02961"/>
                </a:solidFill>
                <a:latin typeface="Georgia"/>
              </a:rPr>
              <a:t>What the reviewers said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644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Harder movement worked better than gentle movement.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40480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So: if half the studies found nothing, why is anybody still recommending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06240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1">
                <a:solidFill>
                  <a:srgbClr val="9C95A3"/>
                </a:solidFill>
                <a:latin typeface="Calibri"/>
              </a:rPr>
              <a:t>Reyes-Amigo, T. et al. (2025). Frontiers in Public Health, 13, 1469998.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D8BCE4"/>
                </a:solidFill>
                <a:latin typeface="Calibri"/>
              </a:rPr>
              <a:t>TO BE CLEAR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96112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0" i="0">
                <a:solidFill>
                  <a:srgbClr val="FFFDF7"/>
                </a:solidFill>
                <a:latin typeface="Georgia"/>
              </a:rPr>
              <a:t>What this is about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83664"/>
            <a:ext cx="7315200" cy="51206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56816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Calibri"/>
              </a:rPr>
              <a:t>Movement, mood and focus. What the next hour feels like, and nothing else.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05456"/>
            <a:ext cx="7315200" cy="51206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57860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Calibri"/>
              </a:rPr>
              <a:t>It is not about how sporty you are, and nobody is being tested.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27248"/>
            <a:ext cx="7315200" cy="51206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0040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Calibri"/>
              </a:rPr>
              <a:t>Your numbers stay on your sheet. Nobody is comparing them to anybody else’s.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77056"/>
            <a:ext cx="749807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50" b="1" i="0">
                <a:solidFill>
                  <a:srgbClr val="FFFDF7"/>
                </a:solidFill>
                <a:latin typeface="Calibri"/>
              </a:rPr>
              <a:t>Moving helps how you feel today.</a:t>
            </a:r>
            <a:br/>
            <a:r>
              <a:rPr sz="1350" b="1" i="0">
                <a:solidFill>
                  <a:srgbClr val="FFFDF7"/>
                </a:solidFill>
                <a:latin typeface="Calibri"/>
              </a:rPr>
              <a:t>If you are struggling with something bigger, tell someone.</a:t>
            </a:r>
          </a:p>
        </p:txBody>
      </p:sp>
      <p:pic>
        <p:nvPicPr>
          <p:cNvPr id="14" name="Picture 13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D8BCE4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D8BCE4"/>
                </a:solidFill>
                <a:latin typeface="Calibr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THIS IS THE PART YOU WRITE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2A36"/>
                </a:solidFill>
                <a:latin typeface="Georgia"/>
              </a:rPr>
              <a:t>The two numbers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64208"/>
            <a:ext cx="7772400" cy="126187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02961"/>
                </a:solidFill>
                <a:latin typeface="Georgia"/>
              </a:rPr>
              <a:t>Your 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39696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635C6B"/>
                </a:solidFill>
                <a:latin typeface="Calibri"/>
              </a:rPr>
              <a:t>How hard your heart is working, in beats per minute.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7223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2F2A36"/>
                </a:solidFill>
                <a:latin typeface="Calibri"/>
              </a:rPr>
              <a:t>Two fingers on your wrist, below the thumb. Do not use your thumb: it has its own pulse. Count for fifteen seconds and multiply by four.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72384"/>
            <a:ext cx="7772400" cy="1261872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A97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18688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02961"/>
                </a:solidFill>
                <a:latin typeface="Georgia"/>
              </a:rPr>
              <a:t>Your focus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47872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635C6B"/>
                </a:solidFill>
                <a:latin typeface="Calibri"/>
              </a:rPr>
              <a:t>How ready you are to start a piece of work, out of ten.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40480"/>
            <a:ext cx="7223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2F2A36"/>
                </a:solidFill>
                <a:latin typeface="Calibri"/>
              </a:rPr>
              <a:t>1 to 3, you could not start. 4 to 6, you could if somebody made you. 7 to 10, you could start right now.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One number your body gives you, one number only you can give. You need both.</a:t>
            </a:r>
          </a:p>
        </p:txBody>
      </p:sp>
      <p:pic>
        <p:nvPicPr>
          <p:cNvPr id="16" name="Picture 15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ON YOUR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2F2A36"/>
                </a:solidFill>
                <a:latin typeface="Georgia"/>
              </a:rPr>
              <a:t>Your two starting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35C6B"/>
                </a:solidFill>
                <a:latin typeface="Calibri"/>
              </a:rPr>
              <a:t>Sitting down, quiet, right now. This is what next week gets compared against.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7772400" cy="53035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167127"/>
            <a:ext cx="402336" cy="402336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4027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2185415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Find your pulse. Fifteen seconds, then multiply by four. Write it down.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06624"/>
            <a:ext cx="7772400" cy="530352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2770632"/>
            <a:ext cx="402336" cy="402336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84378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78892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Score your focus out of ten, using the scale on the previous slide.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10128"/>
            <a:ext cx="7772400" cy="53035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" y="3374136"/>
            <a:ext cx="402336" cy="402336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4472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7904" y="3392424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If you cannot find your pulse, use the one your teacher counts for you.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7822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Anywhere from about sixty to a hundred at rest is ordinary. There is no good or bad score.</a:t>
            </a:r>
          </a:p>
        </p:txBody>
      </p:sp>
      <p:pic>
        <p:nvPicPr>
          <p:cNvPr id="21" name="Picture 20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THE BIT LESSON TWO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2A36"/>
                </a:solidFill>
                <a:latin typeface="Georgia"/>
              </a:rPr>
              <a:t>Write your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35C6B"/>
                </a:solidFill>
                <a:latin typeface="Calibri"/>
              </a:rPr>
              <a:t>Numbers, not words. Next week you find out how close you were.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7772400" cy="58521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03120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Straight after five minutes of moving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03120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My pulse will be ____   ·   my focus will be ____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70048"/>
            <a:ext cx="7772400" cy="585216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761488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Ten minutes after that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61488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My focus will be ____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28416"/>
            <a:ext cx="7772400" cy="58521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419856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The one nobody guesses 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19856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How long will any of it still be there?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33087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Put a number in every gap. A prediction with no number in it cannot be tested.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D8BCE4"/>
                </a:solidFill>
                <a:latin typeface="Calibri"/>
              </a:rPr>
              <a:t>WHAT TO EXPECT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96112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900" b="0" i="0">
                <a:solidFill>
                  <a:srgbClr val="FFFDF7"/>
                </a:solidFill>
                <a:latin typeface="Georgia"/>
              </a:rPr>
              <a:t>Two things that catch people 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83664"/>
            <a:ext cx="7315200" cy="78638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93392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02961"/>
                </a:solidFill>
                <a:latin typeface="Georgia"/>
              </a:rPr>
              <a:t>Whoever moves least usually feels it most.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40864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635C6B"/>
                </a:solidFill>
                <a:latin typeface="Calibri"/>
              </a:rPr>
              <a:t>The change is largest for the people who were sitting still the longest.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16352"/>
            <a:ext cx="7315200" cy="78638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926080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02961"/>
                </a:solidFill>
                <a:latin typeface="Georgia"/>
              </a:rPr>
              <a:t>It does not have to be hard to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7355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635C6B"/>
                </a:solidFill>
                <a:latin typeface="Calibri"/>
              </a:rPr>
              <a:t>Noticing your breathing is enough. Exhausting yourself is not the 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86784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FFDF7"/>
                </a:solidFill>
                <a:latin typeface="Calibri"/>
              </a:rPr>
              <a:t>We are not measuring effort here, we are measuring change.</a:t>
            </a:r>
          </a:p>
        </p:txBody>
      </p:sp>
      <p:pic>
        <p:nvPicPr>
          <p:cNvPr id="14" name="Picture 13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D8BCE4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D8BCE4"/>
                </a:solidFill>
                <a:latin typeface="Calibr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NEXT LESSON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67728" y="530352"/>
            <a:ext cx="1490472" cy="347472"/>
          </a:xfrm>
          <a:prstGeom prst="roundRect">
            <a:avLst>
              <a:gd name="adj" fmla="val 50000"/>
            </a:avLst>
          </a:prstGeom>
          <a:solidFill>
            <a:srgbClr val="F0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67728" y="589788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502961"/>
                </a:solidFill>
                <a:latin typeface="Calibri"/>
              </a:rPr>
              <a:t>NEXT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2A36"/>
                </a:solidFill>
                <a:latin typeface="Georgia"/>
              </a:rPr>
              <a:t>You pick one of three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35C6B"/>
                </a:solidFill>
                <a:latin typeface="Calibri"/>
              </a:rPr>
              <a:t>All three are five minutes, all three happen next to your own chair.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48256"/>
            <a:ext cx="2432304" cy="157276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8488" y="2148840"/>
            <a:ext cx="566928" cy="56692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2286000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" y="2834640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Bursts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18211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35C6B"/>
                </a:solidFill>
                <a:latin typeface="Calibri"/>
              </a:rPr>
              <a:t>Sixty seconds on, ten off, four times. Marching or star jumps.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2048256"/>
            <a:ext cx="2432304" cy="1572768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88536" y="2148840"/>
            <a:ext cx="566928" cy="56692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2286000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83864" y="2834640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Strength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18211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35C6B"/>
                </a:solidFill>
                <a:latin typeface="Calibri"/>
              </a:rPr>
              <a:t>Wall press-ups, chair squats, calf raises. Slow and controlled.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25896" y="2048256"/>
            <a:ext cx="2432304" cy="157276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58584" y="2148840"/>
            <a:ext cx="566928" cy="56692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o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2286000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53912" y="2834640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Stretch and breathe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318211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35C6B"/>
                </a:solidFill>
                <a:latin typeface="Calibri"/>
              </a:rPr>
              <a:t>The quietest one. Slow stretches and breathing.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40480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Nothing to bring and nothing to change into.</a:t>
            </a:r>
            <a:br/>
            <a:r>
              <a:rPr sz="1250" b="1" i="0">
                <a:solidFill>
                  <a:srgbClr val="502961"/>
                </a:solidFill>
                <a:latin typeface="Calibri"/>
              </a:rPr>
              <a:t>Tell your teacher today if moving is a problem for you.</a:t>
            </a:r>
          </a:p>
        </p:txBody>
      </p:sp>
      <p:pic>
        <p:nvPicPr>
          <p:cNvPr id="24" name="Picture 23" descr="logo-mas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D8BCE4"/>
                </a:solidFill>
                <a:latin typeface="Calibri"/>
              </a:rPr>
              <a:t>IF YOU REMEMBER ONE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8046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0"/>
              </a:spcAft>
            </a:pPr>
            <a:r>
              <a:rPr sz="3400" b="0" i="0">
                <a:solidFill>
                  <a:srgbClr val="FFFDF7"/>
                </a:solidFill>
                <a:latin typeface="Georgia"/>
              </a:rPr>
              <a:t>Five minutes changes</a:t>
            </a:r>
            <a:br/>
            <a:r>
              <a:rPr sz="3400" b="0" i="0">
                <a:solidFill>
                  <a:srgbClr val="FFFDF7"/>
                </a:solidFill>
                <a:latin typeface="Georgia"/>
              </a:rPr>
              <a:t>the hour you are 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3127248"/>
            <a:ext cx="1005840" cy="18288"/>
          </a:xfrm>
          <a:prstGeom prst="rect">
            <a:avLst/>
          </a:prstGeom>
          <a:solidFill>
            <a:srgbClr val="A9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419856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8000"/>
              </a:lnSpc>
              <a:spcAft>
                <a:spcPts val="0"/>
              </a:spcAft>
            </a:pPr>
            <a:r>
              <a:rPr sz="1450" b="0" i="1">
                <a:solidFill>
                  <a:srgbClr val="D8BCE4"/>
                </a:solidFill>
                <a:latin typeface="Calibri"/>
              </a:rPr>
              <a:t>Your mood and your focus, for the next hour or so.</a:t>
            </a:r>
            <a:br/>
            <a:r>
              <a:rPr sz="1450" b="0" i="1">
                <a:solidFill>
                  <a:srgbClr val="D8BCE4"/>
                </a:solidFill>
                <a:latin typeface="Calibri"/>
              </a:rPr>
              <a:t>That is reason enough to bother.</a:t>
            </a:r>
          </a:p>
        </p:txBody>
      </p:sp>
      <p:pic>
        <p:nvPicPr>
          <p:cNvPr id="7" name="Picture 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D8BCE4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D8BCE4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495" y="1170432"/>
            <a:ext cx="681008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30428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502961"/>
                </a:solidFill>
                <a:latin typeface="Georgia"/>
              </a:rPr>
              <a:t>Bring your prediction next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072384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8000"/>
              </a:lnSpc>
              <a:spcAft>
                <a:spcPts val="0"/>
              </a:spcAft>
            </a:pPr>
            <a:r>
              <a:rPr sz="1300" b="0" i="0">
                <a:solidFill>
                  <a:srgbClr val="635C6B"/>
                </a:solidFill>
                <a:latin typeface="Calibri"/>
              </a:rPr>
              <a:t>We are going to test it on this room,</a:t>
            </a:r>
            <a:br/>
            <a:r>
              <a:rPr sz="1300" b="0" i="0">
                <a:solidFill>
                  <a:srgbClr val="635C6B"/>
                </a:solidFill>
                <a:latin typeface="Calibri"/>
              </a:rPr>
              <a:t>and you will find out whether you were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502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1">
                <a:solidFill>
                  <a:srgbClr val="9C95A3"/>
                </a:solidFill>
                <a:latin typeface="Calibri"/>
              </a:rPr>
              <a:t>Movement and Mental Health  ·  Lesson 1 of 3</a:t>
            </a:r>
          </a:p>
        </p:txBody>
      </p:sp>
      <p:pic>
        <p:nvPicPr>
          <p:cNvPr id="7" name="Picture 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52160" y="530352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F0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0" y="589788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502961"/>
                </a:solidFill>
                <a:latin typeface="Calibri"/>
              </a:rPr>
              <a:t>TEACHER SLIDE  ·  SKIP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FOR THE 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2F2A36"/>
                </a:solidFill>
                <a:latin typeface="Georgia"/>
              </a:rPr>
              <a:t>References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636776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20">
                <a:solidFill>
                  <a:srgbClr val="6E4585"/>
                </a:solidFill>
                <a:latin typeface="Calibri"/>
              </a:rPr>
              <a:t>SLIDES 10 AND 11 OF THIS LESSON, AND SLIDE 12 OF LESSON 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828800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2F2A36"/>
                </a:solidFill>
                <a:latin typeface="Calibri"/>
              </a:rPr>
              <a:t>Xiao, X. (2026). Frontiers in Psychology, 17, 1781997.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31136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295144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20">
                <a:solidFill>
                  <a:srgbClr val="6E4585"/>
                </a:solidFill>
                <a:latin typeface="Calibri"/>
              </a:rPr>
              <a:t>SLIDE 12 OF THIS LESSON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487168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2F2A36"/>
                </a:solidFill>
                <a:latin typeface="Calibri"/>
              </a:rPr>
              <a:t>Pontifex, M. B., Saliba, B. J., Raine, L. B., Picchietti, D. L. &amp; Hillman, C. H. (2013). The Journal of Pediatrics, 162(3), 543–551.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9504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953512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20">
                <a:solidFill>
                  <a:srgbClr val="6E4585"/>
                </a:solidFill>
                <a:latin typeface="Calibri"/>
              </a:rPr>
              <a:t>SLIDE 13 OF THIS LESSON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145536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2F2A36"/>
                </a:solidFill>
                <a:latin typeface="Calibri"/>
              </a:rPr>
              <a:t>Reyes-Amigo, T. et al. (2025). Frontiers in Public Health, 13, 1469998.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47872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611879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20">
                <a:solidFill>
                  <a:srgbClr val="6E4585"/>
                </a:solidFill>
                <a:latin typeface="Calibri"/>
              </a:rPr>
              <a:t>SLIDE 4 OF LESSON THREE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3803904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2F2A36"/>
                </a:solidFill>
                <a:latin typeface="Calibri"/>
              </a:rPr>
              <a:t>Recchia, F., Bernal, J. D. K., Fong, D. Y. et al. (2023). JAMA Pediatrics, 177(2), 132–140.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976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502961"/>
                </a:solidFill>
                <a:latin typeface="Calibri"/>
              </a:rPr>
              <a:t>Full titles are on the last page of the pack. Every figure quoted comes from these four.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The Pastoral Guide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Movement and Mental Health: lesson 1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