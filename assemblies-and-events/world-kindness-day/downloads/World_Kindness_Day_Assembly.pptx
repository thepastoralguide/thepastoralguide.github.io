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40080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10512"/>
            <a:ext cx="8046720" cy="7533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8A6420"/>
                </a:solidFill>
                <a:latin typeface="Libre Caslon Display"/>
              </a:rPr>
              <a:t>World Kindness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816352"/>
            <a:ext cx="1005840" cy="18288"/>
          </a:xfrm>
          <a:prstGeom prst="rect">
            <a:avLst/>
          </a:prstGeom>
          <a:solidFill>
            <a:srgbClr val="C5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5C6552"/>
                </a:solidFill>
                <a:latin typeface="Karla"/>
              </a:rPr>
              <a:t>An Assembly and a Week of Form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4787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B9179"/>
                </a:solidFill>
                <a:latin typeface="Karla"/>
              </a:rPr>
              <a:t>13 November, every year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8A6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89888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Imagine you buy a stranger</a:t>
            </a:r>
          </a:p>
          <a:p>
            <a:pPr algn="ctr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a hot chocolate.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914400" cy="18288"/>
          </a:xfrm>
          <a:prstGeom prst="rect">
            <a:avLst/>
          </a:prstGeom>
          <a:solidFill>
            <a:srgbClr val="EAD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346704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EAD8AE"/>
                </a:solidFill>
                <a:latin typeface="Karla"/>
              </a:rPr>
              <a:t>On a scale of 0 to 10, how big a deal is it to them? Hold your number in your head. We will come back to it.</a:t>
            </a:r>
          </a:p>
        </p:txBody>
      </p:sp>
      <p:pic>
        <p:nvPicPr>
          <p:cNvPr id="6" name="Picture 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AD8AE"/>
                </a:solidFill>
                <a:latin typeface="Karla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AD8AE"/>
                </a:solidFill>
                <a:latin typeface="Karla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420"/>
                </a:solidFill>
                <a:latin typeface="Karla"/>
              </a:rPr>
              <a:t>WHAT THE DAY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E3436"/>
                </a:solidFill>
                <a:latin typeface="Libre Caslon Display"/>
              </a:rPr>
              <a:t>World Kindness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412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It has been held on 13 November every year since 1998, when the World Kindness Movement started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F8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94560"/>
            <a:ext cx="64008" cy="1188720"/>
          </a:xfrm>
          <a:prstGeom prst="rect">
            <a:avLst/>
          </a:prstGeom>
          <a:solidFill>
            <a:srgbClr val="C5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2414016"/>
            <a:ext cx="69677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This morning: what researchers found when they tested small kind acts.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This week: five minutes in form time each day, ending on World Kindness 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Source: World Kindness Movement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420"/>
                </a:solidFill>
                <a:latin typeface="Karla"/>
              </a:rPr>
              <a:t>WHAT THE RESEARCH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2E3436"/>
                </a:solidFill>
                <a:latin typeface="Libre Caslon Display"/>
              </a:rPr>
              <a:t>Small kind acts feel bigger than we think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412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At an ice rink in Chicago, people gave a stranger a hot chocolate. Both were asked how big a deal it was, out of 10.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12848"/>
            <a:ext cx="3730752" cy="15544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37307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600" b="1" i="0">
                <a:solidFill>
                  <a:srgbClr val="8A6420"/>
                </a:solidFill>
                <a:latin typeface="Libre Caslon Display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145536"/>
            <a:ext cx="318211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how big the people giving it thought it was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27448" y="2212848"/>
            <a:ext cx="3730752" cy="1554480"/>
          </a:xfrm>
          <a:prstGeom prst="roundRect">
            <a:avLst>
              <a:gd name="adj" fmla="val 6000"/>
            </a:avLst>
          </a:prstGeom>
          <a:solidFill>
            <a:srgbClr val="8A6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27448" y="2359152"/>
            <a:ext cx="37307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600" b="1" i="0">
                <a:solidFill>
                  <a:srgbClr val="FFFDF7"/>
                </a:solidFill>
                <a:latin typeface="Libre Caslon Display"/>
              </a:rPr>
              <a:t>7.0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1768" y="3145536"/>
            <a:ext cx="318211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EAD8AE"/>
                </a:solidFill>
                <a:latin typeface="Karla"/>
              </a:rPr>
              <a:t>how big the people getting it said it was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A6420"/>
                </a:solidFill>
                <a:latin typeface="Karla"/>
              </a:rPr>
              <a:t>Think about it: when did something small that someone did for you feel big?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Source: Kumar and Epley, 2023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420"/>
                </a:solidFill>
                <a:latin typeface="Karla"/>
              </a:rPr>
              <a:t>WHAT THE RESEARCH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2E3436"/>
                </a:solidFill>
                <a:latin typeface="Libre Caslon Display"/>
              </a:rPr>
              <a:t>Compliments feel better than we expect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64208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46504"/>
            <a:ext cx="402336" cy="402336"/>
          </a:xfrm>
          <a:prstGeom prst="ellipse">
            <a:avLst/>
          </a:prstGeom>
          <a:solidFill>
            <a:srgbClr val="8A6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2515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64792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8A6420"/>
                </a:solidFill>
                <a:latin typeface="Libre Caslon Display"/>
              </a:rPr>
              <a:t>Students paid compliments to people they did not know.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11680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Before they did it, they expected the other person to feel awkward.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359152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441448"/>
            <a:ext cx="402336" cy="402336"/>
          </a:xfrm>
          <a:prstGeom prst="ellipse">
            <a:avLst/>
          </a:prstGeom>
          <a:solidFill>
            <a:srgbClr val="8A6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37460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45973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8A6420"/>
                </a:solidFill>
                <a:latin typeface="Libre Caslon Display"/>
              </a:rPr>
              <a:t>The other person felt much better than they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0662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They were also far less bothered by it than the students had guessed.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054096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136391"/>
            <a:ext cx="402336" cy="402336"/>
          </a:xfrm>
          <a:prstGeom prst="ellipse">
            <a:avLst/>
          </a:prstGeom>
          <a:solidFill>
            <a:srgbClr val="8A6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23240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154679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8A6420"/>
                </a:solidFill>
                <a:latin typeface="Libre Caslon Display"/>
              </a:rPr>
              <a:t>The students giving the compliments felt better too.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40156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Their nerves were what made them guess wrong.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A6420"/>
                </a:solidFill>
                <a:latin typeface="Karla"/>
              </a:rPr>
              <a:t>Think about it: what stops you saying something nice you are already thinking?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Source: Boothby and Bohns, 2021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420"/>
                </a:solidFill>
                <a:latin typeface="Karla"/>
              </a:rPr>
              <a:t>WHAT THE RESEARCH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2E3436"/>
                </a:solidFill>
                <a:latin typeface="Libre Caslon Display"/>
              </a:rPr>
              <a:t>A thank-you means more than we think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64208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46504"/>
            <a:ext cx="402336" cy="402336"/>
          </a:xfrm>
          <a:prstGeom prst="ellipse">
            <a:avLst/>
          </a:prstGeom>
          <a:solidFill>
            <a:srgbClr val="8A6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2515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64792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8A6420"/>
                </a:solidFill>
                <a:latin typeface="Libre Caslon Display"/>
              </a:rPr>
              <a:t>Adults wrote a short thank-you letter to someone who had helped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11680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Then they guessed how the other person would react.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359152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441448"/>
            <a:ext cx="402336" cy="402336"/>
          </a:xfrm>
          <a:prstGeom prst="ellipse">
            <a:avLst/>
          </a:prstGeom>
          <a:solidFill>
            <a:srgbClr val="8A6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37460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45973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8A6420"/>
                </a:solidFill>
                <a:latin typeface="Libre Caslon Display"/>
              </a:rPr>
              <a:t>They underestimated how surprised and happy the person would be.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0662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The letters mattered more than the writers expected.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054096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136391"/>
            <a:ext cx="402336" cy="402336"/>
          </a:xfrm>
          <a:prstGeom prst="ellipse">
            <a:avLst/>
          </a:prstGeom>
          <a:solidFill>
            <a:srgbClr val="8A6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23240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154679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8A6420"/>
                </a:solidFill>
                <a:latin typeface="Libre Caslon Display"/>
              </a:rPr>
              <a:t>They expected it to be awkward. It was less awkward than they thought.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40156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Most of the worry was in their own heads.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A6420"/>
                </a:solidFill>
                <a:latin typeface="Karla"/>
              </a:rPr>
              <a:t>Think about it: who have you never properly thanked?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Source: Kumar and Epley, 2018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420"/>
                </a:solidFill>
                <a:latin typeface="Karla"/>
              </a:rPr>
              <a:t>WHAT THE RESEARCH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Kindness and friendships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64208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46504"/>
            <a:ext cx="402336" cy="402336"/>
          </a:xfrm>
          <a:prstGeom prst="ellipse">
            <a:avLst/>
          </a:prstGeom>
          <a:solidFill>
            <a:srgbClr val="8A6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2515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64792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8A6420"/>
                </a:solidFill>
                <a:latin typeface="Libre Caslon Display"/>
              </a:rPr>
              <a:t>In Canada, 9 to 11 year olds did three kind acts a week for four weeks.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11680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Another group visited three places a week instead.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359152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441448"/>
            <a:ext cx="402336" cy="402336"/>
          </a:xfrm>
          <a:prstGeom prst="ellipse">
            <a:avLst/>
          </a:prstGeom>
          <a:solidFill>
            <a:srgbClr val="8A6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37460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45973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8A6420"/>
                </a:solidFill>
                <a:latin typeface="Libre Caslon Display"/>
              </a:rPr>
              <a:t>Afterwards, more classmates wanted to spend time with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0662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Both groups gained some, but the kind group gained about twice as many.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054096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136391"/>
            <a:ext cx="402336" cy="402336"/>
          </a:xfrm>
          <a:prstGeom prst="ellipse">
            <a:avLst/>
          </a:prstGeom>
          <a:solidFill>
            <a:srgbClr val="8A6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23240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154679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8A6420"/>
                </a:solidFill>
                <a:latin typeface="Libre Caslon Display"/>
              </a:rPr>
              <a:t>They were younger than you, so the honest answer is: test it yourself.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40156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That is what this week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A6420"/>
                </a:solidFill>
                <a:latin typeface="Karla"/>
              </a:rPr>
              <a:t>Think about it: who in this room would you like to know better?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Source: Layous et al., 2012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420"/>
                </a:solidFill>
                <a:latin typeface="Karla"/>
              </a:rPr>
              <a:t>SO WHY DON’T WE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E3436"/>
                </a:solidFill>
                <a:latin typeface="Libre Caslon Display"/>
              </a:rPr>
              <a:t>Why we hold 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700784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1847088"/>
            <a:ext cx="658368" cy="658368"/>
          </a:xfrm>
          <a:prstGeom prst="ellipse">
            <a:avLst/>
          </a:prstGeom>
          <a:solidFill>
            <a:srgbClr val="8A6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hu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984248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" y="261518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A6420"/>
                </a:solidFill>
                <a:latin typeface="Libre Caslon Display"/>
              </a:rPr>
              <a:t>It will be awkward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108960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It is usually far less awkward than we expect.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1700784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42816" y="1847088"/>
            <a:ext cx="658368" cy="658368"/>
          </a:xfrm>
          <a:prstGeom prst="ellipse">
            <a:avLst/>
          </a:prstGeom>
          <a:solidFill>
            <a:srgbClr val="8A6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1984248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02152" y="261518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A6420"/>
                </a:solidFill>
                <a:latin typeface="Libre Caslon Display"/>
              </a:rPr>
              <a:t>I will say it wrong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108960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People remember that you said it, not the exact words.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62472" y="1700784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31151" y="1847088"/>
            <a:ext cx="658368" cy="658368"/>
          </a:xfrm>
          <a:prstGeom prst="ellipse">
            <a:avLst/>
          </a:prstGeom>
          <a:solidFill>
            <a:srgbClr val="8A6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198424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90488" y="261518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A6420"/>
                </a:solidFill>
                <a:latin typeface="Libre Caslon Display"/>
              </a:rPr>
              <a:t>It is too small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3108960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The person getting it rates it bigger than you do.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93192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A6420"/>
                </a:solidFill>
                <a:latin typeface="Karla"/>
              </a:rPr>
              <a:t>And being kind gives the person doing it a small but real lift too.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Source: Curry et al., 2018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420"/>
                </a:solidFill>
                <a:latin typeface="Karla"/>
              </a:rPr>
              <a:t>IN FORM TIME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E3436"/>
                </a:solidFill>
                <a:latin typeface="Libre Caslon Display"/>
              </a:rPr>
              <a:t>Five minutes a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8A6420"/>
                </a:solidFill>
                <a:latin typeface="Karla"/>
              </a:rPr>
              <a:t>MONDAY</a:t>
            </a:r>
          </a:p>
        </p:txBody>
      </p:sp>
      <p:sp>
        <p:nvSpPr>
          <p:cNvPr id="7" name="Oval 6"/>
          <p:cNvSpPr/>
          <p:nvPr/>
        </p:nvSpPr>
        <p:spPr>
          <a:xfrm>
            <a:off x="956462" y="2221991"/>
            <a:ext cx="822960" cy="822960"/>
          </a:xfrm>
          <a:prstGeom prst="ellipse">
            <a:avLst/>
          </a:prstGeom>
          <a:solidFill>
            <a:srgbClr val="8A6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8" y="2395728"/>
            <a:ext cx="475488" cy="475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3200400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A6420"/>
                </a:solidFill>
                <a:latin typeface="Libre Caslon Display"/>
              </a:rPr>
              <a:t>Write a compliment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7828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7828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8A6420"/>
                </a:solidFill>
                <a:latin typeface="Karla"/>
              </a:rPr>
              <a:t>TUESDAY</a:t>
            </a:r>
          </a:p>
        </p:txBody>
      </p:sp>
      <p:sp>
        <p:nvSpPr>
          <p:cNvPr id="12" name="Oval 11"/>
          <p:cNvSpPr/>
          <p:nvPr/>
        </p:nvSpPr>
        <p:spPr>
          <a:xfrm>
            <a:off x="2558491" y="2221991"/>
            <a:ext cx="822960" cy="822960"/>
          </a:xfrm>
          <a:prstGeom prst="ellipse">
            <a:avLst/>
          </a:prstGeom>
          <a:solidFill>
            <a:srgbClr val="8A6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227" y="2395728"/>
            <a:ext cx="475488" cy="4754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15844" y="3200400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A6420"/>
                </a:solidFill>
                <a:latin typeface="Libre Caslon Display"/>
              </a:rPr>
              <a:t>Read yours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89857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9857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8A6420"/>
                </a:solidFill>
                <a:latin typeface="Karla"/>
              </a:rPr>
              <a:t>WEDNESDAY</a:t>
            </a:r>
          </a:p>
        </p:txBody>
      </p:sp>
      <p:sp>
        <p:nvSpPr>
          <p:cNvPr id="17" name="Oval 16"/>
          <p:cNvSpPr/>
          <p:nvPr/>
        </p:nvSpPr>
        <p:spPr>
          <a:xfrm>
            <a:off x="4160520" y="2221991"/>
            <a:ext cx="822960" cy="822960"/>
          </a:xfrm>
          <a:prstGeom prst="ellipse">
            <a:avLst/>
          </a:prstGeom>
          <a:solidFill>
            <a:srgbClr val="8A6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ost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4256" y="2395728"/>
            <a:ext cx="475488" cy="4754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017873" y="3200400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A6420"/>
                </a:solidFill>
                <a:latin typeface="Libre Caslon Display"/>
              </a:rPr>
              <a:t>Send a postcard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91886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91886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8A6420"/>
                </a:solidFill>
                <a:latin typeface="Karla"/>
              </a:rPr>
              <a:t>THURSDAY</a:t>
            </a:r>
          </a:p>
        </p:txBody>
      </p:sp>
      <p:sp>
        <p:nvSpPr>
          <p:cNvPr id="22" name="Oval 21"/>
          <p:cNvSpPr/>
          <p:nvPr/>
        </p:nvSpPr>
        <p:spPr>
          <a:xfrm>
            <a:off x="5762548" y="2221991"/>
            <a:ext cx="822960" cy="822960"/>
          </a:xfrm>
          <a:prstGeom prst="ellipse">
            <a:avLst/>
          </a:prstGeom>
          <a:solidFill>
            <a:srgbClr val="8A6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inno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6284" y="2395728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19902" y="3200400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A6420"/>
                </a:solidFill>
                <a:latin typeface="Libre Caslon Display"/>
              </a:rPr>
              <a:t>Write a shout-out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93915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3915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8A6420"/>
                </a:solidFill>
                <a:latin typeface="Karla"/>
              </a:rPr>
              <a:t>FRIDAY</a:t>
            </a:r>
          </a:p>
        </p:txBody>
      </p:sp>
      <p:sp>
        <p:nvSpPr>
          <p:cNvPr id="27" name="Oval 26"/>
          <p:cNvSpPr/>
          <p:nvPr/>
        </p:nvSpPr>
        <p:spPr>
          <a:xfrm>
            <a:off x="7364577" y="2221991"/>
            <a:ext cx="822960" cy="822960"/>
          </a:xfrm>
          <a:prstGeom prst="ellipse">
            <a:avLst/>
          </a:prstGeom>
          <a:solidFill>
            <a:srgbClr val="8A6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megapho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8313" y="2395728"/>
            <a:ext cx="475488" cy="47548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221931" y="3200400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A6420"/>
                </a:solidFill>
                <a:latin typeface="Libre Caslon Display"/>
              </a:rPr>
              <a:t>Shout-outs read 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A6420"/>
                </a:solidFill>
                <a:latin typeface="Karla"/>
              </a:rPr>
              <a:t>Friday is World Kindness Day.</a:t>
            </a:r>
          </a:p>
        </p:txBody>
      </p:sp>
      <p:pic>
        <p:nvPicPr>
          <p:cNvPr id="31" name="Picture 30" descr="logo-m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8A6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89888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What number did you pick</a:t>
            </a:r>
          </a:p>
          <a:p>
            <a:pPr algn="ctr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for the hot chocolate?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914400" cy="18288"/>
          </a:xfrm>
          <a:prstGeom prst="rect">
            <a:avLst/>
          </a:prstGeom>
          <a:solidFill>
            <a:srgbClr val="EAD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346704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EAD8AE"/>
                </a:solidFill>
                <a:latin typeface="Karla"/>
              </a:rPr>
              <a:t>The people who got one said 7 out of 10. Most of us guess too low, so this week, test it for yourself.</a:t>
            </a:r>
          </a:p>
        </p:txBody>
      </p:sp>
      <p:pic>
        <p:nvPicPr>
          <p:cNvPr id="6" name="Picture 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AD8AE"/>
                </a:solidFill>
                <a:latin typeface="Karla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AD8AE"/>
                </a:solidFill>
                <a:latin typeface="Karla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950976"/>
            <a:ext cx="633496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93392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8A6420"/>
                </a:solidFill>
                <a:latin typeface="Libre Caslon Display"/>
              </a:rPr>
              <a:t>Say the kind thing out loud.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871216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Karla"/>
              </a:rPr>
              <a:t>Anti-Bullying Week starts the Monday after World Kindness Day. If something is wrong, tell someone you trust.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03904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8B9179"/>
                </a:solidFill>
                <a:latin typeface="Karla"/>
              </a:rPr>
              <a:t>World Kindness Day  ·  An Assembly and a Week of Form Time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World Kindness Day: the assembly</dc:title>
  <dc:subject>A free assembly from The Pastoral Guide (thepastoralguide.com)</dc:subject>
  <dc:creator>The Pastoral Guide</dc:creator>
  <cp:keywords>world kindness day assembly, kindness assembly, secondary, form time</cp:keywords>
  <dc:description/>
  <cp:lastModifiedBy>The Pastoral Guide</cp:lastModifiedBy>
  <cp:revision>1</cp:revision>
  <dcterms:created xsi:type="dcterms:W3CDTF">2026-10-05T09:00:00Z</dcterms:created>
  <dcterms:modified xsi:type="dcterms:W3CDTF">2026-10-05T09:00:00Z</dcterms:modified>
  <cp:category/>
</cp:coreProperties>
</file>