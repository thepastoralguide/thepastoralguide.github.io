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29184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MORNING REGISTRATION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03504"/>
            <a:ext cx="12191695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B5502F"/>
                </a:solidFill>
                <a:latin typeface="Libre Caslon Display"/>
              </a:rPr>
              <a:t>The Opinion 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35727" y="1408176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35727" y="1490472"/>
            <a:ext cx="19202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spc="100">
                <a:solidFill>
                  <a:srgbClr val="FFFDF7"/>
                </a:solidFill>
                <a:latin typeface="Karla"/>
              </a:rPr>
              <a:t>VOLUME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56816"/>
            <a:ext cx="9966960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>
                <a:solidFill>
                  <a:srgbClr val="8F3F24"/>
                </a:solidFill>
                <a:latin typeface="Karla"/>
              </a:rPr>
              <a:t>Where you stand is your answer, and you can move if you change your mind.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ol-sig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132" y="2743200"/>
            <a:ext cx="713232" cy="713232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2702052" y="3246120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02052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Two signs go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Agree at one end of the room and disagree at the other.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71416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on-ol-stat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59" y="2743200"/>
            <a:ext cx="713232" cy="71323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240779" y="3246120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0779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A statement goes 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4296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One statement on the board, and there is no right answer to 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0144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on-ol-st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6588" y="2743200"/>
            <a:ext cx="713232" cy="713232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9779508" y="3246120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79508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4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Everyone picks a spot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3023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Stand anywhere between the two signs, then two or three people say why.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10128" y="4956048"/>
            <a:ext cx="5568696" cy="1005840"/>
          </a:xfrm>
          <a:prstGeom prst="roundRect">
            <a:avLst>
              <a:gd name="adj" fmla="val 10909"/>
            </a:avLst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8728" y="5029200"/>
            <a:ext cx="5111496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FFFDF7"/>
                </a:solidFill>
                <a:latin typeface="Libre Caslon Display"/>
              </a:rPr>
              <a:t>“Hard work matters more than talent.”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38728" y="5559552"/>
            <a:ext cx="511149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ECCFC4"/>
                </a:solidFill>
                <a:latin typeface="Karla"/>
              </a:rPr>
              <a:t>The first of five statements in these slides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6089904"/>
            <a:ext cx="103327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C0876C"/>
                </a:solidFill>
                <a:latin typeface="Karla"/>
              </a:rPr>
              <a:t>Needs: the two signs from the resource pack, on walls at opposite ends of the room.</a:t>
            </a:r>
          </a:p>
        </p:txBody>
      </p:sp>
      <p:pic>
        <p:nvPicPr>
          <p:cNvPr id="30" name="Picture 29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VOLUME ONE  ·  STATEMENT 1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Hard work matters more than talent.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VOLUME ONE  ·  STATEMENT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Everyone in a group project should get the same mark.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VOLUME ONE  ·  STATEMENT 3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You should always tell a friend the truth, even when it will upset them.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VOLUME ONE  ·  STATEMENT 4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It is better to be liked than to be respected.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  ·  VOLUME ONE  ·  STATEMENT 5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463040"/>
            <a:ext cx="9354312" cy="2377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B5502F"/>
                </a:solidFill>
                <a:latin typeface="Libre Caslon Display"/>
              </a:rPr>
              <a:t>People can change.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4069080"/>
            <a:ext cx="7982712" cy="32004"/>
          </a:xfrm>
          <a:prstGeom prst="roundRect">
            <a:avLst>
              <a:gd name="adj" fmla="val 48571"/>
            </a:avLst>
          </a:prstGeom>
          <a:solidFill>
            <a:srgbClr val="EC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40111" y="4027932"/>
            <a:ext cx="118872" cy="118872"/>
          </a:xfrm>
          <a:prstGeom prst="ellipse">
            <a:avLst/>
          </a:prstGeom>
          <a:solidFill>
            <a:srgbClr val="B85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spc="140">
                <a:solidFill>
                  <a:srgbClr val="B85B3C"/>
                </a:solidFill>
                <a:latin typeface="Karla"/>
              </a:rPr>
              <a:t>AGREE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8351" y="4251960"/>
            <a:ext cx="27432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spc="140">
                <a:solidFill>
                  <a:srgbClr val="B85B3C"/>
                </a:solidFill>
                <a:latin typeface="Karla"/>
              </a:rPr>
              <a:t>DISAGREE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8F3F24"/>
                </a:solidFill>
                <a:latin typeface="Karla"/>
              </a:rPr>
              <a:t>Stand anywhere between the two signs. The middle counts.</a:t>
            </a:r>
          </a:p>
        </p:txBody>
      </p:sp>
      <p:pic>
        <p:nvPicPr>
          <p:cNvPr id="12" name="Picture 11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B85B3C"/>
                </a:solidFill>
                <a:latin typeface="Karla"/>
              </a:rPr>
              <a:t>THE OPINION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58368"/>
            <a:ext cx="12191695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B5502F"/>
                </a:solidFill>
                <a:latin typeface="Libre Caslon Display"/>
              </a:rPr>
              <a:t>Your statement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17904"/>
            <a:ext cx="9966960" cy="6583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8F3F24"/>
                </a:solidFill>
                <a:latin typeface="Karla"/>
              </a:rPr>
              <a:t>Five statements in these slides, and five more in the resource pack.</a:t>
            </a:r>
            <a:br/>
            <a:r>
              <a:rPr sz="1700" b="0">
                <a:solidFill>
                  <a:srgbClr val="8F3F24"/>
                </a:solidFill>
                <a:latin typeface="Karla"/>
              </a:rPr>
              <a:t>After those, they come from you.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2688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-ol-id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132" y="2432304"/>
            <a:ext cx="713232" cy="713232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2702052" y="2935224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02052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Think of a statement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Something this form would really disagree about.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1416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ol-bal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59" y="2432304"/>
            <a:ext cx="713232" cy="713232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240779" y="2935224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0779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576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Check both ends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4296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If everybody agrees, it is a fact rather than a statement.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B5502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ol-se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6588" y="2432304"/>
            <a:ext cx="713232" cy="713232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9779508" y="2935224"/>
            <a:ext cx="310896" cy="310896"/>
          </a:xfrm>
          <a:prstGeom prst="ellipse">
            <a:avLst/>
          </a:prstGeom>
          <a:solidFill>
            <a:srgbClr val="B55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79508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47304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5502F"/>
                </a:solidFill>
                <a:latin typeface="Karla"/>
              </a:rPr>
              <a:t>Bring it to your tutor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8F3F24"/>
                </a:solidFill>
                <a:latin typeface="Karla"/>
              </a:rPr>
              <a:t>One of them goes up on the board the next morning.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0">
                <a:solidFill>
                  <a:srgbClr val="B5502F"/>
                </a:solidFill>
                <a:latin typeface="Libre Caslon Display"/>
              </a:rPr>
              <a:t>The best statements are the ones you are not sure about yourself.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6053328"/>
            <a:ext cx="103327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C0876C"/>
                </a:solidFill>
                <a:latin typeface="Karla"/>
              </a:rPr>
              <a:t>Needs: nothing new. Five more statements are in the resource pack.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0876C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