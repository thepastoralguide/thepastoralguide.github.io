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4A7331"/>
                </a:solidFill>
                <a:latin typeface="Karla"/>
              </a:rPr>
              <a:t>MORNING REGISTRATION ACTIVITIES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21792"/>
            <a:ext cx="77724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4A7331"/>
                </a:solidFill>
                <a:latin typeface="Libre Caslon Display"/>
              </a:rPr>
              <a:t>Questions to Ask at an Open Day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02774" y="1188720"/>
            <a:ext cx="1538451" cy="237744"/>
          </a:xfrm>
          <a:prstGeom prst="roundRect">
            <a:avLst>
              <a:gd name="adj" fmla="val 50000"/>
            </a:avLst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YEAR 12 AND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1790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Karla"/>
              </a:rPr>
              <a:t>Open day questions, one kind a morning, and a sheet to take with you.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83664"/>
            <a:ext cx="2395728" cy="2066543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54480" y="2029968"/>
            <a:ext cx="658368" cy="658368"/>
          </a:xfrm>
          <a:prstGeom prst="ellipse">
            <a:avLst/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skbub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2167128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3816" y="2798064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4A7331"/>
                </a:solidFill>
                <a:latin typeface="Libre Caslon Display"/>
              </a:rPr>
              <a:t>One kind of question a morning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291840"/>
            <a:ext cx="206654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The course, the teaching, the people, the money, and what could go wrong.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4136" y="1883664"/>
            <a:ext cx="2395728" cy="2066543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42816" y="2029968"/>
            <a:ext cx="658368" cy="658368"/>
          </a:xfrm>
          <a:prstGeom prst="ellipse">
            <a:avLst/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wopeo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2167128"/>
            <a:ext cx="384048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02152" y="2798064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4A7331"/>
                </a:solidFill>
                <a:latin typeface="Libre Caslon Display"/>
              </a:rPr>
              <a:t>The form adds its own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3291840"/>
            <a:ext cx="206654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Two or three from the room go on the board and onto the sheet.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62472" y="1883664"/>
            <a:ext cx="2395728" cy="2066543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931151" y="2029968"/>
            <a:ext cx="658368" cy="658368"/>
          </a:xfrm>
          <a:prstGeom prst="ellipse">
            <a:avLst/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a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167128"/>
            <a:ext cx="384048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190488" y="2798064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4A7331"/>
                </a:solidFill>
                <a:latin typeface="Libre Caslon Display"/>
              </a:rPr>
              <a:t>The sheet goes in the bag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7064" y="3291840"/>
            <a:ext cx="206654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Fifteen questions, the form’s own underneath, and a line for each answer.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8B9179"/>
                </a:solidFill>
                <a:latin typeface="Karla"/>
              </a:rPr>
              <a:t>Needs: the open day sheet from the resource pack, one per student, and a pen.</a:t>
            </a:r>
          </a:p>
        </p:txBody>
      </p:sp>
      <p:pic>
        <p:nvPicPr>
          <p:cNvPr id="23" name="Picture 22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 /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4A7331"/>
                </a:solidFill>
                <a:latin typeface="Karla"/>
              </a:rPr>
              <a:t>QUESTIONS TO ASK AT AN OPEN DAY  ·  MORNING 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841248"/>
            <a:ext cx="7772400" cy="3017520"/>
          </a:xfrm>
          <a:prstGeom prst="roundRect">
            <a:avLst>
              <a:gd name="adj" fmla="val 6000"/>
            </a:avLst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7772400" cy="54864"/>
          </a:xfrm>
          <a:prstGeom prst="rect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115568"/>
            <a:ext cx="7040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4A7331"/>
                </a:solidFill>
                <a:latin typeface="Libre Caslon Display"/>
              </a:rPr>
              <a:t>About the course</a:t>
            </a:r>
          </a:p>
        </p:txBody>
      </p:sp>
      <p:sp>
        <p:nvSpPr>
          <p:cNvPr id="7" name="Oval 6"/>
          <p:cNvSpPr/>
          <p:nvPr/>
        </p:nvSpPr>
        <p:spPr>
          <a:xfrm>
            <a:off x="1106424" y="1883664"/>
            <a:ext cx="109728" cy="109728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99032" y="1810512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How is it assessed, and how much of that is exams?</a:t>
            </a:r>
          </a:p>
        </p:txBody>
      </p:sp>
      <p:sp>
        <p:nvSpPr>
          <p:cNvPr id="9" name="Oval 8"/>
          <p:cNvSpPr/>
          <p:nvPr/>
        </p:nvSpPr>
        <p:spPr>
          <a:xfrm>
            <a:off x="1106424" y="2277618"/>
            <a:ext cx="109728" cy="109728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9032" y="2204466"/>
            <a:ext cx="658368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How much of the teaching is in small groups rather than lectures?</a:t>
            </a:r>
          </a:p>
        </p:txBody>
      </p:sp>
      <p:sp>
        <p:nvSpPr>
          <p:cNvPr id="11" name="Oval 10"/>
          <p:cNvSpPr/>
          <p:nvPr/>
        </p:nvSpPr>
        <p:spPr>
          <a:xfrm>
            <a:off x="1106424" y="2919222"/>
            <a:ext cx="109728" cy="109728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9032" y="2846070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What did the students who finished last year go on to do?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04164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Add one of your own. The best question is the one you actually want the answer to.</a:t>
            </a:r>
          </a:p>
        </p:txBody>
      </p:sp>
      <p:pic>
        <p:nvPicPr>
          <p:cNvPr id="14" name="Picture 1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4A7331"/>
                </a:solidFill>
                <a:latin typeface="Karla"/>
              </a:rPr>
              <a:t>QUESTIONS TO ASK AT AN OPEN DAY  ·  MORNING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841248"/>
            <a:ext cx="7772400" cy="3017520"/>
          </a:xfrm>
          <a:prstGeom prst="roundRect">
            <a:avLst>
              <a:gd name="adj" fmla="val 6000"/>
            </a:avLst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7772400" cy="54864"/>
          </a:xfrm>
          <a:prstGeom prst="rect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115568"/>
            <a:ext cx="7040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4A7331"/>
                </a:solidFill>
                <a:latin typeface="Libre Caslon Display"/>
              </a:rPr>
              <a:t>About the teaching</a:t>
            </a:r>
          </a:p>
        </p:txBody>
      </p:sp>
      <p:sp>
        <p:nvSpPr>
          <p:cNvPr id="7" name="Oval 6"/>
          <p:cNvSpPr/>
          <p:nvPr/>
        </p:nvSpPr>
        <p:spPr>
          <a:xfrm>
            <a:off x="1106424" y="1883664"/>
            <a:ext cx="109728" cy="109728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99032" y="1810512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Who teaches first years: lecturers, or postgraduate students?</a:t>
            </a:r>
          </a:p>
        </p:txBody>
      </p:sp>
      <p:sp>
        <p:nvSpPr>
          <p:cNvPr id="9" name="Oval 8"/>
          <p:cNvSpPr/>
          <p:nvPr/>
        </p:nvSpPr>
        <p:spPr>
          <a:xfrm>
            <a:off x="1106424" y="2277618"/>
            <a:ext cx="109728" cy="109728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9032" y="2204466"/>
            <a:ext cx="658368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How much of the week is timetabled, and what am I expected to do with the rest?</a:t>
            </a:r>
          </a:p>
        </p:txBody>
      </p:sp>
      <p:sp>
        <p:nvSpPr>
          <p:cNvPr id="11" name="Oval 10"/>
          <p:cNvSpPr/>
          <p:nvPr/>
        </p:nvSpPr>
        <p:spPr>
          <a:xfrm>
            <a:off x="1106424" y="2919222"/>
            <a:ext cx="109728" cy="109728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9032" y="2846070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What would I actually be doing in week three of the first term?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04164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Add one of your own. The best question is the one you actually want the answer to.</a:t>
            </a:r>
          </a:p>
        </p:txBody>
      </p:sp>
      <p:pic>
        <p:nvPicPr>
          <p:cNvPr id="14" name="Picture 1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4A7331"/>
                </a:solidFill>
                <a:latin typeface="Karla"/>
              </a:rPr>
              <a:t>QUESTIONS TO ASK AT AN OPEN DAY  ·  MORNING 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841248"/>
            <a:ext cx="7772400" cy="3017520"/>
          </a:xfrm>
          <a:prstGeom prst="roundRect">
            <a:avLst>
              <a:gd name="adj" fmla="val 6000"/>
            </a:avLst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7772400" cy="54864"/>
          </a:xfrm>
          <a:prstGeom prst="rect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115568"/>
            <a:ext cx="7040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4A7331"/>
                </a:solidFill>
                <a:latin typeface="Libre Caslon Display"/>
              </a:rPr>
              <a:t>About the people</a:t>
            </a:r>
          </a:p>
        </p:txBody>
      </p:sp>
      <p:sp>
        <p:nvSpPr>
          <p:cNvPr id="7" name="Oval 6"/>
          <p:cNvSpPr/>
          <p:nvPr/>
        </p:nvSpPr>
        <p:spPr>
          <a:xfrm>
            <a:off x="1106424" y="1883664"/>
            <a:ext cx="109728" cy="109728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99032" y="1810512"/>
            <a:ext cx="658368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Who do I go to if I am struggling, with the work or with anything else?</a:t>
            </a:r>
          </a:p>
        </p:txBody>
      </p:sp>
      <p:sp>
        <p:nvSpPr>
          <p:cNvPr id="9" name="Oval 8"/>
          <p:cNvSpPr/>
          <p:nvPr/>
        </p:nvSpPr>
        <p:spPr>
          <a:xfrm>
            <a:off x="1106424" y="2525268"/>
            <a:ext cx="109728" cy="109728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9032" y="2452116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How many people are on the course, and how many in a seminar?</a:t>
            </a:r>
          </a:p>
        </p:txBody>
      </p:sp>
      <p:sp>
        <p:nvSpPr>
          <p:cNvPr id="11" name="Oval 10"/>
          <p:cNvSpPr/>
          <p:nvPr/>
        </p:nvSpPr>
        <p:spPr>
          <a:xfrm>
            <a:off x="1106424" y="2919222"/>
            <a:ext cx="109728" cy="109728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9032" y="2846070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What do students who are not into the nightlife do here?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04164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Add one of your own. The best question is the one you actually want the answer to.</a:t>
            </a:r>
          </a:p>
        </p:txBody>
      </p:sp>
      <p:pic>
        <p:nvPicPr>
          <p:cNvPr id="14" name="Picture 1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4A7331"/>
                </a:solidFill>
                <a:latin typeface="Karla"/>
              </a:rPr>
              <a:t>QUESTIONS TO ASK AT AN OPEN DAY  ·  MORNING 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841248"/>
            <a:ext cx="7772400" cy="3017520"/>
          </a:xfrm>
          <a:prstGeom prst="roundRect">
            <a:avLst>
              <a:gd name="adj" fmla="val 6000"/>
            </a:avLst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7772400" cy="54864"/>
          </a:xfrm>
          <a:prstGeom prst="rect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115568"/>
            <a:ext cx="7040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4A7331"/>
                </a:solidFill>
                <a:latin typeface="Libre Caslon Display"/>
              </a:rPr>
              <a:t>About money and living</a:t>
            </a:r>
          </a:p>
        </p:txBody>
      </p:sp>
      <p:sp>
        <p:nvSpPr>
          <p:cNvPr id="7" name="Oval 6"/>
          <p:cNvSpPr/>
          <p:nvPr/>
        </p:nvSpPr>
        <p:spPr>
          <a:xfrm>
            <a:off x="1106424" y="1883664"/>
            <a:ext cx="109728" cy="109728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99032" y="1810512"/>
            <a:ext cx="658368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What does accommodation cost, and is a place guaranteed in the first year?</a:t>
            </a:r>
          </a:p>
        </p:txBody>
      </p:sp>
      <p:sp>
        <p:nvSpPr>
          <p:cNvPr id="9" name="Oval 8"/>
          <p:cNvSpPr/>
          <p:nvPr/>
        </p:nvSpPr>
        <p:spPr>
          <a:xfrm>
            <a:off x="1106424" y="2525268"/>
            <a:ext cx="109728" cy="109728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9032" y="2452116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What bursaries or scholarships are there, and how do I apply?</a:t>
            </a:r>
          </a:p>
        </p:txBody>
      </p:sp>
      <p:sp>
        <p:nvSpPr>
          <p:cNvPr id="11" name="Oval 10"/>
          <p:cNvSpPr/>
          <p:nvPr/>
        </p:nvSpPr>
        <p:spPr>
          <a:xfrm>
            <a:off x="1106424" y="2919222"/>
            <a:ext cx="109728" cy="109728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9032" y="2846070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Do students work part-time alongside the course, and does it fit?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04164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Add one of your own. The best question is the one you actually want the answer to.</a:t>
            </a:r>
          </a:p>
        </p:txBody>
      </p:sp>
      <p:pic>
        <p:nvPicPr>
          <p:cNvPr id="14" name="Picture 1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4A7331"/>
                </a:solidFill>
                <a:latin typeface="Karla"/>
              </a:rPr>
              <a:t>QUESTIONS TO ASK AT AN OPEN DAY  ·  MORNING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841248"/>
            <a:ext cx="7772400" cy="3017520"/>
          </a:xfrm>
          <a:prstGeom prst="roundRect">
            <a:avLst>
              <a:gd name="adj" fmla="val 6000"/>
            </a:avLst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7772400" cy="54864"/>
          </a:xfrm>
          <a:prstGeom prst="rect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115568"/>
            <a:ext cx="7040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4A7331"/>
                </a:solidFill>
                <a:latin typeface="Libre Caslon Display"/>
              </a:rPr>
              <a:t>If it goes wrong</a:t>
            </a:r>
          </a:p>
        </p:txBody>
      </p:sp>
      <p:sp>
        <p:nvSpPr>
          <p:cNvPr id="7" name="Oval 6"/>
          <p:cNvSpPr/>
          <p:nvPr/>
        </p:nvSpPr>
        <p:spPr>
          <a:xfrm>
            <a:off x="1106424" y="1883664"/>
            <a:ext cx="109728" cy="109728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99032" y="1810512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Can I change course, and until when?</a:t>
            </a:r>
          </a:p>
        </p:txBody>
      </p:sp>
      <p:sp>
        <p:nvSpPr>
          <p:cNvPr id="9" name="Oval 8"/>
          <p:cNvSpPr/>
          <p:nvPr/>
        </p:nvSpPr>
        <p:spPr>
          <a:xfrm>
            <a:off x="1106424" y="2277618"/>
            <a:ext cx="109728" cy="109728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9032" y="2204466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What happens if I miss the grades in my offer?</a:t>
            </a:r>
          </a:p>
        </p:txBody>
      </p:sp>
      <p:sp>
        <p:nvSpPr>
          <p:cNvPr id="11" name="Oval 10"/>
          <p:cNvSpPr/>
          <p:nvPr/>
        </p:nvSpPr>
        <p:spPr>
          <a:xfrm>
            <a:off x="1106424" y="2671572"/>
            <a:ext cx="109728" cy="109728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9032" y="2598420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If I am not happy by Christmas, what are my options?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04164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Add one of your own. The best question is the one you actually want the answer to.</a:t>
            </a:r>
          </a:p>
        </p:txBody>
      </p:sp>
      <p:pic>
        <p:nvPicPr>
          <p:cNvPr id="14" name="Picture 1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4A7331"/>
                </a:solidFill>
                <a:latin typeface="Karla"/>
              </a:rPr>
              <a:t>QUESTIONS TO ASK AT AN OPEN DAY  ·  THE WEEK AFTER</a:t>
            </a:r>
          </a:p>
        </p:txBody>
      </p:sp>
      <p:pic>
        <p:nvPicPr>
          <p:cNvPr id="4" name="Picture 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5251" y="822960"/>
            <a:ext cx="633496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755648"/>
            <a:ext cx="8046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4A7331"/>
                </a:solidFill>
                <a:latin typeface="Libre Caslon Display"/>
              </a:rPr>
              <a:t>What did you find out?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560320"/>
            <a:ext cx="6766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5C6552"/>
                </a:solidFill>
                <a:latin typeface="Karla"/>
              </a:rPr>
              <a:t>Bring the sheet back. Which answer changed your mind about a place, and which question did nobody answer properly?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39312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B9179"/>
                </a:solidFill>
                <a:latin typeface="Karla"/>
              </a:rPr>
              <a:t>An unanswered question is worth asking somewhere else, or of a different university.</a:t>
            </a:r>
          </a:p>
        </p:txBody>
      </p:sp>
      <p:pic>
        <p:nvPicPr>
          <p:cNvPr id="8" name="Picture 7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7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