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ctr">
              <a:lnSpc>
                <a:spcPct val="125000"/>
              </a:lnSpc>
              <a:spcAft>
                <a:spcPts val="0"/>
              </a:spcAft>
            </a:pPr>
            <a:r>
              <a:rPr sz="1000" b="1" i="0" spc="160">
                <a:solidFill>
                  <a:srgbClr val="974F16"/>
                </a:solidFill>
                <a:latin typeface="Calibri"/>
              </a:rPr>
              <a:t>MORNING REGISTRATION ACTIVITIES</a:t>
            </a:r>
          </a:p>
        </p:txBody>
      </p:sp>
      <p:sp>
        <p:nvSpPr>
          <p:cNvPr id="4" name="TextBox 3"/>
          <p:cNvSpPr txBox="1"/>
          <p:nvPr/>
        </p:nvSpPr>
        <p:spPr>
          <a:xfrm>
            <a:off x="685800" y="621792"/>
            <a:ext cx="7772400" cy="548640"/>
          </a:xfrm>
          <a:prstGeom prst="rect">
            <a:avLst/>
          </a:prstGeom>
          <a:noFill/>
        </p:spPr>
        <p:txBody>
          <a:bodyPr wrap="square" anchor="t" lIns="0" rIns="0" tIns="0" bIns="0">
            <a:spAutoFit/>
          </a:bodyPr>
          <a:lstStyle/>
          <a:p>
            <a:pPr algn="ctr">
              <a:lnSpc>
                <a:spcPct val="105000"/>
              </a:lnSpc>
              <a:spcAft>
                <a:spcPts val="0"/>
              </a:spcAft>
            </a:pPr>
            <a:r>
              <a:rPr sz="3000" b="0" i="0">
                <a:solidFill>
                  <a:srgbClr val="974F16"/>
                </a:solidFill>
                <a:latin typeface="Georgia"/>
              </a:rPr>
              <a:t>The Form Time Quiz</a:t>
            </a:r>
          </a:p>
        </p:txBody>
      </p:sp>
      <p:sp>
        <p:nvSpPr>
          <p:cNvPr id="5" name="Rounded Rectangle 4"/>
          <p:cNvSpPr/>
          <p:nvPr/>
        </p:nvSpPr>
        <p:spPr>
          <a:xfrm>
            <a:off x="3186741" y="1243584"/>
            <a:ext cx="2770516" cy="237744"/>
          </a:xfrm>
          <a:prstGeom prst="roundRect">
            <a:avLst>
              <a:gd name="adj" fmla="val 50000"/>
            </a:avLst>
          </a:prstGeom>
          <a:solidFill>
            <a:srgbClr val="974F1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spc="90">
                <a:solidFill>
                  <a:srgbClr val="FFFDF7"/>
                </a:solidFill>
                <a:latin typeface="Calibri"/>
              </a:rPr>
              <a:t>VOLUME ONE  ·  YEAR 10 AND 11</a:t>
            </a:r>
          </a:p>
        </p:txBody>
      </p:sp>
      <p:sp>
        <p:nvSpPr>
          <p:cNvPr id="6" name="TextBox 5"/>
          <p:cNvSpPr txBox="1"/>
          <p:nvPr/>
        </p:nvSpPr>
        <p:spPr>
          <a:xfrm>
            <a:off x="914400" y="1572768"/>
            <a:ext cx="7315200" cy="310896"/>
          </a:xfrm>
          <a:prstGeom prst="rect">
            <a:avLst/>
          </a:prstGeom>
          <a:noFill/>
        </p:spPr>
        <p:txBody>
          <a:bodyPr wrap="square" anchor="t" lIns="0" rIns="0" tIns="0" bIns="0">
            <a:spAutoFit/>
          </a:bodyPr>
          <a:lstStyle/>
          <a:p>
            <a:pPr algn="ctr">
              <a:lnSpc>
                <a:spcPct val="125000"/>
              </a:lnSpc>
              <a:spcAft>
                <a:spcPts val="0"/>
              </a:spcAft>
            </a:pPr>
            <a:r>
              <a:rPr sz="1300" b="0" i="0">
                <a:solidFill>
                  <a:srgbClr val="5C6552"/>
                </a:solidFill>
                <a:latin typeface="Calibri"/>
              </a:rPr>
              <a:t>Ten questions: six on how revision works, then four of general knowledge.</a:t>
            </a:r>
          </a:p>
        </p:txBody>
      </p:sp>
      <p:sp>
        <p:nvSpPr>
          <p:cNvPr id="7" name="Rectangle 6"/>
          <p:cNvSpPr/>
          <p:nvPr/>
        </p:nvSpPr>
        <p:spPr>
          <a:xfrm>
            <a:off x="685800" y="1938528"/>
            <a:ext cx="2395728" cy="201168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554480" y="2084832"/>
            <a:ext cx="658368" cy="658368"/>
          </a:xfrm>
          <a:prstGeom prst="ellipse">
            <a:avLst/>
          </a:prstGeom>
          <a:solidFill>
            <a:srgbClr val="974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twopeople.png"/>
          <p:cNvPicPr>
            <a:picLocks noChangeAspect="1"/>
          </p:cNvPicPr>
          <p:nvPr/>
        </p:nvPicPr>
        <p:blipFill>
          <a:blip r:embed="rId2"/>
          <a:stretch>
            <a:fillRect/>
          </a:stretch>
        </p:blipFill>
        <p:spPr>
          <a:xfrm>
            <a:off x="1691640" y="2221992"/>
            <a:ext cx="384048" cy="384048"/>
          </a:xfrm>
          <a:prstGeom prst="rect">
            <a:avLst/>
          </a:prstGeom>
        </p:spPr>
      </p:pic>
      <p:sp>
        <p:nvSpPr>
          <p:cNvPr id="10" name="TextBox 9"/>
          <p:cNvSpPr txBox="1"/>
          <p:nvPr/>
        </p:nvSpPr>
        <p:spPr>
          <a:xfrm>
            <a:off x="813816" y="2852928"/>
            <a:ext cx="2139696" cy="475488"/>
          </a:xfrm>
          <a:prstGeom prst="rect">
            <a:avLst/>
          </a:prstGeom>
          <a:noFill/>
        </p:spPr>
        <p:txBody>
          <a:bodyPr wrap="square" anchor="t" lIns="0" rIns="0" tIns="0" bIns="0">
            <a:spAutoFit/>
          </a:bodyPr>
          <a:lstStyle/>
          <a:p>
            <a:pPr algn="ctr">
              <a:lnSpc>
                <a:spcPct val="125000"/>
              </a:lnSpc>
              <a:spcAft>
                <a:spcPts val="0"/>
              </a:spcAft>
            </a:pPr>
            <a:r>
              <a:rPr sz="1350" b="0" i="0">
                <a:solidFill>
                  <a:srgbClr val="974F16"/>
                </a:solidFill>
                <a:latin typeface="Georgia"/>
              </a:rPr>
              <a:t>Get into teams</a:t>
            </a:r>
          </a:p>
        </p:txBody>
      </p:sp>
      <p:sp>
        <p:nvSpPr>
          <p:cNvPr id="11" name="TextBox 10"/>
          <p:cNvSpPr txBox="1"/>
          <p:nvPr/>
        </p:nvSpPr>
        <p:spPr>
          <a:xfrm>
            <a:off x="850392" y="3346704"/>
            <a:ext cx="2066544" cy="493776"/>
          </a:xfrm>
          <a:prstGeom prst="rect">
            <a:avLst/>
          </a:prstGeom>
          <a:noFill/>
        </p:spPr>
        <p:txBody>
          <a:bodyPr wrap="square" anchor="t" lIns="0" rIns="0" tIns="0" bIns="0">
            <a:spAutoFit/>
          </a:bodyPr>
          <a:lstStyle/>
          <a:p>
            <a:pPr algn="ctr">
              <a:lnSpc>
                <a:spcPct val="125000"/>
              </a:lnSpc>
              <a:spcAft>
                <a:spcPts val="0"/>
              </a:spcAft>
            </a:pPr>
            <a:r>
              <a:rPr sz="1050" b="0" i="0">
                <a:solidFill>
                  <a:srgbClr val="5C6552"/>
                </a:solidFill>
                <a:latin typeface="Calibri"/>
              </a:rPr>
              <a:t>Three or four to a team, with one answer sheet between you.</a:t>
            </a:r>
          </a:p>
        </p:txBody>
      </p:sp>
      <p:sp>
        <p:nvSpPr>
          <p:cNvPr id="12" name="Rectangle 11"/>
          <p:cNvSpPr/>
          <p:nvPr/>
        </p:nvSpPr>
        <p:spPr>
          <a:xfrm>
            <a:off x="3374136" y="1938528"/>
            <a:ext cx="2395728" cy="201168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242816" y="2084832"/>
            <a:ext cx="658368" cy="658368"/>
          </a:xfrm>
          <a:prstGeom prst="ellipse">
            <a:avLst/>
          </a:prstGeom>
          <a:solidFill>
            <a:srgbClr val="974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pen.png"/>
          <p:cNvPicPr>
            <a:picLocks noChangeAspect="1"/>
          </p:cNvPicPr>
          <p:nvPr/>
        </p:nvPicPr>
        <p:blipFill>
          <a:blip r:embed="rId3"/>
          <a:stretch>
            <a:fillRect/>
          </a:stretch>
        </p:blipFill>
        <p:spPr>
          <a:xfrm>
            <a:off x="4379976" y="2221992"/>
            <a:ext cx="384048" cy="384048"/>
          </a:xfrm>
          <a:prstGeom prst="rect">
            <a:avLst/>
          </a:prstGeom>
        </p:spPr>
      </p:pic>
      <p:sp>
        <p:nvSpPr>
          <p:cNvPr id="15" name="TextBox 14"/>
          <p:cNvSpPr txBox="1"/>
          <p:nvPr/>
        </p:nvSpPr>
        <p:spPr>
          <a:xfrm>
            <a:off x="3502152" y="2852928"/>
            <a:ext cx="2139696" cy="475488"/>
          </a:xfrm>
          <a:prstGeom prst="rect">
            <a:avLst/>
          </a:prstGeom>
          <a:noFill/>
        </p:spPr>
        <p:txBody>
          <a:bodyPr wrap="square" anchor="t" lIns="0" rIns="0" tIns="0" bIns="0">
            <a:spAutoFit/>
          </a:bodyPr>
          <a:lstStyle/>
          <a:p>
            <a:pPr algn="ctr">
              <a:lnSpc>
                <a:spcPct val="125000"/>
              </a:lnSpc>
              <a:spcAft>
                <a:spcPts val="0"/>
              </a:spcAft>
            </a:pPr>
            <a:r>
              <a:rPr sz="1350" b="0" i="0">
                <a:solidFill>
                  <a:srgbClr val="974F16"/>
                </a:solidFill>
                <a:latin typeface="Georgia"/>
              </a:rPr>
              <a:t>Answer together</a:t>
            </a:r>
          </a:p>
        </p:txBody>
      </p:sp>
      <p:sp>
        <p:nvSpPr>
          <p:cNvPr id="16" name="TextBox 15"/>
          <p:cNvSpPr txBox="1"/>
          <p:nvPr/>
        </p:nvSpPr>
        <p:spPr>
          <a:xfrm>
            <a:off x="3538728" y="3346704"/>
            <a:ext cx="2066544" cy="493776"/>
          </a:xfrm>
          <a:prstGeom prst="rect">
            <a:avLst/>
          </a:prstGeom>
          <a:noFill/>
        </p:spPr>
        <p:txBody>
          <a:bodyPr wrap="square" anchor="t" lIns="0" rIns="0" tIns="0" bIns="0">
            <a:spAutoFit/>
          </a:bodyPr>
          <a:lstStyle/>
          <a:p>
            <a:pPr algn="ctr">
              <a:lnSpc>
                <a:spcPct val="125000"/>
              </a:lnSpc>
              <a:spcAft>
                <a:spcPts val="0"/>
              </a:spcAft>
            </a:pPr>
            <a:r>
              <a:rPr sz="1050" b="0" i="0">
                <a:solidFill>
                  <a:srgbClr val="5C6552"/>
                </a:solidFill>
                <a:latin typeface="Calibri"/>
              </a:rPr>
              <a:t>Each question goes up on the board. Agree an answer, then write it down.</a:t>
            </a:r>
          </a:p>
        </p:txBody>
      </p:sp>
      <p:sp>
        <p:nvSpPr>
          <p:cNvPr id="17" name="Rectangle 16"/>
          <p:cNvSpPr/>
          <p:nvPr/>
        </p:nvSpPr>
        <p:spPr>
          <a:xfrm>
            <a:off x="6062472" y="1938528"/>
            <a:ext cx="2395728" cy="201168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931151" y="2084832"/>
            <a:ext cx="658368" cy="658368"/>
          </a:xfrm>
          <a:prstGeom prst="ellipse">
            <a:avLst/>
          </a:prstGeom>
          <a:solidFill>
            <a:srgbClr val="974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swap.png"/>
          <p:cNvPicPr>
            <a:picLocks noChangeAspect="1"/>
          </p:cNvPicPr>
          <p:nvPr/>
        </p:nvPicPr>
        <p:blipFill>
          <a:blip r:embed="rId4"/>
          <a:stretch>
            <a:fillRect/>
          </a:stretch>
        </p:blipFill>
        <p:spPr>
          <a:xfrm>
            <a:off x="7068312" y="2221992"/>
            <a:ext cx="384048" cy="384048"/>
          </a:xfrm>
          <a:prstGeom prst="rect">
            <a:avLst/>
          </a:prstGeom>
        </p:spPr>
      </p:pic>
      <p:sp>
        <p:nvSpPr>
          <p:cNvPr id="20" name="TextBox 19"/>
          <p:cNvSpPr txBox="1"/>
          <p:nvPr/>
        </p:nvSpPr>
        <p:spPr>
          <a:xfrm>
            <a:off x="6190488" y="2852928"/>
            <a:ext cx="2139696" cy="475488"/>
          </a:xfrm>
          <a:prstGeom prst="rect">
            <a:avLst/>
          </a:prstGeom>
          <a:noFill/>
        </p:spPr>
        <p:txBody>
          <a:bodyPr wrap="square" anchor="t" lIns="0" rIns="0" tIns="0" bIns="0">
            <a:spAutoFit/>
          </a:bodyPr>
          <a:lstStyle/>
          <a:p>
            <a:pPr algn="ctr">
              <a:lnSpc>
                <a:spcPct val="125000"/>
              </a:lnSpc>
              <a:spcAft>
                <a:spcPts val="0"/>
              </a:spcAft>
            </a:pPr>
            <a:r>
              <a:rPr sz="1350" b="0" i="0">
                <a:solidFill>
                  <a:srgbClr val="974F16"/>
                </a:solidFill>
                <a:latin typeface="Georgia"/>
              </a:rPr>
              <a:t>Swap and mark</a:t>
            </a:r>
          </a:p>
        </p:txBody>
      </p:sp>
      <p:sp>
        <p:nvSpPr>
          <p:cNvPr id="21" name="TextBox 20"/>
          <p:cNvSpPr txBox="1"/>
          <p:nvPr/>
        </p:nvSpPr>
        <p:spPr>
          <a:xfrm>
            <a:off x="6227064" y="3346704"/>
            <a:ext cx="2066544" cy="493776"/>
          </a:xfrm>
          <a:prstGeom prst="rect">
            <a:avLst/>
          </a:prstGeom>
          <a:noFill/>
        </p:spPr>
        <p:txBody>
          <a:bodyPr wrap="square" anchor="t" lIns="0" rIns="0" tIns="0" bIns="0">
            <a:spAutoFit/>
          </a:bodyPr>
          <a:lstStyle/>
          <a:p>
            <a:pPr algn="ctr">
              <a:lnSpc>
                <a:spcPct val="125000"/>
              </a:lnSpc>
              <a:spcAft>
                <a:spcPts val="0"/>
              </a:spcAft>
            </a:pPr>
            <a:r>
              <a:rPr sz="1050" b="0" i="0">
                <a:solidFill>
                  <a:srgbClr val="5C6552"/>
                </a:solidFill>
                <a:latin typeface="Calibri"/>
              </a:rPr>
              <a:t>Swap sheets with the team next to you, then the answers go up one at a time.</a:t>
            </a:r>
          </a:p>
        </p:txBody>
      </p:sp>
      <p:sp>
        <p:nvSpPr>
          <p:cNvPr id="22" name="TextBox 21"/>
          <p:cNvSpPr txBox="1"/>
          <p:nvPr/>
        </p:nvSpPr>
        <p:spPr>
          <a:xfrm>
            <a:off x="685800" y="4078224"/>
            <a:ext cx="7772400" cy="310896"/>
          </a:xfrm>
          <a:prstGeom prst="rect">
            <a:avLst/>
          </a:prstGeom>
          <a:noFill/>
        </p:spPr>
        <p:txBody>
          <a:bodyPr wrap="square" anchor="t" lIns="0" rIns="0" tIns="0" bIns="0">
            <a:spAutoFit/>
          </a:bodyPr>
          <a:lstStyle/>
          <a:p>
            <a:pPr algn="ctr">
              <a:lnSpc>
                <a:spcPct val="125000"/>
              </a:lnSpc>
              <a:spcAft>
                <a:spcPts val="0"/>
              </a:spcAft>
            </a:pPr>
            <a:r>
              <a:rPr sz="1050" b="0" i="0">
                <a:solidFill>
                  <a:srgbClr val="8B9179"/>
                </a:solidFill>
                <a:latin typeface="Calibri"/>
              </a:rPr>
              <a:t>Needs: one answer sheet per team, from the resource pack.</a:t>
            </a:r>
          </a:p>
        </p:txBody>
      </p:sp>
      <p:pic>
        <p:nvPicPr>
          <p:cNvPr id="23" name="Picture 22" descr="logo-mark.png"/>
          <p:cNvPicPr>
            <a:picLocks noChangeAspect="1"/>
          </p:cNvPicPr>
          <p:nvPr/>
        </p:nvPicPr>
        <p:blipFill>
          <a:blip r:embed="rId5"/>
          <a:stretch>
            <a:fillRect/>
          </a:stretch>
        </p:blipFill>
        <p:spPr>
          <a:xfrm>
            <a:off x="384048" y="4727448"/>
            <a:ext cx="158374" cy="182880"/>
          </a:xfrm>
          <a:prstGeom prst="rect">
            <a:avLst/>
          </a:prstGeom>
        </p:spPr>
      </p:pic>
      <p:sp>
        <p:nvSpPr>
          <p:cNvPr id="24" name="TextBox 23"/>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25" name="TextBox 24"/>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1 / 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974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968281" y="914400"/>
            <a:ext cx="1207436" cy="237744"/>
          </a:xfrm>
          <a:prstGeom prst="roundRect">
            <a:avLst>
              <a:gd name="adj" fmla="val 50000"/>
            </a:avLst>
          </a:prstGeom>
          <a:solidFill>
            <a:srgbClr val="EBCDA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spc="90">
                <a:solidFill>
                  <a:srgbClr val="974F16"/>
                </a:solidFill>
                <a:latin typeface="Calibri"/>
              </a:rPr>
              <a:t>ROUND ONE</a:t>
            </a:r>
          </a:p>
        </p:txBody>
      </p:sp>
      <p:sp>
        <p:nvSpPr>
          <p:cNvPr id="4" name="TextBox 3"/>
          <p:cNvSpPr txBox="1"/>
          <p:nvPr/>
        </p:nvSpPr>
        <p:spPr>
          <a:xfrm>
            <a:off x="548640" y="1481328"/>
            <a:ext cx="8046720" cy="731520"/>
          </a:xfrm>
          <a:prstGeom prst="rect">
            <a:avLst/>
          </a:prstGeom>
          <a:noFill/>
        </p:spPr>
        <p:txBody>
          <a:bodyPr wrap="square" anchor="t" lIns="0" rIns="0" tIns="0" bIns="0">
            <a:spAutoFit/>
          </a:bodyPr>
          <a:lstStyle/>
          <a:p>
            <a:pPr algn="ctr">
              <a:lnSpc>
                <a:spcPct val="105000"/>
              </a:lnSpc>
              <a:spcAft>
                <a:spcPts val="0"/>
              </a:spcAft>
            </a:pPr>
            <a:r>
              <a:rPr sz="4000" b="0" i="0">
                <a:solidFill>
                  <a:srgbClr val="FFFDF7"/>
                </a:solidFill>
                <a:latin typeface="Georgia"/>
              </a:rPr>
              <a:t>How revision works</a:t>
            </a:r>
          </a:p>
        </p:txBody>
      </p:sp>
      <p:sp>
        <p:nvSpPr>
          <p:cNvPr id="5" name="Rectangle 4"/>
          <p:cNvSpPr/>
          <p:nvPr/>
        </p:nvSpPr>
        <p:spPr>
          <a:xfrm>
            <a:off x="4114800" y="2487168"/>
            <a:ext cx="914400" cy="18288"/>
          </a:xfrm>
          <a:prstGeom prst="rect">
            <a:avLst/>
          </a:prstGeom>
          <a:solidFill>
            <a:srgbClr val="EBC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2724912"/>
            <a:ext cx="6583680" cy="914400"/>
          </a:xfrm>
          <a:prstGeom prst="rect">
            <a:avLst/>
          </a:prstGeom>
          <a:noFill/>
        </p:spPr>
        <p:txBody>
          <a:bodyPr wrap="square" anchor="t" lIns="0" rIns="0" tIns="0" bIns="0">
            <a:spAutoFit/>
          </a:bodyPr>
          <a:lstStyle/>
          <a:p>
            <a:pPr algn="ctr">
              <a:lnSpc>
                <a:spcPct val="130000"/>
              </a:lnSpc>
              <a:spcAft>
                <a:spcPts val="0"/>
              </a:spcAft>
            </a:pPr>
            <a:r>
              <a:rPr sz="1500" b="0" i="0">
                <a:solidFill>
                  <a:srgbClr val="EBCDAE"/>
                </a:solidFill>
                <a:latin typeface="Calibri"/>
              </a:rPr>
              <a:t>Six questions. Some are fact or myth, and some give you three options to choose from.</a:t>
            </a:r>
          </a:p>
        </p:txBody>
      </p:sp>
      <p:pic>
        <p:nvPicPr>
          <p:cNvPr id="7" name="Picture 6" descr="logo-mark.png"/>
          <p:cNvPicPr>
            <a:picLocks noChangeAspect="1"/>
          </p:cNvPicPr>
          <p:nvPr/>
        </p:nvPicPr>
        <p:blipFill>
          <a:blip r:embed="rId2"/>
          <a:stretch>
            <a:fillRect/>
          </a:stretch>
        </p:blipFill>
        <p:spPr>
          <a:xfrm>
            <a:off x="384048" y="4727448"/>
            <a:ext cx="158374" cy="182880"/>
          </a:xfrm>
          <a:prstGeom prst="rect">
            <a:avLst/>
          </a:prstGeom>
        </p:spPr>
      </p:pic>
      <p:sp>
        <p:nvSpPr>
          <p:cNvPr id="8" name="TextBox 7"/>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EBCDAE"/>
                </a:solidFill>
                <a:latin typeface="Calibri"/>
              </a:rPr>
              <a:t>The Pastoral Guide</a:t>
            </a:r>
          </a:p>
        </p:txBody>
      </p:sp>
      <p:sp>
        <p:nvSpPr>
          <p:cNvPr id="9" name="TextBox 8"/>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EBCDAE"/>
                </a:solidFill>
                <a:latin typeface="Calibri"/>
              </a:rPr>
              <a:t>2 / 27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l">
              <a:lnSpc>
                <a:spcPct val="125000"/>
              </a:lnSpc>
              <a:spcAft>
                <a:spcPts val="0"/>
              </a:spcAft>
            </a:pPr>
            <a:r>
              <a:rPr sz="1000" b="1" i="0" spc="160">
                <a:solidFill>
                  <a:srgbClr val="974F16"/>
                </a:solidFill>
                <a:latin typeface="Calibri"/>
              </a:rPr>
              <a:t>THE FORM TIME QUIZ  ·  ROUND ONE  ·  QUESTION 1 OF 10</a:t>
            </a:r>
          </a:p>
        </p:txBody>
      </p:sp>
      <p:sp>
        <p:nvSpPr>
          <p:cNvPr id="4" name="Rounded Rectangle 3"/>
          <p:cNvSpPr/>
          <p:nvPr/>
        </p:nvSpPr>
        <p:spPr>
          <a:xfrm>
            <a:off x="685800" y="1030224"/>
            <a:ext cx="7772400" cy="1341120"/>
          </a:xfrm>
          <a:prstGeom prst="roundRect">
            <a:avLst>
              <a:gd name="adj" fmla="val 6000"/>
            </a:avLst>
          </a:prstGeom>
          <a:solidFill>
            <a:srgbClr val="F8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030224"/>
            <a:ext cx="7772400" cy="54864"/>
          </a:xfrm>
          <a:prstGeom prst="rect">
            <a:avLst/>
          </a:prstGeom>
          <a:solidFill>
            <a:srgbClr val="C97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50976" y="1399032"/>
            <a:ext cx="603504" cy="603504"/>
          </a:xfrm>
          <a:prstGeom prst="ellipse">
            <a:avLst/>
          </a:prstGeom>
          <a:solidFill>
            <a:srgbClr val="974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0976" y="1527048"/>
            <a:ext cx="603504" cy="347472"/>
          </a:xfrm>
          <a:prstGeom prst="rect">
            <a:avLst/>
          </a:prstGeom>
          <a:noFill/>
        </p:spPr>
        <p:txBody>
          <a:bodyPr wrap="square" anchor="t" lIns="0" rIns="0" tIns="0" bIns="0">
            <a:spAutoFit/>
          </a:bodyPr>
          <a:lstStyle/>
          <a:p>
            <a:pPr algn="ctr">
              <a:lnSpc>
                <a:spcPct val="125000"/>
              </a:lnSpc>
              <a:spcAft>
                <a:spcPts val="0"/>
              </a:spcAft>
            </a:pPr>
            <a:r>
              <a:rPr sz="2000" b="1" i="0">
                <a:solidFill>
                  <a:srgbClr val="FFFDF7"/>
                </a:solidFill>
                <a:latin typeface="Calibri"/>
              </a:rPr>
              <a:t>1</a:t>
            </a:r>
          </a:p>
        </p:txBody>
      </p:sp>
      <p:sp>
        <p:nvSpPr>
          <p:cNvPr id="8" name="TextBox 7"/>
          <p:cNvSpPr txBox="1"/>
          <p:nvPr/>
        </p:nvSpPr>
        <p:spPr>
          <a:xfrm>
            <a:off x="1783080" y="1322832"/>
            <a:ext cx="6309360" cy="755904"/>
          </a:xfrm>
          <a:prstGeom prst="rect">
            <a:avLst/>
          </a:prstGeom>
          <a:noFill/>
        </p:spPr>
        <p:txBody>
          <a:bodyPr wrap="square" anchor="t" lIns="0" rIns="0" tIns="0" bIns="0">
            <a:spAutoFit/>
          </a:bodyPr>
          <a:lstStyle/>
          <a:p>
            <a:pPr algn="l">
              <a:lnSpc>
                <a:spcPct val="112000"/>
              </a:lnSpc>
              <a:spcAft>
                <a:spcPts val="0"/>
              </a:spcAft>
            </a:pPr>
            <a:r>
              <a:rPr sz="2400" b="0" i="0">
                <a:solidFill>
                  <a:srgbClr val="974F16"/>
                </a:solidFill>
                <a:latin typeface="Georgia"/>
              </a:rPr>
              <a:t>Reading your notes again and again is one of the best ways to revise.</a:t>
            </a:r>
          </a:p>
        </p:txBody>
      </p:sp>
      <p:sp>
        <p:nvSpPr>
          <p:cNvPr id="9" name="TextBox 8"/>
          <p:cNvSpPr txBox="1"/>
          <p:nvPr/>
        </p:nvSpPr>
        <p:spPr>
          <a:xfrm>
            <a:off x="685800" y="2499360"/>
            <a:ext cx="7772400" cy="219456"/>
          </a:xfrm>
          <a:prstGeom prst="rect">
            <a:avLst/>
          </a:prstGeom>
          <a:noFill/>
        </p:spPr>
        <p:txBody>
          <a:bodyPr wrap="square" anchor="t" lIns="0" rIns="0" tIns="0" bIns="0">
            <a:spAutoFit/>
          </a:bodyPr>
          <a:lstStyle/>
          <a:p>
            <a:pPr algn="l">
              <a:lnSpc>
                <a:spcPct val="125000"/>
              </a:lnSpc>
              <a:spcAft>
                <a:spcPts val="0"/>
              </a:spcAft>
            </a:pPr>
            <a:r>
              <a:rPr sz="1000" b="1" i="0" spc="140">
                <a:solidFill>
                  <a:srgbClr val="8B9179"/>
                </a:solidFill>
                <a:latin typeface="Calibri"/>
              </a:rPr>
              <a:t>FACT OR MYTH?</a:t>
            </a:r>
          </a:p>
        </p:txBody>
      </p:sp>
      <p:sp>
        <p:nvSpPr>
          <p:cNvPr id="10" name="Rounded Rectangle 9"/>
          <p:cNvSpPr/>
          <p:nvPr/>
        </p:nvSpPr>
        <p:spPr>
          <a:xfrm>
            <a:off x="685800" y="2791968"/>
            <a:ext cx="3749039" cy="89611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50392" y="3614928"/>
            <a:ext cx="3419856" cy="27432"/>
          </a:xfrm>
          <a:prstGeom prst="rect">
            <a:avLst/>
          </a:prstGeom>
          <a:solidFill>
            <a:srgbClr val="EBC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085084"/>
            <a:ext cx="3383279" cy="309880"/>
          </a:xfrm>
          <a:prstGeom prst="rect">
            <a:avLst/>
          </a:prstGeom>
          <a:noFill/>
        </p:spPr>
        <p:txBody>
          <a:bodyPr wrap="square" anchor="t" lIns="0" rIns="0" tIns="0" bIns="0">
            <a:spAutoFit/>
          </a:bodyPr>
          <a:lstStyle/>
          <a:p>
            <a:pPr algn="ctr">
              <a:lnSpc>
                <a:spcPct val="115000"/>
              </a:lnSpc>
              <a:spcAft>
                <a:spcPts val="0"/>
              </a:spcAft>
            </a:pPr>
            <a:r>
              <a:rPr sz="2000" b="0" i="0">
                <a:solidFill>
                  <a:srgbClr val="974F16"/>
                </a:solidFill>
                <a:latin typeface="Georgia"/>
              </a:rPr>
              <a:t>Fact</a:t>
            </a:r>
          </a:p>
        </p:txBody>
      </p:sp>
      <p:sp>
        <p:nvSpPr>
          <p:cNvPr id="13" name="Rounded Rectangle 12"/>
          <p:cNvSpPr/>
          <p:nvPr/>
        </p:nvSpPr>
        <p:spPr>
          <a:xfrm>
            <a:off x="4709159" y="2791968"/>
            <a:ext cx="3749039" cy="89611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873751" y="3614928"/>
            <a:ext cx="3419856" cy="27432"/>
          </a:xfrm>
          <a:prstGeom prst="rect">
            <a:avLst/>
          </a:prstGeom>
          <a:solidFill>
            <a:srgbClr val="EBC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92040" y="3085084"/>
            <a:ext cx="3383279" cy="309880"/>
          </a:xfrm>
          <a:prstGeom prst="rect">
            <a:avLst/>
          </a:prstGeom>
          <a:noFill/>
        </p:spPr>
        <p:txBody>
          <a:bodyPr wrap="square" anchor="t" lIns="0" rIns="0" tIns="0" bIns="0">
            <a:spAutoFit/>
          </a:bodyPr>
          <a:lstStyle/>
          <a:p>
            <a:pPr algn="ctr">
              <a:lnSpc>
                <a:spcPct val="115000"/>
              </a:lnSpc>
              <a:spcAft>
                <a:spcPts val="0"/>
              </a:spcAft>
            </a:pPr>
            <a:r>
              <a:rPr sz="2000" b="0" i="0">
                <a:solidFill>
                  <a:srgbClr val="974F16"/>
                </a:solidFill>
                <a:latin typeface="Georgia"/>
              </a:rPr>
              <a:t>Myth</a:t>
            </a:r>
          </a:p>
        </p:txBody>
      </p:sp>
      <p:sp>
        <p:nvSpPr>
          <p:cNvPr id="16" name="TextBox 15"/>
          <p:cNvSpPr txBox="1"/>
          <p:nvPr/>
        </p:nvSpPr>
        <p:spPr>
          <a:xfrm>
            <a:off x="685800" y="4169663"/>
            <a:ext cx="7772400" cy="274320"/>
          </a:xfrm>
          <a:prstGeom prst="rect">
            <a:avLst/>
          </a:prstGeom>
          <a:noFill/>
        </p:spPr>
        <p:txBody>
          <a:bodyPr wrap="square" anchor="t" lIns="0" rIns="0" tIns="0" bIns="0">
            <a:spAutoFit/>
          </a:bodyPr>
          <a:lstStyle/>
          <a:p>
            <a:pPr algn="ctr">
              <a:lnSpc>
                <a:spcPct val="125000"/>
              </a:lnSpc>
              <a:spcAft>
                <a:spcPts val="0"/>
              </a:spcAft>
            </a:pPr>
            <a:r>
              <a:rPr sz="1150" b="0" i="1">
                <a:solidFill>
                  <a:srgbClr val="5C6552"/>
                </a:solidFill>
                <a:latin typeface="Calibri"/>
              </a:rPr>
              <a:t>Agree it as a team, then tick it on the sheet.</a:t>
            </a:r>
          </a:p>
        </p:txBody>
      </p:sp>
      <p:pic>
        <p:nvPicPr>
          <p:cNvPr id="17" name="Picture 16" descr="logo-mark.png"/>
          <p:cNvPicPr>
            <a:picLocks noChangeAspect="1"/>
          </p:cNvPicPr>
          <p:nvPr/>
        </p:nvPicPr>
        <p:blipFill>
          <a:blip r:embed="rId2"/>
          <a:stretch>
            <a:fillRect/>
          </a:stretch>
        </p:blipFill>
        <p:spPr>
          <a:xfrm>
            <a:off x="384048" y="4727448"/>
            <a:ext cx="158374" cy="182880"/>
          </a:xfrm>
          <a:prstGeom prst="rect">
            <a:avLst/>
          </a:prstGeom>
        </p:spPr>
      </p:pic>
      <p:sp>
        <p:nvSpPr>
          <p:cNvPr id="18" name="TextBox 17"/>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19" name="TextBox 18"/>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3 / 27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l">
              <a:lnSpc>
                <a:spcPct val="125000"/>
              </a:lnSpc>
              <a:spcAft>
                <a:spcPts val="0"/>
              </a:spcAft>
            </a:pPr>
            <a:r>
              <a:rPr sz="1000" b="1" i="0" spc="160">
                <a:solidFill>
                  <a:srgbClr val="974F16"/>
                </a:solidFill>
                <a:latin typeface="Calibri"/>
              </a:rPr>
              <a:t>THE FORM TIME QUIZ  ·  ROUND ONE  ·  QUESTION 2 OF 10</a:t>
            </a:r>
          </a:p>
        </p:txBody>
      </p:sp>
      <p:sp>
        <p:nvSpPr>
          <p:cNvPr id="4" name="Rounded Rectangle 3"/>
          <p:cNvSpPr/>
          <p:nvPr/>
        </p:nvSpPr>
        <p:spPr>
          <a:xfrm>
            <a:off x="685800" y="841248"/>
            <a:ext cx="7772400" cy="1719072"/>
          </a:xfrm>
          <a:prstGeom prst="roundRect">
            <a:avLst>
              <a:gd name="adj" fmla="val 6000"/>
            </a:avLst>
          </a:prstGeom>
          <a:solidFill>
            <a:srgbClr val="F8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841248"/>
            <a:ext cx="7772400" cy="54864"/>
          </a:xfrm>
          <a:prstGeom prst="rect">
            <a:avLst/>
          </a:prstGeom>
          <a:solidFill>
            <a:srgbClr val="C97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50976" y="1399032"/>
            <a:ext cx="603504" cy="603504"/>
          </a:xfrm>
          <a:prstGeom prst="ellipse">
            <a:avLst/>
          </a:prstGeom>
          <a:solidFill>
            <a:srgbClr val="974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0976" y="1527048"/>
            <a:ext cx="603504" cy="347472"/>
          </a:xfrm>
          <a:prstGeom prst="rect">
            <a:avLst/>
          </a:prstGeom>
          <a:noFill/>
        </p:spPr>
        <p:txBody>
          <a:bodyPr wrap="square" anchor="t" lIns="0" rIns="0" tIns="0" bIns="0">
            <a:spAutoFit/>
          </a:bodyPr>
          <a:lstStyle/>
          <a:p>
            <a:pPr algn="ctr">
              <a:lnSpc>
                <a:spcPct val="125000"/>
              </a:lnSpc>
              <a:spcAft>
                <a:spcPts val="0"/>
              </a:spcAft>
            </a:pPr>
            <a:r>
              <a:rPr sz="2000" b="1" i="0">
                <a:solidFill>
                  <a:srgbClr val="FFFDF7"/>
                </a:solidFill>
                <a:latin typeface="Calibri"/>
              </a:rPr>
              <a:t>2</a:t>
            </a:r>
          </a:p>
        </p:txBody>
      </p:sp>
      <p:sp>
        <p:nvSpPr>
          <p:cNvPr id="8" name="TextBox 7"/>
          <p:cNvSpPr txBox="1"/>
          <p:nvPr/>
        </p:nvSpPr>
        <p:spPr>
          <a:xfrm>
            <a:off x="1783080" y="1133856"/>
            <a:ext cx="6309360" cy="1133856"/>
          </a:xfrm>
          <a:prstGeom prst="rect">
            <a:avLst/>
          </a:prstGeom>
          <a:noFill/>
        </p:spPr>
        <p:txBody>
          <a:bodyPr wrap="square" anchor="t" lIns="0" rIns="0" tIns="0" bIns="0">
            <a:spAutoFit/>
          </a:bodyPr>
          <a:lstStyle/>
          <a:p>
            <a:pPr algn="l">
              <a:lnSpc>
                <a:spcPct val="112000"/>
              </a:lnSpc>
              <a:spcAft>
                <a:spcPts val="0"/>
              </a:spcAft>
            </a:pPr>
            <a:r>
              <a:rPr sz="2400" b="0" i="0">
                <a:solidFill>
                  <a:srgbClr val="974F16"/>
                </a:solidFill>
                <a:latin typeface="Georgia"/>
              </a:rPr>
              <a:t>Testing yourself helps you remember more than rereading does.</a:t>
            </a:r>
          </a:p>
        </p:txBody>
      </p:sp>
      <p:sp>
        <p:nvSpPr>
          <p:cNvPr id="9" name="TextBox 8"/>
          <p:cNvSpPr txBox="1"/>
          <p:nvPr/>
        </p:nvSpPr>
        <p:spPr>
          <a:xfrm>
            <a:off x="685800" y="2688336"/>
            <a:ext cx="7772400" cy="219456"/>
          </a:xfrm>
          <a:prstGeom prst="rect">
            <a:avLst/>
          </a:prstGeom>
          <a:noFill/>
        </p:spPr>
        <p:txBody>
          <a:bodyPr wrap="square" anchor="t" lIns="0" rIns="0" tIns="0" bIns="0">
            <a:spAutoFit/>
          </a:bodyPr>
          <a:lstStyle/>
          <a:p>
            <a:pPr algn="l">
              <a:lnSpc>
                <a:spcPct val="125000"/>
              </a:lnSpc>
              <a:spcAft>
                <a:spcPts val="0"/>
              </a:spcAft>
            </a:pPr>
            <a:r>
              <a:rPr sz="1000" b="1" i="0" spc="140">
                <a:solidFill>
                  <a:srgbClr val="8B9179"/>
                </a:solidFill>
                <a:latin typeface="Calibri"/>
              </a:rPr>
              <a:t>FACT OR MYTH?</a:t>
            </a:r>
          </a:p>
        </p:txBody>
      </p:sp>
      <p:sp>
        <p:nvSpPr>
          <p:cNvPr id="10" name="Rounded Rectangle 9"/>
          <p:cNvSpPr/>
          <p:nvPr/>
        </p:nvSpPr>
        <p:spPr>
          <a:xfrm>
            <a:off x="685800" y="2980944"/>
            <a:ext cx="3749039" cy="89611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50392" y="3803904"/>
            <a:ext cx="3419856" cy="27432"/>
          </a:xfrm>
          <a:prstGeom prst="rect">
            <a:avLst/>
          </a:prstGeom>
          <a:solidFill>
            <a:srgbClr val="EBC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274060"/>
            <a:ext cx="3383279" cy="309880"/>
          </a:xfrm>
          <a:prstGeom prst="rect">
            <a:avLst/>
          </a:prstGeom>
          <a:noFill/>
        </p:spPr>
        <p:txBody>
          <a:bodyPr wrap="square" anchor="t" lIns="0" rIns="0" tIns="0" bIns="0">
            <a:spAutoFit/>
          </a:bodyPr>
          <a:lstStyle/>
          <a:p>
            <a:pPr algn="ctr">
              <a:lnSpc>
                <a:spcPct val="115000"/>
              </a:lnSpc>
              <a:spcAft>
                <a:spcPts val="0"/>
              </a:spcAft>
            </a:pPr>
            <a:r>
              <a:rPr sz="2000" b="0" i="0">
                <a:solidFill>
                  <a:srgbClr val="974F16"/>
                </a:solidFill>
                <a:latin typeface="Georgia"/>
              </a:rPr>
              <a:t>Fact</a:t>
            </a:r>
          </a:p>
        </p:txBody>
      </p:sp>
      <p:sp>
        <p:nvSpPr>
          <p:cNvPr id="13" name="Rounded Rectangle 12"/>
          <p:cNvSpPr/>
          <p:nvPr/>
        </p:nvSpPr>
        <p:spPr>
          <a:xfrm>
            <a:off x="4709159" y="2980944"/>
            <a:ext cx="3749039" cy="89611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873751" y="3803904"/>
            <a:ext cx="3419856" cy="27432"/>
          </a:xfrm>
          <a:prstGeom prst="rect">
            <a:avLst/>
          </a:prstGeom>
          <a:solidFill>
            <a:srgbClr val="EBC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92040" y="3274060"/>
            <a:ext cx="3383279" cy="309880"/>
          </a:xfrm>
          <a:prstGeom prst="rect">
            <a:avLst/>
          </a:prstGeom>
          <a:noFill/>
        </p:spPr>
        <p:txBody>
          <a:bodyPr wrap="square" anchor="t" lIns="0" rIns="0" tIns="0" bIns="0">
            <a:spAutoFit/>
          </a:bodyPr>
          <a:lstStyle/>
          <a:p>
            <a:pPr algn="ctr">
              <a:lnSpc>
                <a:spcPct val="115000"/>
              </a:lnSpc>
              <a:spcAft>
                <a:spcPts val="0"/>
              </a:spcAft>
            </a:pPr>
            <a:r>
              <a:rPr sz="2000" b="0" i="0">
                <a:solidFill>
                  <a:srgbClr val="974F16"/>
                </a:solidFill>
                <a:latin typeface="Georgia"/>
              </a:rPr>
              <a:t>Myth</a:t>
            </a:r>
          </a:p>
        </p:txBody>
      </p:sp>
      <p:sp>
        <p:nvSpPr>
          <p:cNvPr id="16" name="TextBox 15"/>
          <p:cNvSpPr txBox="1"/>
          <p:nvPr/>
        </p:nvSpPr>
        <p:spPr>
          <a:xfrm>
            <a:off x="685800" y="4169663"/>
            <a:ext cx="7772400" cy="274320"/>
          </a:xfrm>
          <a:prstGeom prst="rect">
            <a:avLst/>
          </a:prstGeom>
          <a:noFill/>
        </p:spPr>
        <p:txBody>
          <a:bodyPr wrap="square" anchor="t" lIns="0" rIns="0" tIns="0" bIns="0">
            <a:spAutoFit/>
          </a:bodyPr>
          <a:lstStyle/>
          <a:p>
            <a:pPr algn="ctr">
              <a:lnSpc>
                <a:spcPct val="125000"/>
              </a:lnSpc>
              <a:spcAft>
                <a:spcPts val="0"/>
              </a:spcAft>
            </a:pPr>
            <a:r>
              <a:rPr sz="1150" b="0" i="1">
                <a:solidFill>
                  <a:srgbClr val="5C6552"/>
                </a:solidFill>
                <a:latin typeface="Calibri"/>
              </a:rPr>
              <a:t>Agree it as a team, then tick it on the sheet.</a:t>
            </a:r>
          </a:p>
        </p:txBody>
      </p:sp>
      <p:pic>
        <p:nvPicPr>
          <p:cNvPr id="17" name="Picture 16" descr="logo-mark.png"/>
          <p:cNvPicPr>
            <a:picLocks noChangeAspect="1"/>
          </p:cNvPicPr>
          <p:nvPr/>
        </p:nvPicPr>
        <p:blipFill>
          <a:blip r:embed="rId2"/>
          <a:stretch>
            <a:fillRect/>
          </a:stretch>
        </p:blipFill>
        <p:spPr>
          <a:xfrm>
            <a:off x="384048" y="4727448"/>
            <a:ext cx="158374" cy="182880"/>
          </a:xfrm>
          <a:prstGeom prst="rect">
            <a:avLst/>
          </a:prstGeom>
        </p:spPr>
      </p:pic>
      <p:sp>
        <p:nvSpPr>
          <p:cNvPr id="18" name="TextBox 17"/>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19" name="TextBox 18"/>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4 / 27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l">
              <a:lnSpc>
                <a:spcPct val="125000"/>
              </a:lnSpc>
              <a:spcAft>
                <a:spcPts val="0"/>
              </a:spcAft>
            </a:pPr>
            <a:r>
              <a:rPr sz="1000" b="1" i="0" spc="160">
                <a:solidFill>
                  <a:srgbClr val="974F16"/>
                </a:solidFill>
                <a:latin typeface="Calibri"/>
              </a:rPr>
              <a:t>THE FORM TIME QUIZ  ·  ROUND ONE  ·  QUESTION 3 OF 10</a:t>
            </a:r>
          </a:p>
        </p:txBody>
      </p:sp>
      <p:sp>
        <p:nvSpPr>
          <p:cNvPr id="4" name="Rounded Rectangle 3"/>
          <p:cNvSpPr/>
          <p:nvPr/>
        </p:nvSpPr>
        <p:spPr>
          <a:xfrm>
            <a:off x="685800" y="841248"/>
            <a:ext cx="7772400" cy="1719072"/>
          </a:xfrm>
          <a:prstGeom prst="roundRect">
            <a:avLst>
              <a:gd name="adj" fmla="val 6000"/>
            </a:avLst>
          </a:prstGeom>
          <a:solidFill>
            <a:srgbClr val="F8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841248"/>
            <a:ext cx="7772400" cy="54864"/>
          </a:xfrm>
          <a:prstGeom prst="rect">
            <a:avLst/>
          </a:prstGeom>
          <a:solidFill>
            <a:srgbClr val="C97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50976" y="1399032"/>
            <a:ext cx="603504" cy="603504"/>
          </a:xfrm>
          <a:prstGeom prst="ellipse">
            <a:avLst/>
          </a:prstGeom>
          <a:solidFill>
            <a:srgbClr val="974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0976" y="1527048"/>
            <a:ext cx="603504" cy="347472"/>
          </a:xfrm>
          <a:prstGeom prst="rect">
            <a:avLst/>
          </a:prstGeom>
          <a:noFill/>
        </p:spPr>
        <p:txBody>
          <a:bodyPr wrap="square" anchor="t" lIns="0" rIns="0" tIns="0" bIns="0">
            <a:spAutoFit/>
          </a:bodyPr>
          <a:lstStyle/>
          <a:p>
            <a:pPr algn="ctr">
              <a:lnSpc>
                <a:spcPct val="125000"/>
              </a:lnSpc>
              <a:spcAft>
                <a:spcPts val="0"/>
              </a:spcAft>
            </a:pPr>
            <a:r>
              <a:rPr sz="2000" b="1" i="0">
                <a:solidFill>
                  <a:srgbClr val="FFFDF7"/>
                </a:solidFill>
                <a:latin typeface="Calibri"/>
              </a:rPr>
              <a:t>3</a:t>
            </a:r>
          </a:p>
        </p:txBody>
      </p:sp>
      <p:sp>
        <p:nvSpPr>
          <p:cNvPr id="8" name="TextBox 7"/>
          <p:cNvSpPr txBox="1"/>
          <p:nvPr/>
        </p:nvSpPr>
        <p:spPr>
          <a:xfrm>
            <a:off x="1783080" y="1133856"/>
            <a:ext cx="6309360" cy="1133856"/>
          </a:xfrm>
          <a:prstGeom prst="rect">
            <a:avLst/>
          </a:prstGeom>
          <a:noFill/>
        </p:spPr>
        <p:txBody>
          <a:bodyPr wrap="square" anchor="t" lIns="0" rIns="0" tIns="0" bIns="0">
            <a:spAutoFit/>
          </a:bodyPr>
          <a:lstStyle/>
          <a:p>
            <a:pPr algn="l">
              <a:lnSpc>
                <a:spcPct val="112000"/>
              </a:lnSpc>
              <a:spcAft>
                <a:spcPts val="0"/>
              </a:spcAft>
            </a:pPr>
            <a:r>
              <a:rPr sz="2400" b="0" i="0">
                <a:solidFill>
                  <a:srgbClr val="974F16"/>
                </a:solidFill>
                <a:latin typeface="Georgia"/>
              </a:rPr>
              <a:t>Spreading revision over several days works better than doing the same number of hours in one go.</a:t>
            </a:r>
          </a:p>
        </p:txBody>
      </p:sp>
      <p:sp>
        <p:nvSpPr>
          <p:cNvPr id="9" name="TextBox 8"/>
          <p:cNvSpPr txBox="1"/>
          <p:nvPr/>
        </p:nvSpPr>
        <p:spPr>
          <a:xfrm>
            <a:off x="685800" y="2688336"/>
            <a:ext cx="7772400" cy="219456"/>
          </a:xfrm>
          <a:prstGeom prst="rect">
            <a:avLst/>
          </a:prstGeom>
          <a:noFill/>
        </p:spPr>
        <p:txBody>
          <a:bodyPr wrap="square" anchor="t" lIns="0" rIns="0" tIns="0" bIns="0">
            <a:spAutoFit/>
          </a:bodyPr>
          <a:lstStyle/>
          <a:p>
            <a:pPr algn="l">
              <a:lnSpc>
                <a:spcPct val="125000"/>
              </a:lnSpc>
              <a:spcAft>
                <a:spcPts val="0"/>
              </a:spcAft>
            </a:pPr>
            <a:r>
              <a:rPr sz="1000" b="1" i="0" spc="140">
                <a:solidFill>
                  <a:srgbClr val="8B9179"/>
                </a:solidFill>
                <a:latin typeface="Calibri"/>
              </a:rPr>
              <a:t>FACT OR MYTH?</a:t>
            </a:r>
          </a:p>
        </p:txBody>
      </p:sp>
      <p:sp>
        <p:nvSpPr>
          <p:cNvPr id="10" name="Rounded Rectangle 9"/>
          <p:cNvSpPr/>
          <p:nvPr/>
        </p:nvSpPr>
        <p:spPr>
          <a:xfrm>
            <a:off x="685800" y="2980944"/>
            <a:ext cx="3749039" cy="89611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50392" y="3803904"/>
            <a:ext cx="3419856" cy="27432"/>
          </a:xfrm>
          <a:prstGeom prst="rect">
            <a:avLst/>
          </a:prstGeom>
          <a:solidFill>
            <a:srgbClr val="EBC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274060"/>
            <a:ext cx="3383279" cy="309880"/>
          </a:xfrm>
          <a:prstGeom prst="rect">
            <a:avLst/>
          </a:prstGeom>
          <a:noFill/>
        </p:spPr>
        <p:txBody>
          <a:bodyPr wrap="square" anchor="t" lIns="0" rIns="0" tIns="0" bIns="0">
            <a:spAutoFit/>
          </a:bodyPr>
          <a:lstStyle/>
          <a:p>
            <a:pPr algn="ctr">
              <a:lnSpc>
                <a:spcPct val="115000"/>
              </a:lnSpc>
              <a:spcAft>
                <a:spcPts val="0"/>
              </a:spcAft>
            </a:pPr>
            <a:r>
              <a:rPr sz="2000" b="0" i="0">
                <a:solidFill>
                  <a:srgbClr val="974F16"/>
                </a:solidFill>
                <a:latin typeface="Georgia"/>
              </a:rPr>
              <a:t>Fact</a:t>
            </a:r>
          </a:p>
        </p:txBody>
      </p:sp>
      <p:sp>
        <p:nvSpPr>
          <p:cNvPr id="13" name="Rounded Rectangle 12"/>
          <p:cNvSpPr/>
          <p:nvPr/>
        </p:nvSpPr>
        <p:spPr>
          <a:xfrm>
            <a:off x="4709159" y="2980944"/>
            <a:ext cx="3749039" cy="89611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873751" y="3803904"/>
            <a:ext cx="3419856" cy="27432"/>
          </a:xfrm>
          <a:prstGeom prst="rect">
            <a:avLst/>
          </a:prstGeom>
          <a:solidFill>
            <a:srgbClr val="EBC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92040" y="3274060"/>
            <a:ext cx="3383279" cy="309880"/>
          </a:xfrm>
          <a:prstGeom prst="rect">
            <a:avLst/>
          </a:prstGeom>
          <a:noFill/>
        </p:spPr>
        <p:txBody>
          <a:bodyPr wrap="square" anchor="t" lIns="0" rIns="0" tIns="0" bIns="0">
            <a:spAutoFit/>
          </a:bodyPr>
          <a:lstStyle/>
          <a:p>
            <a:pPr algn="ctr">
              <a:lnSpc>
                <a:spcPct val="115000"/>
              </a:lnSpc>
              <a:spcAft>
                <a:spcPts val="0"/>
              </a:spcAft>
            </a:pPr>
            <a:r>
              <a:rPr sz="2000" b="0" i="0">
                <a:solidFill>
                  <a:srgbClr val="974F16"/>
                </a:solidFill>
                <a:latin typeface="Georgia"/>
              </a:rPr>
              <a:t>Myth</a:t>
            </a:r>
          </a:p>
        </p:txBody>
      </p:sp>
      <p:sp>
        <p:nvSpPr>
          <p:cNvPr id="16" name="TextBox 15"/>
          <p:cNvSpPr txBox="1"/>
          <p:nvPr/>
        </p:nvSpPr>
        <p:spPr>
          <a:xfrm>
            <a:off x="685800" y="4169663"/>
            <a:ext cx="7772400" cy="274320"/>
          </a:xfrm>
          <a:prstGeom prst="rect">
            <a:avLst/>
          </a:prstGeom>
          <a:noFill/>
        </p:spPr>
        <p:txBody>
          <a:bodyPr wrap="square" anchor="t" lIns="0" rIns="0" tIns="0" bIns="0">
            <a:spAutoFit/>
          </a:bodyPr>
          <a:lstStyle/>
          <a:p>
            <a:pPr algn="ctr">
              <a:lnSpc>
                <a:spcPct val="125000"/>
              </a:lnSpc>
              <a:spcAft>
                <a:spcPts val="0"/>
              </a:spcAft>
            </a:pPr>
            <a:r>
              <a:rPr sz="1150" b="0" i="1">
                <a:solidFill>
                  <a:srgbClr val="5C6552"/>
                </a:solidFill>
                <a:latin typeface="Calibri"/>
              </a:rPr>
              <a:t>Agree it as a team, then tick it on the sheet.</a:t>
            </a:r>
          </a:p>
        </p:txBody>
      </p:sp>
      <p:pic>
        <p:nvPicPr>
          <p:cNvPr id="17" name="Picture 16" descr="logo-mark.png"/>
          <p:cNvPicPr>
            <a:picLocks noChangeAspect="1"/>
          </p:cNvPicPr>
          <p:nvPr/>
        </p:nvPicPr>
        <p:blipFill>
          <a:blip r:embed="rId2"/>
          <a:stretch>
            <a:fillRect/>
          </a:stretch>
        </p:blipFill>
        <p:spPr>
          <a:xfrm>
            <a:off x="384048" y="4727448"/>
            <a:ext cx="158374" cy="182880"/>
          </a:xfrm>
          <a:prstGeom prst="rect">
            <a:avLst/>
          </a:prstGeom>
        </p:spPr>
      </p:pic>
      <p:sp>
        <p:nvSpPr>
          <p:cNvPr id="18" name="TextBox 17"/>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19" name="TextBox 18"/>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5 / 27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l">
              <a:lnSpc>
                <a:spcPct val="125000"/>
              </a:lnSpc>
              <a:spcAft>
                <a:spcPts val="0"/>
              </a:spcAft>
            </a:pPr>
            <a:r>
              <a:rPr sz="1000" b="1" i="0" spc="160">
                <a:solidFill>
                  <a:srgbClr val="974F16"/>
                </a:solidFill>
                <a:latin typeface="Calibri"/>
              </a:rPr>
              <a:t>THE FORM TIME QUIZ  ·  ROUND ONE  ·  QUESTION 4 OF 10</a:t>
            </a:r>
          </a:p>
        </p:txBody>
      </p:sp>
      <p:sp>
        <p:nvSpPr>
          <p:cNvPr id="4" name="Rounded Rectangle 3"/>
          <p:cNvSpPr/>
          <p:nvPr/>
        </p:nvSpPr>
        <p:spPr>
          <a:xfrm>
            <a:off x="685800" y="841248"/>
            <a:ext cx="7772400" cy="1719072"/>
          </a:xfrm>
          <a:prstGeom prst="roundRect">
            <a:avLst>
              <a:gd name="adj" fmla="val 6000"/>
            </a:avLst>
          </a:prstGeom>
          <a:solidFill>
            <a:srgbClr val="F8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841248"/>
            <a:ext cx="7772400" cy="54864"/>
          </a:xfrm>
          <a:prstGeom prst="rect">
            <a:avLst/>
          </a:prstGeom>
          <a:solidFill>
            <a:srgbClr val="C97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50976" y="1399032"/>
            <a:ext cx="603504" cy="603504"/>
          </a:xfrm>
          <a:prstGeom prst="ellipse">
            <a:avLst/>
          </a:prstGeom>
          <a:solidFill>
            <a:srgbClr val="974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0976" y="1527048"/>
            <a:ext cx="603504" cy="347472"/>
          </a:xfrm>
          <a:prstGeom prst="rect">
            <a:avLst/>
          </a:prstGeom>
          <a:noFill/>
        </p:spPr>
        <p:txBody>
          <a:bodyPr wrap="square" anchor="t" lIns="0" rIns="0" tIns="0" bIns="0">
            <a:spAutoFit/>
          </a:bodyPr>
          <a:lstStyle/>
          <a:p>
            <a:pPr algn="ctr">
              <a:lnSpc>
                <a:spcPct val="125000"/>
              </a:lnSpc>
              <a:spcAft>
                <a:spcPts val="0"/>
              </a:spcAft>
            </a:pPr>
            <a:r>
              <a:rPr sz="2000" b="1" i="0">
                <a:solidFill>
                  <a:srgbClr val="FFFDF7"/>
                </a:solidFill>
                <a:latin typeface="Calibri"/>
              </a:rPr>
              <a:t>4</a:t>
            </a:r>
          </a:p>
        </p:txBody>
      </p:sp>
      <p:sp>
        <p:nvSpPr>
          <p:cNvPr id="8" name="TextBox 7"/>
          <p:cNvSpPr txBox="1"/>
          <p:nvPr/>
        </p:nvSpPr>
        <p:spPr>
          <a:xfrm>
            <a:off x="1783080" y="1133856"/>
            <a:ext cx="6309360" cy="1133856"/>
          </a:xfrm>
          <a:prstGeom prst="rect">
            <a:avLst/>
          </a:prstGeom>
          <a:noFill/>
        </p:spPr>
        <p:txBody>
          <a:bodyPr wrap="square" anchor="t" lIns="0" rIns="0" tIns="0" bIns="0">
            <a:spAutoFit/>
          </a:bodyPr>
          <a:lstStyle/>
          <a:p>
            <a:pPr algn="l">
              <a:lnSpc>
                <a:spcPct val="112000"/>
              </a:lnSpc>
              <a:spcAft>
                <a:spcPts val="0"/>
              </a:spcAft>
            </a:pPr>
            <a:r>
              <a:rPr sz="2400" b="0" i="0">
                <a:solidFill>
                  <a:srgbClr val="974F16"/>
                </a:solidFill>
                <a:latin typeface="Georgia"/>
              </a:rPr>
              <a:t>You learn best when your revision matches your learning style, such as visual or auditory.</a:t>
            </a:r>
          </a:p>
        </p:txBody>
      </p:sp>
      <p:sp>
        <p:nvSpPr>
          <p:cNvPr id="9" name="TextBox 8"/>
          <p:cNvSpPr txBox="1"/>
          <p:nvPr/>
        </p:nvSpPr>
        <p:spPr>
          <a:xfrm>
            <a:off x="685800" y="2688336"/>
            <a:ext cx="7772400" cy="219456"/>
          </a:xfrm>
          <a:prstGeom prst="rect">
            <a:avLst/>
          </a:prstGeom>
          <a:noFill/>
        </p:spPr>
        <p:txBody>
          <a:bodyPr wrap="square" anchor="t" lIns="0" rIns="0" tIns="0" bIns="0">
            <a:spAutoFit/>
          </a:bodyPr>
          <a:lstStyle/>
          <a:p>
            <a:pPr algn="l">
              <a:lnSpc>
                <a:spcPct val="125000"/>
              </a:lnSpc>
              <a:spcAft>
                <a:spcPts val="0"/>
              </a:spcAft>
            </a:pPr>
            <a:r>
              <a:rPr sz="1000" b="1" i="0" spc="140">
                <a:solidFill>
                  <a:srgbClr val="8B9179"/>
                </a:solidFill>
                <a:latin typeface="Calibri"/>
              </a:rPr>
              <a:t>FACT OR MYTH?</a:t>
            </a:r>
          </a:p>
        </p:txBody>
      </p:sp>
      <p:sp>
        <p:nvSpPr>
          <p:cNvPr id="10" name="Rounded Rectangle 9"/>
          <p:cNvSpPr/>
          <p:nvPr/>
        </p:nvSpPr>
        <p:spPr>
          <a:xfrm>
            <a:off x="685800" y="2980944"/>
            <a:ext cx="3749039" cy="89611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50392" y="3803904"/>
            <a:ext cx="3419856" cy="27432"/>
          </a:xfrm>
          <a:prstGeom prst="rect">
            <a:avLst/>
          </a:prstGeom>
          <a:solidFill>
            <a:srgbClr val="EBC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274060"/>
            <a:ext cx="3383279" cy="309880"/>
          </a:xfrm>
          <a:prstGeom prst="rect">
            <a:avLst/>
          </a:prstGeom>
          <a:noFill/>
        </p:spPr>
        <p:txBody>
          <a:bodyPr wrap="square" anchor="t" lIns="0" rIns="0" tIns="0" bIns="0">
            <a:spAutoFit/>
          </a:bodyPr>
          <a:lstStyle/>
          <a:p>
            <a:pPr algn="ctr">
              <a:lnSpc>
                <a:spcPct val="115000"/>
              </a:lnSpc>
              <a:spcAft>
                <a:spcPts val="0"/>
              </a:spcAft>
            </a:pPr>
            <a:r>
              <a:rPr sz="2000" b="0" i="0">
                <a:solidFill>
                  <a:srgbClr val="974F16"/>
                </a:solidFill>
                <a:latin typeface="Georgia"/>
              </a:rPr>
              <a:t>Fact</a:t>
            </a:r>
          </a:p>
        </p:txBody>
      </p:sp>
      <p:sp>
        <p:nvSpPr>
          <p:cNvPr id="13" name="Rounded Rectangle 12"/>
          <p:cNvSpPr/>
          <p:nvPr/>
        </p:nvSpPr>
        <p:spPr>
          <a:xfrm>
            <a:off x="4709159" y="2980944"/>
            <a:ext cx="3749039" cy="89611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873751" y="3803904"/>
            <a:ext cx="3419856" cy="27432"/>
          </a:xfrm>
          <a:prstGeom prst="rect">
            <a:avLst/>
          </a:prstGeom>
          <a:solidFill>
            <a:srgbClr val="EBC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92040" y="3274060"/>
            <a:ext cx="3383279" cy="309880"/>
          </a:xfrm>
          <a:prstGeom prst="rect">
            <a:avLst/>
          </a:prstGeom>
          <a:noFill/>
        </p:spPr>
        <p:txBody>
          <a:bodyPr wrap="square" anchor="t" lIns="0" rIns="0" tIns="0" bIns="0">
            <a:spAutoFit/>
          </a:bodyPr>
          <a:lstStyle/>
          <a:p>
            <a:pPr algn="ctr">
              <a:lnSpc>
                <a:spcPct val="115000"/>
              </a:lnSpc>
              <a:spcAft>
                <a:spcPts val="0"/>
              </a:spcAft>
            </a:pPr>
            <a:r>
              <a:rPr sz="2000" b="0" i="0">
                <a:solidFill>
                  <a:srgbClr val="974F16"/>
                </a:solidFill>
                <a:latin typeface="Georgia"/>
              </a:rPr>
              <a:t>Myth</a:t>
            </a:r>
          </a:p>
        </p:txBody>
      </p:sp>
      <p:sp>
        <p:nvSpPr>
          <p:cNvPr id="16" name="TextBox 15"/>
          <p:cNvSpPr txBox="1"/>
          <p:nvPr/>
        </p:nvSpPr>
        <p:spPr>
          <a:xfrm>
            <a:off x="685800" y="4169663"/>
            <a:ext cx="7772400" cy="274320"/>
          </a:xfrm>
          <a:prstGeom prst="rect">
            <a:avLst/>
          </a:prstGeom>
          <a:noFill/>
        </p:spPr>
        <p:txBody>
          <a:bodyPr wrap="square" anchor="t" lIns="0" rIns="0" tIns="0" bIns="0">
            <a:spAutoFit/>
          </a:bodyPr>
          <a:lstStyle/>
          <a:p>
            <a:pPr algn="ctr">
              <a:lnSpc>
                <a:spcPct val="125000"/>
              </a:lnSpc>
              <a:spcAft>
                <a:spcPts val="0"/>
              </a:spcAft>
            </a:pPr>
            <a:r>
              <a:rPr sz="1150" b="0" i="1">
                <a:solidFill>
                  <a:srgbClr val="5C6552"/>
                </a:solidFill>
                <a:latin typeface="Calibri"/>
              </a:rPr>
              <a:t>Agree it as a team, then tick it on the sheet.</a:t>
            </a:r>
          </a:p>
        </p:txBody>
      </p:sp>
      <p:pic>
        <p:nvPicPr>
          <p:cNvPr id="17" name="Picture 16" descr="logo-mark.png"/>
          <p:cNvPicPr>
            <a:picLocks noChangeAspect="1"/>
          </p:cNvPicPr>
          <p:nvPr/>
        </p:nvPicPr>
        <p:blipFill>
          <a:blip r:embed="rId2"/>
          <a:stretch>
            <a:fillRect/>
          </a:stretch>
        </p:blipFill>
        <p:spPr>
          <a:xfrm>
            <a:off x="384048" y="4727448"/>
            <a:ext cx="158374" cy="182880"/>
          </a:xfrm>
          <a:prstGeom prst="rect">
            <a:avLst/>
          </a:prstGeom>
        </p:spPr>
      </p:pic>
      <p:sp>
        <p:nvSpPr>
          <p:cNvPr id="18" name="TextBox 17"/>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19" name="TextBox 18"/>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6 / 27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l">
              <a:lnSpc>
                <a:spcPct val="125000"/>
              </a:lnSpc>
              <a:spcAft>
                <a:spcPts val="0"/>
              </a:spcAft>
            </a:pPr>
            <a:r>
              <a:rPr sz="1000" b="1" i="0" spc="160">
                <a:solidFill>
                  <a:srgbClr val="974F16"/>
                </a:solidFill>
                <a:latin typeface="Calibri"/>
              </a:rPr>
              <a:t>THE FORM TIME QUIZ  ·  ROUND ONE  ·  QUESTION 5 OF 10</a:t>
            </a:r>
          </a:p>
        </p:txBody>
      </p:sp>
      <p:sp>
        <p:nvSpPr>
          <p:cNvPr id="4" name="Rounded Rectangle 3"/>
          <p:cNvSpPr/>
          <p:nvPr/>
        </p:nvSpPr>
        <p:spPr>
          <a:xfrm>
            <a:off x="685800" y="1030224"/>
            <a:ext cx="7772400" cy="1341120"/>
          </a:xfrm>
          <a:prstGeom prst="roundRect">
            <a:avLst>
              <a:gd name="adj" fmla="val 6000"/>
            </a:avLst>
          </a:prstGeom>
          <a:solidFill>
            <a:srgbClr val="F8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030224"/>
            <a:ext cx="7772400" cy="54864"/>
          </a:xfrm>
          <a:prstGeom prst="rect">
            <a:avLst/>
          </a:prstGeom>
          <a:solidFill>
            <a:srgbClr val="C97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50976" y="1399032"/>
            <a:ext cx="603504" cy="603504"/>
          </a:xfrm>
          <a:prstGeom prst="ellipse">
            <a:avLst/>
          </a:prstGeom>
          <a:solidFill>
            <a:srgbClr val="974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0976" y="1527048"/>
            <a:ext cx="603504" cy="347472"/>
          </a:xfrm>
          <a:prstGeom prst="rect">
            <a:avLst/>
          </a:prstGeom>
          <a:noFill/>
        </p:spPr>
        <p:txBody>
          <a:bodyPr wrap="square" anchor="t" lIns="0" rIns="0" tIns="0" bIns="0">
            <a:spAutoFit/>
          </a:bodyPr>
          <a:lstStyle/>
          <a:p>
            <a:pPr algn="ctr">
              <a:lnSpc>
                <a:spcPct val="125000"/>
              </a:lnSpc>
              <a:spcAft>
                <a:spcPts val="0"/>
              </a:spcAft>
            </a:pPr>
            <a:r>
              <a:rPr sz="2000" b="1" i="0">
                <a:solidFill>
                  <a:srgbClr val="FFFDF7"/>
                </a:solidFill>
                <a:latin typeface="Calibri"/>
              </a:rPr>
              <a:t>5</a:t>
            </a:r>
          </a:p>
        </p:txBody>
      </p:sp>
      <p:sp>
        <p:nvSpPr>
          <p:cNvPr id="8" name="TextBox 7"/>
          <p:cNvSpPr txBox="1"/>
          <p:nvPr/>
        </p:nvSpPr>
        <p:spPr>
          <a:xfrm>
            <a:off x="1783080" y="1322832"/>
            <a:ext cx="6309360" cy="755904"/>
          </a:xfrm>
          <a:prstGeom prst="rect">
            <a:avLst/>
          </a:prstGeom>
          <a:noFill/>
        </p:spPr>
        <p:txBody>
          <a:bodyPr wrap="square" anchor="t" lIns="0" rIns="0" tIns="0" bIns="0">
            <a:spAutoFit/>
          </a:bodyPr>
          <a:lstStyle/>
          <a:p>
            <a:pPr algn="l">
              <a:lnSpc>
                <a:spcPct val="112000"/>
              </a:lnSpc>
              <a:spcAft>
                <a:spcPts val="0"/>
              </a:spcAft>
            </a:pPr>
            <a:r>
              <a:rPr sz="2400" b="0" i="0">
                <a:solidFill>
                  <a:srgbClr val="974F16"/>
                </a:solidFill>
                <a:latin typeface="Georgia"/>
              </a:rPr>
              <a:t>Staying up all night before an exam helps you remember more.</a:t>
            </a:r>
          </a:p>
        </p:txBody>
      </p:sp>
      <p:sp>
        <p:nvSpPr>
          <p:cNvPr id="9" name="TextBox 8"/>
          <p:cNvSpPr txBox="1"/>
          <p:nvPr/>
        </p:nvSpPr>
        <p:spPr>
          <a:xfrm>
            <a:off x="685800" y="2499360"/>
            <a:ext cx="7772400" cy="219456"/>
          </a:xfrm>
          <a:prstGeom prst="rect">
            <a:avLst/>
          </a:prstGeom>
          <a:noFill/>
        </p:spPr>
        <p:txBody>
          <a:bodyPr wrap="square" anchor="t" lIns="0" rIns="0" tIns="0" bIns="0">
            <a:spAutoFit/>
          </a:bodyPr>
          <a:lstStyle/>
          <a:p>
            <a:pPr algn="l">
              <a:lnSpc>
                <a:spcPct val="125000"/>
              </a:lnSpc>
              <a:spcAft>
                <a:spcPts val="0"/>
              </a:spcAft>
            </a:pPr>
            <a:r>
              <a:rPr sz="1000" b="1" i="0" spc="140">
                <a:solidFill>
                  <a:srgbClr val="8B9179"/>
                </a:solidFill>
                <a:latin typeface="Calibri"/>
              </a:rPr>
              <a:t>FACT OR MYTH?</a:t>
            </a:r>
          </a:p>
        </p:txBody>
      </p:sp>
      <p:sp>
        <p:nvSpPr>
          <p:cNvPr id="10" name="Rounded Rectangle 9"/>
          <p:cNvSpPr/>
          <p:nvPr/>
        </p:nvSpPr>
        <p:spPr>
          <a:xfrm>
            <a:off x="685800" y="2791968"/>
            <a:ext cx="3749039" cy="89611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50392" y="3614928"/>
            <a:ext cx="3419856" cy="27432"/>
          </a:xfrm>
          <a:prstGeom prst="rect">
            <a:avLst/>
          </a:prstGeom>
          <a:solidFill>
            <a:srgbClr val="EBC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085084"/>
            <a:ext cx="3383279" cy="309880"/>
          </a:xfrm>
          <a:prstGeom prst="rect">
            <a:avLst/>
          </a:prstGeom>
          <a:noFill/>
        </p:spPr>
        <p:txBody>
          <a:bodyPr wrap="square" anchor="t" lIns="0" rIns="0" tIns="0" bIns="0">
            <a:spAutoFit/>
          </a:bodyPr>
          <a:lstStyle/>
          <a:p>
            <a:pPr algn="ctr">
              <a:lnSpc>
                <a:spcPct val="115000"/>
              </a:lnSpc>
              <a:spcAft>
                <a:spcPts val="0"/>
              </a:spcAft>
            </a:pPr>
            <a:r>
              <a:rPr sz="2000" b="0" i="0">
                <a:solidFill>
                  <a:srgbClr val="974F16"/>
                </a:solidFill>
                <a:latin typeface="Georgia"/>
              </a:rPr>
              <a:t>Fact</a:t>
            </a:r>
          </a:p>
        </p:txBody>
      </p:sp>
      <p:sp>
        <p:nvSpPr>
          <p:cNvPr id="13" name="Rounded Rectangle 12"/>
          <p:cNvSpPr/>
          <p:nvPr/>
        </p:nvSpPr>
        <p:spPr>
          <a:xfrm>
            <a:off x="4709159" y="2791968"/>
            <a:ext cx="3749039" cy="89611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873751" y="3614928"/>
            <a:ext cx="3419856" cy="27432"/>
          </a:xfrm>
          <a:prstGeom prst="rect">
            <a:avLst/>
          </a:prstGeom>
          <a:solidFill>
            <a:srgbClr val="EBC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92040" y="3085084"/>
            <a:ext cx="3383279" cy="309880"/>
          </a:xfrm>
          <a:prstGeom prst="rect">
            <a:avLst/>
          </a:prstGeom>
          <a:noFill/>
        </p:spPr>
        <p:txBody>
          <a:bodyPr wrap="square" anchor="t" lIns="0" rIns="0" tIns="0" bIns="0">
            <a:spAutoFit/>
          </a:bodyPr>
          <a:lstStyle/>
          <a:p>
            <a:pPr algn="ctr">
              <a:lnSpc>
                <a:spcPct val="115000"/>
              </a:lnSpc>
              <a:spcAft>
                <a:spcPts val="0"/>
              </a:spcAft>
            </a:pPr>
            <a:r>
              <a:rPr sz="2000" b="0" i="0">
                <a:solidFill>
                  <a:srgbClr val="974F16"/>
                </a:solidFill>
                <a:latin typeface="Georgia"/>
              </a:rPr>
              <a:t>Myth</a:t>
            </a:r>
          </a:p>
        </p:txBody>
      </p:sp>
      <p:sp>
        <p:nvSpPr>
          <p:cNvPr id="16" name="TextBox 15"/>
          <p:cNvSpPr txBox="1"/>
          <p:nvPr/>
        </p:nvSpPr>
        <p:spPr>
          <a:xfrm>
            <a:off x="685800" y="4169663"/>
            <a:ext cx="7772400" cy="274320"/>
          </a:xfrm>
          <a:prstGeom prst="rect">
            <a:avLst/>
          </a:prstGeom>
          <a:noFill/>
        </p:spPr>
        <p:txBody>
          <a:bodyPr wrap="square" anchor="t" lIns="0" rIns="0" tIns="0" bIns="0">
            <a:spAutoFit/>
          </a:bodyPr>
          <a:lstStyle/>
          <a:p>
            <a:pPr algn="ctr">
              <a:lnSpc>
                <a:spcPct val="125000"/>
              </a:lnSpc>
              <a:spcAft>
                <a:spcPts val="0"/>
              </a:spcAft>
            </a:pPr>
            <a:r>
              <a:rPr sz="1150" b="0" i="1">
                <a:solidFill>
                  <a:srgbClr val="5C6552"/>
                </a:solidFill>
                <a:latin typeface="Calibri"/>
              </a:rPr>
              <a:t>Agree it as a team, then tick it on the sheet.</a:t>
            </a:r>
          </a:p>
        </p:txBody>
      </p:sp>
      <p:pic>
        <p:nvPicPr>
          <p:cNvPr id="17" name="Picture 16" descr="logo-mark.png"/>
          <p:cNvPicPr>
            <a:picLocks noChangeAspect="1"/>
          </p:cNvPicPr>
          <p:nvPr/>
        </p:nvPicPr>
        <p:blipFill>
          <a:blip r:embed="rId2"/>
          <a:stretch>
            <a:fillRect/>
          </a:stretch>
        </p:blipFill>
        <p:spPr>
          <a:xfrm>
            <a:off x="384048" y="4727448"/>
            <a:ext cx="158374" cy="182880"/>
          </a:xfrm>
          <a:prstGeom prst="rect">
            <a:avLst/>
          </a:prstGeom>
        </p:spPr>
      </p:pic>
      <p:sp>
        <p:nvSpPr>
          <p:cNvPr id="18" name="TextBox 17"/>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19" name="TextBox 18"/>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7 / 27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l">
              <a:lnSpc>
                <a:spcPct val="125000"/>
              </a:lnSpc>
              <a:spcAft>
                <a:spcPts val="0"/>
              </a:spcAft>
            </a:pPr>
            <a:r>
              <a:rPr sz="1000" b="1" i="0" spc="160">
                <a:solidFill>
                  <a:srgbClr val="974F16"/>
                </a:solidFill>
                <a:latin typeface="Calibri"/>
              </a:rPr>
              <a:t>THE FORM TIME QUIZ  ·  ROUND ONE  ·  QUESTION 6 OF 10</a:t>
            </a:r>
          </a:p>
        </p:txBody>
      </p:sp>
      <p:sp>
        <p:nvSpPr>
          <p:cNvPr id="4" name="Rounded Rectangle 3"/>
          <p:cNvSpPr/>
          <p:nvPr/>
        </p:nvSpPr>
        <p:spPr>
          <a:xfrm>
            <a:off x="685800" y="1030224"/>
            <a:ext cx="7772400" cy="1341120"/>
          </a:xfrm>
          <a:prstGeom prst="roundRect">
            <a:avLst>
              <a:gd name="adj" fmla="val 6000"/>
            </a:avLst>
          </a:prstGeom>
          <a:solidFill>
            <a:srgbClr val="F8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030224"/>
            <a:ext cx="7772400" cy="54864"/>
          </a:xfrm>
          <a:prstGeom prst="rect">
            <a:avLst/>
          </a:prstGeom>
          <a:solidFill>
            <a:srgbClr val="C97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50976" y="1399032"/>
            <a:ext cx="603504" cy="603504"/>
          </a:xfrm>
          <a:prstGeom prst="ellipse">
            <a:avLst/>
          </a:prstGeom>
          <a:solidFill>
            <a:srgbClr val="974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0976" y="1527048"/>
            <a:ext cx="603504" cy="347472"/>
          </a:xfrm>
          <a:prstGeom prst="rect">
            <a:avLst/>
          </a:prstGeom>
          <a:noFill/>
        </p:spPr>
        <p:txBody>
          <a:bodyPr wrap="square" anchor="t" lIns="0" rIns="0" tIns="0" bIns="0">
            <a:spAutoFit/>
          </a:bodyPr>
          <a:lstStyle/>
          <a:p>
            <a:pPr algn="ctr">
              <a:lnSpc>
                <a:spcPct val="125000"/>
              </a:lnSpc>
              <a:spcAft>
                <a:spcPts val="0"/>
              </a:spcAft>
            </a:pPr>
            <a:r>
              <a:rPr sz="2000" b="1" i="0">
                <a:solidFill>
                  <a:srgbClr val="FFFDF7"/>
                </a:solidFill>
                <a:latin typeface="Calibri"/>
              </a:rPr>
              <a:t>6</a:t>
            </a:r>
          </a:p>
        </p:txBody>
      </p:sp>
      <p:sp>
        <p:nvSpPr>
          <p:cNvPr id="8" name="TextBox 7"/>
          <p:cNvSpPr txBox="1"/>
          <p:nvPr/>
        </p:nvSpPr>
        <p:spPr>
          <a:xfrm>
            <a:off x="1783080" y="1322832"/>
            <a:ext cx="6309360" cy="755904"/>
          </a:xfrm>
          <a:prstGeom prst="rect">
            <a:avLst/>
          </a:prstGeom>
          <a:noFill/>
        </p:spPr>
        <p:txBody>
          <a:bodyPr wrap="square" anchor="t" lIns="0" rIns="0" tIns="0" bIns="0">
            <a:spAutoFit/>
          </a:bodyPr>
          <a:lstStyle/>
          <a:p>
            <a:pPr algn="l">
              <a:lnSpc>
                <a:spcPct val="112000"/>
              </a:lnSpc>
              <a:spcAft>
                <a:spcPts val="0"/>
              </a:spcAft>
            </a:pPr>
            <a:r>
              <a:rPr sz="2400" b="0" i="0">
                <a:solidFill>
                  <a:srgbClr val="974F16"/>
                </a:solidFill>
                <a:latin typeface="Georgia"/>
              </a:rPr>
              <a:t>How much of your brain do you actually use?</a:t>
            </a:r>
          </a:p>
        </p:txBody>
      </p:sp>
      <p:sp>
        <p:nvSpPr>
          <p:cNvPr id="9" name="TextBox 8"/>
          <p:cNvSpPr txBox="1"/>
          <p:nvPr/>
        </p:nvSpPr>
        <p:spPr>
          <a:xfrm>
            <a:off x="685800" y="2499360"/>
            <a:ext cx="7772400" cy="219456"/>
          </a:xfrm>
          <a:prstGeom prst="rect">
            <a:avLst/>
          </a:prstGeom>
          <a:noFill/>
        </p:spPr>
        <p:txBody>
          <a:bodyPr wrap="square" anchor="t" lIns="0" rIns="0" tIns="0" bIns="0">
            <a:spAutoFit/>
          </a:bodyPr>
          <a:lstStyle/>
          <a:p>
            <a:pPr algn="l">
              <a:lnSpc>
                <a:spcPct val="125000"/>
              </a:lnSpc>
              <a:spcAft>
                <a:spcPts val="0"/>
              </a:spcAft>
            </a:pPr>
            <a:r>
              <a:rPr sz="1000" b="1" i="0" spc="140">
                <a:solidFill>
                  <a:srgbClr val="8B9179"/>
                </a:solidFill>
                <a:latin typeface="Calibri"/>
              </a:rPr>
              <a:t>ONE OF THESE</a:t>
            </a:r>
          </a:p>
        </p:txBody>
      </p:sp>
      <p:sp>
        <p:nvSpPr>
          <p:cNvPr id="10" name="Rounded Rectangle 9"/>
          <p:cNvSpPr/>
          <p:nvPr/>
        </p:nvSpPr>
        <p:spPr>
          <a:xfrm>
            <a:off x="685800" y="2791968"/>
            <a:ext cx="2407920" cy="89611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50392" y="3614928"/>
            <a:ext cx="2078736" cy="27432"/>
          </a:xfrm>
          <a:prstGeom prst="rect">
            <a:avLst/>
          </a:prstGeom>
          <a:solidFill>
            <a:srgbClr val="EBC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50392" y="3038856"/>
            <a:ext cx="402336" cy="402336"/>
          </a:xfrm>
          <a:prstGeom prst="ellipse">
            <a:avLst/>
          </a:prstGeom>
          <a:solidFill>
            <a:srgbClr val="974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121152"/>
            <a:ext cx="402336" cy="237744"/>
          </a:xfrm>
          <a:prstGeom prst="rect">
            <a:avLst/>
          </a:prstGeom>
          <a:noFill/>
        </p:spPr>
        <p:txBody>
          <a:bodyPr wrap="square" anchor="t" lIns="0" rIns="0" tIns="0" bIns="0">
            <a:spAutoFit/>
          </a:bodyPr>
          <a:lstStyle/>
          <a:p>
            <a:pPr algn="ctr">
              <a:lnSpc>
                <a:spcPct val="125000"/>
              </a:lnSpc>
              <a:spcAft>
                <a:spcPts val="0"/>
              </a:spcAft>
            </a:pPr>
            <a:r>
              <a:rPr sz="1300" b="1" i="0">
                <a:solidFill>
                  <a:srgbClr val="FFFDF7"/>
                </a:solidFill>
                <a:latin typeface="Calibri"/>
              </a:rPr>
              <a:t>A</a:t>
            </a:r>
          </a:p>
        </p:txBody>
      </p:sp>
      <p:sp>
        <p:nvSpPr>
          <p:cNvPr id="14" name="TextBox 13"/>
          <p:cNvSpPr txBox="1"/>
          <p:nvPr/>
        </p:nvSpPr>
        <p:spPr>
          <a:xfrm>
            <a:off x="1362456" y="2992120"/>
            <a:ext cx="1584960" cy="495807"/>
          </a:xfrm>
          <a:prstGeom prst="rect">
            <a:avLst/>
          </a:prstGeom>
          <a:noFill/>
        </p:spPr>
        <p:txBody>
          <a:bodyPr wrap="square" anchor="t" lIns="0" rIns="0" tIns="0" bIns="0">
            <a:spAutoFit/>
          </a:bodyPr>
          <a:lstStyle/>
          <a:p>
            <a:pPr algn="l">
              <a:lnSpc>
                <a:spcPct val="115000"/>
              </a:lnSpc>
              <a:spcAft>
                <a:spcPts val="0"/>
              </a:spcAft>
            </a:pPr>
            <a:r>
              <a:rPr sz="1600" b="0" i="0">
                <a:solidFill>
                  <a:srgbClr val="2E3436"/>
                </a:solidFill>
                <a:latin typeface="Calibri"/>
              </a:rPr>
              <a:t>About 10 per cent</a:t>
            </a:r>
          </a:p>
        </p:txBody>
      </p:sp>
      <p:sp>
        <p:nvSpPr>
          <p:cNvPr id="15" name="Rounded Rectangle 14"/>
          <p:cNvSpPr/>
          <p:nvPr/>
        </p:nvSpPr>
        <p:spPr>
          <a:xfrm>
            <a:off x="3368040" y="2791968"/>
            <a:ext cx="2407920" cy="89611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32632" y="3614928"/>
            <a:ext cx="2078736" cy="27432"/>
          </a:xfrm>
          <a:prstGeom prst="rect">
            <a:avLst/>
          </a:prstGeom>
          <a:solidFill>
            <a:srgbClr val="EBC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532631" y="3038856"/>
            <a:ext cx="402336" cy="402336"/>
          </a:xfrm>
          <a:prstGeom prst="ellipse">
            <a:avLst/>
          </a:prstGeom>
          <a:solidFill>
            <a:srgbClr val="974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32632" y="3121152"/>
            <a:ext cx="402336" cy="237744"/>
          </a:xfrm>
          <a:prstGeom prst="rect">
            <a:avLst/>
          </a:prstGeom>
          <a:noFill/>
        </p:spPr>
        <p:txBody>
          <a:bodyPr wrap="square" anchor="t" lIns="0" rIns="0" tIns="0" bIns="0">
            <a:spAutoFit/>
          </a:bodyPr>
          <a:lstStyle/>
          <a:p>
            <a:pPr algn="ctr">
              <a:lnSpc>
                <a:spcPct val="125000"/>
              </a:lnSpc>
              <a:spcAft>
                <a:spcPts val="0"/>
              </a:spcAft>
            </a:pPr>
            <a:r>
              <a:rPr sz="1300" b="1" i="0">
                <a:solidFill>
                  <a:srgbClr val="FFFDF7"/>
                </a:solidFill>
                <a:latin typeface="Calibri"/>
              </a:rPr>
              <a:t>B</a:t>
            </a:r>
          </a:p>
        </p:txBody>
      </p:sp>
      <p:sp>
        <p:nvSpPr>
          <p:cNvPr id="19" name="TextBox 18"/>
          <p:cNvSpPr txBox="1"/>
          <p:nvPr/>
        </p:nvSpPr>
        <p:spPr>
          <a:xfrm>
            <a:off x="4044695" y="3116072"/>
            <a:ext cx="1584960" cy="247903"/>
          </a:xfrm>
          <a:prstGeom prst="rect">
            <a:avLst/>
          </a:prstGeom>
          <a:noFill/>
        </p:spPr>
        <p:txBody>
          <a:bodyPr wrap="square" anchor="t" lIns="0" rIns="0" tIns="0" bIns="0">
            <a:spAutoFit/>
          </a:bodyPr>
          <a:lstStyle/>
          <a:p>
            <a:pPr algn="l">
              <a:lnSpc>
                <a:spcPct val="115000"/>
              </a:lnSpc>
              <a:spcAft>
                <a:spcPts val="0"/>
              </a:spcAft>
            </a:pPr>
            <a:r>
              <a:rPr sz="1600" b="0" i="0">
                <a:solidFill>
                  <a:srgbClr val="2E3436"/>
                </a:solidFill>
                <a:latin typeface="Calibri"/>
              </a:rPr>
              <a:t>About half</a:t>
            </a:r>
          </a:p>
        </p:txBody>
      </p:sp>
      <p:sp>
        <p:nvSpPr>
          <p:cNvPr id="20" name="Rounded Rectangle 19"/>
          <p:cNvSpPr/>
          <p:nvPr/>
        </p:nvSpPr>
        <p:spPr>
          <a:xfrm>
            <a:off x="6050280" y="2791968"/>
            <a:ext cx="2407920" cy="89611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4871" y="3614928"/>
            <a:ext cx="2078736" cy="27432"/>
          </a:xfrm>
          <a:prstGeom prst="rect">
            <a:avLst/>
          </a:prstGeom>
          <a:solidFill>
            <a:srgbClr val="EBC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214872" y="3038856"/>
            <a:ext cx="402336" cy="402336"/>
          </a:xfrm>
          <a:prstGeom prst="ellipse">
            <a:avLst/>
          </a:prstGeom>
          <a:solidFill>
            <a:srgbClr val="974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4871" y="3121152"/>
            <a:ext cx="402336" cy="237744"/>
          </a:xfrm>
          <a:prstGeom prst="rect">
            <a:avLst/>
          </a:prstGeom>
          <a:noFill/>
        </p:spPr>
        <p:txBody>
          <a:bodyPr wrap="square" anchor="t" lIns="0" rIns="0" tIns="0" bIns="0">
            <a:spAutoFit/>
          </a:bodyPr>
          <a:lstStyle/>
          <a:p>
            <a:pPr algn="ctr">
              <a:lnSpc>
                <a:spcPct val="125000"/>
              </a:lnSpc>
              <a:spcAft>
                <a:spcPts val="0"/>
              </a:spcAft>
            </a:pPr>
            <a:r>
              <a:rPr sz="1300" b="1" i="0">
                <a:solidFill>
                  <a:srgbClr val="FFFDF7"/>
                </a:solidFill>
                <a:latin typeface="Calibri"/>
              </a:rPr>
              <a:t>C</a:t>
            </a:r>
          </a:p>
        </p:txBody>
      </p:sp>
      <p:sp>
        <p:nvSpPr>
          <p:cNvPr id="24" name="TextBox 23"/>
          <p:cNvSpPr txBox="1"/>
          <p:nvPr/>
        </p:nvSpPr>
        <p:spPr>
          <a:xfrm>
            <a:off x="6726936" y="3116072"/>
            <a:ext cx="1584960" cy="247903"/>
          </a:xfrm>
          <a:prstGeom prst="rect">
            <a:avLst/>
          </a:prstGeom>
          <a:noFill/>
        </p:spPr>
        <p:txBody>
          <a:bodyPr wrap="square" anchor="t" lIns="0" rIns="0" tIns="0" bIns="0">
            <a:spAutoFit/>
          </a:bodyPr>
          <a:lstStyle/>
          <a:p>
            <a:pPr algn="l">
              <a:lnSpc>
                <a:spcPct val="115000"/>
              </a:lnSpc>
              <a:spcAft>
                <a:spcPts val="0"/>
              </a:spcAft>
            </a:pPr>
            <a:r>
              <a:rPr sz="1600" b="0" i="0">
                <a:solidFill>
                  <a:srgbClr val="2E3436"/>
                </a:solidFill>
                <a:latin typeface="Calibri"/>
              </a:rPr>
              <a:t>All of it</a:t>
            </a:r>
          </a:p>
        </p:txBody>
      </p:sp>
      <p:sp>
        <p:nvSpPr>
          <p:cNvPr id="25" name="TextBox 24"/>
          <p:cNvSpPr txBox="1"/>
          <p:nvPr/>
        </p:nvSpPr>
        <p:spPr>
          <a:xfrm>
            <a:off x="685800" y="4169663"/>
            <a:ext cx="7772400" cy="274320"/>
          </a:xfrm>
          <a:prstGeom prst="rect">
            <a:avLst/>
          </a:prstGeom>
          <a:noFill/>
        </p:spPr>
        <p:txBody>
          <a:bodyPr wrap="square" anchor="t" lIns="0" rIns="0" tIns="0" bIns="0">
            <a:spAutoFit/>
          </a:bodyPr>
          <a:lstStyle/>
          <a:p>
            <a:pPr algn="ctr">
              <a:lnSpc>
                <a:spcPct val="125000"/>
              </a:lnSpc>
              <a:spcAft>
                <a:spcPts val="0"/>
              </a:spcAft>
            </a:pPr>
            <a:r>
              <a:rPr sz="1150" b="0" i="1">
                <a:solidFill>
                  <a:srgbClr val="5C6552"/>
                </a:solidFill>
                <a:latin typeface="Calibri"/>
              </a:rPr>
              <a:t>Agree it as a team, then tick it on the sheet.</a:t>
            </a:r>
          </a:p>
        </p:txBody>
      </p:sp>
      <p:pic>
        <p:nvPicPr>
          <p:cNvPr id="26" name="Picture 25" descr="logo-mark.png"/>
          <p:cNvPicPr>
            <a:picLocks noChangeAspect="1"/>
          </p:cNvPicPr>
          <p:nvPr/>
        </p:nvPicPr>
        <p:blipFill>
          <a:blip r:embed="rId2"/>
          <a:stretch>
            <a:fillRect/>
          </a:stretch>
        </p:blipFill>
        <p:spPr>
          <a:xfrm>
            <a:off x="384048" y="4727448"/>
            <a:ext cx="158374" cy="182880"/>
          </a:xfrm>
          <a:prstGeom prst="rect">
            <a:avLst/>
          </a:prstGeom>
        </p:spPr>
      </p:pic>
      <p:sp>
        <p:nvSpPr>
          <p:cNvPr id="27" name="TextBox 26"/>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28" name="TextBox 27"/>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8 / 27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974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952258" y="914400"/>
            <a:ext cx="1239483" cy="237744"/>
          </a:xfrm>
          <a:prstGeom prst="roundRect">
            <a:avLst>
              <a:gd name="adj" fmla="val 50000"/>
            </a:avLst>
          </a:prstGeom>
          <a:solidFill>
            <a:srgbClr val="EBCDA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spc="90">
                <a:solidFill>
                  <a:srgbClr val="974F16"/>
                </a:solidFill>
                <a:latin typeface="Calibri"/>
              </a:rPr>
              <a:t>ROUND TWO</a:t>
            </a:r>
          </a:p>
        </p:txBody>
      </p:sp>
      <p:sp>
        <p:nvSpPr>
          <p:cNvPr id="4" name="TextBox 3"/>
          <p:cNvSpPr txBox="1"/>
          <p:nvPr/>
        </p:nvSpPr>
        <p:spPr>
          <a:xfrm>
            <a:off x="548640" y="1481328"/>
            <a:ext cx="8046720" cy="731520"/>
          </a:xfrm>
          <a:prstGeom prst="rect">
            <a:avLst/>
          </a:prstGeom>
          <a:noFill/>
        </p:spPr>
        <p:txBody>
          <a:bodyPr wrap="square" anchor="t" lIns="0" rIns="0" tIns="0" bIns="0">
            <a:spAutoFit/>
          </a:bodyPr>
          <a:lstStyle/>
          <a:p>
            <a:pPr algn="ctr">
              <a:lnSpc>
                <a:spcPct val="105000"/>
              </a:lnSpc>
              <a:spcAft>
                <a:spcPts val="0"/>
              </a:spcAft>
            </a:pPr>
            <a:r>
              <a:rPr sz="4000" b="0" i="0">
                <a:solidFill>
                  <a:srgbClr val="FFFDF7"/>
                </a:solidFill>
                <a:latin typeface="Georgia"/>
              </a:rPr>
              <a:t>General knowledge</a:t>
            </a:r>
          </a:p>
        </p:txBody>
      </p:sp>
      <p:sp>
        <p:nvSpPr>
          <p:cNvPr id="5" name="Rectangle 4"/>
          <p:cNvSpPr/>
          <p:nvPr/>
        </p:nvSpPr>
        <p:spPr>
          <a:xfrm>
            <a:off x="4114800" y="2487168"/>
            <a:ext cx="914400" cy="18288"/>
          </a:xfrm>
          <a:prstGeom prst="rect">
            <a:avLst/>
          </a:prstGeom>
          <a:solidFill>
            <a:srgbClr val="EBC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2724912"/>
            <a:ext cx="6583680" cy="914400"/>
          </a:xfrm>
          <a:prstGeom prst="rect">
            <a:avLst/>
          </a:prstGeom>
          <a:noFill/>
        </p:spPr>
        <p:txBody>
          <a:bodyPr wrap="square" anchor="t" lIns="0" rIns="0" tIns="0" bIns="0">
            <a:spAutoFit/>
          </a:bodyPr>
          <a:lstStyle/>
          <a:p>
            <a:pPr algn="ctr">
              <a:lnSpc>
                <a:spcPct val="130000"/>
              </a:lnSpc>
              <a:spcAft>
                <a:spcPts val="0"/>
              </a:spcAft>
            </a:pPr>
            <a:r>
              <a:rPr sz="1500" b="0" i="0">
                <a:solidFill>
                  <a:srgbClr val="EBCDAE"/>
                </a:solidFill>
                <a:latin typeface="Calibri"/>
              </a:rPr>
              <a:t>Four questions to finish. Some have options, and some you will have to write out in full.</a:t>
            </a:r>
          </a:p>
        </p:txBody>
      </p:sp>
      <p:pic>
        <p:nvPicPr>
          <p:cNvPr id="7" name="Picture 6" descr="logo-mark.png"/>
          <p:cNvPicPr>
            <a:picLocks noChangeAspect="1"/>
          </p:cNvPicPr>
          <p:nvPr/>
        </p:nvPicPr>
        <p:blipFill>
          <a:blip r:embed="rId2"/>
          <a:stretch>
            <a:fillRect/>
          </a:stretch>
        </p:blipFill>
        <p:spPr>
          <a:xfrm>
            <a:off x="384048" y="4727448"/>
            <a:ext cx="158374" cy="182880"/>
          </a:xfrm>
          <a:prstGeom prst="rect">
            <a:avLst/>
          </a:prstGeom>
        </p:spPr>
      </p:pic>
      <p:sp>
        <p:nvSpPr>
          <p:cNvPr id="8" name="TextBox 7"/>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EBCDAE"/>
                </a:solidFill>
                <a:latin typeface="Calibri"/>
              </a:rPr>
              <a:t>The Pastoral Guide</a:t>
            </a:r>
          </a:p>
        </p:txBody>
      </p:sp>
      <p:sp>
        <p:nvSpPr>
          <p:cNvPr id="9" name="TextBox 8"/>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EBCDAE"/>
                </a:solidFill>
                <a:latin typeface="Calibri"/>
              </a:rPr>
              <a:t>9 / 27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l">
              <a:lnSpc>
                <a:spcPct val="125000"/>
              </a:lnSpc>
              <a:spcAft>
                <a:spcPts val="0"/>
              </a:spcAft>
            </a:pPr>
            <a:r>
              <a:rPr sz="1000" b="1" i="0" spc="160">
                <a:solidFill>
                  <a:srgbClr val="974F16"/>
                </a:solidFill>
                <a:latin typeface="Calibri"/>
              </a:rPr>
              <a:t>THE FORM TIME QUIZ  ·  ROUND TWO  ·  QUESTION 7 OF 10</a:t>
            </a:r>
          </a:p>
        </p:txBody>
      </p:sp>
      <p:sp>
        <p:nvSpPr>
          <p:cNvPr id="4" name="Rounded Rectangle 3"/>
          <p:cNvSpPr/>
          <p:nvPr/>
        </p:nvSpPr>
        <p:spPr>
          <a:xfrm>
            <a:off x="685800" y="1094232"/>
            <a:ext cx="7772400" cy="1341120"/>
          </a:xfrm>
          <a:prstGeom prst="roundRect">
            <a:avLst>
              <a:gd name="adj" fmla="val 6000"/>
            </a:avLst>
          </a:prstGeom>
          <a:solidFill>
            <a:srgbClr val="F8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094232"/>
            <a:ext cx="7772400" cy="54864"/>
          </a:xfrm>
          <a:prstGeom prst="rect">
            <a:avLst/>
          </a:prstGeom>
          <a:solidFill>
            <a:srgbClr val="C97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50976" y="1463040"/>
            <a:ext cx="603504" cy="603504"/>
          </a:xfrm>
          <a:prstGeom prst="ellipse">
            <a:avLst/>
          </a:prstGeom>
          <a:solidFill>
            <a:srgbClr val="974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0976" y="1591056"/>
            <a:ext cx="603504" cy="347472"/>
          </a:xfrm>
          <a:prstGeom prst="rect">
            <a:avLst/>
          </a:prstGeom>
          <a:noFill/>
        </p:spPr>
        <p:txBody>
          <a:bodyPr wrap="square" anchor="t" lIns="0" rIns="0" tIns="0" bIns="0">
            <a:spAutoFit/>
          </a:bodyPr>
          <a:lstStyle/>
          <a:p>
            <a:pPr algn="ctr">
              <a:lnSpc>
                <a:spcPct val="125000"/>
              </a:lnSpc>
              <a:spcAft>
                <a:spcPts val="0"/>
              </a:spcAft>
            </a:pPr>
            <a:r>
              <a:rPr sz="2000" b="1" i="0">
                <a:solidFill>
                  <a:srgbClr val="FFFDF7"/>
                </a:solidFill>
                <a:latin typeface="Calibri"/>
              </a:rPr>
              <a:t>7</a:t>
            </a:r>
          </a:p>
        </p:txBody>
      </p:sp>
      <p:sp>
        <p:nvSpPr>
          <p:cNvPr id="8" name="TextBox 7"/>
          <p:cNvSpPr txBox="1"/>
          <p:nvPr/>
        </p:nvSpPr>
        <p:spPr>
          <a:xfrm>
            <a:off x="1783080" y="1386840"/>
            <a:ext cx="6309360" cy="755904"/>
          </a:xfrm>
          <a:prstGeom prst="rect">
            <a:avLst/>
          </a:prstGeom>
          <a:noFill/>
        </p:spPr>
        <p:txBody>
          <a:bodyPr wrap="square" anchor="t" lIns="0" rIns="0" tIns="0" bIns="0">
            <a:spAutoFit/>
          </a:bodyPr>
          <a:lstStyle/>
          <a:p>
            <a:pPr algn="l">
              <a:lnSpc>
                <a:spcPct val="112000"/>
              </a:lnSpc>
              <a:spcAft>
                <a:spcPts val="0"/>
              </a:spcAft>
            </a:pPr>
            <a:r>
              <a:rPr sz="2400" b="0" i="0">
                <a:solidFill>
                  <a:srgbClr val="974F16"/>
                </a:solidFill>
                <a:latin typeface="Georgia"/>
              </a:rPr>
              <a:t>What is the chemical symbol for gold?</a:t>
            </a:r>
          </a:p>
        </p:txBody>
      </p:sp>
      <p:sp>
        <p:nvSpPr>
          <p:cNvPr id="9" name="Rectangle 8"/>
          <p:cNvSpPr/>
          <p:nvPr/>
        </p:nvSpPr>
        <p:spPr>
          <a:xfrm>
            <a:off x="1965960" y="3368040"/>
            <a:ext cx="5212080" cy="27432"/>
          </a:xfrm>
          <a:prstGeom prst="rect">
            <a:avLst/>
          </a:prstGeom>
          <a:solidFill>
            <a:srgbClr val="C97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3514344"/>
            <a:ext cx="7772400" cy="274320"/>
          </a:xfrm>
          <a:prstGeom prst="rect">
            <a:avLst/>
          </a:prstGeom>
          <a:noFill/>
        </p:spPr>
        <p:txBody>
          <a:bodyPr wrap="square" anchor="t" lIns="0" rIns="0" tIns="0" bIns="0">
            <a:spAutoFit/>
          </a:bodyPr>
          <a:lstStyle/>
          <a:p>
            <a:pPr algn="ctr">
              <a:lnSpc>
                <a:spcPct val="125000"/>
              </a:lnSpc>
              <a:spcAft>
                <a:spcPts val="0"/>
              </a:spcAft>
            </a:pPr>
            <a:r>
              <a:rPr sz="1200" b="0" i="1">
                <a:solidFill>
                  <a:srgbClr val="8B9179"/>
                </a:solidFill>
                <a:latin typeface="Calibri"/>
              </a:rPr>
              <a:t>Agree it as a team, then write it on the sheet.</a:t>
            </a:r>
          </a:p>
        </p:txBody>
      </p:sp>
      <p:pic>
        <p:nvPicPr>
          <p:cNvPr id="11" name="Picture 10" descr="logo-mark.png"/>
          <p:cNvPicPr>
            <a:picLocks noChangeAspect="1"/>
          </p:cNvPicPr>
          <p:nvPr/>
        </p:nvPicPr>
        <p:blipFill>
          <a:blip r:embed="rId2"/>
          <a:stretch>
            <a:fillRect/>
          </a:stretch>
        </p:blipFill>
        <p:spPr>
          <a:xfrm>
            <a:off x="384048" y="4727448"/>
            <a:ext cx="158374" cy="182880"/>
          </a:xfrm>
          <a:prstGeom prst="rect">
            <a:avLst/>
          </a:prstGeom>
        </p:spPr>
      </p:pic>
      <p:sp>
        <p:nvSpPr>
          <p:cNvPr id="12" name="TextBox 11"/>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13" name="TextBox 12"/>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10 / 27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l">
              <a:lnSpc>
                <a:spcPct val="125000"/>
              </a:lnSpc>
              <a:spcAft>
                <a:spcPts val="0"/>
              </a:spcAft>
            </a:pPr>
            <a:r>
              <a:rPr sz="1000" b="1" i="0" spc="160">
                <a:solidFill>
                  <a:srgbClr val="974F16"/>
                </a:solidFill>
                <a:latin typeface="Calibri"/>
              </a:rPr>
              <a:t>THE FORM TIME QUIZ  ·  ROUND TWO  ·  QUESTION 8 OF 10</a:t>
            </a:r>
          </a:p>
        </p:txBody>
      </p:sp>
      <p:sp>
        <p:nvSpPr>
          <p:cNvPr id="4" name="Rounded Rectangle 3"/>
          <p:cNvSpPr/>
          <p:nvPr/>
        </p:nvSpPr>
        <p:spPr>
          <a:xfrm>
            <a:off x="685800" y="1170432"/>
            <a:ext cx="7772400" cy="1188720"/>
          </a:xfrm>
          <a:prstGeom prst="roundRect">
            <a:avLst>
              <a:gd name="adj" fmla="val 6000"/>
            </a:avLst>
          </a:prstGeom>
          <a:solidFill>
            <a:srgbClr val="F8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170432"/>
            <a:ext cx="7772400" cy="54864"/>
          </a:xfrm>
          <a:prstGeom prst="rect">
            <a:avLst/>
          </a:prstGeom>
          <a:solidFill>
            <a:srgbClr val="C97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50976" y="1463040"/>
            <a:ext cx="603504" cy="603504"/>
          </a:xfrm>
          <a:prstGeom prst="ellipse">
            <a:avLst/>
          </a:prstGeom>
          <a:solidFill>
            <a:srgbClr val="974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0976" y="1591056"/>
            <a:ext cx="603504" cy="347472"/>
          </a:xfrm>
          <a:prstGeom prst="rect">
            <a:avLst/>
          </a:prstGeom>
          <a:noFill/>
        </p:spPr>
        <p:txBody>
          <a:bodyPr wrap="square" anchor="t" lIns="0" rIns="0" tIns="0" bIns="0">
            <a:spAutoFit/>
          </a:bodyPr>
          <a:lstStyle/>
          <a:p>
            <a:pPr algn="ctr">
              <a:lnSpc>
                <a:spcPct val="125000"/>
              </a:lnSpc>
              <a:spcAft>
                <a:spcPts val="0"/>
              </a:spcAft>
            </a:pPr>
            <a:r>
              <a:rPr sz="2000" b="1" i="0">
                <a:solidFill>
                  <a:srgbClr val="FFFDF7"/>
                </a:solidFill>
                <a:latin typeface="Calibri"/>
              </a:rPr>
              <a:t>8</a:t>
            </a:r>
          </a:p>
        </p:txBody>
      </p:sp>
      <p:sp>
        <p:nvSpPr>
          <p:cNvPr id="8" name="TextBox 7"/>
          <p:cNvSpPr txBox="1"/>
          <p:nvPr/>
        </p:nvSpPr>
        <p:spPr>
          <a:xfrm>
            <a:off x="1783080" y="1575816"/>
            <a:ext cx="6309360" cy="377952"/>
          </a:xfrm>
          <a:prstGeom prst="rect">
            <a:avLst/>
          </a:prstGeom>
          <a:noFill/>
        </p:spPr>
        <p:txBody>
          <a:bodyPr wrap="square" anchor="t" lIns="0" rIns="0" tIns="0" bIns="0">
            <a:spAutoFit/>
          </a:bodyPr>
          <a:lstStyle/>
          <a:p>
            <a:pPr algn="l">
              <a:lnSpc>
                <a:spcPct val="112000"/>
              </a:lnSpc>
              <a:spcAft>
                <a:spcPts val="0"/>
              </a:spcAft>
            </a:pPr>
            <a:r>
              <a:rPr sz="2400" b="0" i="0">
                <a:solidFill>
                  <a:srgbClr val="974F16"/>
                </a:solidFill>
                <a:latin typeface="Georgia"/>
              </a:rPr>
              <a:t>Which is the longest river in Africa?</a:t>
            </a:r>
          </a:p>
        </p:txBody>
      </p:sp>
      <p:sp>
        <p:nvSpPr>
          <p:cNvPr id="9" name="Rectangle 8"/>
          <p:cNvSpPr/>
          <p:nvPr/>
        </p:nvSpPr>
        <p:spPr>
          <a:xfrm>
            <a:off x="1965960" y="3291840"/>
            <a:ext cx="5212080" cy="27432"/>
          </a:xfrm>
          <a:prstGeom prst="rect">
            <a:avLst/>
          </a:prstGeom>
          <a:solidFill>
            <a:srgbClr val="C97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3438144"/>
            <a:ext cx="7772400" cy="274320"/>
          </a:xfrm>
          <a:prstGeom prst="rect">
            <a:avLst/>
          </a:prstGeom>
          <a:noFill/>
        </p:spPr>
        <p:txBody>
          <a:bodyPr wrap="square" anchor="t" lIns="0" rIns="0" tIns="0" bIns="0">
            <a:spAutoFit/>
          </a:bodyPr>
          <a:lstStyle/>
          <a:p>
            <a:pPr algn="ctr">
              <a:lnSpc>
                <a:spcPct val="125000"/>
              </a:lnSpc>
              <a:spcAft>
                <a:spcPts val="0"/>
              </a:spcAft>
            </a:pPr>
            <a:r>
              <a:rPr sz="1200" b="0" i="1">
                <a:solidFill>
                  <a:srgbClr val="8B9179"/>
                </a:solidFill>
                <a:latin typeface="Calibri"/>
              </a:rPr>
              <a:t>Agree it as a team, then write it on the sheet.</a:t>
            </a:r>
          </a:p>
        </p:txBody>
      </p:sp>
      <p:pic>
        <p:nvPicPr>
          <p:cNvPr id="11" name="Picture 10" descr="logo-mark.png"/>
          <p:cNvPicPr>
            <a:picLocks noChangeAspect="1"/>
          </p:cNvPicPr>
          <p:nvPr/>
        </p:nvPicPr>
        <p:blipFill>
          <a:blip r:embed="rId2"/>
          <a:stretch>
            <a:fillRect/>
          </a:stretch>
        </p:blipFill>
        <p:spPr>
          <a:xfrm>
            <a:off x="384048" y="4727448"/>
            <a:ext cx="158374" cy="182880"/>
          </a:xfrm>
          <a:prstGeom prst="rect">
            <a:avLst/>
          </a:prstGeom>
        </p:spPr>
      </p:pic>
      <p:sp>
        <p:nvSpPr>
          <p:cNvPr id="12" name="TextBox 11"/>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13" name="TextBox 12"/>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11 / 27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l">
              <a:lnSpc>
                <a:spcPct val="125000"/>
              </a:lnSpc>
              <a:spcAft>
                <a:spcPts val="0"/>
              </a:spcAft>
            </a:pPr>
            <a:r>
              <a:rPr sz="1000" b="1" i="0" spc="160">
                <a:solidFill>
                  <a:srgbClr val="974F16"/>
                </a:solidFill>
                <a:latin typeface="Calibri"/>
              </a:rPr>
              <a:t>THE FORM TIME QUIZ  ·  ROUND TWO  ·  QUESTION 9 OF 10</a:t>
            </a:r>
          </a:p>
        </p:txBody>
      </p:sp>
      <p:sp>
        <p:nvSpPr>
          <p:cNvPr id="4" name="Rounded Rectangle 3"/>
          <p:cNvSpPr/>
          <p:nvPr/>
        </p:nvSpPr>
        <p:spPr>
          <a:xfrm>
            <a:off x="685800" y="1030224"/>
            <a:ext cx="7772400" cy="1341120"/>
          </a:xfrm>
          <a:prstGeom prst="roundRect">
            <a:avLst>
              <a:gd name="adj" fmla="val 6000"/>
            </a:avLst>
          </a:prstGeom>
          <a:solidFill>
            <a:srgbClr val="F8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030224"/>
            <a:ext cx="7772400" cy="54864"/>
          </a:xfrm>
          <a:prstGeom prst="rect">
            <a:avLst/>
          </a:prstGeom>
          <a:solidFill>
            <a:srgbClr val="C97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50976" y="1399032"/>
            <a:ext cx="603504" cy="603504"/>
          </a:xfrm>
          <a:prstGeom prst="ellipse">
            <a:avLst/>
          </a:prstGeom>
          <a:solidFill>
            <a:srgbClr val="974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0976" y="1527048"/>
            <a:ext cx="603504" cy="347472"/>
          </a:xfrm>
          <a:prstGeom prst="rect">
            <a:avLst/>
          </a:prstGeom>
          <a:noFill/>
        </p:spPr>
        <p:txBody>
          <a:bodyPr wrap="square" anchor="t" lIns="0" rIns="0" tIns="0" bIns="0">
            <a:spAutoFit/>
          </a:bodyPr>
          <a:lstStyle/>
          <a:p>
            <a:pPr algn="ctr">
              <a:lnSpc>
                <a:spcPct val="125000"/>
              </a:lnSpc>
              <a:spcAft>
                <a:spcPts val="0"/>
              </a:spcAft>
            </a:pPr>
            <a:r>
              <a:rPr sz="2000" b="1" i="0">
                <a:solidFill>
                  <a:srgbClr val="FFFDF7"/>
                </a:solidFill>
                <a:latin typeface="Calibri"/>
              </a:rPr>
              <a:t>9</a:t>
            </a:r>
          </a:p>
        </p:txBody>
      </p:sp>
      <p:sp>
        <p:nvSpPr>
          <p:cNvPr id="8" name="TextBox 7"/>
          <p:cNvSpPr txBox="1"/>
          <p:nvPr/>
        </p:nvSpPr>
        <p:spPr>
          <a:xfrm>
            <a:off x="1783080" y="1322832"/>
            <a:ext cx="6309360" cy="755904"/>
          </a:xfrm>
          <a:prstGeom prst="rect">
            <a:avLst/>
          </a:prstGeom>
          <a:noFill/>
        </p:spPr>
        <p:txBody>
          <a:bodyPr wrap="square" anchor="t" lIns="0" rIns="0" tIns="0" bIns="0">
            <a:spAutoFit/>
          </a:bodyPr>
          <a:lstStyle/>
          <a:p>
            <a:pPr algn="l">
              <a:lnSpc>
                <a:spcPct val="112000"/>
              </a:lnSpc>
              <a:spcAft>
                <a:spcPts val="0"/>
              </a:spcAft>
            </a:pPr>
            <a:r>
              <a:rPr sz="2400" b="0" i="0">
                <a:solidFill>
                  <a:srgbClr val="974F16"/>
                </a:solidFill>
                <a:latin typeface="Georgia"/>
              </a:rPr>
              <a:t>How many bones are there in an adult human body?</a:t>
            </a:r>
          </a:p>
        </p:txBody>
      </p:sp>
      <p:sp>
        <p:nvSpPr>
          <p:cNvPr id="9" name="TextBox 8"/>
          <p:cNvSpPr txBox="1"/>
          <p:nvPr/>
        </p:nvSpPr>
        <p:spPr>
          <a:xfrm>
            <a:off x="685800" y="2499360"/>
            <a:ext cx="7772400" cy="219456"/>
          </a:xfrm>
          <a:prstGeom prst="rect">
            <a:avLst/>
          </a:prstGeom>
          <a:noFill/>
        </p:spPr>
        <p:txBody>
          <a:bodyPr wrap="square" anchor="t" lIns="0" rIns="0" tIns="0" bIns="0">
            <a:spAutoFit/>
          </a:bodyPr>
          <a:lstStyle/>
          <a:p>
            <a:pPr algn="l">
              <a:lnSpc>
                <a:spcPct val="125000"/>
              </a:lnSpc>
              <a:spcAft>
                <a:spcPts val="0"/>
              </a:spcAft>
            </a:pPr>
            <a:r>
              <a:rPr sz="1000" b="1" i="0" spc="140">
                <a:solidFill>
                  <a:srgbClr val="8B9179"/>
                </a:solidFill>
                <a:latin typeface="Calibri"/>
              </a:rPr>
              <a:t>ONE OF THESE</a:t>
            </a:r>
          </a:p>
        </p:txBody>
      </p:sp>
      <p:sp>
        <p:nvSpPr>
          <p:cNvPr id="10" name="Rounded Rectangle 9"/>
          <p:cNvSpPr/>
          <p:nvPr/>
        </p:nvSpPr>
        <p:spPr>
          <a:xfrm>
            <a:off x="685800" y="2791968"/>
            <a:ext cx="2407920" cy="89611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50392" y="3614928"/>
            <a:ext cx="2078736" cy="27432"/>
          </a:xfrm>
          <a:prstGeom prst="rect">
            <a:avLst/>
          </a:prstGeom>
          <a:solidFill>
            <a:srgbClr val="EBC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50392" y="3038856"/>
            <a:ext cx="402336" cy="402336"/>
          </a:xfrm>
          <a:prstGeom prst="ellipse">
            <a:avLst/>
          </a:prstGeom>
          <a:solidFill>
            <a:srgbClr val="974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121152"/>
            <a:ext cx="402336" cy="237744"/>
          </a:xfrm>
          <a:prstGeom prst="rect">
            <a:avLst/>
          </a:prstGeom>
          <a:noFill/>
        </p:spPr>
        <p:txBody>
          <a:bodyPr wrap="square" anchor="t" lIns="0" rIns="0" tIns="0" bIns="0">
            <a:spAutoFit/>
          </a:bodyPr>
          <a:lstStyle/>
          <a:p>
            <a:pPr algn="ctr">
              <a:lnSpc>
                <a:spcPct val="125000"/>
              </a:lnSpc>
              <a:spcAft>
                <a:spcPts val="0"/>
              </a:spcAft>
            </a:pPr>
            <a:r>
              <a:rPr sz="1300" b="1" i="0">
                <a:solidFill>
                  <a:srgbClr val="FFFDF7"/>
                </a:solidFill>
                <a:latin typeface="Calibri"/>
              </a:rPr>
              <a:t>A</a:t>
            </a:r>
          </a:p>
        </p:txBody>
      </p:sp>
      <p:sp>
        <p:nvSpPr>
          <p:cNvPr id="14" name="TextBox 13"/>
          <p:cNvSpPr txBox="1"/>
          <p:nvPr/>
        </p:nvSpPr>
        <p:spPr>
          <a:xfrm>
            <a:off x="1362456" y="3116072"/>
            <a:ext cx="1584960" cy="247903"/>
          </a:xfrm>
          <a:prstGeom prst="rect">
            <a:avLst/>
          </a:prstGeom>
          <a:noFill/>
        </p:spPr>
        <p:txBody>
          <a:bodyPr wrap="square" anchor="t" lIns="0" rIns="0" tIns="0" bIns="0">
            <a:spAutoFit/>
          </a:bodyPr>
          <a:lstStyle/>
          <a:p>
            <a:pPr algn="l">
              <a:lnSpc>
                <a:spcPct val="115000"/>
              </a:lnSpc>
              <a:spcAft>
                <a:spcPts val="0"/>
              </a:spcAft>
            </a:pPr>
            <a:r>
              <a:rPr sz="1600" b="0" i="0">
                <a:solidFill>
                  <a:srgbClr val="2E3436"/>
                </a:solidFill>
                <a:latin typeface="Calibri"/>
              </a:rPr>
              <a:t>106</a:t>
            </a:r>
          </a:p>
        </p:txBody>
      </p:sp>
      <p:sp>
        <p:nvSpPr>
          <p:cNvPr id="15" name="Rounded Rectangle 14"/>
          <p:cNvSpPr/>
          <p:nvPr/>
        </p:nvSpPr>
        <p:spPr>
          <a:xfrm>
            <a:off x="3368040" y="2791968"/>
            <a:ext cx="2407920" cy="89611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32632" y="3614928"/>
            <a:ext cx="2078736" cy="27432"/>
          </a:xfrm>
          <a:prstGeom prst="rect">
            <a:avLst/>
          </a:prstGeom>
          <a:solidFill>
            <a:srgbClr val="EBC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532631" y="3038856"/>
            <a:ext cx="402336" cy="402336"/>
          </a:xfrm>
          <a:prstGeom prst="ellipse">
            <a:avLst/>
          </a:prstGeom>
          <a:solidFill>
            <a:srgbClr val="974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32632" y="3121152"/>
            <a:ext cx="402336" cy="237744"/>
          </a:xfrm>
          <a:prstGeom prst="rect">
            <a:avLst/>
          </a:prstGeom>
          <a:noFill/>
        </p:spPr>
        <p:txBody>
          <a:bodyPr wrap="square" anchor="t" lIns="0" rIns="0" tIns="0" bIns="0">
            <a:spAutoFit/>
          </a:bodyPr>
          <a:lstStyle/>
          <a:p>
            <a:pPr algn="ctr">
              <a:lnSpc>
                <a:spcPct val="125000"/>
              </a:lnSpc>
              <a:spcAft>
                <a:spcPts val="0"/>
              </a:spcAft>
            </a:pPr>
            <a:r>
              <a:rPr sz="1300" b="1" i="0">
                <a:solidFill>
                  <a:srgbClr val="FFFDF7"/>
                </a:solidFill>
                <a:latin typeface="Calibri"/>
              </a:rPr>
              <a:t>B</a:t>
            </a:r>
          </a:p>
        </p:txBody>
      </p:sp>
      <p:sp>
        <p:nvSpPr>
          <p:cNvPr id="19" name="TextBox 18"/>
          <p:cNvSpPr txBox="1"/>
          <p:nvPr/>
        </p:nvSpPr>
        <p:spPr>
          <a:xfrm>
            <a:off x="4044695" y="3116072"/>
            <a:ext cx="1584960" cy="247903"/>
          </a:xfrm>
          <a:prstGeom prst="rect">
            <a:avLst/>
          </a:prstGeom>
          <a:noFill/>
        </p:spPr>
        <p:txBody>
          <a:bodyPr wrap="square" anchor="t" lIns="0" rIns="0" tIns="0" bIns="0">
            <a:spAutoFit/>
          </a:bodyPr>
          <a:lstStyle/>
          <a:p>
            <a:pPr algn="l">
              <a:lnSpc>
                <a:spcPct val="115000"/>
              </a:lnSpc>
              <a:spcAft>
                <a:spcPts val="0"/>
              </a:spcAft>
            </a:pPr>
            <a:r>
              <a:rPr sz="1600" b="0" i="0">
                <a:solidFill>
                  <a:srgbClr val="2E3436"/>
                </a:solidFill>
                <a:latin typeface="Calibri"/>
              </a:rPr>
              <a:t>206</a:t>
            </a:r>
          </a:p>
        </p:txBody>
      </p:sp>
      <p:sp>
        <p:nvSpPr>
          <p:cNvPr id="20" name="Rounded Rectangle 19"/>
          <p:cNvSpPr/>
          <p:nvPr/>
        </p:nvSpPr>
        <p:spPr>
          <a:xfrm>
            <a:off x="6050280" y="2791968"/>
            <a:ext cx="2407920" cy="89611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4871" y="3614928"/>
            <a:ext cx="2078736" cy="27432"/>
          </a:xfrm>
          <a:prstGeom prst="rect">
            <a:avLst/>
          </a:prstGeom>
          <a:solidFill>
            <a:srgbClr val="EBC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214872" y="3038856"/>
            <a:ext cx="402336" cy="402336"/>
          </a:xfrm>
          <a:prstGeom prst="ellipse">
            <a:avLst/>
          </a:prstGeom>
          <a:solidFill>
            <a:srgbClr val="974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4871" y="3121152"/>
            <a:ext cx="402336" cy="237744"/>
          </a:xfrm>
          <a:prstGeom prst="rect">
            <a:avLst/>
          </a:prstGeom>
          <a:noFill/>
        </p:spPr>
        <p:txBody>
          <a:bodyPr wrap="square" anchor="t" lIns="0" rIns="0" tIns="0" bIns="0">
            <a:spAutoFit/>
          </a:bodyPr>
          <a:lstStyle/>
          <a:p>
            <a:pPr algn="ctr">
              <a:lnSpc>
                <a:spcPct val="125000"/>
              </a:lnSpc>
              <a:spcAft>
                <a:spcPts val="0"/>
              </a:spcAft>
            </a:pPr>
            <a:r>
              <a:rPr sz="1300" b="1" i="0">
                <a:solidFill>
                  <a:srgbClr val="FFFDF7"/>
                </a:solidFill>
                <a:latin typeface="Calibri"/>
              </a:rPr>
              <a:t>C</a:t>
            </a:r>
          </a:p>
        </p:txBody>
      </p:sp>
      <p:sp>
        <p:nvSpPr>
          <p:cNvPr id="24" name="TextBox 23"/>
          <p:cNvSpPr txBox="1"/>
          <p:nvPr/>
        </p:nvSpPr>
        <p:spPr>
          <a:xfrm>
            <a:off x="6726936" y="3116072"/>
            <a:ext cx="1584960" cy="247903"/>
          </a:xfrm>
          <a:prstGeom prst="rect">
            <a:avLst/>
          </a:prstGeom>
          <a:noFill/>
        </p:spPr>
        <p:txBody>
          <a:bodyPr wrap="square" anchor="t" lIns="0" rIns="0" tIns="0" bIns="0">
            <a:spAutoFit/>
          </a:bodyPr>
          <a:lstStyle/>
          <a:p>
            <a:pPr algn="l">
              <a:lnSpc>
                <a:spcPct val="115000"/>
              </a:lnSpc>
              <a:spcAft>
                <a:spcPts val="0"/>
              </a:spcAft>
            </a:pPr>
            <a:r>
              <a:rPr sz="1600" b="0" i="0">
                <a:solidFill>
                  <a:srgbClr val="2E3436"/>
                </a:solidFill>
                <a:latin typeface="Calibri"/>
              </a:rPr>
              <a:t>306</a:t>
            </a:r>
          </a:p>
        </p:txBody>
      </p:sp>
      <p:sp>
        <p:nvSpPr>
          <p:cNvPr id="25" name="TextBox 24"/>
          <p:cNvSpPr txBox="1"/>
          <p:nvPr/>
        </p:nvSpPr>
        <p:spPr>
          <a:xfrm>
            <a:off x="685800" y="4169663"/>
            <a:ext cx="7772400" cy="274320"/>
          </a:xfrm>
          <a:prstGeom prst="rect">
            <a:avLst/>
          </a:prstGeom>
          <a:noFill/>
        </p:spPr>
        <p:txBody>
          <a:bodyPr wrap="square" anchor="t" lIns="0" rIns="0" tIns="0" bIns="0">
            <a:spAutoFit/>
          </a:bodyPr>
          <a:lstStyle/>
          <a:p>
            <a:pPr algn="ctr">
              <a:lnSpc>
                <a:spcPct val="125000"/>
              </a:lnSpc>
              <a:spcAft>
                <a:spcPts val="0"/>
              </a:spcAft>
            </a:pPr>
            <a:r>
              <a:rPr sz="1150" b="0" i="1">
                <a:solidFill>
                  <a:srgbClr val="5C6552"/>
                </a:solidFill>
                <a:latin typeface="Calibri"/>
              </a:rPr>
              <a:t>Agree it as a team, then tick it on the sheet.</a:t>
            </a:r>
          </a:p>
        </p:txBody>
      </p:sp>
      <p:pic>
        <p:nvPicPr>
          <p:cNvPr id="26" name="Picture 25" descr="logo-mark.png"/>
          <p:cNvPicPr>
            <a:picLocks noChangeAspect="1"/>
          </p:cNvPicPr>
          <p:nvPr/>
        </p:nvPicPr>
        <p:blipFill>
          <a:blip r:embed="rId2"/>
          <a:stretch>
            <a:fillRect/>
          </a:stretch>
        </p:blipFill>
        <p:spPr>
          <a:xfrm>
            <a:off x="384048" y="4727448"/>
            <a:ext cx="158374" cy="182880"/>
          </a:xfrm>
          <a:prstGeom prst="rect">
            <a:avLst/>
          </a:prstGeom>
        </p:spPr>
      </p:pic>
      <p:sp>
        <p:nvSpPr>
          <p:cNvPr id="27" name="TextBox 26"/>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28" name="TextBox 27"/>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12 / 27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l">
              <a:lnSpc>
                <a:spcPct val="125000"/>
              </a:lnSpc>
              <a:spcAft>
                <a:spcPts val="0"/>
              </a:spcAft>
            </a:pPr>
            <a:r>
              <a:rPr sz="1000" b="1" i="0" spc="160">
                <a:solidFill>
                  <a:srgbClr val="974F16"/>
                </a:solidFill>
                <a:latin typeface="Calibri"/>
              </a:rPr>
              <a:t>THE FORM TIME QUIZ  ·  ROUND TWO  ·  QUESTION 10 OF 10</a:t>
            </a:r>
          </a:p>
        </p:txBody>
      </p:sp>
      <p:sp>
        <p:nvSpPr>
          <p:cNvPr id="4" name="Rounded Rectangle 3"/>
          <p:cNvSpPr/>
          <p:nvPr/>
        </p:nvSpPr>
        <p:spPr>
          <a:xfrm>
            <a:off x="685800" y="1094232"/>
            <a:ext cx="7772400" cy="1341120"/>
          </a:xfrm>
          <a:prstGeom prst="roundRect">
            <a:avLst>
              <a:gd name="adj" fmla="val 6000"/>
            </a:avLst>
          </a:prstGeom>
          <a:solidFill>
            <a:srgbClr val="F8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094232"/>
            <a:ext cx="7772400" cy="54864"/>
          </a:xfrm>
          <a:prstGeom prst="rect">
            <a:avLst/>
          </a:prstGeom>
          <a:solidFill>
            <a:srgbClr val="C97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50976" y="1463040"/>
            <a:ext cx="603504" cy="603504"/>
          </a:xfrm>
          <a:prstGeom prst="ellipse">
            <a:avLst/>
          </a:prstGeom>
          <a:solidFill>
            <a:srgbClr val="974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0976" y="1591056"/>
            <a:ext cx="603504" cy="347472"/>
          </a:xfrm>
          <a:prstGeom prst="rect">
            <a:avLst/>
          </a:prstGeom>
          <a:noFill/>
        </p:spPr>
        <p:txBody>
          <a:bodyPr wrap="square" anchor="t" lIns="0" rIns="0" tIns="0" bIns="0">
            <a:spAutoFit/>
          </a:bodyPr>
          <a:lstStyle/>
          <a:p>
            <a:pPr algn="ctr">
              <a:lnSpc>
                <a:spcPct val="125000"/>
              </a:lnSpc>
              <a:spcAft>
                <a:spcPts val="0"/>
              </a:spcAft>
            </a:pPr>
            <a:r>
              <a:rPr sz="2000" b="1" i="0">
                <a:solidFill>
                  <a:srgbClr val="FFFDF7"/>
                </a:solidFill>
                <a:latin typeface="Calibri"/>
              </a:rPr>
              <a:t>10</a:t>
            </a:r>
          </a:p>
        </p:txBody>
      </p:sp>
      <p:sp>
        <p:nvSpPr>
          <p:cNvPr id="8" name="TextBox 7"/>
          <p:cNvSpPr txBox="1"/>
          <p:nvPr/>
        </p:nvSpPr>
        <p:spPr>
          <a:xfrm>
            <a:off x="1783080" y="1386840"/>
            <a:ext cx="6309360" cy="755904"/>
          </a:xfrm>
          <a:prstGeom prst="rect">
            <a:avLst/>
          </a:prstGeom>
          <a:noFill/>
        </p:spPr>
        <p:txBody>
          <a:bodyPr wrap="square" anchor="t" lIns="0" rIns="0" tIns="0" bIns="0">
            <a:spAutoFit/>
          </a:bodyPr>
          <a:lstStyle/>
          <a:p>
            <a:pPr algn="l">
              <a:lnSpc>
                <a:spcPct val="112000"/>
              </a:lnSpc>
              <a:spcAft>
                <a:spcPts val="0"/>
              </a:spcAft>
            </a:pPr>
            <a:r>
              <a:rPr sz="2400" b="0" i="0">
                <a:solidFill>
                  <a:srgbClr val="974F16"/>
                </a:solidFill>
                <a:latin typeface="Georgia"/>
              </a:rPr>
              <a:t>Which country’s flag has a red maple leaf on it?</a:t>
            </a:r>
          </a:p>
        </p:txBody>
      </p:sp>
      <p:sp>
        <p:nvSpPr>
          <p:cNvPr id="9" name="Rectangle 8"/>
          <p:cNvSpPr/>
          <p:nvPr/>
        </p:nvSpPr>
        <p:spPr>
          <a:xfrm>
            <a:off x="1965960" y="3368040"/>
            <a:ext cx="5212080" cy="27432"/>
          </a:xfrm>
          <a:prstGeom prst="rect">
            <a:avLst/>
          </a:prstGeom>
          <a:solidFill>
            <a:srgbClr val="C97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3514344"/>
            <a:ext cx="7772400" cy="274320"/>
          </a:xfrm>
          <a:prstGeom prst="rect">
            <a:avLst/>
          </a:prstGeom>
          <a:noFill/>
        </p:spPr>
        <p:txBody>
          <a:bodyPr wrap="square" anchor="t" lIns="0" rIns="0" tIns="0" bIns="0">
            <a:spAutoFit/>
          </a:bodyPr>
          <a:lstStyle/>
          <a:p>
            <a:pPr algn="ctr">
              <a:lnSpc>
                <a:spcPct val="125000"/>
              </a:lnSpc>
              <a:spcAft>
                <a:spcPts val="0"/>
              </a:spcAft>
            </a:pPr>
            <a:r>
              <a:rPr sz="1200" b="0" i="1">
                <a:solidFill>
                  <a:srgbClr val="8B9179"/>
                </a:solidFill>
                <a:latin typeface="Calibri"/>
              </a:rPr>
              <a:t>Agree it as a team, then write it on the sheet.</a:t>
            </a:r>
          </a:p>
        </p:txBody>
      </p:sp>
      <p:pic>
        <p:nvPicPr>
          <p:cNvPr id="11" name="Picture 10" descr="logo-mark.png"/>
          <p:cNvPicPr>
            <a:picLocks noChangeAspect="1"/>
          </p:cNvPicPr>
          <p:nvPr/>
        </p:nvPicPr>
        <p:blipFill>
          <a:blip r:embed="rId2"/>
          <a:stretch>
            <a:fillRect/>
          </a:stretch>
        </p:blipFill>
        <p:spPr>
          <a:xfrm>
            <a:off x="384048" y="4727448"/>
            <a:ext cx="158374" cy="182880"/>
          </a:xfrm>
          <a:prstGeom prst="rect">
            <a:avLst/>
          </a:prstGeom>
        </p:spPr>
      </p:pic>
      <p:sp>
        <p:nvSpPr>
          <p:cNvPr id="12" name="TextBox 11"/>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13" name="TextBox 12"/>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13 / 27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974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049462" y="914400"/>
            <a:ext cx="1045075" cy="237744"/>
          </a:xfrm>
          <a:prstGeom prst="roundRect">
            <a:avLst>
              <a:gd name="adj" fmla="val 50000"/>
            </a:avLst>
          </a:prstGeom>
          <a:solidFill>
            <a:srgbClr val="EBCDA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spc="90">
                <a:solidFill>
                  <a:srgbClr val="974F16"/>
                </a:solidFill>
                <a:latin typeface="Calibri"/>
              </a:rPr>
              <a:t>ANSWERS</a:t>
            </a:r>
          </a:p>
        </p:txBody>
      </p:sp>
      <p:sp>
        <p:nvSpPr>
          <p:cNvPr id="4" name="TextBox 3"/>
          <p:cNvSpPr txBox="1"/>
          <p:nvPr/>
        </p:nvSpPr>
        <p:spPr>
          <a:xfrm>
            <a:off x="548640" y="1481328"/>
            <a:ext cx="8046720" cy="731520"/>
          </a:xfrm>
          <a:prstGeom prst="rect">
            <a:avLst/>
          </a:prstGeom>
          <a:noFill/>
        </p:spPr>
        <p:txBody>
          <a:bodyPr wrap="square" anchor="t" lIns="0" rIns="0" tIns="0" bIns="0">
            <a:spAutoFit/>
          </a:bodyPr>
          <a:lstStyle/>
          <a:p>
            <a:pPr algn="ctr">
              <a:lnSpc>
                <a:spcPct val="105000"/>
              </a:lnSpc>
              <a:spcAft>
                <a:spcPts val="0"/>
              </a:spcAft>
            </a:pPr>
            <a:r>
              <a:rPr sz="4000" b="0" i="0">
                <a:solidFill>
                  <a:srgbClr val="FFFDF7"/>
                </a:solidFill>
                <a:latin typeface="Georgia"/>
              </a:rPr>
              <a:t>Swap sheets</a:t>
            </a:r>
          </a:p>
        </p:txBody>
      </p:sp>
      <p:sp>
        <p:nvSpPr>
          <p:cNvPr id="5" name="Rectangle 4"/>
          <p:cNvSpPr/>
          <p:nvPr/>
        </p:nvSpPr>
        <p:spPr>
          <a:xfrm>
            <a:off x="4114800" y="2487168"/>
            <a:ext cx="914400" cy="18288"/>
          </a:xfrm>
          <a:prstGeom prst="rect">
            <a:avLst/>
          </a:prstGeom>
          <a:solidFill>
            <a:srgbClr val="EBC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2724912"/>
            <a:ext cx="6583680" cy="914400"/>
          </a:xfrm>
          <a:prstGeom prst="rect">
            <a:avLst/>
          </a:prstGeom>
          <a:noFill/>
        </p:spPr>
        <p:txBody>
          <a:bodyPr wrap="square" anchor="t" lIns="0" rIns="0" tIns="0" bIns="0">
            <a:spAutoFit/>
          </a:bodyPr>
          <a:lstStyle/>
          <a:p>
            <a:pPr algn="ctr">
              <a:lnSpc>
                <a:spcPct val="130000"/>
              </a:lnSpc>
              <a:spcAft>
                <a:spcPts val="0"/>
              </a:spcAft>
            </a:pPr>
            <a:r>
              <a:rPr sz="1500" b="0" i="0">
                <a:solidFill>
                  <a:srgbClr val="EBCDAE"/>
                </a:solidFill>
                <a:latin typeface="Calibri"/>
              </a:rPr>
              <a:t>Swap with the team next to you. Give one mark for each right answer, then add up the score out of ten.</a:t>
            </a:r>
          </a:p>
        </p:txBody>
      </p:sp>
      <p:pic>
        <p:nvPicPr>
          <p:cNvPr id="7" name="Picture 6" descr="logo-mark.png"/>
          <p:cNvPicPr>
            <a:picLocks noChangeAspect="1"/>
          </p:cNvPicPr>
          <p:nvPr/>
        </p:nvPicPr>
        <p:blipFill>
          <a:blip r:embed="rId2"/>
          <a:stretch>
            <a:fillRect/>
          </a:stretch>
        </p:blipFill>
        <p:spPr>
          <a:xfrm>
            <a:off x="384048" y="4727448"/>
            <a:ext cx="158374" cy="182880"/>
          </a:xfrm>
          <a:prstGeom prst="rect">
            <a:avLst/>
          </a:prstGeom>
        </p:spPr>
      </p:pic>
      <p:sp>
        <p:nvSpPr>
          <p:cNvPr id="8" name="TextBox 7"/>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EBCDAE"/>
                </a:solidFill>
                <a:latin typeface="Calibri"/>
              </a:rPr>
              <a:t>The Pastoral Guide</a:t>
            </a:r>
          </a:p>
        </p:txBody>
      </p:sp>
      <p:sp>
        <p:nvSpPr>
          <p:cNvPr id="9" name="TextBox 8"/>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EBCDAE"/>
                </a:solidFill>
                <a:latin typeface="Calibri"/>
              </a:rPr>
              <a:t>14 / 27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l">
              <a:lnSpc>
                <a:spcPct val="125000"/>
              </a:lnSpc>
              <a:spcAft>
                <a:spcPts val="0"/>
              </a:spcAft>
            </a:pPr>
            <a:r>
              <a:rPr sz="1000" b="1" i="0" spc="160">
                <a:solidFill>
                  <a:srgbClr val="974F16"/>
                </a:solidFill>
                <a:latin typeface="Calibri"/>
              </a:rPr>
              <a:t>THE FORM TIME QUIZ  ·  ANSWERS  ·  QUESTION 1</a:t>
            </a:r>
          </a:p>
        </p:txBody>
      </p:sp>
      <p:sp>
        <p:nvSpPr>
          <p:cNvPr id="4" name="TextBox 3"/>
          <p:cNvSpPr txBox="1"/>
          <p:nvPr/>
        </p:nvSpPr>
        <p:spPr>
          <a:xfrm>
            <a:off x="685800" y="1370203"/>
            <a:ext cx="7772400" cy="222250"/>
          </a:xfrm>
          <a:prstGeom prst="rect">
            <a:avLst/>
          </a:prstGeom>
          <a:noFill/>
        </p:spPr>
        <p:txBody>
          <a:bodyPr wrap="square" anchor="t" lIns="0" rIns="0" tIns="0" bIns="0">
            <a:spAutoFit/>
          </a:bodyPr>
          <a:lstStyle/>
          <a:p>
            <a:pPr algn="l">
              <a:lnSpc>
                <a:spcPct val="125000"/>
              </a:lnSpc>
              <a:spcAft>
                <a:spcPts val="0"/>
              </a:spcAft>
            </a:pPr>
            <a:r>
              <a:rPr sz="1400" b="0" i="1">
                <a:solidFill>
                  <a:srgbClr val="5C6552"/>
                </a:solidFill>
                <a:latin typeface="Calibri"/>
              </a:rPr>
              <a:t>Reading your notes again and again is one of the best ways to revise.</a:t>
            </a:r>
          </a:p>
        </p:txBody>
      </p:sp>
      <p:sp>
        <p:nvSpPr>
          <p:cNvPr id="5" name="TextBox 4"/>
          <p:cNvSpPr txBox="1"/>
          <p:nvPr/>
        </p:nvSpPr>
        <p:spPr>
          <a:xfrm>
            <a:off x="685800" y="1775333"/>
            <a:ext cx="7772400" cy="603504"/>
          </a:xfrm>
          <a:prstGeom prst="rect">
            <a:avLst/>
          </a:prstGeom>
          <a:noFill/>
        </p:spPr>
        <p:txBody>
          <a:bodyPr wrap="square" anchor="t" lIns="0" rIns="0" tIns="0" bIns="0">
            <a:spAutoFit/>
          </a:bodyPr>
          <a:lstStyle/>
          <a:p>
            <a:pPr algn="l">
              <a:lnSpc>
                <a:spcPct val="105000"/>
              </a:lnSpc>
              <a:spcAft>
                <a:spcPts val="0"/>
              </a:spcAft>
            </a:pPr>
            <a:r>
              <a:rPr sz="3400" b="0" i="0">
                <a:solidFill>
                  <a:srgbClr val="974F16"/>
                </a:solidFill>
                <a:latin typeface="Georgia"/>
              </a:rPr>
              <a:t>Myth</a:t>
            </a:r>
          </a:p>
        </p:txBody>
      </p:sp>
      <p:sp>
        <p:nvSpPr>
          <p:cNvPr id="6" name="Rounded Rectangle 5"/>
          <p:cNvSpPr/>
          <p:nvPr/>
        </p:nvSpPr>
        <p:spPr>
          <a:xfrm>
            <a:off x="685800" y="2561717"/>
            <a:ext cx="7772400" cy="1280160"/>
          </a:xfrm>
          <a:prstGeom prst="roundRect">
            <a:avLst>
              <a:gd name="adj" fmla="val 6000"/>
            </a:avLst>
          </a:prstGeom>
          <a:solidFill>
            <a:srgbClr val="F8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2561717"/>
            <a:ext cx="64008" cy="1280160"/>
          </a:xfrm>
          <a:prstGeom prst="rect">
            <a:avLst/>
          </a:prstGeom>
          <a:solidFill>
            <a:srgbClr val="C97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799461"/>
            <a:ext cx="7040880" cy="804672"/>
          </a:xfrm>
          <a:prstGeom prst="rect">
            <a:avLst/>
          </a:prstGeom>
          <a:noFill/>
        </p:spPr>
        <p:txBody>
          <a:bodyPr wrap="square" anchor="t" lIns="0" rIns="0" tIns="0" bIns="0">
            <a:spAutoFit/>
          </a:bodyPr>
          <a:lstStyle/>
          <a:p>
            <a:pPr algn="l">
              <a:lnSpc>
                <a:spcPct val="132000"/>
              </a:lnSpc>
              <a:spcAft>
                <a:spcPts val="0"/>
              </a:spcAft>
            </a:pPr>
            <a:r>
              <a:rPr sz="1600" b="0" i="0">
                <a:solidFill>
                  <a:srgbClr val="2E3436"/>
                </a:solidFill>
                <a:latin typeface="Calibri"/>
              </a:rPr>
              <a:t>Rereading feels productive because the page starts to look familiar, but it does little for your memory. Researchers rate it as one of the least useful methods.</a:t>
            </a:r>
          </a:p>
        </p:txBody>
      </p:sp>
      <p:pic>
        <p:nvPicPr>
          <p:cNvPr id="9" name="Picture 8" descr="logo-mark.png"/>
          <p:cNvPicPr>
            <a:picLocks noChangeAspect="1"/>
          </p:cNvPicPr>
          <p:nvPr/>
        </p:nvPicPr>
        <p:blipFill>
          <a:blip r:embed="rId2"/>
          <a:stretch>
            <a:fillRect/>
          </a:stretch>
        </p:blipFill>
        <p:spPr>
          <a:xfrm>
            <a:off x="384048" y="4727448"/>
            <a:ext cx="158374" cy="182880"/>
          </a:xfrm>
          <a:prstGeom prst="rect">
            <a:avLst/>
          </a:prstGeom>
        </p:spPr>
      </p:pic>
      <p:sp>
        <p:nvSpPr>
          <p:cNvPr id="10" name="TextBox 9"/>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11" name="TextBox 10"/>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15 / 27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l">
              <a:lnSpc>
                <a:spcPct val="125000"/>
              </a:lnSpc>
              <a:spcAft>
                <a:spcPts val="0"/>
              </a:spcAft>
            </a:pPr>
            <a:r>
              <a:rPr sz="1000" b="1" i="0" spc="160">
                <a:solidFill>
                  <a:srgbClr val="974F16"/>
                </a:solidFill>
                <a:latin typeface="Calibri"/>
              </a:rPr>
              <a:t>THE FORM TIME QUIZ  ·  ANSWERS  ·  QUESTION 2</a:t>
            </a:r>
          </a:p>
        </p:txBody>
      </p:sp>
      <p:sp>
        <p:nvSpPr>
          <p:cNvPr id="4" name="TextBox 3"/>
          <p:cNvSpPr txBox="1"/>
          <p:nvPr/>
        </p:nvSpPr>
        <p:spPr>
          <a:xfrm>
            <a:off x="685800" y="1370203"/>
            <a:ext cx="7772400" cy="222250"/>
          </a:xfrm>
          <a:prstGeom prst="rect">
            <a:avLst/>
          </a:prstGeom>
          <a:noFill/>
        </p:spPr>
        <p:txBody>
          <a:bodyPr wrap="square" anchor="t" lIns="0" rIns="0" tIns="0" bIns="0">
            <a:spAutoFit/>
          </a:bodyPr>
          <a:lstStyle/>
          <a:p>
            <a:pPr algn="l">
              <a:lnSpc>
                <a:spcPct val="125000"/>
              </a:lnSpc>
              <a:spcAft>
                <a:spcPts val="0"/>
              </a:spcAft>
            </a:pPr>
            <a:r>
              <a:rPr sz="1400" b="0" i="1">
                <a:solidFill>
                  <a:srgbClr val="5C6552"/>
                </a:solidFill>
                <a:latin typeface="Calibri"/>
              </a:rPr>
              <a:t>Testing yourself helps you remember more than rereading does.</a:t>
            </a:r>
          </a:p>
        </p:txBody>
      </p:sp>
      <p:sp>
        <p:nvSpPr>
          <p:cNvPr id="5" name="TextBox 4"/>
          <p:cNvSpPr txBox="1"/>
          <p:nvPr/>
        </p:nvSpPr>
        <p:spPr>
          <a:xfrm>
            <a:off x="685800" y="1775333"/>
            <a:ext cx="7772400" cy="603504"/>
          </a:xfrm>
          <a:prstGeom prst="rect">
            <a:avLst/>
          </a:prstGeom>
          <a:noFill/>
        </p:spPr>
        <p:txBody>
          <a:bodyPr wrap="square" anchor="t" lIns="0" rIns="0" tIns="0" bIns="0">
            <a:spAutoFit/>
          </a:bodyPr>
          <a:lstStyle/>
          <a:p>
            <a:pPr algn="l">
              <a:lnSpc>
                <a:spcPct val="105000"/>
              </a:lnSpc>
              <a:spcAft>
                <a:spcPts val="0"/>
              </a:spcAft>
            </a:pPr>
            <a:r>
              <a:rPr sz="3400" b="0" i="0">
                <a:solidFill>
                  <a:srgbClr val="974F16"/>
                </a:solidFill>
                <a:latin typeface="Georgia"/>
              </a:rPr>
              <a:t>Fact</a:t>
            </a:r>
          </a:p>
        </p:txBody>
      </p:sp>
      <p:sp>
        <p:nvSpPr>
          <p:cNvPr id="6" name="Rounded Rectangle 5"/>
          <p:cNvSpPr/>
          <p:nvPr/>
        </p:nvSpPr>
        <p:spPr>
          <a:xfrm>
            <a:off x="685800" y="2561717"/>
            <a:ext cx="7772400" cy="1280160"/>
          </a:xfrm>
          <a:prstGeom prst="roundRect">
            <a:avLst>
              <a:gd name="adj" fmla="val 6000"/>
            </a:avLst>
          </a:prstGeom>
          <a:solidFill>
            <a:srgbClr val="F8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2561717"/>
            <a:ext cx="64008" cy="1280160"/>
          </a:xfrm>
          <a:prstGeom prst="rect">
            <a:avLst/>
          </a:prstGeom>
          <a:solidFill>
            <a:srgbClr val="C97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799461"/>
            <a:ext cx="7040880" cy="804672"/>
          </a:xfrm>
          <a:prstGeom prst="rect">
            <a:avLst/>
          </a:prstGeom>
          <a:noFill/>
        </p:spPr>
        <p:txBody>
          <a:bodyPr wrap="square" anchor="t" lIns="0" rIns="0" tIns="0" bIns="0">
            <a:spAutoFit/>
          </a:bodyPr>
          <a:lstStyle/>
          <a:p>
            <a:pPr algn="l">
              <a:lnSpc>
                <a:spcPct val="132000"/>
              </a:lnSpc>
              <a:spcAft>
                <a:spcPts val="0"/>
              </a:spcAft>
            </a:pPr>
            <a:r>
              <a:rPr sz="1600" b="0" i="0">
                <a:solidFill>
                  <a:srgbClr val="2E3436"/>
                </a:solidFill>
                <a:latin typeface="Calibri"/>
              </a:rPr>
              <a:t>Pulling an answer out of your memory makes it stronger. Flashcards, past questions and writing out what you remember on a blank page all work this way.</a:t>
            </a:r>
          </a:p>
        </p:txBody>
      </p:sp>
      <p:pic>
        <p:nvPicPr>
          <p:cNvPr id="9" name="Picture 8" descr="logo-mark.png"/>
          <p:cNvPicPr>
            <a:picLocks noChangeAspect="1"/>
          </p:cNvPicPr>
          <p:nvPr/>
        </p:nvPicPr>
        <p:blipFill>
          <a:blip r:embed="rId2"/>
          <a:stretch>
            <a:fillRect/>
          </a:stretch>
        </p:blipFill>
        <p:spPr>
          <a:xfrm>
            <a:off x="384048" y="4727448"/>
            <a:ext cx="158374" cy="182880"/>
          </a:xfrm>
          <a:prstGeom prst="rect">
            <a:avLst/>
          </a:prstGeom>
        </p:spPr>
      </p:pic>
      <p:sp>
        <p:nvSpPr>
          <p:cNvPr id="10" name="TextBox 9"/>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11" name="TextBox 10"/>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16 / 27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l">
              <a:lnSpc>
                <a:spcPct val="125000"/>
              </a:lnSpc>
              <a:spcAft>
                <a:spcPts val="0"/>
              </a:spcAft>
            </a:pPr>
            <a:r>
              <a:rPr sz="1000" b="1" i="0" spc="160">
                <a:solidFill>
                  <a:srgbClr val="974F16"/>
                </a:solidFill>
                <a:latin typeface="Calibri"/>
              </a:rPr>
              <a:t>THE FORM TIME QUIZ  ·  ANSWERS  ·  QUESTION 3</a:t>
            </a:r>
          </a:p>
        </p:txBody>
      </p:sp>
      <p:sp>
        <p:nvSpPr>
          <p:cNvPr id="4" name="TextBox 3"/>
          <p:cNvSpPr txBox="1"/>
          <p:nvPr/>
        </p:nvSpPr>
        <p:spPr>
          <a:xfrm>
            <a:off x="685800" y="1393190"/>
            <a:ext cx="7772400" cy="444500"/>
          </a:xfrm>
          <a:prstGeom prst="rect">
            <a:avLst/>
          </a:prstGeom>
          <a:noFill/>
        </p:spPr>
        <p:txBody>
          <a:bodyPr wrap="square" anchor="t" lIns="0" rIns="0" tIns="0" bIns="0">
            <a:spAutoFit/>
          </a:bodyPr>
          <a:lstStyle/>
          <a:p>
            <a:pPr algn="l">
              <a:lnSpc>
                <a:spcPct val="125000"/>
              </a:lnSpc>
              <a:spcAft>
                <a:spcPts val="0"/>
              </a:spcAft>
            </a:pPr>
            <a:r>
              <a:rPr sz="1400" b="0" i="1">
                <a:solidFill>
                  <a:srgbClr val="5C6552"/>
                </a:solidFill>
                <a:latin typeface="Calibri"/>
              </a:rPr>
              <a:t>Spreading revision over several days works better than doing the same number of hours in one go.</a:t>
            </a:r>
          </a:p>
        </p:txBody>
      </p:sp>
      <p:sp>
        <p:nvSpPr>
          <p:cNvPr id="5" name="TextBox 4"/>
          <p:cNvSpPr txBox="1"/>
          <p:nvPr/>
        </p:nvSpPr>
        <p:spPr>
          <a:xfrm>
            <a:off x="685800" y="2020570"/>
            <a:ext cx="7772400" cy="603504"/>
          </a:xfrm>
          <a:prstGeom prst="rect">
            <a:avLst/>
          </a:prstGeom>
          <a:noFill/>
        </p:spPr>
        <p:txBody>
          <a:bodyPr wrap="square" anchor="t" lIns="0" rIns="0" tIns="0" bIns="0">
            <a:spAutoFit/>
          </a:bodyPr>
          <a:lstStyle/>
          <a:p>
            <a:pPr algn="l">
              <a:lnSpc>
                <a:spcPct val="105000"/>
              </a:lnSpc>
              <a:spcAft>
                <a:spcPts val="0"/>
              </a:spcAft>
            </a:pPr>
            <a:r>
              <a:rPr sz="3400" b="0" i="0">
                <a:solidFill>
                  <a:srgbClr val="974F16"/>
                </a:solidFill>
                <a:latin typeface="Georgia"/>
              </a:rPr>
              <a:t>Fact</a:t>
            </a:r>
          </a:p>
        </p:txBody>
      </p:sp>
      <p:sp>
        <p:nvSpPr>
          <p:cNvPr id="6" name="Rounded Rectangle 5"/>
          <p:cNvSpPr/>
          <p:nvPr/>
        </p:nvSpPr>
        <p:spPr>
          <a:xfrm>
            <a:off x="685800" y="2806954"/>
            <a:ext cx="7772400" cy="1011936"/>
          </a:xfrm>
          <a:prstGeom prst="roundRect">
            <a:avLst>
              <a:gd name="adj" fmla="val 6000"/>
            </a:avLst>
          </a:prstGeom>
          <a:solidFill>
            <a:srgbClr val="F8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2806954"/>
            <a:ext cx="64008" cy="1011936"/>
          </a:xfrm>
          <a:prstGeom prst="rect">
            <a:avLst/>
          </a:prstGeom>
          <a:solidFill>
            <a:srgbClr val="C97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3044698"/>
            <a:ext cx="7040880" cy="536448"/>
          </a:xfrm>
          <a:prstGeom prst="rect">
            <a:avLst/>
          </a:prstGeom>
          <a:noFill/>
        </p:spPr>
        <p:txBody>
          <a:bodyPr wrap="square" anchor="t" lIns="0" rIns="0" tIns="0" bIns="0">
            <a:spAutoFit/>
          </a:bodyPr>
          <a:lstStyle/>
          <a:p>
            <a:pPr algn="l">
              <a:lnSpc>
                <a:spcPct val="132000"/>
              </a:lnSpc>
              <a:spcAft>
                <a:spcPts val="0"/>
              </a:spcAft>
            </a:pPr>
            <a:r>
              <a:rPr sz="1600" b="0" i="0">
                <a:solidFill>
                  <a:srgbClr val="2E3436"/>
                </a:solidFill>
                <a:latin typeface="Calibri"/>
              </a:rPr>
              <a:t>It is called spacing. Coming back to a topic after a gap, just as it starts to fade, makes it stick for much longer.</a:t>
            </a:r>
          </a:p>
        </p:txBody>
      </p:sp>
      <p:pic>
        <p:nvPicPr>
          <p:cNvPr id="9" name="Picture 8" descr="logo-mark.png"/>
          <p:cNvPicPr>
            <a:picLocks noChangeAspect="1"/>
          </p:cNvPicPr>
          <p:nvPr/>
        </p:nvPicPr>
        <p:blipFill>
          <a:blip r:embed="rId2"/>
          <a:stretch>
            <a:fillRect/>
          </a:stretch>
        </p:blipFill>
        <p:spPr>
          <a:xfrm>
            <a:off x="384048" y="4727448"/>
            <a:ext cx="158374" cy="182880"/>
          </a:xfrm>
          <a:prstGeom prst="rect">
            <a:avLst/>
          </a:prstGeom>
        </p:spPr>
      </p:pic>
      <p:sp>
        <p:nvSpPr>
          <p:cNvPr id="10" name="TextBox 9"/>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11" name="TextBox 10"/>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17 / 27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l">
              <a:lnSpc>
                <a:spcPct val="125000"/>
              </a:lnSpc>
              <a:spcAft>
                <a:spcPts val="0"/>
              </a:spcAft>
            </a:pPr>
            <a:r>
              <a:rPr sz="1000" b="1" i="0" spc="160">
                <a:solidFill>
                  <a:srgbClr val="974F16"/>
                </a:solidFill>
                <a:latin typeface="Calibri"/>
              </a:rPr>
              <a:t>THE FORM TIME QUIZ  ·  ANSWERS  ·  QUESTION 4</a:t>
            </a:r>
          </a:p>
        </p:txBody>
      </p:sp>
      <p:sp>
        <p:nvSpPr>
          <p:cNvPr id="4" name="TextBox 3"/>
          <p:cNvSpPr txBox="1"/>
          <p:nvPr/>
        </p:nvSpPr>
        <p:spPr>
          <a:xfrm>
            <a:off x="685800" y="1259078"/>
            <a:ext cx="7772400" cy="444500"/>
          </a:xfrm>
          <a:prstGeom prst="rect">
            <a:avLst/>
          </a:prstGeom>
          <a:noFill/>
        </p:spPr>
        <p:txBody>
          <a:bodyPr wrap="square" anchor="t" lIns="0" rIns="0" tIns="0" bIns="0">
            <a:spAutoFit/>
          </a:bodyPr>
          <a:lstStyle/>
          <a:p>
            <a:pPr algn="l">
              <a:lnSpc>
                <a:spcPct val="125000"/>
              </a:lnSpc>
              <a:spcAft>
                <a:spcPts val="0"/>
              </a:spcAft>
            </a:pPr>
            <a:r>
              <a:rPr sz="1400" b="0" i="1">
                <a:solidFill>
                  <a:srgbClr val="5C6552"/>
                </a:solidFill>
                <a:latin typeface="Calibri"/>
              </a:rPr>
              <a:t>You learn best when your revision matches your learning style, such as visual or auditory.</a:t>
            </a:r>
          </a:p>
        </p:txBody>
      </p:sp>
      <p:sp>
        <p:nvSpPr>
          <p:cNvPr id="5" name="TextBox 4"/>
          <p:cNvSpPr txBox="1"/>
          <p:nvPr/>
        </p:nvSpPr>
        <p:spPr>
          <a:xfrm>
            <a:off x="685800" y="1886458"/>
            <a:ext cx="7772400" cy="603504"/>
          </a:xfrm>
          <a:prstGeom prst="rect">
            <a:avLst/>
          </a:prstGeom>
          <a:noFill/>
        </p:spPr>
        <p:txBody>
          <a:bodyPr wrap="square" anchor="t" lIns="0" rIns="0" tIns="0" bIns="0">
            <a:spAutoFit/>
          </a:bodyPr>
          <a:lstStyle/>
          <a:p>
            <a:pPr algn="l">
              <a:lnSpc>
                <a:spcPct val="105000"/>
              </a:lnSpc>
              <a:spcAft>
                <a:spcPts val="0"/>
              </a:spcAft>
            </a:pPr>
            <a:r>
              <a:rPr sz="3400" b="0" i="0">
                <a:solidFill>
                  <a:srgbClr val="974F16"/>
                </a:solidFill>
                <a:latin typeface="Georgia"/>
              </a:rPr>
              <a:t>Myth</a:t>
            </a:r>
          </a:p>
        </p:txBody>
      </p:sp>
      <p:sp>
        <p:nvSpPr>
          <p:cNvPr id="6" name="Rounded Rectangle 5"/>
          <p:cNvSpPr/>
          <p:nvPr/>
        </p:nvSpPr>
        <p:spPr>
          <a:xfrm>
            <a:off x="685800" y="2672842"/>
            <a:ext cx="7772400" cy="1280160"/>
          </a:xfrm>
          <a:prstGeom prst="roundRect">
            <a:avLst>
              <a:gd name="adj" fmla="val 6000"/>
            </a:avLst>
          </a:prstGeom>
          <a:solidFill>
            <a:srgbClr val="F8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2672842"/>
            <a:ext cx="64008" cy="1280160"/>
          </a:xfrm>
          <a:prstGeom prst="rect">
            <a:avLst/>
          </a:prstGeom>
          <a:solidFill>
            <a:srgbClr val="C97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910586"/>
            <a:ext cx="7040880" cy="804672"/>
          </a:xfrm>
          <a:prstGeom prst="rect">
            <a:avLst/>
          </a:prstGeom>
          <a:noFill/>
        </p:spPr>
        <p:txBody>
          <a:bodyPr wrap="square" anchor="t" lIns="0" rIns="0" tIns="0" bIns="0">
            <a:spAutoFit/>
          </a:bodyPr>
          <a:lstStyle/>
          <a:p>
            <a:pPr algn="l">
              <a:lnSpc>
                <a:spcPct val="132000"/>
              </a:lnSpc>
              <a:spcAft>
                <a:spcPts val="0"/>
              </a:spcAft>
            </a:pPr>
            <a:r>
              <a:rPr sz="1600" b="0" i="0">
                <a:solidFill>
                  <a:srgbClr val="2E3436"/>
                </a:solidFill>
                <a:latin typeface="Calibri"/>
              </a:rPr>
              <a:t>There is no good evidence for learning styles. Everybody learns better from a mix, and the method should suit the subject rather than the person.</a:t>
            </a:r>
          </a:p>
        </p:txBody>
      </p:sp>
      <p:pic>
        <p:nvPicPr>
          <p:cNvPr id="9" name="Picture 8" descr="logo-mark.png"/>
          <p:cNvPicPr>
            <a:picLocks noChangeAspect="1"/>
          </p:cNvPicPr>
          <p:nvPr/>
        </p:nvPicPr>
        <p:blipFill>
          <a:blip r:embed="rId2"/>
          <a:stretch>
            <a:fillRect/>
          </a:stretch>
        </p:blipFill>
        <p:spPr>
          <a:xfrm>
            <a:off x="384048" y="4727448"/>
            <a:ext cx="158374" cy="182880"/>
          </a:xfrm>
          <a:prstGeom prst="rect">
            <a:avLst/>
          </a:prstGeom>
        </p:spPr>
      </p:pic>
      <p:sp>
        <p:nvSpPr>
          <p:cNvPr id="10" name="TextBox 9"/>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11" name="TextBox 10"/>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18 / 27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l">
              <a:lnSpc>
                <a:spcPct val="125000"/>
              </a:lnSpc>
              <a:spcAft>
                <a:spcPts val="0"/>
              </a:spcAft>
            </a:pPr>
            <a:r>
              <a:rPr sz="1000" b="1" i="0" spc="160">
                <a:solidFill>
                  <a:srgbClr val="974F16"/>
                </a:solidFill>
                <a:latin typeface="Calibri"/>
              </a:rPr>
              <a:t>THE FORM TIME QUIZ  ·  ANSWERS  ·  QUESTION 5</a:t>
            </a:r>
          </a:p>
        </p:txBody>
      </p:sp>
      <p:sp>
        <p:nvSpPr>
          <p:cNvPr id="4" name="TextBox 3"/>
          <p:cNvSpPr txBox="1"/>
          <p:nvPr/>
        </p:nvSpPr>
        <p:spPr>
          <a:xfrm>
            <a:off x="685800" y="1504315"/>
            <a:ext cx="7772400" cy="222250"/>
          </a:xfrm>
          <a:prstGeom prst="rect">
            <a:avLst/>
          </a:prstGeom>
          <a:noFill/>
        </p:spPr>
        <p:txBody>
          <a:bodyPr wrap="square" anchor="t" lIns="0" rIns="0" tIns="0" bIns="0">
            <a:spAutoFit/>
          </a:bodyPr>
          <a:lstStyle/>
          <a:p>
            <a:pPr algn="l">
              <a:lnSpc>
                <a:spcPct val="125000"/>
              </a:lnSpc>
              <a:spcAft>
                <a:spcPts val="0"/>
              </a:spcAft>
            </a:pPr>
            <a:r>
              <a:rPr sz="1400" b="0" i="1">
                <a:solidFill>
                  <a:srgbClr val="5C6552"/>
                </a:solidFill>
                <a:latin typeface="Calibri"/>
              </a:rPr>
              <a:t>Staying up all night before an exam helps you remember more.</a:t>
            </a:r>
          </a:p>
        </p:txBody>
      </p:sp>
      <p:sp>
        <p:nvSpPr>
          <p:cNvPr id="5" name="TextBox 4"/>
          <p:cNvSpPr txBox="1"/>
          <p:nvPr/>
        </p:nvSpPr>
        <p:spPr>
          <a:xfrm>
            <a:off x="685800" y="1909445"/>
            <a:ext cx="7772400" cy="603504"/>
          </a:xfrm>
          <a:prstGeom prst="rect">
            <a:avLst/>
          </a:prstGeom>
          <a:noFill/>
        </p:spPr>
        <p:txBody>
          <a:bodyPr wrap="square" anchor="t" lIns="0" rIns="0" tIns="0" bIns="0">
            <a:spAutoFit/>
          </a:bodyPr>
          <a:lstStyle/>
          <a:p>
            <a:pPr algn="l">
              <a:lnSpc>
                <a:spcPct val="105000"/>
              </a:lnSpc>
              <a:spcAft>
                <a:spcPts val="0"/>
              </a:spcAft>
            </a:pPr>
            <a:r>
              <a:rPr sz="3400" b="0" i="0">
                <a:solidFill>
                  <a:srgbClr val="974F16"/>
                </a:solidFill>
                <a:latin typeface="Georgia"/>
              </a:rPr>
              <a:t>Myth</a:t>
            </a:r>
          </a:p>
        </p:txBody>
      </p:sp>
      <p:sp>
        <p:nvSpPr>
          <p:cNvPr id="6" name="Rounded Rectangle 5"/>
          <p:cNvSpPr/>
          <p:nvPr/>
        </p:nvSpPr>
        <p:spPr>
          <a:xfrm>
            <a:off x="685800" y="2695829"/>
            <a:ext cx="7772400" cy="1011936"/>
          </a:xfrm>
          <a:prstGeom prst="roundRect">
            <a:avLst>
              <a:gd name="adj" fmla="val 6000"/>
            </a:avLst>
          </a:prstGeom>
          <a:solidFill>
            <a:srgbClr val="F8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2695829"/>
            <a:ext cx="64008" cy="1011936"/>
          </a:xfrm>
          <a:prstGeom prst="rect">
            <a:avLst/>
          </a:prstGeom>
          <a:solidFill>
            <a:srgbClr val="C97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933573"/>
            <a:ext cx="7040880" cy="536448"/>
          </a:xfrm>
          <a:prstGeom prst="rect">
            <a:avLst/>
          </a:prstGeom>
          <a:noFill/>
        </p:spPr>
        <p:txBody>
          <a:bodyPr wrap="square" anchor="t" lIns="0" rIns="0" tIns="0" bIns="0">
            <a:spAutoFit/>
          </a:bodyPr>
          <a:lstStyle/>
          <a:p>
            <a:pPr algn="l">
              <a:lnSpc>
                <a:spcPct val="132000"/>
              </a:lnSpc>
              <a:spcAft>
                <a:spcPts val="0"/>
              </a:spcAft>
            </a:pPr>
            <a:r>
              <a:rPr sz="1600" b="0" i="0">
                <a:solidFill>
                  <a:srgbClr val="2E3436"/>
                </a:solidFill>
                <a:latin typeface="Calibri"/>
              </a:rPr>
              <a:t>Losing a night’s sleep makes it harder to recall what you already know. Sleep is part of revising, not time taken away from it.</a:t>
            </a:r>
          </a:p>
        </p:txBody>
      </p:sp>
      <p:pic>
        <p:nvPicPr>
          <p:cNvPr id="9" name="Picture 8" descr="logo-mark.png"/>
          <p:cNvPicPr>
            <a:picLocks noChangeAspect="1"/>
          </p:cNvPicPr>
          <p:nvPr/>
        </p:nvPicPr>
        <p:blipFill>
          <a:blip r:embed="rId2"/>
          <a:stretch>
            <a:fillRect/>
          </a:stretch>
        </p:blipFill>
        <p:spPr>
          <a:xfrm>
            <a:off x="384048" y="4727448"/>
            <a:ext cx="158374" cy="182880"/>
          </a:xfrm>
          <a:prstGeom prst="rect">
            <a:avLst/>
          </a:prstGeom>
        </p:spPr>
      </p:pic>
      <p:sp>
        <p:nvSpPr>
          <p:cNvPr id="10" name="TextBox 9"/>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11" name="TextBox 10"/>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19 / 27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l">
              <a:lnSpc>
                <a:spcPct val="125000"/>
              </a:lnSpc>
              <a:spcAft>
                <a:spcPts val="0"/>
              </a:spcAft>
            </a:pPr>
            <a:r>
              <a:rPr sz="1000" b="1" i="0" spc="160">
                <a:solidFill>
                  <a:srgbClr val="974F16"/>
                </a:solidFill>
                <a:latin typeface="Calibri"/>
              </a:rPr>
              <a:t>THE FORM TIME QUIZ  ·  ANSWERS  ·  QUESTION 6</a:t>
            </a:r>
          </a:p>
        </p:txBody>
      </p:sp>
      <p:sp>
        <p:nvSpPr>
          <p:cNvPr id="4" name="TextBox 3"/>
          <p:cNvSpPr txBox="1"/>
          <p:nvPr/>
        </p:nvSpPr>
        <p:spPr>
          <a:xfrm>
            <a:off x="685800" y="1370203"/>
            <a:ext cx="7772400" cy="222250"/>
          </a:xfrm>
          <a:prstGeom prst="rect">
            <a:avLst/>
          </a:prstGeom>
          <a:noFill/>
        </p:spPr>
        <p:txBody>
          <a:bodyPr wrap="square" anchor="t" lIns="0" rIns="0" tIns="0" bIns="0">
            <a:spAutoFit/>
          </a:bodyPr>
          <a:lstStyle/>
          <a:p>
            <a:pPr algn="l">
              <a:lnSpc>
                <a:spcPct val="125000"/>
              </a:lnSpc>
              <a:spcAft>
                <a:spcPts val="0"/>
              </a:spcAft>
            </a:pPr>
            <a:r>
              <a:rPr sz="1400" b="0" i="1">
                <a:solidFill>
                  <a:srgbClr val="5C6552"/>
                </a:solidFill>
                <a:latin typeface="Calibri"/>
              </a:rPr>
              <a:t>How much of your brain do you actually use?</a:t>
            </a:r>
          </a:p>
        </p:txBody>
      </p:sp>
      <p:sp>
        <p:nvSpPr>
          <p:cNvPr id="5" name="TextBox 4"/>
          <p:cNvSpPr txBox="1"/>
          <p:nvPr/>
        </p:nvSpPr>
        <p:spPr>
          <a:xfrm>
            <a:off x="685800" y="1775333"/>
            <a:ext cx="7772400" cy="603504"/>
          </a:xfrm>
          <a:prstGeom prst="rect">
            <a:avLst/>
          </a:prstGeom>
          <a:noFill/>
        </p:spPr>
        <p:txBody>
          <a:bodyPr wrap="square" anchor="t" lIns="0" rIns="0" tIns="0" bIns="0">
            <a:spAutoFit/>
          </a:bodyPr>
          <a:lstStyle/>
          <a:p>
            <a:pPr algn="l">
              <a:lnSpc>
                <a:spcPct val="105000"/>
              </a:lnSpc>
              <a:spcAft>
                <a:spcPts val="0"/>
              </a:spcAft>
            </a:pPr>
            <a:r>
              <a:rPr sz="3400" b="0" i="0">
                <a:solidFill>
                  <a:srgbClr val="974F16"/>
                </a:solidFill>
                <a:latin typeface="Georgia"/>
              </a:rPr>
              <a:t>C.  All of it</a:t>
            </a:r>
          </a:p>
        </p:txBody>
      </p:sp>
      <p:sp>
        <p:nvSpPr>
          <p:cNvPr id="6" name="Rounded Rectangle 5"/>
          <p:cNvSpPr/>
          <p:nvPr/>
        </p:nvSpPr>
        <p:spPr>
          <a:xfrm>
            <a:off x="685800" y="2561717"/>
            <a:ext cx="7772400" cy="1280160"/>
          </a:xfrm>
          <a:prstGeom prst="roundRect">
            <a:avLst>
              <a:gd name="adj" fmla="val 6000"/>
            </a:avLst>
          </a:prstGeom>
          <a:solidFill>
            <a:srgbClr val="F8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2561717"/>
            <a:ext cx="64008" cy="1280160"/>
          </a:xfrm>
          <a:prstGeom prst="rect">
            <a:avLst/>
          </a:prstGeom>
          <a:solidFill>
            <a:srgbClr val="C97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799461"/>
            <a:ext cx="7040880" cy="804672"/>
          </a:xfrm>
          <a:prstGeom prst="rect">
            <a:avLst/>
          </a:prstGeom>
          <a:noFill/>
        </p:spPr>
        <p:txBody>
          <a:bodyPr wrap="square" anchor="t" lIns="0" rIns="0" tIns="0" bIns="0">
            <a:spAutoFit/>
          </a:bodyPr>
          <a:lstStyle/>
          <a:p>
            <a:pPr algn="l">
              <a:lnSpc>
                <a:spcPct val="132000"/>
              </a:lnSpc>
              <a:spcAft>
                <a:spcPts val="0"/>
              </a:spcAft>
            </a:pPr>
            <a:r>
              <a:rPr sz="1600" b="0" i="0">
                <a:solidFill>
                  <a:srgbClr val="2E3436"/>
                </a:solidFill>
                <a:latin typeface="Calibri"/>
              </a:rPr>
              <a:t>Brain scans show activity right across the brain, even during sleep. The ten per cent figure is one of the most repeated myths about the brain, and it has never been true.</a:t>
            </a:r>
          </a:p>
        </p:txBody>
      </p:sp>
      <p:pic>
        <p:nvPicPr>
          <p:cNvPr id="9" name="Picture 8" descr="logo-mark.png"/>
          <p:cNvPicPr>
            <a:picLocks noChangeAspect="1"/>
          </p:cNvPicPr>
          <p:nvPr/>
        </p:nvPicPr>
        <p:blipFill>
          <a:blip r:embed="rId2"/>
          <a:stretch>
            <a:fillRect/>
          </a:stretch>
        </p:blipFill>
        <p:spPr>
          <a:xfrm>
            <a:off x="384048" y="4727448"/>
            <a:ext cx="158374" cy="182880"/>
          </a:xfrm>
          <a:prstGeom prst="rect">
            <a:avLst/>
          </a:prstGeom>
        </p:spPr>
      </p:pic>
      <p:sp>
        <p:nvSpPr>
          <p:cNvPr id="10" name="TextBox 9"/>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11" name="TextBox 10"/>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20 / 27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l">
              <a:lnSpc>
                <a:spcPct val="125000"/>
              </a:lnSpc>
              <a:spcAft>
                <a:spcPts val="0"/>
              </a:spcAft>
            </a:pPr>
            <a:r>
              <a:rPr sz="1000" b="1" i="0" spc="160">
                <a:solidFill>
                  <a:srgbClr val="974F16"/>
                </a:solidFill>
                <a:latin typeface="Calibri"/>
              </a:rPr>
              <a:t>THE FORM TIME QUIZ  ·  ANSWERS  ·  QUESTION 7</a:t>
            </a:r>
          </a:p>
        </p:txBody>
      </p:sp>
      <p:sp>
        <p:nvSpPr>
          <p:cNvPr id="4" name="TextBox 3"/>
          <p:cNvSpPr txBox="1"/>
          <p:nvPr/>
        </p:nvSpPr>
        <p:spPr>
          <a:xfrm>
            <a:off x="685800" y="1638427"/>
            <a:ext cx="7772400" cy="222250"/>
          </a:xfrm>
          <a:prstGeom prst="rect">
            <a:avLst/>
          </a:prstGeom>
          <a:noFill/>
        </p:spPr>
        <p:txBody>
          <a:bodyPr wrap="square" anchor="t" lIns="0" rIns="0" tIns="0" bIns="0">
            <a:spAutoFit/>
          </a:bodyPr>
          <a:lstStyle/>
          <a:p>
            <a:pPr algn="l">
              <a:lnSpc>
                <a:spcPct val="125000"/>
              </a:lnSpc>
              <a:spcAft>
                <a:spcPts val="0"/>
              </a:spcAft>
            </a:pPr>
            <a:r>
              <a:rPr sz="1400" b="0" i="1">
                <a:solidFill>
                  <a:srgbClr val="5C6552"/>
                </a:solidFill>
                <a:latin typeface="Calibri"/>
              </a:rPr>
              <a:t>What is the chemical symbol for gold?</a:t>
            </a:r>
          </a:p>
        </p:txBody>
      </p:sp>
      <p:sp>
        <p:nvSpPr>
          <p:cNvPr id="5" name="TextBox 4"/>
          <p:cNvSpPr txBox="1"/>
          <p:nvPr/>
        </p:nvSpPr>
        <p:spPr>
          <a:xfrm>
            <a:off x="685800" y="2043557"/>
            <a:ext cx="7772400" cy="603504"/>
          </a:xfrm>
          <a:prstGeom prst="rect">
            <a:avLst/>
          </a:prstGeom>
          <a:noFill/>
        </p:spPr>
        <p:txBody>
          <a:bodyPr wrap="square" anchor="t" lIns="0" rIns="0" tIns="0" bIns="0">
            <a:spAutoFit/>
          </a:bodyPr>
          <a:lstStyle/>
          <a:p>
            <a:pPr algn="l">
              <a:lnSpc>
                <a:spcPct val="105000"/>
              </a:lnSpc>
              <a:spcAft>
                <a:spcPts val="0"/>
              </a:spcAft>
            </a:pPr>
            <a:r>
              <a:rPr sz="3400" b="0" i="0">
                <a:solidFill>
                  <a:srgbClr val="974F16"/>
                </a:solidFill>
                <a:latin typeface="Georgia"/>
              </a:rPr>
              <a:t>Au</a:t>
            </a:r>
          </a:p>
        </p:txBody>
      </p:sp>
      <p:sp>
        <p:nvSpPr>
          <p:cNvPr id="6" name="Rounded Rectangle 5"/>
          <p:cNvSpPr/>
          <p:nvPr/>
        </p:nvSpPr>
        <p:spPr>
          <a:xfrm>
            <a:off x="685800" y="2829941"/>
            <a:ext cx="7772400" cy="743712"/>
          </a:xfrm>
          <a:prstGeom prst="roundRect">
            <a:avLst>
              <a:gd name="adj" fmla="val 6000"/>
            </a:avLst>
          </a:prstGeom>
          <a:solidFill>
            <a:srgbClr val="F8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2829941"/>
            <a:ext cx="64008" cy="743712"/>
          </a:xfrm>
          <a:prstGeom prst="rect">
            <a:avLst/>
          </a:prstGeom>
          <a:solidFill>
            <a:srgbClr val="C97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3067685"/>
            <a:ext cx="7040880" cy="268224"/>
          </a:xfrm>
          <a:prstGeom prst="rect">
            <a:avLst/>
          </a:prstGeom>
          <a:noFill/>
        </p:spPr>
        <p:txBody>
          <a:bodyPr wrap="square" anchor="t" lIns="0" rIns="0" tIns="0" bIns="0">
            <a:spAutoFit/>
          </a:bodyPr>
          <a:lstStyle/>
          <a:p>
            <a:pPr algn="l">
              <a:lnSpc>
                <a:spcPct val="132000"/>
              </a:lnSpc>
              <a:spcAft>
                <a:spcPts val="0"/>
              </a:spcAft>
            </a:pPr>
            <a:r>
              <a:rPr sz="1600" b="0" i="0">
                <a:solidFill>
                  <a:srgbClr val="2E3436"/>
                </a:solidFill>
                <a:latin typeface="Calibri"/>
              </a:rPr>
              <a:t>It comes from aurum, the Latin word for gold.</a:t>
            </a:r>
          </a:p>
        </p:txBody>
      </p:sp>
      <p:pic>
        <p:nvPicPr>
          <p:cNvPr id="9" name="Picture 8" descr="logo-mark.png"/>
          <p:cNvPicPr>
            <a:picLocks noChangeAspect="1"/>
          </p:cNvPicPr>
          <p:nvPr/>
        </p:nvPicPr>
        <p:blipFill>
          <a:blip r:embed="rId2"/>
          <a:stretch>
            <a:fillRect/>
          </a:stretch>
        </p:blipFill>
        <p:spPr>
          <a:xfrm>
            <a:off x="384048" y="4727448"/>
            <a:ext cx="158374" cy="182880"/>
          </a:xfrm>
          <a:prstGeom prst="rect">
            <a:avLst/>
          </a:prstGeom>
        </p:spPr>
      </p:pic>
      <p:sp>
        <p:nvSpPr>
          <p:cNvPr id="10" name="TextBox 9"/>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11" name="TextBox 10"/>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21 / 27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l">
              <a:lnSpc>
                <a:spcPct val="125000"/>
              </a:lnSpc>
              <a:spcAft>
                <a:spcPts val="0"/>
              </a:spcAft>
            </a:pPr>
            <a:r>
              <a:rPr sz="1000" b="1" i="0" spc="160">
                <a:solidFill>
                  <a:srgbClr val="974F16"/>
                </a:solidFill>
                <a:latin typeface="Calibri"/>
              </a:rPr>
              <a:t>THE FORM TIME QUIZ  ·  ANSWERS  ·  QUESTION 8</a:t>
            </a:r>
          </a:p>
        </p:txBody>
      </p:sp>
      <p:sp>
        <p:nvSpPr>
          <p:cNvPr id="4" name="TextBox 3"/>
          <p:cNvSpPr txBox="1"/>
          <p:nvPr/>
        </p:nvSpPr>
        <p:spPr>
          <a:xfrm>
            <a:off x="685800" y="1504315"/>
            <a:ext cx="7772400" cy="222250"/>
          </a:xfrm>
          <a:prstGeom prst="rect">
            <a:avLst/>
          </a:prstGeom>
          <a:noFill/>
        </p:spPr>
        <p:txBody>
          <a:bodyPr wrap="square" anchor="t" lIns="0" rIns="0" tIns="0" bIns="0">
            <a:spAutoFit/>
          </a:bodyPr>
          <a:lstStyle/>
          <a:p>
            <a:pPr algn="l">
              <a:lnSpc>
                <a:spcPct val="125000"/>
              </a:lnSpc>
              <a:spcAft>
                <a:spcPts val="0"/>
              </a:spcAft>
            </a:pPr>
            <a:r>
              <a:rPr sz="1400" b="0" i="1">
                <a:solidFill>
                  <a:srgbClr val="5C6552"/>
                </a:solidFill>
                <a:latin typeface="Calibri"/>
              </a:rPr>
              <a:t>Which is the longest river in Africa?</a:t>
            </a:r>
          </a:p>
        </p:txBody>
      </p:sp>
      <p:sp>
        <p:nvSpPr>
          <p:cNvPr id="5" name="TextBox 4"/>
          <p:cNvSpPr txBox="1"/>
          <p:nvPr/>
        </p:nvSpPr>
        <p:spPr>
          <a:xfrm>
            <a:off x="685800" y="1909445"/>
            <a:ext cx="7772400" cy="603504"/>
          </a:xfrm>
          <a:prstGeom prst="rect">
            <a:avLst/>
          </a:prstGeom>
          <a:noFill/>
        </p:spPr>
        <p:txBody>
          <a:bodyPr wrap="square" anchor="t" lIns="0" rIns="0" tIns="0" bIns="0">
            <a:spAutoFit/>
          </a:bodyPr>
          <a:lstStyle/>
          <a:p>
            <a:pPr algn="l">
              <a:lnSpc>
                <a:spcPct val="105000"/>
              </a:lnSpc>
              <a:spcAft>
                <a:spcPts val="0"/>
              </a:spcAft>
            </a:pPr>
            <a:r>
              <a:rPr sz="3400" b="0" i="0">
                <a:solidFill>
                  <a:srgbClr val="974F16"/>
                </a:solidFill>
                <a:latin typeface="Georgia"/>
              </a:rPr>
              <a:t>The Nile</a:t>
            </a:r>
          </a:p>
        </p:txBody>
      </p:sp>
      <p:sp>
        <p:nvSpPr>
          <p:cNvPr id="6" name="Rounded Rectangle 5"/>
          <p:cNvSpPr/>
          <p:nvPr/>
        </p:nvSpPr>
        <p:spPr>
          <a:xfrm>
            <a:off x="685800" y="2695829"/>
            <a:ext cx="7772400" cy="1011936"/>
          </a:xfrm>
          <a:prstGeom prst="roundRect">
            <a:avLst>
              <a:gd name="adj" fmla="val 6000"/>
            </a:avLst>
          </a:prstGeom>
          <a:solidFill>
            <a:srgbClr val="F8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2695829"/>
            <a:ext cx="64008" cy="1011936"/>
          </a:xfrm>
          <a:prstGeom prst="rect">
            <a:avLst/>
          </a:prstGeom>
          <a:solidFill>
            <a:srgbClr val="C97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933573"/>
            <a:ext cx="7040880" cy="536448"/>
          </a:xfrm>
          <a:prstGeom prst="rect">
            <a:avLst/>
          </a:prstGeom>
          <a:noFill/>
        </p:spPr>
        <p:txBody>
          <a:bodyPr wrap="square" anchor="t" lIns="0" rIns="0" tIns="0" bIns="0">
            <a:spAutoFit/>
          </a:bodyPr>
          <a:lstStyle/>
          <a:p>
            <a:pPr algn="l">
              <a:lnSpc>
                <a:spcPct val="132000"/>
              </a:lnSpc>
              <a:spcAft>
                <a:spcPts val="0"/>
              </a:spcAft>
            </a:pPr>
            <a:r>
              <a:rPr sz="1600" b="0" i="0">
                <a:solidFill>
                  <a:srgbClr val="2E3436"/>
                </a:solidFill>
                <a:latin typeface="Calibri"/>
              </a:rPr>
              <a:t>It runs for about 6,650 kilometres and flows through eleven countries.</a:t>
            </a:r>
          </a:p>
        </p:txBody>
      </p:sp>
      <p:pic>
        <p:nvPicPr>
          <p:cNvPr id="9" name="Picture 8" descr="logo-mark.png"/>
          <p:cNvPicPr>
            <a:picLocks noChangeAspect="1"/>
          </p:cNvPicPr>
          <p:nvPr/>
        </p:nvPicPr>
        <p:blipFill>
          <a:blip r:embed="rId2"/>
          <a:stretch>
            <a:fillRect/>
          </a:stretch>
        </p:blipFill>
        <p:spPr>
          <a:xfrm>
            <a:off x="384048" y="4727448"/>
            <a:ext cx="158374" cy="182880"/>
          </a:xfrm>
          <a:prstGeom prst="rect">
            <a:avLst/>
          </a:prstGeom>
        </p:spPr>
      </p:pic>
      <p:sp>
        <p:nvSpPr>
          <p:cNvPr id="10" name="TextBox 9"/>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11" name="TextBox 10"/>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22 / 27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l">
              <a:lnSpc>
                <a:spcPct val="125000"/>
              </a:lnSpc>
              <a:spcAft>
                <a:spcPts val="0"/>
              </a:spcAft>
            </a:pPr>
            <a:r>
              <a:rPr sz="1000" b="1" i="0" spc="160">
                <a:solidFill>
                  <a:srgbClr val="974F16"/>
                </a:solidFill>
                <a:latin typeface="Calibri"/>
              </a:rPr>
              <a:t>THE FORM TIME QUIZ  ·  ANSWERS  ·  QUESTION 9</a:t>
            </a:r>
          </a:p>
        </p:txBody>
      </p:sp>
      <p:sp>
        <p:nvSpPr>
          <p:cNvPr id="4" name="TextBox 3"/>
          <p:cNvSpPr txBox="1"/>
          <p:nvPr/>
        </p:nvSpPr>
        <p:spPr>
          <a:xfrm>
            <a:off x="685800" y="1504315"/>
            <a:ext cx="7772400" cy="222250"/>
          </a:xfrm>
          <a:prstGeom prst="rect">
            <a:avLst/>
          </a:prstGeom>
          <a:noFill/>
        </p:spPr>
        <p:txBody>
          <a:bodyPr wrap="square" anchor="t" lIns="0" rIns="0" tIns="0" bIns="0">
            <a:spAutoFit/>
          </a:bodyPr>
          <a:lstStyle/>
          <a:p>
            <a:pPr algn="l">
              <a:lnSpc>
                <a:spcPct val="125000"/>
              </a:lnSpc>
              <a:spcAft>
                <a:spcPts val="0"/>
              </a:spcAft>
            </a:pPr>
            <a:r>
              <a:rPr sz="1400" b="0" i="1">
                <a:solidFill>
                  <a:srgbClr val="5C6552"/>
                </a:solidFill>
                <a:latin typeface="Calibri"/>
              </a:rPr>
              <a:t>How many bones are there in an adult human body?</a:t>
            </a:r>
          </a:p>
        </p:txBody>
      </p:sp>
      <p:sp>
        <p:nvSpPr>
          <p:cNvPr id="5" name="TextBox 4"/>
          <p:cNvSpPr txBox="1"/>
          <p:nvPr/>
        </p:nvSpPr>
        <p:spPr>
          <a:xfrm>
            <a:off x="685800" y="1909445"/>
            <a:ext cx="7772400" cy="603504"/>
          </a:xfrm>
          <a:prstGeom prst="rect">
            <a:avLst/>
          </a:prstGeom>
          <a:noFill/>
        </p:spPr>
        <p:txBody>
          <a:bodyPr wrap="square" anchor="t" lIns="0" rIns="0" tIns="0" bIns="0">
            <a:spAutoFit/>
          </a:bodyPr>
          <a:lstStyle/>
          <a:p>
            <a:pPr algn="l">
              <a:lnSpc>
                <a:spcPct val="105000"/>
              </a:lnSpc>
              <a:spcAft>
                <a:spcPts val="0"/>
              </a:spcAft>
            </a:pPr>
            <a:r>
              <a:rPr sz="3400" b="0" i="0">
                <a:solidFill>
                  <a:srgbClr val="974F16"/>
                </a:solidFill>
                <a:latin typeface="Georgia"/>
              </a:rPr>
              <a:t>B.  206</a:t>
            </a:r>
          </a:p>
        </p:txBody>
      </p:sp>
      <p:sp>
        <p:nvSpPr>
          <p:cNvPr id="6" name="Rounded Rectangle 5"/>
          <p:cNvSpPr/>
          <p:nvPr/>
        </p:nvSpPr>
        <p:spPr>
          <a:xfrm>
            <a:off x="685800" y="2695829"/>
            <a:ext cx="7772400" cy="1011936"/>
          </a:xfrm>
          <a:prstGeom prst="roundRect">
            <a:avLst>
              <a:gd name="adj" fmla="val 6000"/>
            </a:avLst>
          </a:prstGeom>
          <a:solidFill>
            <a:srgbClr val="F8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2695829"/>
            <a:ext cx="64008" cy="1011936"/>
          </a:xfrm>
          <a:prstGeom prst="rect">
            <a:avLst/>
          </a:prstGeom>
          <a:solidFill>
            <a:srgbClr val="C97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933573"/>
            <a:ext cx="7040880" cy="536448"/>
          </a:xfrm>
          <a:prstGeom prst="rect">
            <a:avLst/>
          </a:prstGeom>
          <a:noFill/>
        </p:spPr>
        <p:txBody>
          <a:bodyPr wrap="square" anchor="t" lIns="0" rIns="0" tIns="0" bIns="0">
            <a:spAutoFit/>
          </a:bodyPr>
          <a:lstStyle/>
          <a:p>
            <a:pPr algn="l">
              <a:lnSpc>
                <a:spcPct val="132000"/>
              </a:lnSpc>
              <a:spcAft>
                <a:spcPts val="0"/>
              </a:spcAft>
            </a:pPr>
            <a:r>
              <a:rPr sz="1600" b="0" i="0">
                <a:solidFill>
                  <a:srgbClr val="2E3436"/>
                </a:solidFill>
                <a:latin typeface="Calibri"/>
              </a:rPr>
              <a:t>Babies are born with around 300. Some of them fuse together as they grow.</a:t>
            </a:r>
          </a:p>
        </p:txBody>
      </p:sp>
      <p:pic>
        <p:nvPicPr>
          <p:cNvPr id="9" name="Picture 8" descr="logo-mark.png"/>
          <p:cNvPicPr>
            <a:picLocks noChangeAspect="1"/>
          </p:cNvPicPr>
          <p:nvPr/>
        </p:nvPicPr>
        <p:blipFill>
          <a:blip r:embed="rId2"/>
          <a:stretch>
            <a:fillRect/>
          </a:stretch>
        </p:blipFill>
        <p:spPr>
          <a:xfrm>
            <a:off x="384048" y="4727448"/>
            <a:ext cx="158374" cy="182880"/>
          </a:xfrm>
          <a:prstGeom prst="rect">
            <a:avLst/>
          </a:prstGeom>
        </p:spPr>
      </p:pic>
      <p:sp>
        <p:nvSpPr>
          <p:cNvPr id="10" name="TextBox 9"/>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11" name="TextBox 10"/>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23 / 27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l">
              <a:lnSpc>
                <a:spcPct val="125000"/>
              </a:lnSpc>
              <a:spcAft>
                <a:spcPts val="0"/>
              </a:spcAft>
            </a:pPr>
            <a:r>
              <a:rPr sz="1000" b="1" i="0" spc="160">
                <a:solidFill>
                  <a:srgbClr val="974F16"/>
                </a:solidFill>
                <a:latin typeface="Calibri"/>
              </a:rPr>
              <a:t>THE FORM TIME QUIZ  ·  ANSWERS  ·  QUESTION 10</a:t>
            </a:r>
          </a:p>
        </p:txBody>
      </p:sp>
      <p:sp>
        <p:nvSpPr>
          <p:cNvPr id="4" name="TextBox 3"/>
          <p:cNvSpPr txBox="1"/>
          <p:nvPr/>
        </p:nvSpPr>
        <p:spPr>
          <a:xfrm>
            <a:off x="685800" y="1504315"/>
            <a:ext cx="7772400" cy="222250"/>
          </a:xfrm>
          <a:prstGeom prst="rect">
            <a:avLst/>
          </a:prstGeom>
          <a:noFill/>
        </p:spPr>
        <p:txBody>
          <a:bodyPr wrap="square" anchor="t" lIns="0" rIns="0" tIns="0" bIns="0">
            <a:spAutoFit/>
          </a:bodyPr>
          <a:lstStyle/>
          <a:p>
            <a:pPr algn="l">
              <a:lnSpc>
                <a:spcPct val="125000"/>
              </a:lnSpc>
              <a:spcAft>
                <a:spcPts val="0"/>
              </a:spcAft>
            </a:pPr>
            <a:r>
              <a:rPr sz="1400" b="0" i="1">
                <a:solidFill>
                  <a:srgbClr val="5C6552"/>
                </a:solidFill>
                <a:latin typeface="Calibri"/>
              </a:rPr>
              <a:t>Which country’s flag has a red maple leaf on it?</a:t>
            </a:r>
          </a:p>
        </p:txBody>
      </p:sp>
      <p:sp>
        <p:nvSpPr>
          <p:cNvPr id="5" name="TextBox 4"/>
          <p:cNvSpPr txBox="1"/>
          <p:nvPr/>
        </p:nvSpPr>
        <p:spPr>
          <a:xfrm>
            <a:off x="685800" y="1909445"/>
            <a:ext cx="7772400" cy="603504"/>
          </a:xfrm>
          <a:prstGeom prst="rect">
            <a:avLst/>
          </a:prstGeom>
          <a:noFill/>
        </p:spPr>
        <p:txBody>
          <a:bodyPr wrap="square" anchor="t" lIns="0" rIns="0" tIns="0" bIns="0">
            <a:spAutoFit/>
          </a:bodyPr>
          <a:lstStyle/>
          <a:p>
            <a:pPr algn="l">
              <a:lnSpc>
                <a:spcPct val="105000"/>
              </a:lnSpc>
              <a:spcAft>
                <a:spcPts val="0"/>
              </a:spcAft>
            </a:pPr>
            <a:r>
              <a:rPr sz="3400" b="0" i="0">
                <a:solidFill>
                  <a:srgbClr val="974F16"/>
                </a:solidFill>
                <a:latin typeface="Georgia"/>
              </a:rPr>
              <a:t>Canada</a:t>
            </a:r>
          </a:p>
        </p:txBody>
      </p:sp>
      <p:sp>
        <p:nvSpPr>
          <p:cNvPr id="6" name="Rounded Rectangle 5"/>
          <p:cNvSpPr/>
          <p:nvPr/>
        </p:nvSpPr>
        <p:spPr>
          <a:xfrm>
            <a:off x="685800" y="2695829"/>
            <a:ext cx="7772400" cy="1011936"/>
          </a:xfrm>
          <a:prstGeom prst="roundRect">
            <a:avLst>
              <a:gd name="adj" fmla="val 6000"/>
            </a:avLst>
          </a:prstGeom>
          <a:solidFill>
            <a:srgbClr val="F8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2695829"/>
            <a:ext cx="64008" cy="1011936"/>
          </a:xfrm>
          <a:prstGeom prst="rect">
            <a:avLst/>
          </a:prstGeom>
          <a:solidFill>
            <a:srgbClr val="C97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933573"/>
            <a:ext cx="7040880" cy="536448"/>
          </a:xfrm>
          <a:prstGeom prst="rect">
            <a:avLst/>
          </a:prstGeom>
          <a:noFill/>
        </p:spPr>
        <p:txBody>
          <a:bodyPr wrap="square" anchor="t" lIns="0" rIns="0" tIns="0" bIns="0">
            <a:spAutoFit/>
          </a:bodyPr>
          <a:lstStyle/>
          <a:p>
            <a:pPr algn="l">
              <a:lnSpc>
                <a:spcPct val="132000"/>
              </a:lnSpc>
              <a:spcAft>
                <a:spcPts val="0"/>
              </a:spcAft>
            </a:pPr>
            <a:r>
              <a:rPr sz="1600" b="0" i="0">
                <a:solidFill>
                  <a:srgbClr val="2E3436"/>
                </a:solidFill>
                <a:latin typeface="Calibri"/>
              </a:rPr>
              <a:t>The maple leaf has been a symbol of Canada since the 1700s, long before it went on the flag.</a:t>
            </a:r>
          </a:p>
        </p:txBody>
      </p:sp>
      <p:pic>
        <p:nvPicPr>
          <p:cNvPr id="9" name="Picture 8" descr="logo-mark.png"/>
          <p:cNvPicPr>
            <a:picLocks noChangeAspect="1"/>
          </p:cNvPicPr>
          <p:nvPr/>
        </p:nvPicPr>
        <p:blipFill>
          <a:blip r:embed="rId2"/>
          <a:stretch>
            <a:fillRect/>
          </a:stretch>
        </p:blipFill>
        <p:spPr>
          <a:xfrm>
            <a:off x="384048" y="4727448"/>
            <a:ext cx="158374" cy="182880"/>
          </a:xfrm>
          <a:prstGeom prst="rect">
            <a:avLst/>
          </a:prstGeom>
        </p:spPr>
      </p:pic>
      <p:sp>
        <p:nvSpPr>
          <p:cNvPr id="10" name="TextBox 9"/>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11" name="TextBox 10"/>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24 / 27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8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ctr">
              <a:lnSpc>
                <a:spcPct val="125000"/>
              </a:lnSpc>
              <a:spcAft>
                <a:spcPts val="0"/>
              </a:spcAft>
            </a:pPr>
            <a:r>
              <a:rPr sz="1000" b="1" i="0" spc="160">
                <a:solidFill>
                  <a:srgbClr val="974F16"/>
                </a:solidFill>
                <a:latin typeface="Calibri"/>
              </a:rPr>
              <a:t>THE FORM TIME QUIZ  ·  VOLUME ONE</a:t>
            </a:r>
          </a:p>
        </p:txBody>
      </p:sp>
      <p:pic>
        <p:nvPicPr>
          <p:cNvPr id="4" name="Picture 3" descr="logo-mark.png"/>
          <p:cNvPicPr>
            <a:picLocks noChangeAspect="1"/>
          </p:cNvPicPr>
          <p:nvPr/>
        </p:nvPicPr>
        <p:blipFill>
          <a:blip r:embed="rId2"/>
          <a:stretch>
            <a:fillRect/>
          </a:stretch>
        </p:blipFill>
        <p:spPr>
          <a:xfrm>
            <a:off x="4255251" y="822960"/>
            <a:ext cx="633496" cy="731520"/>
          </a:xfrm>
          <a:prstGeom prst="rect">
            <a:avLst/>
          </a:prstGeom>
        </p:spPr>
      </p:pic>
      <p:sp>
        <p:nvSpPr>
          <p:cNvPr id="5" name="TextBox 4"/>
          <p:cNvSpPr txBox="1"/>
          <p:nvPr/>
        </p:nvSpPr>
        <p:spPr>
          <a:xfrm>
            <a:off x="548640" y="1755648"/>
            <a:ext cx="8046720" cy="640080"/>
          </a:xfrm>
          <a:prstGeom prst="rect">
            <a:avLst/>
          </a:prstGeom>
          <a:noFill/>
        </p:spPr>
        <p:txBody>
          <a:bodyPr wrap="square" anchor="t" lIns="0" rIns="0" tIns="0" bIns="0">
            <a:spAutoFit/>
          </a:bodyPr>
          <a:lstStyle/>
          <a:p>
            <a:pPr algn="ctr">
              <a:lnSpc>
                <a:spcPct val="105000"/>
              </a:lnSpc>
              <a:spcAft>
                <a:spcPts val="0"/>
              </a:spcAft>
            </a:pPr>
            <a:r>
              <a:rPr sz="3200" b="0" i="0">
                <a:solidFill>
                  <a:srgbClr val="974F16"/>
                </a:solidFill>
                <a:latin typeface="Georgia"/>
              </a:rPr>
              <a:t>Scores back to their owners</a:t>
            </a:r>
          </a:p>
        </p:txBody>
      </p:sp>
      <p:sp>
        <p:nvSpPr>
          <p:cNvPr id="6" name="TextBox 5"/>
          <p:cNvSpPr txBox="1"/>
          <p:nvPr/>
        </p:nvSpPr>
        <p:spPr>
          <a:xfrm>
            <a:off x="1188720" y="2560320"/>
            <a:ext cx="6766560" cy="822960"/>
          </a:xfrm>
          <a:prstGeom prst="rect">
            <a:avLst/>
          </a:prstGeom>
          <a:noFill/>
        </p:spPr>
        <p:txBody>
          <a:bodyPr wrap="square" anchor="t" lIns="0" rIns="0" tIns="0" bIns="0">
            <a:spAutoFit/>
          </a:bodyPr>
          <a:lstStyle/>
          <a:p>
            <a:pPr algn="ctr">
              <a:lnSpc>
                <a:spcPct val="130000"/>
              </a:lnSpc>
              <a:spcAft>
                <a:spcPts val="0"/>
              </a:spcAft>
            </a:pPr>
            <a:r>
              <a:rPr sz="1500" b="0" i="0">
                <a:solidFill>
                  <a:srgbClr val="5C6552"/>
                </a:solidFill>
                <a:latin typeface="Calibri"/>
              </a:rPr>
              <a:t>Hands up if you got ten. Then hands up if one of the answers surprised you, and tell us which.</a:t>
            </a:r>
          </a:p>
        </p:txBody>
      </p:sp>
      <p:sp>
        <p:nvSpPr>
          <p:cNvPr id="7" name="TextBox 6"/>
          <p:cNvSpPr txBox="1"/>
          <p:nvPr/>
        </p:nvSpPr>
        <p:spPr>
          <a:xfrm>
            <a:off x="731520" y="3639312"/>
            <a:ext cx="7680960" cy="365760"/>
          </a:xfrm>
          <a:prstGeom prst="rect">
            <a:avLst/>
          </a:prstGeom>
          <a:noFill/>
        </p:spPr>
        <p:txBody>
          <a:bodyPr wrap="square" anchor="t" lIns="0" rIns="0" tIns="0" bIns="0">
            <a:spAutoFit/>
          </a:bodyPr>
          <a:lstStyle/>
          <a:p>
            <a:pPr algn="ctr">
              <a:lnSpc>
                <a:spcPct val="125000"/>
              </a:lnSpc>
              <a:spcAft>
                <a:spcPts val="0"/>
              </a:spcAft>
            </a:pPr>
            <a:r>
              <a:rPr sz="1200" b="0" i="1">
                <a:solidFill>
                  <a:srgbClr val="8B9179"/>
                </a:solidFill>
                <a:latin typeface="Calibri"/>
              </a:rPr>
              <a:t>Volume Two is available now at thepastoralguide.com.</a:t>
            </a:r>
          </a:p>
        </p:txBody>
      </p:sp>
      <p:pic>
        <p:nvPicPr>
          <p:cNvPr id="8" name="Picture 7" descr="logo-mark.png"/>
          <p:cNvPicPr>
            <a:picLocks noChangeAspect="1"/>
          </p:cNvPicPr>
          <p:nvPr/>
        </p:nvPicPr>
        <p:blipFill>
          <a:blip r:embed="rId2"/>
          <a:stretch>
            <a:fillRect/>
          </a:stretch>
        </p:blipFill>
        <p:spPr>
          <a:xfrm>
            <a:off x="384048" y="4727448"/>
            <a:ext cx="158374" cy="182880"/>
          </a:xfrm>
          <a:prstGeom prst="rect">
            <a:avLst/>
          </a:prstGeom>
        </p:spPr>
      </p:pic>
      <p:sp>
        <p:nvSpPr>
          <p:cNvPr id="9" name="TextBox 8"/>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10" name="TextBox 9"/>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25 / 27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329184"/>
            <a:ext cx="3129423" cy="237744"/>
          </a:xfrm>
          <a:prstGeom prst="roundRect">
            <a:avLst>
              <a:gd name="adj" fmla="val 50000"/>
            </a:avLst>
          </a:prstGeom>
          <a:solidFill>
            <a:srgbClr val="F8EEE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spc="90">
                <a:solidFill>
                  <a:srgbClr val="974F16"/>
                </a:solidFill>
                <a:latin typeface="Calibri"/>
              </a:rPr>
              <a:t>FOR THE TEACHER  ·  ADD YOUR OWN</a:t>
            </a:r>
          </a:p>
        </p:txBody>
      </p:sp>
      <p:sp>
        <p:nvSpPr>
          <p:cNvPr id="4" name="Rounded Rectangle 3"/>
          <p:cNvSpPr/>
          <p:nvPr/>
        </p:nvSpPr>
        <p:spPr>
          <a:xfrm>
            <a:off x="685800" y="841248"/>
            <a:ext cx="7772400" cy="1188720"/>
          </a:xfrm>
          <a:prstGeom prst="roundRect">
            <a:avLst>
              <a:gd name="adj" fmla="val 6000"/>
            </a:avLst>
          </a:prstGeom>
          <a:solidFill>
            <a:srgbClr val="F8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841248"/>
            <a:ext cx="7772400" cy="54864"/>
          </a:xfrm>
          <a:prstGeom prst="rect">
            <a:avLst/>
          </a:prstGeom>
          <a:solidFill>
            <a:srgbClr val="C97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50976" y="1133856"/>
            <a:ext cx="603504" cy="603504"/>
          </a:xfrm>
          <a:prstGeom prst="ellipse">
            <a:avLst/>
          </a:prstGeom>
          <a:solidFill>
            <a:srgbClr val="974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0976" y="1261872"/>
            <a:ext cx="603504" cy="347472"/>
          </a:xfrm>
          <a:prstGeom prst="rect">
            <a:avLst/>
          </a:prstGeom>
          <a:noFill/>
        </p:spPr>
        <p:txBody>
          <a:bodyPr wrap="square" anchor="t" lIns="0" rIns="0" tIns="0" bIns="0">
            <a:spAutoFit/>
          </a:bodyPr>
          <a:lstStyle/>
          <a:p>
            <a:pPr algn="ctr">
              <a:lnSpc>
                <a:spcPct val="125000"/>
              </a:lnSpc>
              <a:spcAft>
                <a:spcPts val="0"/>
              </a:spcAft>
            </a:pPr>
            <a:r>
              <a:rPr sz="2000" b="1" i="0">
                <a:solidFill>
                  <a:srgbClr val="FFFDF7"/>
                </a:solidFill>
                <a:latin typeface="Calibri"/>
              </a:rPr>
              <a:t>?</a:t>
            </a:r>
          </a:p>
        </p:txBody>
      </p:sp>
      <p:sp>
        <p:nvSpPr>
          <p:cNvPr id="8" name="TextBox 7"/>
          <p:cNvSpPr txBox="1"/>
          <p:nvPr/>
        </p:nvSpPr>
        <p:spPr>
          <a:xfrm>
            <a:off x="1783080" y="1246632"/>
            <a:ext cx="6309360" cy="377952"/>
          </a:xfrm>
          <a:prstGeom prst="rect">
            <a:avLst/>
          </a:prstGeom>
          <a:noFill/>
        </p:spPr>
        <p:txBody>
          <a:bodyPr wrap="square" anchor="t" lIns="0" rIns="0" tIns="0" bIns="0">
            <a:spAutoFit/>
          </a:bodyPr>
          <a:lstStyle/>
          <a:p>
            <a:pPr algn="l">
              <a:lnSpc>
                <a:spcPct val="112000"/>
              </a:lnSpc>
              <a:spcAft>
                <a:spcPts val="0"/>
              </a:spcAft>
            </a:pPr>
            <a:r>
              <a:rPr sz="2400" b="0" i="0">
                <a:solidFill>
                  <a:srgbClr val="974F16"/>
                </a:solidFill>
                <a:latin typeface="Georgia"/>
              </a:rPr>
              <a:t>[ Type your own question here ]</a:t>
            </a:r>
          </a:p>
        </p:txBody>
      </p:sp>
      <p:sp>
        <p:nvSpPr>
          <p:cNvPr id="9" name="TextBox 8"/>
          <p:cNvSpPr txBox="1"/>
          <p:nvPr/>
        </p:nvSpPr>
        <p:spPr>
          <a:xfrm>
            <a:off x="685800" y="2432304"/>
            <a:ext cx="7772400" cy="1280160"/>
          </a:xfrm>
          <a:prstGeom prst="rect">
            <a:avLst/>
          </a:prstGeom>
          <a:noFill/>
        </p:spPr>
        <p:txBody>
          <a:bodyPr wrap="square" anchor="t" lIns="0" rIns="0" tIns="0" bIns="0">
            <a:spAutoFit/>
          </a:bodyPr>
          <a:lstStyle/>
          <a:p>
            <a:pPr algn="l">
              <a:lnSpc>
                <a:spcPct val="130000"/>
              </a:lnSpc>
              <a:spcAft>
                <a:spcPts val="0"/>
              </a:spcAft>
            </a:pPr>
            <a:r>
              <a:rPr sz="1250" b="0" i="0">
                <a:solidFill>
                  <a:srgbClr val="5C6552"/>
                </a:solidFill>
                <a:latin typeface="Calibri"/>
              </a:rPr>
              <a:t>Add your own questions here: something from assembly, a date coming up, or a question about your own school.</a:t>
            </a:r>
          </a:p>
          <a:p>
            <a:pPr algn="l">
              <a:lnSpc>
                <a:spcPct val="130000"/>
              </a:lnSpc>
              <a:spcBef>
                <a:spcPts val="800"/>
              </a:spcBef>
              <a:spcAft>
                <a:spcPts val="0"/>
              </a:spcAft>
            </a:pPr>
            <a:r>
              <a:rPr sz="1250" b="0" i="0">
                <a:solidFill>
                  <a:srgbClr val="5C6552"/>
                </a:solidFill>
                <a:latin typeface="Calibri"/>
              </a:rPr>
              <a:t>Duplicate this slide for each one and drag it in after question 10. There are two spare rows on the answer sheet for them.</a:t>
            </a:r>
          </a:p>
        </p:txBody>
      </p:sp>
      <p:pic>
        <p:nvPicPr>
          <p:cNvPr id="10" name="Picture 9" descr="logo-mark.png"/>
          <p:cNvPicPr>
            <a:picLocks noChangeAspect="1"/>
          </p:cNvPicPr>
          <p:nvPr/>
        </p:nvPicPr>
        <p:blipFill>
          <a:blip r:embed="rId2"/>
          <a:stretch>
            <a:fillRect/>
          </a:stretch>
        </p:blipFill>
        <p:spPr>
          <a:xfrm>
            <a:off x="384048" y="4727448"/>
            <a:ext cx="158374" cy="182880"/>
          </a:xfrm>
          <a:prstGeom prst="rect">
            <a:avLst/>
          </a:prstGeom>
        </p:spPr>
      </p:pic>
      <p:sp>
        <p:nvSpPr>
          <p:cNvPr id="11" name="TextBox 10"/>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12" name="TextBox 11"/>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26 / 27</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329184"/>
            <a:ext cx="3129423" cy="237744"/>
          </a:xfrm>
          <a:prstGeom prst="roundRect">
            <a:avLst>
              <a:gd name="adj" fmla="val 50000"/>
            </a:avLst>
          </a:prstGeom>
          <a:solidFill>
            <a:srgbClr val="F8EEE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spc="90">
                <a:solidFill>
                  <a:srgbClr val="974F16"/>
                </a:solidFill>
                <a:latin typeface="Calibri"/>
              </a:rPr>
              <a:t>FOR THE TEACHER  ·  ADD YOUR OWN</a:t>
            </a:r>
          </a:p>
        </p:txBody>
      </p:sp>
      <p:sp>
        <p:nvSpPr>
          <p:cNvPr id="4" name="TextBox 3"/>
          <p:cNvSpPr txBox="1"/>
          <p:nvPr/>
        </p:nvSpPr>
        <p:spPr>
          <a:xfrm>
            <a:off x="685800" y="731520"/>
            <a:ext cx="7772400" cy="310896"/>
          </a:xfrm>
          <a:prstGeom prst="rect">
            <a:avLst/>
          </a:prstGeom>
          <a:noFill/>
        </p:spPr>
        <p:txBody>
          <a:bodyPr wrap="square" anchor="t" lIns="0" rIns="0" tIns="0" bIns="0">
            <a:spAutoFit/>
          </a:bodyPr>
          <a:lstStyle/>
          <a:p>
            <a:pPr algn="l">
              <a:lnSpc>
                <a:spcPct val="125000"/>
              </a:lnSpc>
              <a:spcAft>
                <a:spcPts val="0"/>
              </a:spcAft>
            </a:pPr>
            <a:r>
              <a:rPr sz="1400" b="0" i="1">
                <a:solidFill>
                  <a:srgbClr val="5C6552"/>
                </a:solidFill>
                <a:latin typeface="Calibri"/>
              </a:rPr>
              <a:t>[ Your question again, so the room remembers it ]</a:t>
            </a:r>
          </a:p>
        </p:txBody>
      </p:sp>
      <p:sp>
        <p:nvSpPr>
          <p:cNvPr id="5" name="TextBox 4"/>
          <p:cNvSpPr txBox="1"/>
          <p:nvPr/>
        </p:nvSpPr>
        <p:spPr>
          <a:xfrm>
            <a:off x="685800" y="1225296"/>
            <a:ext cx="7772400" cy="603504"/>
          </a:xfrm>
          <a:prstGeom prst="rect">
            <a:avLst/>
          </a:prstGeom>
          <a:noFill/>
        </p:spPr>
        <p:txBody>
          <a:bodyPr wrap="square" anchor="t" lIns="0" rIns="0" tIns="0" bIns="0">
            <a:spAutoFit/>
          </a:bodyPr>
          <a:lstStyle/>
          <a:p>
            <a:pPr algn="l">
              <a:lnSpc>
                <a:spcPct val="105000"/>
              </a:lnSpc>
              <a:spcAft>
                <a:spcPts val="0"/>
              </a:spcAft>
            </a:pPr>
            <a:r>
              <a:rPr sz="3400" b="0" i="0">
                <a:solidFill>
                  <a:srgbClr val="974F16"/>
                </a:solidFill>
                <a:latin typeface="Georgia"/>
              </a:rPr>
              <a:t>[ The answer ]</a:t>
            </a:r>
          </a:p>
        </p:txBody>
      </p:sp>
      <p:sp>
        <p:nvSpPr>
          <p:cNvPr id="6" name="Rounded Rectangle 5"/>
          <p:cNvSpPr/>
          <p:nvPr/>
        </p:nvSpPr>
        <p:spPr>
          <a:xfrm>
            <a:off x="685800" y="2011680"/>
            <a:ext cx="7772400" cy="932688"/>
          </a:xfrm>
          <a:prstGeom prst="roundRect">
            <a:avLst>
              <a:gd name="adj" fmla="val 6000"/>
            </a:avLst>
          </a:prstGeom>
          <a:solidFill>
            <a:srgbClr val="F8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2011680"/>
            <a:ext cx="64008" cy="932688"/>
          </a:xfrm>
          <a:prstGeom prst="rect">
            <a:avLst/>
          </a:prstGeom>
          <a:solidFill>
            <a:srgbClr val="C97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249424"/>
            <a:ext cx="7040880" cy="457200"/>
          </a:xfrm>
          <a:prstGeom prst="rect">
            <a:avLst/>
          </a:prstGeom>
          <a:noFill/>
        </p:spPr>
        <p:txBody>
          <a:bodyPr wrap="square" anchor="t" lIns="0" rIns="0" tIns="0" bIns="0">
            <a:spAutoFit/>
          </a:bodyPr>
          <a:lstStyle/>
          <a:p>
            <a:pPr algn="l">
              <a:lnSpc>
                <a:spcPct val="132000"/>
              </a:lnSpc>
              <a:spcAft>
                <a:spcPts val="0"/>
              </a:spcAft>
            </a:pPr>
            <a:r>
              <a:rPr sz="1600" b="0" i="0">
                <a:solidFill>
                  <a:srgbClr val="2E3436"/>
                </a:solidFill>
                <a:latin typeface="Calibri"/>
              </a:rPr>
              <a:t>[ One line on why, if there is something worth knowing ]</a:t>
            </a:r>
          </a:p>
        </p:txBody>
      </p:sp>
      <p:sp>
        <p:nvSpPr>
          <p:cNvPr id="9" name="TextBox 8"/>
          <p:cNvSpPr txBox="1"/>
          <p:nvPr/>
        </p:nvSpPr>
        <p:spPr>
          <a:xfrm>
            <a:off x="685800" y="3218688"/>
            <a:ext cx="7772400" cy="731520"/>
          </a:xfrm>
          <a:prstGeom prst="rect">
            <a:avLst/>
          </a:prstGeom>
          <a:noFill/>
        </p:spPr>
        <p:txBody>
          <a:bodyPr wrap="square" anchor="t" lIns="0" rIns="0" tIns="0" bIns="0">
            <a:spAutoFit/>
          </a:bodyPr>
          <a:lstStyle/>
          <a:p>
            <a:pPr algn="l">
              <a:lnSpc>
                <a:spcPct val="130000"/>
              </a:lnSpc>
              <a:spcAft>
                <a:spcPts val="0"/>
              </a:spcAft>
            </a:pPr>
            <a:r>
              <a:rPr sz="1250" b="0" i="0">
                <a:solidFill>
                  <a:srgbClr val="5C6552"/>
                </a:solidFill>
                <a:latin typeface="Calibri"/>
              </a:rPr>
              <a:t>Duplicate this slide for each of your own questions and drag it in after the answer to question 10.</a:t>
            </a:r>
          </a:p>
        </p:txBody>
      </p:sp>
      <p:pic>
        <p:nvPicPr>
          <p:cNvPr id="10" name="Picture 9" descr="logo-mark.png"/>
          <p:cNvPicPr>
            <a:picLocks noChangeAspect="1"/>
          </p:cNvPicPr>
          <p:nvPr/>
        </p:nvPicPr>
        <p:blipFill>
          <a:blip r:embed="rId2"/>
          <a:stretch>
            <a:fillRect/>
          </a:stretch>
        </p:blipFill>
        <p:spPr>
          <a:xfrm>
            <a:off x="384048" y="4727448"/>
            <a:ext cx="158374" cy="182880"/>
          </a:xfrm>
          <a:prstGeom prst="rect">
            <a:avLst/>
          </a:prstGeom>
        </p:spPr>
      </p:pic>
      <p:sp>
        <p:nvSpPr>
          <p:cNvPr id="11" name="TextBox 10"/>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12" name="TextBox 11"/>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27 / 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