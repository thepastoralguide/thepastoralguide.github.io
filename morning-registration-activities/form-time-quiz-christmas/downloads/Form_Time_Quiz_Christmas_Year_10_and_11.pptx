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ctr">
              <a:lnSpc>
                <a:spcPct val="125000"/>
              </a:lnSpc>
              <a:spcAft>
                <a:spcPts val="0"/>
              </a:spcAft>
            </a:pPr>
            <a:r>
              <a:rPr sz="1000" b="1" i="0" spc="160">
                <a:solidFill>
                  <a:srgbClr val="2F5A44"/>
                </a:solidFill>
                <a:latin typeface="Karla"/>
              </a:rPr>
              <a:t>MORNING REGISTRATION ACTIVITIES</a:t>
            </a:r>
          </a:p>
        </p:txBody>
      </p:sp>
      <p:sp>
        <p:nvSpPr>
          <p:cNvPr id="4" name="TextBox 3"/>
          <p:cNvSpPr txBox="1"/>
          <p:nvPr/>
        </p:nvSpPr>
        <p:spPr>
          <a:xfrm>
            <a:off x="685800" y="621792"/>
            <a:ext cx="7772400" cy="548640"/>
          </a:xfrm>
          <a:prstGeom prst="rect">
            <a:avLst/>
          </a:prstGeom>
          <a:noFill/>
        </p:spPr>
        <p:txBody>
          <a:bodyPr wrap="square" anchor="t" lIns="0" rIns="0" tIns="0" bIns="0">
            <a:spAutoFit/>
          </a:bodyPr>
          <a:lstStyle/>
          <a:p>
            <a:pPr algn="ctr">
              <a:lnSpc>
                <a:spcPct val="105000"/>
              </a:lnSpc>
              <a:spcAft>
                <a:spcPts val="0"/>
              </a:spcAft>
            </a:pPr>
            <a:r>
              <a:rPr sz="3000" b="1" i="0">
                <a:solidFill>
                  <a:srgbClr val="2F5A44"/>
                </a:solidFill>
                <a:latin typeface="Libre Caslon Display"/>
              </a:rPr>
              <a:t>The Form Time Quiz</a:t>
            </a:r>
          </a:p>
        </p:txBody>
      </p:sp>
      <p:sp>
        <p:nvSpPr>
          <p:cNvPr id="5" name="Rounded Rectangle 4"/>
          <p:cNvSpPr/>
          <p:nvPr/>
        </p:nvSpPr>
        <p:spPr>
          <a:xfrm>
            <a:off x="2906765" y="1243584"/>
            <a:ext cx="3330468" cy="237744"/>
          </a:xfrm>
          <a:prstGeom prst="roundRect">
            <a:avLst>
              <a:gd name="adj" fmla="val 50000"/>
            </a:avLst>
          </a:prstGeom>
          <a:solidFill>
            <a:srgbClr val="963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FFFDF7"/>
                </a:solidFill>
                <a:latin typeface="Karla"/>
              </a:rPr>
              <a:t>CHRISTMAS EDITION  ·  YEAR 10 AND 11</a:t>
            </a:r>
          </a:p>
        </p:txBody>
      </p:sp>
      <p:sp>
        <p:nvSpPr>
          <p:cNvPr id="6" name="TextBox 5"/>
          <p:cNvSpPr txBox="1"/>
          <p:nvPr/>
        </p:nvSpPr>
        <p:spPr>
          <a:xfrm>
            <a:off x="914400" y="1572768"/>
            <a:ext cx="7315200" cy="310896"/>
          </a:xfrm>
          <a:prstGeom prst="rect">
            <a:avLst/>
          </a:prstGeom>
          <a:noFill/>
        </p:spPr>
        <p:txBody>
          <a:bodyPr wrap="square" anchor="t" lIns="0" rIns="0" tIns="0" bIns="0">
            <a:spAutoFit/>
          </a:bodyPr>
          <a:lstStyle/>
          <a:p>
            <a:pPr algn="ctr">
              <a:lnSpc>
                <a:spcPct val="125000"/>
              </a:lnSpc>
              <a:spcAft>
                <a:spcPts val="0"/>
              </a:spcAft>
            </a:pPr>
            <a:r>
              <a:rPr sz="1300" b="0" i="0">
                <a:solidFill>
                  <a:srgbClr val="5C6552"/>
                </a:solidFill>
                <a:latin typeface="Karla"/>
              </a:rPr>
              <a:t>Ten questions: four fact or myth, then three with options and three to write.</a:t>
            </a:r>
          </a:p>
        </p:txBody>
      </p:sp>
      <p:sp>
        <p:nvSpPr>
          <p:cNvPr id="7" name="Rectangle 6"/>
          <p:cNvSpPr/>
          <p:nvPr/>
        </p:nvSpPr>
        <p:spPr>
          <a:xfrm>
            <a:off x="685800" y="1938528"/>
            <a:ext cx="2395728" cy="201168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554480" y="2084832"/>
            <a:ext cx="658368" cy="658368"/>
          </a:xfrm>
          <a:prstGeom prst="ellipse">
            <a:avLst/>
          </a:prstGeom>
          <a:solidFill>
            <a:srgbClr val="2F5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wopeople.png"/>
          <p:cNvPicPr>
            <a:picLocks noChangeAspect="1"/>
          </p:cNvPicPr>
          <p:nvPr/>
        </p:nvPicPr>
        <p:blipFill>
          <a:blip r:embed="rId2"/>
          <a:stretch>
            <a:fillRect/>
          </a:stretch>
        </p:blipFill>
        <p:spPr>
          <a:xfrm>
            <a:off x="1691640" y="2221992"/>
            <a:ext cx="384048" cy="384048"/>
          </a:xfrm>
          <a:prstGeom prst="rect">
            <a:avLst/>
          </a:prstGeom>
        </p:spPr>
      </p:pic>
      <p:sp>
        <p:nvSpPr>
          <p:cNvPr id="10" name="TextBox 9"/>
          <p:cNvSpPr txBox="1"/>
          <p:nvPr/>
        </p:nvSpPr>
        <p:spPr>
          <a:xfrm>
            <a:off x="813816" y="2852928"/>
            <a:ext cx="2139696" cy="475488"/>
          </a:xfrm>
          <a:prstGeom prst="rect">
            <a:avLst/>
          </a:prstGeom>
          <a:noFill/>
        </p:spPr>
        <p:txBody>
          <a:bodyPr wrap="square" anchor="t" lIns="0" rIns="0" tIns="0" bIns="0">
            <a:spAutoFit/>
          </a:bodyPr>
          <a:lstStyle/>
          <a:p>
            <a:pPr algn="ctr">
              <a:lnSpc>
                <a:spcPct val="125000"/>
              </a:lnSpc>
              <a:spcAft>
                <a:spcPts val="0"/>
              </a:spcAft>
            </a:pPr>
            <a:r>
              <a:rPr sz="1350" b="1" i="0">
                <a:solidFill>
                  <a:srgbClr val="2F5A44"/>
                </a:solidFill>
                <a:latin typeface="Libre Caslon Display"/>
              </a:rPr>
              <a:t>Get into teams</a:t>
            </a:r>
          </a:p>
        </p:txBody>
      </p:sp>
      <p:sp>
        <p:nvSpPr>
          <p:cNvPr id="11" name="TextBox 10"/>
          <p:cNvSpPr txBox="1"/>
          <p:nvPr/>
        </p:nvSpPr>
        <p:spPr>
          <a:xfrm>
            <a:off x="850392" y="3346704"/>
            <a:ext cx="2066544" cy="493776"/>
          </a:xfrm>
          <a:prstGeom prst="rect">
            <a:avLst/>
          </a:prstGeom>
          <a:noFill/>
        </p:spPr>
        <p:txBody>
          <a:bodyPr wrap="square" anchor="t" lIns="0" rIns="0" tIns="0" bIns="0">
            <a:spAutoFit/>
          </a:bodyPr>
          <a:lstStyle/>
          <a:p>
            <a:pPr algn="ctr">
              <a:lnSpc>
                <a:spcPct val="125000"/>
              </a:lnSpc>
              <a:spcAft>
                <a:spcPts val="0"/>
              </a:spcAft>
            </a:pPr>
            <a:r>
              <a:rPr sz="1050" b="0" i="0">
                <a:solidFill>
                  <a:srgbClr val="5C6552"/>
                </a:solidFill>
                <a:latin typeface="Karla"/>
              </a:rPr>
              <a:t>Three or four to a team, with one answer sheet between you.</a:t>
            </a:r>
          </a:p>
        </p:txBody>
      </p:sp>
      <p:sp>
        <p:nvSpPr>
          <p:cNvPr id="12" name="Rectangle 11"/>
          <p:cNvSpPr/>
          <p:nvPr/>
        </p:nvSpPr>
        <p:spPr>
          <a:xfrm>
            <a:off x="3374136" y="1938528"/>
            <a:ext cx="2395728" cy="201168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242816" y="2084832"/>
            <a:ext cx="658368" cy="658368"/>
          </a:xfrm>
          <a:prstGeom prst="ellipse">
            <a:avLst/>
          </a:prstGeom>
          <a:solidFill>
            <a:srgbClr val="2F5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en.png"/>
          <p:cNvPicPr>
            <a:picLocks noChangeAspect="1"/>
          </p:cNvPicPr>
          <p:nvPr/>
        </p:nvPicPr>
        <p:blipFill>
          <a:blip r:embed="rId3"/>
          <a:stretch>
            <a:fillRect/>
          </a:stretch>
        </p:blipFill>
        <p:spPr>
          <a:xfrm>
            <a:off x="4379976" y="2221992"/>
            <a:ext cx="384048" cy="384048"/>
          </a:xfrm>
          <a:prstGeom prst="rect">
            <a:avLst/>
          </a:prstGeom>
        </p:spPr>
      </p:pic>
      <p:sp>
        <p:nvSpPr>
          <p:cNvPr id="15" name="TextBox 14"/>
          <p:cNvSpPr txBox="1"/>
          <p:nvPr/>
        </p:nvSpPr>
        <p:spPr>
          <a:xfrm>
            <a:off x="3502152" y="2852928"/>
            <a:ext cx="2139696" cy="475488"/>
          </a:xfrm>
          <a:prstGeom prst="rect">
            <a:avLst/>
          </a:prstGeom>
          <a:noFill/>
        </p:spPr>
        <p:txBody>
          <a:bodyPr wrap="square" anchor="t" lIns="0" rIns="0" tIns="0" bIns="0">
            <a:spAutoFit/>
          </a:bodyPr>
          <a:lstStyle/>
          <a:p>
            <a:pPr algn="ctr">
              <a:lnSpc>
                <a:spcPct val="125000"/>
              </a:lnSpc>
              <a:spcAft>
                <a:spcPts val="0"/>
              </a:spcAft>
            </a:pPr>
            <a:r>
              <a:rPr sz="1350" b="1" i="0">
                <a:solidFill>
                  <a:srgbClr val="2F5A44"/>
                </a:solidFill>
                <a:latin typeface="Libre Caslon Display"/>
              </a:rPr>
              <a:t>Answer together</a:t>
            </a:r>
          </a:p>
        </p:txBody>
      </p:sp>
      <p:sp>
        <p:nvSpPr>
          <p:cNvPr id="16" name="TextBox 15"/>
          <p:cNvSpPr txBox="1"/>
          <p:nvPr/>
        </p:nvSpPr>
        <p:spPr>
          <a:xfrm>
            <a:off x="3538728" y="3346704"/>
            <a:ext cx="2066544" cy="493776"/>
          </a:xfrm>
          <a:prstGeom prst="rect">
            <a:avLst/>
          </a:prstGeom>
          <a:noFill/>
        </p:spPr>
        <p:txBody>
          <a:bodyPr wrap="square" anchor="t" lIns="0" rIns="0" tIns="0" bIns="0">
            <a:spAutoFit/>
          </a:bodyPr>
          <a:lstStyle/>
          <a:p>
            <a:pPr algn="ctr">
              <a:lnSpc>
                <a:spcPct val="125000"/>
              </a:lnSpc>
              <a:spcAft>
                <a:spcPts val="0"/>
              </a:spcAft>
            </a:pPr>
            <a:r>
              <a:rPr sz="1050" b="0" i="0">
                <a:solidFill>
                  <a:srgbClr val="5C6552"/>
                </a:solidFill>
                <a:latin typeface="Karla"/>
              </a:rPr>
              <a:t>Each question goes up on the board. Agree an answer, then write it down.</a:t>
            </a:r>
          </a:p>
        </p:txBody>
      </p:sp>
      <p:sp>
        <p:nvSpPr>
          <p:cNvPr id="17" name="Rectangle 16"/>
          <p:cNvSpPr/>
          <p:nvPr/>
        </p:nvSpPr>
        <p:spPr>
          <a:xfrm>
            <a:off x="6062472" y="1938528"/>
            <a:ext cx="2395728" cy="201168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931151" y="2084832"/>
            <a:ext cx="658368" cy="658368"/>
          </a:xfrm>
          <a:prstGeom prst="ellipse">
            <a:avLst/>
          </a:prstGeom>
          <a:solidFill>
            <a:srgbClr val="2F5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swap.png"/>
          <p:cNvPicPr>
            <a:picLocks noChangeAspect="1"/>
          </p:cNvPicPr>
          <p:nvPr/>
        </p:nvPicPr>
        <p:blipFill>
          <a:blip r:embed="rId4"/>
          <a:stretch>
            <a:fillRect/>
          </a:stretch>
        </p:blipFill>
        <p:spPr>
          <a:xfrm>
            <a:off x="7068312" y="2221992"/>
            <a:ext cx="384048" cy="384048"/>
          </a:xfrm>
          <a:prstGeom prst="rect">
            <a:avLst/>
          </a:prstGeom>
        </p:spPr>
      </p:pic>
      <p:sp>
        <p:nvSpPr>
          <p:cNvPr id="20" name="TextBox 19"/>
          <p:cNvSpPr txBox="1"/>
          <p:nvPr/>
        </p:nvSpPr>
        <p:spPr>
          <a:xfrm>
            <a:off x="6190488" y="2852928"/>
            <a:ext cx="2139696" cy="475488"/>
          </a:xfrm>
          <a:prstGeom prst="rect">
            <a:avLst/>
          </a:prstGeom>
          <a:noFill/>
        </p:spPr>
        <p:txBody>
          <a:bodyPr wrap="square" anchor="t" lIns="0" rIns="0" tIns="0" bIns="0">
            <a:spAutoFit/>
          </a:bodyPr>
          <a:lstStyle/>
          <a:p>
            <a:pPr algn="ctr">
              <a:lnSpc>
                <a:spcPct val="125000"/>
              </a:lnSpc>
              <a:spcAft>
                <a:spcPts val="0"/>
              </a:spcAft>
            </a:pPr>
            <a:r>
              <a:rPr sz="1350" b="1" i="0">
                <a:solidFill>
                  <a:srgbClr val="2F5A44"/>
                </a:solidFill>
                <a:latin typeface="Libre Caslon Display"/>
              </a:rPr>
              <a:t>Swap and mark</a:t>
            </a:r>
          </a:p>
        </p:txBody>
      </p:sp>
      <p:sp>
        <p:nvSpPr>
          <p:cNvPr id="21" name="TextBox 20"/>
          <p:cNvSpPr txBox="1"/>
          <p:nvPr/>
        </p:nvSpPr>
        <p:spPr>
          <a:xfrm>
            <a:off x="6227064" y="3346704"/>
            <a:ext cx="2066544" cy="493776"/>
          </a:xfrm>
          <a:prstGeom prst="rect">
            <a:avLst/>
          </a:prstGeom>
          <a:noFill/>
        </p:spPr>
        <p:txBody>
          <a:bodyPr wrap="square" anchor="t" lIns="0" rIns="0" tIns="0" bIns="0">
            <a:spAutoFit/>
          </a:bodyPr>
          <a:lstStyle/>
          <a:p>
            <a:pPr algn="ctr">
              <a:lnSpc>
                <a:spcPct val="125000"/>
              </a:lnSpc>
              <a:spcAft>
                <a:spcPts val="0"/>
              </a:spcAft>
            </a:pPr>
            <a:r>
              <a:rPr sz="1050" b="0" i="0">
                <a:solidFill>
                  <a:srgbClr val="5C6552"/>
                </a:solidFill>
                <a:latin typeface="Karla"/>
              </a:rPr>
              <a:t>Swap sheets with the team next to you, then the answers go up one at a time.</a:t>
            </a:r>
          </a:p>
        </p:txBody>
      </p:sp>
      <p:sp>
        <p:nvSpPr>
          <p:cNvPr id="22" name="TextBox 21"/>
          <p:cNvSpPr txBox="1"/>
          <p:nvPr/>
        </p:nvSpPr>
        <p:spPr>
          <a:xfrm>
            <a:off x="685800" y="4078224"/>
            <a:ext cx="7772400" cy="310896"/>
          </a:xfrm>
          <a:prstGeom prst="rect">
            <a:avLst/>
          </a:prstGeom>
          <a:noFill/>
        </p:spPr>
        <p:txBody>
          <a:bodyPr wrap="square" anchor="t" lIns="0" rIns="0" tIns="0" bIns="0">
            <a:spAutoFit/>
          </a:bodyPr>
          <a:lstStyle/>
          <a:p>
            <a:pPr algn="ctr">
              <a:lnSpc>
                <a:spcPct val="125000"/>
              </a:lnSpc>
              <a:spcAft>
                <a:spcPts val="0"/>
              </a:spcAft>
            </a:pPr>
            <a:r>
              <a:rPr sz="1050" b="0" i="0">
                <a:solidFill>
                  <a:srgbClr val="8B9179"/>
                </a:solidFill>
                <a:latin typeface="Karla"/>
              </a:rPr>
              <a:t>Needs: one answer sheet per team, from the resource pack.</a:t>
            </a:r>
          </a:p>
        </p:txBody>
      </p:sp>
      <p:pic>
        <p:nvPicPr>
          <p:cNvPr id="23" name="Picture 22" descr="logo-mark.png"/>
          <p:cNvPicPr>
            <a:picLocks noChangeAspect="1"/>
          </p:cNvPicPr>
          <p:nvPr/>
        </p:nvPicPr>
        <p:blipFill>
          <a:blip r:embed="rId5"/>
          <a:stretch>
            <a:fillRect/>
          </a:stretch>
        </p:blipFill>
        <p:spPr>
          <a:xfrm>
            <a:off x="384048" y="4727448"/>
            <a:ext cx="158374" cy="182880"/>
          </a:xfrm>
          <a:prstGeom prst="rect">
            <a:avLst/>
          </a:prstGeom>
        </p:spPr>
      </p:pic>
      <p:sp>
        <p:nvSpPr>
          <p:cNvPr id="24" name="TextBox 23"/>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5" name="TextBox 24"/>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 /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968281" y="914400"/>
            <a:ext cx="1207436" cy="237744"/>
          </a:xfrm>
          <a:prstGeom prst="roundRect">
            <a:avLst>
              <a:gd name="adj" fmla="val 50000"/>
            </a:avLst>
          </a:prstGeom>
          <a:solidFill>
            <a:srgbClr val="C6D5C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F5A44"/>
                </a:solidFill>
                <a:latin typeface="Karla"/>
              </a:rPr>
              <a:t>ROUND ONE</a:t>
            </a:r>
          </a:p>
        </p:txBody>
      </p:sp>
      <p:sp>
        <p:nvSpPr>
          <p:cNvPr id="4" name="TextBox 3"/>
          <p:cNvSpPr txBox="1"/>
          <p:nvPr/>
        </p:nvSpPr>
        <p:spPr>
          <a:xfrm>
            <a:off x="548640" y="1481328"/>
            <a:ext cx="8046720" cy="731520"/>
          </a:xfrm>
          <a:prstGeom prst="rect">
            <a:avLst/>
          </a:prstGeom>
          <a:noFill/>
        </p:spPr>
        <p:txBody>
          <a:bodyPr wrap="square" anchor="t" lIns="0" rIns="0" tIns="0" bIns="0">
            <a:spAutoFit/>
          </a:bodyPr>
          <a:lstStyle/>
          <a:p>
            <a:pPr algn="ctr">
              <a:lnSpc>
                <a:spcPct val="105000"/>
              </a:lnSpc>
              <a:spcAft>
                <a:spcPts val="0"/>
              </a:spcAft>
            </a:pPr>
            <a:r>
              <a:rPr sz="4000" b="1" i="0">
                <a:solidFill>
                  <a:srgbClr val="FFFDF7"/>
                </a:solidFill>
                <a:latin typeface="Libre Caslon Display"/>
              </a:rPr>
              <a:t>Fact or myth</a:t>
            </a:r>
          </a:p>
        </p:txBody>
      </p:sp>
      <p:sp>
        <p:nvSpPr>
          <p:cNvPr id="5" name="Rectangle 4"/>
          <p:cNvSpPr/>
          <p:nvPr/>
        </p:nvSpPr>
        <p:spPr>
          <a:xfrm>
            <a:off x="4114800" y="2487168"/>
            <a:ext cx="914400" cy="18288"/>
          </a:xfrm>
          <a:prstGeom prst="rect">
            <a:avLst/>
          </a:prstGeom>
          <a:solidFill>
            <a:srgbClr val="C6D5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724912"/>
            <a:ext cx="6583680" cy="914400"/>
          </a:xfrm>
          <a:prstGeom prst="rect">
            <a:avLst/>
          </a:prstGeom>
          <a:noFill/>
        </p:spPr>
        <p:txBody>
          <a:bodyPr wrap="square" anchor="t" lIns="0" rIns="0" tIns="0" bIns="0">
            <a:spAutoFit/>
          </a:bodyPr>
          <a:lstStyle/>
          <a:p>
            <a:pPr algn="ctr">
              <a:lnSpc>
                <a:spcPct val="130000"/>
              </a:lnSpc>
              <a:spcAft>
                <a:spcPts val="0"/>
              </a:spcAft>
            </a:pPr>
            <a:r>
              <a:rPr sz="1500" b="0" i="0">
                <a:solidFill>
                  <a:srgbClr val="C6D5CA"/>
                </a:solidFill>
                <a:latin typeface="Karla"/>
              </a:rPr>
              <a:t>Four statements about Christmas. As a team, decide whether each one is a fact or a myth.</a:t>
            </a:r>
          </a:p>
        </p:txBody>
      </p:sp>
      <p:pic>
        <p:nvPicPr>
          <p:cNvPr id="7" name="Picture 6" descr="logo-mark.png"/>
          <p:cNvPicPr>
            <a:picLocks noChangeAspect="1"/>
          </p:cNvPicPr>
          <p:nvPr/>
        </p:nvPicPr>
        <p:blipFill>
          <a:blip r:embed="rId2"/>
          <a:stretch>
            <a:fillRect/>
          </a:stretch>
        </p:blipFill>
        <p:spPr>
          <a:xfrm>
            <a:off x="384048" y="4727448"/>
            <a:ext cx="158374" cy="182880"/>
          </a:xfrm>
          <a:prstGeom prst="rect">
            <a:avLst/>
          </a:prstGeom>
        </p:spPr>
      </p:pic>
      <p:sp>
        <p:nvSpPr>
          <p:cNvPr id="8" name="TextBox 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C6D5CA"/>
                </a:solidFill>
                <a:latin typeface="Karla"/>
              </a:rPr>
              <a:t>The Pastoral Guide</a:t>
            </a:r>
          </a:p>
        </p:txBody>
      </p:sp>
      <p:sp>
        <p:nvSpPr>
          <p:cNvPr id="9" name="TextBox 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C6D5CA"/>
                </a:solidFill>
                <a:latin typeface="Karla"/>
              </a:rPr>
              <a:t>2 /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2F5A44"/>
                </a:solidFill>
                <a:latin typeface="Karla"/>
              </a:rPr>
              <a:t>CHRISTMAS QUIZ  ·  ROUND ONE  ·  QUESTION 1 OF 10</a:t>
            </a:r>
          </a:p>
        </p:txBody>
      </p:sp>
      <p:sp>
        <p:nvSpPr>
          <p:cNvPr id="4" name="Rounded Rectangle 3"/>
          <p:cNvSpPr/>
          <p:nvPr/>
        </p:nvSpPr>
        <p:spPr>
          <a:xfrm>
            <a:off x="685800" y="1030224"/>
            <a:ext cx="7772400" cy="1341120"/>
          </a:xfrm>
          <a:prstGeom prst="roundRect">
            <a:avLst>
              <a:gd name="adj" fmla="val 6000"/>
            </a:avLst>
          </a:prstGeom>
          <a:solidFill>
            <a:srgbClr val="EE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030224"/>
            <a:ext cx="7772400" cy="54864"/>
          </a:xfrm>
          <a:prstGeom prst="rect">
            <a:avLst/>
          </a:prstGeom>
          <a:solidFill>
            <a:srgbClr val="B958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399032"/>
            <a:ext cx="603504" cy="603504"/>
          </a:xfrm>
          <a:prstGeom prst="ellipse">
            <a:avLst/>
          </a:prstGeom>
          <a:solidFill>
            <a:srgbClr val="963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27048"/>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1</a:t>
            </a:r>
          </a:p>
        </p:txBody>
      </p:sp>
      <p:sp>
        <p:nvSpPr>
          <p:cNvPr id="8" name="TextBox 7"/>
          <p:cNvSpPr txBox="1"/>
          <p:nvPr/>
        </p:nvSpPr>
        <p:spPr>
          <a:xfrm>
            <a:off x="1783080" y="1322832"/>
            <a:ext cx="6309360" cy="755904"/>
          </a:xfrm>
          <a:prstGeom prst="rect">
            <a:avLst/>
          </a:prstGeom>
          <a:noFill/>
        </p:spPr>
        <p:txBody>
          <a:bodyPr wrap="square" anchor="t" lIns="0" rIns="0" tIns="0" bIns="0">
            <a:spAutoFit/>
          </a:bodyPr>
          <a:lstStyle/>
          <a:p>
            <a:pPr algn="l">
              <a:lnSpc>
                <a:spcPct val="112000"/>
              </a:lnSpc>
              <a:spcAft>
                <a:spcPts val="0"/>
              </a:spcAft>
            </a:pPr>
            <a:r>
              <a:rPr sz="2400" b="1" i="0">
                <a:solidFill>
                  <a:srgbClr val="2F5A44"/>
                </a:solidFill>
                <a:latin typeface="Libre Caslon Display"/>
              </a:rPr>
              <a:t>Coca-Cola invented the red Santa suit.</a:t>
            </a:r>
          </a:p>
        </p:txBody>
      </p:sp>
      <p:sp>
        <p:nvSpPr>
          <p:cNvPr id="9" name="TextBox 8"/>
          <p:cNvSpPr txBox="1"/>
          <p:nvPr/>
        </p:nvSpPr>
        <p:spPr>
          <a:xfrm>
            <a:off x="685800" y="2499360"/>
            <a:ext cx="7772400" cy="219456"/>
          </a:xfrm>
          <a:prstGeom prst="rect">
            <a:avLst/>
          </a:prstGeom>
          <a:noFill/>
        </p:spPr>
        <p:txBody>
          <a:bodyPr wrap="square" anchor="t" lIns="0" rIns="0" tIns="0" bIns="0">
            <a:spAutoFit/>
          </a:bodyPr>
          <a:lstStyle/>
          <a:p>
            <a:pPr algn="l">
              <a:lnSpc>
                <a:spcPct val="125000"/>
              </a:lnSpc>
              <a:spcAft>
                <a:spcPts val="0"/>
              </a:spcAft>
            </a:pPr>
            <a:r>
              <a:rPr sz="1000" b="1" i="0" spc="140">
                <a:solidFill>
                  <a:srgbClr val="8B9179"/>
                </a:solidFill>
                <a:latin typeface="Karla"/>
              </a:rPr>
              <a:t>FACT OR MYTH?</a:t>
            </a:r>
          </a:p>
        </p:txBody>
      </p:sp>
      <p:sp>
        <p:nvSpPr>
          <p:cNvPr id="10" name="Rounded Rectangle 9"/>
          <p:cNvSpPr/>
          <p:nvPr/>
        </p:nvSpPr>
        <p:spPr>
          <a:xfrm>
            <a:off x="685800" y="2791968"/>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50392" y="3614928"/>
            <a:ext cx="3419856" cy="27432"/>
          </a:xfrm>
          <a:prstGeom prst="rect">
            <a:avLst/>
          </a:prstGeom>
          <a:solidFill>
            <a:srgbClr val="C6D5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085084"/>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2F5A44"/>
                </a:solidFill>
                <a:latin typeface="Libre Caslon Display"/>
              </a:rPr>
              <a:t>Fact</a:t>
            </a:r>
          </a:p>
        </p:txBody>
      </p:sp>
      <p:sp>
        <p:nvSpPr>
          <p:cNvPr id="13" name="Rounded Rectangle 12"/>
          <p:cNvSpPr/>
          <p:nvPr/>
        </p:nvSpPr>
        <p:spPr>
          <a:xfrm>
            <a:off x="4709159" y="2791968"/>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73751" y="3614928"/>
            <a:ext cx="3419856" cy="27432"/>
          </a:xfrm>
          <a:prstGeom prst="rect">
            <a:avLst/>
          </a:prstGeom>
          <a:solidFill>
            <a:srgbClr val="C6D5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92040" y="3085084"/>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2F5A44"/>
                </a:solidFill>
                <a:latin typeface="Libre Caslon Display"/>
              </a:rPr>
              <a:t>Myth</a:t>
            </a:r>
          </a:p>
        </p:txBody>
      </p:sp>
      <p:sp>
        <p:nvSpPr>
          <p:cNvPr id="16" name="TextBox 15"/>
          <p:cNvSpPr txBox="1"/>
          <p:nvPr/>
        </p:nvSpPr>
        <p:spPr>
          <a:xfrm>
            <a:off x="685800" y="4169663"/>
            <a:ext cx="7772400" cy="274320"/>
          </a:xfrm>
          <a:prstGeom prst="rect">
            <a:avLst/>
          </a:prstGeom>
          <a:noFill/>
        </p:spPr>
        <p:txBody>
          <a:bodyPr wrap="square" anchor="t" lIns="0" rIns="0" tIns="0" bIns="0">
            <a:spAutoFit/>
          </a:bodyPr>
          <a:lstStyle/>
          <a:p>
            <a:pPr algn="ctr">
              <a:lnSpc>
                <a:spcPct val="125000"/>
              </a:lnSpc>
              <a:spcAft>
                <a:spcPts val="0"/>
              </a:spcAft>
            </a:pPr>
            <a:r>
              <a:rPr sz="1150" b="0" i="1">
                <a:solidFill>
                  <a:srgbClr val="5C6552"/>
                </a:solidFill>
                <a:latin typeface="Karla"/>
              </a:rPr>
              <a:t>Agree it as a team, then tick it on the sheet.</a:t>
            </a:r>
          </a:p>
        </p:txBody>
      </p:sp>
      <p:pic>
        <p:nvPicPr>
          <p:cNvPr id="17" name="Picture 16" descr="logo-mark.png"/>
          <p:cNvPicPr>
            <a:picLocks noChangeAspect="1"/>
          </p:cNvPicPr>
          <p:nvPr/>
        </p:nvPicPr>
        <p:blipFill>
          <a:blip r:embed="rId2"/>
          <a:stretch>
            <a:fillRect/>
          </a:stretch>
        </p:blipFill>
        <p:spPr>
          <a:xfrm>
            <a:off x="384048" y="4727448"/>
            <a:ext cx="158374" cy="182880"/>
          </a:xfrm>
          <a:prstGeom prst="rect">
            <a:avLst/>
          </a:prstGeom>
        </p:spPr>
      </p:pic>
      <p:sp>
        <p:nvSpPr>
          <p:cNvPr id="18" name="TextBox 1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9" name="TextBox 1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3 /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2F5A44"/>
                </a:solidFill>
                <a:latin typeface="Karla"/>
              </a:rPr>
              <a:t>CHRISTMAS QUIZ  ·  ROUND ONE  ·  QUESTION 2 OF 10</a:t>
            </a:r>
          </a:p>
        </p:txBody>
      </p:sp>
      <p:sp>
        <p:nvSpPr>
          <p:cNvPr id="4" name="Rounded Rectangle 3"/>
          <p:cNvSpPr/>
          <p:nvPr/>
        </p:nvSpPr>
        <p:spPr>
          <a:xfrm>
            <a:off x="685800" y="1030224"/>
            <a:ext cx="7772400" cy="1341120"/>
          </a:xfrm>
          <a:prstGeom prst="roundRect">
            <a:avLst>
              <a:gd name="adj" fmla="val 6000"/>
            </a:avLst>
          </a:prstGeom>
          <a:solidFill>
            <a:srgbClr val="EE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030224"/>
            <a:ext cx="7772400" cy="54864"/>
          </a:xfrm>
          <a:prstGeom prst="rect">
            <a:avLst/>
          </a:prstGeom>
          <a:solidFill>
            <a:srgbClr val="B958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399032"/>
            <a:ext cx="603504" cy="603504"/>
          </a:xfrm>
          <a:prstGeom prst="ellipse">
            <a:avLst/>
          </a:prstGeom>
          <a:solidFill>
            <a:srgbClr val="963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27048"/>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2</a:t>
            </a:r>
          </a:p>
        </p:txBody>
      </p:sp>
      <p:sp>
        <p:nvSpPr>
          <p:cNvPr id="8" name="TextBox 7"/>
          <p:cNvSpPr txBox="1"/>
          <p:nvPr/>
        </p:nvSpPr>
        <p:spPr>
          <a:xfrm>
            <a:off x="1783080" y="1322832"/>
            <a:ext cx="6309360" cy="755904"/>
          </a:xfrm>
          <a:prstGeom prst="rect">
            <a:avLst/>
          </a:prstGeom>
          <a:noFill/>
        </p:spPr>
        <p:txBody>
          <a:bodyPr wrap="square" anchor="t" lIns="0" rIns="0" tIns="0" bIns="0">
            <a:spAutoFit/>
          </a:bodyPr>
          <a:lstStyle/>
          <a:p>
            <a:pPr algn="l">
              <a:lnSpc>
                <a:spcPct val="112000"/>
              </a:lnSpc>
              <a:spcAft>
                <a:spcPts val="0"/>
              </a:spcAft>
            </a:pPr>
            <a:r>
              <a:rPr sz="2400" b="1" i="0">
                <a:solidFill>
                  <a:srgbClr val="2F5A44"/>
                </a:solidFill>
                <a:latin typeface="Libre Caslon Display"/>
              </a:rPr>
              <a:t>Writing “Xmas” is a modern way of taking Christ out of Christmas.</a:t>
            </a:r>
          </a:p>
        </p:txBody>
      </p:sp>
      <p:sp>
        <p:nvSpPr>
          <p:cNvPr id="9" name="TextBox 8"/>
          <p:cNvSpPr txBox="1"/>
          <p:nvPr/>
        </p:nvSpPr>
        <p:spPr>
          <a:xfrm>
            <a:off x="685800" y="2499360"/>
            <a:ext cx="7772400" cy="219456"/>
          </a:xfrm>
          <a:prstGeom prst="rect">
            <a:avLst/>
          </a:prstGeom>
          <a:noFill/>
        </p:spPr>
        <p:txBody>
          <a:bodyPr wrap="square" anchor="t" lIns="0" rIns="0" tIns="0" bIns="0">
            <a:spAutoFit/>
          </a:bodyPr>
          <a:lstStyle/>
          <a:p>
            <a:pPr algn="l">
              <a:lnSpc>
                <a:spcPct val="125000"/>
              </a:lnSpc>
              <a:spcAft>
                <a:spcPts val="0"/>
              </a:spcAft>
            </a:pPr>
            <a:r>
              <a:rPr sz="1000" b="1" i="0" spc="140">
                <a:solidFill>
                  <a:srgbClr val="8B9179"/>
                </a:solidFill>
                <a:latin typeface="Karla"/>
              </a:rPr>
              <a:t>FACT OR MYTH?</a:t>
            </a:r>
          </a:p>
        </p:txBody>
      </p:sp>
      <p:sp>
        <p:nvSpPr>
          <p:cNvPr id="10" name="Rounded Rectangle 9"/>
          <p:cNvSpPr/>
          <p:nvPr/>
        </p:nvSpPr>
        <p:spPr>
          <a:xfrm>
            <a:off x="685800" y="2791968"/>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50392" y="3614928"/>
            <a:ext cx="3419856" cy="27432"/>
          </a:xfrm>
          <a:prstGeom prst="rect">
            <a:avLst/>
          </a:prstGeom>
          <a:solidFill>
            <a:srgbClr val="C6D5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085084"/>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2F5A44"/>
                </a:solidFill>
                <a:latin typeface="Libre Caslon Display"/>
              </a:rPr>
              <a:t>Fact</a:t>
            </a:r>
          </a:p>
        </p:txBody>
      </p:sp>
      <p:sp>
        <p:nvSpPr>
          <p:cNvPr id="13" name="Rounded Rectangle 12"/>
          <p:cNvSpPr/>
          <p:nvPr/>
        </p:nvSpPr>
        <p:spPr>
          <a:xfrm>
            <a:off x="4709159" y="2791968"/>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73751" y="3614928"/>
            <a:ext cx="3419856" cy="27432"/>
          </a:xfrm>
          <a:prstGeom prst="rect">
            <a:avLst/>
          </a:prstGeom>
          <a:solidFill>
            <a:srgbClr val="C6D5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92040" y="3085084"/>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2F5A44"/>
                </a:solidFill>
                <a:latin typeface="Libre Caslon Display"/>
              </a:rPr>
              <a:t>Myth</a:t>
            </a:r>
          </a:p>
        </p:txBody>
      </p:sp>
      <p:sp>
        <p:nvSpPr>
          <p:cNvPr id="16" name="TextBox 15"/>
          <p:cNvSpPr txBox="1"/>
          <p:nvPr/>
        </p:nvSpPr>
        <p:spPr>
          <a:xfrm>
            <a:off x="685800" y="4169663"/>
            <a:ext cx="7772400" cy="274320"/>
          </a:xfrm>
          <a:prstGeom prst="rect">
            <a:avLst/>
          </a:prstGeom>
          <a:noFill/>
        </p:spPr>
        <p:txBody>
          <a:bodyPr wrap="square" anchor="t" lIns="0" rIns="0" tIns="0" bIns="0">
            <a:spAutoFit/>
          </a:bodyPr>
          <a:lstStyle/>
          <a:p>
            <a:pPr algn="ctr">
              <a:lnSpc>
                <a:spcPct val="125000"/>
              </a:lnSpc>
              <a:spcAft>
                <a:spcPts val="0"/>
              </a:spcAft>
            </a:pPr>
            <a:r>
              <a:rPr sz="1150" b="0" i="1">
                <a:solidFill>
                  <a:srgbClr val="5C6552"/>
                </a:solidFill>
                <a:latin typeface="Karla"/>
              </a:rPr>
              <a:t>Agree it as a team, then tick it on the sheet.</a:t>
            </a:r>
          </a:p>
        </p:txBody>
      </p:sp>
      <p:pic>
        <p:nvPicPr>
          <p:cNvPr id="17" name="Picture 16" descr="logo-mark.png"/>
          <p:cNvPicPr>
            <a:picLocks noChangeAspect="1"/>
          </p:cNvPicPr>
          <p:nvPr/>
        </p:nvPicPr>
        <p:blipFill>
          <a:blip r:embed="rId2"/>
          <a:stretch>
            <a:fillRect/>
          </a:stretch>
        </p:blipFill>
        <p:spPr>
          <a:xfrm>
            <a:off x="384048" y="4727448"/>
            <a:ext cx="158374" cy="182880"/>
          </a:xfrm>
          <a:prstGeom prst="rect">
            <a:avLst/>
          </a:prstGeom>
        </p:spPr>
      </p:pic>
      <p:sp>
        <p:nvSpPr>
          <p:cNvPr id="18" name="TextBox 1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9" name="TextBox 1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4 /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2F5A44"/>
                </a:solidFill>
                <a:latin typeface="Karla"/>
              </a:rPr>
              <a:t>CHRISTMAS QUIZ  ·  ROUND ONE  ·  QUESTION 3 OF 10</a:t>
            </a:r>
          </a:p>
        </p:txBody>
      </p:sp>
      <p:sp>
        <p:nvSpPr>
          <p:cNvPr id="4" name="Rounded Rectangle 3"/>
          <p:cNvSpPr/>
          <p:nvPr/>
        </p:nvSpPr>
        <p:spPr>
          <a:xfrm>
            <a:off x="685800" y="912114"/>
            <a:ext cx="7772400" cy="1577340"/>
          </a:xfrm>
          <a:prstGeom prst="roundRect">
            <a:avLst>
              <a:gd name="adj" fmla="val 6000"/>
            </a:avLst>
          </a:prstGeom>
          <a:solidFill>
            <a:srgbClr val="EE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912114"/>
            <a:ext cx="7772400" cy="54864"/>
          </a:xfrm>
          <a:prstGeom prst="rect">
            <a:avLst/>
          </a:prstGeom>
          <a:solidFill>
            <a:srgbClr val="B958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399032"/>
            <a:ext cx="603504" cy="603504"/>
          </a:xfrm>
          <a:prstGeom prst="ellipse">
            <a:avLst/>
          </a:prstGeom>
          <a:solidFill>
            <a:srgbClr val="963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27048"/>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3</a:t>
            </a:r>
          </a:p>
        </p:txBody>
      </p:sp>
      <p:sp>
        <p:nvSpPr>
          <p:cNvPr id="8" name="TextBox 7"/>
          <p:cNvSpPr txBox="1"/>
          <p:nvPr/>
        </p:nvSpPr>
        <p:spPr>
          <a:xfrm>
            <a:off x="1783080" y="1204722"/>
            <a:ext cx="6309360" cy="992124"/>
          </a:xfrm>
          <a:prstGeom prst="rect">
            <a:avLst/>
          </a:prstGeom>
          <a:noFill/>
        </p:spPr>
        <p:txBody>
          <a:bodyPr wrap="square" anchor="t" lIns="0" rIns="0" tIns="0" bIns="0">
            <a:spAutoFit/>
          </a:bodyPr>
          <a:lstStyle/>
          <a:p>
            <a:pPr algn="l">
              <a:lnSpc>
                <a:spcPct val="112000"/>
              </a:lnSpc>
              <a:spcAft>
                <a:spcPts val="0"/>
              </a:spcAft>
            </a:pPr>
            <a:r>
              <a:rPr sz="2100" b="1" i="0">
                <a:solidFill>
                  <a:srgbClr val="2F5A44"/>
                </a:solidFill>
                <a:latin typeface="Libre Caslon Display"/>
              </a:rPr>
              <a:t>A giant straw goat built every Christmas in Gävle, Sweden, has been destroyed more often than it has survived.</a:t>
            </a:r>
          </a:p>
        </p:txBody>
      </p:sp>
      <p:sp>
        <p:nvSpPr>
          <p:cNvPr id="9" name="TextBox 8"/>
          <p:cNvSpPr txBox="1"/>
          <p:nvPr/>
        </p:nvSpPr>
        <p:spPr>
          <a:xfrm>
            <a:off x="685800" y="2617470"/>
            <a:ext cx="7772400" cy="219456"/>
          </a:xfrm>
          <a:prstGeom prst="rect">
            <a:avLst/>
          </a:prstGeom>
          <a:noFill/>
        </p:spPr>
        <p:txBody>
          <a:bodyPr wrap="square" anchor="t" lIns="0" rIns="0" tIns="0" bIns="0">
            <a:spAutoFit/>
          </a:bodyPr>
          <a:lstStyle/>
          <a:p>
            <a:pPr algn="l">
              <a:lnSpc>
                <a:spcPct val="125000"/>
              </a:lnSpc>
              <a:spcAft>
                <a:spcPts val="0"/>
              </a:spcAft>
            </a:pPr>
            <a:r>
              <a:rPr sz="1000" b="1" i="0" spc="140">
                <a:solidFill>
                  <a:srgbClr val="8B9179"/>
                </a:solidFill>
                <a:latin typeface="Karla"/>
              </a:rPr>
              <a:t>FACT OR MYTH?</a:t>
            </a:r>
          </a:p>
        </p:txBody>
      </p:sp>
      <p:sp>
        <p:nvSpPr>
          <p:cNvPr id="10" name="Rounded Rectangle 9"/>
          <p:cNvSpPr/>
          <p:nvPr/>
        </p:nvSpPr>
        <p:spPr>
          <a:xfrm>
            <a:off x="685800" y="2910078"/>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50392" y="3733037"/>
            <a:ext cx="3419856" cy="27432"/>
          </a:xfrm>
          <a:prstGeom prst="rect">
            <a:avLst/>
          </a:prstGeom>
          <a:solidFill>
            <a:srgbClr val="C6D5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203194"/>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2F5A44"/>
                </a:solidFill>
                <a:latin typeface="Libre Caslon Display"/>
              </a:rPr>
              <a:t>Fact</a:t>
            </a:r>
          </a:p>
        </p:txBody>
      </p:sp>
      <p:sp>
        <p:nvSpPr>
          <p:cNvPr id="13" name="Rounded Rectangle 12"/>
          <p:cNvSpPr/>
          <p:nvPr/>
        </p:nvSpPr>
        <p:spPr>
          <a:xfrm>
            <a:off x="4709159" y="2910078"/>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73751" y="3733037"/>
            <a:ext cx="3419856" cy="27432"/>
          </a:xfrm>
          <a:prstGeom prst="rect">
            <a:avLst/>
          </a:prstGeom>
          <a:solidFill>
            <a:srgbClr val="C6D5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92040" y="3203194"/>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2F5A44"/>
                </a:solidFill>
                <a:latin typeface="Libre Caslon Display"/>
              </a:rPr>
              <a:t>Myth</a:t>
            </a:r>
          </a:p>
        </p:txBody>
      </p:sp>
      <p:sp>
        <p:nvSpPr>
          <p:cNvPr id="16" name="TextBox 15"/>
          <p:cNvSpPr txBox="1"/>
          <p:nvPr/>
        </p:nvSpPr>
        <p:spPr>
          <a:xfrm>
            <a:off x="685800" y="4169663"/>
            <a:ext cx="7772400" cy="274320"/>
          </a:xfrm>
          <a:prstGeom prst="rect">
            <a:avLst/>
          </a:prstGeom>
          <a:noFill/>
        </p:spPr>
        <p:txBody>
          <a:bodyPr wrap="square" anchor="t" lIns="0" rIns="0" tIns="0" bIns="0">
            <a:spAutoFit/>
          </a:bodyPr>
          <a:lstStyle/>
          <a:p>
            <a:pPr algn="ctr">
              <a:lnSpc>
                <a:spcPct val="125000"/>
              </a:lnSpc>
              <a:spcAft>
                <a:spcPts val="0"/>
              </a:spcAft>
            </a:pPr>
            <a:r>
              <a:rPr sz="1150" b="0" i="1">
                <a:solidFill>
                  <a:srgbClr val="5C6552"/>
                </a:solidFill>
                <a:latin typeface="Karla"/>
              </a:rPr>
              <a:t>Agree it as a team, then tick it on the sheet.</a:t>
            </a:r>
          </a:p>
        </p:txBody>
      </p:sp>
      <p:pic>
        <p:nvPicPr>
          <p:cNvPr id="17" name="Picture 16" descr="logo-mark.png"/>
          <p:cNvPicPr>
            <a:picLocks noChangeAspect="1"/>
          </p:cNvPicPr>
          <p:nvPr/>
        </p:nvPicPr>
        <p:blipFill>
          <a:blip r:embed="rId2"/>
          <a:stretch>
            <a:fillRect/>
          </a:stretch>
        </p:blipFill>
        <p:spPr>
          <a:xfrm>
            <a:off x="384048" y="4727448"/>
            <a:ext cx="158374" cy="182880"/>
          </a:xfrm>
          <a:prstGeom prst="rect">
            <a:avLst/>
          </a:prstGeom>
        </p:spPr>
      </p:pic>
      <p:sp>
        <p:nvSpPr>
          <p:cNvPr id="18" name="TextBox 1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9" name="TextBox 1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5 /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2F5A44"/>
                </a:solidFill>
                <a:latin typeface="Karla"/>
              </a:rPr>
              <a:t>CHRISTMAS QUIZ  ·  ROUND ONE  ·  QUESTION 4 OF 10</a:t>
            </a:r>
          </a:p>
        </p:txBody>
      </p:sp>
      <p:sp>
        <p:nvSpPr>
          <p:cNvPr id="4" name="Rounded Rectangle 3"/>
          <p:cNvSpPr/>
          <p:nvPr/>
        </p:nvSpPr>
        <p:spPr>
          <a:xfrm>
            <a:off x="685800" y="841248"/>
            <a:ext cx="7772400" cy="1719072"/>
          </a:xfrm>
          <a:prstGeom prst="roundRect">
            <a:avLst>
              <a:gd name="adj" fmla="val 6000"/>
            </a:avLst>
          </a:prstGeom>
          <a:solidFill>
            <a:srgbClr val="EE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841248"/>
            <a:ext cx="7772400" cy="54864"/>
          </a:xfrm>
          <a:prstGeom prst="rect">
            <a:avLst/>
          </a:prstGeom>
          <a:solidFill>
            <a:srgbClr val="B958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399032"/>
            <a:ext cx="603504" cy="603504"/>
          </a:xfrm>
          <a:prstGeom prst="ellipse">
            <a:avLst/>
          </a:prstGeom>
          <a:solidFill>
            <a:srgbClr val="963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27048"/>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4</a:t>
            </a:r>
          </a:p>
        </p:txBody>
      </p:sp>
      <p:sp>
        <p:nvSpPr>
          <p:cNvPr id="8" name="TextBox 7"/>
          <p:cNvSpPr txBox="1"/>
          <p:nvPr/>
        </p:nvSpPr>
        <p:spPr>
          <a:xfrm>
            <a:off x="1783080" y="1133856"/>
            <a:ext cx="6309360" cy="1133856"/>
          </a:xfrm>
          <a:prstGeom prst="rect">
            <a:avLst/>
          </a:prstGeom>
          <a:noFill/>
        </p:spPr>
        <p:txBody>
          <a:bodyPr wrap="square" anchor="t" lIns="0" rIns="0" tIns="0" bIns="0">
            <a:spAutoFit/>
          </a:bodyPr>
          <a:lstStyle/>
          <a:p>
            <a:pPr algn="l">
              <a:lnSpc>
                <a:spcPct val="112000"/>
              </a:lnSpc>
              <a:spcAft>
                <a:spcPts val="0"/>
              </a:spcAft>
            </a:pPr>
            <a:r>
              <a:rPr sz="2400" b="1" i="0">
                <a:solidFill>
                  <a:srgbClr val="2F5A44"/>
                </a:solidFill>
                <a:latin typeface="Libre Caslon Display"/>
              </a:rPr>
              <a:t>In the Czech Republic, some families keep their Christmas dinner alive in the bath.</a:t>
            </a:r>
          </a:p>
        </p:txBody>
      </p:sp>
      <p:sp>
        <p:nvSpPr>
          <p:cNvPr id="9" name="TextBox 8"/>
          <p:cNvSpPr txBox="1"/>
          <p:nvPr/>
        </p:nvSpPr>
        <p:spPr>
          <a:xfrm>
            <a:off x="685800" y="2688336"/>
            <a:ext cx="7772400" cy="219456"/>
          </a:xfrm>
          <a:prstGeom prst="rect">
            <a:avLst/>
          </a:prstGeom>
          <a:noFill/>
        </p:spPr>
        <p:txBody>
          <a:bodyPr wrap="square" anchor="t" lIns="0" rIns="0" tIns="0" bIns="0">
            <a:spAutoFit/>
          </a:bodyPr>
          <a:lstStyle/>
          <a:p>
            <a:pPr algn="l">
              <a:lnSpc>
                <a:spcPct val="125000"/>
              </a:lnSpc>
              <a:spcAft>
                <a:spcPts val="0"/>
              </a:spcAft>
            </a:pPr>
            <a:r>
              <a:rPr sz="1000" b="1" i="0" spc="140">
                <a:solidFill>
                  <a:srgbClr val="8B9179"/>
                </a:solidFill>
                <a:latin typeface="Karla"/>
              </a:rPr>
              <a:t>FACT OR MYTH?</a:t>
            </a:r>
          </a:p>
        </p:txBody>
      </p:sp>
      <p:sp>
        <p:nvSpPr>
          <p:cNvPr id="10" name="Rounded Rectangle 9"/>
          <p:cNvSpPr/>
          <p:nvPr/>
        </p:nvSpPr>
        <p:spPr>
          <a:xfrm>
            <a:off x="685800" y="2980944"/>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50392" y="3803904"/>
            <a:ext cx="3419856" cy="27432"/>
          </a:xfrm>
          <a:prstGeom prst="rect">
            <a:avLst/>
          </a:prstGeom>
          <a:solidFill>
            <a:srgbClr val="C6D5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274060"/>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2F5A44"/>
                </a:solidFill>
                <a:latin typeface="Libre Caslon Display"/>
              </a:rPr>
              <a:t>Fact</a:t>
            </a:r>
          </a:p>
        </p:txBody>
      </p:sp>
      <p:sp>
        <p:nvSpPr>
          <p:cNvPr id="13" name="Rounded Rectangle 12"/>
          <p:cNvSpPr/>
          <p:nvPr/>
        </p:nvSpPr>
        <p:spPr>
          <a:xfrm>
            <a:off x="4709159" y="2980944"/>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73751" y="3803904"/>
            <a:ext cx="3419856" cy="27432"/>
          </a:xfrm>
          <a:prstGeom prst="rect">
            <a:avLst/>
          </a:prstGeom>
          <a:solidFill>
            <a:srgbClr val="C6D5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92040" y="3274060"/>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2F5A44"/>
                </a:solidFill>
                <a:latin typeface="Libre Caslon Display"/>
              </a:rPr>
              <a:t>Myth</a:t>
            </a:r>
          </a:p>
        </p:txBody>
      </p:sp>
      <p:sp>
        <p:nvSpPr>
          <p:cNvPr id="16" name="TextBox 15"/>
          <p:cNvSpPr txBox="1"/>
          <p:nvPr/>
        </p:nvSpPr>
        <p:spPr>
          <a:xfrm>
            <a:off x="685800" y="4169663"/>
            <a:ext cx="7772400" cy="274320"/>
          </a:xfrm>
          <a:prstGeom prst="rect">
            <a:avLst/>
          </a:prstGeom>
          <a:noFill/>
        </p:spPr>
        <p:txBody>
          <a:bodyPr wrap="square" anchor="t" lIns="0" rIns="0" tIns="0" bIns="0">
            <a:spAutoFit/>
          </a:bodyPr>
          <a:lstStyle/>
          <a:p>
            <a:pPr algn="ctr">
              <a:lnSpc>
                <a:spcPct val="125000"/>
              </a:lnSpc>
              <a:spcAft>
                <a:spcPts val="0"/>
              </a:spcAft>
            </a:pPr>
            <a:r>
              <a:rPr sz="1150" b="0" i="1">
                <a:solidFill>
                  <a:srgbClr val="5C6552"/>
                </a:solidFill>
                <a:latin typeface="Karla"/>
              </a:rPr>
              <a:t>Agree it as a team, then tick it on the sheet.</a:t>
            </a:r>
          </a:p>
        </p:txBody>
      </p:sp>
      <p:pic>
        <p:nvPicPr>
          <p:cNvPr id="17" name="Picture 16" descr="logo-mark.png"/>
          <p:cNvPicPr>
            <a:picLocks noChangeAspect="1"/>
          </p:cNvPicPr>
          <p:nvPr/>
        </p:nvPicPr>
        <p:blipFill>
          <a:blip r:embed="rId2"/>
          <a:stretch>
            <a:fillRect/>
          </a:stretch>
        </p:blipFill>
        <p:spPr>
          <a:xfrm>
            <a:off x="384048" y="4727448"/>
            <a:ext cx="158374" cy="182880"/>
          </a:xfrm>
          <a:prstGeom prst="rect">
            <a:avLst/>
          </a:prstGeom>
        </p:spPr>
      </p:pic>
      <p:sp>
        <p:nvSpPr>
          <p:cNvPr id="18" name="TextBox 1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9" name="TextBox 1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6 /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963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952258" y="914400"/>
            <a:ext cx="1239483" cy="237744"/>
          </a:xfrm>
          <a:prstGeom prst="roundRect">
            <a:avLst>
              <a:gd name="adj" fmla="val 50000"/>
            </a:avLst>
          </a:prstGeom>
          <a:solidFill>
            <a:srgbClr val="E8C8C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963A36"/>
                </a:solidFill>
                <a:latin typeface="Karla"/>
              </a:rPr>
              <a:t>ROUND TWO</a:t>
            </a:r>
          </a:p>
        </p:txBody>
      </p:sp>
      <p:sp>
        <p:nvSpPr>
          <p:cNvPr id="4" name="TextBox 3"/>
          <p:cNvSpPr txBox="1"/>
          <p:nvPr/>
        </p:nvSpPr>
        <p:spPr>
          <a:xfrm>
            <a:off x="548640" y="1481328"/>
            <a:ext cx="8046720" cy="731520"/>
          </a:xfrm>
          <a:prstGeom prst="rect">
            <a:avLst/>
          </a:prstGeom>
          <a:noFill/>
        </p:spPr>
        <p:txBody>
          <a:bodyPr wrap="square" anchor="t" lIns="0" rIns="0" tIns="0" bIns="0">
            <a:spAutoFit/>
          </a:bodyPr>
          <a:lstStyle/>
          <a:p>
            <a:pPr algn="ctr">
              <a:lnSpc>
                <a:spcPct val="105000"/>
              </a:lnSpc>
              <a:spcAft>
                <a:spcPts val="0"/>
              </a:spcAft>
            </a:pPr>
            <a:r>
              <a:rPr sz="4000" b="1" i="0">
                <a:solidFill>
                  <a:srgbClr val="FFFDF7"/>
                </a:solidFill>
                <a:latin typeface="Libre Caslon Display"/>
              </a:rPr>
              <a:t>Choose or write</a:t>
            </a:r>
          </a:p>
        </p:txBody>
      </p:sp>
      <p:sp>
        <p:nvSpPr>
          <p:cNvPr id="5" name="Rectangle 4"/>
          <p:cNvSpPr/>
          <p:nvPr/>
        </p:nvSpPr>
        <p:spPr>
          <a:xfrm>
            <a:off x="4114800" y="2487168"/>
            <a:ext cx="914400" cy="18288"/>
          </a:xfrm>
          <a:prstGeom prst="rect">
            <a:avLst/>
          </a:prstGeom>
          <a:solidFill>
            <a:srgbClr val="E8C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724912"/>
            <a:ext cx="6583680" cy="914400"/>
          </a:xfrm>
          <a:prstGeom prst="rect">
            <a:avLst/>
          </a:prstGeom>
          <a:noFill/>
        </p:spPr>
        <p:txBody>
          <a:bodyPr wrap="square" anchor="t" lIns="0" rIns="0" tIns="0" bIns="0">
            <a:spAutoFit/>
          </a:bodyPr>
          <a:lstStyle/>
          <a:p>
            <a:pPr algn="ctr">
              <a:lnSpc>
                <a:spcPct val="130000"/>
              </a:lnSpc>
              <a:spcAft>
                <a:spcPts val="0"/>
              </a:spcAft>
            </a:pPr>
            <a:r>
              <a:rPr sz="1500" b="0" i="0">
                <a:solidFill>
                  <a:srgbClr val="E8C8C3"/>
                </a:solidFill>
                <a:latin typeface="Karla"/>
              </a:rPr>
              <a:t>Six questions. The first three give you options, and the last three you write out in full.</a:t>
            </a:r>
          </a:p>
        </p:txBody>
      </p:sp>
      <p:pic>
        <p:nvPicPr>
          <p:cNvPr id="7" name="Picture 6" descr="logo-mark.png"/>
          <p:cNvPicPr>
            <a:picLocks noChangeAspect="1"/>
          </p:cNvPicPr>
          <p:nvPr/>
        </p:nvPicPr>
        <p:blipFill>
          <a:blip r:embed="rId2"/>
          <a:stretch>
            <a:fillRect/>
          </a:stretch>
        </p:blipFill>
        <p:spPr>
          <a:xfrm>
            <a:off x="384048" y="4727448"/>
            <a:ext cx="158374" cy="182880"/>
          </a:xfrm>
          <a:prstGeom prst="rect">
            <a:avLst/>
          </a:prstGeom>
        </p:spPr>
      </p:pic>
      <p:sp>
        <p:nvSpPr>
          <p:cNvPr id="8" name="TextBox 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E8C8C3"/>
                </a:solidFill>
                <a:latin typeface="Karla"/>
              </a:rPr>
              <a:t>The Pastoral Guide</a:t>
            </a:r>
          </a:p>
        </p:txBody>
      </p:sp>
      <p:sp>
        <p:nvSpPr>
          <p:cNvPr id="9" name="TextBox 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E8C8C3"/>
                </a:solidFill>
                <a:latin typeface="Karla"/>
              </a:rPr>
              <a:t>7 /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2F5A44"/>
                </a:solidFill>
                <a:latin typeface="Karla"/>
              </a:rPr>
              <a:t>CHRISTMAS QUIZ  ·  ROUND TWO  ·  QUESTION 5 OF 10</a:t>
            </a:r>
          </a:p>
        </p:txBody>
      </p:sp>
      <p:sp>
        <p:nvSpPr>
          <p:cNvPr id="4" name="Rounded Rectangle 3"/>
          <p:cNvSpPr/>
          <p:nvPr/>
        </p:nvSpPr>
        <p:spPr>
          <a:xfrm>
            <a:off x="685800" y="1030224"/>
            <a:ext cx="7772400" cy="1341120"/>
          </a:xfrm>
          <a:prstGeom prst="roundRect">
            <a:avLst>
              <a:gd name="adj" fmla="val 6000"/>
            </a:avLst>
          </a:prstGeom>
          <a:solidFill>
            <a:srgbClr val="EE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030224"/>
            <a:ext cx="7772400" cy="54864"/>
          </a:xfrm>
          <a:prstGeom prst="rect">
            <a:avLst/>
          </a:prstGeom>
          <a:solidFill>
            <a:srgbClr val="B958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399032"/>
            <a:ext cx="603504" cy="603504"/>
          </a:xfrm>
          <a:prstGeom prst="ellipse">
            <a:avLst/>
          </a:prstGeom>
          <a:solidFill>
            <a:srgbClr val="963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27048"/>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5</a:t>
            </a:r>
          </a:p>
        </p:txBody>
      </p:sp>
      <p:sp>
        <p:nvSpPr>
          <p:cNvPr id="8" name="TextBox 7"/>
          <p:cNvSpPr txBox="1"/>
          <p:nvPr/>
        </p:nvSpPr>
        <p:spPr>
          <a:xfrm>
            <a:off x="1783080" y="1322832"/>
            <a:ext cx="6309360" cy="755904"/>
          </a:xfrm>
          <a:prstGeom prst="rect">
            <a:avLst/>
          </a:prstGeom>
          <a:noFill/>
        </p:spPr>
        <p:txBody>
          <a:bodyPr wrap="square" anchor="t" lIns="0" rIns="0" tIns="0" bIns="0">
            <a:spAutoFit/>
          </a:bodyPr>
          <a:lstStyle/>
          <a:p>
            <a:pPr algn="l">
              <a:lnSpc>
                <a:spcPct val="112000"/>
              </a:lnSpc>
              <a:spcAft>
                <a:spcPts val="0"/>
              </a:spcAft>
            </a:pPr>
            <a:r>
              <a:rPr sz="2400" b="1" i="0">
                <a:solidFill>
                  <a:srgbClr val="2F5A44"/>
                </a:solidFill>
                <a:latin typeface="Libre Caslon Display"/>
              </a:rPr>
              <a:t>When does Ethiopia celebrate Christmas?</a:t>
            </a:r>
          </a:p>
        </p:txBody>
      </p:sp>
      <p:sp>
        <p:nvSpPr>
          <p:cNvPr id="9" name="TextBox 8"/>
          <p:cNvSpPr txBox="1"/>
          <p:nvPr/>
        </p:nvSpPr>
        <p:spPr>
          <a:xfrm>
            <a:off x="685800" y="2499360"/>
            <a:ext cx="7772400" cy="219456"/>
          </a:xfrm>
          <a:prstGeom prst="rect">
            <a:avLst/>
          </a:prstGeom>
          <a:noFill/>
        </p:spPr>
        <p:txBody>
          <a:bodyPr wrap="square" anchor="t" lIns="0" rIns="0" tIns="0" bIns="0">
            <a:spAutoFit/>
          </a:bodyPr>
          <a:lstStyle/>
          <a:p>
            <a:pPr algn="l">
              <a:lnSpc>
                <a:spcPct val="125000"/>
              </a:lnSpc>
              <a:spcAft>
                <a:spcPts val="0"/>
              </a:spcAft>
            </a:pPr>
            <a:r>
              <a:rPr sz="1000" b="1" i="0" spc="140">
                <a:solidFill>
                  <a:srgbClr val="8B9179"/>
                </a:solidFill>
                <a:latin typeface="Karla"/>
              </a:rPr>
              <a:t>ONE OF THESE</a:t>
            </a:r>
          </a:p>
        </p:txBody>
      </p:sp>
      <p:sp>
        <p:nvSpPr>
          <p:cNvPr id="10" name="Rounded Rectangle 9"/>
          <p:cNvSpPr/>
          <p:nvPr/>
        </p:nvSpPr>
        <p:spPr>
          <a:xfrm>
            <a:off x="685800" y="2791968"/>
            <a:ext cx="240792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50392" y="3614928"/>
            <a:ext cx="2078736" cy="27432"/>
          </a:xfrm>
          <a:prstGeom prst="rect">
            <a:avLst/>
          </a:prstGeom>
          <a:solidFill>
            <a:srgbClr val="C6D5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50392" y="3038856"/>
            <a:ext cx="402336" cy="402336"/>
          </a:xfrm>
          <a:prstGeom prst="ellipse">
            <a:avLst/>
          </a:prstGeom>
          <a:solidFill>
            <a:srgbClr val="2F5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3121152"/>
            <a:ext cx="402336" cy="237744"/>
          </a:xfrm>
          <a:prstGeom prst="rect">
            <a:avLst/>
          </a:prstGeom>
          <a:noFill/>
        </p:spPr>
        <p:txBody>
          <a:bodyPr wrap="square" anchor="t" lIns="0" rIns="0" tIns="0" bIns="0">
            <a:spAutoFit/>
          </a:bodyPr>
          <a:lstStyle/>
          <a:p>
            <a:pPr algn="ctr">
              <a:lnSpc>
                <a:spcPct val="125000"/>
              </a:lnSpc>
              <a:spcAft>
                <a:spcPts val="0"/>
              </a:spcAft>
            </a:pPr>
            <a:r>
              <a:rPr sz="1300" b="1" i="0">
                <a:solidFill>
                  <a:srgbClr val="FFFDF7"/>
                </a:solidFill>
                <a:latin typeface="Karla"/>
              </a:rPr>
              <a:t>A</a:t>
            </a:r>
          </a:p>
        </p:txBody>
      </p:sp>
      <p:sp>
        <p:nvSpPr>
          <p:cNvPr id="14" name="TextBox 13"/>
          <p:cNvSpPr txBox="1"/>
          <p:nvPr/>
        </p:nvSpPr>
        <p:spPr>
          <a:xfrm>
            <a:off x="1362456" y="3116072"/>
            <a:ext cx="1584960" cy="247903"/>
          </a:xfrm>
          <a:prstGeom prst="rect">
            <a:avLst/>
          </a:prstGeom>
          <a:noFill/>
        </p:spPr>
        <p:txBody>
          <a:bodyPr wrap="square" anchor="t" lIns="0" rIns="0" tIns="0" bIns="0">
            <a:spAutoFit/>
          </a:bodyPr>
          <a:lstStyle/>
          <a:p>
            <a:pPr algn="l">
              <a:lnSpc>
                <a:spcPct val="115000"/>
              </a:lnSpc>
              <a:spcAft>
                <a:spcPts val="0"/>
              </a:spcAft>
            </a:pPr>
            <a:r>
              <a:rPr sz="1600" b="0" i="0">
                <a:solidFill>
                  <a:srgbClr val="2E3436"/>
                </a:solidFill>
                <a:latin typeface="Karla"/>
              </a:rPr>
              <a:t>25 December</a:t>
            </a:r>
          </a:p>
        </p:txBody>
      </p:sp>
      <p:sp>
        <p:nvSpPr>
          <p:cNvPr id="15" name="Rounded Rectangle 14"/>
          <p:cNvSpPr/>
          <p:nvPr/>
        </p:nvSpPr>
        <p:spPr>
          <a:xfrm>
            <a:off x="3368040" y="2791968"/>
            <a:ext cx="240792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2632" y="3614928"/>
            <a:ext cx="2078736" cy="27432"/>
          </a:xfrm>
          <a:prstGeom prst="rect">
            <a:avLst/>
          </a:prstGeom>
          <a:solidFill>
            <a:srgbClr val="C6D5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2631" y="3038856"/>
            <a:ext cx="402336" cy="402336"/>
          </a:xfrm>
          <a:prstGeom prst="ellipse">
            <a:avLst/>
          </a:prstGeom>
          <a:solidFill>
            <a:srgbClr val="2F5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32632" y="3121152"/>
            <a:ext cx="402336" cy="237744"/>
          </a:xfrm>
          <a:prstGeom prst="rect">
            <a:avLst/>
          </a:prstGeom>
          <a:noFill/>
        </p:spPr>
        <p:txBody>
          <a:bodyPr wrap="square" anchor="t" lIns="0" rIns="0" tIns="0" bIns="0">
            <a:spAutoFit/>
          </a:bodyPr>
          <a:lstStyle/>
          <a:p>
            <a:pPr algn="ctr">
              <a:lnSpc>
                <a:spcPct val="125000"/>
              </a:lnSpc>
              <a:spcAft>
                <a:spcPts val="0"/>
              </a:spcAft>
            </a:pPr>
            <a:r>
              <a:rPr sz="1300" b="1" i="0">
                <a:solidFill>
                  <a:srgbClr val="FFFDF7"/>
                </a:solidFill>
                <a:latin typeface="Karla"/>
              </a:rPr>
              <a:t>B</a:t>
            </a:r>
          </a:p>
        </p:txBody>
      </p:sp>
      <p:sp>
        <p:nvSpPr>
          <p:cNvPr id="19" name="TextBox 18"/>
          <p:cNvSpPr txBox="1"/>
          <p:nvPr/>
        </p:nvSpPr>
        <p:spPr>
          <a:xfrm>
            <a:off x="4044695" y="3116072"/>
            <a:ext cx="1584960" cy="247903"/>
          </a:xfrm>
          <a:prstGeom prst="rect">
            <a:avLst/>
          </a:prstGeom>
          <a:noFill/>
        </p:spPr>
        <p:txBody>
          <a:bodyPr wrap="square" anchor="t" lIns="0" rIns="0" tIns="0" bIns="0">
            <a:spAutoFit/>
          </a:bodyPr>
          <a:lstStyle/>
          <a:p>
            <a:pPr algn="l">
              <a:lnSpc>
                <a:spcPct val="115000"/>
              </a:lnSpc>
              <a:spcAft>
                <a:spcPts val="0"/>
              </a:spcAft>
            </a:pPr>
            <a:r>
              <a:rPr sz="1600" b="0" i="0">
                <a:solidFill>
                  <a:srgbClr val="2E3436"/>
                </a:solidFill>
                <a:latin typeface="Karla"/>
              </a:rPr>
              <a:t>7 January</a:t>
            </a:r>
          </a:p>
        </p:txBody>
      </p:sp>
      <p:sp>
        <p:nvSpPr>
          <p:cNvPr id="20" name="Rounded Rectangle 19"/>
          <p:cNvSpPr/>
          <p:nvPr/>
        </p:nvSpPr>
        <p:spPr>
          <a:xfrm>
            <a:off x="6050280" y="2791968"/>
            <a:ext cx="240792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4871" y="3614928"/>
            <a:ext cx="2078736" cy="27432"/>
          </a:xfrm>
          <a:prstGeom prst="rect">
            <a:avLst/>
          </a:prstGeom>
          <a:solidFill>
            <a:srgbClr val="C6D5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214872" y="3038856"/>
            <a:ext cx="402336" cy="402336"/>
          </a:xfrm>
          <a:prstGeom prst="ellipse">
            <a:avLst/>
          </a:prstGeom>
          <a:solidFill>
            <a:srgbClr val="2F5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4871" y="3121152"/>
            <a:ext cx="402336" cy="237744"/>
          </a:xfrm>
          <a:prstGeom prst="rect">
            <a:avLst/>
          </a:prstGeom>
          <a:noFill/>
        </p:spPr>
        <p:txBody>
          <a:bodyPr wrap="square" anchor="t" lIns="0" rIns="0" tIns="0" bIns="0">
            <a:spAutoFit/>
          </a:bodyPr>
          <a:lstStyle/>
          <a:p>
            <a:pPr algn="ctr">
              <a:lnSpc>
                <a:spcPct val="125000"/>
              </a:lnSpc>
              <a:spcAft>
                <a:spcPts val="0"/>
              </a:spcAft>
            </a:pPr>
            <a:r>
              <a:rPr sz="1300" b="1" i="0">
                <a:solidFill>
                  <a:srgbClr val="FFFDF7"/>
                </a:solidFill>
                <a:latin typeface="Karla"/>
              </a:rPr>
              <a:t>C</a:t>
            </a:r>
          </a:p>
        </p:txBody>
      </p:sp>
      <p:sp>
        <p:nvSpPr>
          <p:cNvPr id="24" name="TextBox 23"/>
          <p:cNvSpPr txBox="1"/>
          <p:nvPr/>
        </p:nvSpPr>
        <p:spPr>
          <a:xfrm>
            <a:off x="6726936" y="3116072"/>
            <a:ext cx="1584960" cy="247903"/>
          </a:xfrm>
          <a:prstGeom prst="rect">
            <a:avLst/>
          </a:prstGeom>
          <a:noFill/>
        </p:spPr>
        <p:txBody>
          <a:bodyPr wrap="square" anchor="t" lIns="0" rIns="0" tIns="0" bIns="0">
            <a:spAutoFit/>
          </a:bodyPr>
          <a:lstStyle/>
          <a:p>
            <a:pPr algn="l">
              <a:lnSpc>
                <a:spcPct val="115000"/>
              </a:lnSpc>
              <a:spcAft>
                <a:spcPts val="0"/>
              </a:spcAft>
            </a:pPr>
            <a:r>
              <a:rPr sz="1600" b="0" i="0">
                <a:solidFill>
                  <a:srgbClr val="2E3436"/>
                </a:solidFill>
                <a:latin typeface="Karla"/>
              </a:rPr>
              <a:t>19 January</a:t>
            </a:r>
          </a:p>
        </p:txBody>
      </p:sp>
      <p:sp>
        <p:nvSpPr>
          <p:cNvPr id="25" name="TextBox 24"/>
          <p:cNvSpPr txBox="1"/>
          <p:nvPr/>
        </p:nvSpPr>
        <p:spPr>
          <a:xfrm>
            <a:off x="685800" y="4169663"/>
            <a:ext cx="7772400" cy="274320"/>
          </a:xfrm>
          <a:prstGeom prst="rect">
            <a:avLst/>
          </a:prstGeom>
          <a:noFill/>
        </p:spPr>
        <p:txBody>
          <a:bodyPr wrap="square" anchor="t" lIns="0" rIns="0" tIns="0" bIns="0">
            <a:spAutoFit/>
          </a:bodyPr>
          <a:lstStyle/>
          <a:p>
            <a:pPr algn="ctr">
              <a:lnSpc>
                <a:spcPct val="125000"/>
              </a:lnSpc>
              <a:spcAft>
                <a:spcPts val="0"/>
              </a:spcAft>
            </a:pPr>
            <a:r>
              <a:rPr sz="1150" b="0" i="1">
                <a:solidFill>
                  <a:srgbClr val="5C6552"/>
                </a:solidFill>
                <a:latin typeface="Karla"/>
              </a:rPr>
              <a:t>Agree it as a team, then tick it on the sheet.</a:t>
            </a:r>
          </a:p>
        </p:txBody>
      </p:sp>
      <p:pic>
        <p:nvPicPr>
          <p:cNvPr id="26" name="Picture 25" descr="logo-mark.png"/>
          <p:cNvPicPr>
            <a:picLocks noChangeAspect="1"/>
          </p:cNvPicPr>
          <p:nvPr/>
        </p:nvPicPr>
        <p:blipFill>
          <a:blip r:embed="rId2"/>
          <a:stretch>
            <a:fillRect/>
          </a:stretch>
        </p:blipFill>
        <p:spPr>
          <a:xfrm>
            <a:off x="384048" y="4727448"/>
            <a:ext cx="158374" cy="182880"/>
          </a:xfrm>
          <a:prstGeom prst="rect">
            <a:avLst/>
          </a:prstGeom>
        </p:spPr>
      </p:pic>
      <p:sp>
        <p:nvSpPr>
          <p:cNvPr id="27" name="TextBox 26"/>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8" name="TextBox 27"/>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8 /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2F5A44"/>
                </a:solidFill>
                <a:latin typeface="Karla"/>
              </a:rPr>
              <a:t>CHRISTMAS QUIZ  ·  ROUND TWO  ·  QUESTION 6 OF 10</a:t>
            </a:r>
          </a:p>
        </p:txBody>
      </p:sp>
      <p:sp>
        <p:nvSpPr>
          <p:cNvPr id="4" name="Rounded Rectangle 3"/>
          <p:cNvSpPr/>
          <p:nvPr/>
        </p:nvSpPr>
        <p:spPr>
          <a:xfrm>
            <a:off x="685800" y="912114"/>
            <a:ext cx="7772400" cy="1577340"/>
          </a:xfrm>
          <a:prstGeom prst="roundRect">
            <a:avLst>
              <a:gd name="adj" fmla="val 6000"/>
            </a:avLst>
          </a:prstGeom>
          <a:solidFill>
            <a:srgbClr val="EE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912114"/>
            <a:ext cx="7772400" cy="54864"/>
          </a:xfrm>
          <a:prstGeom prst="rect">
            <a:avLst/>
          </a:prstGeom>
          <a:solidFill>
            <a:srgbClr val="B958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399032"/>
            <a:ext cx="603504" cy="603504"/>
          </a:xfrm>
          <a:prstGeom prst="ellipse">
            <a:avLst/>
          </a:prstGeom>
          <a:solidFill>
            <a:srgbClr val="963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27048"/>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6</a:t>
            </a:r>
          </a:p>
        </p:txBody>
      </p:sp>
      <p:sp>
        <p:nvSpPr>
          <p:cNvPr id="8" name="TextBox 7"/>
          <p:cNvSpPr txBox="1"/>
          <p:nvPr/>
        </p:nvSpPr>
        <p:spPr>
          <a:xfrm>
            <a:off x="1783080" y="1204722"/>
            <a:ext cx="6309360" cy="992124"/>
          </a:xfrm>
          <a:prstGeom prst="rect">
            <a:avLst/>
          </a:prstGeom>
          <a:noFill/>
        </p:spPr>
        <p:txBody>
          <a:bodyPr wrap="square" anchor="t" lIns="0" rIns="0" tIns="0" bIns="0">
            <a:spAutoFit/>
          </a:bodyPr>
          <a:lstStyle/>
          <a:p>
            <a:pPr algn="l">
              <a:lnSpc>
                <a:spcPct val="112000"/>
              </a:lnSpc>
              <a:spcAft>
                <a:spcPts val="0"/>
              </a:spcAft>
            </a:pPr>
            <a:r>
              <a:rPr sz="2100" b="1" i="0">
                <a:solidFill>
                  <a:srgbClr val="2F5A44"/>
                </a:solidFill>
                <a:latin typeface="Libre Caslon Display"/>
              </a:rPr>
              <a:t>In Caracas, Venezuela, how did many people traditionally travel to early morning Christmas church services?</a:t>
            </a:r>
          </a:p>
        </p:txBody>
      </p:sp>
      <p:sp>
        <p:nvSpPr>
          <p:cNvPr id="9" name="TextBox 8"/>
          <p:cNvSpPr txBox="1"/>
          <p:nvPr/>
        </p:nvSpPr>
        <p:spPr>
          <a:xfrm>
            <a:off x="685800" y="2617470"/>
            <a:ext cx="7772400" cy="219456"/>
          </a:xfrm>
          <a:prstGeom prst="rect">
            <a:avLst/>
          </a:prstGeom>
          <a:noFill/>
        </p:spPr>
        <p:txBody>
          <a:bodyPr wrap="square" anchor="t" lIns="0" rIns="0" tIns="0" bIns="0">
            <a:spAutoFit/>
          </a:bodyPr>
          <a:lstStyle/>
          <a:p>
            <a:pPr algn="l">
              <a:lnSpc>
                <a:spcPct val="125000"/>
              </a:lnSpc>
              <a:spcAft>
                <a:spcPts val="0"/>
              </a:spcAft>
            </a:pPr>
            <a:r>
              <a:rPr sz="1000" b="1" i="0" spc="140">
                <a:solidFill>
                  <a:srgbClr val="8B9179"/>
                </a:solidFill>
                <a:latin typeface="Karla"/>
              </a:rPr>
              <a:t>ONE OF THESE</a:t>
            </a:r>
          </a:p>
        </p:txBody>
      </p:sp>
      <p:sp>
        <p:nvSpPr>
          <p:cNvPr id="10" name="Rounded Rectangle 9"/>
          <p:cNvSpPr/>
          <p:nvPr/>
        </p:nvSpPr>
        <p:spPr>
          <a:xfrm>
            <a:off x="685800" y="2910078"/>
            <a:ext cx="240792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50392" y="3733037"/>
            <a:ext cx="2078736" cy="27432"/>
          </a:xfrm>
          <a:prstGeom prst="rect">
            <a:avLst/>
          </a:prstGeom>
          <a:solidFill>
            <a:srgbClr val="C6D5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50392" y="3156966"/>
            <a:ext cx="402336" cy="402336"/>
          </a:xfrm>
          <a:prstGeom prst="ellipse">
            <a:avLst/>
          </a:prstGeom>
          <a:solidFill>
            <a:srgbClr val="2F5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3239262"/>
            <a:ext cx="402336" cy="237744"/>
          </a:xfrm>
          <a:prstGeom prst="rect">
            <a:avLst/>
          </a:prstGeom>
          <a:noFill/>
        </p:spPr>
        <p:txBody>
          <a:bodyPr wrap="square" anchor="t" lIns="0" rIns="0" tIns="0" bIns="0">
            <a:spAutoFit/>
          </a:bodyPr>
          <a:lstStyle/>
          <a:p>
            <a:pPr algn="ctr">
              <a:lnSpc>
                <a:spcPct val="125000"/>
              </a:lnSpc>
              <a:spcAft>
                <a:spcPts val="0"/>
              </a:spcAft>
            </a:pPr>
            <a:r>
              <a:rPr sz="1300" b="1" i="0">
                <a:solidFill>
                  <a:srgbClr val="FFFDF7"/>
                </a:solidFill>
                <a:latin typeface="Karla"/>
              </a:rPr>
              <a:t>A</a:t>
            </a:r>
          </a:p>
        </p:txBody>
      </p:sp>
      <p:sp>
        <p:nvSpPr>
          <p:cNvPr id="14" name="TextBox 13"/>
          <p:cNvSpPr txBox="1"/>
          <p:nvPr/>
        </p:nvSpPr>
        <p:spPr>
          <a:xfrm>
            <a:off x="1362456" y="3234182"/>
            <a:ext cx="1584960" cy="247903"/>
          </a:xfrm>
          <a:prstGeom prst="rect">
            <a:avLst/>
          </a:prstGeom>
          <a:noFill/>
        </p:spPr>
        <p:txBody>
          <a:bodyPr wrap="square" anchor="t" lIns="0" rIns="0" tIns="0" bIns="0">
            <a:spAutoFit/>
          </a:bodyPr>
          <a:lstStyle/>
          <a:p>
            <a:pPr algn="l">
              <a:lnSpc>
                <a:spcPct val="115000"/>
              </a:lnSpc>
              <a:spcAft>
                <a:spcPts val="0"/>
              </a:spcAft>
            </a:pPr>
            <a:r>
              <a:rPr sz="1600" b="0" i="0">
                <a:solidFill>
                  <a:srgbClr val="2E3436"/>
                </a:solidFill>
                <a:latin typeface="Karla"/>
              </a:rPr>
              <a:t>On horseback</a:t>
            </a:r>
          </a:p>
        </p:txBody>
      </p:sp>
      <p:sp>
        <p:nvSpPr>
          <p:cNvPr id="15" name="Rounded Rectangle 14"/>
          <p:cNvSpPr/>
          <p:nvPr/>
        </p:nvSpPr>
        <p:spPr>
          <a:xfrm>
            <a:off x="3368040" y="2910078"/>
            <a:ext cx="240792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2632" y="3733037"/>
            <a:ext cx="2078736" cy="27432"/>
          </a:xfrm>
          <a:prstGeom prst="rect">
            <a:avLst/>
          </a:prstGeom>
          <a:solidFill>
            <a:srgbClr val="C6D5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2631" y="3156966"/>
            <a:ext cx="402336" cy="402336"/>
          </a:xfrm>
          <a:prstGeom prst="ellipse">
            <a:avLst/>
          </a:prstGeom>
          <a:solidFill>
            <a:srgbClr val="2F5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32632" y="3239262"/>
            <a:ext cx="402336" cy="237744"/>
          </a:xfrm>
          <a:prstGeom prst="rect">
            <a:avLst/>
          </a:prstGeom>
          <a:noFill/>
        </p:spPr>
        <p:txBody>
          <a:bodyPr wrap="square" anchor="t" lIns="0" rIns="0" tIns="0" bIns="0">
            <a:spAutoFit/>
          </a:bodyPr>
          <a:lstStyle/>
          <a:p>
            <a:pPr algn="ctr">
              <a:lnSpc>
                <a:spcPct val="125000"/>
              </a:lnSpc>
              <a:spcAft>
                <a:spcPts val="0"/>
              </a:spcAft>
            </a:pPr>
            <a:r>
              <a:rPr sz="1300" b="1" i="0">
                <a:solidFill>
                  <a:srgbClr val="FFFDF7"/>
                </a:solidFill>
                <a:latin typeface="Karla"/>
              </a:rPr>
              <a:t>B</a:t>
            </a:r>
          </a:p>
        </p:txBody>
      </p:sp>
      <p:sp>
        <p:nvSpPr>
          <p:cNvPr id="19" name="TextBox 18"/>
          <p:cNvSpPr txBox="1"/>
          <p:nvPr/>
        </p:nvSpPr>
        <p:spPr>
          <a:xfrm>
            <a:off x="4044695" y="3234182"/>
            <a:ext cx="1584960" cy="247903"/>
          </a:xfrm>
          <a:prstGeom prst="rect">
            <a:avLst/>
          </a:prstGeom>
          <a:noFill/>
        </p:spPr>
        <p:txBody>
          <a:bodyPr wrap="square" anchor="t" lIns="0" rIns="0" tIns="0" bIns="0">
            <a:spAutoFit/>
          </a:bodyPr>
          <a:lstStyle/>
          <a:p>
            <a:pPr algn="l">
              <a:lnSpc>
                <a:spcPct val="115000"/>
              </a:lnSpc>
              <a:spcAft>
                <a:spcPts val="0"/>
              </a:spcAft>
            </a:pPr>
            <a:r>
              <a:rPr sz="1600" b="0" i="0">
                <a:solidFill>
                  <a:srgbClr val="2E3436"/>
                </a:solidFill>
                <a:latin typeface="Karla"/>
              </a:rPr>
              <a:t>By boat</a:t>
            </a:r>
          </a:p>
        </p:txBody>
      </p:sp>
      <p:sp>
        <p:nvSpPr>
          <p:cNvPr id="20" name="Rounded Rectangle 19"/>
          <p:cNvSpPr/>
          <p:nvPr/>
        </p:nvSpPr>
        <p:spPr>
          <a:xfrm>
            <a:off x="6050280" y="2910078"/>
            <a:ext cx="240792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4871" y="3733037"/>
            <a:ext cx="2078736" cy="27432"/>
          </a:xfrm>
          <a:prstGeom prst="rect">
            <a:avLst/>
          </a:prstGeom>
          <a:solidFill>
            <a:srgbClr val="C6D5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214872" y="3156966"/>
            <a:ext cx="402336" cy="402336"/>
          </a:xfrm>
          <a:prstGeom prst="ellipse">
            <a:avLst/>
          </a:prstGeom>
          <a:solidFill>
            <a:srgbClr val="2F5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4871" y="3239262"/>
            <a:ext cx="402336" cy="237744"/>
          </a:xfrm>
          <a:prstGeom prst="rect">
            <a:avLst/>
          </a:prstGeom>
          <a:noFill/>
        </p:spPr>
        <p:txBody>
          <a:bodyPr wrap="square" anchor="t" lIns="0" rIns="0" tIns="0" bIns="0">
            <a:spAutoFit/>
          </a:bodyPr>
          <a:lstStyle/>
          <a:p>
            <a:pPr algn="ctr">
              <a:lnSpc>
                <a:spcPct val="125000"/>
              </a:lnSpc>
              <a:spcAft>
                <a:spcPts val="0"/>
              </a:spcAft>
            </a:pPr>
            <a:r>
              <a:rPr sz="1300" b="1" i="0">
                <a:solidFill>
                  <a:srgbClr val="FFFDF7"/>
                </a:solidFill>
                <a:latin typeface="Karla"/>
              </a:rPr>
              <a:t>C</a:t>
            </a:r>
          </a:p>
        </p:txBody>
      </p:sp>
      <p:sp>
        <p:nvSpPr>
          <p:cNvPr id="24" name="TextBox 23"/>
          <p:cNvSpPr txBox="1"/>
          <p:nvPr/>
        </p:nvSpPr>
        <p:spPr>
          <a:xfrm>
            <a:off x="6726936" y="3110230"/>
            <a:ext cx="1584960" cy="495807"/>
          </a:xfrm>
          <a:prstGeom prst="rect">
            <a:avLst/>
          </a:prstGeom>
          <a:noFill/>
        </p:spPr>
        <p:txBody>
          <a:bodyPr wrap="square" anchor="t" lIns="0" rIns="0" tIns="0" bIns="0">
            <a:spAutoFit/>
          </a:bodyPr>
          <a:lstStyle/>
          <a:p>
            <a:pPr algn="l">
              <a:lnSpc>
                <a:spcPct val="115000"/>
              </a:lnSpc>
              <a:spcAft>
                <a:spcPts val="0"/>
              </a:spcAft>
            </a:pPr>
            <a:r>
              <a:rPr sz="1600" b="0" i="0">
                <a:solidFill>
                  <a:srgbClr val="2E3436"/>
                </a:solidFill>
                <a:latin typeface="Karla"/>
              </a:rPr>
              <a:t>On roller skates</a:t>
            </a:r>
          </a:p>
        </p:txBody>
      </p:sp>
      <p:sp>
        <p:nvSpPr>
          <p:cNvPr id="25" name="TextBox 24"/>
          <p:cNvSpPr txBox="1"/>
          <p:nvPr/>
        </p:nvSpPr>
        <p:spPr>
          <a:xfrm>
            <a:off x="685800" y="4169663"/>
            <a:ext cx="7772400" cy="274320"/>
          </a:xfrm>
          <a:prstGeom prst="rect">
            <a:avLst/>
          </a:prstGeom>
          <a:noFill/>
        </p:spPr>
        <p:txBody>
          <a:bodyPr wrap="square" anchor="t" lIns="0" rIns="0" tIns="0" bIns="0">
            <a:spAutoFit/>
          </a:bodyPr>
          <a:lstStyle/>
          <a:p>
            <a:pPr algn="ctr">
              <a:lnSpc>
                <a:spcPct val="125000"/>
              </a:lnSpc>
              <a:spcAft>
                <a:spcPts val="0"/>
              </a:spcAft>
            </a:pPr>
            <a:r>
              <a:rPr sz="1150" b="0" i="1">
                <a:solidFill>
                  <a:srgbClr val="5C6552"/>
                </a:solidFill>
                <a:latin typeface="Karla"/>
              </a:rPr>
              <a:t>Agree it as a team, then tick it on the sheet.</a:t>
            </a:r>
          </a:p>
        </p:txBody>
      </p:sp>
      <p:pic>
        <p:nvPicPr>
          <p:cNvPr id="26" name="Picture 25" descr="logo-mark.png"/>
          <p:cNvPicPr>
            <a:picLocks noChangeAspect="1"/>
          </p:cNvPicPr>
          <p:nvPr/>
        </p:nvPicPr>
        <p:blipFill>
          <a:blip r:embed="rId2"/>
          <a:stretch>
            <a:fillRect/>
          </a:stretch>
        </p:blipFill>
        <p:spPr>
          <a:xfrm>
            <a:off x="384048" y="4727448"/>
            <a:ext cx="158374" cy="182880"/>
          </a:xfrm>
          <a:prstGeom prst="rect">
            <a:avLst/>
          </a:prstGeom>
        </p:spPr>
      </p:pic>
      <p:sp>
        <p:nvSpPr>
          <p:cNvPr id="27" name="TextBox 26"/>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8" name="TextBox 27"/>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9 /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2F5A44"/>
                </a:solidFill>
                <a:latin typeface="Karla"/>
              </a:rPr>
              <a:t>CHRISTMAS QUIZ  ·  ROUND TWO  ·  QUESTION 7 OF 10</a:t>
            </a:r>
          </a:p>
        </p:txBody>
      </p:sp>
      <p:sp>
        <p:nvSpPr>
          <p:cNvPr id="4" name="Rounded Rectangle 3"/>
          <p:cNvSpPr/>
          <p:nvPr/>
        </p:nvSpPr>
        <p:spPr>
          <a:xfrm>
            <a:off x="685800" y="841248"/>
            <a:ext cx="7772400" cy="1719072"/>
          </a:xfrm>
          <a:prstGeom prst="roundRect">
            <a:avLst>
              <a:gd name="adj" fmla="val 6000"/>
            </a:avLst>
          </a:prstGeom>
          <a:solidFill>
            <a:srgbClr val="EE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841248"/>
            <a:ext cx="7772400" cy="54864"/>
          </a:xfrm>
          <a:prstGeom prst="rect">
            <a:avLst/>
          </a:prstGeom>
          <a:solidFill>
            <a:srgbClr val="B958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399032"/>
            <a:ext cx="603504" cy="603504"/>
          </a:xfrm>
          <a:prstGeom prst="ellipse">
            <a:avLst/>
          </a:prstGeom>
          <a:solidFill>
            <a:srgbClr val="963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27048"/>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7</a:t>
            </a:r>
          </a:p>
        </p:txBody>
      </p:sp>
      <p:sp>
        <p:nvSpPr>
          <p:cNvPr id="8" name="TextBox 7"/>
          <p:cNvSpPr txBox="1"/>
          <p:nvPr/>
        </p:nvSpPr>
        <p:spPr>
          <a:xfrm>
            <a:off x="1783080" y="1133856"/>
            <a:ext cx="6309360" cy="1133856"/>
          </a:xfrm>
          <a:prstGeom prst="rect">
            <a:avLst/>
          </a:prstGeom>
          <a:noFill/>
        </p:spPr>
        <p:txBody>
          <a:bodyPr wrap="square" anchor="t" lIns="0" rIns="0" tIns="0" bIns="0">
            <a:spAutoFit/>
          </a:bodyPr>
          <a:lstStyle/>
          <a:p>
            <a:pPr algn="l">
              <a:lnSpc>
                <a:spcPct val="112000"/>
              </a:lnSpc>
              <a:spcAft>
                <a:spcPts val="0"/>
              </a:spcAft>
            </a:pPr>
            <a:r>
              <a:rPr sz="2400" b="1" i="0">
                <a:solidFill>
                  <a:srgbClr val="2F5A44"/>
                </a:solidFill>
                <a:latin typeface="Libre Caslon Display"/>
              </a:rPr>
              <a:t>The poinsettia, the red Christmas plant, first grew wild in which country?</a:t>
            </a:r>
          </a:p>
        </p:txBody>
      </p:sp>
      <p:sp>
        <p:nvSpPr>
          <p:cNvPr id="9" name="TextBox 8"/>
          <p:cNvSpPr txBox="1"/>
          <p:nvPr/>
        </p:nvSpPr>
        <p:spPr>
          <a:xfrm>
            <a:off x="685800" y="2688336"/>
            <a:ext cx="7772400" cy="219456"/>
          </a:xfrm>
          <a:prstGeom prst="rect">
            <a:avLst/>
          </a:prstGeom>
          <a:noFill/>
        </p:spPr>
        <p:txBody>
          <a:bodyPr wrap="square" anchor="t" lIns="0" rIns="0" tIns="0" bIns="0">
            <a:spAutoFit/>
          </a:bodyPr>
          <a:lstStyle/>
          <a:p>
            <a:pPr algn="l">
              <a:lnSpc>
                <a:spcPct val="125000"/>
              </a:lnSpc>
              <a:spcAft>
                <a:spcPts val="0"/>
              </a:spcAft>
            </a:pPr>
            <a:r>
              <a:rPr sz="1000" b="1" i="0" spc="140">
                <a:solidFill>
                  <a:srgbClr val="8B9179"/>
                </a:solidFill>
                <a:latin typeface="Karla"/>
              </a:rPr>
              <a:t>ONE OF THESE</a:t>
            </a:r>
          </a:p>
        </p:txBody>
      </p:sp>
      <p:sp>
        <p:nvSpPr>
          <p:cNvPr id="10" name="Rounded Rectangle 9"/>
          <p:cNvSpPr/>
          <p:nvPr/>
        </p:nvSpPr>
        <p:spPr>
          <a:xfrm>
            <a:off x="685800" y="2980944"/>
            <a:ext cx="240792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50392" y="3803904"/>
            <a:ext cx="2078736" cy="27432"/>
          </a:xfrm>
          <a:prstGeom prst="rect">
            <a:avLst/>
          </a:prstGeom>
          <a:solidFill>
            <a:srgbClr val="C6D5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50392" y="3227832"/>
            <a:ext cx="402336" cy="402336"/>
          </a:xfrm>
          <a:prstGeom prst="ellipse">
            <a:avLst/>
          </a:prstGeom>
          <a:solidFill>
            <a:srgbClr val="2F5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3310128"/>
            <a:ext cx="402336" cy="237744"/>
          </a:xfrm>
          <a:prstGeom prst="rect">
            <a:avLst/>
          </a:prstGeom>
          <a:noFill/>
        </p:spPr>
        <p:txBody>
          <a:bodyPr wrap="square" anchor="t" lIns="0" rIns="0" tIns="0" bIns="0">
            <a:spAutoFit/>
          </a:bodyPr>
          <a:lstStyle/>
          <a:p>
            <a:pPr algn="ctr">
              <a:lnSpc>
                <a:spcPct val="125000"/>
              </a:lnSpc>
              <a:spcAft>
                <a:spcPts val="0"/>
              </a:spcAft>
            </a:pPr>
            <a:r>
              <a:rPr sz="1300" b="1" i="0">
                <a:solidFill>
                  <a:srgbClr val="FFFDF7"/>
                </a:solidFill>
                <a:latin typeface="Karla"/>
              </a:rPr>
              <a:t>A</a:t>
            </a:r>
          </a:p>
        </p:txBody>
      </p:sp>
      <p:sp>
        <p:nvSpPr>
          <p:cNvPr id="14" name="TextBox 13"/>
          <p:cNvSpPr txBox="1"/>
          <p:nvPr/>
        </p:nvSpPr>
        <p:spPr>
          <a:xfrm>
            <a:off x="1362456" y="3305048"/>
            <a:ext cx="1584960" cy="247903"/>
          </a:xfrm>
          <a:prstGeom prst="rect">
            <a:avLst/>
          </a:prstGeom>
          <a:noFill/>
        </p:spPr>
        <p:txBody>
          <a:bodyPr wrap="square" anchor="t" lIns="0" rIns="0" tIns="0" bIns="0">
            <a:spAutoFit/>
          </a:bodyPr>
          <a:lstStyle/>
          <a:p>
            <a:pPr algn="l">
              <a:lnSpc>
                <a:spcPct val="115000"/>
              </a:lnSpc>
              <a:spcAft>
                <a:spcPts val="0"/>
              </a:spcAft>
            </a:pPr>
            <a:r>
              <a:rPr sz="1600" b="0" i="0">
                <a:solidFill>
                  <a:srgbClr val="2E3436"/>
                </a:solidFill>
                <a:latin typeface="Karla"/>
              </a:rPr>
              <a:t>Norway</a:t>
            </a:r>
          </a:p>
        </p:txBody>
      </p:sp>
      <p:sp>
        <p:nvSpPr>
          <p:cNvPr id="15" name="Rounded Rectangle 14"/>
          <p:cNvSpPr/>
          <p:nvPr/>
        </p:nvSpPr>
        <p:spPr>
          <a:xfrm>
            <a:off x="3368040" y="2980944"/>
            <a:ext cx="240792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2632" y="3803904"/>
            <a:ext cx="2078736" cy="27432"/>
          </a:xfrm>
          <a:prstGeom prst="rect">
            <a:avLst/>
          </a:prstGeom>
          <a:solidFill>
            <a:srgbClr val="C6D5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2631" y="3227832"/>
            <a:ext cx="402336" cy="402336"/>
          </a:xfrm>
          <a:prstGeom prst="ellipse">
            <a:avLst/>
          </a:prstGeom>
          <a:solidFill>
            <a:srgbClr val="2F5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32632" y="3310128"/>
            <a:ext cx="402336" cy="237744"/>
          </a:xfrm>
          <a:prstGeom prst="rect">
            <a:avLst/>
          </a:prstGeom>
          <a:noFill/>
        </p:spPr>
        <p:txBody>
          <a:bodyPr wrap="square" anchor="t" lIns="0" rIns="0" tIns="0" bIns="0">
            <a:spAutoFit/>
          </a:bodyPr>
          <a:lstStyle/>
          <a:p>
            <a:pPr algn="ctr">
              <a:lnSpc>
                <a:spcPct val="125000"/>
              </a:lnSpc>
              <a:spcAft>
                <a:spcPts val="0"/>
              </a:spcAft>
            </a:pPr>
            <a:r>
              <a:rPr sz="1300" b="1" i="0">
                <a:solidFill>
                  <a:srgbClr val="FFFDF7"/>
                </a:solidFill>
                <a:latin typeface="Karla"/>
              </a:rPr>
              <a:t>B</a:t>
            </a:r>
          </a:p>
        </p:txBody>
      </p:sp>
      <p:sp>
        <p:nvSpPr>
          <p:cNvPr id="19" name="TextBox 18"/>
          <p:cNvSpPr txBox="1"/>
          <p:nvPr/>
        </p:nvSpPr>
        <p:spPr>
          <a:xfrm>
            <a:off x="4044695" y="3305048"/>
            <a:ext cx="1584960" cy="247903"/>
          </a:xfrm>
          <a:prstGeom prst="rect">
            <a:avLst/>
          </a:prstGeom>
          <a:noFill/>
        </p:spPr>
        <p:txBody>
          <a:bodyPr wrap="square" anchor="t" lIns="0" rIns="0" tIns="0" bIns="0">
            <a:spAutoFit/>
          </a:bodyPr>
          <a:lstStyle/>
          <a:p>
            <a:pPr algn="l">
              <a:lnSpc>
                <a:spcPct val="115000"/>
              </a:lnSpc>
              <a:spcAft>
                <a:spcPts val="0"/>
              </a:spcAft>
            </a:pPr>
            <a:r>
              <a:rPr sz="1600" b="0" i="0">
                <a:solidFill>
                  <a:srgbClr val="2E3436"/>
                </a:solidFill>
                <a:latin typeface="Karla"/>
              </a:rPr>
              <a:t>Mexico</a:t>
            </a:r>
          </a:p>
        </p:txBody>
      </p:sp>
      <p:sp>
        <p:nvSpPr>
          <p:cNvPr id="20" name="Rounded Rectangle 19"/>
          <p:cNvSpPr/>
          <p:nvPr/>
        </p:nvSpPr>
        <p:spPr>
          <a:xfrm>
            <a:off x="6050280" y="2980944"/>
            <a:ext cx="240792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4871" y="3803904"/>
            <a:ext cx="2078736" cy="27432"/>
          </a:xfrm>
          <a:prstGeom prst="rect">
            <a:avLst/>
          </a:prstGeom>
          <a:solidFill>
            <a:srgbClr val="C6D5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214872" y="3227832"/>
            <a:ext cx="402336" cy="402336"/>
          </a:xfrm>
          <a:prstGeom prst="ellipse">
            <a:avLst/>
          </a:prstGeom>
          <a:solidFill>
            <a:srgbClr val="2F5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4871" y="3310128"/>
            <a:ext cx="402336" cy="237744"/>
          </a:xfrm>
          <a:prstGeom prst="rect">
            <a:avLst/>
          </a:prstGeom>
          <a:noFill/>
        </p:spPr>
        <p:txBody>
          <a:bodyPr wrap="square" anchor="t" lIns="0" rIns="0" tIns="0" bIns="0">
            <a:spAutoFit/>
          </a:bodyPr>
          <a:lstStyle/>
          <a:p>
            <a:pPr algn="ctr">
              <a:lnSpc>
                <a:spcPct val="125000"/>
              </a:lnSpc>
              <a:spcAft>
                <a:spcPts val="0"/>
              </a:spcAft>
            </a:pPr>
            <a:r>
              <a:rPr sz="1300" b="1" i="0">
                <a:solidFill>
                  <a:srgbClr val="FFFDF7"/>
                </a:solidFill>
                <a:latin typeface="Karla"/>
              </a:rPr>
              <a:t>C</a:t>
            </a:r>
          </a:p>
        </p:txBody>
      </p:sp>
      <p:sp>
        <p:nvSpPr>
          <p:cNvPr id="24" name="TextBox 23"/>
          <p:cNvSpPr txBox="1"/>
          <p:nvPr/>
        </p:nvSpPr>
        <p:spPr>
          <a:xfrm>
            <a:off x="6726936" y="3305048"/>
            <a:ext cx="1584960" cy="247903"/>
          </a:xfrm>
          <a:prstGeom prst="rect">
            <a:avLst/>
          </a:prstGeom>
          <a:noFill/>
        </p:spPr>
        <p:txBody>
          <a:bodyPr wrap="square" anchor="t" lIns="0" rIns="0" tIns="0" bIns="0">
            <a:spAutoFit/>
          </a:bodyPr>
          <a:lstStyle/>
          <a:p>
            <a:pPr algn="l">
              <a:lnSpc>
                <a:spcPct val="115000"/>
              </a:lnSpc>
              <a:spcAft>
                <a:spcPts val="0"/>
              </a:spcAft>
            </a:pPr>
            <a:r>
              <a:rPr sz="1600" b="0" i="0">
                <a:solidFill>
                  <a:srgbClr val="2E3436"/>
                </a:solidFill>
                <a:latin typeface="Karla"/>
              </a:rPr>
              <a:t>India</a:t>
            </a:r>
          </a:p>
        </p:txBody>
      </p:sp>
      <p:sp>
        <p:nvSpPr>
          <p:cNvPr id="25" name="TextBox 24"/>
          <p:cNvSpPr txBox="1"/>
          <p:nvPr/>
        </p:nvSpPr>
        <p:spPr>
          <a:xfrm>
            <a:off x="685800" y="4169663"/>
            <a:ext cx="7772400" cy="274320"/>
          </a:xfrm>
          <a:prstGeom prst="rect">
            <a:avLst/>
          </a:prstGeom>
          <a:noFill/>
        </p:spPr>
        <p:txBody>
          <a:bodyPr wrap="square" anchor="t" lIns="0" rIns="0" tIns="0" bIns="0">
            <a:spAutoFit/>
          </a:bodyPr>
          <a:lstStyle/>
          <a:p>
            <a:pPr algn="ctr">
              <a:lnSpc>
                <a:spcPct val="125000"/>
              </a:lnSpc>
              <a:spcAft>
                <a:spcPts val="0"/>
              </a:spcAft>
            </a:pPr>
            <a:r>
              <a:rPr sz="1150" b="0" i="1">
                <a:solidFill>
                  <a:srgbClr val="5C6552"/>
                </a:solidFill>
                <a:latin typeface="Karla"/>
              </a:rPr>
              <a:t>Agree it as a team, then tick it on the sheet.</a:t>
            </a:r>
          </a:p>
        </p:txBody>
      </p:sp>
      <p:pic>
        <p:nvPicPr>
          <p:cNvPr id="26" name="Picture 25" descr="logo-mark.png"/>
          <p:cNvPicPr>
            <a:picLocks noChangeAspect="1"/>
          </p:cNvPicPr>
          <p:nvPr/>
        </p:nvPicPr>
        <p:blipFill>
          <a:blip r:embed="rId2"/>
          <a:stretch>
            <a:fillRect/>
          </a:stretch>
        </p:blipFill>
        <p:spPr>
          <a:xfrm>
            <a:off x="384048" y="4727448"/>
            <a:ext cx="158374" cy="182880"/>
          </a:xfrm>
          <a:prstGeom prst="rect">
            <a:avLst/>
          </a:prstGeom>
        </p:spPr>
      </p:pic>
      <p:sp>
        <p:nvSpPr>
          <p:cNvPr id="27" name="TextBox 26"/>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8" name="TextBox 27"/>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10 /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2F5A44"/>
                </a:solidFill>
                <a:latin typeface="Karla"/>
              </a:rPr>
              <a:t>CHRISTMAS QUIZ  ·  ROUND TWO  ·  QUESTION 8 OF 10</a:t>
            </a:r>
          </a:p>
        </p:txBody>
      </p:sp>
      <p:sp>
        <p:nvSpPr>
          <p:cNvPr id="4" name="Rounded Rectangle 3"/>
          <p:cNvSpPr/>
          <p:nvPr/>
        </p:nvSpPr>
        <p:spPr>
          <a:xfrm>
            <a:off x="685800" y="1094232"/>
            <a:ext cx="7772400" cy="1341120"/>
          </a:xfrm>
          <a:prstGeom prst="roundRect">
            <a:avLst>
              <a:gd name="adj" fmla="val 6000"/>
            </a:avLst>
          </a:prstGeom>
          <a:solidFill>
            <a:srgbClr val="EE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094232"/>
            <a:ext cx="7772400" cy="54864"/>
          </a:xfrm>
          <a:prstGeom prst="rect">
            <a:avLst/>
          </a:prstGeom>
          <a:solidFill>
            <a:srgbClr val="B958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463040"/>
            <a:ext cx="603504" cy="603504"/>
          </a:xfrm>
          <a:prstGeom prst="ellipse">
            <a:avLst/>
          </a:prstGeom>
          <a:solidFill>
            <a:srgbClr val="963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91056"/>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8</a:t>
            </a:r>
          </a:p>
        </p:txBody>
      </p:sp>
      <p:sp>
        <p:nvSpPr>
          <p:cNvPr id="8" name="TextBox 7"/>
          <p:cNvSpPr txBox="1"/>
          <p:nvPr/>
        </p:nvSpPr>
        <p:spPr>
          <a:xfrm>
            <a:off x="1783080" y="1386840"/>
            <a:ext cx="6309360" cy="755904"/>
          </a:xfrm>
          <a:prstGeom prst="rect">
            <a:avLst/>
          </a:prstGeom>
          <a:noFill/>
        </p:spPr>
        <p:txBody>
          <a:bodyPr wrap="square" anchor="t" lIns="0" rIns="0" tIns="0" bIns="0">
            <a:spAutoFit/>
          </a:bodyPr>
          <a:lstStyle/>
          <a:p>
            <a:pPr algn="l">
              <a:lnSpc>
                <a:spcPct val="112000"/>
              </a:lnSpc>
              <a:spcAft>
                <a:spcPts val="0"/>
              </a:spcAft>
            </a:pPr>
            <a:r>
              <a:rPr sz="2400" b="1" i="0">
                <a:solidFill>
                  <a:srgbClr val="2F5A44"/>
                </a:solidFill>
                <a:latin typeface="Libre Caslon Display"/>
              </a:rPr>
              <a:t>“Carol of the Bells” started as a song from which country?</a:t>
            </a:r>
          </a:p>
        </p:txBody>
      </p:sp>
      <p:sp>
        <p:nvSpPr>
          <p:cNvPr id="9" name="Rectangle 8"/>
          <p:cNvSpPr/>
          <p:nvPr/>
        </p:nvSpPr>
        <p:spPr>
          <a:xfrm>
            <a:off x="1965960" y="3368040"/>
            <a:ext cx="5212080" cy="27432"/>
          </a:xfrm>
          <a:prstGeom prst="rect">
            <a:avLst/>
          </a:prstGeom>
          <a:solidFill>
            <a:srgbClr val="B958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514344"/>
            <a:ext cx="7772400" cy="274320"/>
          </a:xfrm>
          <a:prstGeom prst="rect">
            <a:avLst/>
          </a:prstGeom>
          <a:noFill/>
        </p:spPr>
        <p:txBody>
          <a:bodyPr wrap="square" anchor="t" lIns="0" rIns="0" tIns="0" bIns="0">
            <a:spAutoFit/>
          </a:bodyPr>
          <a:lstStyle/>
          <a:p>
            <a:pPr algn="ctr">
              <a:lnSpc>
                <a:spcPct val="125000"/>
              </a:lnSpc>
              <a:spcAft>
                <a:spcPts val="0"/>
              </a:spcAft>
            </a:pPr>
            <a:r>
              <a:rPr sz="1200" b="0" i="1">
                <a:solidFill>
                  <a:srgbClr val="8B9179"/>
                </a:solidFill>
                <a:latin typeface="Karla"/>
              </a:rPr>
              <a:t>Agree it as a team, then write it on the sheet.</a:t>
            </a:r>
          </a:p>
        </p:txBody>
      </p:sp>
      <p:pic>
        <p:nvPicPr>
          <p:cNvPr id="11" name="Picture 10" descr="logo-mark.png"/>
          <p:cNvPicPr>
            <a:picLocks noChangeAspect="1"/>
          </p:cNvPicPr>
          <p:nvPr/>
        </p:nvPicPr>
        <p:blipFill>
          <a:blip r:embed="rId2"/>
          <a:stretch>
            <a:fillRect/>
          </a:stretch>
        </p:blipFill>
        <p:spPr>
          <a:xfrm>
            <a:off x="384048" y="4727448"/>
            <a:ext cx="158374" cy="182880"/>
          </a:xfrm>
          <a:prstGeom prst="rect">
            <a:avLst/>
          </a:prstGeom>
        </p:spPr>
      </p:pic>
      <p:sp>
        <p:nvSpPr>
          <p:cNvPr id="12" name="TextBox 11"/>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3" name="TextBox 12"/>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11 /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2F5A44"/>
                </a:solidFill>
                <a:latin typeface="Karla"/>
              </a:rPr>
              <a:t>CHRISTMAS QUIZ  ·  ROUND TWO  ·  QUESTION 9 OF 10</a:t>
            </a:r>
          </a:p>
        </p:txBody>
      </p:sp>
      <p:sp>
        <p:nvSpPr>
          <p:cNvPr id="4" name="Rounded Rectangle 3"/>
          <p:cNvSpPr/>
          <p:nvPr/>
        </p:nvSpPr>
        <p:spPr>
          <a:xfrm>
            <a:off x="685800" y="905256"/>
            <a:ext cx="7772400" cy="1719072"/>
          </a:xfrm>
          <a:prstGeom prst="roundRect">
            <a:avLst>
              <a:gd name="adj" fmla="val 6000"/>
            </a:avLst>
          </a:prstGeom>
          <a:solidFill>
            <a:srgbClr val="EE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905256"/>
            <a:ext cx="7772400" cy="54864"/>
          </a:xfrm>
          <a:prstGeom prst="rect">
            <a:avLst/>
          </a:prstGeom>
          <a:solidFill>
            <a:srgbClr val="B958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463040"/>
            <a:ext cx="603504" cy="603504"/>
          </a:xfrm>
          <a:prstGeom prst="ellipse">
            <a:avLst/>
          </a:prstGeom>
          <a:solidFill>
            <a:srgbClr val="963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91056"/>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9</a:t>
            </a:r>
          </a:p>
        </p:txBody>
      </p:sp>
      <p:sp>
        <p:nvSpPr>
          <p:cNvPr id="8" name="TextBox 7"/>
          <p:cNvSpPr txBox="1"/>
          <p:nvPr/>
        </p:nvSpPr>
        <p:spPr>
          <a:xfrm>
            <a:off x="1783080" y="1197864"/>
            <a:ext cx="6309360" cy="1133856"/>
          </a:xfrm>
          <a:prstGeom prst="rect">
            <a:avLst/>
          </a:prstGeom>
          <a:noFill/>
        </p:spPr>
        <p:txBody>
          <a:bodyPr wrap="square" anchor="t" lIns="0" rIns="0" tIns="0" bIns="0">
            <a:spAutoFit/>
          </a:bodyPr>
          <a:lstStyle/>
          <a:p>
            <a:pPr algn="l">
              <a:lnSpc>
                <a:spcPct val="112000"/>
              </a:lnSpc>
              <a:spcAft>
                <a:spcPts val="0"/>
              </a:spcAft>
            </a:pPr>
            <a:r>
              <a:rPr sz="2400" b="1" i="0">
                <a:solidFill>
                  <a:srgbClr val="2F5A44"/>
                </a:solidFill>
                <a:latin typeface="Libre Caslon Display"/>
              </a:rPr>
              <a:t>In Poland, families set an extra place at the Christmas Eve table. Who is it for?</a:t>
            </a:r>
          </a:p>
        </p:txBody>
      </p:sp>
      <p:sp>
        <p:nvSpPr>
          <p:cNvPr id="9" name="Rectangle 8"/>
          <p:cNvSpPr/>
          <p:nvPr/>
        </p:nvSpPr>
        <p:spPr>
          <a:xfrm>
            <a:off x="1965960" y="3557016"/>
            <a:ext cx="5212080" cy="27432"/>
          </a:xfrm>
          <a:prstGeom prst="rect">
            <a:avLst/>
          </a:prstGeom>
          <a:solidFill>
            <a:srgbClr val="B958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703320"/>
            <a:ext cx="7772400" cy="274320"/>
          </a:xfrm>
          <a:prstGeom prst="rect">
            <a:avLst/>
          </a:prstGeom>
          <a:noFill/>
        </p:spPr>
        <p:txBody>
          <a:bodyPr wrap="square" anchor="t" lIns="0" rIns="0" tIns="0" bIns="0">
            <a:spAutoFit/>
          </a:bodyPr>
          <a:lstStyle/>
          <a:p>
            <a:pPr algn="ctr">
              <a:lnSpc>
                <a:spcPct val="125000"/>
              </a:lnSpc>
              <a:spcAft>
                <a:spcPts val="0"/>
              </a:spcAft>
            </a:pPr>
            <a:r>
              <a:rPr sz="1200" b="0" i="1">
                <a:solidFill>
                  <a:srgbClr val="8B9179"/>
                </a:solidFill>
                <a:latin typeface="Karla"/>
              </a:rPr>
              <a:t>Agree it as a team, then write it on the sheet.</a:t>
            </a:r>
          </a:p>
        </p:txBody>
      </p:sp>
      <p:pic>
        <p:nvPicPr>
          <p:cNvPr id="11" name="Picture 10" descr="logo-mark.png"/>
          <p:cNvPicPr>
            <a:picLocks noChangeAspect="1"/>
          </p:cNvPicPr>
          <p:nvPr/>
        </p:nvPicPr>
        <p:blipFill>
          <a:blip r:embed="rId2"/>
          <a:stretch>
            <a:fillRect/>
          </a:stretch>
        </p:blipFill>
        <p:spPr>
          <a:xfrm>
            <a:off x="384048" y="4727448"/>
            <a:ext cx="158374" cy="182880"/>
          </a:xfrm>
          <a:prstGeom prst="rect">
            <a:avLst/>
          </a:prstGeom>
        </p:spPr>
      </p:pic>
      <p:sp>
        <p:nvSpPr>
          <p:cNvPr id="12" name="TextBox 11"/>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3" name="TextBox 12"/>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12 /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2F5A44"/>
                </a:solidFill>
                <a:latin typeface="Karla"/>
              </a:rPr>
              <a:t>CHRISTMAS QUIZ  ·  ROUND TWO  ·  QUESTION 10 OF 10</a:t>
            </a:r>
          </a:p>
        </p:txBody>
      </p:sp>
      <p:sp>
        <p:nvSpPr>
          <p:cNvPr id="4" name="Rounded Rectangle 3"/>
          <p:cNvSpPr/>
          <p:nvPr/>
        </p:nvSpPr>
        <p:spPr>
          <a:xfrm>
            <a:off x="685800" y="905256"/>
            <a:ext cx="7772400" cy="1719072"/>
          </a:xfrm>
          <a:prstGeom prst="roundRect">
            <a:avLst>
              <a:gd name="adj" fmla="val 6000"/>
            </a:avLst>
          </a:prstGeom>
          <a:solidFill>
            <a:srgbClr val="EE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905256"/>
            <a:ext cx="7772400" cy="54864"/>
          </a:xfrm>
          <a:prstGeom prst="rect">
            <a:avLst/>
          </a:prstGeom>
          <a:solidFill>
            <a:srgbClr val="B958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463040"/>
            <a:ext cx="603504" cy="603504"/>
          </a:xfrm>
          <a:prstGeom prst="ellipse">
            <a:avLst/>
          </a:prstGeom>
          <a:solidFill>
            <a:srgbClr val="963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91056"/>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10</a:t>
            </a:r>
          </a:p>
        </p:txBody>
      </p:sp>
      <p:sp>
        <p:nvSpPr>
          <p:cNvPr id="8" name="TextBox 7"/>
          <p:cNvSpPr txBox="1"/>
          <p:nvPr/>
        </p:nvSpPr>
        <p:spPr>
          <a:xfrm>
            <a:off x="1783080" y="1197864"/>
            <a:ext cx="6309360" cy="1133856"/>
          </a:xfrm>
          <a:prstGeom prst="rect">
            <a:avLst/>
          </a:prstGeom>
          <a:noFill/>
        </p:spPr>
        <p:txBody>
          <a:bodyPr wrap="square" anchor="t" lIns="0" rIns="0" tIns="0" bIns="0">
            <a:spAutoFit/>
          </a:bodyPr>
          <a:lstStyle/>
          <a:p>
            <a:pPr algn="l">
              <a:lnSpc>
                <a:spcPct val="112000"/>
              </a:lnSpc>
              <a:spcAft>
                <a:spcPts val="0"/>
              </a:spcAft>
            </a:pPr>
            <a:r>
              <a:rPr sz="2400" b="1" i="0">
                <a:solidFill>
                  <a:srgbClr val="2F5A44"/>
                </a:solidFill>
                <a:latin typeface="Libre Caslon Display"/>
              </a:rPr>
              <a:t>Iceland’s tradition of giving books on Christmas Eve is called the Christmas Book… what?</a:t>
            </a:r>
          </a:p>
        </p:txBody>
      </p:sp>
      <p:sp>
        <p:nvSpPr>
          <p:cNvPr id="9" name="Rectangle 8"/>
          <p:cNvSpPr/>
          <p:nvPr/>
        </p:nvSpPr>
        <p:spPr>
          <a:xfrm>
            <a:off x="1965960" y="3557016"/>
            <a:ext cx="5212080" cy="27432"/>
          </a:xfrm>
          <a:prstGeom prst="rect">
            <a:avLst/>
          </a:prstGeom>
          <a:solidFill>
            <a:srgbClr val="B958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703320"/>
            <a:ext cx="7772400" cy="274320"/>
          </a:xfrm>
          <a:prstGeom prst="rect">
            <a:avLst/>
          </a:prstGeom>
          <a:noFill/>
        </p:spPr>
        <p:txBody>
          <a:bodyPr wrap="square" anchor="t" lIns="0" rIns="0" tIns="0" bIns="0">
            <a:spAutoFit/>
          </a:bodyPr>
          <a:lstStyle/>
          <a:p>
            <a:pPr algn="ctr">
              <a:lnSpc>
                <a:spcPct val="125000"/>
              </a:lnSpc>
              <a:spcAft>
                <a:spcPts val="0"/>
              </a:spcAft>
            </a:pPr>
            <a:r>
              <a:rPr sz="1200" b="0" i="1">
                <a:solidFill>
                  <a:srgbClr val="8B9179"/>
                </a:solidFill>
                <a:latin typeface="Karla"/>
              </a:rPr>
              <a:t>Agree it as a team, then write it on the sheet.</a:t>
            </a:r>
          </a:p>
        </p:txBody>
      </p:sp>
      <p:pic>
        <p:nvPicPr>
          <p:cNvPr id="11" name="Picture 10" descr="logo-mark.png"/>
          <p:cNvPicPr>
            <a:picLocks noChangeAspect="1"/>
          </p:cNvPicPr>
          <p:nvPr/>
        </p:nvPicPr>
        <p:blipFill>
          <a:blip r:embed="rId2"/>
          <a:stretch>
            <a:fillRect/>
          </a:stretch>
        </p:blipFill>
        <p:spPr>
          <a:xfrm>
            <a:off x="384048" y="4727448"/>
            <a:ext cx="158374" cy="182880"/>
          </a:xfrm>
          <a:prstGeom prst="rect">
            <a:avLst/>
          </a:prstGeom>
        </p:spPr>
      </p:pic>
      <p:sp>
        <p:nvSpPr>
          <p:cNvPr id="12" name="TextBox 11"/>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3" name="TextBox 12"/>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13 /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049462" y="914400"/>
            <a:ext cx="1045075" cy="237744"/>
          </a:xfrm>
          <a:prstGeom prst="roundRect">
            <a:avLst>
              <a:gd name="adj" fmla="val 50000"/>
            </a:avLst>
          </a:prstGeom>
          <a:solidFill>
            <a:srgbClr val="C6D5C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F5A44"/>
                </a:solidFill>
                <a:latin typeface="Karla"/>
              </a:rPr>
              <a:t>ANSWERS</a:t>
            </a:r>
          </a:p>
        </p:txBody>
      </p:sp>
      <p:sp>
        <p:nvSpPr>
          <p:cNvPr id="4" name="TextBox 3"/>
          <p:cNvSpPr txBox="1"/>
          <p:nvPr/>
        </p:nvSpPr>
        <p:spPr>
          <a:xfrm>
            <a:off x="548640" y="1481328"/>
            <a:ext cx="8046720" cy="731520"/>
          </a:xfrm>
          <a:prstGeom prst="rect">
            <a:avLst/>
          </a:prstGeom>
          <a:noFill/>
        </p:spPr>
        <p:txBody>
          <a:bodyPr wrap="square" anchor="t" lIns="0" rIns="0" tIns="0" bIns="0">
            <a:spAutoFit/>
          </a:bodyPr>
          <a:lstStyle/>
          <a:p>
            <a:pPr algn="ctr">
              <a:lnSpc>
                <a:spcPct val="105000"/>
              </a:lnSpc>
              <a:spcAft>
                <a:spcPts val="0"/>
              </a:spcAft>
            </a:pPr>
            <a:r>
              <a:rPr sz="4000" b="1" i="0">
                <a:solidFill>
                  <a:srgbClr val="FFFDF7"/>
                </a:solidFill>
                <a:latin typeface="Libre Caslon Display"/>
              </a:rPr>
              <a:t>Swap sheets</a:t>
            </a:r>
          </a:p>
        </p:txBody>
      </p:sp>
      <p:sp>
        <p:nvSpPr>
          <p:cNvPr id="5" name="Rectangle 4"/>
          <p:cNvSpPr/>
          <p:nvPr/>
        </p:nvSpPr>
        <p:spPr>
          <a:xfrm>
            <a:off x="4114800" y="2487168"/>
            <a:ext cx="914400" cy="18288"/>
          </a:xfrm>
          <a:prstGeom prst="rect">
            <a:avLst/>
          </a:prstGeom>
          <a:solidFill>
            <a:srgbClr val="C6D5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724912"/>
            <a:ext cx="6583680" cy="914400"/>
          </a:xfrm>
          <a:prstGeom prst="rect">
            <a:avLst/>
          </a:prstGeom>
          <a:noFill/>
        </p:spPr>
        <p:txBody>
          <a:bodyPr wrap="square" anchor="t" lIns="0" rIns="0" tIns="0" bIns="0">
            <a:spAutoFit/>
          </a:bodyPr>
          <a:lstStyle/>
          <a:p>
            <a:pPr algn="ctr">
              <a:lnSpc>
                <a:spcPct val="130000"/>
              </a:lnSpc>
              <a:spcAft>
                <a:spcPts val="0"/>
              </a:spcAft>
            </a:pPr>
            <a:r>
              <a:rPr sz="1500" b="0" i="0">
                <a:solidFill>
                  <a:srgbClr val="C6D5CA"/>
                </a:solidFill>
                <a:latin typeface="Karla"/>
              </a:rPr>
              <a:t>Swap with the team next to you. Give one mark for each right answer, then add up the score out of ten.</a:t>
            </a:r>
          </a:p>
        </p:txBody>
      </p:sp>
      <p:pic>
        <p:nvPicPr>
          <p:cNvPr id="7" name="Picture 6" descr="logo-mark.png"/>
          <p:cNvPicPr>
            <a:picLocks noChangeAspect="1"/>
          </p:cNvPicPr>
          <p:nvPr/>
        </p:nvPicPr>
        <p:blipFill>
          <a:blip r:embed="rId2"/>
          <a:stretch>
            <a:fillRect/>
          </a:stretch>
        </p:blipFill>
        <p:spPr>
          <a:xfrm>
            <a:off x="384048" y="4727448"/>
            <a:ext cx="158374" cy="182880"/>
          </a:xfrm>
          <a:prstGeom prst="rect">
            <a:avLst/>
          </a:prstGeom>
        </p:spPr>
      </p:pic>
      <p:sp>
        <p:nvSpPr>
          <p:cNvPr id="8" name="TextBox 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C6D5CA"/>
                </a:solidFill>
                <a:latin typeface="Karla"/>
              </a:rPr>
              <a:t>The Pastoral Guide</a:t>
            </a:r>
          </a:p>
        </p:txBody>
      </p:sp>
      <p:sp>
        <p:nvSpPr>
          <p:cNvPr id="9" name="TextBox 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C6D5CA"/>
                </a:solidFill>
                <a:latin typeface="Karla"/>
              </a:rPr>
              <a:t>14 /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2F5A44"/>
                </a:solidFill>
                <a:latin typeface="Karla"/>
              </a:rPr>
              <a:t>CHRISTMAS QUIZ  ·  ANSWERS  ·  QUESTION 1</a:t>
            </a:r>
          </a:p>
        </p:txBody>
      </p:sp>
      <p:sp>
        <p:nvSpPr>
          <p:cNvPr id="4" name="TextBox 3"/>
          <p:cNvSpPr txBox="1"/>
          <p:nvPr/>
        </p:nvSpPr>
        <p:spPr>
          <a:xfrm>
            <a:off x="685800" y="1370203"/>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Coca-Cola invented the red Santa suit.</a:t>
            </a:r>
          </a:p>
        </p:txBody>
      </p:sp>
      <p:sp>
        <p:nvSpPr>
          <p:cNvPr id="5" name="TextBox 4"/>
          <p:cNvSpPr txBox="1"/>
          <p:nvPr/>
        </p:nvSpPr>
        <p:spPr>
          <a:xfrm>
            <a:off x="685800" y="1775333"/>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2F5A44"/>
                </a:solidFill>
                <a:latin typeface="Libre Caslon Display"/>
              </a:rPr>
              <a:t>Myth</a:t>
            </a:r>
          </a:p>
        </p:txBody>
      </p:sp>
      <p:sp>
        <p:nvSpPr>
          <p:cNvPr id="6" name="Rounded Rectangle 5"/>
          <p:cNvSpPr/>
          <p:nvPr/>
        </p:nvSpPr>
        <p:spPr>
          <a:xfrm>
            <a:off x="685800" y="2561717"/>
            <a:ext cx="7772400" cy="1280160"/>
          </a:xfrm>
          <a:prstGeom prst="roundRect">
            <a:avLst>
              <a:gd name="adj" fmla="val 6000"/>
            </a:avLst>
          </a:prstGeom>
          <a:solidFill>
            <a:srgbClr val="EE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561717"/>
            <a:ext cx="64008" cy="1280160"/>
          </a:xfrm>
          <a:prstGeom prst="rect">
            <a:avLst/>
          </a:prstGeom>
          <a:solidFill>
            <a:srgbClr val="B958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799461"/>
            <a:ext cx="7040880" cy="804672"/>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Santa was being drawn in red long before Coca-Cola’s Christmas adverts began in 1931. Coca-Cola’s own history page says the story is not true.</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15 /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2F5A44"/>
                </a:solidFill>
                <a:latin typeface="Karla"/>
              </a:rPr>
              <a:t>CHRISTMAS QUIZ  ·  ANSWERS  ·  QUESTION 2</a:t>
            </a:r>
          </a:p>
        </p:txBody>
      </p:sp>
      <p:sp>
        <p:nvSpPr>
          <p:cNvPr id="4" name="TextBox 3"/>
          <p:cNvSpPr txBox="1"/>
          <p:nvPr/>
        </p:nvSpPr>
        <p:spPr>
          <a:xfrm>
            <a:off x="685800" y="1370203"/>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Writing “Xmas” is a modern way of taking Christ out of Christmas.</a:t>
            </a:r>
          </a:p>
        </p:txBody>
      </p:sp>
      <p:sp>
        <p:nvSpPr>
          <p:cNvPr id="5" name="TextBox 4"/>
          <p:cNvSpPr txBox="1"/>
          <p:nvPr/>
        </p:nvSpPr>
        <p:spPr>
          <a:xfrm>
            <a:off x="685800" y="1775333"/>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2F5A44"/>
                </a:solidFill>
                <a:latin typeface="Libre Caslon Display"/>
              </a:rPr>
              <a:t>Myth</a:t>
            </a:r>
          </a:p>
        </p:txBody>
      </p:sp>
      <p:sp>
        <p:nvSpPr>
          <p:cNvPr id="6" name="Rounded Rectangle 5"/>
          <p:cNvSpPr/>
          <p:nvPr/>
        </p:nvSpPr>
        <p:spPr>
          <a:xfrm>
            <a:off x="685800" y="2561717"/>
            <a:ext cx="7772400" cy="1280160"/>
          </a:xfrm>
          <a:prstGeom prst="roundRect">
            <a:avLst>
              <a:gd name="adj" fmla="val 6000"/>
            </a:avLst>
          </a:prstGeom>
          <a:solidFill>
            <a:srgbClr val="EE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561717"/>
            <a:ext cx="64008" cy="1280160"/>
          </a:xfrm>
          <a:prstGeom prst="rect">
            <a:avLst/>
          </a:prstGeom>
          <a:solidFill>
            <a:srgbClr val="B958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799461"/>
            <a:ext cx="7040880" cy="804672"/>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X is the Greek letter chi, the first letter of Christ in Greek. Scribes have used it as a short form for around 900 years, and “Xmas” was in use by 1721.</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16 /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2F5A44"/>
                </a:solidFill>
                <a:latin typeface="Karla"/>
              </a:rPr>
              <a:t>CHRISTMAS QUIZ  ·  ANSWERS  ·  QUESTION 3</a:t>
            </a:r>
          </a:p>
        </p:txBody>
      </p:sp>
      <p:sp>
        <p:nvSpPr>
          <p:cNvPr id="4" name="TextBox 3"/>
          <p:cNvSpPr txBox="1"/>
          <p:nvPr/>
        </p:nvSpPr>
        <p:spPr>
          <a:xfrm>
            <a:off x="685800" y="1393190"/>
            <a:ext cx="7772400" cy="44450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A giant straw goat built every Christmas in Gävle, Sweden, has been destroyed more often than it has survived.</a:t>
            </a:r>
          </a:p>
        </p:txBody>
      </p:sp>
      <p:sp>
        <p:nvSpPr>
          <p:cNvPr id="5" name="TextBox 4"/>
          <p:cNvSpPr txBox="1"/>
          <p:nvPr/>
        </p:nvSpPr>
        <p:spPr>
          <a:xfrm>
            <a:off x="685800" y="2020570"/>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2F5A44"/>
                </a:solidFill>
                <a:latin typeface="Libre Caslon Display"/>
              </a:rPr>
              <a:t>Fact</a:t>
            </a:r>
          </a:p>
        </p:txBody>
      </p:sp>
      <p:sp>
        <p:nvSpPr>
          <p:cNvPr id="6" name="Rounded Rectangle 5"/>
          <p:cNvSpPr/>
          <p:nvPr/>
        </p:nvSpPr>
        <p:spPr>
          <a:xfrm>
            <a:off x="685800" y="2806954"/>
            <a:ext cx="7772400" cy="1011936"/>
          </a:xfrm>
          <a:prstGeom prst="roundRect">
            <a:avLst>
              <a:gd name="adj" fmla="val 6000"/>
            </a:avLst>
          </a:prstGeom>
          <a:solidFill>
            <a:srgbClr val="EE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806954"/>
            <a:ext cx="64008" cy="1011936"/>
          </a:xfrm>
          <a:prstGeom prst="rect">
            <a:avLst/>
          </a:prstGeom>
          <a:solidFill>
            <a:srgbClr val="B958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3044698"/>
            <a:ext cx="7040880" cy="536448"/>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Up to 2025, 43 of the 60 goats built since 1966 had been burned or damaged. One was burned on the day it went up.</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17 /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2F5A44"/>
                </a:solidFill>
                <a:latin typeface="Karla"/>
              </a:rPr>
              <a:t>CHRISTMAS QUIZ  ·  ANSWERS  ·  QUESTION 4</a:t>
            </a:r>
          </a:p>
        </p:txBody>
      </p:sp>
      <p:sp>
        <p:nvSpPr>
          <p:cNvPr id="4" name="TextBox 3"/>
          <p:cNvSpPr txBox="1"/>
          <p:nvPr/>
        </p:nvSpPr>
        <p:spPr>
          <a:xfrm>
            <a:off x="685800" y="1370203"/>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In the Czech Republic, some families keep their Christmas dinner alive in the bath.</a:t>
            </a:r>
          </a:p>
        </p:txBody>
      </p:sp>
      <p:sp>
        <p:nvSpPr>
          <p:cNvPr id="5" name="TextBox 4"/>
          <p:cNvSpPr txBox="1"/>
          <p:nvPr/>
        </p:nvSpPr>
        <p:spPr>
          <a:xfrm>
            <a:off x="685800" y="1775333"/>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2F5A44"/>
                </a:solidFill>
                <a:latin typeface="Libre Caslon Display"/>
              </a:rPr>
              <a:t>Fact</a:t>
            </a:r>
          </a:p>
        </p:txBody>
      </p:sp>
      <p:sp>
        <p:nvSpPr>
          <p:cNvPr id="6" name="Rounded Rectangle 5"/>
          <p:cNvSpPr/>
          <p:nvPr/>
        </p:nvSpPr>
        <p:spPr>
          <a:xfrm>
            <a:off x="685800" y="2561717"/>
            <a:ext cx="7772400" cy="1280160"/>
          </a:xfrm>
          <a:prstGeom prst="roundRect">
            <a:avLst>
              <a:gd name="adj" fmla="val 6000"/>
            </a:avLst>
          </a:prstGeom>
          <a:solidFill>
            <a:srgbClr val="EE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561717"/>
            <a:ext cx="64008" cy="1280160"/>
          </a:xfrm>
          <a:prstGeom prst="rect">
            <a:avLst/>
          </a:prstGeom>
          <a:solidFill>
            <a:srgbClr val="B958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799461"/>
            <a:ext cx="7040880" cy="804672"/>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The traditional Christmas Eve meal is carp, sold live from tanks in the street. Some families keep it swimming in the bath until it is cooked, though vets now advise against it.</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18 /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2F5A44"/>
                </a:solidFill>
                <a:latin typeface="Karla"/>
              </a:rPr>
              <a:t>CHRISTMAS QUIZ  ·  ANSWERS  ·  QUESTION 5</a:t>
            </a:r>
          </a:p>
        </p:txBody>
      </p:sp>
      <p:sp>
        <p:nvSpPr>
          <p:cNvPr id="4" name="TextBox 3"/>
          <p:cNvSpPr txBox="1"/>
          <p:nvPr/>
        </p:nvSpPr>
        <p:spPr>
          <a:xfrm>
            <a:off x="685800" y="1504315"/>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When does Ethiopia celebrate Christmas?</a:t>
            </a:r>
          </a:p>
        </p:txBody>
      </p:sp>
      <p:sp>
        <p:nvSpPr>
          <p:cNvPr id="5" name="TextBox 4"/>
          <p:cNvSpPr txBox="1"/>
          <p:nvPr/>
        </p:nvSpPr>
        <p:spPr>
          <a:xfrm>
            <a:off x="685800" y="1909445"/>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2F5A44"/>
                </a:solidFill>
                <a:latin typeface="Libre Caslon Display"/>
              </a:rPr>
              <a:t>B.  7 January</a:t>
            </a:r>
          </a:p>
        </p:txBody>
      </p:sp>
      <p:sp>
        <p:nvSpPr>
          <p:cNvPr id="6" name="Rounded Rectangle 5"/>
          <p:cNvSpPr/>
          <p:nvPr/>
        </p:nvSpPr>
        <p:spPr>
          <a:xfrm>
            <a:off x="685800" y="2695829"/>
            <a:ext cx="7772400" cy="1011936"/>
          </a:xfrm>
          <a:prstGeom prst="roundRect">
            <a:avLst>
              <a:gd name="adj" fmla="val 6000"/>
            </a:avLst>
          </a:prstGeom>
          <a:solidFill>
            <a:srgbClr val="EE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695829"/>
            <a:ext cx="64008" cy="1011936"/>
          </a:xfrm>
          <a:prstGeom prst="rect">
            <a:avLst/>
          </a:prstGeom>
          <a:solidFill>
            <a:srgbClr val="B958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933573"/>
            <a:ext cx="7040880" cy="536448"/>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The Ethiopian Orthodox Church follows an older calendar. Christmas is called Genna, and many people fast for 43 days beforehand.</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19 /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2F5A44"/>
                </a:solidFill>
                <a:latin typeface="Karla"/>
              </a:rPr>
              <a:t>CHRISTMAS QUIZ  ·  ANSWERS  ·  QUESTION 6</a:t>
            </a:r>
          </a:p>
        </p:txBody>
      </p:sp>
      <p:sp>
        <p:nvSpPr>
          <p:cNvPr id="4" name="TextBox 3"/>
          <p:cNvSpPr txBox="1"/>
          <p:nvPr/>
        </p:nvSpPr>
        <p:spPr>
          <a:xfrm>
            <a:off x="685800" y="1393190"/>
            <a:ext cx="7772400" cy="44450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In Caracas, Venezuela, how did many people traditionally travel to early morning Christmas church services?</a:t>
            </a:r>
          </a:p>
        </p:txBody>
      </p:sp>
      <p:sp>
        <p:nvSpPr>
          <p:cNvPr id="5" name="TextBox 4"/>
          <p:cNvSpPr txBox="1"/>
          <p:nvPr/>
        </p:nvSpPr>
        <p:spPr>
          <a:xfrm>
            <a:off x="685800" y="2020570"/>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2F5A44"/>
                </a:solidFill>
                <a:latin typeface="Libre Caslon Display"/>
              </a:rPr>
              <a:t>C.  On roller skates</a:t>
            </a:r>
          </a:p>
        </p:txBody>
      </p:sp>
      <p:sp>
        <p:nvSpPr>
          <p:cNvPr id="6" name="Rounded Rectangle 5"/>
          <p:cNvSpPr/>
          <p:nvPr/>
        </p:nvSpPr>
        <p:spPr>
          <a:xfrm>
            <a:off x="685800" y="2806954"/>
            <a:ext cx="7772400" cy="1011936"/>
          </a:xfrm>
          <a:prstGeom prst="roundRect">
            <a:avLst>
              <a:gd name="adj" fmla="val 6000"/>
            </a:avLst>
          </a:prstGeom>
          <a:solidFill>
            <a:srgbClr val="EE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806954"/>
            <a:ext cx="64008" cy="1011936"/>
          </a:xfrm>
          <a:prstGeom prst="rect">
            <a:avLst/>
          </a:prstGeom>
          <a:solidFill>
            <a:srgbClr val="B958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3044698"/>
            <a:ext cx="7040880" cy="536448"/>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Some roads were closed to cars early in the morning so skaters could get there safely. The custom is less common now.</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20 /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2F5A44"/>
                </a:solidFill>
                <a:latin typeface="Karla"/>
              </a:rPr>
              <a:t>CHRISTMAS QUIZ  ·  ANSWERS  ·  QUESTION 7</a:t>
            </a:r>
          </a:p>
        </p:txBody>
      </p:sp>
      <p:sp>
        <p:nvSpPr>
          <p:cNvPr id="4" name="TextBox 3"/>
          <p:cNvSpPr txBox="1"/>
          <p:nvPr/>
        </p:nvSpPr>
        <p:spPr>
          <a:xfrm>
            <a:off x="685800" y="1504315"/>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The poinsettia, the red Christmas plant, first grew wild in which country?</a:t>
            </a:r>
          </a:p>
        </p:txBody>
      </p:sp>
      <p:sp>
        <p:nvSpPr>
          <p:cNvPr id="5" name="TextBox 4"/>
          <p:cNvSpPr txBox="1"/>
          <p:nvPr/>
        </p:nvSpPr>
        <p:spPr>
          <a:xfrm>
            <a:off x="685800" y="1909445"/>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2F5A44"/>
                </a:solidFill>
                <a:latin typeface="Libre Caslon Display"/>
              </a:rPr>
              <a:t>B.  Mexico</a:t>
            </a:r>
          </a:p>
        </p:txBody>
      </p:sp>
      <p:sp>
        <p:nvSpPr>
          <p:cNvPr id="6" name="Rounded Rectangle 5"/>
          <p:cNvSpPr/>
          <p:nvPr/>
        </p:nvSpPr>
        <p:spPr>
          <a:xfrm>
            <a:off x="685800" y="2695829"/>
            <a:ext cx="7772400" cy="1011936"/>
          </a:xfrm>
          <a:prstGeom prst="roundRect">
            <a:avLst>
              <a:gd name="adj" fmla="val 6000"/>
            </a:avLst>
          </a:prstGeom>
          <a:solidFill>
            <a:srgbClr val="EE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695829"/>
            <a:ext cx="64008" cy="1011936"/>
          </a:xfrm>
          <a:prstGeom prst="rect">
            <a:avLst/>
          </a:prstGeom>
          <a:solidFill>
            <a:srgbClr val="B958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933573"/>
            <a:ext cx="7040880" cy="536448"/>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The Aztecs grew it long before it was a Christmas plant. The red parts are leaves, not petals.</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21 /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2F5A44"/>
                </a:solidFill>
                <a:latin typeface="Karla"/>
              </a:rPr>
              <a:t>CHRISTMAS QUIZ  ·  ANSWERS  ·  QUESTION 8</a:t>
            </a:r>
          </a:p>
        </p:txBody>
      </p:sp>
      <p:sp>
        <p:nvSpPr>
          <p:cNvPr id="4" name="TextBox 3"/>
          <p:cNvSpPr txBox="1"/>
          <p:nvPr/>
        </p:nvSpPr>
        <p:spPr>
          <a:xfrm>
            <a:off x="685800" y="1370203"/>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“Carol of the Bells” started as a song from which country?</a:t>
            </a:r>
          </a:p>
        </p:txBody>
      </p:sp>
      <p:sp>
        <p:nvSpPr>
          <p:cNvPr id="5" name="TextBox 4"/>
          <p:cNvSpPr txBox="1"/>
          <p:nvPr/>
        </p:nvSpPr>
        <p:spPr>
          <a:xfrm>
            <a:off x="685800" y="1775333"/>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2F5A44"/>
                </a:solidFill>
                <a:latin typeface="Libre Caslon Display"/>
              </a:rPr>
              <a:t>Ukraine</a:t>
            </a:r>
          </a:p>
        </p:txBody>
      </p:sp>
      <p:sp>
        <p:nvSpPr>
          <p:cNvPr id="6" name="Rounded Rectangle 5"/>
          <p:cNvSpPr/>
          <p:nvPr/>
        </p:nvSpPr>
        <p:spPr>
          <a:xfrm>
            <a:off x="685800" y="2561717"/>
            <a:ext cx="7772400" cy="1280160"/>
          </a:xfrm>
          <a:prstGeom prst="roundRect">
            <a:avLst>
              <a:gd name="adj" fmla="val 6000"/>
            </a:avLst>
          </a:prstGeom>
          <a:solidFill>
            <a:srgbClr val="EE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561717"/>
            <a:ext cx="64008" cy="1280160"/>
          </a:xfrm>
          <a:prstGeom prst="rect">
            <a:avLst/>
          </a:prstGeom>
          <a:solidFill>
            <a:srgbClr val="B958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799461"/>
            <a:ext cx="7040880" cy="804672"/>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It was a New Year song called “Shchedryk”, about a swallow bringing news of a good year. The English Christmas words were added in America in 1936.</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22 /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2F5A44"/>
                </a:solidFill>
                <a:latin typeface="Karla"/>
              </a:rPr>
              <a:t>CHRISTMAS QUIZ  ·  ANSWERS  ·  QUESTION 9</a:t>
            </a:r>
          </a:p>
        </p:txBody>
      </p:sp>
      <p:sp>
        <p:nvSpPr>
          <p:cNvPr id="4" name="TextBox 3"/>
          <p:cNvSpPr txBox="1"/>
          <p:nvPr/>
        </p:nvSpPr>
        <p:spPr>
          <a:xfrm>
            <a:off x="685800" y="1504315"/>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In Poland, families set an extra place at the Christmas Eve table. Who is it for?</a:t>
            </a:r>
          </a:p>
        </p:txBody>
      </p:sp>
      <p:sp>
        <p:nvSpPr>
          <p:cNvPr id="5" name="TextBox 4"/>
          <p:cNvSpPr txBox="1"/>
          <p:nvPr/>
        </p:nvSpPr>
        <p:spPr>
          <a:xfrm>
            <a:off x="685800" y="1909445"/>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2F5A44"/>
                </a:solidFill>
                <a:latin typeface="Libre Caslon Display"/>
              </a:rPr>
              <a:t>An unexpected guest</a:t>
            </a:r>
          </a:p>
        </p:txBody>
      </p:sp>
      <p:sp>
        <p:nvSpPr>
          <p:cNvPr id="6" name="Rounded Rectangle 5"/>
          <p:cNvSpPr/>
          <p:nvPr/>
        </p:nvSpPr>
        <p:spPr>
          <a:xfrm>
            <a:off x="685800" y="2695829"/>
            <a:ext cx="7772400" cy="1011936"/>
          </a:xfrm>
          <a:prstGeom prst="roundRect">
            <a:avLst>
              <a:gd name="adj" fmla="val 6000"/>
            </a:avLst>
          </a:prstGeom>
          <a:solidFill>
            <a:srgbClr val="EE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695829"/>
            <a:ext cx="64008" cy="1011936"/>
          </a:xfrm>
          <a:prstGeom prst="rect">
            <a:avLst/>
          </a:prstGeom>
          <a:solidFill>
            <a:srgbClr val="B958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933573"/>
            <a:ext cx="7040880" cy="536448"/>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It means anyone who knocks will be welcome. The meal traditionally starts when the first star appears in the sky.</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23 /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2F5A44"/>
                </a:solidFill>
                <a:latin typeface="Karla"/>
              </a:rPr>
              <a:t>CHRISTMAS QUIZ  ·  ANSWERS  ·  QUESTION 10</a:t>
            </a:r>
          </a:p>
        </p:txBody>
      </p:sp>
      <p:sp>
        <p:nvSpPr>
          <p:cNvPr id="4" name="TextBox 3"/>
          <p:cNvSpPr txBox="1"/>
          <p:nvPr/>
        </p:nvSpPr>
        <p:spPr>
          <a:xfrm>
            <a:off x="685800" y="1259078"/>
            <a:ext cx="7772400" cy="44450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Iceland’s tradition of giving books on Christmas Eve is called the Christmas Book… what?</a:t>
            </a:r>
          </a:p>
        </p:txBody>
      </p:sp>
      <p:sp>
        <p:nvSpPr>
          <p:cNvPr id="5" name="TextBox 4"/>
          <p:cNvSpPr txBox="1"/>
          <p:nvPr/>
        </p:nvSpPr>
        <p:spPr>
          <a:xfrm>
            <a:off x="685800" y="1886458"/>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2F5A44"/>
                </a:solidFill>
                <a:latin typeface="Libre Caslon Display"/>
              </a:rPr>
              <a:t>Flood</a:t>
            </a:r>
          </a:p>
        </p:txBody>
      </p:sp>
      <p:sp>
        <p:nvSpPr>
          <p:cNvPr id="6" name="Rounded Rectangle 5"/>
          <p:cNvSpPr/>
          <p:nvPr/>
        </p:nvSpPr>
        <p:spPr>
          <a:xfrm>
            <a:off x="685800" y="2672842"/>
            <a:ext cx="7772400" cy="1280160"/>
          </a:xfrm>
          <a:prstGeom prst="roundRect">
            <a:avLst>
              <a:gd name="adj" fmla="val 6000"/>
            </a:avLst>
          </a:prstGeom>
          <a:solidFill>
            <a:srgbClr val="EE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672842"/>
            <a:ext cx="64008" cy="1280160"/>
          </a:xfrm>
          <a:prstGeom prst="rect">
            <a:avLst/>
          </a:prstGeom>
          <a:solidFill>
            <a:srgbClr val="B958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910586"/>
            <a:ext cx="7040880" cy="804672"/>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It began in 1944, when most imports were restricted but paper was easier to get. Every home in Iceland is sent a free catalogue of new books before Christmas.</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24 /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EE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ctr">
              <a:lnSpc>
                <a:spcPct val="125000"/>
              </a:lnSpc>
              <a:spcAft>
                <a:spcPts val="0"/>
              </a:spcAft>
            </a:pPr>
            <a:r>
              <a:rPr sz="1000" b="1" i="0" spc="160">
                <a:solidFill>
                  <a:srgbClr val="2F5A44"/>
                </a:solidFill>
                <a:latin typeface="Karla"/>
              </a:rPr>
              <a:t>THE FORM TIME QUIZ  ·  CHRISTMAS EDITION</a:t>
            </a:r>
          </a:p>
        </p:txBody>
      </p:sp>
      <p:pic>
        <p:nvPicPr>
          <p:cNvPr id="4" name="Picture 3" descr="logo-mark.png"/>
          <p:cNvPicPr>
            <a:picLocks noChangeAspect="1"/>
          </p:cNvPicPr>
          <p:nvPr/>
        </p:nvPicPr>
        <p:blipFill>
          <a:blip r:embed="rId2"/>
          <a:stretch>
            <a:fillRect/>
          </a:stretch>
        </p:blipFill>
        <p:spPr>
          <a:xfrm>
            <a:off x="4255251" y="822960"/>
            <a:ext cx="633496" cy="731520"/>
          </a:xfrm>
          <a:prstGeom prst="rect">
            <a:avLst/>
          </a:prstGeom>
        </p:spPr>
      </p:pic>
      <p:sp>
        <p:nvSpPr>
          <p:cNvPr id="5" name="TextBox 4"/>
          <p:cNvSpPr txBox="1"/>
          <p:nvPr/>
        </p:nvSpPr>
        <p:spPr>
          <a:xfrm>
            <a:off x="548640" y="1755648"/>
            <a:ext cx="8046720" cy="640080"/>
          </a:xfrm>
          <a:prstGeom prst="rect">
            <a:avLst/>
          </a:prstGeom>
          <a:noFill/>
        </p:spPr>
        <p:txBody>
          <a:bodyPr wrap="square" anchor="t" lIns="0" rIns="0" tIns="0" bIns="0">
            <a:spAutoFit/>
          </a:bodyPr>
          <a:lstStyle/>
          <a:p>
            <a:pPr algn="ctr">
              <a:lnSpc>
                <a:spcPct val="105000"/>
              </a:lnSpc>
              <a:spcAft>
                <a:spcPts val="0"/>
              </a:spcAft>
            </a:pPr>
            <a:r>
              <a:rPr sz="3200" b="1" i="0">
                <a:solidFill>
                  <a:srgbClr val="2F5A44"/>
                </a:solidFill>
                <a:latin typeface="Libre Caslon Display"/>
              </a:rPr>
              <a:t>Scores back to their owners</a:t>
            </a:r>
          </a:p>
        </p:txBody>
      </p:sp>
      <p:sp>
        <p:nvSpPr>
          <p:cNvPr id="6" name="TextBox 5"/>
          <p:cNvSpPr txBox="1"/>
          <p:nvPr/>
        </p:nvSpPr>
        <p:spPr>
          <a:xfrm>
            <a:off x="1188720" y="2560320"/>
            <a:ext cx="6766560" cy="822960"/>
          </a:xfrm>
          <a:prstGeom prst="rect">
            <a:avLst/>
          </a:prstGeom>
          <a:noFill/>
        </p:spPr>
        <p:txBody>
          <a:bodyPr wrap="square" anchor="t" lIns="0" rIns="0" tIns="0" bIns="0">
            <a:spAutoFit/>
          </a:bodyPr>
          <a:lstStyle/>
          <a:p>
            <a:pPr algn="ctr">
              <a:lnSpc>
                <a:spcPct val="130000"/>
              </a:lnSpc>
              <a:spcAft>
                <a:spcPts val="0"/>
              </a:spcAft>
            </a:pPr>
            <a:r>
              <a:rPr sz="1500" b="0" i="0">
                <a:solidFill>
                  <a:srgbClr val="5C6552"/>
                </a:solidFill>
                <a:latin typeface="Karla"/>
              </a:rPr>
              <a:t>Hands up if you got ten. Then hands up if one of the answers surprised you, and tell us which.</a:t>
            </a:r>
          </a:p>
        </p:txBody>
      </p:sp>
      <p:sp>
        <p:nvSpPr>
          <p:cNvPr id="7" name="TextBox 6"/>
          <p:cNvSpPr txBox="1"/>
          <p:nvPr/>
        </p:nvSpPr>
        <p:spPr>
          <a:xfrm>
            <a:off x="731520" y="3639312"/>
            <a:ext cx="7680960" cy="365760"/>
          </a:xfrm>
          <a:prstGeom prst="rect">
            <a:avLst/>
          </a:prstGeom>
          <a:noFill/>
        </p:spPr>
        <p:txBody>
          <a:bodyPr wrap="square" anchor="t" lIns="0" rIns="0" tIns="0" bIns="0">
            <a:spAutoFit/>
          </a:bodyPr>
          <a:lstStyle/>
          <a:p>
            <a:pPr algn="ctr">
              <a:lnSpc>
                <a:spcPct val="125000"/>
              </a:lnSpc>
              <a:spcAft>
                <a:spcPts val="0"/>
              </a:spcAft>
            </a:pPr>
            <a:r>
              <a:rPr sz="1200" b="0" i="1">
                <a:solidFill>
                  <a:srgbClr val="8B9179"/>
                </a:solidFill>
                <a:latin typeface="Karla"/>
              </a:rPr>
              <a:t>More free quizzes and form time activities at thepastoralguide.com.</a:t>
            </a:r>
          </a:p>
        </p:txBody>
      </p:sp>
      <p:pic>
        <p:nvPicPr>
          <p:cNvPr id="8" name="Picture 7" descr="logo-mark.png"/>
          <p:cNvPicPr>
            <a:picLocks noChangeAspect="1"/>
          </p:cNvPicPr>
          <p:nvPr/>
        </p:nvPicPr>
        <p:blipFill>
          <a:blip r:embed="rId2"/>
          <a:stretch>
            <a:fillRect/>
          </a:stretch>
        </p:blipFill>
        <p:spPr>
          <a:xfrm>
            <a:off x="384048" y="4727448"/>
            <a:ext cx="158374" cy="182880"/>
          </a:xfrm>
          <a:prstGeom prst="rect">
            <a:avLst/>
          </a:prstGeom>
        </p:spPr>
      </p:pic>
      <p:sp>
        <p:nvSpPr>
          <p:cNvPr id="9" name="TextBox 8"/>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0" name="TextBox 9"/>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25 /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329184"/>
            <a:ext cx="3129423" cy="237744"/>
          </a:xfrm>
          <a:prstGeom prst="roundRect">
            <a:avLst>
              <a:gd name="adj" fmla="val 50000"/>
            </a:avLst>
          </a:prstGeom>
          <a:solidFill>
            <a:srgbClr val="F8EDE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963A36"/>
                </a:solidFill>
                <a:latin typeface="Karla"/>
              </a:rPr>
              <a:t>FOR THE TEACHER  ·  ADD YOUR OWN</a:t>
            </a:r>
          </a:p>
        </p:txBody>
      </p:sp>
      <p:sp>
        <p:nvSpPr>
          <p:cNvPr id="4" name="Rounded Rectangle 3"/>
          <p:cNvSpPr/>
          <p:nvPr/>
        </p:nvSpPr>
        <p:spPr>
          <a:xfrm>
            <a:off x="685800" y="841248"/>
            <a:ext cx="7772400" cy="1188720"/>
          </a:xfrm>
          <a:prstGeom prst="roundRect">
            <a:avLst>
              <a:gd name="adj" fmla="val 6000"/>
            </a:avLst>
          </a:prstGeom>
          <a:solidFill>
            <a:srgbClr val="EE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841248"/>
            <a:ext cx="7772400" cy="54864"/>
          </a:xfrm>
          <a:prstGeom prst="rect">
            <a:avLst/>
          </a:prstGeom>
          <a:solidFill>
            <a:srgbClr val="B958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133856"/>
            <a:ext cx="603504" cy="603504"/>
          </a:xfrm>
          <a:prstGeom prst="ellipse">
            <a:avLst/>
          </a:prstGeom>
          <a:solidFill>
            <a:srgbClr val="963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261872"/>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a:t>
            </a:r>
          </a:p>
        </p:txBody>
      </p:sp>
      <p:sp>
        <p:nvSpPr>
          <p:cNvPr id="8" name="TextBox 7"/>
          <p:cNvSpPr txBox="1"/>
          <p:nvPr/>
        </p:nvSpPr>
        <p:spPr>
          <a:xfrm>
            <a:off x="1783080" y="1246632"/>
            <a:ext cx="6309360" cy="377952"/>
          </a:xfrm>
          <a:prstGeom prst="rect">
            <a:avLst/>
          </a:prstGeom>
          <a:noFill/>
        </p:spPr>
        <p:txBody>
          <a:bodyPr wrap="square" anchor="t" lIns="0" rIns="0" tIns="0" bIns="0">
            <a:spAutoFit/>
          </a:bodyPr>
          <a:lstStyle/>
          <a:p>
            <a:pPr algn="l">
              <a:lnSpc>
                <a:spcPct val="112000"/>
              </a:lnSpc>
              <a:spcAft>
                <a:spcPts val="0"/>
              </a:spcAft>
            </a:pPr>
            <a:r>
              <a:rPr sz="2400" b="1" i="0">
                <a:solidFill>
                  <a:srgbClr val="2F5A44"/>
                </a:solidFill>
                <a:latin typeface="Libre Caslon Display"/>
              </a:rPr>
              <a:t>[ Type your own question here ]</a:t>
            </a:r>
          </a:p>
        </p:txBody>
      </p:sp>
      <p:sp>
        <p:nvSpPr>
          <p:cNvPr id="9" name="TextBox 8"/>
          <p:cNvSpPr txBox="1"/>
          <p:nvPr/>
        </p:nvSpPr>
        <p:spPr>
          <a:xfrm>
            <a:off x="685800" y="2432304"/>
            <a:ext cx="7772400" cy="1280160"/>
          </a:xfrm>
          <a:prstGeom prst="rect">
            <a:avLst/>
          </a:prstGeom>
          <a:noFill/>
        </p:spPr>
        <p:txBody>
          <a:bodyPr wrap="square" anchor="t" lIns="0" rIns="0" tIns="0" bIns="0">
            <a:spAutoFit/>
          </a:bodyPr>
          <a:lstStyle/>
          <a:p>
            <a:pPr algn="l">
              <a:lnSpc>
                <a:spcPct val="130000"/>
              </a:lnSpc>
              <a:spcAft>
                <a:spcPts val="0"/>
              </a:spcAft>
            </a:pPr>
            <a:r>
              <a:rPr sz="1250" b="0" i="0">
                <a:solidFill>
                  <a:srgbClr val="5C6552"/>
                </a:solidFill>
                <a:latin typeface="Karla"/>
              </a:rPr>
              <a:t>Add your own questions here: something from assembly, a date coming up, or a question about your own school.</a:t>
            </a:r>
          </a:p>
          <a:p>
            <a:pPr algn="l">
              <a:lnSpc>
                <a:spcPct val="130000"/>
              </a:lnSpc>
              <a:spcBef>
                <a:spcPts val="800"/>
              </a:spcBef>
              <a:spcAft>
                <a:spcPts val="0"/>
              </a:spcAft>
            </a:pPr>
            <a:r>
              <a:rPr sz="1250" b="0" i="0">
                <a:solidFill>
                  <a:srgbClr val="5C6552"/>
                </a:solidFill>
                <a:latin typeface="Karla"/>
              </a:rPr>
              <a:t>Duplicate this slide for each one and drag it in after question 10. There are two spare rows on the answer sheet for them.</a:t>
            </a:r>
          </a:p>
        </p:txBody>
      </p:sp>
      <p:pic>
        <p:nvPicPr>
          <p:cNvPr id="10" name="Picture 9" descr="logo-mark.png"/>
          <p:cNvPicPr>
            <a:picLocks noChangeAspect="1"/>
          </p:cNvPicPr>
          <p:nvPr/>
        </p:nvPicPr>
        <p:blipFill>
          <a:blip r:embed="rId2"/>
          <a:stretch>
            <a:fillRect/>
          </a:stretch>
        </p:blipFill>
        <p:spPr>
          <a:xfrm>
            <a:off x="384048" y="4727448"/>
            <a:ext cx="158374" cy="182880"/>
          </a:xfrm>
          <a:prstGeom prst="rect">
            <a:avLst/>
          </a:prstGeom>
        </p:spPr>
      </p:pic>
      <p:sp>
        <p:nvSpPr>
          <p:cNvPr id="11" name="TextBox 10"/>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2" name="TextBox 11"/>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26 /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329184"/>
            <a:ext cx="3129423" cy="237744"/>
          </a:xfrm>
          <a:prstGeom prst="roundRect">
            <a:avLst>
              <a:gd name="adj" fmla="val 50000"/>
            </a:avLst>
          </a:prstGeom>
          <a:solidFill>
            <a:srgbClr val="F8EDE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963A36"/>
                </a:solidFill>
                <a:latin typeface="Karla"/>
              </a:rPr>
              <a:t>FOR THE TEACHER  ·  ADD YOUR OWN</a:t>
            </a:r>
          </a:p>
        </p:txBody>
      </p:sp>
      <p:sp>
        <p:nvSpPr>
          <p:cNvPr id="4" name="TextBox 3"/>
          <p:cNvSpPr txBox="1"/>
          <p:nvPr/>
        </p:nvSpPr>
        <p:spPr>
          <a:xfrm>
            <a:off x="685800" y="731520"/>
            <a:ext cx="7772400" cy="310896"/>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 Your question again, so the room remembers it ]</a:t>
            </a:r>
          </a:p>
        </p:txBody>
      </p:sp>
      <p:sp>
        <p:nvSpPr>
          <p:cNvPr id="5" name="TextBox 4"/>
          <p:cNvSpPr txBox="1"/>
          <p:nvPr/>
        </p:nvSpPr>
        <p:spPr>
          <a:xfrm>
            <a:off x="685800" y="1225296"/>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2F5A44"/>
                </a:solidFill>
                <a:latin typeface="Libre Caslon Display"/>
              </a:rPr>
              <a:t>[ The answer ]</a:t>
            </a:r>
          </a:p>
        </p:txBody>
      </p:sp>
      <p:sp>
        <p:nvSpPr>
          <p:cNvPr id="6" name="Rounded Rectangle 5"/>
          <p:cNvSpPr/>
          <p:nvPr/>
        </p:nvSpPr>
        <p:spPr>
          <a:xfrm>
            <a:off x="685800" y="2011680"/>
            <a:ext cx="7772400" cy="932688"/>
          </a:xfrm>
          <a:prstGeom prst="roundRect">
            <a:avLst>
              <a:gd name="adj" fmla="val 6000"/>
            </a:avLst>
          </a:prstGeom>
          <a:solidFill>
            <a:srgbClr val="EE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011680"/>
            <a:ext cx="64008" cy="932688"/>
          </a:xfrm>
          <a:prstGeom prst="rect">
            <a:avLst/>
          </a:prstGeom>
          <a:solidFill>
            <a:srgbClr val="B958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249424"/>
            <a:ext cx="7040880" cy="457200"/>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 One line on why, if there is something worth knowing ]</a:t>
            </a:r>
          </a:p>
        </p:txBody>
      </p:sp>
      <p:sp>
        <p:nvSpPr>
          <p:cNvPr id="9" name="TextBox 8"/>
          <p:cNvSpPr txBox="1"/>
          <p:nvPr/>
        </p:nvSpPr>
        <p:spPr>
          <a:xfrm>
            <a:off x="685800" y="3218688"/>
            <a:ext cx="7772400" cy="731520"/>
          </a:xfrm>
          <a:prstGeom prst="rect">
            <a:avLst/>
          </a:prstGeom>
          <a:noFill/>
        </p:spPr>
        <p:txBody>
          <a:bodyPr wrap="square" anchor="t" lIns="0" rIns="0" tIns="0" bIns="0">
            <a:spAutoFit/>
          </a:bodyPr>
          <a:lstStyle/>
          <a:p>
            <a:pPr algn="l">
              <a:lnSpc>
                <a:spcPct val="130000"/>
              </a:lnSpc>
              <a:spcAft>
                <a:spcPts val="0"/>
              </a:spcAft>
            </a:pPr>
            <a:r>
              <a:rPr sz="1250" b="0" i="0">
                <a:solidFill>
                  <a:srgbClr val="5C6552"/>
                </a:solidFill>
                <a:latin typeface="Karla"/>
              </a:rPr>
              <a:t>Duplicate this slide for each of your own questions and drag it in after the answer to question 10.</a:t>
            </a:r>
          </a:p>
        </p:txBody>
      </p:sp>
      <p:pic>
        <p:nvPicPr>
          <p:cNvPr id="10" name="Picture 9" descr="logo-mark.png"/>
          <p:cNvPicPr>
            <a:picLocks noChangeAspect="1"/>
          </p:cNvPicPr>
          <p:nvPr/>
        </p:nvPicPr>
        <p:blipFill>
          <a:blip r:embed="rId2"/>
          <a:stretch>
            <a:fillRect/>
          </a:stretch>
        </p:blipFill>
        <p:spPr>
          <a:xfrm>
            <a:off x="384048" y="4727448"/>
            <a:ext cx="158374" cy="182880"/>
          </a:xfrm>
          <a:prstGeom prst="rect">
            <a:avLst/>
          </a:prstGeom>
        </p:spPr>
      </p:pic>
      <p:sp>
        <p:nvSpPr>
          <p:cNvPr id="11" name="TextBox 10"/>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2" name="TextBox 11"/>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27 /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