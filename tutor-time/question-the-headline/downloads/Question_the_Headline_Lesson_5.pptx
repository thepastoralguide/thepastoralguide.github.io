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“Bad” LDL cholesterol</c:v>
                </c:pt>
              </c:strCache>
            </c:strRef>
          </c:tx>
          <c:spPr>
            <a:solidFill>
              <a:srgbClr val="34322F"/>
            </a:solidFill>
          </c:spPr>
          <c:invertIfNegative val="0"/>
          <c:cat>
            <c:strRef>
              <c:f>Sheet1!$A$2:$A$3</c:f>
              <c:strCache>
                <c:ptCount val="2"/>
                <c:pt idx="0">
                  <c:v>Trans fat (like early Crisco)</c:v>
                </c:pt>
                <c:pt idx="1">
                  <c:v>Saturated fat (like butter and lard)</c:v>
                </c:pt>
              </c:strCache>
            </c:strRef>
          </c:cat>
          <c:val>
            <c:numRef>
              <c:f>Sheet1!$B$2:$B$3</c:f>
              <c:numCache>
                <c:formatCode>General</c:formatCode>
                <c:ptCount val="2"/>
                <c:pt idx="0">
                  <c:v>0.37</c:v>
                </c:pt>
                <c:pt idx="1">
                  <c:v>0.47</c:v>
                </c:pt>
              </c:numCache>
            </c:numRef>
          </c:val>
        </c:ser>
        <c:ser>
          <c:idx val="1"/>
          <c:order val="1"/>
          <c:tx>
            <c:strRef>
              <c:f>Sheet1!$C$1</c:f>
              <c:strCache>
                <c:ptCount val="1"/>
                <c:pt idx="0">
                  <c:v>“Good” HDL cholesterol</c:v>
                </c:pt>
              </c:strCache>
            </c:strRef>
          </c:tx>
          <c:spPr>
            <a:solidFill>
              <a:srgbClr val="857F74"/>
            </a:solidFill>
          </c:spPr>
          <c:invertIfNegative val="0"/>
          <c:cat>
            <c:strRef>
              <c:f>Sheet1!$A$2:$A$3</c:f>
              <c:strCache>
                <c:ptCount val="2"/>
                <c:pt idx="0">
                  <c:v>Trans fat (like early Crisco)</c:v>
                </c:pt>
                <c:pt idx="1">
                  <c:v>Saturated fat (like butter and lard)</c:v>
                </c:pt>
              </c:strCache>
            </c:strRef>
          </c:cat>
          <c:val>
            <c:numRef>
              <c:f>Sheet1!$C$2:$C$3</c:f>
              <c:numCache>
                <c:formatCode>General</c:formatCode>
                <c:ptCount val="2"/>
                <c:pt idx="0">
                  <c:v>-0.17</c:v>
                </c:pt>
                <c:pt idx="1">
                  <c:v>0.0</c:v>
                </c:pt>
              </c:numCache>
            </c:numRef>
          </c:val>
        </c:ser>
        <c:dLbls>
          <c:numFmt formatCode="+0.00;-0.00;0.00" sourceLinked="0"/>
          <c:txPr>
            <a:bodyPr/>
            <a:lstStyle/>
            <a:p>
              <a:pPr>
                <a:defRPr sz="1200" b="1">
                  <a:solidFill>
                    <a:srgbClr val="262422"/>
                  </a:solidFill>
                  <a:latin typeface="Karla"/>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low"/>
        <c:spPr>
          <a:ln>
            <a:solidFill>
              <a:srgbClr val="56524B"/>
            </a:solidFill>
          </a:ln>
        </c:spPr>
        <c:txPr>
          <a:bodyPr/>
          <a:lstStyle/>
          <a:p>
            <a:pPr>
              <a:defRPr sz="1100">
                <a:latin typeface="Karla"/>
              </a:defRPr>
            </a:pPr>
          </a:p>
        </c:txPr>
        <c:crossAx val="-2113994440"/>
        <c:crosses val="autoZero"/>
        <c:auto val="1"/>
        <c:lblAlgn val="ctr"/>
        <c:lblOffset val="100"/>
        <c:noMultiLvlLbl val="0"/>
      </c:catAx>
      <c:valAx>
        <c:axId val="-2113994440"/>
        <c:scaling>
          <c:max val="0.78"/>
          <c:min val="-0.3"/>
        </c:scaling>
        <c:delete/>
        <c:axPos val="l"/>
        <c:majorTickMark val="out"/>
        <c:minorTickMark val="none"/>
        <c:tickLblPos val="nextTo"/>
        <c:crossAx val="-2068027336"/>
        <c:crosses val="autoZero"/>
      </c:valAx>
    </c:plotArea>
    <c:legend>
      <c:legendPos val="t"/>
      <c:overlay val="0"/>
      <c:txPr>
        <a:bodyPr/>
        <a:lstStyle/>
        <a:p>
          <a:pPr>
            <a:defRPr sz="1100">
              <a:latin typeface="Karla"/>
            </a:defRPr>
          </a:pPr>
        </a:p>
      </c:txPr>
    </c:legend>
    <c:dispBlanksAs val="gap"/>
  </c:chart>
  <c:txPr>
    <a:bodyPr/>
    <a:lstStyle/>
    <a:p>
      <a:pPr>
        <a:defRPr sz="1100">
          <a:solidFill>
            <a:srgbClr val="262422"/>
          </a:solidFill>
          <a:latin typeface="Karla"/>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5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CINCINNATI, 1912</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It’s All Vegetable</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how a new food was sold, and what an experiment showed about it later.</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CINCINNATI, 1912</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5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IT’S ALL VEGETABLE!</a:t>
            </a:r>
            <a:br>
              <a:rPr lang="en-GB"/>
            </a:br>
            <a:r>
              <a:rPr sz="2800" b="1" i="0">
                <a:solidFill>
                  <a:srgbClr val="262422"/>
                </a:solidFill>
                <a:latin typeface="Libre Caslon Display"/>
              </a:rPr>
              <a:t>IT’S DIGESTIBLE!</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Procter &amp; Gamble’s new Crisco is healthier and cheaper than butter and lard, say its makers, and every home should try it.</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Crisco is a solid white cooking fat made from cottonseed oil, which is left over when cotton is grown. Its makers are best known for soap and candles.</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A new factory process turns the liquid oil solid. Shoppers are being given free cookbooks, and every single recipe in them uses Crisco.</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505839"/>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505839"/>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944880"/>
          </a:xfrm>
          <a:prstGeom prst="rect">
            <a:avLst/>
          </a:prstGeom>
          <a:noFill/>
          <a:effectLst/>
        </p:spPr>
        <p:txBody>
          <a:bodyPr wrap="square" anchor="t" lIns="0" rIns="0" tIns="0" bIns="0">
            <a:spAutoFit/>
          </a:bodyPr>
          <a:lstStyle/>
          <a:p>
            <a:pPr algn="l">
              <a:lnSpc>
                <a:spcPct val="112000"/>
              </a:lnSpc>
              <a:spcAft>
                <a:spcPts val="0"/>
              </a:spcAft>
            </a:pPr>
            <a:r>
              <a:rPr sz="1500" b="1" i="0">
                <a:solidFill>
                  <a:srgbClr val="34322F"/>
                </a:solidFill>
                <a:latin typeface="Libre Caslon Display"/>
              </a:rPr>
              <a:t>Healthier and more cost-effective than butter and other fats.</a:t>
            </a:r>
          </a:p>
        </p:txBody>
      </p:sp>
      <p:sp>
        <p:nvSpPr>
          <p:cNvPr id="22" name="TextBox 21"/>
          <p:cNvSpPr txBox="1"/>
          <p:nvPr/>
        </p:nvSpPr>
        <p:spPr>
          <a:xfrm>
            <a:off x="6208776" y="4170171"/>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HOW CRISCO WAS ADVERTISED</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89611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896112"/>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566928"/>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“A new food made in a factory by scientists is probably better for you than the old one.”</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985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9855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52832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The company that makes Crisco, which gains from every tin it sells. The front page says it is healthier, and gives no evidence for that.</a:t>
            </a:r>
          </a:p>
        </p:txBody>
      </p:sp>
      <p:sp>
        <p:nvSpPr>
          <p:cNvPr id="10" name="TextBox 9"/>
          <p:cNvSpPr txBox="1"/>
          <p:nvPr/>
        </p:nvSpPr>
        <p:spPr>
          <a:xfrm>
            <a:off x="685800" y="286918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company</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Procter &amp; Gamble made soap and candles. Crisco was made from cottonseed oil, which comes from the seeds left over when cotton is grown. Around 1907, with the chemist Edwin Kayser, it found a way to turn the liquid oil into a solid fat. It sold that fat as food from June 1911, and named it Crisco, from “crystallized cottonseed oil”.</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Crisco; University of Guelph</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adverts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Crisco was advertised as healthier and more cost-effective than butter and other fats. One slogan was “It’s all vegetable! It’s digestible!” The company gave away free cookbooks in which every recipe used Crisco, and its adverts asked shoppers to trust the brand rather than worry about what was in it.</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NPR, 2012; Wikipedia, Crisco; University of Guelph</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060704"/>
            <a:ext cx="713232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62422"/>
                </a:solidFill>
                <a:latin typeface="Libre Caslon Display"/>
              </a:rPr>
              <a:t>The experiment</a:t>
            </a:r>
          </a:p>
        </p:txBody>
      </p:sp>
      <p:sp>
        <p:nvSpPr>
          <p:cNvPr id="10" name="Rectangle 9"/>
          <p:cNvSpPr/>
          <p:nvPr/>
        </p:nvSpPr>
        <p:spPr>
          <a:xfrm>
            <a:off x="960120" y="1444752"/>
            <a:ext cx="4754880" cy="21762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60120" y="1444752"/>
            <a:ext cx="475488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1051560" y="1536192"/>
          <a:ext cx="4572000" cy="1700784"/>
        </p:xfrm>
        <a:graphic>
          <a:graphicData uri="http://schemas.openxmlformats.org/drawingml/2006/chart">
            <c:chart xmlns:c="http://schemas.openxmlformats.org/drawingml/2006/chart" r:id="rId2"/>
          </a:graphicData>
        </a:graphic>
      </p:graphicFrame>
      <p:sp>
        <p:nvSpPr>
          <p:cNvPr id="13" name="TextBox 12"/>
          <p:cNvSpPr txBox="1"/>
          <p:nvPr/>
        </p:nvSpPr>
        <p:spPr>
          <a:xfrm>
            <a:off x="1161288" y="3273552"/>
            <a:ext cx="4352544" cy="274320"/>
          </a:xfrm>
          <a:prstGeom prst="rect">
            <a:avLst/>
          </a:prstGeom>
          <a:noFill/>
          <a:effectLst/>
        </p:spPr>
        <p:txBody>
          <a:bodyPr wrap="square" anchor="t" lIns="0" rIns="0" tIns="0" bIns="0">
            <a:spAutoFit/>
          </a:bodyPr>
          <a:lstStyle/>
          <a:p>
            <a:pPr algn="ctr">
              <a:lnSpc>
                <a:spcPct val="125000"/>
              </a:lnSpc>
              <a:spcAft>
                <a:spcPts val="0"/>
              </a:spcAft>
            </a:pPr>
            <a:r>
              <a:rPr sz="900" b="0" i="1">
                <a:solidFill>
                  <a:srgbClr val="56524B"/>
                </a:solidFill>
                <a:latin typeface="Karla"/>
              </a:rPr>
              <a:t>Change in mmol per litre, compared with a diet high in olive-oil type fat</a:t>
            </a:r>
          </a:p>
        </p:txBody>
      </p:sp>
      <p:sp>
        <p:nvSpPr>
          <p:cNvPr id="14" name="Rectangle 13"/>
          <p:cNvSpPr/>
          <p:nvPr/>
        </p:nvSpPr>
        <p:spPr>
          <a:xfrm>
            <a:off x="5897880" y="1444752"/>
            <a:ext cx="2286000" cy="2176272"/>
          </a:xfrm>
          <a:prstGeom prst="rect">
            <a:avLst/>
          </a:prstGeom>
          <a:solidFill>
            <a:srgbClr val="E9E2D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080760" y="1609344"/>
            <a:ext cx="192024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34322F"/>
                </a:solidFill>
                <a:latin typeface="Karla"/>
              </a:rPr>
              <a:t>ABOUT THIS</a:t>
            </a:r>
          </a:p>
        </p:txBody>
      </p:sp>
      <p:sp>
        <p:nvSpPr>
          <p:cNvPr id="16" name="TextBox 15"/>
          <p:cNvSpPr txBox="1"/>
          <p:nvPr/>
        </p:nvSpPr>
        <p:spPr>
          <a:xfrm>
            <a:off x="6080760" y="1865376"/>
            <a:ext cx="1920240" cy="1188720"/>
          </a:xfrm>
          <a:prstGeom prst="rect">
            <a:avLst/>
          </a:prstGeom>
          <a:noFill/>
          <a:effectLst/>
        </p:spPr>
        <p:txBody>
          <a:bodyPr wrap="square" anchor="t" lIns="0" rIns="0" tIns="0" bIns="0">
            <a:spAutoFit/>
          </a:bodyPr>
          <a:lstStyle/>
          <a:p>
            <a:pPr algn="l">
              <a:lnSpc>
                <a:spcPct val="128000"/>
              </a:lnSpc>
              <a:spcAft>
                <a:spcPts val="0"/>
              </a:spcAft>
            </a:pPr>
            <a:r>
              <a:rPr sz="1200" b="0" i="0">
                <a:solidFill>
                  <a:srgbClr val="262422"/>
                </a:solidFill>
                <a:latin typeface="Karla"/>
              </a:rPr>
              <a:t>59 healthy volunteers ate each diet for three weeks. Mensink and Katan, New England Journal of Medicine, 1990.</a:t>
            </a:r>
          </a:p>
        </p:txBody>
      </p:sp>
      <p:sp>
        <p:nvSpPr>
          <p:cNvPr id="17" name="TextBox 16"/>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Mensink and Katan, New England Journal of Medicine, 1990</a:t>
            </a:r>
          </a:p>
        </p:txBody>
      </p:sp>
      <p:sp>
        <p:nvSpPr>
          <p:cNvPr id="18" name="TextBox 17"/>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9" name="Picture 1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Which fat raised the “bad” LDL cholesterol more, trans fat (+0.37) or saturated fat (+0.47)?</a:t>
            </a:r>
          </a:p>
        </p:txBody>
      </p:sp>
      <p:sp>
        <p:nvSpPr>
          <p:cNvPr id="11" name="Rectangle 10"/>
          <p:cNvSpPr/>
          <p:nvPr/>
        </p:nvSpPr>
        <p:spPr>
          <a:xfrm>
            <a:off x="685800" y="2345436"/>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27732"/>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00884"/>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455164"/>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Which fat lowered the “good” HDL cholesterol, and by how much?</a:t>
            </a:r>
          </a:p>
        </p:txBody>
      </p:sp>
      <p:sp>
        <p:nvSpPr>
          <p:cNvPr id="15" name="Rectangle 14"/>
          <p:cNvSpPr/>
          <p:nvPr/>
        </p:nvSpPr>
        <p:spPr>
          <a:xfrm>
            <a:off x="685800" y="3209544"/>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29184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36499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319272"/>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Add up how far each fat moved the two numbers in the wrong direction. Which comes out worse?</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Which fat raised the “bad” LDL cholesterol more, trans fat (+0.37) or saturated fat (+0.47)?</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Saturated fat, by 0.10.</a:t>
            </a:r>
          </a:p>
        </p:txBody>
      </p:sp>
      <p:sp>
        <p:nvSpPr>
          <p:cNvPr id="12" name="Rectangle 11"/>
          <p:cNvSpPr/>
          <p:nvPr/>
        </p:nvSpPr>
        <p:spPr>
          <a:xfrm>
            <a:off x="685800" y="2423160"/>
            <a:ext cx="77724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192024"/>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Which fat lowered the “good” HDL cholesterol, and by how much?</a:t>
            </a:r>
          </a:p>
        </p:txBody>
      </p:sp>
      <p:sp>
        <p:nvSpPr>
          <p:cNvPr id="16" name="TextBox 15"/>
          <p:cNvSpPr txBox="1"/>
          <p:nvPr/>
        </p:nvSpPr>
        <p:spPr>
          <a:xfrm>
            <a:off x="1371600" y="2779776"/>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Trans fat, by 0.17. Saturated fat did not change it.</a:t>
            </a:r>
          </a:p>
        </p:txBody>
      </p:sp>
      <p:sp>
        <p:nvSpPr>
          <p:cNvPr id="17" name="Rectangle 16"/>
          <p:cNvSpPr/>
          <p:nvPr/>
        </p:nvSpPr>
        <p:spPr>
          <a:xfrm>
            <a:off x="685800" y="3172968"/>
            <a:ext cx="7772400" cy="104241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5526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2841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28269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Add up how far each fat moved the two numbers in the wrong direction. Which comes out worse?</a:t>
            </a:r>
          </a:p>
        </p:txBody>
      </p:sp>
      <p:sp>
        <p:nvSpPr>
          <p:cNvPr id="21" name="TextBox 20"/>
          <p:cNvSpPr txBox="1"/>
          <p:nvPr/>
        </p:nvSpPr>
        <p:spPr>
          <a:xfrm>
            <a:off x="1371600" y="3721608"/>
            <a:ext cx="6903720" cy="384048"/>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Trans fat: 0.37 + 0.17 = 0.54. Saturated fat: 0.47 + 0 = 0.47. Trans fat is worse, but neither is harmless.</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What happened</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Turning liquid oil solid makes trans fat. The World Health Organization now links more than 278,000 deaths a year to trans fats made in factories. The US ruled them unsafe in 2015 and gave food companies until 2018 to remove them. Crisco changed its recipe in 2007.</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WHO trans fat fact sheet, 2024; US FDA; Wikipedia, Crisco</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1911</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Crisco goes on sale, sold as healthier than butter and lard.</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1990</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An experiment shows trans fat lowers the good cholesterol.</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2007</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Crisco changes its recipe.</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2015</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US rules factory trans fats unsafe.</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Who gains if I believe it?</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588008"/>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1039368"/>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Should a company be allowed to say its food is healthier than another food? Who should have to check first?</a:t>
            </a:r>
          </a:p>
        </p:txBody>
      </p:sp>
      <p:sp>
        <p:nvSpPr>
          <p:cNvPr id="9" name="TextBox 8"/>
          <p:cNvSpPr txBox="1"/>
          <p:nvPr/>
        </p:nvSpPr>
        <p:spPr>
          <a:xfrm>
            <a:off x="868680" y="2950464"/>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Mensink R. P. and Katan M. B. (1990). Effect of dietary trans fatty acids on high-density and low-density lipoprotein cholesterol levels in healthy subjects. New England Journal of Medicine, 323(7), 439–445.</a:t>
            </a:r>
          </a:p>
        </p:txBody>
      </p:sp>
      <p:sp>
        <p:nvSpPr>
          <p:cNvPr id="6" name="TextBox 5"/>
          <p:cNvSpPr txBox="1"/>
          <p:nvPr/>
        </p:nvSpPr>
        <p:spPr>
          <a:xfrm>
            <a:off x="685800" y="1771396"/>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World Health Organization (2024). Trans fat: fact sheet.</a:t>
            </a:r>
          </a:p>
        </p:txBody>
      </p:sp>
      <p:sp>
        <p:nvSpPr>
          <p:cNvPr id="7" name="TextBox 6"/>
          <p:cNvSpPr txBox="1"/>
          <p:nvPr/>
        </p:nvSpPr>
        <p:spPr>
          <a:xfrm>
            <a:off x="685800" y="2081022"/>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US Food and Drug Administration. Final determination regarding partially hydrogenated oils (2015).</a:t>
            </a:r>
          </a:p>
        </p:txBody>
      </p:sp>
      <p:sp>
        <p:nvSpPr>
          <p:cNvPr id="8" name="TextBox 7"/>
          <p:cNvSpPr txBox="1"/>
          <p:nvPr/>
        </p:nvSpPr>
        <p:spPr>
          <a:xfrm>
            <a:off x="685800" y="2390648"/>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NPR (2012). The forgotten, fascinating saga of Crisco. Wikipedia, Crisco, accessed September 2026.</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