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663" y="640080"/>
            <a:ext cx="804672" cy="932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47088"/>
            <a:ext cx="8046720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B03E72"/>
                </a:solidFill>
                <a:latin typeface="Georgia"/>
              </a:rPr>
              <a:t>It Was Just a Joke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2779776"/>
            <a:ext cx="1005840" cy="18288"/>
          </a:xfrm>
          <a:prstGeom prst="rect">
            <a:avLst/>
          </a:prstGeom>
          <a:solidFill>
            <a:srgbClr val="B15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99232"/>
            <a:ext cx="768096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6B6167"/>
                </a:solidFill>
                <a:latin typeface="Calibri"/>
              </a:rPr>
              <a:t>When is it a joke, and when is it not?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75887"/>
            <a:ext cx="7680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>
                <a:solidFill>
                  <a:srgbClr val="A79EA2"/>
                </a:solidFill>
                <a:latin typeface="Calibri"/>
              </a:rPr>
              <a:t>One lesson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spc="160">
                <a:solidFill>
                  <a:srgbClr val="B1517B"/>
                </a:solidFill>
                <a:latin typeface="Calibri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777240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00" b="0">
                <a:solidFill>
                  <a:srgbClr val="33292E"/>
                </a:solidFill>
                <a:latin typeface="Georgia"/>
              </a:rPr>
              <a:t>Five things, in this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1364284" cy="2331720"/>
          </a:xfrm>
          <a:prstGeom prst="roundRect">
            <a:avLst>
              <a:gd name="adj" fmla="val 6032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8758" y="1883664"/>
            <a:ext cx="658368" cy="658368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02536"/>
            <a:ext cx="1364284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70048"/>
            <a:ext cx="12179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B03E72"/>
                </a:solidFill>
                <a:latin typeface="Georgia"/>
              </a:rPr>
              <a:t>Sort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36976"/>
            <a:ext cx="1144828" cy="75895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B6167"/>
                </a:solidFill>
                <a:latin typeface="Calibri"/>
              </a:rPr>
              <a:t>Six moments, and whether each one is a joke.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7828" y="1737360"/>
            <a:ext cx="1364284" cy="2331720"/>
          </a:xfrm>
          <a:prstGeom prst="roundRect">
            <a:avLst>
              <a:gd name="adj" fmla="val 6032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40787" y="1883664"/>
            <a:ext cx="658368" cy="658368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7828" y="2002536"/>
            <a:ext cx="1364284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0980" y="2670048"/>
            <a:ext cx="12179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B03E72"/>
                </a:solidFill>
                <a:latin typeface="Georgia"/>
              </a:rPr>
              <a:t>Find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7556" y="3236976"/>
            <a:ext cx="1144828" cy="75895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B6167"/>
                </a:solidFill>
                <a:latin typeface="Calibri"/>
              </a:rPr>
              <a:t>The four questions you were already using.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9857" y="1737360"/>
            <a:ext cx="1364284" cy="2331720"/>
          </a:xfrm>
          <a:prstGeom prst="roundRect">
            <a:avLst>
              <a:gd name="adj" fmla="val 6032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42816" y="1883664"/>
            <a:ext cx="658368" cy="658368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9857" y="2002536"/>
            <a:ext cx="1364284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3009" y="2670048"/>
            <a:ext cx="12179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B03E72"/>
                </a:solidFill>
                <a:latin typeface="Georgia"/>
              </a:rPr>
              <a:t>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9585" y="3236976"/>
            <a:ext cx="1144828" cy="75895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B6167"/>
                </a:solidFill>
                <a:latin typeface="Calibri"/>
              </a:rPr>
              <a:t>What “It was just a joke” is actually doing.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91886" y="1737360"/>
            <a:ext cx="1364284" cy="2331720"/>
          </a:xfrm>
          <a:prstGeom prst="roundRect">
            <a:avLst>
              <a:gd name="adj" fmla="val 6032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44844" y="1883664"/>
            <a:ext cx="658368" cy="658368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91886" y="2002536"/>
            <a:ext cx="1364284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5038" y="2670048"/>
            <a:ext cx="12179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B03E72"/>
                </a:solidFill>
                <a:latin typeface="Georgia"/>
              </a:rPr>
              <a:t>Practise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1614" y="3236976"/>
            <a:ext cx="1144828" cy="75895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B6167"/>
                </a:solidFill>
                <a:latin typeface="Calibri"/>
              </a:rPr>
              <a:t>The words you would actually say instead.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93915" y="1737360"/>
            <a:ext cx="1364284" cy="2331720"/>
          </a:xfrm>
          <a:prstGeom prst="roundRect">
            <a:avLst>
              <a:gd name="adj" fmla="val 6032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46873" y="1883664"/>
            <a:ext cx="658368" cy="658368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3915" y="2002536"/>
            <a:ext cx="1364284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DF7"/>
                </a:solidFill>
                <a:latin typeface="Georg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7067" y="2670048"/>
            <a:ext cx="12179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B03E72"/>
                </a:solidFill>
                <a:latin typeface="Georgia"/>
              </a:rPr>
              <a:t>Write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3643" y="3236976"/>
            <a:ext cx="1144828" cy="75895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B6167"/>
                </a:solidFill>
                <a:latin typeface="Calibri"/>
              </a:rPr>
              <a:t>One thing you will say differently.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B03E72"/>
                </a:solidFill>
                <a:latin typeface="Calibri"/>
              </a:rPr>
              <a:t>Nothing you write today gets read out or handed in.</a:t>
            </a:r>
          </a:p>
        </p:txBody>
      </p:sp>
      <p:pic>
        <p:nvPicPr>
          <p:cNvPr id="31" name="Picture 3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B1517B"/>
                </a:solidFill>
                <a:latin typeface="Calibri"/>
              </a:rPr>
              <a:t>SIX MOMENTS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33292E"/>
                </a:solidFill>
                <a:latin typeface="Georgia"/>
              </a:rPr>
              <a:t>Is this a joke?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7772400" cy="2487168"/>
          </a:xfrm>
          <a:prstGeom prst="roundRect">
            <a:avLst>
              <a:gd name="adj" fmla="val 3308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3108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03E72"/>
                </a:solidFill>
                <a:latin typeface="Georgia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682496"/>
            <a:ext cx="667512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292E"/>
                </a:solidFill>
                <a:latin typeface="Calibri"/>
              </a:rPr>
              <a:t>Somebody says your jumper looks like a bin bag. You say something 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66544"/>
            <a:ext cx="3108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03E72"/>
                </a:solidFill>
                <a:latin typeface="Georgi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084832"/>
            <a:ext cx="667512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292E"/>
                </a:solidFill>
                <a:latin typeface="Calibri"/>
              </a:rPr>
              <a:t>Somebody does an impression of the way you run, to a group, in the changing rooms.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3108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03E72"/>
                </a:solidFill>
                <a:latin typeface="Georgia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487168"/>
            <a:ext cx="667512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292E"/>
                </a:solidFill>
                <a:latin typeface="Calibri"/>
              </a:rPr>
              <a:t>A group uses a nickname that the person made up for themselves.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71216"/>
            <a:ext cx="3108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03E72"/>
                </a:solidFill>
                <a:latin typeface="Georgia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889504"/>
            <a:ext cx="667512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292E"/>
                </a:solidFill>
                <a:latin typeface="Calibri"/>
              </a:rPr>
              <a:t>Somebody says your jumper looks like a bin bag every morning for a week.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73552"/>
            <a:ext cx="3108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03E72"/>
                </a:solidFill>
                <a:latin typeface="Georgia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291840"/>
            <a:ext cx="667512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292E"/>
                </a:solidFill>
                <a:latin typeface="Calibri"/>
              </a:rPr>
              <a:t>A friend does an impression of the way you run, and you are both laughing.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75888"/>
            <a:ext cx="3108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03E72"/>
                </a:solidFill>
                <a:latin typeface="Georgia"/>
              </a:rP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694176"/>
            <a:ext cx="667512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292E"/>
                </a:solidFill>
                <a:latin typeface="Calibri"/>
              </a:rPr>
              <a:t>A group uses a nickname that somebody else gave the person in Year 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96512"/>
            <a:ext cx="777240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03E72"/>
                </a:solidFill>
                <a:latin typeface="Calibri"/>
              </a:rPr>
              <a:t>In pairs, four minutes: put each letter under joke, not a joke, or cannot tell.</a:t>
            </a:r>
          </a:p>
        </p:txBody>
      </p:sp>
      <p:pic>
        <p:nvPicPr>
          <p:cNvPr id="21" name="Picture 2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B1517B"/>
                </a:solidFill>
                <a:latin typeface="Calibri"/>
              </a:rPr>
              <a:t>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33292E"/>
                </a:solidFill>
                <a:latin typeface="Georgia"/>
              </a:rPr>
              <a:t>They were three pairs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2432304" cy="2212848"/>
          </a:xfrm>
          <a:prstGeom prst="roundRect">
            <a:avLst>
              <a:gd name="adj" fmla="val 3719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07592" y="17556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07592" y="1819656"/>
            <a:ext cx="118872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80">
                <a:solidFill>
                  <a:srgbClr val="FFFDF7"/>
                </a:solidFill>
                <a:latin typeface="Calibri"/>
              </a:rPr>
              <a:t>A AND 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9424"/>
            <a:ext cx="2249424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B03E72"/>
                </a:solidFill>
                <a:latin typeface="Georgia"/>
              </a:rPr>
              <a:t>Whether it stopped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670048"/>
            <a:ext cx="2176272" cy="102412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B6167"/>
                </a:solidFill>
                <a:latin typeface="Calibri"/>
              </a:rPr>
              <a:t>In one, you both had a go and it ended there. The other one carried on all week.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572768"/>
            <a:ext cx="2432304" cy="2212848"/>
          </a:xfrm>
          <a:prstGeom prst="roundRect">
            <a:avLst>
              <a:gd name="adj" fmla="val 3719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77639" y="17556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1819656"/>
            <a:ext cx="118872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80">
                <a:solidFill>
                  <a:srgbClr val="FFFDF7"/>
                </a:solidFill>
                <a:latin typeface="Calibri"/>
              </a:rPr>
              <a:t>B AND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249424"/>
            <a:ext cx="2249424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B03E72"/>
                </a:solidFill>
                <a:latin typeface="Georgia"/>
              </a:rPr>
              <a:t>Who was laughing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670048"/>
            <a:ext cx="2176272" cy="102412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B6167"/>
                </a:solidFill>
                <a:latin typeface="Calibri"/>
              </a:rPr>
              <a:t>One of them has the person laughing too. The other has an audience, and they are not.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25896" y="1572768"/>
            <a:ext cx="2432304" cy="2212848"/>
          </a:xfrm>
          <a:prstGeom prst="roundRect">
            <a:avLst>
              <a:gd name="adj" fmla="val 3719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47688" y="17556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1819656"/>
            <a:ext cx="118872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80">
                <a:solidFill>
                  <a:srgbClr val="FFFDF7"/>
                </a:solidFill>
                <a:latin typeface="Calibri"/>
              </a:rPr>
              <a:t>C AND 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49424"/>
            <a:ext cx="2249424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B03E72"/>
                </a:solidFill>
                <a:latin typeface="Georgia"/>
              </a:rPr>
              <a:t>Whose it 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670048"/>
            <a:ext cx="2176272" cy="102412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B6167"/>
                </a:solidFill>
                <a:latin typeface="Calibri"/>
              </a:rPr>
              <a:t>A nickname you made up for yourself is yours. One somebody else gave you is not.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77056"/>
            <a:ext cx="7772400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03E72"/>
                </a:solidFill>
                <a:latin typeface="Calibri"/>
              </a:rPr>
              <a:t>The words hardly change inside a pair. What changes is everything around them.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89120"/>
            <a:ext cx="77724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167"/>
                </a:solidFill>
                <a:latin typeface="Calibri"/>
              </a:rPr>
              <a:t>The line is almost never in the words.</a:t>
            </a:r>
          </a:p>
        </p:txBody>
      </p:sp>
      <p:pic>
        <p:nvPicPr>
          <p:cNvPr id="24" name="Picture 2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B1517B"/>
                </a:solidFill>
                <a:latin typeface="Calibri"/>
              </a:rPr>
              <a:t>SO HERE IS THE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33292E"/>
                </a:solidFill>
                <a:latin typeface="Georgia"/>
              </a:rPr>
              <a:t>Four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7772400" cy="566928"/>
          </a:xfrm>
          <a:prstGeom prst="roundRect">
            <a:avLst>
              <a:gd name="adj" fmla="val 14516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1563624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64208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572768"/>
            <a:ext cx="658368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B03E72"/>
                </a:solidFill>
                <a:latin typeface="Georgia"/>
              </a:rPr>
              <a:t>Is the person it is about laughing?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39696"/>
            <a:ext cx="7772400" cy="566928"/>
          </a:xfrm>
          <a:prstGeom prst="roundRect">
            <a:avLst>
              <a:gd name="adj" fmla="val 14516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221991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322575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231136"/>
            <a:ext cx="658368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B03E72"/>
                </a:solidFill>
                <a:latin typeface="Georgia"/>
              </a:rPr>
              <a:t>Would you say it to them with nobody else there?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98064"/>
            <a:ext cx="7772400" cy="566928"/>
          </a:xfrm>
          <a:prstGeom prst="roundRect">
            <a:avLst>
              <a:gd name="adj" fmla="val 14516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" y="2880360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2980944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2889504"/>
            <a:ext cx="658368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B03E72"/>
                </a:solidFill>
                <a:latin typeface="Georgia"/>
              </a:rPr>
              <a:t>Could they say the same thing back to you?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56432"/>
            <a:ext cx="7772400" cy="566928"/>
          </a:xfrm>
          <a:prstGeom prst="roundRect">
            <a:avLst>
              <a:gd name="adj" fmla="val 14516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" y="3538728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639312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547872"/>
            <a:ext cx="658368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B03E72"/>
                </a:solidFill>
                <a:latin typeface="Georgia"/>
              </a:rPr>
              <a:t>Did it stop the first time they asked?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187952"/>
            <a:ext cx="777240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03E72"/>
                </a:solidFill>
                <a:latin typeface="Calibri"/>
              </a:rPr>
              <a:t>A joke passes all four. Anything that fails one is worth looking at again.</a:t>
            </a:r>
          </a:p>
        </p:txBody>
      </p:sp>
      <p:pic>
        <p:nvPicPr>
          <p:cNvPr id="24" name="Picture 2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B1517B"/>
                </a:solidFill>
                <a:latin typeface="Calibri"/>
              </a:rPr>
              <a:t>THE SENTENCE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33292E"/>
                </a:solidFill>
                <a:latin typeface="Georgia"/>
              </a:rPr>
              <a:t>Two jobs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749039" cy="1920240"/>
          </a:xfrm>
          <a:prstGeom prst="roundRect">
            <a:avLst>
              <a:gd name="adj" fmla="val 4285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3200399" cy="6400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33292E"/>
                </a:solidFill>
                <a:latin typeface="Georgia"/>
              </a:rPr>
              <a:t>I did not mean to hurt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15184"/>
            <a:ext cx="3200399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6167"/>
                </a:solidFill>
                <a:latin typeface="Calibri"/>
              </a:rPr>
              <a:t>Most of the time this half is true.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1554480"/>
            <a:ext cx="3749039" cy="1920240"/>
          </a:xfrm>
          <a:prstGeom prst="roundRect">
            <a:avLst>
              <a:gd name="adj" fmla="val 4285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79" y="1810512"/>
            <a:ext cx="3200399" cy="6400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33292E"/>
                </a:solidFill>
                <a:latin typeface="Georgia"/>
              </a:rPr>
              <a:t>Now stop talking about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79" y="2615184"/>
            <a:ext cx="3200399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6167"/>
                </a:solidFill>
                <a:latin typeface="Calibri"/>
              </a:rPr>
              <a:t>This half tells the other person that the subject is closed.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75887"/>
            <a:ext cx="7772400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03E72"/>
                </a:solidFill>
                <a:latin typeface="Calibri"/>
              </a:rPr>
              <a:t>“It was just a joke” says both of these at once, and the second one is the one people hear.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77724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167"/>
                </a:solidFill>
                <a:latin typeface="Calibri"/>
              </a:rPr>
              <a:t>On its own, the first half would be an apology.</a:t>
            </a:r>
          </a:p>
        </p:txBody>
      </p:sp>
      <p:pic>
        <p:nvPicPr>
          <p:cNvPr id="15" name="Picture 14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B1517B"/>
                </a:solidFill>
                <a:latin typeface="Calibri"/>
              </a:rPr>
              <a:t>BEFORE 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33292E"/>
                </a:solidFill>
                <a:latin typeface="Georgia"/>
              </a:rPr>
              <a:t>What is always off limits?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7772400" cy="877824"/>
          </a:xfrm>
          <a:prstGeom prst="roundRect">
            <a:avLst>
              <a:gd name="adj" fmla="val 9375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82496"/>
            <a:ext cx="70408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B6167"/>
                </a:solidFill>
                <a:latin typeface="Calibri"/>
              </a:rPr>
              <a:t>Researchers asked 28 students aged eleven to fifteen where their own line was. Every group answered the same way first: it depends on the person.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42032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" y="2660903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761487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633472"/>
            <a:ext cx="6583680" cy="4571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B03E72"/>
                </a:solidFill>
                <a:latin typeface="Georgia"/>
              </a:rPr>
              <a:t>Write down three subjects that are off limits whoever is saying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39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3410711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511295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383279"/>
            <a:ext cx="6583680" cy="4571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B03E72"/>
                </a:solidFill>
                <a:latin typeface="Georgia"/>
              </a:rPr>
              <a:t>Then one subject that depends on who is saying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24528"/>
            <a:ext cx="77724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03E72"/>
                </a:solidFill>
                <a:latin typeface="Calibri"/>
              </a:rPr>
              <a:t>Two minutes, in pairs.</a:t>
            </a:r>
          </a:p>
        </p:txBody>
      </p:sp>
      <p:pic>
        <p:nvPicPr>
          <p:cNvPr id="18" name="Picture 1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B1517B"/>
                </a:solidFill>
                <a:latin typeface="Calibri"/>
              </a:rPr>
              <a:t>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33292E"/>
                </a:solidFill>
                <a:latin typeface="Georgia"/>
              </a:rPr>
              <a:t>What they named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7772400" cy="1975104"/>
          </a:xfrm>
          <a:prstGeom prst="roundRect">
            <a:avLst>
              <a:gd name="adj" fmla="val 4166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6949440" cy="1737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5000"/>
              </a:lnSpc>
            </a:pPr>
            <a:r>
              <a:rPr sz="1900" b="0">
                <a:solidFill>
                  <a:srgbClr val="33292E"/>
                </a:solidFill>
                <a:latin typeface="Georgia"/>
              </a:rPr>
              <a:t>Somebody’s family</a:t>
            </a:r>
            <a:br/>
            <a:r>
              <a:rPr sz="1900" b="0">
                <a:solidFill>
                  <a:srgbClr val="33292E"/>
                </a:solidFill>
                <a:latin typeface="Georgia"/>
              </a:rPr>
              <a:t>The way somebody looks</a:t>
            </a:r>
            <a:br/>
            <a:r>
              <a:rPr sz="1900" b="0">
                <a:solidFill>
                  <a:srgbClr val="33292E"/>
                </a:solidFill>
                <a:latin typeface="Georgia"/>
              </a:rPr>
              <a:t>Somebody who has died</a:t>
            </a:r>
            <a:br/>
            <a:r>
              <a:rPr sz="1900" b="0">
                <a:solidFill>
                  <a:srgbClr val="33292E"/>
                </a:solidFill>
                <a:latin typeface="Georgia"/>
              </a:rPr>
              <a:t>Anything racist or homophobic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84448"/>
            <a:ext cx="7772400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03E72"/>
                </a:solidFill>
                <a:latin typeface="Calibri"/>
              </a:rPr>
              <a:t>Your list is probably close. Everybody says the line is personal, then draws it in the same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96512"/>
            <a:ext cx="7772400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167"/>
                </a:solidFill>
                <a:latin typeface="Calibri"/>
              </a:rPr>
              <a:t>Steer and others, 2020, two secondary schools in the Midlands. Worth arguing with if your list was different.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B1517B"/>
                </a:solidFill>
                <a:latin typeface="Calibri"/>
              </a:rPr>
              <a:t>WATCH THIS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33292E"/>
                </a:solidFill>
                <a:latin typeface="Georgia"/>
              </a:rPr>
              <a:t>Two ways of answering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749039" cy="2011680"/>
          </a:xfrm>
          <a:prstGeom prst="roundRect">
            <a:avLst>
              <a:gd name="adj" fmla="val 409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73936"/>
            <a:ext cx="3310127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B03E72"/>
                </a:solidFill>
                <a:latin typeface="Georgia"/>
              </a:rPr>
              <a:t>This one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12848"/>
            <a:ext cx="3310127" cy="6949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33292E"/>
                </a:solidFill>
                <a:latin typeface="Georgia"/>
              </a:rPr>
              <a:t>“That came out worse than I meant it to. Sorry.”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999232"/>
            <a:ext cx="3310127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6167"/>
                </a:solidFill>
                <a:latin typeface="Calibri"/>
              </a:rPr>
              <a:t>The other person can accept it and put it down. Nothing is owed.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1554480"/>
            <a:ext cx="3749039" cy="2011680"/>
          </a:xfrm>
          <a:prstGeom prst="roundRect">
            <a:avLst>
              <a:gd name="adj" fmla="val 409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28616" y="1773936"/>
            <a:ext cx="3310127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B03E72"/>
                </a:solidFill>
                <a:latin typeface="Georgia"/>
              </a:rPr>
              <a:t>This one backfires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8616" y="2212848"/>
            <a:ext cx="3310127" cy="6949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33292E"/>
                </a:solidFill>
                <a:latin typeface="Georgia"/>
              </a:rPr>
              <a:t>“It was just a joke.”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2999232"/>
            <a:ext cx="3310127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6167"/>
                </a:solidFill>
                <a:latin typeface="Calibri"/>
              </a:rPr>
              <a:t>The other person has to agree it was funny or make a scene.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75887"/>
            <a:ext cx="7772400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03E72"/>
                </a:solidFill>
                <a:latin typeface="Calibri"/>
              </a:rPr>
              <a:t>Both of them mean the same thing. Only one of them lets the other person put it down.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87952"/>
            <a:ext cx="7772400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167"/>
                </a:solidFill>
                <a:latin typeface="Calibri"/>
              </a:rPr>
              <a:t>You are not admitting you meant it. You are saying you would rather not have said it.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B1517B"/>
                </a:solidFill>
                <a:latin typeface="Calibri"/>
              </a:rPr>
              <a:t>IF YOU SAID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33292E"/>
                </a:solidFill>
                <a:latin typeface="Georgia"/>
              </a:rPr>
              <a:t>Three that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9344"/>
            <a:ext cx="2432304" cy="2377440"/>
          </a:xfrm>
          <a:prstGeom prst="roundRect">
            <a:avLst>
              <a:gd name="adj" fmla="val 3461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768" y="1755648"/>
            <a:ext cx="658368" cy="658368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2432304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542032"/>
            <a:ext cx="2286000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B03E72"/>
                </a:solidFill>
                <a:latin typeface="Georgia"/>
              </a:rPr>
              <a:t>“That came out worse than I meant it to. Sorry.”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291840"/>
            <a:ext cx="2212848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B6167"/>
                </a:solidFill>
                <a:latin typeface="Calibri"/>
              </a:rPr>
              <a:t>It keeps the true half of the sentence and drops the half that ends the conversation.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609344"/>
            <a:ext cx="2432304" cy="2377440"/>
          </a:xfrm>
          <a:prstGeom prst="roundRect">
            <a:avLst>
              <a:gd name="adj" fmla="val 3461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42816" y="1755648"/>
            <a:ext cx="658368" cy="658368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874519"/>
            <a:ext cx="2432304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42032"/>
            <a:ext cx="2286000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B03E72"/>
                </a:solidFill>
                <a:latin typeface="Georgia"/>
              </a:rPr>
              <a:t>“Fair enough, I will leave it.”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3291840"/>
            <a:ext cx="2212848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B6167"/>
                </a:solidFill>
                <a:latin typeface="Calibri"/>
              </a:rPr>
              <a:t>Nobody has to admit anything, which is why it usually works in front of other people.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25896" y="1609344"/>
            <a:ext cx="2432304" cy="2377440"/>
          </a:xfrm>
          <a:prstGeom prst="roundRect">
            <a:avLst>
              <a:gd name="adj" fmla="val 3461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12864" y="1755648"/>
            <a:ext cx="658368" cy="658368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25896" y="1874519"/>
            <a:ext cx="2432304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2542032"/>
            <a:ext cx="2286000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B03E72"/>
                </a:solidFill>
                <a:latin typeface="Georgia"/>
              </a:rPr>
              <a:t>“You are right. I will stop.”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3291840"/>
            <a:ext cx="2212848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B6167"/>
                </a:solidFill>
                <a:latin typeface="Calibri"/>
              </a:rPr>
              <a:t>It tells them the one thing they want to know: that it will stop.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14800"/>
            <a:ext cx="777240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167"/>
                </a:solidFill>
                <a:latin typeface="Calibri"/>
              </a:rPr>
              <a:t>None of them is a speech, and none of them needs anybody else to be listening.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B1517B"/>
                </a:solidFill>
                <a:latin typeface="Calibri"/>
              </a:rPr>
              <a:t>THE OTHER SIDE OF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33292E"/>
                </a:solidFill>
                <a:latin typeface="Georgia"/>
              </a:rPr>
              <a:t>When it is about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9344"/>
            <a:ext cx="2432304" cy="2377440"/>
          </a:xfrm>
          <a:prstGeom prst="roundRect">
            <a:avLst>
              <a:gd name="adj" fmla="val 3461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768" y="1755648"/>
            <a:ext cx="658368" cy="658368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2432304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542032"/>
            <a:ext cx="2286000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B03E72"/>
                </a:solidFill>
                <a:latin typeface="Georgia"/>
              </a:rPr>
              <a:t>“I know you did not mean it, but I do not like it.”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291840"/>
            <a:ext cx="2212848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B6167"/>
                </a:solidFill>
                <a:latin typeface="Calibri"/>
              </a:rPr>
              <a:t>It accepts they did not mean it, and it counts as asking them to stop, which question four needs.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609344"/>
            <a:ext cx="2432304" cy="2377440"/>
          </a:xfrm>
          <a:prstGeom prst="roundRect">
            <a:avLst>
              <a:gd name="adj" fmla="val 3461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42816" y="1755648"/>
            <a:ext cx="658368" cy="658368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874519"/>
            <a:ext cx="2432304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42032"/>
            <a:ext cx="2286000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B03E72"/>
                </a:solidFill>
                <a:latin typeface="Georgia"/>
              </a:rPr>
              <a:t>“Leave it, yeah?”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3291840"/>
            <a:ext cx="2212848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B6167"/>
                </a:solidFill>
                <a:latin typeface="Calibri"/>
              </a:rPr>
              <a:t>Short, no scene, and most people stop.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25896" y="1609344"/>
            <a:ext cx="2432304" cy="2377440"/>
          </a:xfrm>
          <a:prstGeom prst="roundRect">
            <a:avLst>
              <a:gd name="adj" fmla="val 3461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12864" y="1755648"/>
            <a:ext cx="658368" cy="658368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25896" y="1874519"/>
            <a:ext cx="2432304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2542032"/>
            <a:ext cx="2286000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B03E72"/>
                </a:solidFill>
                <a:latin typeface="Georgia"/>
              </a:rPr>
              <a:t>Say it later, on their own.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3291840"/>
            <a:ext cx="2212848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B6167"/>
                </a:solidFill>
                <a:latin typeface="Calibri"/>
              </a:rPr>
              <a:t>Away from the audience it is a different conversation, and it usually goes better.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14800"/>
            <a:ext cx="777240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03E72"/>
                </a:solidFill>
                <a:latin typeface="Calibri"/>
              </a:rPr>
              <a:t>Question four only works if somebody asks, and these are the ways of asking.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B1517B"/>
                </a:solidFill>
                <a:latin typeface="Calibri"/>
              </a:rPr>
              <a:t>NOW ONE OUT 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33292E"/>
                </a:solidFill>
                <a:latin typeface="Georgia"/>
              </a:rPr>
              <a:t>Try it on this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7772400" cy="603504"/>
          </a:xfrm>
          <a:prstGeom prst="roundRect">
            <a:avLst>
              <a:gd name="adj" fmla="val 13636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45920"/>
            <a:ext cx="704088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292E"/>
                </a:solidFill>
                <a:latin typeface="Georgia"/>
              </a:rPr>
              <a:t>Somebody reads a mistake out of a classmate’s book to the table, and the table laughs.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" y="2368296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468879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340864"/>
            <a:ext cx="6583680" cy="4571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B03E72"/>
                </a:solidFill>
                <a:latin typeface="Georgia"/>
              </a:rPr>
              <a:t>Which of the four questions does it fail?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62656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3081528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182112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054096"/>
            <a:ext cx="6583680" cy="4571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B03E72"/>
                </a:solidFill>
                <a:latin typeface="Georgia"/>
              </a:rPr>
              <a:t>What should the person who read it out say?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75887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" y="3794759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895344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767327"/>
            <a:ext cx="6583680" cy="4571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B03E72"/>
                </a:solidFill>
                <a:latin typeface="Georgia"/>
              </a:rPr>
              <a:t>What could the person it was about say?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07408"/>
            <a:ext cx="77724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03E72"/>
                </a:solidFill>
                <a:latin typeface="Calibri"/>
              </a:rPr>
              <a:t>Say it out loud. Two or three go on the board.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B1517B"/>
                </a:solidFill>
                <a:latin typeface="Calibri"/>
              </a:rPr>
              <a:t>TWELVE MINUTES, IN PAIRS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33292E"/>
                </a:solidFill>
                <a:latin typeface="Georgia"/>
              </a:rPr>
              <a:t>What would you say?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1856231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56815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828800"/>
            <a:ext cx="6583680" cy="4571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B03E72"/>
                </a:solidFill>
                <a:latin typeface="Georgia"/>
              </a:rPr>
              <a:t>Take one moment card between two.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87168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606039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706623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578608"/>
            <a:ext cx="6583680" cy="4571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B03E72"/>
                </a:solidFill>
                <a:latin typeface="Georgia"/>
              </a:rPr>
              <a:t>Write which question it fails, and the words for both people.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36976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" y="3355848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456432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328416"/>
            <a:ext cx="6583680" cy="4571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B03E72"/>
                </a:solidFill>
                <a:latin typeface="Georgia"/>
              </a:rPr>
              <a:t>Say them to each other. If you would not say it out loud, change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777240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03E72"/>
                </a:solidFill>
                <a:latin typeface="Calibri"/>
              </a:rPr>
              <a:t>Real words, not the ones that sound good. Nobody is marking you on being nice.</a:t>
            </a:r>
          </a:p>
        </p:txBody>
      </p:sp>
      <p:pic>
        <p:nvPicPr>
          <p:cNvPr id="20" name="Picture 1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B1517B"/>
                </a:solidFill>
                <a:latin typeface="Calibri"/>
              </a:rPr>
              <a:t>SWAP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33292E"/>
                </a:solidFill>
                <a:latin typeface="Georgia"/>
              </a:rPr>
              <a:t>Mark somebody else’s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1856231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56815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828800"/>
            <a:ext cx="6583680" cy="4571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B03E72"/>
                </a:solidFill>
                <a:latin typeface="Georgia"/>
              </a:rPr>
              <a:t>Could somebody actually say it out loud in this school?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87168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606039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706623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578608"/>
            <a:ext cx="6583680" cy="4571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B03E72"/>
                </a:solidFill>
                <a:latin typeface="Georgia"/>
              </a:rPr>
              <a:t>Does it avoid putting anybody on trial?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36976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" y="3355848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456432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328416"/>
            <a:ext cx="6583680" cy="4571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B03E72"/>
                </a:solidFill>
                <a:latin typeface="Georgia"/>
              </a:rPr>
              <a:t>Can both people move on from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7772400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03E72"/>
                </a:solidFill>
                <a:latin typeface="Calibri"/>
              </a:rPr>
              <a:t>Move your sheet two tables along. Tick what it passes, then write one change that would get it said.</a:t>
            </a:r>
          </a:p>
        </p:txBody>
      </p:sp>
      <p:pic>
        <p:nvPicPr>
          <p:cNvPr id="20" name="Picture 1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B1517B"/>
                </a:solidFill>
                <a:latin typeface="Calibri"/>
              </a:rPr>
              <a:t>NO RIGHT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33292E"/>
                </a:solidFill>
                <a:latin typeface="Georgia"/>
              </a:rPr>
              <a:t>A joke, and still wrong?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7772400" cy="164592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75104"/>
            <a:ext cx="6766560" cy="10972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700" b="0">
                <a:solidFill>
                  <a:srgbClr val="33292E"/>
                </a:solidFill>
                <a:latin typeface="Georgia"/>
              </a:rPr>
              <a:t>They meant it kindly.</a:t>
            </a:r>
            <a:br/>
            <a:r>
              <a:rPr sz="1700" b="0">
                <a:solidFill>
                  <a:srgbClr val="33292E"/>
                </a:solidFill>
                <a:latin typeface="Georgia"/>
              </a:rPr>
              <a:t>Everybody laughed, including the person it was about.</a:t>
            </a:r>
            <a:br/>
            <a:r>
              <a:rPr sz="1700" b="0">
                <a:solidFill>
                  <a:srgbClr val="33292E"/>
                </a:solidFill>
                <a:latin typeface="Georgia"/>
              </a:rPr>
              <a:t>They went home and it stayed with them all evening.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777240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167"/>
                </a:solidFill>
                <a:latin typeface="Calibri"/>
              </a:rPr>
              <a:t>Was it a joke? Both answers can be argued. Four minutes, and see where your form lands.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B1517B"/>
                </a:solidFill>
                <a:latin typeface="Calibri"/>
              </a:rPr>
              <a:t>LAST THREE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33292E"/>
                </a:solidFill>
                <a:latin typeface="Georgia"/>
              </a:rPr>
              <a:t>Two questions, for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1993391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093975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965960"/>
            <a:ext cx="6583680" cy="4571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B03E72"/>
                </a:solidFill>
                <a:latin typeface="Georgia"/>
              </a:rPr>
              <a:t>Which of the four questions do you forget most often?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60903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779775"/>
            <a:ext cx="402336" cy="402336"/>
          </a:xfrm>
          <a:prstGeom prst="ellipse">
            <a:avLst/>
          </a:prstGeom>
          <a:solidFill>
            <a:srgbClr val="B03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880359"/>
            <a:ext cx="402336" cy="402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752344"/>
            <a:ext cx="6583680" cy="4571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B03E72"/>
                </a:solidFill>
                <a:latin typeface="Georgia"/>
              </a:rPr>
              <a:t>What will you say this week instead of that sentence?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777240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03E72"/>
                </a:solidFill>
                <a:latin typeface="Calibri"/>
              </a:rPr>
              <a:t>This is not collected and it is not read out. Fold it, keep it, or bin it on the way out.</a:t>
            </a:r>
          </a:p>
        </p:txBody>
      </p:sp>
      <p:pic>
        <p:nvPicPr>
          <p:cNvPr id="16" name="Picture 1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0">
                <a:solidFill>
                  <a:srgbClr val="B03E72"/>
                </a:solidFill>
                <a:latin typeface="Georgia"/>
              </a:rPr>
              <a:t>Everybody gets one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9080" y="2788920"/>
            <a:ext cx="1005840" cy="18288"/>
          </a:xfrm>
          <a:prstGeom prst="rect">
            <a:avLst/>
          </a:prstGeom>
          <a:solidFill>
            <a:srgbClr val="B15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6B6167"/>
                </a:solidFill>
                <a:latin typeface="Calibri"/>
              </a:rPr>
              <a:t>What people remember is the sentence you said afterwards.</a:t>
            </a:r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B1517B"/>
                </a:solidFill>
                <a:latin typeface="Calibri"/>
              </a:rPr>
              <a:t>FOR THE 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33292E"/>
                </a:solidFill>
                <a:latin typeface="Georgia"/>
              </a:rPr>
              <a:t>Where these came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B03E72"/>
                </a:solidFill>
                <a:latin typeface="Calibri"/>
              </a:rPr>
              <a:t>Steer, O., Betts, L. R., Baguley, T. and Binder, J. F. (2020).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7772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67"/>
                </a:solidFill>
                <a:latin typeface="Calibri"/>
              </a:rPr>
              <a:t>“I feel like everyone does it”: adolescents’ perceptions and awareness of the association between humour, banter, and cyberbullying. Computers in Human Behavior, 108, 106297.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31136"/>
            <a:ext cx="7772400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67"/>
                </a:solidFill>
                <a:latin typeface="Calibri"/>
              </a:rPr>
              <a:t>Focus groups with 28 students aged eleven to fifteen at two secondary schools in the English Midlands. They described a line of acceptability that depends on friendship, trust and who is watching rather than on the words used, and they named much the same subjects as being over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80944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B03E72"/>
                </a:solidFill>
                <a:latin typeface="Calibri"/>
              </a:rPr>
              <a:t>Anti-Bullying Alliance and Nottingham Trent University (2023).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18687"/>
            <a:ext cx="7772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67"/>
                </a:solidFill>
                <a:latin typeface="Calibri"/>
              </a:rPr>
              <a:t>Banter or Bullying? Navigating the line of acceptability.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7772400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67"/>
                </a:solidFill>
                <a:latin typeface="Calibri"/>
              </a:rPr>
              <a:t>A toolkit for schools, built on a survey of 884 teachers. Nineteen per cent said they felt equipped to deal with banter, against thirty-seven per cent for bullying, and eighty-four per cent had had no training on it at all.</a:t>
            </a:r>
          </a:p>
        </p:txBody>
      </p:sp>
      <p:pic>
        <p:nvPicPr>
          <p:cNvPr id="13" name="Picture 1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09160"/>
            <a:ext cx="155448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79EA2"/>
                </a:solidFill>
                <a:latin typeface="Calibri"/>
              </a:rPr>
              <a:t>The Pastoral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79EA2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Was Just a Joke: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