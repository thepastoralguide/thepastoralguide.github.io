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485900"/>
            <a:ext cx="8046720" cy="1197864"/>
          </a:xfrm>
          <a:prstGeom prst="rect">
            <a:avLst/>
          </a:prstGeom>
          <a:noFill/>
        </p:spPr>
        <p:txBody>
          <a:bodyPr wrap="square" anchor="t" lIns="0" rIns="0" tIns="0" bIns="0">
            <a:spAutoFit/>
          </a:bodyPr>
          <a:lstStyle/>
          <a:p>
            <a:pPr algn="ctr">
              <a:lnSpc>
                <a:spcPct val="105000"/>
              </a:lnSpc>
              <a:spcAft>
                <a:spcPts val="0"/>
              </a:spcAft>
            </a:pPr>
            <a:r>
              <a:rPr sz="3600" b="0" i="0">
                <a:solidFill>
                  <a:srgbClr val="2E3570"/>
                </a:solidFill>
                <a:latin typeface="Georgia"/>
              </a:rPr>
              <a:t>Revision That</a:t>
            </a:r>
            <a:br>
              <a:rPr lang="en-GB"/>
            </a:br>
            <a:r>
              <a:rPr sz="3600" b="0" i="0">
                <a:solidFill>
                  <a:srgbClr val="2E3570"/>
                </a:solidFill>
                <a:latin typeface="Georgia"/>
              </a:rPr>
              <a:t>Survives the Week</a:t>
            </a:r>
          </a:p>
        </p:txBody>
      </p:sp>
      <p:sp>
        <p:nvSpPr>
          <p:cNvPr id="5" name="Rectangle 4"/>
          <p:cNvSpPr/>
          <p:nvPr/>
        </p:nvSpPr>
        <p:spPr>
          <a:xfrm>
            <a:off x="4069080" y="2816352"/>
            <a:ext cx="1005840" cy="18288"/>
          </a:xfrm>
          <a:prstGeom prst="rect">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7680960" cy="365760"/>
          </a:xfrm>
          <a:prstGeom prst="rect">
            <a:avLst/>
          </a:prstGeom>
          <a:noFill/>
        </p:spPr>
        <p:txBody>
          <a:bodyPr wrap="square" anchor="t" lIns="0" rIns="0" tIns="0" bIns="0">
            <a:spAutoFit/>
          </a:bodyPr>
          <a:lstStyle/>
          <a:p>
            <a:pPr algn="ctr">
              <a:lnSpc>
                <a:spcPct val="125000"/>
              </a:lnSpc>
              <a:spcAft>
                <a:spcPts val="0"/>
              </a:spcAft>
            </a:pPr>
            <a:r>
              <a:rPr sz="1800" b="0" i="0">
                <a:solidFill>
                  <a:srgbClr val="5C6552"/>
                </a:solidFill>
                <a:latin typeface="Calibri"/>
              </a:rPr>
              <a:t>A plan is only as good as the week it meets.</a:t>
            </a:r>
          </a:p>
        </p:txBody>
      </p:sp>
      <p:sp>
        <p:nvSpPr>
          <p:cNvPr id="7" name="TextBox 6"/>
          <p:cNvSpPr txBox="1"/>
          <p:nvPr/>
        </p:nvSpPr>
        <p:spPr>
          <a:xfrm>
            <a:off x="731520" y="3547872"/>
            <a:ext cx="7680960" cy="365760"/>
          </a:xfrm>
          <a:prstGeom prst="rect">
            <a:avLst/>
          </a:prstGeom>
          <a:noFill/>
        </p:spPr>
        <p:txBody>
          <a:bodyPr wrap="square" anchor="t" lIns="0" rIns="0" tIns="0" bIns="0">
            <a:spAutoFit/>
          </a:bodyPr>
          <a:lstStyle/>
          <a:p>
            <a:pPr algn="ctr">
              <a:lnSpc>
                <a:spcPct val="125000"/>
              </a:lnSpc>
              <a:spcAft>
                <a:spcPts val="0"/>
              </a:spcAft>
            </a:pPr>
            <a:r>
              <a:rPr sz="1300" b="0" i="0">
                <a:solidFill>
                  <a:srgbClr val="8B9179"/>
                </a:solidFill>
                <a:latin typeface="Calibri"/>
              </a:rPr>
              <a:t>Tutor Time  ·  a lesson for Year 10 to 13</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2269682"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Calibri"/>
              </a:rPr>
              <a:t>TEACHER SLIDE  ·  SKIP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Before the lesson</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One sheet per student, in pencil. Nothing written today is collected.</a:t>
            </a:r>
          </a:p>
        </p:txBody>
      </p:sp>
      <p:sp>
        <p:nvSpPr>
          <p:cNvPr id="6" name="Rectangle 5"/>
          <p:cNvSpPr/>
          <p:nvPr/>
        </p:nvSpPr>
        <p:spPr>
          <a:xfrm>
            <a:off x="685800" y="1975104"/>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9397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8998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7568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Print the week sheet, one per student</a:t>
            </a:r>
          </a:p>
        </p:txBody>
      </p:sp>
      <p:sp>
        <p:nvSpPr>
          <p:cNvPr id="10" name="TextBox 9"/>
          <p:cNvSpPr txBox="1"/>
          <p:nvPr/>
        </p:nvSpPr>
        <p:spPr>
          <a:xfrm>
            <a:off x="1417320" y="232257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It is page 2 of the pack. Pencils, because the plan gets repaired three times.</a:t>
            </a:r>
          </a:p>
        </p:txBody>
      </p:sp>
      <p:sp>
        <p:nvSpPr>
          <p:cNvPr id="11" name="Rectangle 10"/>
          <p:cNvSpPr/>
          <p:nvPr/>
        </p:nvSpPr>
        <p:spPr>
          <a:xfrm>
            <a:off x="685800" y="2724912"/>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4378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3979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2549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 three interruptions are slides 9, 10 and 11</a:t>
            </a:r>
          </a:p>
        </p:txBody>
      </p:sp>
      <p:sp>
        <p:nvSpPr>
          <p:cNvPr id="15" name="TextBox 14"/>
          <p:cNvSpPr txBox="1"/>
          <p:nvPr/>
        </p:nvSpPr>
        <p:spPr>
          <a:xfrm>
            <a:off x="1417320" y="307238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Read each one out, then give the room two minutes to repair the plan.</a:t>
            </a:r>
          </a:p>
        </p:txBody>
      </p:sp>
      <p:sp>
        <p:nvSpPr>
          <p:cNvPr id="16" name="Rectangle 15"/>
          <p:cNvSpPr/>
          <p:nvPr/>
        </p:nvSpPr>
        <p:spPr>
          <a:xfrm>
            <a:off x="685800" y="3474720"/>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9359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8960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75303"/>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Keep slide 17 for the Mondays after</a:t>
            </a:r>
          </a:p>
        </p:txBody>
      </p:sp>
      <p:sp>
        <p:nvSpPr>
          <p:cNvPr id="20" name="TextBox 19"/>
          <p:cNvSpPr txBox="1"/>
          <p:nvPr/>
        </p:nvSpPr>
        <p:spPr>
          <a:xfrm>
            <a:off x="1417320" y="3822191"/>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A two-minute check-in at registration.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The pack has the hour minute by minute against these slide numbers.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The last plan you made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Two minutes, on your own, nobody sees it.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When did you last make a revision timetable?</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A proper one, with days and subjects on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How long did it last?</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Be honest. A day, a week, until the first thing came up?</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What happened to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Not why it failed. Just what happened.</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Keep the answer. The lesson is about the thing that happened.</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What usually happens to a plan</a:t>
            </a:r>
          </a:p>
        </p:txBody>
      </p:sp>
      <p:sp>
        <p:nvSpPr>
          <p:cNvPr id="5" name="Rectangle 4"/>
          <p:cNvSpPr/>
          <p:nvPr/>
        </p:nvSpPr>
        <p:spPr>
          <a:xfrm>
            <a:off x="685800" y="1627632"/>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68478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079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8" name="TextBox 7"/>
          <p:cNvSpPr txBox="1"/>
          <p:nvPr/>
        </p:nvSpPr>
        <p:spPr>
          <a:xfrm>
            <a:off x="1417320" y="17282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Monday looked fine</a:t>
            </a:r>
          </a:p>
        </p:txBody>
      </p:sp>
      <p:sp>
        <p:nvSpPr>
          <p:cNvPr id="9" name="TextBox 8"/>
          <p:cNvSpPr txBox="1"/>
          <p:nvPr/>
        </p:nvSpPr>
        <p:spPr>
          <a:xfrm>
            <a:off x="1417320" y="19751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Every evening was free on paper, and the plan filled all of them.</a:t>
            </a:r>
          </a:p>
        </p:txBody>
      </p:sp>
      <p:sp>
        <p:nvSpPr>
          <p:cNvPr id="10" name="Rectangle 9"/>
          <p:cNvSpPr/>
          <p:nvPr/>
        </p:nvSpPr>
        <p:spPr>
          <a:xfrm>
            <a:off x="685800" y="2272284"/>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232943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42544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3" name="TextBox 12"/>
          <p:cNvSpPr txBox="1"/>
          <p:nvPr/>
        </p:nvSpPr>
        <p:spPr>
          <a:xfrm>
            <a:off x="1417320" y="237286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Tuesday, something came up</a:t>
            </a:r>
          </a:p>
        </p:txBody>
      </p:sp>
      <p:sp>
        <p:nvSpPr>
          <p:cNvPr id="14" name="TextBox 13"/>
          <p:cNvSpPr txBox="1"/>
          <p:nvPr/>
        </p:nvSpPr>
        <p:spPr>
          <a:xfrm>
            <a:off x="1417320" y="261975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It was not your fault, and there was no space in the plan for it.</a:t>
            </a:r>
          </a:p>
        </p:txBody>
      </p:sp>
      <p:sp>
        <p:nvSpPr>
          <p:cNvPr id="15" name="Rectangle 14"/>
          <p:cNvSpPr/>
          <p:nvPr/>
        </p:nvSpPr>
        <p:spPr>
          <a:xfrm>
            <a:off x="685800" y="2916936"/>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297408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07009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8" name="TextBox 17"/>
          <p:cNvSpPr txBox="1"/>
          <p:nvPr/>
        </p:nvSpPr>
        <p:spPr>
          <a:xfrm>
            <a:off x="1417320" y="301752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Thursday was a rescue</a:t>
            </a:r>
          </a:p>
        </p:txBody>
      </p:sp>
      <p:sp>
        <p:nvSpPr>
          <p:cNvPr id="19" name="TextBox 18"/>
          <p:cNvSpPr txBox="1"/>
          <p:nvPr/>
        </p:nvSpPr>
        <p:spPr>
          <a:xfrm>
            <a:off x="1417320" y="326440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Everything that had moved was now on Thursday, which was already full.</a:t>
            </a:r>
          </a:p>
        </p:txBody>
      </p:sp>
      <p:sp>
        <p:nvSpPr>
          <p:cNvPr id="20" name="Rectangle 19"/>
          <p:cNvSpPr/>
          <p:nvPr/>
        </p:nvSpPr>
        <p:spPr>
          <a:xfrm>
            <a:off x="685800" y="3561587"/>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8680" y="3618737"/>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71474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4</a:t>
            </a:r>
          </a:p>
        </p:txBody>
      </p:sp>
      <p:sp>
        <p:nvSpPr>
          <p:cNvPr id="23" name="TextBox 22"/>
          <p:cNvSpPr txBox="1"/>
          <p:nvPr/>
        </p:nvSpPr>
        <p:spPr>
          <a:xfrm>
            <a:off x="1417320" y="3662172"/>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Then nothing</a:t>
            </a:r>
          </a:p>
        </p:txBody>
      </p:sp>
      <p:sp>
        <p:nvSpPr>
          <p:cNvPr id="24" name="TextBox 23"/>
          <p:cNvSpPr txBox="1"/>
          <p:nvPr/>
        </p:nvSpPr>
        <p:spPr>
          <a:xfrm>
            <a:off x="1417320" y="3909059"/>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The plan was two days behind, so it stopped being a plan.</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The plan did not fail because you did. It failed because it was written for a week that does not exist.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Two kinds of plan</a:t>
            </a:r>
          </a:p>
        </p:txBody>
      </p:sp>
      <p:sp>
        <p:nvSpPr>
          <p:cNvPr id="5" name="Rectangle 4"/>
          <p:cNvSpPr/>
          <p:nvPr/>
        </p:nvSpPr>
        <p:spPr>
          <a:xfrm>
            <a:off x="685800"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83664"/>
            <a:ext cx="3182112" cy="274320"/>
          </a:xfrm>
          <a:prstGeom prst="rect">
            <a:avLst/>
          </a:prstGeom>
          <a:noFill/>
        </p:spPr>
        <p:txBody>
          <a:bodyPr wrap="square" anchor="t" lIns="0" rIns="0" tIns="0" bIns="0">
            <a:spAutoFit/>
          </a:bodyPr>
          <a:lstStyle/>
          <a:p>
            <a:pPr algn="l">
              <a:lnSpc>
                <a:spcPct val="125000"/>
              </a:lnSpc>
              <a:spcAft>
                <a:spcPts val="0"/>
              </a:spcAft>
            </a:pPr>
            <a:r>
              <a:rPr sz="1350" b="0" i="0">
                <a:solidFill>
                  <a:srgbClr val="2E3570"/>
                </a:solidFill>
                <a:latin typeface="Georgia"/>
              </a:rPr>
              <a:t>A plan for a perfect week</a:t>
            </a:r>
          </a:p>
        </p:txBody>
      </p:sp>
      <p:sp>
        <p:nvSpPr>
          <p:cNvPr id="7" name="Oval 6"/>
          <p:cNvSpPr/>
          <p:nvPr/>
        </p:nvSpPr>
        <p:spPr>
          <a:xfrm>
            <a:off x="1005839"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Every evening is free.</a:t>
            </a:r>
          </a:p>
        </p:txBody>
      </p:sp>
      <p:sp>
        <p:nvSpPr>
          <p:cNvPr id="9" name="Oval 8"/>
          <p:cNvSpPr/>
          <p:nvPr/>
        </p:nvSpPr>
        <p:spPr>
          <a:xfrm>
            <a:off x="1005839" y="272491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7004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Nobody needs you for anything.</a:t>
            </a:r>
          </a:p>
        </p:txBody>
      </p:sp>
      <p:sp>
        <p:nvSpPr>
          <p:cNvPr id="11" name="Oval 10"/>
          <p:cNvSpPr/>
          <p:nvPr/>
        </p:nvSpPr>
        <p:spPr>
          <a:xfrm>
            <a:off x="1005839" y="30906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0358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You feel like it every night.</a:t>
            </a:r>
          </a:p>
        </p:txBody>
      </p:sp>
      <p:sp>
        <p:nvSpPr>
          <p:cNvPr id="13" name="Oval 12"/>
          <p:cNvSpPr/>
          <p:nvPr/>
        </p:nvSpPr>
        <p:spPr>
          <a:xfrm>
            <a:off x="1005839" y="345643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340156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One missed session breaks it.</a:t>
            </a:r>
          </a:p>
        </p:txBody>
      </p:sp>
      <p:sp>
        <p:nvSpPr>
          <p:cNvPr id="15" name="Rectangle 14"/>
          <p:cNvSpPr/>
          <p:nvPr/>
        </p:nvSpPr>
        <p:spPr>
          <a:xfrm>
            <a:off x="4727448"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1768" y="1883664"/>
            <a:ext cx="3182112" cy="274320"/>
          </a:xfrm>
          <a:prstGeom prst="rect">
            <a:avLst/>
          </a:prstGeom>
          <a:noFill/>
        </p:spPr>
        <p:txBody>
          <a:bodyPr wrap="square" anchor="t" lIns="0" rIns="0" tIns="0" bIns="0">
            <a:spAutoFit/>
          </a:bodyPr>
          <a:lstStyle/>
          <a:p>
            <a:pPr algn="l">
              <a:lnSpc>
                <a:spcPct val="125000"/>
              </a:lnSpc>
              <a:spcAft>
                <a:spcPts val="0"/>
              </a:spcAft>
            </a:pPr>
            <a:r>
              <a:rPr sz="1350" b="0" i="0">
                <a:solidFill>
                  <a:srgbClr val="2E3570"/>
                </a:solidFill>
                <a:latin typeface="Georgia"/>
              </a:rPr>
              <a:t>A plan for a real week</a:t>
            </a:r>
          </a:p>
        </p:txBody>
      </p:sp>
      <p:sp>
        <p:nvSpPr>
          <p:cNvPr id="17" name="Oval 16"/>
          <p:cNvSpPr/>
          <p:nvPr/>
        </p:nvSpPr>
        <p:spPr>
          <a:xfrm>
            <a:off x="5047488"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One evening is going to be lost.</a:t>
            </a:r>
          </a:p>
        </p:txBody>
      </p:sp>
      <p:sp>
        <p:nvSpPr>
          <p:cNvPr id="19" name="Oval 18"/>
          <p:cNvSpPr/>
          <p:nvPr/>
        </p:nvSpPr>
        <p:spPr>
          <a:xfrm>
            <a:off x="5047488" y="2679271"/>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2624407"/>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Something will move.</a:t>
            </a:r>
          </a:p>
        </p:txBody>
      </p:sp>
      <p:sp>
        <p:nvSpPr>
          <p:cNvPr id="21" name="Oval 20"/>
          <p:cNvSpPr/>
          <p:nvPr/>
        </p:nvSpPr>
        <p:spPr>
          <a:xfrm>
            <a:off x="5047488" y="2999390"/>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76088" y="2944526"/>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Some sessions are twenty-five minutes.</a:t>
            </a:r>
          </a:p>
        </p:txBody>
      </p:sp>
      <p:sp>
        <p:nvSpPr>
          <p:cNvPr id="23" name="Oval 22"/>
          <p:cNvSpPr/>
          <p:nvPr/>
        </p:nvSpPr>
        <p:spPr>
          <a:xfrm>
            <a:off x="5047488" y="35020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76088" y="34472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Calibri"/>
              </a:rPr>
              <a:t>There is a slot with nothing in it.</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You are going to write the second one.</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Four rules that keep a plan alive</a:t>
            </a:r>
          </a:p>
        </p:txBody>
      </p:sp>
      <p:sp>
        <p:nvSpPr>
          <p:cNvPr id="5" name="Rectangle 4"/>
          <p:cNvSpPr/>
          <p:nvPr/>
        </p:nvSpPr>
        <p:spPr>
          <a:xfrm>
            <a:off x="685800"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png"/>
          <p:cNvPicPr>
            <a:picLocks noChangeAspect="1"/>
          </p:cNvPicPr>
          <p:nvPr/>
        </p:nvPicPr>
        <p:blipFill>
          <a:blip r:embed="rId2"/>
          <a:stretch>
            <a:fillRect/>
          </a:stretch>
        </p:blipFill>
        <p:spPr>
          <a:xfrm>
            <a:off x="1005840" y="2002536"/>
            <a:ext cx="384048" cy="384048"/>
          </a:xfrm>
          <a:prstGeom prst="rect">
            <a:avLst/>
          </a:prstGeom>
        </p:spPr>
      </p:pic>
      <p:sp>
        <p:nvSpPr>
          <p:cNvPr id="8" name="TextBox 7"/>
          <p:cNvSpPr txBox="1"/>
          <p:nvPr/>
        </p:nvSpPr>
        <p:spPr>
          <a:xfrm>
            <a:off x="1655064" y="1901952"/>
            <a:ext cx="2596896" cy="310896"/>
          </a:xfrm>
          <a:prstGeom prst="rect">
            <a:avLst/>
          </a:prstGeom>
          <a:noFill/>
        </p:spPr>
        <p:txBody>
          <a:bodyPr wrap="square" anchor="t" lIns="0" rIns="0" tIns="0" bIns="0">
            <a:spAutoFit/>
          </a:bodyPr>
          <a:lstStyle/>
          <a:p>
            <a:pPr algn="l">
              <a:lnSpc>
                <a:spcPct val="125000"/>
              </a:lnSpc>
              <a:spcAft>
                <a:spcPts val="0"/>
              </a:spcAft>
            </a:pPr>
            <a:r>
              <a:rPr sz="1400" b="0" i="0">
                <a:solidFill>
                  <a:srgbClr val="2E3570"/>
                </a:solidFill>
                <a:latin typeface="Georgia"/>
              </a:rPr>
              <a:t>Small sessions</a:t>
            </a:r>
          </a:p>
        </p:txBody>
      </p:sp>
      <p:sp>
        <p:nvSpPr>
          <p:cNvPr id="9" name="TextBox 8"/>
          <p:cNvSpPr txBox="1"/>
          <p:nvPr/>
        </p:nvSpPr>
        <p:spPr>
          <a:xfrm>
            <a:off x="1655064"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Twenty-five minutes, one thing. Small enough to do on a bad night.</a:t>
            </a:r>
          </a:p>
        </p:txBody>
      </p:sp>
      <p:sp>
        <p:nvSpPr>
          <p:cNvPr id="10" name="Rectangle 9"/>
          <p:cNvSpPr/>
          <p:nvPr/>
        </p:nvSpPr>
        <p:spPr>
          <a:xfrm>
            <a:off x="4709159"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92039"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png"/>
          <p:cNvPicPr>
            <a:picLocks noChangeAspect="1"/>
          </p:cNvPicPr>
          <p:nvPr/>
        </p:nvPicPr>
        <p:blipFill>
          <a:blip r:embed="rId3"/>
          <a:stretch>
            <a:fillRect/>
          </a:stretch>
        </p:blipFill>
        <p:spPr>
          <a:xfrm>
            <a:off x="5029199" y="2002536"/>
            <a:ext cx="384048" cy="384048"/>
          </a:xfrm>
          <a:prstGeom prst="rect">
            <a:avLst/>
          </a:prstGeom>
        </p:spPr>
      </p:pic>
      <p:sp>
        <p:nvSpPr>
          <p:cNvPr id="13" name="TextBox 12"/>
          <p:cNvSpPr txBox="1"/>
          <p:nvPr/>
        </p:nvSpPr>
        <p:spPr>
          <a:xfrm>
            <a:off x="5678423" y="1901952"/>
            <a:ext cx="2596896" cy="310896"/>
          </a:xfrm>
          <a:prstGeom prst="rect">
            <a:avLst/>
          </a:prstGeom>
          <a:noFill/>
        </p:spPr>
        <p:txBody>
          <a:bodyPr wrap="square" anchor="t" lIns="0" rIns="0" tIns="0" bIns="0">
            <a:spAutoFit/>
          </a:bodyPr>
          <a:lstStyle/>
          <a:p>
            <a:pPr algn="l">
              <a:lnSpc>
                <a:spcPct val="125000"/>
              </a:lnSpc>
              <a:spcAft>
                <a:spcPts val="0"/>
              </a:spcAft>
            </a:pPr>
            <a:r>
              <a:rPr sz="1400" b="0" i="0">
                <a:solidFill>
                  <a:srgbClr val="2E3570"/>
                </a:solidFill>
                <a:latin typeface="Georgia"/>
              </a:rPr>
              <a:t>Named, not vague</a:t>
            </a:r>
          </a:p>
        </p:txBody>
      </p:sp>
      <p:sp>
        <p:nvSpPr>
          <p:cNvPr id="14" name="TextBox 13"/>
          <p:cNvSpPr txBox="1"/>
          <p:nvPr/>
        </p:nvSpPr>
        <p:spPr>
          <a:xfrm>
            <a:off x="5678423"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“Biology: cells, questions 1 to 10” is a session. “Revise biology” is not.</a:t>
            </a:r>
          </a:p>
        </p:txBody>
      </p:sp>
      <p:sp>
        <p:nvSpPr>
          <p:cNvPr id="15" name="Rectangle 14"/>
          <p:cNvSpPr/>
          <p:nvPr/>
        </p:nvSpPr>
        <p:spPr>
          <a:xfrm>
            <a:off x="685800"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lendar.png"/>
          <p:cNvPicPr>
            <a:picLocks noChangeAspect="1"/>
          </p:cNvPicPr>
          <p:nvPr/>
        </p:nvPicPr>
        <p:blipFill>
          <a:blip r:embed="rId4"/>
          <a:stretch>
            <a:fillRect/>
          </a:stretch>
        </p:blipFill>
        <p:spPr>
          <a:xfrm>
            <a:off x="1005840" y="3300984"/>
            <a:ext cx="384048" cy="384048"/>
          </a:xfrm>
          <a:prstGeom prst="rect">
            <a:avLst/>
          </a:prstGeom>
        </p:spPr>
      </p:pic>
      <p:sp>
        <p:nvSpPr>
          <p:cNvPr id="18" name="TextBox 17"/>
          <p:cNvSpPr txBox="1"/>
          <p:nvPr/>
        </p:nvSpPr>
        <p:spPr>
          <a:xfrm>
            <a:off x="1655064" y="3200400"/>
            <a:ext cx="2596896" cy="310896"/>
          </a:xfrm>
          <a:prstGeom prst="rect">
            <a:avLst/>
          </a:prstGeom>
          <a:noFill/>
        </p:spPr>
        <p:txBody>
          <a:bodyPr wrap="square" anchor="t" lIns="0" rIns="0" tIns="0" bIns="0">
            <a:spAutoFit/>
          </a:bodyPr>
          <a:lstStyle/>
          <a:p>
            <a:pPr algn="l">
              <a:lnSpc>
                <a:spcPct val="125000"/>
              </a:lnSpc>
              <a:spcAft>
                <a:spcPts val="0"/>
              </a:spcAft>
            </a:pPr>
            <a:r>
              <a:rPr sz="1400" b="0" i="0">
                <a:solidFill>
                  <a:srgbClr val="2E3570"/>
                </a:solidFill>
                <a:latin typeface="Georgia"/>
              </a:rPr>
              <a:t>One spare slot</a:t>
            </a:r>
          </a:p>
        </p:txBody>
      </p:sp>
      <p:sp>
        <p:nvSpPr>
          <p:cNvPr id="19" name="TextBox 18"/>
          <p:cNvSpPr txBox="1"/>
          <p:nvPr/>
        </p:nvSpPr>
        <p:spPr>
          <a:xfrm>
            <a:off x="1655064"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One evening with nothing in it, on purpose. Moved sessions go there.</a:t>
            </a:r>
          </a:p>
        </p:txBody>
      </p:sp>
      <p:sp>
        <p:nvSpPr>
          <p:cNvPr id="20" name="Rectangle 19"/>
          <p:cNvSpPr/>
          <p:nvPr/>
        </p:nvSpPr>
        <p:spPr>
          <a:xfrm>
            <a:off x="4709159"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92039"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rds.png"/>
          <p:cNvPicPr>
            <a:picLocks noChangeAspect="1"/>
          </p:cNvPicPr>
          <p:nvPr/>
        </p:nvPicPr>
        <p:blipFill>
          <a:blip r:embed="rId5"/>
          <a:stretch>
            <a:fillRect/>
          </a:stretch>
        </p:blipFill>
        <p:spPr>
          <a:xfrm>
            <a:off x="5029199" y="3300984"/>
            <a:ext cx="384048" cy="384048"/>
          </a:xfrm>
          <a:prstGeom prst="rect">
            <a:avLst/>
          </a:prstGeom>
        </p:spPr>
      </p:pic>
      <p:sp>
        <p:nvSpPr>
          <p:cNvPr id="23" name="TextBox 22"/>
          <p:cNvSpPr txBox="1"/>
          <p:nvPr/>
        </p:nvSpPr>
        <p:spPr>
          <a:xfrm>
            <a:off x="5678423" y="3200400"/>
            <a:ext cx="2596896" cy="310896"/>
          </a:xfrm>
          <a:prstGeom prst="rect">
            <a:avLst/>
          </a:prstGeom>
          <a:noFill/>
        </p:spPr>
        <p:txBody>
          <a:bodyPr wrap="square" anchor="t" lIns="0" rIns="0" tIns="0" bIns="0">
            <a:spAutoFit/>
          </a:bodyPr>
          <a:lstStyle/>
          <a:p>
            <a:pPr algn="l">
              <a:lnSpc>
                <a:spcPct val="125000"/>
              </a:lnSpc>
              <a:spcAft>
                <a:spcPts val="0"/>
              </a:spcAft>
            </a:pPr>
            <a:r>
              <a:rPr sz="1400" b="0" i="0">
                <a:solidFill>
                  <a:srgbClr val="2E3570"/>
                </a:solidFill>
                <a:latin typeface="Georgia"/>
              </a:rPr>
              <a:t>Next week, not the term</a:t>
            </a:r>
          </a:p>
        </p:txBody>
      </p:sp>
      <p:sp>
        <p:nvSpPr>
          <p:cNvPr id="24" name="TextBox 23"/>
          <p:cNvSpPr txBox="1"/>
          <p:nvPr/>
        </p:nvSpPr>
        <p:spPr>
          <a:xfrm>
            <a:off x="5678423"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Sunday evening, plan seven days. A term plan is stale by Wednesday.</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Every repair you make later uses one of these four.</a:t>
            </a:r>
          </a:p>
        </p:txBody>
      </p:sp>
      <p:pic>
        <p:nvPicPr>
          <p:cNvPr id="26" name="Picture 25" descr="logo-mark.png"/>
          <p:cNvPicPr>
            <a:picLocks noChangeAspect="1"/>
          </p:cNvPicPr>
          <p:nvPr/>
        </p:nvPicPr>
        <p:blipFill>
          <a:blip r:embed="rId6"/>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One Monday, twice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The same evening, planned two ways.</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Revise maths, 6 until 9</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Three hours, no detail. By half past six it is something else.</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Maths: quadratics, the ten questions on page 42, 6 until 6.25</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Twenty-five minutes with a finish line. It gets done, and it gets ticked.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Then a second one, if the evening allows</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Chemistry: bonding, redo last week’s test, 7 until 7.25. If it does not, one is enough.</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Two short named sessions on a normal evening beat three hours on paper.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Plan the seven days ahead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On the sheet, in pencil. This is a real week: the one that starts tomorrow.</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Up to two sessions a day, each one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Subject, topic, and what you will actually do. A page number is a good sign.</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Leave one slot empty</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Cross it through and write SPARE. It is not a day off; it is where things go when they move.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Put in the things that are already fixed</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Work shifts, training, family things, a birthday. Plan around them, not through them.</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Six minutes. If you finish early, make a session smaller.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FFFDF7"/>
                </a:solidFill>
                <a:latin typeface="Georgia"/>
              </a:rPr>
              <a:t>Tuesday, late</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Calibri"/>
              </a:rPr>
              <a:t>You were going to do the maths session after tea. Instead something happened at home that was nobody’s fault, and you were up until one in the morning. This morning you slept through the alarm and missed the bus.</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Calibri"/>
              </a:rPr>
              <a:t>Tuesday’s sessions did not happen. Repair the plan: where do they go, and what gets smaller?</a:t>
            </a:r>
          </a:p>
        </p:txBody>
      </p:sp>
      <p:sp>
        <p:nvSpPr>
          <p:cNvPr id="8" name="TextBox 7"/>
          <p:cNvSpPr txBox="1"/>
          <p:nvPr/>
        </p:nvSpPr>
        <p:spPr>
          <a:xfrm>
            <a:off x="685800" y="3931920"/>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Calibri"/>
              </a:rPr>
              <a:t>Two minutes, on the sheet. Use the spare slot or shrink something; do not add a third session to Wednesday.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Calibri"/>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Calibri"/>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FFFDF7"/>
                </a:solidFill>
                <a:latin typeface="Georgia"/>
              </a:rPr>
              <a:t>Thursday, four o’clock</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Calibri"/>
              </a:rPr>
              <a:t>A message at lunchtime. You are needed from four until nine on Thursday, and it is not up to you. Maybe it is a shift that moved, maybe it is looking after someone, maybe it is a lift you cannot say no to.</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Calibri"/>
              </a:rPr>
              <a:t>Thursday is gone. Repair the plan again.</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Calibri"/>
              </a:rPr>
              <a:t>Two minutes. If the spare slot is already used, something has to be cut. Decide what, and say why.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Calibri"/>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Calibri"/>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FFFDF7"/>
                </a:solidFill>
                <a:latin typeface="Georgia"/>
              </a:rPr>
              <a:t>Saturday, two o’clock</a:t>
            </a:r>
          </a:p>
        </p:txBody>
      </p:sp>
      <p:sp>
        <p:nvSpPr>
          <p:cNvPr id="5" name="TextBox 4"/>
          <p:cNvSpPr txBox="1"/>
          <p:nvPr/>
        </p:nvSpPr>
        <p:spPr>
          <a:xfrm>
            <a:off x="685800" y="1645920"/>
            <a:ext cx="7772400" cy="54864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Calibri"/>
              </a:rPr>
              <a:t>A friend messages. They are not okay, and they ask whether you can come over this afternoon. You know that you are going.</a:t>
            </a:r>
          </a:p>
        </p:txBody>
      </p:sp>
      <p:sp>
        <p:nvSpPr>
          <p:cNvPr id="6" name="Rounded Rectangle 5"/>
          <p:cNvSpPr/>
          <p:nvPr/>
        </p:nvSpPr>
        <p:spPr>
          <a:xfrm>
            <a:off x="685800" y="239572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52374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Calibri"/>
              </a:rPr>
              <a:t>Saturday afternoon is theirs. Repair the plan one last time.</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Calibri"/>
              </a:rPr>
              <a:t>Two minutes. Notice which sessions have moved three times and are still on the sheet.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Calibri"/>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Calibri"/>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What survived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Look at the sheet. Some sessions moved three times and are still there.</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 ones that survived were small</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Twenty-five minutes can move to a Sunday morning. Three hours cannot.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 ones that survived were named</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You knew what “quadratics, page 42” was, so you could move it without losing it.</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The spare slot did most of the work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Without it, the first interruption would have finished the plan.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Tell the person next to you which session you would have lost without the spare slot.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Check a plan that is not yours</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Swap sheets with the person next to you.</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Is every session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If you cannot tell what they will do in it, write a question mark next to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Is every session small enough to move?</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Anything over forty-five minutes gets a circle.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Is there a spare slot, and did they use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Tick it if it is there.</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Hand it back with one thing you would move, and why.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896112"/>
            <a:ext cx="7772400" cy="365760"/>
          </a:xfrm>
          <a:prstGeom prst="rect">
            <a:avLst/>
          </a:prstGeom>
          <a:noFill/>
        </p:spPr>
        <p:txBody>
          <a:bodyPr wrap="square" anchor="t" lIns="0" rIns="0" tIns="0" bIns="0">
            <a:spAutoFit/>
          </a:bodyPr>
          <a:lstStyle/>
          <a:p>
            <a:pPr algn="l">
              <a:lnSpc>
                <a:spcPct val="125000"/>
              </a:lnSpc>
              <a:spcAft>
                <a:spcPts val="0"/>
              </a:spcAft>
            </a:pPr>
            <a:r>
              <a:rPr sz="1200" b="1" i="0" spc="120">
                <a:solidFill>
                  <a:srgbClr val="C9CCE6"/>
                </a:solidFill>
                <a:latin typeface="Calibri"/>
              </a:rPr>
              <a:t>One question</a:t>
            </a:r>
          </a:p>
        </p:txBody>
      </p:sp>
      <p:sp>
        <p:nvSpPr>
          <p:cNvPr id="5" name="TextBox 4"/>
          <p:cNvSpPr txBox="1"/>
          <p:nvPr/>
        </p:nvSpPr>
        <p:spPr>
          <a:xfrm>
            <a:off x="548640" y="1389888"/>
            <a:ext cx="8046720" cy="1463040"/>
          </a:xfrm>
          <a:prstGeom prst="rect">
            <a:avLst/>
          </a:prstGeom>
          <a:noFill/>
        </p:spPr>
        <p:txBody>
          <a:bodyPr wrap="square" anchor="t" lIns="0" rIns="0" tIns="0" bIns="0">
            <a:spAutoFit/>
          </a:bodyPr>
          <a:lstStyle/>
          <a:p>
            <a:pPr algn="ctr">
              <a:lnSpc>
                <a:spcPct val="114000"/>
              </a:lnSpc>
              <a:spcAft>
                <a:spcPts val="0"/>
              </a:spcAft>
            </a:pPr>
            <a:r>
              <a:rPr sz="2800" b="0" i="0">
                <a:solidFill>
                  <a:srgbClr val="FFFDF7"/>
                </a:solidFill>
                <a:latin typeface="Georgia"/>
              </a:rPr>
              <a:t>Is a plan that changed three times in a week a failed plan?</a:t>
            </a:r>
          </a:p>
        </p:txBody>
      </p:sp>
      <p:sp>
        <p:nvSpPr>
          <p:cNvPr id="6" name="Rectangle 5"/>
          <p:cNvSpPr/>
          <p:nvPr/>
        </p:nvSpPr>
        <p:spPr>
          <a:xfrm>
            <a:off x="4114800" y="3108960"/>
            <a:ext cx="914400" cy="18288"/>
          </a:xfrm>
          <a:prstGeom prst="rect">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346704"/>
            <a:ext cx="6400800" cy="731520"/>
          </a:xfrm>
          <a:prstGeom prst="rect">
            <a:avLst/>
          </a:prstGeom>
          <a:noFill/>
        </p:spPr>
        <p:txBody>
          <a:bodyPr wrap="square" anchor="t" lIns="0" rIns="0" tIns="0" bIns="0">
            <a:spAutoFit/>
          </a:bodyPr>
          <a:lstStyle/>
          <a:p>
            <a:pPr algn="ctr">
              <a:lnSpc>
                <a:spcPct val="125000"/>
              </a:lnSpc>
              <a:spcAft>
                <a:spcPts val="0"/>
              </a:spcAft>
            </a:pPr>
            <a:r>
              <a:rPr sz="1350" b="0" i="0">
                <a:solidFill>
                  <a:srgbClr val="C9CCE6"/>
                </a:solidFill>
                <a:latin typeface="Calibri"/>
              </a:rPr>
              <a:t>Hands up for yes, hands up for no, and then somebody from each side says why.</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Calibri"/>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Calibri"/>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Monday morning</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At the bottom of the sheet, private, not collected.</a:t>
            </a:r>
          </a:p>
        </p:txBody>
      </p:sp>
      <p:sp>
        <p:nvSpPr>
          <p:cNvPr id="6" name="Rectangle 5"/>
          <p:cNvSpPr/>
          <p:nvPr/>
        </p:nvSpPr>
        <p:spPr>
          <a:xfrm>
            <a:off x="685800" y="1956816"/>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11226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0827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Your first session</a:t>
            </a:r>
          </a:p>
        </p:txBody>
      </p:sp>
      <p:sp>
        <p:nvSpPr>
          <p:cNvPr id="10" name="TextBox 9"/>
          <p:cNvSpPr txBox="1"/>
          <p:nvPr/>
        </p:nvSpPr>
        <p:spPr>
          <a:xfrm>
            <a:off x="1417320" y="2304288"/>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Day, time, subject, topic, what you will do. The whole line.</a:t>
            </a:r>
          </a:p>
        </p:txBody>
      </p:sp>
      <p:sp>
        <p:nvSpPr>
          <p:cNvPr id="11" name="Rectangle 10"/>
          <p:cNvSpPr/>
          <p:nvPr/>
        </p:nvSpPr>
        <p:spPr>
          <a:xfrm>
            <a:off x="685800" y="2798064"/>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5351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4952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9864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Where the sheet is going</a:t>
            </a:r>
          </a:p>
        </p:txBody>
      </p:sp>
      <p:sp>
        <p:nvSpPr>
          <p:cNvPr id="15" name="TextBox 14"/>
          <p:cNvSpPr txBox="1"/>
          <p:nvPr/>
        </p:nvSpPr>
        <p:spPr>
          <a:xfrm>
            <a:off x="1417320" y="3145536"/>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A wall, a folder, the inside of a planner. Somewhere you will see it on Monday.</a:t>
            </a:r>
          </a:p>
        </p:txBody>
      </p:sp>
      <p:sp>
        <p:nvSpPr>
          <p:cNvPr id="16" name="TextBox 15"/>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Bring the sheet on Monday. The check-in takes two minutes.</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255251" y="950976"/>
            <a:ext cx="633496" cy="731520"/>
          </a:xfrm>
          <a:prstGeom prst="rect">
            <a:avLst/>
          </a:prstGeom>
        </p:spPr>
      </p:pic>
      <p:sp>
        <p:nvSpPr>
          <p:cNvPr id="4" name="TextBox 3"/>
          <p:cNvSpPr txBox="1"/>
          <p:nvPr/>
        </p:nvSpPr>
        <p:spPr>
          <a:xfrm>
            <a:off x="548640" y="1993392"/>
            <a:ext cx="8046720" cy="822960"/>
          </a:xfrm>
          <a:prstGeom prst="rect">
            <a:avLst/>
          </a:prstGeom>
          <a:noFill/>
        </p:spPr>
        <p:txBody>
          <a:bodyPr wrap="square" anchor="t" lIns="0" rIns="0" tIns="0" bIns="0">
            <a:spAutoFit/>
          </a:bodyPr>
          <a:lstStyle/>
          <a:p>
            <a:pPr algn="ctr">
              <a:lnSpc>
                <a:spcPct val="105000"/>
              </a:lnSpc>
              <a:spcAft>
                <a:spcPts val="0"/>
              </a:spcAft>
            </a:pPr>
            <a:r>
              <a:rPr sz="3200" b="0" i="0">
                <a:solidFill>
                  <a:srgbClr val="2E3570"/>
                </a:solidFill>
                <a:latin typeface="Georgia"/>
              </a:rPr>
              <a:t>Plan the week you will have.</a:t>
            </a:r>
          </a:p>
        </p:txBody>
      </p:sp>
      <p:sp>
        <p:nvSpPr>
          <p:cNvPr id="5" name="TextBox 4"/>
          <p:cNvSpPr txBox="1"/>
          <p:nvPr/>
        </p:nvSpPr>
        <p:spPr>
          <a:xfrm>
            <a:off x="1188720" y="2871216"/>
            <a:ext cx="6766560" cy="731520"/>
          </a:xfrm>
          <a:prstGeom prst="rect">
            <a:avLst/>
          </a:prstGeom>
          <a:noFill/>
        </p:spPr>
        <p:txBody>
          <a:bodyPr wrap="square" anchor="t" lIns="0" rIns="0" tIns="0" bIns="0">
            <a:spAutoFit/>
          </a:bodyPr>
          <a:lstStyle/>
          <a:p>
            <a:pPr algn="ctr">
              <a:lnSpc>
                <a:spcPct val="125000"/>
              </a:lnSpc>
              <a:spcAft>
                <a:spcPts val="0"/>
              </a:spcAft>
            </a:pPr>
            <a:r>
              <a:rPr sz="1500" b="0" i="0">
                <a:solidFill>
                  <a:srgbClr val="5C6552"/>
                </a:solidFill>
                <a:latin typeface="Calibri"/>
              </a:rPr>
              <a:t>Not the week you wish for. Small sessions, named, with a spare slot, a week at a time.</a:t>
            </a:r>
          </a:p>
        </p:txBody>
      </p:sp>
      <p:sp>
        <p:nvSpPr>
          <p:cNvPr id="6" name="TextBox 5"/>
          <p:cNvSpPr txBox="1"/>
          <p:nvPr/>
        </p:nvSpPr>
        <p:spPr>
          <a:xfrm>
            <a:off x="731520" y="3803904"/>
            <a:ext cx="7680960" cy="310896"/>
          </a:xfrm>
          <a:prstGeom prst="rect">
            <a:avLst/>
          </a:prstGeom>
          <a:noFill/>
        </p:spPr>
        <p:txBody>
          <a:bodyPr wrap="square" anchor="t" lIns="0" rIns="0" tIns="0" bIns="0">
            <a:spAutoFit/>
          </a:bodyPr>
          <a:lstStyle/>
          <a:p>
            <a:pPr algn="ctr">
              <a:lnSpc>
                <a:spcPct val="125000"/>
              </a:lnSpc>
              <a:spcAft>
                <a:spcPts val="0"/>
              </a:spcAft>
            </a:pPr>
            <a:r>
              <a:rPr sz="1200" b="0" i="0">
                <a:solidFill>
                  <a:srgbClr val="8B9179"/>
                </a:solidFill>
                <a:latin typeface="Calibri"/>
              </a:rPr>
              <a:t>The Pastoral Guide  ·  thepastoralguide.com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708656"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Calibri"/>
              </a:rPr>
              <a:t>MONDAY CHECK-IN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0" i="0">
                <a:solidFill>
                  <a:srgbClr val="2E3436"/>
                </a:solidFill>
                <a:latin typeface="Georgia"/>
              </a:rPr>
              <a:t>What survived last week?</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Calibri"/>
              </a:rPr>
              <a:t>Two minutes at registration, with last week’s sheet out.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What survived?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How many sessions happened? Tick them.</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What moved, and where did it go?</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If it went into the spare slot, the plan worked.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Calibri"/>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0" i="0">
                <a:solidFill>
                  <a:srgbClr val="2E3570"/>
                </a:solidFill>
                <a:latin typeface="Georgia"/>
              </a:rPr>
              <a:t>What is the first session this week?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Calibri"/>
              </a:rPr>
              <a:t>Write it on the new sheet before the bell.</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Calibri"/>
              </a:rPr>
              <a:t>Then put the sheet away. That is the whole check-in.</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Calibri"/>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Calibri"/>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