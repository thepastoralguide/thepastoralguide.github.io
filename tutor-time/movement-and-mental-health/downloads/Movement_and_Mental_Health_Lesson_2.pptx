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39" y="566928"/>
            <a:ext cx="72852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57276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220">
                <a:solidFill>
                  <a:srgbClr val="502961"/>
                </a:solidFill>
                <a:latin typeface="Calibri"/>
              </a:rPr>
              <a:t>MOVEMENT AND MENTAL HEALTH  ·  LESSON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56816"/>
            <a:ext cx="84124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3400" b="0" i="0">
                <a:solidFill>
                  <a:srgbClr val="502961"/>
                </a:solidFill>
                <a:latin typeface="Georgia"/>
              </a:rPr>
              <a:t>Test it on this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2962656"/>
            <a:ext cx="1005840" cy="18288"/>
          </a:xfrm>
          <a:prstGeom prst="rect">
            <a:avLst/>
          </a:prstGeom>
          <a:solidFill>
            <a:srgbClr val="A9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63824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0" i="0">
                <a:solidFill>
                  <a:srgbClr val="635C6B"/>
                </a:solidFill>
                <a:latin typeface="Calibri"/>
              </a:rPr>
              <a:t>You wrote a prediction last week.</a:t>
            </a:r>
            <a:br/>
            <a:r>
              <a:rPr sz="1500" b="0" i="0">
                <a:solidFill>
                  <a:srgbClr val="635C6B"/>
                </a:solidFill>
                <a:latin typeface="Calibri"/>
              </a:rPr>
              <a:t>Now thirty of you find out how close it was.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1363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9C95A3"/>
                </a:solidFill>
                <a:latin typeface="Calibri"/>
              </a:rPr>
              <a:t>Healthy Body, Healthy Mind</a:t>
            </a:r>
          </a:p>
        </p:txBody>
      </p:sp>
      <p:pic>
        <p:nvPicPr>
          <p:cNvPr id="9" name="Picture 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0" y="530352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589788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502961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BEFORE THEY COME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F2A36"/>
                </a:solidFill>
                <a:latin typeface="Georgia"/>
              </a:rPr>
              <a:t>Four things to set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664207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2821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459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Space by the chairs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459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Bags under desks, chairs pushed in. Nobody needs more than a step in any direction.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49424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" y="2359152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42316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40864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Last week’s sheets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34086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Spares on page 3 of the pack. Without a prediction there is nothing to 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44368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" y="3054096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118103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03580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Two columns on the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3580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Pulse change and focus change. You are tallying bands, not averages.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39312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" y="3749039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3813048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73075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Your own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73075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Asthma, injuries, anything that makes this a bad idea. Check records, not memories.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525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No kit, no changing, no leaving the room. The whole practical is five minutes long.</a:t>
            </a:r>
          </a:p>
        </p:txBody>
      </p:sp>
      <p:pic>
        <p:nvPicPr>
          <p:cNvPr id="28" name="Picture 2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FROM LAST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77824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FFFDF7"/>
                </a:solidFill>
                <a:latin typeface="Georgia"/>
              </a:rPr>
              <a:t>You already wrote the answer 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55648"/>
            <a:ext cx="2432304" cy="1444752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4208" y="1865376"/>
            <a:ext cx="475488" cy="47548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1956816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45059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Your pulse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77977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35C6B"/>
                </a:solidFill>
                <a:latin typeface="Calibri"/>
              </a:rPr>
              <a:t>Beats per minute. Fifteen seconds, times four.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55648"/>
            <a:ext cx="2432304" cy="1444752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34256" y="1865376"/>
            <a:ext cx="475488" cy="47548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956816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45059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Your focus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77977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35C6B"/>
                </a:solidFill>
                <a:latin typeface="Calibri"/>
              </a:rPr>
              <a:t>Out of ten. Could you start a piece of work right now?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5896" y="1755648"/>
            <a:ext cx="2432304" cy="1444752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04304" y="1865376"/>
            <a:ext cx="475488" cy="47548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4304" y="1956816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45059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Your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77977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35C6B"/>
                </a:solidFill>
                <a:latin typeface="Calibri"/>
              </a:rPr>
              <a:t>What both of those would do after five minutes of moving.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01568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Sheet out, prediction where you can see it. You are about to find out.</a:t>
            </a:r>
          </a:p>
        </p:txBody>
      </p:sp>
      <p:pic>
        <p:nvPicPr>
          <p:cNvPr id="23" name="Picture 2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NOT OPTIONAL, NOT NEGOTIABLE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6600" y="53035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0" y="58978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502961"/>
                </a:solidFill>
                <a:latin typeface="Calibri"/>
              </a:rPr>
              <a:t>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Before anybody moves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9928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Asthma, an injury, anything that makes this a bad idea. Tell your teacher now.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67128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49424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Every option has a seated version. Taking it is not opting out of anything.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06624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788920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Dizzy, breathless in a way that worries you, or in pain? Sit down and say 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328415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You stay by your own chair. Nobody crosses the room and nobody touches anybody.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85615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867911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Nobody sees your numbers except you. They go on your sheet, not on the 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342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Anyone who cannot follow these five records the class numbers instead.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COLUMN A ON YOUR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Before you do anything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Sitting down, quiet, no talking. Thirty seconds of stillness first, then measure.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Fifteen seconds, times four. Write it in column 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24912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163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163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Out of ten, right now. Write it in column 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46704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43814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Which one you picked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3814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You choose on the next slide. Write that down too.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If you talk during this, you will get someone else’s number instead of your own and the experiment will not work.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PICK ONE AND STAY ON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 i="0">
                <a:solidFill>
                  <a:srgbClr val="2F2A36"/>
                </a:solidFill>
                <a:latin typeface="Georgia"/>
              </a:rPr>
              <a:t>Choose your five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The card on your table has the steps. Every one of them has a seated version on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48256"/>
            <a:ext cx="2432304" cy="181051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7632" y="2139696"/>
            <a:ext cx="548640" cy="548640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276856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8" y="2798064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Bursts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127248"/>
            <a:ext cx="21396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502961"/>
                </a:solidFill>
                <a:latin typeface="Calibri"/>
              </a:rPr>
              <a:t>Sixty on, ten off, four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419856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35C6B"/>
                </a:solidFill>
                <a:latin typeface="Calibri"/>
              </a:rPr>
              <a:t>Marching, star jumps, or fast feet on the spot.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048256"/>
            <a:ext cx="2432304" cy="1810512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97680" y="2139696"/>
            <a:ext cx="548640" cy="548640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276856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65576" y="2798064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Strength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127248"/>
            <a:ext cx="21396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502961"/>
                </a:solidFill>
                <a:latin typeface="Calibri"/>
              </a:rPr>
              <a:t>Three sets, slow and controlled.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419856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35C6B"/>
                </a:solidFill>
                <a:latin typeface="Calibri"/>
              </a:rPr>
              <a:t>Wall press-ups, chair squats, calf raises.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5896" y="2048256"/>
            <a:ext cx="2432304" cy="181051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67728" y="2139696"/>
            <a:ext cx="548640" cy="548640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2276856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35624" y="2798064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Stretch and breathe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127248"/>
            <a:ext cx="21396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502961"/>
                </a:solidFill>
                <a:latin typeface="Calibri"/>
              </a:rPr>
              <a:t>Quiet, and easy to do seated.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419856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35C6B"/>
                </a:solidFill>
                <a:latin typeface="Calibri"/>
              </a:rPr>
              <a:t>Long stretches, and four slow breaths between each.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050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Pick the one you would actually do again. That matters more than which is hardest.</a:t>
            </a:r>
          </a:p>
        </p:txBody>
      </p:sp>
      <p:pic>
        <p:nvPicPr>
          <p:cNvPr id="27" name="Picture 26" descr="logo-ma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READ THESE, THEN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F2A36"/>
                </a:solidFill>
                <a:latin typeface="Georgia"/>
              </a:rPr>
              <a:t>Four rules for five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00784"/>
            <a:ext cx="7772400" cy="53035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64792"/>
            <a:ext cx="402336" cy="402336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379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78308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Follow your card, not the person next to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04288"/>
            <a:ext cx="7772400" cy="530352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2368296"/>
            <a:ext cx="402336" cy="402336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4144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8658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Moderate is the target. You should be able to talk, but not 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07792"/>
            <a:ext cx="7772400" cy="53035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2971800"/>
            <a:ext cx="402336" cy="402336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04495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299008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If it hurts or you feel dizzy, sit down. That is always the right thing to 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11296"/>
            <a:ext cx="7772400" cy="530352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75303"/>
            <a:ext cx="402336" cy="402336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4845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3593591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Do not stop early to compare numbers. Measuring comes after.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2452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Nobody has to be good at this. You only have to keep going for five minutes.</a:t>
            </a:r>
          </a:p>
        </p:txBody>
      </p:sp>
      <p:pic>
        <p:nvPicPr>
          <p:cNvPr id="24" name="Picture 2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400" b="0" i="0">
                <a:solidFill>
                  <a:srgbClr val="FFFDF7"/>
                </a:solidFill>
                <a:latin typeface="Georgia"/>
              </a:rPr>
              <a:t>Five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57984"/>
            <a:ext cx="64008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231136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Calibri"/>
              </a:rPr>
              <a:t>Start when your teacher says. Not before.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79776"/>
            <a:ext cx="64008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285292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Calibri"/>
              </a:rPr>
              <a:t>Keep going. Slow down if you need to. Stop if it hurts.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401568"/>
            <a:ext cx="64008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4747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Calibri"/>
              </a:rPr>
              <a:t>Do not measure anything until the five minutes are up.</a:t>
            </a:r>
          </a:p>
        </p:txBody>
      </p:sp>
      <p:sp>
        <p:nvSpPr>
          <p:cNvPr id="13" name="Oval 12"/>
          <p:cNvSpPr/>
          <p:nvPr/>
        </p:nvSpPr>
        <p:spPr>
          <a:xfrm>
            <a:off x="4315968" y="3785615"/>
            <a:ext cx="512064" cy="512064"/>
          </a:xfrm>
          <a:prstGeom prst="ellipse">
            <a:avLst/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904487"/>
            <a:ext cx="274320" cy="274320"/>
          </a:xfrm>
          <a:prstGeom prst="rect">
            <a:avLst/>
          </a:prstGeom>
        </p:spPr>
      </p:pic>
      <p:pic>
        <p:nvPicPr>
          <p:cNvPr id="15" name="Picture 14" descr="logo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COLUMN B, STRAIGHT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Now, before you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Sit down and measure immediately. Waiting two minutes changes the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Fifteen seconds, times four. Column 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24912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163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163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Out of ten, honestly. Column 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46704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43814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One 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3814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How do you feel? Write the first word you think of.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The one word is the useful part: your first reaction is the most honest one.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ALL OF IT ON THE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Thirty results, not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Hands up in bands. Your teacher writes the totals, not your name.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84831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7627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Pulse went up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76272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Under 10  ·  10 to 25  ·  25 to 40  ·  more than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24911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16351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Focus went up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816351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Not at all  ·  1 point  ·  2 to 3  ·  more than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64991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45643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Focus went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456432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It does for some people, and that is a real result too.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5137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Ten minutes have to pass before the last measurement. This is how you spend them.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BACK TO WHAT YOU WROTE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How close were you?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901952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97510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938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Who predicted their pulse within ten? Hands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2542032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61518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6946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Who predicted the focus change, up or down, correctly?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08960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3182112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25526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0954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Did more people get the pulse right, or the focus? Which was easier to guess?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The pulse is the obvious change. The focus one is the change worth having.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AGAINST A REAL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6035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 i="0">
                <a:solidFill>
                  <a:srgbClr val="2F2A36"/>
                </a:solidFill>
                <a:latin typeface="Georgia"/>
              </a:rPr>
              <a:t>Thirty of you, 168 of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44752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99616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502961"/>
                </a:solidFill>
                <a:latin typeface="Calibri"/>
              </a:rPr>
              <a:t>The study from last week: half moved for twenty minutes at break, half did 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66543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3055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02961"/>
                </a:solidFill>
                <a:latin typeface="Georgia"/>
              </a:rPr>
              <a:t>What they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30551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The movers’ attention went up. The others’ went slightly 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33472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69747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02961"/>
                </a:solidFill>
                <a:latin typeface="Georgia"/>
              </a:rPr>
              <a:t>What you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9747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Whatever is on the board. Compare the direction first, then the size.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0040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2644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02961"/>
                </a:solidFill>
                <a:latin typeface="Georgia"/>
              </a:rPr>
              <a:t>Three ways yours is weaker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2644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No control group, thirty people not 168, and you scored yourselves.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77056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Getting the same direction as a proper study, with worse tools, is a real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4281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9C95A3"/>
                </a:solidFill>
                <a:latin typeface="Calibri"/>
              </a:rPr>
              <a:t>Xiao, X. (2026). Frontiers in Psychology, 17, 1781997.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COLUMN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50976"/>
            <a:ext cx="77724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600" b="0" i="0">
                <a:solidFill>
                  <a:srgbClr val="FFFDF7"/>
                </a:solidFill>
                <a:latin typeface="Georgia"/>
              </a:rPr>
              <a:t>Ten minutes later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21408"/>
            <a:ext cx="694944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19456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Pulse again. It should be close to where it started.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743200"/>
            <a:ext cx="694944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816352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Focus again. This is the one that does not go 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364991"/>
            <a:ext cx="694944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438144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Circle whichever of your three numbers surprised you most.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59936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Your heart went back. Your head did not, or not all the way.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BACK TO THE GRAPH FROM LESSON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You just drew this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73936"/>
            <a:ext cx="18288" cy="1920240"/>
          </a:xfrm>
          <a:prstGeom prst="rect">
            <a:avLst/>
          </a:prstGeom>
          <a:solidFill>
            <a:srgbClr val="63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3694176"/>
            <a:ext cx="6309360" cy="18288"/>
          </a:xfrm>
          <a:prstGeom prst="rect">
            <a:avLst/>
          </a:prstGeom>
          <a:solidFill>
            <a:srgbClr val="63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39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40">
                <a:solidFill>
                  <a:srgbClr val="635C6B"/>
                </a:solidFill>
                <a:latin typeface="Calibri"/>
              </a:rPr>
              <a:t>HOW YOU FEEL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80390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 spc="140">
                <a:solidFill>
                  <a:srgbClr val="635C6B"/>
                </a:solidFill>
                <a:latin typeface="Calibri"/>
              </a:rPr>
              <a:t>TIME</a:t>
            </a:r>
          </a:p>
        </p:txBody>
      </p:sp>
      <p:sp>
        <p:nvSpPr>
          <p:cNvPr id="11" name="Freeform 10"/>
          <p:cNvSpPr/>
          <p:nvPr/>
        </p:nvSpPr>
        <p:spPr>
          <a:xfrm>
            <a:off x="1417320" y="2503627"/>
            <a:ext cx="6309360" cy="633679"/>
          </a:xfrm>
          <a:custGeom>
            <a:avLst/>
            <a:gdLst/>
            <a:ahLst/>
            <a:cxnLst/>
            <a:rect l="l" t="t" r="r" b="b"/>
            <a:pathLst>
              <a:path w="6309360" h="633679">
                <a:moveTo>
                  <a:pt x="0" y="0"/>
                </a:moveTo>
                <a:lnTo>
                  <a:pt x="45066" y="422"/>
                </a:lnTo>
                <a:lnTo>
                  <a:pt x="90133" y="1685"/>
                </a:lnTo>
                <a:lnTo>
                  <a:pt x="135200" y="3771"/>
                </a:lnTo>
                <a:lnTo>
                  <a:pt x="180267" y="6655"/>
                </a:lnTo>
                <a:lnTo>
                  <a:pt x="225334" y="10301"/>
                </a:lnTo>
                <a:lnTo>
                  <a:pt x="270401" y="14662"/>
                </a:lnTo>
                <a:lnTo>
                  <a:pt x="315468" y="19685"/>
                </a:lnTo>
                <a:lnTo>
                  <a:pt x="360534" y="25304"/>
                </a:lnTo>
                <a:lnTo>
                  <a:pt x="405601" y="31451"/>
                </a:lnTo>
                <a:lnTo>
                  <a:pt x="450668" y="38047"/>
                </a:lnTo>
                <a:lnTo>
                  <a:pt x="495735" y="45011"/>
                </a:lnTo>
                <a:lnTo>
                  <a:pt x="540802" y="52253"/>
                </a:lnTo>
                <a:lnTo>
                  <a:pt x="585869" y="59683"/>
                </a:lnTo>
                <a:lnTo>
                  <a:pt x="630936" y="67208"/>
                </a:lnTo>
                <a:lnTo>
                  <a:pt x="676002" y="74733"/>
                </a:lnTo>
                <a:lnTo>
                  <a:pt x="721069" y="82163"/>
                </a:lnTo>
                <a:lnTo>
                  <a:pt x="766136" y="89406"/>
                </a:lnTo>
                <a:lnTo>
                  <a:pt x="811203" y="96369"/>
                </a:lnTo>
                <a:lnTo>
                  <a:pt x="856270" y="102965"/>
                </a:lnTo>
                <a:lnTo>
                  <a:pt x="901337" y="109112"/>
                </a:lnTo>
                <a:lnTo>
                  <a:pt x="946404" y="114732"/>
                </a:lnTo>
                <a:lnTo>
                  <a:pt x="991470" y="119754"/>
                </a:lnTo>
                <a:lnTo>
                  <a:pt x="1036537" y="124115"/>
                </a:lnTo>
                <a:lnTo>
                  <a:pt x="1081604" y="127761"/>
                </a:lnTo>
                <a:lnTo>
                  <a:pt x="1126671" y="130645"/>
                </a:lnTo>
                <a:lnTo>
                  <a:pt x="1171738" y="132731"/>
                </a:lnTo>
                <a:lnTo>
                  <a:pt x="1216805" y="133994"/>
                </a:lnTo>
                <a:lnTo>
                  <a:pt x="1261872" y="134417"/>
                </a:lnTo>
                <a:lnTo>
                  <a:pt x="1306938" y="134899"/>
                </a:lnTo>
                <a:lnTo>
                  <a:pt x="1352005" y="136342"/>
                </a:lnTo>
                <a:lnTo>
                  <a:pt x="1397072" y="138727"/>
                </a:lnTo>
                <a:lnTo>
                  <a:pt x="1442139" y="142023"/>
                </a:lnTo>
                <a:lnTo>
                  <a:pt x="1487206" y="146190"/>
                </a:lnTo>
                <a:lnTo>
                  <a:pt x="1532273" y="151174"/>
                </a:lnTo>
                <a:lnTo>
                  <a:pt x="1577340" y="156914"/>
                </a:lnTo>
                <a:lnTo>
                  <a:pt x="1622406" y="163336"/>
                </a:lnTo>
                <a:lnTo>
                  <a:pt x="1667473" y="170361"/>
                </a:lnTo>
                <a:lnTo>
                  <a:pt x="1712540" y="177900"/>
                </a:lnTo>
                <a:lnTo>
                  <a:pt x="1757607" y="185857"/>
                </a:lnTo>
                <a:lnTo>
                  <a:pt x="1802674" y="194134"/>
                </a:lnTo>
                <a:lnTo>
                  <a:pt x="1847741" y="202626"/>
                </a:lnTo>
                <a:lnTo>
                  <a:pt x="1892808" y="211226"/>
                </a:lnTo>
                <a:lnTo>
                  <a:pt x="1937874" y="219826"/>
                </a:lnTo>
                <a:lnTo>
                  <a:pt x="1982941" y="228318"/>
                </a:lnTo>
                <a:lnTo>
                  <a:pt x="2028008" y="236595"/>
                </a:lnTo>
                <a:lnTo>
                  <a:pt x="2073075" y="244553"/>
                </a:lnTo>
                <a:lnTo>
                  <a:pt x="2118142" y="252091"/>
                </a:lnTo>
                <a:lnTo>
                  <a:pt x="2163209" y="259116"/>
                </a:lnTo>
                <a:lnTo>
                  <a:pt x="2208276" y="265539"/>
                </a:lnTo>
                <a:lnTo>
                  <a:pt x="2253342" y="271278"/>
                </a:lnTo>
                <a:lnTo>
                  <a:pt x="2298409" y="276263"/>
                </a:lnTo>
                <a:lnTo>
                  <a:pt x="2343476" y="280429"/>
                </a:lnTo>
                <a:lnTo>
                  <a:pt x="2388543" y="283725"/>
                </a:lnTo>
                <a:lnTo>
                  <a:pt x="2433610" y="286110"/>
                </a:lnTo>
                <a:lnTo>
                  <a:pt x="2478677" y="287553"/>
                </a:lnTo>
                <a:lnTo>
                  <a:pt x="2523744" y="288036"/>
                </a:lnTo>
                <a:lnTo>
                  <a:pt x="2568810" y="288519"/>
                </a:lnTo>
                <a:lnTo>
                  <a:pt x="2613877" y="289961"/>
                </a:lnTo>
                <a:lnTo>
                  <a:pt x="2658944" y="292346"/>
                </a:lnTo>
                <a:lnTo>
                  <a:pt x="2704011" y="295642"/>
                </a:lnTo>
                <a:lnTo>
                  <a:pt x="2749078" y="299809"/>
                </a:lnTo>
                <a:lnTo>
                  <a:pt x="2794145" y="304793"/>
                </a:lnTo>
                <a:lnTo>
                  <a:pt x="2839212" y="310533"/>
                </a:lnTo>
                <a:lnTo>
                  <a:pt x="2884278" y="316955"/>
                </a:lnTo>
                <a:lnTo>
                  <a:pt x="2929345" y="323980"/>
                </a:lnTo>
                <a:lnTo>
                  <a:pt x="2974412" y="331519"/>
                </a:lnTo>
                <a:lnTo>
                  <a:pt x="3019479" y="339477"/>
                </a:lnTo>
                <a:lnTo>
                  <a:pt x="3064546" y="347754"/>
                </a:lnTo>
                <a:lnTo>
                  <a:pt x="3109613" y="356245"/>
                </a:lnTo>
                <a:lnTo>
                  <a:pt x="3154680" y="364845"/>
                </a:lnTo>
                <a:lnTo>
                  <a:pt x="3199746" y="373445"/>
                </a:lnTo>
                <a:lnTo>
                  <a:pt x="3244813" y="381937"/>
                </a:lnTo>
                <a:lnTo>
                  <a:pt x="3289880" y="390214"/>
                </a:lnTo>
                <a:lnTo>
                  <a:pt x="3334947" y="398172"/>
                </a:lnTo>
                <a:lnTo>
                  <a:pt x="3380014" y="405710"/>
                </a:lnTo>
                <a:lnTo>
                  <a:pt x="3425081" y="412735"/>
                </a:lnTo>
                <a:lnTo>
                  <a:pt x="3470148" y="419158"/>
                </a:lnTo>
                <a:lnTo>
                  <a:pt x="3515214" y="424897"/>
                </a:lnTo>
                <a:lnTo>
                  <a:pt x="3560281" y="429882"/>
                </a:lnTo>
                <a:lnTo>
                  <a:pt x="3605348" y="434048"/>
                </a:lnTo>
                <a:lnTo>
                  <a:pt x="3650415" y="437345"/>
                </a:lnTo>
                <a:lnTo>
                  <a:pt x="3695482" y="439729"/>
                </a:lnTo>
                <a:lnTo>
                  <a:pt x="3740549" y="441172"/>
                </a:lnTo>
                <a:lnTo>
                  <a:pt x="3785616" y="441655"/>
                </a:lnTo>
                <a:lnTo>
                  <a:pt x="3830682" y="442017"/>
                </a:lnTo>
                <a:lnTo>
                  <a:pt x="3875749" y="443099"/>
                </a:lnTo>
                <a:lnTo>
                  <a:pt x="3920816" y="444888"/>
                </a:lnTo>
                <a:lnTo>
                  <a:pt x="3965883" y="447360"/>
                </a:lnTo>
                <a:lnTo>
                  <a:pt x="4010950" y="450485"/>
                </a:lnTo>
                <a:lnTo>
                  <a:pt x="4056017" y="454223"/>
                </a:lnTo>
                <a:lnTo>
                  <a:pt x="4101084" y="458528"/>
                </a:lnTo>
                <a:lnTo>
                  <a:pt x="4146150" y="463345"/>
                </a:lnTo>
                <a:lnTo>
                  <a:pt x="4191217" y="468613"/>
                </a:lnTo>
                <a:lnTo>
                  <a:pt x="4236284" y="474267"/>
                </a:lnTo>
                <a:lnTo>
                  <a:pt x="4281351" y="480236"/>
                </a:lnTo>
                <a:lnTo>
                  <a:pt x="4326418" y="486443"/>
                </a:lnTo>
                <a:lnTo>
                  <a:pt x="4371485" y="492812"/>
                </a:lnTo>
                <a:lnTo>
                  <a:pt x="4416552" y="499262"/>
                </a:lnTo>
                <a:lnTo>
                  <a:pt x="4461618" y="505712"/>
                </a:lnTo>
                <a:lnTo>
                  <a:pt x="4506685" y="512081"/>
                </a:lnTo>
                <a:lnTo>
                  <a:pt x="4551752" y="518289"/>
                </a:lnTo>
                <a:lnTo>
                  <a:pt x="4596819" y="524257"/>
                </a:lnTo>
                <a:lnTo>
                  <a:pt x="4641886" y="529911"/>
                </a:lnTo>
                <a:lnTo>
                  <a:pt x="4686953" y="535180"/>
                </a:lnTo>
                <a:lnTo>
                  <a:pt x="4732020" y="539997"/>
                </a:lnTo>
                <a:lnTo>
                  <a:pt x="4777086" y="544301"/>
                </a:lnTo>
                <a:lnTo>
                  <a:pt x="4822153" y="548040"/>
                </a:lnTo>
                <a:lnTo>
                  <a:pt x="4867220" y="551164"/>
                </a:lnTo>
                <a:lnTo>
                  <a:pt x="4912287" y="553637"/>
                </a:lnTo>
                <a:lnTo>
                  <a:pt x="4957354" y="555425"/>
                </a:lnTo>
                <a:lnTo>
                  <a:pt x="5002421" y="556507"/>
                </a:lnTo>
                <a:lnTo>
                  <a:pt x="5047488" y="556869"/>
                </a:lnTo>
                <a:lnTo>
                  <a:pt x="5092554" y="557111"/>
                </a:lnTo>
                <a:lnTo>
                  <a:pt x="5137621" y="557832"/>
                </a:lnTo>
                <a:lnTo>
                  <a:pt x="5182688" y="559024"/>
                </a:lnTo>
                <a:lnTo>
                  <a:pt x="5227755" y="560673"/>
                </a:lnTo>
                <a:lnTo>
                  <a:pt x="5272822" y="562756"/>
                </a:lnTo>
                <a:lnTo>
                  <a:pt x="5317889" y="565248"/>
                </a:lnTo>
                <a:lnTo>
                  <a:pt x="5362956" y="568118"/>
                </a:lnTo>
                <a:lnTo>
                  <a:pt x="5408022" y="571329"/>
                </a:lnTo>
                <a:lnTo>
                  <a:pt x="5453089" y="574842"/>
                </a:lnTo>
                <a:lnTo>
                  <a:pt x="5498156" y="578611"/>
                </a:lnTo>
                <a:lnTo>
                  <a:pt x="5543223" y="582590"/>
                </a:lnTo>
                <a:lnTo>
                  <a:pt x="5588290" y="586728"/>
                </a:lnTo>
                <a:lnTo>
                  <a:pt x="5633357" y="590974"/>
                </a:lnTo>
                <a:lnTo>
                  <a:pt x="5678424" y="595274"/>
                </a:lnTo>
                <a:lnTo>
                  <a:pt x="5723490" y="599574"/>
                </a:lnTo>
                <a:lnTo>
                  <a:pt x="5768557" y="603820"/>
                </a:lnTo>
                <a:lnTo>
                  <a:pt x="5813624" y="607958"/>
                </a:lnTo>
                <a:lnTo>
                  <a:pt x="5858691" y="611937"/>
                </a:lnTo>
                <a:lnTo>
                  <a:pt x="5903758" y="615707"/>
                </a:lnTo>
                <a:lnTo>
                  <a:pt x="5948825" y="619219"/>
                </a:lnTo>
                <a:lnTo>
                  <a:pt x="5993892" y="622430"/>
                </a:lnTo>
                <a:lnTo>
                  <a:pt x="6038958" y="625300"/>
                </a:lnTo>
                <a:lnTo>
                  <a:pt x="6084025" y="627792"/>
                </a:lnTo>
                <a:lnTo>
                  <a:pt x="6129092" y="629876"/>
                </a:lnTo>
                <a:lnTo>
                  <a:pt x="6174159" y="631524"/>
                </a:lnTo>
                <a:lnTo>
                  <a:pt x="6219226" y="632716"/>
                </a:lnTo>
                <a:lnTo>
                  <a:pt x="6264293" y="633437"/>
                </a:lnTo>
                <a:lnTo>
                  <a:pt x="6309360" y="633679"/>
                </a:lnTo>
              </a:path>
            </a:pathLst>
          </a:custGeom>
          <a:noFill/>
          <a:ln w="25400">
            <a:solidFill>
              <a:srgbClr val="9C95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417320" y="1908711"/>
            <a:ext cx="6309360" cy="863749"/>
          </a:xfrm>
          <a:custGeom>
            <a:avLst/>
            <a:gdLst/>
            <a:ahLst/>
            <a:cxnLst/>
            <a:rect l="l" t="t" r="r" b="b"/>
            <a:pathLst>
              <a:path w="6309360" h="863749">
                <a:moveTo>
                  <a:pt x="0" y="594916"/>
                </a:moveTo>
                <a:lnTo>
                  <a:pt x="45066" y="595387"/>
                </a:lnTo>
                <a:lnTo>
                  <a:pt x="90133" y="596792"/>
                </a:lnTo>
                <a:lnTo>
                  <a:pt x="135200" y="599103"/>
                </a:lnTo>
                <a:lnTo>
                  <a:pt x="180267" y="602274"/>
                </a:lnTo>
                <a:lnTo>
                  <a:pt x="225334" y="606243"/>
                </a:lnTo>
                <a:lnTo>
                  <a:pt x="270401" y="610933"/>
                </a:lnTo>
                <a:lnTo>
                  <a:pt x="315468" y="616251"/>
                </a:lnTo>
                <a:lnTo>
                  <a:pt x="360534" y="622093"/>
                </a:lnTo>
                <a:lnTo>
                  <a:pt x="405601" y="628343"/>
                </a:lnTo>
                <a:lnTo>
                  <a:pt x="450668" y="634880"/>
                </a:lnTo>
                <a:lnTo>
                  <a:pt x="495735" y="641575"/>
                </a:lnTo>
                <a:lnTo>
                  <a:pt x="540802" y="648297"/>
                </a:lnTo>
                <a:lnTo>
                  <a:pt x="585869" y="654912"/>
                </a:lnTo>
                <a:lnTo>
                  <a:pt x="630936" y="661293"/>
                </a:lnTo>
                <a:lnTo>
                  <a:pt x="676002" y="667312"/>
                </a:lnTo>
                <a:lnTo>
                  <a:pt x="721069" y="672853"/>
                </a:lnTo>
                <a:lnTo>
                  <a:pt x="766136" y="677806"/>
                </a:lnTo>
                <a:lnTo>
                  <a:pt x="811203" y="682074"/>
                </a:lnTo>
                <a:lnTo>
                  <a:pt x="856270" y="685572"/>
                </a:lnTo>
                <a:lnTo>
                  <a:pt x="901337" y="688234"/>
                </a:lnTo>
                <a:lnTo>
                  <a:pt x="946404" y="690005"/>
                </a:lnTo>
                <a:lnTo>
                  <a:pt x="991470" y="690852"/>
                </a:lnTo>
                <a:lnTo>
                  <a:pt x="1036537" y="690687"/>
                </a:lnTo>
                <a:lnTo>
                  <a:pt x="1081604" y="689259"/>
                </a:lnTo>
                <a:lnTo>
                  <a:pt x="1126671" y="686735"/>
                </a:lnTo>
                <a:lnTo>
                  <a:pt x="1171738" y="683463"/>
                </a:lnTo>
                <a:lnTo>
                  <a:pt x="1216805" y="679896"/>
                </a:lnTo>
                <a:lnTo>
                  <a:pt x="1261872" y="676526"/>
                </a:lnTo>
                <a:lnTo>
                  <a:pt x="1306938" y="673820"/>
                </a:lnTo>
                <a:lnTo>
                  <a:pt x="1352005" y="672152"/>
                </a:lnTo>
                <a:lnTo>
                  <a:pt x="1397072" y="671308"/>
                </a:lnTo>
                <a:lnTo>
                  <a:pt x="1442139" y="656796"/>
                </a:lnTo>
                <a:lnTo>
                  <a:pt x="1487206" y="622425"/>
                </a:lnTo>
                <a:lnTo>
                  <a:pt x="1532273" y="570320"/>
                </a:lnTo>
                <a:lnTo>
                  <a:pt x="1577340" y="503704"/>
                </a:lnTo>
                <a:lnTo>
                  <a:pt x="1622406" y="426697"/>
                </a:lnTo>
                <a:lnTo>
                  <a:pt x="1667473" y="344061"/>
                </a:lnTo>
                <a:lnTo>
                  <a:pt x="1712540" y="260907"/>
                </a:lnTo>
                <a:lnTo>
                  <a:pt x="1757607" y="182377"/>
                </a:lnTo>
                <a:lnTo>
                  <a:pt x="1802674" y="113329"/>
                </a:lnTo>
                <a:lnTo>
                  <a:pt x="1847741" y="58032"/>
                </a:lnTo>
                <a:lnTo>
                  <a:pt x="1892808" y="19907"/>
                </a:lnTo>
                <a:lnTo>
                  <a:pt x="1937874" y="1311"/>
                </a:lnTo>
                <a:lnTo>
                  <a:pt x="1982941" y="0"/>
                </a:lnTo>
                <a:lnTo>
                  <a:pt x="2028008" y="2176"/>
                </a:lnTo>
                <a:lnTo>
                  <a:pt x="2073075" y="6237"/>
                </a:lnTo>
                <a:lnTo>
                  <a:pt x="2118142" y="12016"/>
                </a:lnTo>
                <a:lnTo>
                  <a:pt x="2163209" y="19272"/>
                </a:lnTo>
                <a:lnTo>
                  <a:pt x="2208276" y="27705"/>
                </a:lnTo>
                <a:lnTo>
                  <a:pt x="2253342" y="36965"/>
                </a:lnTo>
                <a:lnTo>
                  <a:pt x="2298409" y="46668"/>
                </a:lnTo>
                <a:lnTo>
                  <a:pt x="2343476" y="56412"/>
                </a:lnTo>
                <a:lnTo>
                  <a:pt x="2388543" y="65792"/>
                </a:lnTo>
                <a:lnTo>
                  <a:pt x="2433610" y="74420"/>
                </a:lnTo>
                <a:lnTo>
                  <a:pt x="2478677" y="81937"/>
                </a:lnTo>
                <a:lnTo>
                  <a:pt x="2523744" y="88033"/>
                </a:lnTo>
                <a:lnTo>
                  <a:pt x="2568810" y="92453"/>
                </a:lnTo>
                <a:lnTo>
                  <a:pt x="2613877" y="95015"/>
                </a:lnTo>
                <a:lnTo>
                  <a:pt x="2658944" y="95699"/>
                </a:lnTo>
                <a:lnTo>
                  <a:pt x="2704011" y="97281"/>
                </a:lnTo>
                <a:lnTo>
                  <a:pt x="2749078" y="101094"/>
                </a:lnTo>
                <a:lnTo>
                  <a:pt x="2794145" y="107063"/>
                </a:lnTo>
                <a:lnTo>
                  <a:pt x="2839212" y="115070"/>
                </a:lnTo>
                <a:lnTo>
                  <a:pt x="2884278" y="124959"/>
                </a:lnTo>
                <a:lnTo>
                  <a:pt x="2929345" y="136535"/>
                </a:lnTo>
                <a:lnTo>
                  <a:pt x="2974412" y="149570"/>
                </a:lnTo>
                <a:lnTo>
                  <a:pt x="3019479" y="163809"/>
                </a:lnTo>
                <a:lnTo>
                  <a:pt x="3064546" y="178972"/>
                </a:lnTo>
                <a:lnTo>
                  <a:pt x="3109613" y="194762"/>
                </a:lnTo>
                <a:lnTo>
                  <a:pt x="3154680" y="210868"/>
                </a:lnTo>
                <a:lnTo>
                  <a:pt x="3199746" y="226974"/>
                </a:lnTo>
                <a:lnTo>
                  <a:pt x="3244813" y="242763"/>
                </a:lnTo>
                <a:lnTo>
                  <a:pt x="3289880" y="257926"/>
                </a:lnTo>
                <a:lnTo>
                  <a:pt x="3334947" y="272165"/>
                </a:lnTo>
                <a:lnTo>
                  <a:pt x="3380014" y="285201"/>
                </a:lnTo>
                <a:lnTo>
                  <a:pt x="3425081" y="296776"/>
                </a:lnTo>
                <a:lnTo>
                  <a:pt x="3470148" y="306665"/>
                </a:lnTo>
                <a:lnTo>
                  <a:pt x="3515214" y="314672"/>
                </a:lnTo>
                <a:lnTo>
                  <a:pt x="3560281" y="320641"/>
                </a:lnTo>
                <a:lnTo>
                  <a:pt x="3605348" y="324454"/>
                </a:lnTo>
                <a:lnTo>
                  <a:pt x="3650415" y="326037"/>
                </a:lnTo>
                <a:lnTo>
                  <a:pt x="3695482" y="326807"/>
                </a:lnTo>
                <a:lnTo>
                  <a:pt x="3740549" y="329734"/>
                </a:lnTo>
                <a:lnTo>
                  <a:pt x="3785616" y="334852"/>
                </a:lnTo>
                <a:lnTo>
                  <a:pt x="3830682" y="342061"/>
                </a:lnTo>
                <a:lnTo>
                  <a:pt x="3875749" y="351218"/>
                </a:lnTo>
                <a:lnTo>
                  <a:pt x="3920816" y="362145"/>
                </a:lnTo>
                <a:lnTo>
                  <a:pt x="3965883" y="374625"/>
                </a:lnTo>
                <a:lnTo>
                  <a:pt x="4010950" y="388415"/>
                </a:lnTo>
                <a:lnTo>
                  <a:pt x="4056017" y="403244"/>
                </a:lnTo>
                <a:lnTo>
                  <a:pt x="4101084" y="418819"/>
                </a:lnTo>
                <a:lnTo>
                  <a:pt x="4146150" y="434836"/>
                </a:lnTo>
                <a:lnTo>
                  <a:pt x="4191217" y="450980"/>
                </a:lnTo>
                <a:lnTo>
                  <a:pt x="4236284" y="466934"/>
                </a:lnTo>
                <a:lnTo>
                  <a:pt x="4281351" y="482384"/>
                </a:lnTo>
                <a:lnTo>
                  <a:pt x="4326418" y="497028"/>
                </a:lnTo>
                <a:lnTo>
                  <a:pt x="4371485" y="510577"/>
                </a:lnTo>
                <a:lnTo>
                  <a:pt x="4416552" y="522765"/>
                </a:lnTo>
                <a:lnTo>
                  <a:pt x="4461618" y="533354"/>
                </a:lnTo>
                <a:lnTo>
                  <a:pt x="4506685" y="542135"/>
                </a:lnTo>
                <a:lnTo>
                  <a:pt x="4551752" y="548935"/>
                </a:lnTo>
                <a:lnTo>
                  <a:pt x="4596819" y="553622"/>
                </a:lnTo>
                <a:lnTo>
                  <a:pt x="4641886" y="556103"/>
                </a:lnTo>
                <a:lnTo>
                  <a:pt x="4686953" y="556688"/>
                </a:lnTo>
                <a:lnTo>
                  <a:pt x="4732020" y="558677"/>
                </a:lnTo>
                <a:lnTo>
                  <a:pt x="4777086" y="562826"/>
                </a:lnTo>
                <a:lnTo>
                  <a:pt x="4822153" y="569028"/>
                </a:lnTo>
                <a:lnTo>
                  <a:pt x="4867220" y="577125"/>
                </a:lnTo>
                <a:lnTo>
                  <a:pt x="4912287" y="586908"/>
                </a:lnTo>
                <a:lnTo>
                  <a:pt x="4957354" y="598127"/>
                </a:lnTo>
                <a:lnTo>
                  <a:pt x="5002421" y="610495"/>
                </a:lnTo>
                <a:lnTo>
                  <a:pt x="5047488" y="623693"/>
                </a:lnTo>
                <a:lnTo>
                  <a:pt x="5092554" y="637385"/>
                </a:lnTo>
                <a:lnTo>
                  <a:pt x="5137621" y="651219"/>
                </a:lnTo>
                <a:lnTo>
                  <a:pt x="5182688" y="664840"/>
                </a:lnTo>
                <a:lnTo>
                  <a:pt x="5227755" y="677899"/>
                </a:lnTo>
                <a:lnTo>
                  <a:pt x="5272822" y="690062"/>
                </a:lnTo>
                <a:lnTo>
                  <a:pt x="5317889" y="701016"/>
                </a:lnTo>
                <a:lnTo>
                  <a:pt x="5362956" y="710480"/>
                </a:lnTo>
                <a:lnTo>
                  <a:pt x="5408022" y="718213"/>
                </a:lnTo>
                <a:lnTo>
                  <a:pt x="5453089" y="724016"/>
                </a:lnTo>
                <a:lnTo>
                  <a:pt x="5498156" y="727739"/>
                </a:lnTo>
                <a:lnTo>
                  <a:pt x="5543223" y="729288"/>
                </a:lnTo>
                <a:lnTo>
                  <a:pt x="5588290" y="730083"/>
                </a:lnTo>
                <a:lnTo>
                  <a:pt x="5633357" y="733104"/>
                </a:lnTo>
                <a:lnTo>
                  <a:pt x="5678424" y="738337"/>
                </a:lnTo>
                <a:lnTo>
                  <a:pt x="5723490" y="745599"/>
                </a:lnTo>
                <a:lnTo>
                  <a:pt x="5768557" y="754637"/>
                </a:lnTo>
                <a:lnTo>
                  <a:pt x="5813624" y="765137"/>
                </a:lnTo>
                <a:lnTo>
                  <a:pt x="5858691" y="776731"/>
                </a:lnTo>
                <a:lnTo>
                  <a:pt x="5903758" y="789016"/>
                </a:lnTo>
                <a:lnTo>
                  <a:pt x="5948825" y="801563"/>
                </a:lnTo>
                <a:lnTo>
                  <a:pt x="5993892" y="813936"/>
                </a:lnTo>
                <a:lnTo>
                  <a:pt x="6038958" y="825702"/>
                </a:lnTo>
                <a:lnTo>
                  <a:pt x="6084025" y="836451"/>
                </a:lnTo>
                <a:lnTo>
                  <a:pt x="6129092" y="845808"/>
                </a:lnTo>
                <a:lnTo>
                  <a:pt x="6174159" y="853448"/>
                </a:lnTo>
                <a:lnTo>
                  <a:pt x="6219226" y="859103"/>
                </a:lnTo>
                <a:lnTo>
                  <a:pt x="6264293" y="862578"/>
                </a:lnTo>
                <a:lnTo>
                  <a:pt x="6309360" y="863749"/>
                </a:lnTo>
              </a:path>
            </a:pathLst>
          </a:custGeom>
          <a:noFill/>
          <a:ln w="38100">
            <a:solidFill>
              <a:srgbClr val="502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5943" y="2521000"/>
            <a:ext cx="118872" cy="118872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9579" y="3785615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502961"/>
                </a:solidFill>
                <a:latin typeface="Calibri"/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3313785" y="1848916"/>
            <a:ext cx="118872" cy="118872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7421" y="3785615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502961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28032" y="2117750"/>
            <a:ext cx="118872" cy="118872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1668" y="3785615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502961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3079699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1">
                <a:solidFill>
                  <a:srgbClr val="9C95A3"/>
                </a:solidFill>
                <a:latin typeface="Calibri"/>
              </a:rPr>
              <a:t>If you had not 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33087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Three of your own numbers, on a line you were shown a week before you measured it.</a:t>
            </a:r>
          </a:p>
        </p:txBody>
      </p:sp>
      <p:pic>
        <p:nvPicPr>
          <p:cNvPr id="21" name="Picture 2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TO BE CLEAR, AGAIN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FFFDF7"/>
                </a:solidFill>
                <a:latin typeface="Georgia"/>
              </a:rPr>
              <a:t>What the numbers do not say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83664"/>
            <a:ext cx="73152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5681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A big pulse change is not a good score, and a small one is not a bad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05456"/>
            <a:ext cx="73152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7860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Nobody in this room has been ranked, and nothing here goes in a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27248"/>
            <a:ext cx="73152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If your focus went down, that is data. It is not you doing it wrong.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86784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This is one class, on one day, with one measurement each. That is all.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THE ONLY QUESTION THAT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F2A36"/>
                </a:solidFill>
                <a:latin typeface="Georgia"/>
              </a:rPr>
              <a:t>Would you do it on your own?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It worked. That is not the same as saying you will ever do it again.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2167127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240279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9456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Would you have done those five minutes if nobody had told you to?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" y="2788920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862072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16352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What is the actual thing that would stop you at home?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46704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410712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48386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3814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What is the smallest version of it you would still bother with?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The third question is next lesson. Almost nobody keeps up the big version.</a:t>
            </a:r>
          </a:p>
        </p:txBody>
      </p:sp>
      <p:pic>
        <p:nvPicPr>
          <p:cNvPr id="21" name="Picture 2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NEXT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67728" y="530352"/>
            <a:ext cx="1490472" cy="347472"/>
          </a:xfrm>
          <a:prstGeom prst="roundRect">
            <a:avLst>
              <a:gd name="adj" fmla="val 50000"/>
            </a:avLst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67728" y="589788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502961"/>
                </a:solidFill>
                <a:latin typeface="Calibri"/>
              </a:rPr>
              <a:t>NEXT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You design four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On a card, and it gets marked against four tests by somebody who is not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94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Week one is tiny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945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Smaller than you think. That is what makes it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24912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163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It grows slowly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81635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Four weeks, and week four is still nothing dramatic.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46704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4381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Bring nothing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4381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No kit, no app, no gym. It has to work in your house.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Bring your sheet. The numbers on it are the reason your plan is worth writing.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IF YOU REMEMBER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3400" b="0" i="0">
                <a:solidFill>
                  <a:srgbClr val="FFFDF7"/>
                </a:solidFill>
                <a:latin typeface="Georgia"/>
              </a:rPr>
              <a:t>Your heart went back to normal.</a:t>
            </a:r>
            <a:br/>
            <a:r>
              <a:rPr sz="3400" b="0" i="0">
                <a:solidFill>
                  <a:srgbClr val="FFFDF7"/>
                </a:solidFill>
                <a:latin typeface="Georgia"/>
              </a:rPr>
              <a:t>Your head took longer.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3127248"/>
            <a:ext cx="1005840" cy="18288"/>
          </a:xfrm>
          <a:prstGeom prst="rect">
            <a:avLst/>
          </a:prstGeom>
          <a:solidFill>
            <a:srgbClr val="A9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19856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450" b="0" i="1">
                <a:solidFill>
                  <a:srgbClr val="D8BCE4"/>
                </a:solidFill>
                <a:latin typeface="Calibri"/>
              </a:rPr>
              <a:t>That gap is the whole reason to bother,</a:t>
            </a:r>
            <a:br/>
            <a:r>
              <a:rPr sz="1450" b="0" i="1">
                <a:solidFill>
                  <a:srgbClr val="D8BCE4"/>
                </a:solidFill>
                <a:latin typeface="Calibri"/>
              </a:rPr>
              <a:t>and you measured it yourself.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495" y="1170432"/>
            <a:ext cx="681008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0428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502961"/>
                </a:solidFill>
                <a:latin typeface="Georgia"/>
              </a:rPr>
              <a:t>Bring your sheet next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72384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635C6B"/>
                </a:solidFill>
                <a:latin typeface="Calibri"/>
              </a:rPr>
              <a:t>You are going to turn three numbers</a:t>
            </a:r>
            <a:br/>
            <a:r>
              <a:rPr sz="1300" b="0" i="0">
                <a:solidFill>
                  <a:srgbClr val="635C6B"/>
                </a:solidFill>
                <a:latin typeface="Calibri"/>
              </a:rPr>
              <a:t>into four weeks you would actually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502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9C95A3"/>
                </a:solidFill>
                <a:latin typeface="Calibri"/>
              </a:rPr>
              <a:t>Movement and Mental Health  ·  Lesson 2 of 3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Movement and Mental Health: lesson 2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