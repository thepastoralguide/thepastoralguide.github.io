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4322F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about 2,000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United States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</c:v>
                </c:pt>
                <c:pt idx="1">
                  <c:v>17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624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77D"/>
            </a:solidFill>
          </a:ln>
        </c:spPr>
        <c:txPr>
          <a:bodyPr/>
          <a:lstStyle/>
          <a:p>
            <a:pPr>
              <a:defRPr sz="1100">
                <a:solidFill>
                  <a:srgbClr val="2624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624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34322F"/>
                </a:solidFill>
                <a:latin typeface="Calibri"/>
              </a:rPr>
              <a:t>TUTOR TIME  ·  QUESTION THE HEADLINE  ·  LESSON 2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21792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LONDON, 1958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TUTOR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26464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804672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0" i="0">
                <a:solidFill>
                  <a:srgbClr val="262422"/>
                </a:solidFill>
                <a:latin typeface="Georgia"/>
              </a:rPr>
              <a:t>Complete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761488"/>
            <a:ext cx="1005840" cy="18288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7498079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56524B"/>
                </a:solidFill>
                <a:latin typeface="Calibri"/>
              </a:rPr>
              <a:t>A claim that was printed as true, and four pieces of evidence to test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8051" y="3584448"/>
            <a:ext cx="1287897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VOLUME ONE</a:t>
            </a:r>
          </a:p>
        </p:txBody>
      </p:sp>
      <p:pic>
        <p:nvPicPr>
          <p:cNvPr id="15" name="Picture 1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4320"/>
            <a:ext cx="2269682" cy="237744"/>
          </a:xfrm>
          <a:prstGeom prst="roundRect">
            <a:avLst>
              <a:gd name="adj" fmla="val 50000"/>
            </a:avLst>
          </a:prstGeom>
          <a:solidFill>
            <a:srgbClr val="EF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34322F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Before the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4206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6524B"/>
                </a:solidFill>
                <a:latin typeface="Calibri"/>
              </a:rPr>
              <a:t>This lesson is about how medicines are tested before they are sold, and the official who kept asking for better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82496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783080"/>
            <a:ext cx="365760" cy="365760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65376"/>
            <a:ext cx="36576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64792"/>
            <a:ext cx="6858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Print and cut the evidence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02536"/>
            <a:ext cx="6858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One set of four per group of three or four. Keep them in order, A to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40864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441448"/>
            <a:ext cx="365760" cy="365760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23744"/>
            <a:ext cx="36576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423160"/>
            <a:ext cx="6858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Print two sheets per 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660904"/>
            <a:ext cx="6858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This lesson’s evidence sheet, and the front page sheet, which is the same every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9232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099816"/>
            <a:ext cx="365760" cy="365760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82112"/>
            <a:ext cx="36576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6858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Mark out the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19272"/>
            <a:ext cx="6858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A 0 at one end of the room and a 10 at the other: definitely false to definitely true.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3758183"/>
            <a:ext cx="365760" cy="365760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40480"/>
            <a:ext cx="36576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739896"/>
            <a:ext cx="68580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Hold the cards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7639"/>
            <a:ext cx="6858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Hand out one card per round, never the next one early. The verdict stays hidden until the end.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LONDON, 1958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LESSON 2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NEW SLEEPING PILL IS SAFE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FOR MOTHERS-TO-BE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Doctors can now prescribe Distaval for sleeplessness, nerves and morning sickness, and its makers say it is safe in pregnancy.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Distaval, the British name for a new drug called thalidomide, went on sale this year. It is already popular in Germany, where it is sold without a prescription.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792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Its makers, the Distillers Company, are telling doctors it is safe for mother and baby alike.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316863"/>
          </a:xfrm>
          <a:prstGeom prst="rect">
            <a:avLst/>
          </a:prstGeom>
          <a:solidFill>
            <a:srgbClr val="EF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316863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7559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4322F"/>
                </a:solidFill>
                <a:latin typeface="Georgia"/>
              </a:rPr>
              <a:t>“Distaval can be given with complete safety to pregnant women and nursing mothers…”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981195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FROM AN ADVERT FOR DISTAVAL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How much do you believe it?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1225296"/>
            <a:ext cx="7772400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25296"/>
            <a:ext cx="45720" cy="1179576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89888"/>
            <a:ext cx="7040880" cy="85039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262422"/>
                </a:solidFill>
                <a:latin typeface="Georgia"/>
              </a:rPr>
              <a:t>“If a medicine is sold by a big company and prescribed by doctors, it must have been tested properly.”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79192"/>
            <a:ext cx="7223759" cy="36576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147" y="2569464"/>
            <a:ext cx="21945" cy="25603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62422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1523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3895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3899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6275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38651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1027" y="2569464"/>
            <a:ext cx="21945" cy="25603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62422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83403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5779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1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8155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7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0531" y="2615184"/>
            <a:ext cx="21945" cy="16459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2907" y="2569464"/>
            <a:ext cx="21945" cy="25603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862072"/>
            <a:ext cx="457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62422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136392"/>
            <a:ext cx="219456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34322F"/>
                </a:solidFill>
                <a:latin typeface="Calibri"/>
              </a:rPr>
              <a:t>Definitely 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136392"/>
            <a:ext cx="219456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34322F"/>
                </a:solidFill>
                <a:latin typeface="Calibri"/>
              </a:rPr>
              <a:t>Definitely true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913632"/>
            <a:ext cx="7406640" cy="4320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34322F"/>
                </a:solidFill>
                <a:latin typeface="Calibri"/>
              </a:rPr>
              <a:t>Stand on the line where you are now. Two or three people say why they are standing there.</a:t>
            </a:r>
          </a:p>
        </p:txBody>
      </p:sp>
      <p:pic>
        <p:nvPicPr>
          <p:cNvPr id="35" name="Picture 3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Five questions for any headline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7772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243584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325880"/>
            <a:ext cx="237744" cy="237744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1417320" y="1325880"/>
            <a:ext cx="3520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279398"/>
            <a:ext cx="3383280" cy="33070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A company, a scientist, a newspaper, a government? Check the 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92224"/>
            <a:ext cx="7772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847088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29384"/>
            <a:ext cx="237744" cy="237744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417320" y="1929384"/>
            <a:ext cx="3520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Who gains if I believe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882902"/>
            <a:ext cx="3383280" cy="33070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Somebody always does. Work out who, and what they 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95728"/>
            <a:ext cx="7772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2450592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u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532888"/>
            <a:ext cx="237744" cy="237744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417320" y="2532888"/>
            <a:ext cx="3520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Who paid for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86406"/>
            <a:ext cx="3383280" cy="33070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The research, the advert, the survey. Money does not make it false, but you should know.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999232"/>
            <a:ext cx="7772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3054096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gnif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136392"/>
            <a:ext cx="237744" cy="237744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417320" y="3136392"/>
            <a:ext cx="3520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What is the evidence?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089910"/>
            <a:ext cx="3383280" cy="33070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A study, a number, a graph? Or only a slogan and a famous face?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02736"/>
            <a:ext cx="7772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" y="3657600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739896"/>
            <a:ext cx="237744" cy="237744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1417320" y="3739896"/>
            <a:ext cx="3520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Has it been tested, and by whom?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93414"/>
            <a:ext cx="3383280" cy="33070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Tested on whom, for how long, and by somebody with nothing to gain?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61104"/>
            <a:ext cx="7406640" cy="20002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34322F"/>
                </a:solidFill>
                <a:latin typeface="Calibri"/>
              </a:rPr>
              <a:t>These five come back in every lesson. The first one is on the front page already.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Watch the first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4322F"/>
                </a:solidFill>
                <a:latin typeface="Georgia"/>
              </a:rPr>
              <a:t>Question 1:  Who is saying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9344"/>
            <a:ext cx="7772400" cy="985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9344"/>
            <a:ext cx="45720" cy="9855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37943"/>
            <a:ext cx="6949440" cy="528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0" i="0">
                <a:solidFill>
                  <a:srgbClr val="262422"/>
                </a:solidFill>
                <a:latin typeface="Calibri"/>
              </a:rPr>
              <a:t>The company that makes and sells the drug. It gains every time a doctor believes it, and the front page gives no test results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9184"/>
            <a:ext cx="777240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6524B"/>
                </a:solidFill>
                <a:latin typeface="Calibri"/>
              </a:rPr>
              <a:t>Notice the answer is not true or false. It tells you what to look for next.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Now the other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6524B"/>
                </a:solidFill>
                <a:latin typeface="Calibri"/>
              </a:rPr>
              <a:t>Can the front page answer them? Talk it through in your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792224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792224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837943"/>
            <a:ext cx="530352" cy="530352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947672"/>
            <a:ext cx="310896" cy="310896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822960" y="2487168"/>
            <a:ext cx="1517904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Who gains if I believe 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645920"/>
            <a:ext cx="1792224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645920"/>
            <a:ext cx="1792224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10128" y="1837943"/>
            <a:ext cx="530352" cy="530352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1947672"/>
            <a:ext cx="310896" cy="310896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2816352" y="2487168"/>
            <a:ext cx="1517904" cy="2047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Who paid for it?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645920"/>
            <a:ext cx="1792224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4" y="1645920"/>
            <a:ext cx="1792224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0" y="1837943"/>
            <a:ext cx="530352" cy="530352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1947672"/>
            <a:ext cx="310896" cy="310896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4809744" y="2487168"/>
            <a:ext cx="1517904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What is the evidence?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645920"/>
            <a:ext cx="1792224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65976" y="1645920"/>
            <a:ext cx="1792224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6912" y="1837943"/>
            <a:ext cx="530352" cy="530352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947672"/>
            <a:ext cx="310896" cy="310896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803136" y="2487168"/>
            <a:ext cx="1517904" cy="61417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Georgia"/>
              </a:rPr>
              <a:t>Has it been tested, and by whom?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474720"/>
            <a:ext cx="7406640" cy="4320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34322F"/>
                </a:solidFill>
                <a:latin typeface="Calibri"/>
              </a:rPr>
              <a:t>Then fill in the top of your evidence sheet: where you stand, and what you would need to know.</a:t>
            </a:r>
          </a:p>
        </p:txBody>
      </p:sp>
      <p:pic>
        <p:nvPicPr>
          <p:cNvPr id="28" name="Picture 27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75113" y="246888"/>
            <a:ext cx="1383086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ROUND 1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03504"/>
            <a:ext cx="1554480" cy="329184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5544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 spc="160">
                <a:solidFill>
                  <a:srgbClr val="FFFDF7"/>
                </a:solidFill>
                <a:latin typeface="Calibri"/>
              </a:rPr>
              <a:t>EVIDENCE 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7772400" cy="3072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932688"/>
            <a:ext cx="777240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713232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 i="0">
                <a:solidFill>
                  <a:srgbClr val="262422"/>
                </a:solidFill>
                <a:latin typeface="Georgia"/>
              </a:rPr>
              <a:t>The advert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09344"/>
            <a:ext cx="7132320" cy="1056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62422"/>
                </a:solidFill>
                <a:latin typeface="Georgia"/>
              </a:rPr>
              <a:t>An advert for Distaval told doctors: “Distaval can be given with complete safety to pregnant women and nursing mothers without adverse effect on mother or child.” It went on: “Outstandingly safe Distaval has been prescribed for nearly three years in this country.”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75887"/>
            <a:ext cx="7132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8C877D"/>
                </a:solidFill>
                <a:latin typeface="Calibri"/>
              </a:rPr>
              <a:t>Source: Quoted in Wikipedia, Thalidomide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7"/>
            <a:ext cx="7406640" cy="4000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34322F"/>
                </a:solidFill>
                <a:latin typeface="Calibri"/>
              </a:rPr>
              <a:t>Read it as a group. Fill in the card A row on your evidence sheet, then move on the line.</a:t>
            </a:r>
          </a:p>
        </p:txBody>
      </p:sp>
      <p:pic>
        <p:nvPicPr>
          <p:cNvPr id="13" name="Picture 1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75113" y="246888"/>
            <a:ext cx="1383086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ROUND 2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03504"/>
            <a:ext cx="1554480" cy="329184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5544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 spc="160">
                <a:solidFill>
                  <a:srgbClr val="FFFDF7"/>
                </a:solidFill>
                <a:latin typeface="Calibri"/>
              </a:rPr>
              <a:t>EVIDENCE B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7772400" cy="3072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932688"/>
            <a:ext cx="777240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713232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 i="0">
                <a:solidFill>
                  <a:srgbClr val="262422"/>
                </a:solidFill>
                <a:latin typeface="Georgia"/>
              </a:rPr>
              <a:t>The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09344"/>
            <a:ext cx="7132320" cy="1056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62422"/>
                </a:solidFill>
                <a:latin typeface="Georgia"/>
              </a:rPr>
              <a:t>At the time, new medicines were tested on rats and mice to check they were not poisonous. Nobody had to test what a medicine did to a baby before birth, and thalidomide was never tested in pregnancy before it went on sale.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75887"/>
            <a:ext cx="7132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8C877D"/>
                </a:solidFill>
                <a:latin typeface="Calibri"/>
              </a:rPr>
              <a:t>Source: Wikipedia, Thalidomide; Science Museum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7"/>
            <a:ext cx="7406640" cy="4000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34322F"/>
                </a:solidFill>
                <a:latin typeface="Calibri"/>
              </a:rPr>
              <a:t>Read it as a group. Fill in the card B row on your evidence sheet, then move on the line.</a:t>
            </a:r>
          </a:p>
        </p:txBody>
      </p:sp>
      <p:pic>
        <p:nvPicPr>
          <p:cNvPr id="13" name="Picture 1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75113" y="246888"/>
            <a:ext cx="1383086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ROUND 3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03504"/>
            <a:ext cx="1554480" cy="329184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5544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 spc="160">
                <a:solidFill>
                  <a:srgbClr val="FFFDF7"/>
                </a:solidFill>
                <a:latin typeface="Calibri"/>
              </a:rPr>
              <a:t>EVIDENCE C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7772400" cy="3072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932688"/>
            <a:ext cx="777240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060704"/>
            <a:ext cx="713232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262422"/>
                </a:solidFill>
                <a:latin typeface="Georgia"/>
              </a:rPr>
              <a:t>The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444752"/>
            <a:ext cx="4754880" cy="2176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444752"/>
            <a:ext cx="475488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051560" y="1572768"/>
          <a:ext cx="4572000" cy="16459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61288" y="3273552"/>
            <a:ext cx="435254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56524B"/>
                </a:solidFill>
                <a:latin typeface="Calibri"/>
              </a:rPr>
              <a:t>Babies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444752"/>
            <a:ext cx="2286000" cy="2176272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609344"/>
            <a:ext cx="19202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34322F"/>
                </a:solidFill>
                <a:latin typeface="Calibri"/>
              </a:rPr>
              <a:t>ABOUT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865376"/>
            <a:ext cx="1920240" cy="127127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262422"/>
                </a:solidFill>
                <a:latin typeface="Calibri"/>
              </a:rPr>
              <a:t>Both countries had the drug. In the UK it was on sale from 1958 to 1961. In the US it was only handed out in trials, to doctors testing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75887"/>
            <a:ext cx="7132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8C877D"/>
                </a:solidFill>
                <a:latin typeface="Calibri"/>
              </a:rPr>
              <a:t>Source: Wikipedia, Thalidomide scandal; UChicago Medicine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7"/>
            <a:ext cx="7406640" cy="4000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34322F"/>
                </a:solidFill>
                <a:latin typeface="Calibri"/>
              </a:rPr>
              <a:t>Read it as a group. Fill in the card C row on your evidence sheet, then move on the line.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do the numbers say?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33856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6524B"/>
                </a:solidFill>
                <a:latin typeface="Calibri"/>
              </a:rPr>
              <a:t>Work them out in your group. Write your working on your evidence sheet.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7772400" cy="6995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563624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91056"/>
            <a:ext cx="6903720" cy="4800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262422"/>
                </a:solidFill>
                <a:latin typeface="Calibri"/>
              </a:rPr>
              <a:t>About how many times more babies were harmed in the UK (about 2,000) than in the US (17)?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45436"/>
            <a:ext cx="7772400" cy="939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427732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0884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55164"/>
            <a:ext cx="6903720" cy="72009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262422"/>
                </a:solidFill>
                <a:latin typeface="Calibri"/>
              </a:rPr>
              <a:t>Distaval was on sale in the UK from 1958 to 1961. The advert said it had been prescribed for “nearly three years”. Does that fit?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49574"/>
            <a:ext cx="7772400" cy="6995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31870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05022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59302"/>
            <a:ext cx="6903720" cy="4800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262422"/>
                </a:solidFill>
                <a:latin typeface="Calibri"/>
              </a:rPr>
              <a:t>Card B says what was tested and what was not. What should have been tested before it was sold for morning sickness?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72528" y="246888"/>
            <a:ext cx="1385671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THE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Check your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33856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6524B"/>
                </a:solidFill>
                <a:latin typeface="Calibri"/>
              </a:rPr>
              <a:t>Mark your own. A different method that gets the same answer is fine.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7772400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563624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91056"/>
            <a:ext cx="6903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62422"/>
                </a:solidFill>
                <a:latin typeface="Calibri"/>
              </a:rPr>
              <a:t>About how many times more babies were harmed in the UK (about 2,000) than in the US (17)?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29968"/>
            <a:ext cx="6903720" cy="1920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4322F"/>
                </a:solidFill>
                <a:latin typeface="Calibri"/>
              </a:rPr>
              <a:t>About 118 times (2,000 ÷ 17 = 117.6).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777240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505456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78608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32888"/>
            <a:ext cx="6903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62422"/>
                </a:solidFill>
                <a:latin typeface="Calibri"/>
              </a:rPr>
              <a:t>Distaval was on sale in the UK from 1958 to 1961. The advert said it had been prescribed for “nearly three years”. Does that fit?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71800"/>
            <a:ext cx="6903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4322F"/>
                </a:solidFill>
                <a:latin typeface="Calibri"/>
              </a:rPr>
              <a:t>Yes: 1958 to 1961 is about three years, so the advert ran near the end, when the harm was already happening.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57016"/>
            <a:ext cx="7772400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639312"/>
            <a:ext cx="329184" cy="32918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12464"/>
            <a:ext cx="3291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66744"/>
            <a:ext cx="6903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62422"/>
                </a:solidFill>
                <a:latin typeface="Calibri"/>
              </a:rPr>
              <a:t>Card B says what was tested and what was not. What should have been tested before it was sold for morning sickness?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05656"/>
            <a:ext cx="6903720" cy="1920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4322F"/>
                </a:solidFill>
                <a:latin typeface="Calibri"/>
              </a:rPr>
              <a:t>What the drug did to a baby before birth.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75113" y="246888"/>
            <a:ext cx="1383086" cy="237744"/>
          </a:xfrm>
          <a:prstGeom prst="roundRect">
            <a:avLst>
              <a:gd name="adj" fmla="val 50000"/>
            </a:avLst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ROUND 4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03504"/>
            <a:ext cx="1554480" cy="329184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55448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 spc="160">
                <a:solidFill>
                  <a:srgbClr val="FFFDF7"/>
                </a:solidFill>
                <a:latin typeface="Calibri"/>
              </a:rPr>
              <a:t>EVIDENCE 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7772400" cy="3072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932688"/>
            <a:ext cx="777240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713232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 i="0">
                <a:solidFill>
                  <a:srgbClr val="262422"/>
                </a:solidFill>
                <a:latin typeface="Georgia"/>
              </a:rPr>
              <a:t>The official who said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09344"/>
            <a:ext cx="7132320" cy="1320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62422"/>
                </a:solidFill>
                <a:latin typeface="Georgia"/>
              </a:rPr>
              <a:t>In September 1960, Frances Kelsey at the US medicines regulator was asked to approve thalidomide. She thought the evidence was thin. “It was just too positive; this couldn’t be the perfect drug with no risk,” she said. She asked for proof it was safe for an unborn baby, again and again, and never approved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75887"/>
            <a:ext cx="7132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8C877D"/>
                </a:solidFill>
                <a:latin typeface="Calibri"/>
              </a:rPr>
              <a:t>Source: UChicago Medicine, 2020; Smithsonian,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7"/>
            <a:ext cx="7406640" cy="4000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34322F"/>
                </a:solidFill>
                <a:latin typeface="Calibri"/>
              </a:rPr>
              <a:t>Read it as a group. Fill in the card D row on your evidence sheet, then move on the line.</a:t>
            </a:r>
          </a:p>
        </p:txBody>
      </p:sp>
      <p:pic>
        <p:nvPicPr>
          <p:cNvPr id="13" name="Picture 1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Write the real front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6524B"/>
                </a:solidFill>
                <a:latin typeface="Calibri"/>
              </a:rPr>
              <a:t>On your front page sheet, on your own or with one partner.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99616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36775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2787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A headline that is true to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47088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No bigger than the evidence. If you are not sure, the headline can say 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04288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04872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One line under it that sums up the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51760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Who made the claim, and what they stood to gain.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108960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246120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42132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209544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The story, in four or five sentences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56432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Use at least two cards, name each one, and put in one number from your sums.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86784"/>
            <a:ext cx="7406640" cy="4320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34322F"/>
                </a:solidFill>
                <a:latin typeface="Calibri"/>
              </a:rPr>
              <a:t>Your evidence sheet has everything you need. Write it for somebody who has not seen the cards.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Check somebody else’s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6524B"/>
                </a:solidFill>
                <a:latin typeface="Calibri"/>
              </a:rPr>
              <a:t>Swap front pages with somebody from another group. Tick each box it passes.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91056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28216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4228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91640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Is the headline true to the evidence?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38528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Not bigger, not smaller, than what the cards show.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14016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551176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47188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14600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Does it say where the evidence came from?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61488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A study, a document, a person with a name.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36976"/>
            <a:ext cx="7772400" cy="67665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374136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70148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37560"/>
            <a:ext cx="682142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4322F"/>
                </a:solidFill>
                <a:latin typeface="Georgia"/>
              </a:rPr>
              <a:t>Would it survive the five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584448"/>
            <a:ext cx="6821424" cy="25603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6524B"/>
                </a:solidFill>
                <a:latin typeface="Calibri"/>
              </a:rPr>
              <a:t>Try one or two of them on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23360"/>
            <a:ext cx="7406640" cy="216027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34322F"/>
                </a:solidFill>
                <a:latin typeface="Calibri"/>
              </a:rPr>
              <a:t>Write one change that would make it better, then hand it back.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34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34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34322F"/>
                </a:solidFill>
                <a:latin typeface="Calibri"/>
              </a:rPr>
              <a:t>BUSTED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91056"/>
            <a:ext cx="1005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4322F"/>
                </a:solidFill>
                <a:latin typeface="Georgia"/>
              </a:rPr>
              <a:t>1958</a:t>
            </a:r>
          </a:p>
        </p:txBody>
      </p:sp>
      <p:sp>
        <p:nvSpPr>
          <p:cNvPr id="8" name="Oval 7"/>
          <p:cNvSpPr/>
          <p:nvPr/>
        </p:nvSpPr>
        <p:spPr>
          <a:xfrm>
            <a:off x="1819656" y="1645919"/>
            <a:ext cx="146304" cy="14630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591056"/>
            <a:ext cx="6309360" cy="216027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Thalidomide goes on sale in the UK as Distaval.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1005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4322F"/>
                </a:solidFill>
                <a:latin typeface="Georgia"/>
              </a:rPr>
              <a:t>1960</a:t>
            </a:r>
          </a:p>
        </p:txBody>
      </p:sp>
      <p:sp>
        <p:nvSpPr>
          <p:cNvPr id="11" name="Oval 10"/>
          <p:cNvSpPr/>
          <p:nvPr/>
        </p:nvSpPr>
        <p:spPr>
          <a:xfrm>
            <a:off x="1819656" y="2084831"/>
            <a:ext cx="146304" cy="14630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2029967"/>
            <a:ext cx="6309360" cy="216027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Frances Kelsey is asked to approve it in the US, and says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79"/>
            <a:ext cx="1005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4322F"/>
                </a:solidFill>
                <a:latin typeface="Georgia"/>
              </a:rPr>
              <a:t>1961</a:t>
            </a:r>
          </a:p>
        </p:txBody>
      </p:sp>
      <p:sp>
        <p:nvSpPr>
          <p:cNvPr id="14" name="Oval 13"/>
          <p:cNvSpPr/>
          <p:nvPr/>
        </p:nvSpPr>
        <p:spPr>
          <a:xfrm>
            <a:off x="1819656" y="2523744"/>
            <a:ext cx="146304" cy="14630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2468879"/>
            <a:ext cx="6309360" cy="216027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Doctors link it to birth defects and it is withdrawn.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07791"/>
            <a:ext cx="1005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4322F"/>
                </a:solidFill>
                <a:latin typeface="Georgia"/>
              </a:rPr>
              <a:t>1964</a:t>
            </a:r>
          </a:p>
        </p:txBody>
      </p:sp>
      <p:sp>
        <p:nvSpPr>
          <p:cNvPr id="17" name="Oval 16"/>
          <p:cNvSpPr/>
          <p:nvPr/>
        </p:nvSpPr>
        <p:spPr>
          <a:xfrm>
            <a:off x="1819656" y="2962656"/>
            <a:ext cx="146304" cy="146304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0552" y="2907791"/>
            <a:ext cx="6309360" cy="4320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UK starts the Yellow Card scheme, which people still use to report side effects.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41063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D7D2C8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33087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Has it been tested, and by whom?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NO RIGHT ANSWER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1042415"/>
            <a:ext cx="7772400" cy="19344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42415"/>
            <a:ext cx="7772400" cy="45720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16736"/>
            <a:ext cx="6858000" cy="13858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0" i="0">
                <a:solidFill>
                  <a:srgbClr val="262422"/>
                </a:solidFill>
                <a:latin typeface="Georgia"/>
              </a:rPr>
              <a:t>Frances Kelsey was pushed again and again to say yes. Why is it hard to keep saying no when everybody else has said yes?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6920"/>
            <a:ext cx="7406640" cy="2240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34322F"/>
                </a:solidFill>
                <a:latin typeface="Calibri"/>
              </a:rPr>
              <a:t>Two minutes with the person next to you, then we hear from a few.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34322F"/>
                </a:solidFill>
                <a:latin typeface="Calibri"/>
              </a:rPr>
              <a:t>QUESTION THE HEADLINE  ·  LESSON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Two questions, just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772400" cy="946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45720" cy="946403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643634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5074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6675120" cy="5440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62422"/>
                </a:solidFill>
                <a:latin typeface="Georgia"/>
              </a:rPr>
              <a:t>Where did you move on the line, and which card moved you?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37460"/>
            <a:ext cx="7772400" cy="946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37460"/>
            <a:ext cx="45720" cy="946403"/>
          </a:xfrm>
          <a:prstGeom prst="rect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809494"/>
            <a:ext cx="402336" cy="402336"/>
          </a:xfrm>
          <a:prstGeom prst="ellipse">
            <a:avLst/>
          </a:prstGeom>
          <a:solidFill>
            <a:srgbClr val="34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0934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38628"/>
            <a:ext cx="6675120" cy="5440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62422"/>
                </a:solidFill>
                <a:latin typeface="Georgia"/>
              </a:rPr>
              <a:t>Next time you see a headline, which of the five questions will you ask first?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7406640" cy="4160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34322F"/>
                </a:solidFill>
                <a:latin typeface="Calibri"/>
              </a:rPr>
              <a:t>Write your answers in the last box of your evidence sheet. It is yours to keep, and nothing is read out.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4320"/>
            <a:ext cx="2635689" cy="237744"/>
          </a:xfrm>
          <a:prstGeom prst="roundRect">
            <a:avLst>
              <a:gd name="adj" fmla="val 50000"/>
            </a:avLst>
          </a:prstGeom>
          <a:solidFill>
            <a:srgbClr val="EF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34322F"/>
                </a:solidFill>
                <a:latin typeface="Calibri"/>
              </a:rPr>
              <a:t>FOR THE TEACHER  · 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Where the evidence came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18161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62422"/>
                </a:solidFill>
                <a:latin typeface="Calibri"/>
              </a:rPr>
              <a:t>Wikipedia, Thalidomide and Thalidomide scandal, accessed September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9786"/>
            <a:ext cx="7772400" cy="3632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62422"/>
                </a:solidFill>
                <a:latin typeface="Calibri"/>
              </a:rPr>
              <a:t>Phillips S. (2020). How a courageous physician-scientist saved the U.S. from a birth-defects catastrophe. UChicago Medicine.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1022"/>
            <a:ext cx="7772400" cy="3632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62422"/>
                </a:solidFill>
                <a:latin typeface="Calibri"/>
              </a:rPr>
              <a:t>McNeill L. (2017). The woman who stood between America and a generation of thalidomide babies. Smithsonian Magazine.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