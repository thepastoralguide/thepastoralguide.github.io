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Lst>
  <p:sldSz cx="9144000" cy="51435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Series</c:v>
                </c:pt>
              </c:strCache>
            </c:strRef>
          </c:tx>
          <c:spPr>
            <a:solidFill>
              <a:srgbClr val="34322F"/>
            </a:solidFill>
          </c:spPr>
          <c:dLbls>
            <c:dLbl>
              <c:idx val="0"/>
              <c:tx>
                <c:rich>
                  <a:bodyPr/>
                  <a:lstStyle/>
                  <a:p>
                    <a:r>
                      <a:rPr sz="1200" b="1">
                        <a:solidFill>
                          <a:srgbClr val="262422"/>
                        </a:solidFill>
                        <a:latin typeface="Calibri"/>
                      </a:rPr>
                      <a:t>15.2</a:t>
                    </a:r>
                  </a:p>
                </c:rich>
              </c:tx>
              <c:dLblPos val="outEnd"/>
              <c:showLegendKey val="0"/>
              <c:showVal val="1"/>
              <c:showCatName val="0"/>
              <c:showSerName val="0"/>
              <c:showPercent val="0"/>
              <c:showBubbleSize val="0"/>
            </c:dLbl>
            <c:dLbl>
              <c:idx val="1"/>
              <c:tx>
                <c:rich>
                  <a:bodyPr/>
                  <a:lstStyle/>
                  <a:p>
                    <a:r>
                      <a:rPr sz="1200" b="1">
                        <a:solidFill>
                          <a:srgbClr val="262422"/>
                        </a:solidFill>
                        <a:latin typeface="Calibri"/>
                      </a:rPr>
                      <a:t>2.2</a:t>
                    </a:r>
                  </a:p>
                </c:rich>
              </c:tx>
              <c:dLblPos val="outEnd"/>
              <c:showLegendKey val="0"/>
              <c:showVal val="1"/>
              <c:showCatName val="0"/>
              <c:showSerName val="0"/>
              <c:showPercent val="0"/>
              <c:showBubbleSize val="0"/>
            </c:dLbl>
            <c:dLbl>
              <c:idx val="2"/>
              <c:tx>
                <c:rich>
                  <a:bodyPr/>
                  <a:lstStyle/>
                  <a:p>
                    <a:r>
                      <a:rPr sz="1200" b="1">
                        <a:solidFill>
                          <a:srgbClr val="262422"/>
                        </a:solidFill>
                        <a:latin typeface="Calibri"/>
                      </a:rPr>
                      <a:t>1.5</a:t>
                    </a:r>
                  </a:p>
                </c:rich>
              </c:tx>
              <c:dLblPos val="outEnd"/>
              <c:showLegendKey val="0"/>
              <c:showVal val="1"/>
              <c:showCatName val="0"/>
              <c:showSerName val="0"/>
              <c:showPercent val="0"/>
              <c:showBubbleSize val="0"/>
            </c:dLbl>
            <c:dLbl>
              <c:idx val="3"/>
              <c:tx>
                <c:rich>
                  <a:bodyPr/>
                  <a:lstStyle/>
                  <a:p>
                    <a:r>
                      <a:rPr sz="1200" b="1">
                        <a:solidFill>
                          <a:srgbClr val="262422"/>
                        </a:solidFill>
                        <a:latin typeface="Calibri"/>
                      </a:rPr>
                      <a:t>1.0</a:t>
                    </a:r>
                  </a:p>
                </c:rich>
              </c:tx>
              <c:dLblPos val="outEnd"/>
              <c:showLegendKey val="0"/>
              <c:showVal val="1"/>
              <c:showCatName val="0"/>
              <c:showSerName val="0"/>
              <c:showPercent val="0"/>
              <c:showBubbleSize val="0"/>
            </c:dLbl>
            <c:dLbl>
              <c:idx val="4"/>
              <c:tx>
                <c:rich>
                  <a:bodyPr/>
                  <a:lstStyle/>
                  <a:p>
                    <a:r>
                      <a:rPr sz="1200" b="1">
                        <a:solidFill>
                          <a:srgbClr val="262422"/>
                        </a:solidFill>
                        <a:latin typeface="Calibri"/>
                      </a:rPr>
                      <a:t>0.7</a:t>
                    </a:r>
                  </a:p>
                </c:rich>
              </c:tx>
              <c:dLblPos val="outEnd"/>
              <c:showLegendKey val="0"/>
              <c:showVal val="1"/>
              <c:showCatName val="0"/>
              <c:showSerName val="0"/>
              <c:showPercent val="0"/>
              <c:showBubbleSize val="0"/>
            </c:dLbl>
            <c:showLegendKey val="0"/>
            <c:showVal val="0"/>
            <c:showCatName val="0"/>
            <c:showSerName val="0"/>
            <c:showPercent val="0"/>
            <c:showBubbleSize val="0"/>
            <c:showLeaderLines val="1"/>
          </c:dLbls>
          <c:cat>
            <c:strRef>
              <c:f>Sheet1!$A$2:$A$6</c:f>
              <c:strCache>
                <c:ptCount val="5"/>
                <c:pt idx="0">
                  <c:v>1976–80</c:v>
                </c:pt>
                <c:pt idx="1">
                  <c:v>1999–2000</c:v>
                </c:pt>
                <c:pt idx="2">
                  <c:v>2005–06</c:v>
                </c:pt>
                <c:pt idx="3">
                  <c:v>2011–12</c:v>
                </c:pt>
                <c:pt idx="4">
                  <c:v>2017–18</c:v>
                </c:pt>
              </c:strCache>
            </c:strRef>
          </c:cat>
          <c:val>
            <c:numRef>
              <c:f>Sheet1!$B$2:$B$6</c:f>
              <c:numCache>
                <c:formatCode>General</c:formatCode>
                <c:ptCount val="5"/>
                <c:pt idx="0">
                  <c:v>15.2</c:v>
                </c:pt>
                <c:pt idx="1">
                  <c:v>2.23</c:v>
                </c:pt>
                <c:pt idx="2">
                  <c:v>1.46</c:v>
                </c:pt>
                <c:pt idx="3">
                  <c:v>0.97</c:v>
                </c:pt>
                <c:pt idx="4">
                  <c:v>0.67</c:v>
                </c:pt>
              </c:numCache>
            </c:numRef>
          </c:val>
        </c:ser>
        <c:dLbls>
          <c:txPr>
            <a:bodyPr/>
            <a:lstStyle/>
            <a:p>
              <a:pPr>
                <a:defRPr sz="1200" b="1">
                  <a:solidFill>
                    <a:srgbClr val="262422"/>
                  </a:solidFill>
                  <a:latin typeface="Calibri"/>
                </a:defRPr>
              </a:pPr>
            </a:p>
          </c:txPr>
          <c:dLblPos val="outEnd"/>
          <c:showLegendKey val="0"/>
          <c:showVal val="1"/>
          <c:showCatName val="0"/>
          <c:showSerName val="0"/>
          <c:showPercent val="0"/>
          <c:showBubbleSize val="0"/>
          <c:showLeaderLines val="1"/>
        </c:dLbls>
        <c:gapWidth val="55"/>
        <c:axId val="-2068027336"/>
        <c:axId val="-2113994440"/>
      </c:barChart>
      <c:catAx>
        <c:axId val="-2068027336"/>
        <c:scaling>
          <c:orientation val="minMax"/>
        </c:scaling>
        <c:delete val="0"/>
        <c:axPos val="b"/>
        <c:title>
          <c:tx>
            <c:rich>
              <a:bodyPr/>
              <a:lstStyle/>
              <a:p>
                <a:r>
                  <a:rPr sz="1000" b="0" i="1">
                    <a:solidFill>
                      <a:srgbClr val="56524B"/>
                    </a:solidFill>
                    <a:latin typeface="Calibri"/>
                  </a:rPr>
                  <a:t>Survey years</a:t>
                </a:r>
              </a:p>
            </c:rich>
          </c:tx>
          <c:layout/>
          <c:overlay val="0"/>
        </c:title>
        <c:majorTickMark val="out"/>
        <c:minorTickMark val="none"/>
        <c:tickLblPos val="nextTo"/>
        <c:spPr>
          <a:ln>
            <a:solidFill>
              <a:srgbClr val="8C877D"/>
            </a:solidFill>
          </a:ln>
        </c:spPr>
        <c:txPr>
          <a:bodyPr/>
          <a:lstStyle/>
          <a:p>
            <a:pPr>
              <a:defRPr sz="1100">
                <a:solidFill>
                  <a:srgbClr val="262422"/>
                </a:solidFill>
                <a:latin typeface="Calibri"/>
              </a:defRPr>
            </a:pPr>
          </a:p>
        </c:txPr>
        <c:crossAx val="-2113994440"/>
        <c:crosses val="autoZero"/>
        <c:auto val="1"/>
        <c:lblAlgn val="ctr"/>
        <c:lblOffset val="100"/>
        <c:noMultiLvlLbl val="0"/>
      </c:catAx>
      <c:valAx>
        <c:axId val="-2113994440"/>
        <c:scaling>
          <c:max val="18.544"/>
          <c:min val="0.0"/>
        </c:scaling>
        <c:delete/>
        <c:axPos val="l"/>
        <c:majorTickMark val="out"/>
        <c:minorTickMark val="none"/>
        <c:tickLblPos val="nextTo"/>
        <c:crossAx val="-2068027336"/>
        <c:crosses val="autoZero"/>
      </c:valAx>
    </c:plotArea>
    <c:dispBlanksAs val="gap"/>
  </c:chart>
  <c:txPr>
    <a:bodyPr/>
    <a:lstStyle/>
    <a:p>
      <a:pPr>
        <a:defRPr sz="1100">
          <a:solidFill>
            <a:srgbClr val="262422"/>
          </a:solidFill>
          <a:latin typeface="Calibri"/>
        </a:defRPr>
      </a:pPr>
      <a:endParaRPr lang="en-US"/>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5.png"/><Relationship Id="rId6" Type="http://schemas.openxmlformats.org/officeDocument/2006/relationships/image" Target="../media/image6.png"/><Relationship Id="rId7"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image" Target="../media/image6.png"/><Relationship Id="rId6"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4EFE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685800" y="274320"/>
            <a:ext cx="7772400" cy="201168"/>
          </a:xfrm>
          <a:prstGeom prst="rect">
            <a:avLst/>
          </a:prstGeom>
          <a:noFill/>
          <a:effectLst/>
        </p:spPr>
        <p:txBody>
          <a:bodyPr wrap="square" anchor="t" lIns="0" rIns="0" tIns="0" bIns="0">
            <a:spAutoFit/>
          </a:bodyPr>
          <a:lstStyle/>
          <a:p>
            <a:pPr algn="ctr">
              <a:lnSpc>
                <a:spcPct val="125000"/>
              </a:lnSpc>
              <a:spcAft>
                <a:spcPts val="0"/>
              </a:spcAft>
            </a:pPr>
            <a:r>
              <a:rPr sz="900" b="1" i="0" spc="160">
                <a:solidFill>
                  <a:srgbClr val="34322F"/>
                </a:solidFill>
                <a:latin typeface="Calibri"/>
              </a:rPr>
              <a:t>TUTOR TIME  ·  QUESTION THE HEADLINE  ·  LESSON 4 OF 5</a:t>
            </a:r>
          </a:p>
        </p:txBody>
      </p:sp>
      <p:sp>
        <p:nvSpPr>
          <p:cNvPr id="4" name="Rectangle 3"/>
          <p:cNvSpPr/>
          <p:nvPr/>
        </p:nvSpPr>
        <p:spPr>
          <a:xfrm>
            <a:off x="685800" y="621792"/>
            <a:ext cx="7772400" cy="10972"/>
          </a:xfrm>
          <a:prstGeom prst="rect">
            <a:avLst/>
          </a:prstGeom>
          <a:solidFill>
            <a:srgbClr val="26242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TextBox 4"/>
          <p:cNvSpPr txBox="1"/>
          <p:nvPr/>
        </p:nvSpPr>
        <p:spPr>
          <a:xfrm>
            <a:off x="685800" y="658368"/>
            <a:ext cx="7772400" cy="457200"/>
          </a:xfrm>
          <a:prstGeom prst="rect">
            <a:avLst/>
          </a:prstGeom>
          <a:noFill/>
          <a:effectLst/>
        </p:spPr>
        <p:txBody>
          <a:bodyPr wrap="square" anchor="t" lIns="0" rIns="0" tIns="0" bIns="0">
            <a:spAutoFit/>
          </a:bodyPr>
          <a:lstStyle/>
          <a:p>
            <a:pPr algn="ctr">
              <a:lnSpc>
                <a:spcPct val="100000"/>
              </a:lnSpc>
              <a:spcAft>
                <a:spcPts val="0"/>
              </a:spcAft>
            </a:pPr>
            <a:r>
              <a:rPr sz="3000" b="0" i="0">
                <a:solidFill>
                  <a:srgbClr val="262422"/>
                </a:solidFill>
                <a:latin typeface="Georgia"/>
              </a:rPr>
              <a:t>The Daily Claim</a:t>
            </a:r>
          </a:p>
        </p:txBody>
      </p:sp>
      <p:sp>
        <p:nvSpPr>
          <p:cNvPr id="6" name="Rectangle 5"/>
          <p:cNvSpPr/>
          <p:nvPr/>
        </p:nvSpPr>
        <p:spPr>
          <a:xfrm>
            <a:off x="685800" y="1170432"/>
            <a:ext cx="7772400" cy="9144"/>
          </a:xfrm>
          <a:prstGeom prst="rect">
            <a:avLst/>
          </a:prstGeom>
          <a:solidFill>
            <a:srgbClr val="26242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685800" y="1207007"/>
            <a:ext cx="2926080" cy="182880"/>
          </a:xfrm>
          <a:prstGeom prst="rect">
            <a:avLst/>
          </a:prstGeom>
          <a:noFill/>
          <a:effectLst/>
        </p:spPr>
        <p:txBody>
          <a:bodyPr wrap="square" anchor="t" lIns="0" rIns="0" tIns="0" bIns="0">
            <a:spAutoFit/>
          </a:bodyPr>
          <a:lstStyle/>
          <a:p>
            <a:pPr algn="l">
              <a:lnSpc>
                <a:spcPct val="125000"/>
              </a:lnSpc>
              <a:spcAft>
                <a:spcPts val="0"/>
              </a:spcAft>
            </a:pPr>
            <a:r>
              <a:rPr sz="800" b="1" i="0" spc="140">
                <a:solidFill>
                  <a:srgbClr val="56524B"/>
                </a:solidFill>
                <a:latin typeface="Calibri"/>
              </a:rPr>
              <a:t>WASHINGTON, 1926</a:t>
            </a:r>
          </a:p>
        </p:txBody>
      </p:sp>
      <p:sp>
        <p:nvSpPr>
          <p:cNvPr id="8" name="TextBox 7"/>
          <p:cNvSpPr txBox="1"/>
          <p:nvPr/>
        </p:nvSpPr>
        <p:spPr>
          <a:xfrm>
            <a:off x="3108960" y="1207007"/>
            <a:ext cx="2926080" cy="182880"/>
          </a:xfrm>
          <a:prstGeom prst="rect">
            <a:avLst/>
          </a:prstGeom>
          <a:noFill/>
          <a:effectLst/>
        </p:spPr>
        <p:txBody>
          <a:bodyPr wrap="square" anchor="t" lIns="0" rIns="0" tIns="0" bIns="0">
            <a:spAutoFit/>
          </a:bodyPr>
          <a:lstStyle/>
          <a:p>
            <a:pPr algn="ctr">
              <a:lnSpc>
                <a:spcPct val="125000"/>
              </a:lnSpc>
              <a:spcAft>
                <a:spcPts val="0"/>
              </a:spcAft>
            </a:pPr>
            <a:r>
              <a:rPr sz="800" b="1" i="0" spc="140">
                <a:solidFill>
                  <a:srgbClr val="56524B"/>
                </a:solidFill>
                <a:latin typeface="Calibri"/>
              </a:rPr>
              <a:t>VOLUME ONE</a:t>
            </a:r>
          </a:p>
        </p:txBody>
      </p:sp>
      <p:sp>
        <p:nvSpPr>
          <p:cNvPr id="9" name="TextBox 8"/>
          <p:cNvSpPr txBox="1"/>
          <p:nvPr/>
        </p:nvSpPr>
        <p:spPr>
          <a:xfrm>
            <a:off x="5532120" y="1207007"/>
            <a:ext cx="2926080" cy="182880"/>
          </a:xfrm>
          <a:prstGeom prst="rect">
            <a:avLst/>
          </a:prstGeom>
          <a:noFill/>
          <a:effectLst/>
        </p:spPr>
        <p:txBody>
          <a:bodyPr wrap="square" anchor="t" lIns="0" rIns="0" tIns="0" bIns="0">
            <a:spAutoFit/>
          </a:bodyPr>
          <a:lstStyle/>
          <a:p>
            <a:pPr algn="r">
              <a:lnSpc>
                <a:spcPct val="125000"/>
              </a:lnSpc>
              <a:spcAft>
                <a:spcPts val="0"/>
              </a:spcAft>
            </a:pPr>
            <a:r>
              <a:rPr sz="800" b="1" i="0" spc="140">
                <a:solidFill>
                  <a:srgbClr val="56524B"/>
                </a:solidFill>
                <a:latin typeface="Calibri"/>
              </a:rPr>
              <a:t>TUTOR TIME</a:t>
            </a:r>
          </a:p>
        </p:txBody>
      </p:sp>
      <p:sp>
        <p:nvSpPr>
          <p:cNvPr id="10" name="Rectangle 9"/>
          <p:cNvSpPr/>
          <p:nvPr/>
        </p:nvSpPr>
        <p:spPr>
          <a:xfrm>
            <a:off x="685800" y="1426464"/>
            <a:ext cx="7772400" cy="32004"/>
          </a:xfrm>
          <a:prstGeom prst="rect">
            <a:avLst/>
          </a:prstGeom>
          <a:solidFill>
            <a:srgbClr val="26242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TextBox 10"/>
          <p:cNvSpPr txBox="1"/>
          <p:nvPr/>
        </p:nvSpPr>
        <p:spPr>
          <a:xfrm>
            <a:off x="548640" y="1810512"/>
            <a:ext cx="8046720" cy="731520"/>
          </a:xfrm>
          <a:prstGeom prst="rect">
            <a:avLst/>
          </a:prstGeom>
          <a:noFill/>
          <a:effectLst/>
        </p:spPr>
        <p:txBody>
          <a:bodyPr wrap="square" anchor="t" lIns="0" rIns="0" tIns="0" bIns="0">
            <a:spAutoFit/>
          </a:bodyPr>
          <a:lstStyle/>
          <a:p>
            <a:pPr algn="ctr">
              <a:lnSpc>
                <a:spcPct val="100000"/>
              </a:lnSpc>
              <a:spcAft>
                <a:spcPts val="0"/>
              </a:spcAft>
            </a:pPr>
            <a:r>
              <a:rPr sz="4200" b="0" i="0">
                <a:solidFill>
                  <a:srgbClr val="262422"/>
                </a:solidFill>
                <a:latin typeface="Georgia"/>
              </a:rPr>
              <a:t>No Real Evidence</a:t>
            </a:r>
          </a:p>
        </p:txBody>
      </p:sp>
      <p:sp>
        <p:nvSpPr>
          <p:cNvPr id="12" name="Rectangle 11"/>
          <p:cNvSpPr/>
          <p:nvPr/>
        </p:nvSpPr>
        <p:spPr>
          <a:xfrm>
            <a:off x="4069080" y="2761488"/>
            <a:ext cx="1005840" cy="18288"/>
          </a:xfrm>
          <a:prstGeom prst="rect">
            <a:avLst/>
          </a:prstGeom>
          <a:solidFill>
            <a:srgbClr val="34322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TextBox 12"/>
          <p:cNvSpPr txBox="1"/>
          <p:nvPr/>
        </p:nvSpPr>
        <p:spPr>
          <a:xfrm>
            <a:off x="822960" y="2944368"/>
            <a:ext cx="7498079" cy="365760"/>
          </a:xfrm>
          <a:prstGeom prst="rect">
            <a:avLst/>
          </a:prstGeom>
          <a:noFill/>
          <a:effectLst/>
        </p:spPr>
        <p:txBody>
          <a:bodyPr wrap="square" anchor="t" lIns="0" rIns="0" tIns="0" bIns="0">
            <a:spAutoFit/>
          </a:bodyPr>
          <a:lstStyle/>
          <a:p>
            <a:pPr algn="ctr">
              <a:lnSpc>
                <a:spcPct val="125000"/>
              </a:lnSpc>
              <a:spcAft>
                <a:spcPts val="0"/>
              </a:spcAft>
            </a:pPr>
            <a:r>
              <a:rPr sz="1600" b="0" i="0">
                <a:solidFill>
                  <a:srgbClr val="56524B"/>
                </a:solidFill>
                <a:latin typeface="Calibri"/>
              </a:rPr>
              <a:t>A claim that was printed as true, and four pieces of evidence to test it.</a:t>
            </a:r>
          </a:p>
        </p:txBody>
      </p:sp>
      <p:sp>
        <p:nvSpPr>
          <p:cNvPr id="14" name="Rounded Rectangle 13"/>
          <p:cNvSpPr/>
          <p:nvPr/>
        </p:nvSpPr>
        <p:spPr>
          <a:xfrm>
            <a:off x="3928051" y="3584448"/>
            <a:ext cx="1287897" cy="237744"/>
          </a:xfrm>
          <a:prstGeom prst="roundRect">
            <a:avLst>
              <a:gd name="adj" fmla="val 50000"/>
            </a:avLst>
          </a:prstGeom>
          <a:solidFill>
            <a:srgbClr val="34322F"/>
          </a:solidFill>
          <a:ln>
            <a:noFill/>
          </a:ln>
          <a:effectLst/>
        </p:spPr>
        <p:style>
          <a:lnRef idx="1">
            <a:schemeClr val="accent1"/>
          </a:lnRef>
          <a:fillRef idx="3">
            <a:schemeClr val="accent1"/>
          </a:fillRef>
          <a:effectRef idx="0">
            <a:schemeClr val="accent1"/>
          </a:effectRef>
          <a:fontRef idx="minor">
            <a:schemeClr val="lt1"/>
          </a:fontRef>
        </p:style>
        <p:txBody>
          <a:bodyPr rtlCol="0" anchor="ctr" wrap="none" lIns="0" rIns="0" tIns="0" bIns="0"/>
          <a:lstStyle/>
          <a:p>
            <a:pPr algn="ctr"/>
            <a:r>
              <a:rPr sz="950" b="1" spc="90">
                <a:solidFill>
                  <a:srgbClr val="FFFDF7"/>
                </a:solidFill>
                <a:latin typeface="Calibri"/>
              </a:rPr>
              <a:t>VOLUME ONE</a:t>
            </a:r>
          </a:p>
        </p:txBody>
      </p:sp>
      <p:pic>
        <p:nvPicPr>
          <p:cNvPr id="15" name="Picture 14" descr="logo-mark.png"/>
          <p:cNvPicPr>
            <a:picLocks noChangeAspect="1"/>
          </p:cNvPicPr>
          <p:nvPr/>
        </p:nvPicPr>
        <p:blipFill>
          <a:blip r:embed="rId2"/>
          <a:stretch>
            <a:fillRect/>
          </a:stretch>
        </p:blipFill>
        <p:spPr>
          <a:xfrm>
            <a:off x="384048" y="4727448"/>
            <a:ext cx="158374" cy="182880"/>
          </a:xfrm>
          <a:prstGeom prst="rect">
            <a:avLst/>
          </a:prstGeom>
          <a:effectLst/>
        </p:spPr>
      </p:pic>
      <p:sp>
        <p:nvSpPr>
          <p:cNvPr id="16" name="TextBox 15"/>
          <p:cNvSpPr txBox="1"/>
          <p:nvPr/>
        </p:nvSpPr>
        <p:spPr>
          <a:xfrm>
            <a:off x="603504" y="4709160"/>
            <a:ext cx="2194560" cy="210312"/>
          </a:xfrm>
          <a:prstGeom prst="rect">
            <a:avLst/>
          </a:prstGeom>
          <a:noFill/>
          <a:effectLst/>
        </p:spPr>
        <p:txBody>
          <a:bodyPr wrap="square" anchor="t" lIns="0" rIns="0" tIns="0" bIns="0">
            <a:spAutoFit/>
          </a:bodyPr>
          <a:lstStyle/>
          <a:p>
            <a:pPr algn="l">
              <a:lnSpc>
                <a:spcPct val="125000"/>
              </a:lnSpc>
              <a:spcAft>
                <a:spcPts val="0"/>
              </a:spcAft>
            </a:pPr>
            <a:r>
              <a:rPr sz="850" b="0" i="1">
                <a:solidFill>
                  <a:srgbClr val="8C877D"/>
                </a:solidFill>
                <a:latin typeface="Calibri"/>
              </a:rPr>
              <a:t>The Pastoral Guide</a:t>
            </a:r>
          </a:p>
        </p:txBody>
      </p:sp>
      <p:sp>
        <p:nvSpPr>
          <p:cNvPr id="17" name="TextBox 16"/>
          <p:cNvSpPr txBox="1"/>
          <p:nvPr/>
        </p:nvSpPr>
        <p:spPr>
          <a:xfrm>
            <a:off x="7680960" y="4727448"/>
            <a:ext cx="1078992" cy="219456"/>
          </a:xfrm>
          <a:prstGeom prst="rect">
            <a:avLst/>
          </a:prstGeom>
          <a:noFill/>
          <a:effectLst/>
        </p:spPr>
        <p:txBody>
          <a:bodyPr wrap="square" anchor="t" lIns="0" rIns="0" tIns="0" bIns="0">
            <a:spAutoFit/>
          </a:bodyPr>
          <a:lstStyle/>
          <a:p>
            <a:pPr algn="r">
              <a:lnSpc>
                <a:spcPct val="125000"/>
              </a:lnSpc>
              <a:spcAft>
                <a:spcPts val="0"/>
              </a:spcAft>
            </a:pPr>
            <a:r>
              <a:rPr sz="850" b="0" i="0">
                <a:solidFill>
                  <a:srgbClr val="8C877D"/>
                </a:solidFill>
                <a:latin typeface="Calibri"/>
              </a:rPr>
              <a:t>1 / 19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4EFE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Rounded Rectangle 2"/>
          <p:cNvSpPr/>
          <p:nvPr/>
        </p:nvSpPr>
        <p:spPr>
          <a:xfrm>
            <a:off x="685800" y="274320"/>
            <a:ext cx="2269682" cy="237744"/>
          </a:xfrm>
          <a:prstGeom prst="roundRect">
            <a:avLst>
              <a:gd name="adj" fmla="val 50000"/>
            </a:avLst>
          </a:prstGeom>
          <a:solidFill>
            <a:srgbClr val="EFECE5"/>
          </a:solidFill>
          <a:ln>
            <a:noFill/>
          </a:ln>
          <a:effectLst/>
        </p:spPr>
        <p:style>
          <a:lnRef idx="1">
            <a:schemeClr val="accent1"/>
          </a:lnRef>
          <a:fillRef idx="3">
            <a:schemeClr val="accent1"/>
          </a:fillRef>
          <a:effectRef idx="0">
            <a:schemeClr val="accent1"/>
          </a:effectRef>
          <a:fontRef idx="minor">
            <a:schemeClr val="lt1"/>
          </a:fontRef>
        </p:style>
        <p:txBody>
          <a:bodyPr rtlCol="0" anchor="ctr" wrap="none" lIns="0" rIns="0" tIns="0" bIns="0"/>
          <a:lstStyle/>
          <a:p>
            <a:pPr algn="ctr"/>
            <a:r>
              <a:rPr sz="950" b="1" spc="90">
                <a:solidFill>
                  <a:srgbClr val="34322F"/>
                </a:solidFill>
                <a:latin typeface="Calibri"/>
              </a:rPr>
              <a:t>TEACHER SLIDE  ·  SKIP IT</a:t>
            </a:r>
          </a:p>
        </p:txBody>
      </p:sp>
      <p:sp>
        <p:nvSpPr>
          <p:cNvPr id="4" name="TextBox 3"/>
          <p:cNvSpPr txBox="1"/>
          <p:nvPr/>
        </p:nvSpPr>
        <p:spPr>
          <a:xfrm>
            <a:off x="685800" y="658368"/>
            <a:ext cx="7772400" cy="434848"/>
          </a:xfrm>
          <a:prstGeom prst="rect">
            <a:avLst/>
          </a:prstGeom>
          <a:noFill/>
          <a:effectLst/>
        </p:spPr>
        <p:txBody>
          <a:bodyPr wrap="square" anchor="t" lIns="0" rIns="0" tIns="0" bIns="0">
            <a:spAutoFit/>
          </a:bodyPr>
          <a:lstStyle/>
          <a:p>
            <a:pPr algn="l">
              <a:lnSpc>
                <a:spcPct val="105000"/>
              </a:lnSpc>
              <a:spcAft>
                <a:spcPts val="0"/>
              </a:spcAft>
            </a:pPr>
            <a:r>
              <a:rPr sz="2800" b="0" i="0">
                <a:solidFill>
                  <a:srgbClr val="262422"/>
                </a:solidFill>
                <a:latin typeface="Georgia"/>
              </a:rPr>
              <a:t>Before the lesson</a:t>
            </a:r>
          </a:p>
        </p:txBody>
      </p:sp>
      <p:sp>
        <p:nvSpPr>
          <p:cNvPr id="5" name="TextBox 4"/>
          <p:cNvSpPr txBox="1"/>
          <p:nvPr/>
        </p:nvSpPr>
        <p:spPr>
          <a:xfrm>
            <a:off x="685800" y="1188720"/>
            <a:ext cx="7772400" cy="420624"/>
          </a:xfrm>
          <a:prstGeom prst="rect">
            <a:avLst/>
          </a:prstGeom>
          <a:noFill/>
          <a:effectLst/>
        </p:spPr>
        <p:txBody>
          <a:bodyPr wrap="square" anchor="t" lIns="0" rIns="0" tIns="0" bIns="0">
            <a:spAutoFit/>
          </a:bodyPr>
          <a:lstStyle/>
          <a:p>
            <a:pPr algn="l">
              <a:lnSpc>
                <a:spcPct val="125000"/>
              </a:lnSpc>
              <a:spcAft>
                <a:spcPts val="0"/>
              </a:spcAft>
            </a:pPr>
            <a:r>
              <a:rPr sz="1250" b="0" i="0">
                <a:solidFill>
                  <a:srgbClr val="56524B"/>
                </a:solidFill>
                <a:latin typeface="Calibri"/>
              </a:rPr>
              <a:t>This lesson is about the difference between no evidence of harm and evidence that something is safe.</a:t>
            </a:r>
          </a:p>
        </p:txBody>
      </p:sp>
      <p:sp>
        <p:nvSpPr>
          <p:cNvPr id="6" name="Rectangle 5"/>
          <p:cNvSpPr/>
          <p:nvPr/>
        </p:nvSpPr>
        <p:spPr>
          <a:xfrm>
            <a:off x="685800" y="1682496"/>
            <a:ext cx="7772400" cy="566928"/>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Oval 6"/>
          <p:cNvSpPr/>
          <p:nvPr/>
        </p:nvSpPr>
        <p:spPr>
          <a:xfrm>
            <a:off x="868680" y="1783080"/>
            <a:ext cx="365760" cy="365760"/>
          </a:xfrm>
          <a:prstGeom prst="ellipse">
            <a:avLst/>
          </a:prstGeom>
          <a:solidFill>
            <a:srgbClr val="34322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TextBox 7"/>
          <p:cNvSpPr txBox="1"/>
          <p:nvPr/>
        </p:nvSpPr>
        <p:spPr>
          <a:xfrm>
            <a:off x="868680" y="1865376"/>
            <a:ext cx="365760" cy="201168"/>
          </a:xfrm>
          <a:prstGeom prst="rect">
            <a:avLst/>
          </a:prstGeom>
          <a:noFill/>
          <a:effectLst/>
        </p:spPr>
        <p:txBody>
          <a:bodyPr wrap="square" anchor="t" lIns="0" rIns="0" tIns="0" bIns="0">
            <a:spAutoFit/>
          </a:bodyPr>
          <a:lstStyle/>
          <a:p>
            <a:pPr algn="ctr">
              <a:lnSpc>
                <a:spcPct val="125000"/>
              </a:lnSpc>
              <a:spcAft>
                <a:spcPts val="0"/>
              </a:spcAft>
            </a:pPr>
            <a:r>
              <a:rPr sz="1100" b="1" i="0">
                <a:solidFill>
                  <a:srgbClr val="FFFDF7"/>
                </a:solidFill>
                <a:latin typeface="Calibri"/>
              </a:rPr>
              <a:t>1</a:t>
            </a:r>
          </a:p>
        </p:txBody>
      </p:sp>
      <p:sp>
        <p:nvSpPr>
          <p:cNvPr id="9" name="TextBox 8"/>
          <p:cNvSpPr txBox="1"/>
          <p:nvPr/>
        </p:nvSpPr>
        <p:spPr>
          <a:xfrm>
            <a:off x="1399032" y="1764792"/>
            <a:ext cx="6858000" cy="237744"/>
          </a:xfrm>
          <a:prstGeom prst="rect">
            <a:avLst/>
          </a:prstGeom>
          <a:noFill/>
          <a:effectLst/>
        </p:spPr>
        <p:txBody>
          <a:bodyPr wrap="square" anchor="t" lIns="0" rIns="0" tIns="0" bIns="0">
            <a:spAutoFit/>
          </a:bodyPr>
          <a:lstStyle/>
          <a:p>
            <a:pPr algn="l">
              <a:lnSpc>
                <a:spcPct val="125000"/>
              </a:lnSpc>
              <a:spcAft>
                <a:spcPts val="0"/>
              </a:spcAft>
            </a:pPr>
            <a:r>
              <a:rPr sz="1300" b="0" i="0">
                <a:solidFill>
                  <a:srgbClr val="262422"/>
                </a:solidFill>
                <a:latin typeface="Georgia"/>
              </a:rPr>
              <a:t>Print and cut the evidence cards</a:t>
            </a:r>
          </a:p>
        </p:txBody>
      </p:sp>
      <p:sp>
        <p:nvSpPr>
          <p:cNvPr id="10" name="TextBox 9"/>
          <p:cNvSpPr txBox="1"/>
          <p:nvPr/>
        </p:nvSpPr>
        <p:spPr>
          <a:xfrm>
            <a:off x="1399032" y="2002536"/>
            <a:ext cx="6858000" cy="219456"/>
          </a:xfrm>
          <a:prstGeom prst="rect">
            <a:avLst/>
          </a:prstGeom>
          <a:noFill/>
          <a:effectLst/>
        </p:spPr>
        <p:txBody>
          <a:bodyPr wrap="square" anchor="t" lIns="0" rIns="0" tIns="0" bIns="0">
            <a:spAutoFit/>
          </a:bodyPr>
          <a:lstStyle/>
          <a:p>
            <a:pPr algn="l">
              <a:lnSpc>
                <a:spcPct val="125000"/>
              </a:lnSpc>
              <a:spcAft>
                <a:spcPts val="0"/>
              </a:spcAft>
            </a:pPr>
            <a:r>
              <a:rPr sz="1050" b="0" i="0">
                <a:solidFill>
                  <a:srgbClr val="56524B"/>
                </a:solidFill>
                <a:latin typeface="Calibri"/>
              </a:rPr>
              <a:t>One set of four per group of three or four. Keep them in order, A to D.</a:t>
            </a:r>
          </a:p>
        </p:txBody>
      </p:sp>
      <p:sp>
        <p:nvSpPr>
          <p:cNvPr id="11" name="Rectangle 10"/>
          <p:cNvSpPr/>
          <p:nvPr/>
        </p:nvSpPr>
        <p:spPr>
          <a:xfrm>
            <a:off x="685800" y="2340864"/>
            <a:ext cx="7772400" cy="566928"/>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Oval 11"/>
          <p:cNvSpPr/>
          <p:nvPr/>
        </p:nvSpPr>
        <p:spPr>
          <a:xfrm>
            <a:off x="868680" y="2441448"/>
            <a:ext cx="365760" cy="365760"/>
          </a:xfrm>
          <a:prstGeom prst="ellipse">
            <a:avLst/>
          </a:prstGeom>
          <a:solidFill>
            <a:srgbClr val="34322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TextBox 12"/>
          <p:cNvSpPr txBox="1"/>
          <p:nvPr/>
        </p:nvSpPr>
        <p:spPr>
          <a:xfrm>
            <a:off x="868680" y="2523744"/>
            <a:ext cx="365760" cy="201168"/>
          </a:xfrm>
          <a:prstGeom prst="rect">
            <a:avLst/>
          </a:prstGeom>
          <a:noFill/>
          <a:effectLst/>
        </p:spPr>
        <p:txBody>
          <a:bodyPr wrap="square" anchor="t" lIns="0" rIns="0" tIns="0" bIns="0">
            <a:spAutoFit/>
          </a:bodyPr>
          <a:lstStyle/>
          <a:p>
            <a:pPr algn="ctr">
              <a:lnSpc>
                <a:spcPct val="125000"/>
              </a:lnSpc>
              <a:spcAft>
                <a:spcPts val="0"/>
              </a:spcAft>
            </a:pPr>
            <a:r>
              <a:rPr sz="1100" b="1" i="0">
                <a:solidFill>
                  <a:srgbClr val="FFFDF7"/>
                </a:solidFill>
                <a:latin typeface="Calibri"/>
              </a:rPr>
              <a:t>2</a:t>
            </a:r>
          </a:p>
        </p:txBody>
      </p:sp>
      <p:sp>
        <p:nvSpPr>
          <p:cNvPr id="14" name="TextBox 13"/>
          <p:cNvSpPr txBox="1"/>
          <p:nvPr/>
        </p:nvSpPr>
        <p:spPr>
          <a:xfrm>
            <a:off x="1399032" y="2423160"/>
            <a:ext cx="6858000" cy="237744"/>
          </a:xfrm>
          <a:prstGeom prst="rect">
            <a:avLst/>
          </a:prstGeom>
          <a:noFill/>
          <a:effectLst/>
        </p:spPr>
        <p:txBody>
          <a:bodyPr wrap="square" anchor="t" lIns="0" rIns="0" tIns="0" bIns="0">
            <a:spAutoFit/>
          </a:bodyPr>
          <a:lstStyle/>
          <a:p>
            <a:pPr algn="l">
              <a:lnSpc>
                <a:spcPct val="125000"/>
              </a:lnSpc>
              <a:spcAft>
                <a:spcPts val="0"/>
              </a:spcAft>
            </a:pPr>
            <a:r>
              <a:rPr sz="1300" b="0" i="0">
                <a:solidFill>
                  <a:srgbClr val="262422"/>
                </a:solidFill>
                <a:latin typeface="Georgia"/>
              </a:rPr>
              <a:t>Print two sheets per student</a:t>
            </a:r>
          </a:p>
        </p:txBody>
      </p:sp>
      <p:sp>
        <p:nvSpPr>
          <p:cNvPr id="15" name="TextBox 14"/>
          <p:cNvSpPr txBox="1"/>
          <p:nvPr/>
        </p:nvSpPr>
        <p:spPr>
          <a:xfrm>
            <a:off x="1399032" y="2660904"/>
            <a:ext cx="6858000" cy="219456"/>
          </a:xfrm>
          <a:prstGeom prst="rect">
            <a:avLst/>
          </a:prstGeom>
          <a:noFill/>
          <a:effectLst/>
        </p:spPr>
        <p:txBody>
          <a:bodyPr wrap="square" anchor="t" lIns="0" rIns="0" tIns="0" bIns="0">
            <a:spAutoFit/>
          </a:bodyPr>
          <a:lstStyle/>
          <a:p>
            <a:pPr algn="l">
              <a:lnSpc>
                <a:spcPct val="125000"/>
              </a:lnSpc>
              <a:spcAft>
                <a:spcPts val="0"/>
              </a:spcAft>
            </a:pPr>
            <a:r>
              <a:rPr sz="1050" b="0" i="0">
                <a:solidFill>
                  <a:srgbClr val="56524B"/>
                </a:solidFill>
                <a:latin typeface="Calibri"/>
              </a:rPr>
              <a:t>This lesson’s evidence sheet, and the front page sheet, which is the same every lesson.</a:t>
            </a:r>
          </a:p>
        </p:txBody>
      </p:sp>
      <p:sp>
        <p:nvSpPr>
          <p:cNvPr id="16" name="Rectangle 15"/>
          <p:cNvSpPr/>
          <p:nvPr/>
        </p:nvSpPr>
        <p:spPr>
          <a:xfrm>
            <a:off x="685800" y="2999232"/>
            <a:ext cx="7772400" cy="566928"/>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Oval 16"/>
          <p:cNvSpPr/>
          <p:nvPr/>
        </p:nvSpPr>
        <p:spPr>
          <a:xfrm>
            <a:off x="868680" y="3099816"/>
            <a:ext cx="365760" cy="365760"/>
          </a:xfrm>
          <a:prstGeom prst="ellipse">
            <a:avLst/>
          </a:prstGeom>
          <a:solidFill>
            <a:srgbClr val="34322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TextBox 17"/>
          <p:cNvSpPr txBox="1"/>
          <p:nvPr/>
        </p:nvSpPr>
        <p:spPr>
          <a:xfrm>
            <a:off x="868680" y="3182112"/>
            <a:ext cx="365760" cy="201168"/>
          </a:xfrm>
          <a:prstGeom prst="rect">
            <a:avLst/>
          </a:prstGeom>
          <a:noFill/>
          <a:effectLst/>
        </p:spPr>
        <p:txBody>
          <a:bodyPr wrap="square" anchor="t" lIns="0" rIns="0" tIns="0" bIns="0">
            <a:spAutoFit/>
          </a:bodyPr>
          <a:lstStyle/>
          <a:p>
            <a:pPr algn="ctr">
              <a:lnSpc>
                <a:spcPct val="125000"/>
              </a:lnSpc>
              <a:spcAft>
                <a:spcPts val="0"/>
              </a:spcAft>
            </a:pPr>
            <a:r>
              <a:rPr sz="1100" b="1" i="0">
                <a:solidFill>
                  <a:srgbClr val="FFFDF7"/>
                </a:solidFill>
                <a:latin typeface="Calibri"/>
              </a:rPr>
              <a:t>3</a:t>
            </a:r>
          </a:p>
        </p:txBody>
      </p:sp>
      <p:sp>
        <p:nvSpPr>
          <p:cNvPr id="19" name="TextBox 18"/>
          <p:cNvSpPr txBox="1"/>
          <p:nvPr/>
        </p:nvSpPr>
        <p:spPr>
          <a:xfrm>
            <a:off x="1399032" y="3081528"/>
            <a:ext cx="6858000" cy="237744"/>
          </a:xfrm>
          <a:prstGeom prst="rect">
            <a:avLst/>
          </a:prstGeom>
          <a:noFill/>
          <a:effectLst/>
        </p:spPr>
        <p:txBody>
          <a:bodyPr wrap="square" anchor="t" lIns="0" rIns="0" tIns="0" bIns="0">
            <a:spAutoFit/>
          </a:bodyPr>
          <a:lstStyle/>
          <a:p>
            <a:pPr algn="l">
              <a:lnSpc>
                <a:spcPct val="125000"/>
              </a:lnSpc>
              <a:spcAft>
                <a:spcPts val="0"/>
              </a:spcAft>
            </a:pPr>
            <a:r>
              <a:rPr sz="1300" b="0" i="0">
                <a:solidFill>
                  <a:srgbClr val="262422"/>
                </a:solidFill>
                <a:latin typeface="Georgia"/>
              </a:rPr>
              <a:t>Mark out the line</a:t>
            </a:r>
          </a:p>
        </p:txBody>
      </p:sp>
      <p:sp>
        <p:nvSpPr>
          <p:cNvPr id="20" name="TextBox 19"/>
          <p:cNvSpPr txBox="1"/>
          <p:nvPr/>
        </p:nvSpPr>
        <p:spPr>
          <a:xfrm>
            <a:off x="1399032" y="3319272"/>
            <a:ext cx="6858000" cy="219456"/>
          </a:xfrm>
          <a:prstGeom prst="rect">
            <a:avLst/>
          </a:prstGeom>
          <a:noFill/>
          <a:effectLst/>
        </p:spPr>
        <p:txBody>
          <a:bodyPr wrap="square" anchor="t" lIns="0" rIns="0" tIns="0" bIns="0">
            <a:spAutoFit/>
          </a:bodyPr>
          <a:lstStyle/>
          <a:p>
            <a:pPr algn="l">
              <a:lnSpc>
                <a:spcPct val="125000"/>
              </a:lnSpc>
              <a:spcAft>
                <a:spcPts val="0"/>
              </a:spcAft>
            </a:pPr>
            <a:r>
              <a:rPr sz="1050" b="0" i="0">
                <a:solidFill>
                  <a:srgbClr val="56524B"/>
                </a:solidFill>
                <a:latin typeface="Calibri"/>
              </a:rPr>
              <a:t>A 0 at one end of the room and a 10 at the other: definitely false to definitely true.</a:t>
            </a:r>
          </a:p>
        </p:txBody>
      </p:sp>
      <p:sp>
        <p:nvSpPr>
          <p:cNvPr id="21" name="Rectangle 20"/>
          <p:cNvSpPr/>
          <p:nvPr/>
        </p:nvSpPr>
        <p:spPr>
          <a:xfrm>
            <a:off x="685800" y="3657600"/>
            <a:ext cx="7772400" cy="566928"/>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2" name="Oval 21"/>
          <p:cNvSpPr/>
          <p:nvPr/>
        </p:nvSpPr>
        <p:spPr>
          <a:xfrm>
            <a:off x="868680" y="3758183"/>
            <a:ext cx="365760" cy="365760"/>
          </a:xfrm>
          <a:prstGeom prst="ellipse">
            <a:avLst/>
          </a:prstGeom>
          <a:solidFill>
            <a:srgbClr val="34322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TextBox 22"/>
          <p:cNvSpPr txBox="1"/>
          <p:nvPr/>
        </p:nvSpPr>
        <p:spPr>
          <a:xfrm>
            <a:off x="868680" y="3840480"/>
            <a:ext cx="365760" cy="201168"/>
          </a:xfrm>
          <a:prstGeom prst="rect">
            <a:avLst/>
          </a:prstGeom>
          <a:noFill/>
          <a:effectLst/>
        </p:spPr>
        <p:txBody>
          <a:bodyPr wrap="square" anchor="t" lIns="0" rIns="0" tIns="0" bIns="0">
            <a:spAutoFit/>
          </a:bodyPr>
          <a:lstStyle/>
          <a:p>
            <a:pPr algn="ctr">
              <a:lnSpc>
                <a:spcPct val="125000"/>
              </a:lnSpc>
              <a:spcAft>
                <a:spcPts val="0"/>
              </a:spcAft>
            </a:pPr>
            <a:r>
              <a:rPr sz="1100" b="1" i="0">
                <a:solidFill>
                  <a:srgbClr val="FFFDF7"/>
                </a:solidFill>
                <a:latin typeface="Calibri"/>
              </a:rPr>
              <a:t>4</a:t>
            </a:r>
          </a:p>
        </p:txBody>
      </p:sp>
      <p:sp>
        <p:nvSpPr>
          <p:cNvPr id="24" name="TextBox 23"/>
          <p:cNvSpPr txBox="1"/>
          <p:nvPr/>
        </p:nvSpPr>
        <p:spPr>
          <a:xfrm>
            <a:off x="1399032" y="3739896"/>
            <a:ext cx="6858000" cy="237744"/>
          </a:xfrm>
          <a:prstGeom prst="rect">
            <a:avLst/>
          </a:prstGeom>
          <a:noFill/>
          <a:effectLst/>
        </p:spPr>
        <p:txBody>
          <a:bodyPr wrap="square" anchor="t" lIns="0" rIns="0" tIns="0" bIns="0">
            <a:spAutoFit/>
          </a:bodyPr>
          <a:lstStyle/>
          <a:p>
            <a:pPr algn="l">
              <a:lnSpc>
                <a:spcPct val="125000"/>
              </a:lnSpc>
              <a:spcAft>
                <a:spcPts val="0"/>
              </a:spcAft>
            </a:pPr>
            <a:r>
              <a:rPr sz="1300" b="0" i="0">
                <a:solidFill>
                  <a:srgbClr val="262422"/>
                </a:solidFill>
                <a:latin typeface="Georgia"/>
              </a:rPr>
              <a:t>Hold the cards back</a:t>
            </a:r>
          </a:p>
        </p:txBody>
      </p:sp>
      <p:sp>
        <p:nvSpPr>
          <p:cNvPr id="25" name="TextBox 24"/>
          <p:cNvSpPr txBox="1"/>
          <p:nvPr/>
        </p:nvSpPr>
        <p:spPr>
          <a:xfrm>
            <a:off x="1399032" y="3977639"/>
            <a:ext cx="6858000" cy="219456"/>
          </a:xfrm>
          <a:prstGeom prst="rect">
            <a:avLst/>
          </a:prstGeom>
          <a:noFill/>
          <a:effectLst/>
        </p:spPr>
        <p:txBody>
          <a:bodyPr wrap="square" anchor="t" lIns="0" rIns="0" tIns="0" bIns="0">
            <a:spAutoFit/>
          </a:bodyPr>
          <a:lstStyle/>
          <a:p>
            <a:pPr algn="l">
              <a:lnSpc>
                <a:spcPct val="125000"/>
              </a:lnSpc>
              <a:spcAft>
                <a:spcPts val="0"/>
              </a:spcAft>
            </a:pPr>
            <a:r>
              <a:rPr sz="1050" b="0" i="0">
                <a:solidFill>
                  <a:srgbClr val="56524B"/>
                </a:solidFill>
                <a:latin typeface="Calibri"/>
              </a:rPr>
              <a:t>Hand out one card per round, never the next one early. The verdict stays hidden until the end.</a:t>
            </a:r>
          </a:p>
        </p:txBody>
      </p:sp>
      <p:pic>
        <p:nvPicPr>
          <p:cNvPr id="26" name="Picture 25" descr="logo-mark.png"/>
          <p:cNvPicPr>
            <a:picLocks noChangeAspect="1"/>
          </p:cNvPicPr>
          <p:nvPr/>
        </p:nvPicPr>
        <p:blipFill>
          <a:blip r:embed="rId2"/>
          <a:stretch>
            <a:fillRect/>
          </a:stretch>
        </p:blipFill>
        <p:spPr>
          <a:xfrm>
            <a:off x="384048" y="4727448"/>
            <a:ext cx="158374" cy="182880"/>
          </a:xfrm>
          <a:prstGeom prst="rect">
            <a:avLst/>
          </a:prstGeom>
          <a:effectLst/>
        </p:spPr>
      </p:pic>
      <p:sp>
        <p:nvSpPr>
          <p:cNvPr id="27" name="TextBox 26"/>
          <p:cNvSpPr txBox="1"/>
          <p:nvPr/>
        </p:nvSpPr>
        <p:spPr>
          <a:xfrm>
            <a:off x="603504" y="4709160"/>
            <a:ext cx="2194560" cy="210312"/>
          </a:xfrm>
          <a:prstGeom prst="rect">
            <a:avLst/>
          </a:prstGeom>
          <a:noFill/>
          <a:effectLst/>
        </p:spPr>
        <p:txBody>
          <a:bodyPr wrap="square" anchor="t" lIns="0" rIns="0" tIns="0" bIns="0">
            <a:spAutoFit/>
          </a:bodyPr>
          <a:lstStyle/>
          <a:p>
            <a:pPr algn="l">
              <a:lnSpc>
                <a:spcPct val="125000"/>
              </a:lnSpc>
              <a:spcAft>
                <a:spcPts val="0"/>
              </a:spcAft>
            </a:pPr>
            <a:r>
              <a:rPr sz="850" b="0" i="1">
                <a:solidFill>
                  <a:srgbClr val="8C877D"/>
                </a:solidFill>
                <a:latin typeface="Calibri"/>
              </a:rPr>
              <a:t>The Pastoral Guide</a:t>
            </a:r>
          </a:p>
        </p:txBody>
      </p:sp>
      <p:sp>
        <p:nvSpPr>
          <p:cNvPr id="28" name="TextBox 27"/>
          <p:cNvSpPr txBox="1"/>
          <p:nvPr/>
        </p:nvSpPr>
        <p:spPr>
          <a:xfrm>
            <a:off x="7680960" y="4727448"/>
            <a:ext cx="1078992" cy="219456"/>
          </a:xfrm>
          <a:prstGeom prst="rect">
            <a:avLst/>
          </a:prstGeom>
          <a:noFill/>
          <a:effectLst/>
        </p:spPr>
        <p:txBody>
          <a:bodyPr wrap="square" anchor="t" lIns="0" rIns="0" tIns="0" bIns="0">
            <a:spAutoFit/>
          </a:bodyPr>
          <a:lstStyle/>
          <a:p>
            <a:pPr algn="r">
              <a:lnSpc>
                <a:spcPct val="125000"/>
              </a:lnSpc>
              <a:spcAft>
                <a:spcPts val="0"/>
              </a:spcAft>
            </a:pPr>
            <a:r>
              <a:rPr sz="850" b="0" i="0">
                <a:solidFill>
                  <a:srgbClr val="8C877D"/>
                </a:solidFill>
                <a:latin typeface="Calibri"/>
              </a:rPr>
              <a:t>2 / 19</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4EFE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685800" y="274320"/>
            <a:ext cx="5669280" cy="201168"/>
          </a:xfrm>
          <a:prstGeom prst="rect">
            <a:avLst/>
          </a:prstGeom>
          <a:noFill/>
          <a:effectLst/>
        </p:spPr>
        <p:txBody>
          <a:bodyPr wrap="square" anchor="t" lIns="0" rIns="0" tIns="0" bIns="0">
            <a:spAutoFit/>
          </a:bodyPr>
          <a:lstStyle/>
          <a:p>
            <a:pPr algn="l">
              <a:lnSpc>
                <a:spcPct val="125000"/>
              </a:lnSpc>
              <a:spcAft>
                <a:spcPts val="0"/>
              </a:spcAft>
            </a:pPr>
            <a:r>
              <a:rPr sz="900" b="1" i="0" spc="150">
                <a:solidFill>
                  <a:srgbClr val="34322F"/>
                </a:solidFill>
                <a:latin typeface="Calibri"/>
              </a:rPr>
              <a:t>QUESTION THE HEADLINE  ·  LESSON 4 OF 5</a:t>
            </a:r>
          </a:p>
        </p:txBody>
      </p:sp>
      <p:sp>
        <p:nvSpPr>
          <p:cNvPr id="4" name="TextBox 3"/>
          <p:cNvSpPr txBox="1"/>
          <p:nvPr/>
        </p:nvSpPr>
        <p:spPr>
          <a:xfrm>
            <a:off x="4800600" y="274320"/>
            <a:ext cx="3657600" cy="201168"/>
          </a:xfrm>
          <a:prstGeom prst="rect">
            <a:avLst/>
          </a:prstGeom>
          <a:noFill/>
          <a:effectLst/>
        </p:spPr>
        <p:txBody>
          <a:bodyPr wrap="square" anchor="t" lIns="0" rIns="0" tIns="0" bIns="0">
            <a:spAutoFit/>
          </a:bodyPr>
          <a:lstStyle/>
          <a:p>
            <a:pPr algn="r">
              <a:lnSpc>
                <a:spcPct val="125000"/>
              </a:lnSpc>
              <a:spcAft>
                <a:spcPts val="0"/>
              </a:spcAft>
            </a:pPr>
            <a:r>
              <a:rPr sz="850" b="0" i="1">
                <a:solidFill>
                  <a:srgbClr val="8C877D"/>
                </a:solidFill>
                <a:latin typeface="Calibri"/>
              </a:rPr>
              <a:t>A recreated front page</a:t>
            </a:r>
          </a:p>
        </p:txBody>
      </p:sp>
      <p:sp>
        <p:nvSpPr>
          <p:cNvPr id="5" name="Rectangle 4"/>
          <p:cNvSpPr/>
          <p:nvPr/>
        </p:nvSpPr>
        <p:spPr>
          <a:xfrm>
            <a:off x="685800" y="475488"/>
            <a:ext cx="7772400" cy="10972"/>
          </a:xfrm>
          <a:prstGeom prst="rect">
            <a:avLst/>
          </a:prstGeom>
          <a:solidFill>
            <a:srgbClr val="26242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TextBox 5"/>
          <p:cNvSpPr txBox="1"/>
          <p:nvPr/>
        </p:nvSpPr>
        <p:spPr>
          <a:xfrm>
            <a:off x="685800" y="512064"/>
            <a:ext cx="7772400" cy="457200"/>
          </a:xfrm>
          <a:prstGeom prst="rect">
            <a:avLst/>
          </a:prstGeom>
          <a:noFill/>
          <a:effectLst/>
        </p:spPr>
        <p:txBody>
          <a:bodyPr wrap="square" anchor="t" lIns="0" rIns="0" tIns="0" bIns="0">
            <a:spAutoFit/>
          </a:bodyPr>
          <a:lstStyle/>
          <a:p>
            <a:pPr algn="ctr">
              <a:lnSpc>
                <a:spcPct val="100000"/>
              </a:lnSpc>
              <a:spcAft>
                <a:spcPts val="0"/>
              </a:spcAft>
            </a:pPr>
            <a:r>
              <a:rPr sz="3000" b="0" i="0">
                <a:solidFill>
                  <a:srgbClr val="262422"/>
                </a:solidFill>
                <a:latin typeface="Georgia"/>
              </a:rPr>
              <a:t>The Daily Claim</a:t>
            </a:r>
          </a:p>
        </p:txBody>
      </p:sp>
      <p:sp>
        <p:nvSpPr>
          <p:cNvPr id="7" name="Rectangle 6"/>
          <p:cNvSpPr/>
          <p:nvPr/>
        </p:nvSpPr>
        <p:spPr>
          <a:xfrm>
            <a:off x="685800" y="1024128"/>
            <a:ext cx="7772400" cy="9144"/>
          </a:xfrm>
          <a:prstGeom prst="rect">
            <a:avLst/>
          </a:prstGeom>
          <a:solidFill>
            <a:srgbClr val="26242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TextBox 7"/>
          <p:cNvSpPr txBox="1"/>
          <p:nvPr/>
        </p:nvSpPr>
        <p:spPr>
          <a:xfrm>
            <a:off x="685800" y="1060704"/>
            <a:ext cx="2926080" cy="182880"/>
          </a:xfrm>
          <a:prstGeom prst="rect">
            <a:avLst/>
          </a:prstGeom>
          <a:noFill/>
          <a:effectLst/>
        </p:spPr>
        <p:txBody>
          <a:bodyPr wrap="square" anchor="t" lIns="0" rIns="0" tIns="0" bIns="0">
            <a:spAutoFit/>
          </a:bodyPr>
          <a:lstStyle/>
          <a:p>
            <a:pPr algn="l">
              <a:lnSpc>
                <a:spcPct val="125000"/>
              </a:lnSpc>
              <a:spcAft>
                <a:spcPts val="0"/>
              </a:spcAft>
            </a:pPr>
            <a:r>
              <a:rPr sz="800" b="1" i="0" spc="140">
                <a:solidFill>
                  <a:srgbClr val="56524B"/>
                </a:solidFill>
                <a:latin typeface="Calibri"/>
              </a:rPr>
              <a:t>WASHINGTON, 1926</a:t>
            </a:r>
          </a:p>
        </p:txBody>
      </p:sp>
      <p:sp>
        <p:nvSpPr>
          <p:cNvPr id="9" name="TextBox 8"/>
          <p:cNvSpPr txBox="1"/>
          <p:nvPr/>
        </p:nvSpPr>
        <p:spPr>
          <a:xfrm>
            <a:off x="3108960" y="1060704"/>
            <a:ext cx="2926080" cy="182880"/>
          </a:xfrm>
          <a:prstGeom prst="rect">
            <a:avLst/>
          </a:prstGeom>
          <a:noFill/>
          <a:effectLst/>
        </p:spPr>
        <p:txBody>
          <a:bodyPr wrap="square" anchor="t" lIns="0" rIns="0" tIns="0" bIns="0">
            <a:spAutoFit/>
          </a:bodyPr>
          <a:lstStyle/>
          <a:p>
            <a:pPr algn="ctr">
              <a:lnSpc>
                <a:spcPct val="125000"/>
              </a:lnSpc>
              <a:spcAft>
                <a:spcPts val="0"/>
              </a:spcAft>
            </a:pPr>
            <a:r>
              <a:rPr sz="800" b="1" i="0" spc="140">
                <a:solidFill>
                  <a:srgbClr val="56524B"/>
                </a:solidFill>
                <a:latin typeface="Calibri"/>
              </a:rPr>
              <a:t>VOLUME ONE</a:t>
            </a:r>
          </a:p>
        </p:txBody>
      </p:sp>
      <p:sp>
        <p:nvSpPr>
          <p:cNvPr id="10" name="TextBox 9"/>
          <p:cNvSpPr txBox="1"/>
          <p:nvPr/>
        </p:nvSpPr>
        <p:spPr>
          <a:xfrm>
            <a:off x="5532120" y="1060704"/>
            <a:ext cx="2926080" cy="182880"/>
          </a:xfrm>
          <a:prstGeom prst="rect">
            <a:avLst/>
          </a:prstGeom>
          <a:noFill/>
          <a:effectLst/>
        </p:spPr>
        <p:txBody>
          <a:bodyPr wrap="square" anchor="t" lIns="0" rIns="0" tIns="0" bIns="0">
            <a:spAutoFit/>
          </a:bodyPr>
          <a:lstStyle/>
          <a:p>
            <a:pPr algn="r">
              <a:lnSpc>
                <a:spcPct val="125000"/>
              </a:lnSpc>
              <a:spcAft>
                <a:spcPts val="0"/>
              </a:spcAft>
            </a:pPr>
            <a:r>
              <a:rPr sz="800" b="1" i="0" spc="140">
                <a:solidFill>
                  <a:srgbClr val="56524B"/>
                </a:solidFill>
                <a:latin typeface="Calibri"/>
              </a:rPr>
              <a:t>LESSON 4 OF 5</a:t>
            </a:r>
          </a:p>
        </p:txBody>
      </p:sp>
      <p:sp>
        <p:nvSpPr>
          <p:cNvPr id="11" name="Rectangle 10"/>
          <p:cNvSpPr/>
          <p:nvPr/>
        </p:nvSpPr>
        <p:spPr>
          <a:xfrm>
            <a:off x="685800" y="1280160"/>
            <a:ext cx="7772400" cy="32004"/>
          </a:xfrm>
          <a:prstGeom prst="rect">
            <a:avLst/>
          </a:prstGeom>
          <a:solidFill>
            <a:srgbClr val="26242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TextBox 11"/>
          <p:cNvSpPr txBox="1"/>
          <p:nvPr/>
        </p:nvSpPr>
        <p:spPr>
          <a:xfrm>
            <a:off x="685800" y="1421891"/>
            <a:ext cx="7772400" cy="881888"/>
          </a:xfrm>
          <a:prstGeom prst="rect">
            <a:avLst/>
          </a:prstGeom>
          <a:noFill/>
          <a:effectLst/>
        </p:spPr>
        <p:txBody>
          <a:bodyPr wrap="square" anchor="t" lIns="0" rIns="0" tIns="0" bIns="0">
            <a:spAutoFit/>
          </a:bodyPr>
          <a:lstStyle/>
          <a:p>
            <a:pPr algn="l">
              <a:lnSpc>
                <a:spcPct val="100000"/>
              </a:lnSpc>
              <a:spcAft>
                <a:spcPts val="0"/>
              </a:spcAft>
            </a:pPr>
            <a:r>
              <a:rPr sz="2800" b="0" i="0">
                <a:solidFill>
                  <a:srgbClr val="262422"/>
                </a:solidFill>
                <a:latin typeface="Georgia"/>
              </a:rPr>
              <a:t>LEADED PETROL: ‘NO REAL</a:t>
            </a:r>
            <a:br>
              <a:rPr lang="en-GB"/>
            </a:br>
            <a:r>
              <a:rPr sz="2800" b="0" i="0">
                <a:solidFill>
                  <a:srgbClr val="262422"/>
                </a:solidFill>
                <a:latin typeface="Georgia"/>
              </a:rPr>
              <a:t>EVIDENCE’ OF DANGER</a:t>
            </a:r>
          </a:p>
        </p:txBody>
      </p:sp>
      <p:sp>
        <p:nvSpPr>
          <p:cNvPr id="13" name="TextBox 12"/>
          <p:cNvSpPr txBox="1"/>
          <p:nvPr/>
        </p:nvSpPr>
        <p:spPr>
          <a:xfrm>
            <a:off x="685800" y="2376931"/>
            <a:ext cx="7772400" cy="409448"/>
          </a:xfrm>
          <a:prstGeom prst="rect">
            <a:avLst/>
          </a:prstGeom>
          <a:noFill/>
          <a:effectLst/>
        </p:spPr>
        <p:txBody>
          <a:bodyPr wrap="square" anchor="t" lIns="0" rIns="0" tIns="0" bIns="0">
            <a:spAutoFit/>
          </a:bodyPr>
          <a:lstStyle/>
          <a:p>
            <a:pPr algn="l">
              <a:lnSpc>
                <a:spcPct val="118000"/>
              </a:lnSpc>
              <a:spcAft>
                <a:spcPts val="0"/>
              </a:spcAft>
            </a:pPr>
            <a:r>
              <a:rPr sz="1300" b="0" i="1">
                <a:solidFill>
                  <a:srgbClr val="56524B"/>
                </a:solidFill>
                <a:latin typeface="Georgia"/>
              </a:rPr>
              <a:t>A government committee clears the new fuel after last year’s pause, and leaded petrol goes back on sale across the country.</a:t>
            </a:r>
          </a:p>
        </p:txBody>
      </p:sp>
      <p:sp>
        <p:nvSpPr>
          <p:cNvPr id="14" name="Rectangle 13"/>
          <p:cNvSpPr/>
          <p:nvPr/>
        </p:nvSpPr>
        <p:spPr>
          <a:xfrm>
            <a:off x="685800" y="2877819"/>
            <a:ext cx="7772400" cy="9144"/>
          </a:xfrm>
          <a:prstGeom prst="rect">
            <a:avLst/>
          </a:prstGeom>
          <a:solidFill>
            <a:srgbClr val="26242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TextBox 14"/>
          <p:cNvSpPr txBox="1"/>
          <p:nvPr/>
        </p:nvSpPr>
        <p:spPr>
          <a:xfrm>
            <a:off x="685800" y="2987547"/>
            <a:ext cx="2432304" cy="990600"/>
          </a:xfrm>
          <a:prstGeom prst="rect">
            <a:avLst/>
          </a:prstGeom>
          <a:noFill/>
          <a:effectLst/>
        </p:spPr>
        <p:txBody>
          <a:bodyPr wrap="square" anchor="t" lIns="0" rIns="0" tIns="0" bIns="0">
            <a:spAutoFit/>
          </a:bodyPr>
          <a:lstStyle/>
          <a:p>
            <a:pPr algn="l">
              <a:lnSpc>
                <a:spcPct val="126000"/>
              </a:lnSpc>
              <a:spcAft>
                <a:spcPts val="0"/>
              </a:spcAft>
            </a:pPr>
            <a:r>
              <a:rPr sz="1200" b="0" i="0">
                <a:solidFill>
                  <a:srgbClr val="262422"/>
                </a:solidFill>
                <a:latin typeface="Georgia"/>
              </a:rPr>
              <a:t>Adding lead to petrol stops engines knocking and makes cars run better. Sales were paused for a year after workers died at refineries in New Jersey.</a:t>
            </a:r>
          </a:p>
        </p:txBody>
      </p:sp>
      <p:sp>
        <p:nvSpPr>
          <p:cNvPr id="16" name="Rectangle 15"/>
          <p:cNvSpPr/>
          <p:nvPr/>
        </p:nvSpPr>
        <p:spPr>
          <a:xfrm>
            <a:off x="3236976" y="2987547"/>
            <a:ext cx="9144" cy="1511300"/>
          </a:xfrm>
          <a:prstGeom prst="rect">
            <a:avLst/>
          </a:prstGeom>
          <a:solidFill>
            <a:srgbClr val="8C877D"/>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TextBox 16"/>
          <p:cNvSpPr txBox="1"/>
          <p:nvPr/>
        </p:nvSpPr>
        <p:spPr>
          <a:xfrm>
            <a:off x="3355848" y="2987547"/>
            <a:ext cx="2432304" cy="990600"/>
          </a:xfrm>
          <a:prstGeom prst="rect">
            <a:avLst/>
          </a:prstGeom>
          <a:noFill/>
          <a:effectLst/>
        </p:spPr>
        <p:txBody>
          <a:bodyPr wrap="square" anchor="t" lIns="0" rIns="0" tIns="0" bIns="0">
            <a:spAutoFit/>
          </a:bodyPr>
          <a:lstStyle/>
          <a:p>
            <a:pPr algn="l">
              <a:lnSpc>
                <a:spcPct val="126000"/>
              </a:lnSpc>
              <a:spcAft>
                <a:spcPts val="0"/>
              </a:spcAft>
            </a:pPr>
            <a:r>
              <a:rPr sz="1200" b="0" i="0">
                <a:solidFill>
                  <a:srgbClr val="262422"/>
                </a:solidFill>
                <a:latin typeface="Georgia"/>
              </a:rPr>
              <a:t>Now a committee called in by the government says it has found no real evidence that the fuel harms the public, and the pumps are open again.</a:t>
            </a:r>
          </a:p>
        </p:txBody>
      </p:sp>
      <p:sp>
        <p:nvSpPr>
          <p:cNvPr id="18" name="Rectangle 17"/>
          <p:cNvSpPr/>
          <p:nvPr/>
        </p:nvSpPr>
        <p:spPr>
          <a:xfrm>
            <a:off x="5907024" y="2987547"/>
            <a:ext cx="9144" cy="1511300"/>
          </a:xfrm>
          <a:prstGeom prst="rect">
            <a:avLst/>
          </a:prstGeom>
          <a:solidFill>
            <a:srgbClr val="8C877D"/>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 name="Rectangle 18"/>
          <p:cNvSpPr/>
          <p:nvPr/>
        </p:nvSpPr>
        <p:spPr>
          <a:xfrm>
            <a:off x="6025896" y="2987547"/>
            <a:ext cx="2432304" cy="1505839"/>
          </a:xfrm>
          <a:prstGeom prst="rect">
            <a:avLst/>
          </a:prstGeom>
          <a:solidFill>
            <a:srgbClr val="EFECE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Rectangle 19"/>
          <p:cNvSpPr/>
          <p:nvPr/>
        </p:nvSpPr>
        <p:spPr>
          <a:xfrm>
            <a:off x="6025896" y="2987547"/>
            <a:ext cx="45720" cy="1505839"/>
          </a:xfrm>
          <a:prstGeom prst="rect">
            <a:avLst/>
          </a:prstGeom>
          <a:solidFill>
            <a:srgbClr val="34322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 name="TextBox 20"/>
          <p:cNvSpPr txBox="1"/>
          <p:nvPr/>
        </p:nvSpPr>
        <p:spPr>
          <a:xfrm>
            <a:off x="6208776" y="3133851"/>
            <a:ext cx="2121408" cy="944880"/>
          </a:xfrm>
          <a:prstGeom prst="rect">
            <a:avLst/>
          </a:prstGeom>
          <a:noFill/>
          <a:effectLst/>
        </p:spPr>
        <p:txBody>
          <a:bodyPr wrap="square" anchor="t" lIns="0" rIns="0" tIns="0" bIns="0">
            <a:spAutoFit/>
          </a:bodyPr>
          <a:lstStyle/>
          <a:p>
            <a:pPr algn="l">
              <a:lnSpc>
                <a:spcPct val="112000"/>
              </a:lnSpc>
              <a:spcAft>
                <a:spcPts val="0"/>
              </a:spcAft>
            </a:pPr>
            <a:r>
              <a:rPr sz="1500" b="0" i="0">
                <a:solidFill>
                  <a:srgbClr val="34322F"/>
                </a:solidFill>
                <a:latin typeface="Georgia"/>
              </a:rPr>
              <a:t>There is “no real evidence” that the new fuel harms the public.</a:t>
            </a:r>
          </a:p>
        </p:txBody>
      </p:sp>
      <p:sp>
        <p:nvSpPr>
          <p:cNvPr id="22" name="TextBox 21"/>
          <p:cNvSpPr txBox="1"/>
          <p:nvPr/>
        </p:nvSpPr>
        <p:spPr>
          <a:xfrm>
            <a:off x="6208776" y="4170171"/>
            <a:ext cx="2121408" cy="140335"/>
          </a:xfrm>
          <a:prstGeom prst="rect">
            <a:avLst/>
          </a:prstGeom>
          <a:noFill/>
          <a:effectLst/>
        </p:spPr>
        <p:txBody>
          <a:bodyPr wrap="square" anchor="t" lIns="0" rIns="0" tIns="0" bIns="0">
            <a:spAutoFit/>
          </a:bodyPr>
          <a:lstStyle/>
          <a:p>
            <a:pPr algn="l">
              <a:lnSpc>
                <a:spcPct val="125000"/>
              </a:lnSpc>
              <a:spcAft>
                <a:spcPts val="0"/>
              </a:spcAft>
            </a:pPr>
            <a:r>
              <a:rPr sz="800" b="1" i="0" spc="110">
                <a:solidFill>
                  <a:srgbClr val="56524B"/>
                </a:solidFill>
                <a:latin typeface="Calibri"/>
              </a:rPr>
              <a:t>WHAT THE COMMITTEE FOUND, 1926</a:t>
            </a:r>
          </a:p>
        </p:txBody>
      </p:sp>
      <p:pic>
        <p:nvPicPr>
          <p:cNvPr id="23" name="Picture 22" descr="logo-mark.png"/>
          <p:cNvPicPr>
            <a:picLocks noChangeAspect="1"/>
          </p:cNvPicPr>
          <p:nvPr/>
        </p:nvPicPr>
        <p:blipFill>
          <a:blip r:embed="rId2"/>
          <a:stretch>
            <a:fillRect/>
          </a:stretch>
        </p:blipFill>
        <p:spPr>
          <a:xfrm>
            <a:off x="384048" y="4727448"/>
            <a:ext cx="158374" cy="182880"/>
          </a:xfrm>
          <a:prstGeom prst="rect">
            <a:avLst/>
          </a:prstGeom>
          <a:effectLst/>
        </p:spPr>
      </p:pic>
      <p:sp>
        <p:nvSpPr>
          <p:cNvPr id="24" name="TextBox 23"/>
          <p:cNvSpPr txBox="1"/>
          <p:nvPr/>
        </p:nvSpPr>
        <p:spPr>
          <a:xfrm>
            <a:off x="603504" y="4709160"/>
            <a:ext cx="2194560" cy="210312"/>
          </a:xfrm>
          <a:prstGeom prst="rect">
            <a:avLst/>
          </a:prstGeom>
          <a:noFill/>
          <a:effectLst/>
        </p:spPr>
        <p:txBody>
          <a:bodyPr wrap="square" anchor="t" lIns="0" rIns="0" tIns="0" bIns="0">
            <a:spAutoFit/>
          </a:bodyPr>
          <a:lstStyle/>
          <a:p>
            <a:pPr algn="l">
              <a:lnSpc>
                <a:spcPct val="125000"/>
              </a:lnSpc>
              <a:spcAft>
                <a:spcPts val="0"/>
              </a:spcAft>
            </a:pPr>
            <a:r>
              <a:rPr sz="850" b="0" i="1">
                <a:solidFill>
                  <a:srgbClr val="8C877D"/>
                </a:solidFill>
                <a:latin typeface="Calibri"/>
              </a:rPr>
              <a:t>The Pastoral Guide</a:t>
            </a:r>
          </a:p>
        </p:txBody>
      </p:sp>
      <p:sp>
        <p:nvSpPr>
          <p:cNvPr id="25" name="TextBox 24"/>
          <p:cNvSpPr txBox="1"/>
          <p:nvPr/>
        </p:nvSpPr>
        <p:spPr>
          <a:xfrm>
            <a:off x="7680960" y="4727448"/>
            <a:ext cx="1078992" cy="219456"/>
          </a:xfrm>
          <a:prstGeom prst="rect">
            <a:avLst/>
          </a:prstGeom>
          <a:noFill/>
          <a:effectLst/>
        </p:spPr>
        <p:txBody>
          <a:bodyPr wrap="square" anchor="t" lIns="0" rIns="0" tIns="0" bIns="0">
            <a:spAutoFit/>
          </a:bodyPr>
          <a:lstStyle/>
          <a:p>
            <a:pPr algn="r">
              <a:lnSpc>
                <a:spcPct val="125000"/>
              </a:lnSpc>
              <a:spcAft>
                <a:spcPts val="0"/>
              </a:spcAft>
            </a:pPr>
            <a:r>
              <a:rPr sz="850" b="0" i="0">
                <a:solidFill>
                  <a:srgbClr val="8C877D"/>
                </a:solidFill>
                <a:latin typeface="Calibri"/>
              </a:rPr>
              <a:t>3 / 19</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4EFE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685800" y="274320"/>
            <a:ext cx="5669280" cy="201168"/>
          </a:xfrm>
          <a:prstGeom prst="rect">
            <a:avLst/>
          </a:prstGeom>
          <a:noFill/>
          <a:effectLst/>
        </p:spPr>
        <p:txBody>
          <a:bodyPr wrap="square" anchor="t" lIns="0" rIns="0" tIns="0" bIns="0">
            <a:spAutoFit/>
          </a:bodyPr>
          <a:lstStyle/>
          <a:p>
            <a:pPr algn="l">
              <a:lnSpc>
                <a:spcPct val="125000"/>
              </a:lnSpc>
              <a:spcAft>
                <a:spcPts val="0"/>
              </a:spcAft>
            </a:pPr>
            <a:r>
              <a:rPr sz="900" b="1" i="0" spc="150">
                <a:solidFill>
                  <a:srgbClr val="34322F"/>
                </a:solidFill>
                <a:latin typeface="Calibri"/>
              </a:rPr>
              <a:t>QUESTION THE HEADLINE  ·  LESSON 4 OF 5</a:t>
            </a:r>
          </a:p>
        </p:txBody>
      </p:sp>
      <p:sp>
        <p:nvSpPr>
          <p:cNvPr id="5" name="TextBox 4"/>
          <p:cNvSpPr txBox="1"/>
          <p:nvPr/>
        </p:nvSpPr>
        <p:spPr>
          <a:xfrm>
            <a:off x="685800" y="566928"/>
            <a:ext cx="7772400" cy="434848"/>
          </a:xfrm>
          <a:prstGeom prst="rect">
            <a:avLst/>
          </a:prstGeom>
          <a:noFill/>
          <a:effectLst/>
        </p:spPr>
        <p:txBody>
          <a:bodyPr wrap="square" anchor="t" lIns="0" rIns="0" tIns="0" bIns="0">
            <a:spAutoFit/>
          </a:bodyPr>
          <a:lstStyle/>
          <a:p>
            <a:pPr algn="l">
              <a:lnSpc>
                <a:spcPct val="105000"/>
              </a:lnSpc>
              <a:spcAft>
                <a:spcPts val="0"/>
              </a:spcAft>
            </a:pPr>
            <a:r>
              <a:rPr sz="2800" b="0" i="0">
                <a:solidFill>
                  <a:srgbClr val="262422"/>
                </a:solidFill>
                <a:latin typeface="Georgia"/>
              </a:rPr>
              <a:t>How much do you believe it?</a:t>
            </a:r>
          </a:p>
        </p:txBody>
      </p:sp>
      <p:sp>
        <p:nvSpPr>
          <p:cNvPr id="6" name="KEEP_SHADOW"/>
          <p:cNvSpPr/>
          <p:nvPr/>
        </p:nvSpPr>
        <p:spPr>
          <a:xfrm>
            <a:off x="685800" y="1225296"/>
            <a:ext cx="7772400" cy="896112"/>
          </a:xfrm>
          <a:prstGeom prst="rect">
            <a:avLst/>
          </a:prstGeom>
          <a:solidFill>
            <a:srgbClr val="FFFFFF"/>
          </a:solidFill>
          <a:ln>
            <a:noFill/>
          </a:ln>
          <a:effectLst>
            <a:outerShdw blurRad="76200" dist="25400" dir="5400000" algn="t" rotWithShape="0">
              <a:srgbClr val="000000">
                <a:alpha val="22000"/>
              </a:srgbClr>
            </a:outerShdw>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Rectangle 6"/>
          <p:cNvSpPr/>
          <p:nvPr/>
        </p:nvSpPr>
        <p:spPr>
          <a:xfrm>
            <a:off x="685800" y="1225296"/>
            <a:ext cx="45720" cy="896112"/>
          </a:xfrm>
          <a:prstGeom prst="rect">
            <a:avLst/>
          </a:prstGeom>
          <a:solidFill>
            <a:srgbClr val="34322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TextBox 7"/>
          <p:cNvSpPr txBox="1"/>
          <p:nvPr/>
        </p:nvSpPr>
        <p:spPr>
          <a:xfrm>
            <a:off x="1051560" y="1389888"/>
            <a:ext cx="7040880" cy="566928"/>
          </a:xfrm>
          <a:prstGeom prst="rect">
            <a:avLst/>
          </a:prstGeom>
          <a:noFill/>
          <a:effectLst/>
        </p:spPr>
        <p:txBody>
          <a:bodyPr wrap="square" anchor="t" lIns="0" rIns="0" tIns="0" bIns="0">
            <a:spAutoFit/>
          </a:bodyPr>
          <a:lstStyle/>
          <a:p>
            <a:pPr algn="ctr">
              <a:lnSpc>
                <a:spcPct val="112000"/>
              </a:lnSpc>
              <a:spcAft>
                <a:spcPts val="0"/>
              </a:spcAft>
            </a:pPr>
            <a:r>
              <a:rPr sz="1800" b="0" i="0">
                <a:solidFill>
                  <a:srgbClr val="262422"/>
                </a:solidFill>
                <a:latin typeface="Georgia"/>
              </a:rPr>
              <a:t>“If nobody has proved something is harmful, it must be safe.”</a:t>
            </a:r>
          </a:p>
        </p:txBody>
      </p:sp>
      <p:sp>
        <p:nvSpPr>
          <p:cNvPr id="9" name="Rectangle 8"/>
          <p:cNvSpPr/>
          <p:nvPr/>
        </p:nvSpPr>
        <p:spPr>
          <a:xfrm>
            <a:off x="960120" y="2395728"/>
            <a:ext cx="7223759" cy="36576"/>
          </a:xfrm>
          <a:prstGeom prst="rect">
            <a:avLst/>
          </a:prstGeom>
          <a:solidFill>
            <a:srgbClr val="26242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Rectangle 9"/>
          <p:cNvSpPr/>
          <p:nvPr/>
        </p:nvSpPr>
        <p:spPr>
          <a:xfrm>
            <a:off x="949147" y="2286000"/>
            <a:ext cx="21945" cy="256032"/>
          </a:xfrm>
          <a:prstGeom prst="rect">
            <a:avLst/>
          </a:prstGeom>
          <a:solidFill>
            <a:srgbClr val="26242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TextBox 10"/>
          <p:cNvSpPr txBox="1"/>
          <p:nvPr/>
        </p:nvSpPr>
        <p:spPr>
          <a:xfrm>
            <a:off x="731520" y="2578608"/>
            <a:ext cx="457200" cy="237744"/>
          </a:xfrm>
          <a:prstGeom prst="rect">
            <a:avLst/>
          </a:prstGeom>
          <a:noFill/>
          <a:effectLst/>
        </p:spPr>
        <p:txBody>
          <a:bodyPr wrap="square" anchor="t" lIns="0" rIns="0" tIns="0" bIns="0">
            <a:spAutoFit/>
          </a:bodyPr>
          <a:lstStyle/>
          <a:p>
            <a:pPr algn="ctr">
              <a:lnSpc>
                <a:spcPct val="125000"/>
              </a:lnSpc>
              <a:spcAft>
                <a:spcPts val="0"/>
              </a:spcAft>
            </a:pPr>
            <a:r>
              <a:rPr sz="1300" b="1" i="0">
                <a:solidFill>
                  <a:srgbClr val="262422"/>
                </a:solidFill>
                <a:latin typeface="Calibri"/>
              </a:rPr>
              <a:t>0</a:t>
            </a:r>
          </a:p>
        </p:txBody>
      </p:sp>
      <p:sp>
        <p:nvSpPr>
          <p:cNvPr id="12" name="Rectangle 11"/>
          <p:cNvSpPr/>
          <p:nvPr/>
        </p:nvSpPr>
        <p:spPr>
          <a:xfrm>
            <a:off x="1671523" y="2331720"/>
            <a:ext cx="21945" cy="164592"/>
          </a:xfrm>
          <a:prstGeom prst="rect">
            <a:avLst/>
          </a:prstGeom>
          <a:solidFill>
            <a:srgbClr val="26242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TextBox 12"/>
          <p:cNvSpPr txBox="1"/>
          <p:nvPr/>
        </p:nvSpPr>
        <p:spPr>
          <a:xfrm>
            <a:off x="1453895" y="2578608"/>
            <a:ext cx="457200" cy="237744"/>
          </a:xfrm>
          <a:prstGeom prst="rect">
            <a:avLst/>
          </a:prstGeom>
          <a:noFill/>
          <a:effectLst/>
        </p:spPr>
        <p:txBody>
          <a:bodyPr wrap="square" anchor="t" lIns="0" rIns="0" tIns="0" bIns="0">
            <a:spAutoFit/>
          </a:bodyPr>
          <a:lstStyle/>
          <a:p>
            <a:pPr algn="ctr">
              <a:lnSpc>
                <a:spcPct val="125000"/>
              </a:lnSpc>
              <a:spcAft>
                <a:spcPts val="0"/>
              </a:spcAft>
            </a:pPr>
            <a:r>
              <a:rPr sz="1050" b="0" i="0">
                <a:solidFill>
                  <a:srgbClr val="56524B"/>
                </a:solidFill>
                <a:latin typeface="Calibri"/>
              </a:rPr>
              <a:t>1</a:t>
            </a:r>
          </a:p>
        </p:txBody>
      </p:sp>
      <p:sp>
        <p:nvSpPr>
          <p:cNvPr id="14" name="Rectangle 13"/>
          <p:cNvSpPr/>
          <p:nvPr/>
        </p:nvSpPr>
        <p:spPr>
          <a:xfrm>
            <a:off x="2393899" y="2331720"/>
            <a:ext cx="21945" cy="164592"/>
          </a:xfrm>
          <a:prstGeom prst="rect">
            <a:avLst/>
          </a:prstGeom>
          <a:solidFill>
            <a:srgbClr val="26242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TextBox 14"/>
          <p:cNvSpPr txBox="1"/>
          <p:nvPr/>
        </p:nvSpPr>
        <p:spPr>
          <a:xfrm>
            <a:off x="2176272" y="2578608"/>
            <a:ext cx="457200" cy="237744"/>
          </a:xfrm>
          <a:prstGeom prst="rect">
            <a:avLst/>
          </a:prstGeom>
          <a:noFill/>
          <a:effectLst/>
        </p:spPr>
        <p:txBody>
          <a:bodyPr wrap="square" anchor="t" lIns="0" rIns="0" tIns="0" bIns="0">
            <a:spAutoFit/>
          </a:bodyPr>
          <a:lstStyle/>
          <a:p>
            <a:pPr algn="ctr">
              <a:lnSpc>
                <a:spcPct val="125000"/>
              </a:lnSpc>
              <a:spcAft>
                <a:spcPts val="0"/>
              </a:spcAft>
            </a:pPr>
            <a:r>
              <a:rPr sz="1050" b="0" i="0">
                <a:solidFill>
                  <a:srgbClr val="56524B"/>
                </a:solidFill>
                <a:latin typeface="Calibri"/>
              </a:rPr>
              <a:t>2</a:t>
            </a:r>
          </a:p>
        </p:txBody>
      </p:sp>
      <p:sp>
        <p:nvSpPr>
          <p:cNvPr id="16" name="Rectangle 15"/>
          <p:cNvSpPr/>
          <p:nvPr/>
        </p:nvSpPr>
        <p:spPr>
          <a:xfrm>
            <a:off x="3116275" y="2331720"/>
            <a:ext cx="21945" cy="164592"/>
          </a:xfrm>
          <a:prstGeom prst="rect">
            <a:avLst/>
          </a:prstGeom>
          <a:solidFill>
            <a:srgbClr val="26242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TextBox 16"/>
          <p:cNvSpPr txBox="1"/>
          <p:nvPr/>
        </p:nvSpPr>
        <p:spPr>
          <a:xfrm>
            <a:off x="2898648" y="2578608"/>
            <a:ext cx="457200" cy="237744"/>
          </a:xfrm>
          <a:prstGeom prst="rect">
            <a:avLst/>
          </a:prstGeom>
          <a:noFill/>
          <a:effectLst/>
        </p:spPr>
        <p:txBody>
          <a:bodyPr wrap="square" anchor="t" lIns="0" rIns="0" tIns="0" bIns="0">
            <a:spAutoFit/>
          </a:bodyPr>
          <a:lstStyle/>
          <a:p>
            <a:pPr algn="ctr">
              <a:lnSpc>
                <a:spcPct val="125000"/>
              </a:lnSpc>
              <a:spcAft>
                <a:spcPts val="0"/>
              </a:spcAft>
            </a:pPr>
            <a:r>
              <a:rPr sz="1050" b="0" i="0">
                <a:solidFill>
                  <a:srgbClr val="56524B"/>
                </a:solidFill>
                <a:latin typeface="Calibri"/>
              </a:rPr>
              <a:t>3</a:t>
            </a:r>
          </a:p>
        </p:txBody>
      </p:sp>
      <p:sp>
        <p:nvSpPr>
          <p:cNvPr id="18" name="Rectangle 17"/>
          <p:cNvSpPr/>
          <p:nvPr/>
        </p:nvSpPr>
        <p:spPr>
          <a:xfrm>
            <a:off x="3838651" y="2331720"/>
            <a:ext cx="21945" cy="164592"/>
          </a:xfrm>
          <a:prstGeom prst="rect">
            <a:avLst/>
          </a:prstGeom>
          <a:solidFill>
            <a:srgbClr val="26242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 name="TextBox 18"/>
          <p:cNvSpPr txBox="1"/>
          <p:nvPr/>
        </p:nvSpPr>
        <p:spPr>
          <a:xfrm>
            <a:off x="3621024" y="2578608"/>
            <a:ext cx="457200" cy="237744"/>
          </a:xfrm>
          <a:prstGeom prst="rect">
            <a:avLst/>
          </a:prstGeom>
          <a:noFill/>
          <a:effectLst/>
        </p:spPr>
        <p:txBody>
          <a:bodyPr wrap="square" anchor="t" lIns="0" rIns="0" tIns="0" bIns="0">
            <a:spAutoFit/>
          </a:bodyPr>
          <a:lstStyle/>
          <a:p>
            <a:pPr algn="ctr">
              <a:lnSpc>
                <a:spcPct val="125000"/>
              </a:lnSpc>
              <a:spcAft>
                <a:spcPts val="0"/>
              </a:spcAft>
            </a:pPr>
            <a:r>
              <a:rPr sz="1050" b="0" i="0">
                <a:solidFill>
                  <a:srgbClr val="56524B"/>
                </a:solidFill>
                <a:latin typeface="Calibri"/>
              </a:rPr>
              <a:t>4</a:t>
            </a:r>
          </a:p>
        </p:txBody>
      </p:sp>
      <p:sp>
        <p:nvSpPr>
          <p:cNvPr id="20" name="Rectangle 19"/>
          <p:cNvSpPr/>
          <p:nvPr/>
        </p:nvSpPr>
        <p:spPr>
          <a:xfrm>
            <a:off x="4561027" y="2286000"/>
            <a:ext cx="21945" cy="256032"/>
          </a:xfrm>
          <a:prstGeom prst="rect">
            <a:avLst/>
          </a:prstGeom>
          <a:solidFill>
            <a:srgbClr val="26242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 name="TextBox 20"/>
          <p:cNvSpPr txBox="1"/>
          <p:nvPr/>
        </p:nvSpPr>
        <p:spPr>
          <a:xfrm>
            <a:off x="4343400" y="2578608"/>
            <a:ext cx="457200" cy="237744"/>
          </a:xfrm>
          <a:prstGeom prst="rect">
            <a:avLst/>
          </a:prstGeom>
          <a:noFill/>
          <a:effectLst/>
        </p:spPr>
        <p:txBody>
          <a:bodyPr wrap="square" anchor="t" lIns="0" rIns="0" tIns="0" bIns="0">
            <a:spAutoFit/>
          </a:bodyPr>
          <a:lstStyle/>
          <a:p>
            <a:pPr algn="ctr">
              <a:lnSpc>
                <a:spcPct val="125000"/>
              </a:lnSpc>
              <a:spcAft>
                <a:spcPts val="0"/>
              </a:spcAft>
            </a:pPr>
            <a:r>
              <a:rPr sz="1300" b="1" i="0">
                <a:solidFill>
                  <a:srgbClr val="262422"/>
                </a:solidFill>
                <a:latin typeface="Calibri"/>
              </a:rPr>
              <a:t>5</a:t>
            </a:r>
          </a:p>
        </p:txBody>
      </p:sp>
      <p:sp>
        <p:nvSpPr>
          <p:cNvPr id="22" name="Rectangle 21"/>
          <p:cNvSpPr/>
          <p:nvPr/>
        </p:nvSpPr>
        <p:spPr>
          <a:xfrm>
            <a:off x="5283403" y="2331720"/>
            <a:ext cx="21945" cy="164592"/>
          </a:xfrm>
          <a:prstGeom prst="rect">
            <a:avLst/>
          </a:prstGeom>
          <a:solidFill>
            <a:srgbClr val="26242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TextBox 22"/>
          <p:cNvSpPr txBox="1"/>
          <p:nvPr/>
        </p:nvSpPr>
        <p:spPr>
          <a:xfrm>
            <a:off x="5065776" y="2578608"/>
            <a:ext cx="457200" cy="237744"/>
          </a:xfrm>
          <a:prstGeom prst="rect">
            <a:avLst/>
          </a:prstGeom>
          <a:noFill/>
          <a:effectLst/>
        </p:spPr>
        <p:txBody>
          <a:bodyPr wrap="square" anchor="t" lIns="0" rIns="0" tIns="0" bIns="0">
            <a:spAutoFit/>
          </a:bodyPr>
          <a:lstStyle/>
          <a:p>
            <a:pPr algn="ctr">
              <a:lnSpc>
                <a:spcPct val="125000"/>
              </a:lnSpc>
              <a:spcAft>
                <a:spcPts val="0"/>
              </a:spcAft>
            </a:pPr>
            <a:r>
              <a:rPr sz="1050" b="0" i="0">
                <a:solidFill>
                  <a:srgbClr val="56524B"/>
                </a:solidFill>
                <a:latin typeface="Calibri"/>
              </a:rPr>
              <a:t>6</a:t>
            </a:r>
          </a:p>
        </p:txBody>
      </p:sp>
      <p:sp>
        <p:nvSpPr>
          <p:cNvPr id="24" name="Rectangle 23"/>
          <p:cNvSpPr/>
          <p:nvPr/>
        </p:nvSpPr>
        <p:spPr>
          <a:xfrm>
            <a:off x="6005779" y="2331720"/>
            <a:ext cx="21945" cy="164592"/>
          </a:xfrm>
          <a:prstGeom prst="rect">
            <a:avLst/>
          </a:prstGeom>
          <a:solidFill>
            <a:srgbClr val="26242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5" name="TextBox 24"/>
          <p:cNvSpPr txBox="1"/>
          <p:nvPr/>
        </p:nvSpPr>
        <p:spPr>
          <a:xfrm>
            <a:off x="5788151" y="2578608"/>
            <a:ext cx="457200" cy="237744"/>
          </a:xfrm>
          <a:prstGeom prst="rect">
            <a:avLst/>
          </a:prstGeom>
          <a:noFill/>
          <a:effectLst/>
        </p:spPr>
        <p:txBody>
          <a:bodyPr wrap="square" anchor="t" lIns="0" rIns="0" tIns="0" bIns="0">
            <a:spAutoFit/>
          </a:bodyPr>
          <a:lstStyle/>
          <a:p>
            <a:pPr algn="ctr">
              <a:lnSpc>
                <a:spcPct val="125000"/>
              </a:lnSpc>
              <a:spcAft>
                <a:spcPts val="0"/>
              </a:spcAft>
            </a:pPr>
            <a:r>
              <a:rPr sz="1050" b="0" i="0">
                <a:solidFill>
                  <a:srgbClr val="56524B"/>
                </a:solidFill>
                <a:latin typeface="Calibri"/>
              </a:rPr>
              <a:t>7</a:t>
            </a:r>
          </a:p>
        </p:txBody>
      </p:sp>
      <p:sp>
        <p:nvSpPr>
          <p:cNvPr id="26" name="Rectangle 25"/>
          <p:cNvSpPr/>
          <p:nvPr/>
        </p:nvSpPr>
        <p:spPr>
          <a:xfrm>
            <a:off x="6728155" y="2331720"/>
            <a:ext cx="21945" cy="164592"/>
          </a:xfrm>
          <a:prstGeom prst="rect">
            <a:avLst/>
          </a:prstGeom>
          <a:solidFill>
            <a:srgbClr val="26242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7" name="TextBox 26"/>
          <p:cNvSpPr txBox="1"/>
          <p:nvPr/>
        </p:nvSpPr>
        <p:spPr>
          <a:xfrm>
            <a:off x="6510527" y="2578608"/>
            <a:ext cx="457200" cy="237744"/>
          </a:xfrm>
          <a:prstGeom prst="rect">
            <a:avLst/>
          </a:prstGeom>
          <a:noFill/>
          <a:effectLst/>
        </p:spPr>
        <p:txBody>
          <a:bodyPr wrap="square" anchor="t" lIns="0" rIns="0" tIns="0" bIns="0">
            <a:spAutoFit/>
          </a:bodyPr>
          <a:lstStyle/>
          <a:p>
            <a:pPr algn="ctr">
              <a:lnSpc>
                <a:spcPct val="125000"/>
              </a:lnSpc>
              <a:spcAft>
                <a:spcPts val="0"/>
              </a:spcAft>
            </a:pPr>
            <a:r>
              <a:rPr sz="1050" b="0" i="0">
                <a:solidFill>
                  <a:srgbClr val="56524B"/>
                </a:solidFill>
                <a:latin typeface="Calibri"/>
              </a:rPr>
              <a:t>8</a:t>
            </a:r>
          </a:p>
        </p:txBody>
      </p:sp>
      <p:sp>
        <p:nvSpPr>
          <p:cNvPr id="28" name="Rectangle 27"/>
          <p:cNvSpPr/>
          <p:nvPr/>
        </p:nvSpPr>
        <p:spPr>
          <a:xfrm>
            <a:off x="7450531" y="2331720"/>
            <a:ext cx="21945" cy="164592"/>
          </a:xfrm>
          <a:prstGeom prst="rect">
            <a:avLst/>
          </a:prstGeom>
          <a:solidFill>
            <a:srgbClr val="26242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 name="TextBox 28"/>
          <p:cNvSpPr txBox="1"/>
          <p:nvPr/>
        </p:nvSpPr>
        <p:spPr>
          <a:xfrm>
            <a:off x="7232904" y="2578608"/>
            <a:ext cx="457200" cy="237744"/>
          </a:xfrm>
          <a:prstGeom prst="rect">
            <a:avLst/>
          </a:prstGeom>
          <a:noFill/>
          <a:effectLst/>
        </p:spPr>
        <p:txBody>
          <a:bodyPr wrap="square" anchor="t" lIns="0" rIns="0" tIns="0" bIns="0">
            <a:spAutoFit/>
          </a:bodyPr>
          <a:lstStyle/>
          <a:p>
            <a:pPr algn="ctr">
              <a:lnSpc>
                <a:spcPct val="125000"/>
              </a:lnSpc>
              <a:spcAft>
                <a:spcPts val="0"/>
              </a:spcAft>
            </a:pPr>
            <a:r>
              <a:rPr sz="1050" b="0" i="0">
                <a:solidFill>
                  <a:srgbClr val="56524B"/>
                </a:solidFill>
                <a:latin typeface="Calibri"/>
              </a:rPr>
              <a:t>9</a:t>
            </a:r>
          </a:p>
        </p:txBody>
      </p:sp>
      <p:sp>
        <p:nvSpPr>
          <p:cNvPr id="30" name="Rectangle 29"/>
          <p:cNvSpPr/>
          <p:nvPr/>
        </p:nvSpPr>
        <p:spPr>
          <a:xfrm>
            <a:off x="8172907" y="2286000"/>
            <a:ext cx="21945" cy="256032"/>
          </a:xfrm>
          <a:prstGeom prst="rect">
            <a:avLst/>
          </a:prstGeom>
          <a:solidFill>
            <a:srgbClr val="26242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 name="TextBox 30"/>
          <p:cNvSpPr txBox="1"/>
          <p:nvPr/>
        </p:nvSpPr>
        <p:spPr>
          <a:xfrm>
            <a:off x="7955280" y="2578608"/>
            <a:ext cx="457200" cy="237744"/>
          </a:xfrm>
          <a:prstGeom prst="rect">
            <a:avLst/>
          </a:prstGeom>
          <a:noFill/>
          <a:effectLst/>
        </p:spPr>
        <p:txBody>
          <a:bodyPr wrap="square" anchor="t" lIns="0" rIns="0" tIns="0" bIns="0">
            <a:spAutoFit/>
          </a:bodyPr>
          <a:lstStyle/>
          <a:p>
            <a:pPr algn="ctr">
              <a:lnSpc>
                <a:spcPct val="125000"/>
              </a:lnSpc>
              <a:spcAft>
                <a:spcPts val="0"/>
              </a:spcAft>
            </a:pPr>
            <a:r>
              <a:rPr sz="1300" b="1" i="0">
                <a:solidFill>
                  <a:srgbClr val="262422"/>
                </a:solidFill>
                <a:latin typeface="Calibri"/>
              </a:rPr>
              <a:t>10</a:t>
            </a:r>
          </a:p>
        </p:txBody>
      </p:sp>
      <p:sp>
        <p:nvSpPr>
          <p:cNvPr id="32" name="TextBox 31"/>
          <p:cNvSpPr txBox="1"/>
          <p:nvPr/>
        </p:nvSpPr>
        <p:spPr>
          <a:xfrm>
            <a:off x="685800" y="2852928"/>
            <a:ext cx="2194560" cy="237744"/>
          </a:xfrm>
          <a:prstGeom prst="rect">
            <a:avLst/>
          </a:prstGeom>
          <a:noFill/>
          <a:effectLst/>
        </p:spPr>
        <p:txBody>
          <a:bodyPr wrap="square" anchor="t" lIns="0" rIns="0" tIns="0" bIns="0">
            <a:spAutoFit/>
          </a:bodyPr>
          <a:lstStyle/>
          <a:p>
            <a:pPr algn="l">
              <a:lnSpc>
                <a:spcPct val="125000"/>
              </a:lnSpc>
              <a:spcAft>
                <a:spcPts val="0"/>
              </a:spcAft>
            </a:pPr>
            <a:r>
              <a:rPr sz="1100" b="1" i="0">
                <a:solidFill>
                  <a:srgbClr val="34322F"/>
                </a:solidFill>
                <a:latin typeface="Calibri"/>
              </a:rPr>
              <a:t>Definitely false</a:t>
            </a:r>
          </a:p>
        </p:txBody>
      </p:sp>
      <p:sp>
        <p:nvSpPr>
          <p:cNvPr id="33" name="TextBox 32"/>
          <p:cNvSpPr txBox="1"/>
          <p:nvPr/>
        </p:nvSpPr>
        <p:spPr>
          <a:xfrm>
            <a:off x="6263640" y="2852928"/>
            <a:ext cx="2194560" cy="237744"/>
          </a:xfrm>
          <a:prstGeom prst="rect">
            <a:avLst/>
          </a:prstGeom>
          <a:noFill/>
          <a:effectLst/>
        </p:spPr>
        <p:txBody>
          <a:bodyPr wrap="square" anchor="t" lIns="0" rIns="0" tIns="0" bIns="0">
            <a:spAutoFit/>
          </a:bodyPr>
          <a:lstStyle/>
          <a:p>
            <a:pPr algn="r">
              <a:lnSpc>
                <a:spcPct val="125000"/>
              </a:lnSpc>
              <a:spcAft>
                <a:spcPts val="0"/>
              </a:spcAft>
            </a:pPr>
            <a:r>
              <a:rPr sz="1100" b="1" i="0">
                <a:solidFill>
                  <a:srgbClr val="34322F"/>
                </a:solidFill>
                <a:latin typeface="Calibri"/>
              </a:rPr>
              <a:t>Definitely true</a:t>
            </a:r>
          </a:p>
        </p:txBody>
      </p:sp>
      <p:sp>
        <p:nvSpPr>
          <p:cNvPr id="34" name="TextBox 33"/>
          <p:cNvSpPr txBox="1"/>
          <p:nvPr/>
        </p:nvSpPr>
        <p:spPr>
          <a:xfrm>
            <a:off x="868680" y="3913632"/>
            <a:ext cx="7406640" cy="432054"/>
          </a:xfrm>
          <a:prstGeom prst="rect">
            <a:avLst/>
          </a:prstGeom>
          <a:noFill/>
          <a:effectLst/>
        </p:spPr>
        <p:txBody>
          <a:bodyPr wrap="square" anchor="t" lIns="0" rIns="0" tIns="0" bIns="0">
            <a:spAutoFit/>
          </a:bodyPr>
          <a:lstStyle/>
          <a:p>
            <a:pPr algn="ctr">
              <a:lnSpc>
                <a:spcPct val="120000"/>
              </a:lnSpc>
              <a:spcAft>
                <a:spcPts val="0"/>
              </a:spcAft>
            </a:pPr>
            <a:r>
              <a:rPr sz="1350" b="1" i="0">
                <a:solidFill>
                  <a:srgbClr val="34322F"/>
                </a:solidFill>
                <a:latin typeface="Calibri"/>
              </a:rPr>
              <a:t>Stand on the line where you are now. Two or three people say why they are standing there.</a:t>
            </a:r>
          </a:p>
        </p:txBody>
      </p:sp>
      <p:pic>
        <p:nvPicPr>
          <p:cNvPr id="35" name="Picture 34" descr="logo-mark.png"/>
          <p:cNvPicPr>
            <a:picLocks noChangeAspect="1"/>
          </p:cNvPicPr>
          <p:nvPr/>
        </p:nvPicPr>
        <p:blipFill>
          <a:blip r:embed="rId2"/>
          <a:stretch>
            <a:fillRect/>
          </a:stretch>
        </p:blipFill>
        <p:spPr>
          <a:xfrm>
            <a:off x="384048" y="4727448"/>
            <a:ext cx="158374" cy="182880"/>
          </a:xfrm>
          <a:prstGeom prst="rect">
            <a:avLst/>
          </a:prstGeom>
          <a:effectLst/>
        </p:spPr>
      </p:pic>
      <p:sp>
        <p:nvSpPr>
          <p:cNvPr id="36" name="TextBox 35"/>
          <p:cNvSpPr txBox="1"/>
          <p:nvPr/>
        </p:nvSpPr>
        <p:spPr>
          <a:xfrm>
            <a:off x="603504" y="4709160"/>
            <a:ext cx="2194560" cy="210312"/>
          </a:xfrm>
          <a:prstGeom prst="rect">
            <a:avLst/>
          </a:prstGeom>
          <a:noFill/>
          <a:effectLst/>
        </p:spPr>
        <p:txBody>
          <a:bodyPr wrap="square" anchor="t" lIns="0" rIns="0" tIns="0" bIns="0">
            <a:spAutoFit/>
          </a:bodyPr>
          <a:lstStyle/>
          <a:p>
            <a:pPr algn="l">
              <a:lnSpc>
                <a:spcPct val="125000"/>
              </a:lnSpc>
              <a:spcAft>
                <a:spcPts val="0"/>
              </a:spcAft>
            </a:pPr>
            <a:r>
              <a:rPr sz="850" b="0" i="1">
                <a:solidFill>
                  <a:srgbClr val="8C877D"/>
                </a:solidFill>
                <a:latin typeface="Calibri"/>
              </a:rPr>
              <a:t>The Pastoral Guide</a:t>
            </a:r>
          </a:p>
        </p:txBody>
      </p:sp>
      <p:sp>
        <p:nvSpPr>
          <p:cNvPr id="37" name="TextBox 36"/>
          <p:cNvSpPr txBox="1"/>
          <p:nvPr/>
        </p:nvSpPr>
        <p:spPr>
          <a:xfrm>
            <a:off x="7680960" y="4727448"/>
            <a:ext cx="1078992" cy="219456"/>
          </a:xfrm>
          <a:prstGeom prst="rect">
            <a:avLst/>
          </a:prstGeom>
          <a:noFill/>
          <a:effectLst/>
        </p:spPr>
        <p:txBody>
          <a:bodyPr wrap="square" anchor="t" lIns="0" rIns="0" tIns="0" bIns="0">
            <a:spAutoFit/>
          </a:bodyPr>
          <a:lstStyle/>
          <a:p>
            <a:pPr algn="r">
              <a:lnSpc>
                <a:spcPct val="125000"/>
              </a:lnSpc>
              <a:spcAft>
                <a:spcPts val="0"/>
              </a:spcAft>
            </a:pPr>
            <a:r>
              <a:rPr sz="850" b="0" i="0">
                <a:solidFill>
                  <a:srgbClr val="8C877D"/>
                </a:solidFill>
                <a:latin typeface="Calibri"/>
              </a:rPr>
              <a:t>4 / 19</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4EFE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685800" y="274320"/>
            <a:ext cx="5669280" cy="201168"/>
          </a:xfrm>
          <a:prstGeom prst="rect">
            <a:avLst/>
          </a:prstGeom>
          <a:noFill/>
          <a:effectLst/>
        </p:spPr>
        <p:txBody>
          <a:bodyPr wrap="square" anchor="t" lIns="0" rIns="0" tIns="0" bIns="0">
            <a:spAutoFit/>
          </a:bodyPr>
          <a:lstStyle/>
          <a:p>
            <a:pPr algn="l">
              <a:lnSpc>
                <a:spcPct val="125000"/>
              </a:lnSpc>
              <a:spcAft>
                <a:spcPts val="0"/>
              </a:spcAft>
            </a:pPr>
            <a:r>
              <a:rPr sz="900" b="1" i="0" spc="150">
                <a:solidFill>
                  <a:srgbClr val="34322F"/>
                </a:solidFill>
                <a:latin typeface="Calibri"/>
              </a:rPr>
              <a:t>QUESTION THE HEADLINE  ·  LESSON 4 OF 5</a:t>
            </a:r>
          </a:p>
        </p:txBody>
      </p:sp>
      <p:sp>
        <p:nvSpPr>
          <p:cNvPr id="5" name="TextBox 4"/>
          <p:cNvSpPr txBox="1"/>
          <p:nvPr/>
        </p:nvSpPr>
        <p:spPr>
          <a:xfrm>
            <a:off x="685800" y="566928"/>
            <a:ext cx="7772400" cy="434848"/>
          </a:xfrm>
          <a:prstGeom prst="rect">
            <a:avLst/>
          </a:prstGeom>
          <a:noFill/>
          <a:effectLst/>
        </p:spPr>
        <p:txBody>
          <a:bodyPr wrap="square" anchor="t" lIns="0" rIns="0" tIns="0" bIns="0">
            <a:spAutoFit/>
          </a:bodyPr>
          <a:lstStyle/>
          <a:p>
            <a:pPr algn="l">
              <a:lnSpc>
                <a:spcPct val="105000"/>
              </a:lnSpc>
              <a:spcAft>
                <a:spcPts val="0"/>
              </a:spcAft>
            </a:pPr>
            <a:r>
              <a:rPr sz="2800" b="0" i="0">
                <a:solidFill>
                  <a:srgbClr val="262422"/>
                </a:solidFill>
                <a:latin typeface="Georgia"/>
              </a:rPr>
              <a:t>Five questions for any headline</a:t>
            </a:r>
          </a:p>
        </p:txBody>
      </p:sp>
      <p:sp>
        <p:nvSpPr>
          <p:cNvPr id="6" name="Rectangle 5"/>
          <p:cNvSpPr/>
          <p:nvPr/>
        </p:nvSpPr>
        <p:spPr>
          <a:xfrm>
            <a:off x="685800" y="1188720"/>
            <a:ext cx="7772400" cy="512064"/>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Oval 6"/>
          <p:cNvSpPr/>
          <p:nvPr/>
        </p:nvSpPr>
        <p:spPr>
          <a:xfrm>
            <a:off x="850392" y="1243584"/>
            <a:ext cx="402336" cy="402336"/>
          </a:xfrm>
          <a:prstGeom prst="ellipse">
            <a:avLst/>
          </a:prstGeom>
          <a:solidFill>
            <a:srgbClr val="34322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8" name="Picture 7" descr="megaphone.png"/>
          <p:cNvPicPr>
            <a:picLocks noChangeAspect="1"/>
          </p:cNvPicPr>
          <p:nvPr/>
        </p:nvPicPr>
        <p:blipFill>
          <a:blip r:embed="rId2"/>
          <a:stretch>
            <a:fillRect/>
          </a:stretch>
        </p:blipFill>
        <p:spPr>
          <a:xfrm>
            <a:off x="932688" y="1325880"/>
            <a:ext cx="237744" cy="237744"/>
          </a:xfrm>
          <a:prstGeom prst="rect">
            <a:avLst/>
          </a:prstGeom>
          <a:effectLst/>
        </p:spPr>
      </p:pic>
      <p:sp>
        <p:nvSpPr>
          <p:cNvPr id="9" name="TextBox 8"/>
          <p:cNvSpPr txBox="1"/>
          <p:nvPr/>
        </p:nvSpPr>
        <p:spPr>
          <a:xfrm>
            <a:off x="1417320" y="1325880"/>
            <a:ext cx="3520440" cy="274320"/>
          </a:xfrm>
          <a:prstGeom prst="rect">
            <a:avLst/>
          </a:prstGeom>
          <a:noFill/>
          <a:effectLst/>
        </p:spPr>
        <p:txBody>
          <a:bodyPr wrap="square" anchor="t" lIns="0" rIns="0" tIns="0" bIns="0">
            <a:spAutoFit/>
          </a:bodyPr>
          <a:lstStyle/>
          <a:p>
            <a:pPr algn="l">
              <a:lnSpc>
                <a:spcPct val="125000"/>
              </a:lnSpc>
              <a:spcAft>
                <a:spcPts val="0"/>
              </a:spcAft>
            </a:pPr>
            <a:r>
              <a:rPr sz="1300" b="0" i="0">
                <a:solidFill>
                  <a:srgbClr val="262422"/>
                </a:solidFill>
                <a:latin typeface="Georgia"/>
              </a:rPr>
              <a:t>Who is saying it?</a:t>
            </a:r>
          </a:p>
        </p:txBody>
      </p:sp>
      <p:sp>
        <p:nvSpPr>
          <p:cNvPr id="10" name="TextBox 9"/>
          <p:cNvSpPr txBox="1"/>
          <p:nvPr/>
        </p:nvSpPr>
        <p:spPr>
          <a:xfrm>
            <a:off x="4892040" y="1279398"/>
            <a:ext cx="3383280" cy="330708"/>
          </a:xfrm>
          <a:prstGeom prst="rect">
            <a:avLst/>
          </a:prstGeom>
          <a:noFill/>
          <a:effectLst/>
        </p:spPr>
        <p:txBody>
          <a:bodyPr wrap="square" anchor="t" lIns="0" rIns="0" tIns="0" bIns="0">
            <a:spAutoFit/>
          </a:bodyPr>
          <a:lstStyle/>
          <a:p>
            <a:pPr algn="l">
              <a:lnSpc>
                <a:spcPct val="125000"/>
              </a:lnSpc>
              <a:spcAft>
                <a:spcPts val="0"/>
              </a:spcAft>
            </a:pPr>
            <a:r>
              <a:rPr sz="1050" b="0" i="0">
                <a:solidFill>
                  <a:srgbClr val="56524B"/>
                </a:solidFill>
                <a:latin typeface="Calibri"/>
              </a:rPr>
              <a:t>A company, a scientist, a newspaper, a government? Check the name.</a:t>
            </a:r>
          </a:p>
        </p:txBody>
      </p:sp>
      <p:sp>
        <p:nvSpPr>
          <p:cNvPr id="11" name="Rectangle 10"/>
          <p:cNvSpPr/>
          <p:nvPr/>
        </p:nvSpPr>
        <p:spPr>
          <a:xfrm>
            <a:off x="685800" y="1792224"/>
            <a:ext cx="7772400" cy="512064"/>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Oval 11"/>
          <p:cNvSpPr/>
          <p:nvPr/>
        </p:nvSpPr>
        <p:spPr>
          <a:xfrm>
            <a:off x="850392" y="1847088"/>
            <a:ext cx="402336" cy="402336"/>
          </a:xfrm>
          <a:prstGeom prst="ellipse">
            <a:avLst/>
          </a:prstGeom>
          <a:solidFill>
            <a:srgbClr val="34322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13" name="Picture 12" descr="coins.png"/>
          <p:cNvPicPr>
            <a:picLocks noChangeAspect="1"/>
          </p:cNvPicPr>
          <p:nvPr/>
        </p:nvPicPr>
        <p:blipFill>
          <a:blip r:embed="rId3"/>
          <a:stretch>
            <a:fillRect/>
          </a:stretch>
        </p:blipFill>
        <p:spPr>
          <a:xfrm>
            <a:off x="932688" y="1929384"/>
            <a:ext cx="237744" cy="237744"/>
          </a:xfrm>
          <a:prstGeom prst="rect">
            <a:avLst/>
          </a:prstGeom>
          <a:effectLst/>
        </p:spPr>
      </p:pic>
      <p:sp>
        <p:nvSpPr>
          <p:cNvPr id="14" name="TextBox 13"/>
          <p:cNvSpPr txBox="1"/>
          <p:nvPr/>
        </p:nvSpPr>
        <p:spPr>
          <a:xfrm>
            <a:off x="1417320" y="1929384"/>
            <a:ext cx="3520440" cy="274320"/>
          </a:xfrm>
          <a:prstGeom prst="rect">
            <a:avLst/>
          </a:prstGeom>
          <a:noFill/>
          <a:effectLst/>
        </p:spPr>
        <p:txBody>
          <a:bodyPr wrap="square" anchor="t" lIns="0" rIns="0" tIns="0" bIns="0">
            <a:spAutoFit/>
          </a:bodyPr>
          <a:lstStyle/>
          <a:p>
            <a:pPr algn="l">
              <a:lnSpc>
                <a:spcPct val="125000"/>
              </a:lnSpc>
              <a:spcAft>
                <a:spcPts val="0"/>
              </a:spcAft>
            </a:pPr>
            <a:r>
              <a:rPr sz="1300" b="0" i="0">
                <a:solidFill>
                  <a:srgbClr val="262422"/>
                </a:solidFill>
                <a:latin typeface="Georgia"/>
              </a:rPr>
              <a:t>Who gains if I believe it?</a:t>
            </a:r>
          </a:p>
        </p:txBody>
      </p:sp>
      <p:sp>
        <p:nvSpPr>
          <p:cNvPr id="15" name="TextBox 14"/>
          <p:cNvSpPr txBox="1"/>
          <p:nvPr/>
        </p:nvSpPr>
        <p:spPr>
          <a:xfrm>
            <a:off x="4892040" y="1882902"/>
            <a:ext cx="3383280" cy="330708"/>
          </a:xfrm>
          <a:prstGeom prst="rect">
            <a:avLst/>
          </a:prstGeom>
          <a:noFill/>
          <a:effectLst/>
        </p:spPr>
        <p:txBody>
          <a:bodyPr wrap="square" anchor="t" lIns="0" rIns="0" tIns="0" bIns="0">
            <a:spAutoFit/>
          </a:bodyPr>
          <a:lstStyle/>
          <a:p>
            <a:pPr algn="l">
              <a:lnSpc>
                <a:spcPct val="125000"/>
              </a:lnSpc>
              <a:spcAft>
                <a:spcPts val="0"/>
              </a:spcAft>
            </a:pPr>
            <a:r>
              <a:rPr sz="1050" b="0" i="0">
                <a:solidFill>
                  <a:srgbClr val="56524B"/>
                </a:solidFill>
                <a:latin typeface="Calibri"/>
              </a:rPr>
              <a:t>Somebody always does. Work out who, and what they get.</a:t>
            </a:r>
          </a:p>
        </p:txBody>
      </p:sp>
      <p:sp>
        <p:nvSpPr>
          <p:cNvPr id="16" name="Rectangle 15"/>
          <p:cNvSpPr/>
          <p:nvPr/>
        </p:nvSpPr>
        <p:spPr>
          <a:xfrm>
            <a:off x="685800" y="2395728"/>
            <a:ext cx="7772400" cy="512064"/>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Oval 16"/>
          <p:cNvSpPr/>
          <p:nvPr/>
        </p:nvSpPr>
        <p:spPr>
          <a:xfrm>
            <a:off x="850392" y="2450592"/>
            <a:ext cx="402336" cy="402336"/>
          </a:xfrm>
          <a:prstGeom prst="ellipse">
            <a:avLst/>
          </a:prstGeom>
          <a:solidFill>
            <a:srgbClr val="34322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18" name="Picture 17" descr="purse.png"/>
          <p:cNvPicPr>
            <a:picLocks noChangeAspect="1"/>
          </p:cNvPicPr>
          <p:nvPr/>
        </p:nvPicPr>
        <p:blipFill>
          <a:blip r:embed="rId4"/>
          <a:stretch>
            <a:fillRect/>
          </a:stretch>
        </p:blipFill>
        <p:spPr>
          <a:xfrm>
            <a:off x="932688" y="2532888"/>
            <a:ext cx="237744" cy="237744"/>
          </a:xfrm>
          <a:prstGeom prst="rect">
            <a:avLst/>
          </a:prstGeom>
          <a:effectLst/>
        </p:spPr>
      </p:pic>
      <p:sp>
        <p:nvSpPr>
          <p:cNvPr id="19" name="TextBox 18"/>
          <p:cNvSpPr txBox="1"/>
          <p:nvPr/>
        </p:nvSpPr>
        <p:spPr>
          <a:xfrm>
            <a:off x="1417320" y="2532888"/>
            <a:ext cx="3520440" cy="274320"/>
          </a:xfrm>
          <a:prstGeom prst="rect">
            <a:avLst/>
          </a:prstGeom>
          <a:noFill/>
          <a:effectLst/>
        </p:spPr>
        <p:txBody>
          <a:bodyPr wrap="square" anchor="t" lIns="0" rIns="0" tIns="0" bIns="0">
            <a:spAutoFit/>
          </a:bodyPr>
          <a:lstStyle/>
          <a:p>
            <a:pPr algn="l">
              <a:lnSpc>
                <a:spcPct val="125000"/>
              </a:lnSpc>
              <a:spcAft>
                <a:spcPts val="0"/>
              </a:spcAft>
            </a:pPr>
            <a:r>
              <a:rPr sz="1300" b="0" i="0">
                <a:solidFill>
                  <a:srgbClr val="262422"/>
                </a:solidFill>
                <a:latin typeface="Georgia"/>
              </a:rPr>
              <a:t>Who paid for it?</a:t>
            </a:r>
          </a:p>
        </p:txBody>
      </p:sp>
      <p:sp>
        <p:nvSpPr>
          <p:cNvPr id="20" name="TextBox 19"/>
          <p:cNvSpPr txBox="1"/>
          <p:nvPr/>
        </p:nvSpPr>
        <p:spPr>
          <a:xfrm>
            <a:off x="4892040" y="2486406"/>
            <a:ext cx="3383280" cy="330708"/>
          </a:xfrm>
          <a:prstGeom prst="rect">
            <a:avLst/>
          </a:prstGeom>
          <a:noFill/>
          <a:effectLst/>
        </p:spPr>
        <p:txBody>
          <a:bodyPr wrap="square" anchor="t" lIns="0" rIns="0" tIns="0" bIns="0">
            <a:spAutoFit/>
          </a:bodyPr>
          <a:lstStyle/>
          <a:p>
            <a:pPr algn="l">
              <a:lnSpc>
                <a:spcPct val="125000"/>
              </a:lnSpc>
              <a:spcAft>
                <a:spcPts val="0"/>
              </a:spcAft>
            </a:pPr>
            <a:r>
              <a:rPr sz="1050" b="0" i="0">
                <a:solidFill>
                  <a:srgbClr val="56524B"/>
                </a:solidFill>
                <a:latin typeface="Calibri"/>
              </a:rPr>
              <a:t>The research, the advert, the survey. Money does not make it false, but you should know.</a:t>
            </a:r>
          </a:p>
        </p:txBody>
      </p:sp>
      <p:sp>
        <p:nvSpPr>
          <p:cNvPr id="21" name="Rectangle 20"/>
          <p:cNvSpPr/>
          <p:nvPr/>
        </p:nvSpPr>
        <p:spPr>
          <a:xfrm>
            <a:off x="685800" y="2999232"/>
            <a:ext cx="7772400" cy="512064"/>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2" name="Oval 21"/>
          <p:cNvSpPr/>
          <p:nvPr/>
        </p:nvSpPr>
        <p:spPr>
          <a:xfrm>
            <a:off x="850392" y="3054096"/>
            <a:ext cx="402336" cy="402336"/>
          </a:xfrm>
          <a:prstGeom prst="ellipse">
            <a:avLst/>
          </a:prstGeom>
          <a:solidFill>
            <a:srgbClr val="34322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23" name="Picture 22" descr="magnifier.png"/>
          <p:cNvPicPr>
            <a:picLocks noChangeAspect="1"/>
          </p:cNvPicPr>
          <p:nvPr/>
        </p:nvPicPr>
        <p:blipFill>
          <a:blip r:embed="rId5"/>
          <a:stretch>
            <a:fillRect/>
          </a:stretch>
        </p:blipFill>
        <p:spPr>
          <a:xfrm>
            <a:off x="932688" y="3136392"/>
            <a:ext cx="237744" cy="237744"/>
          </a:xfrm>
          <a:prstGeom prst="rect">
            <a:avLst/>
          </a:prstGeom>
          <a:effectLst/>
        </p:spPr>
      </p:pic>
      <p:sp>
        <p:nvSpPr>
          <p:cNvPr id="24" name="TextBox 23"/>
          <p:cNvSpPr txBox="1"/>
          <p:nvPr/>
        </p:nvSpPr>
        <p:spPr>
          <a:xfrm>
            <a:off x="1417320" y="3136392"/>
            <a:ext cx="3520440" cy="274320"/>
          </a:xfrm>
          <a:prstGeom prst="rect">
            <a:avLst/>
          </a:prstGeom>
          <a:noFill/>
          <a:effectLst/>
        </p:spPr>
        <p:txBody>
          <a:bodyPr wrap="square" anchor="t" lIns="0" rIns="0" tIns="0" bIns="0">
            <a:spAutoFit/>
          </a:bodyPr>
          <a:lstStyle/>
          <a:p>
            <a:pPr algn="l">
              <a:lnSpc>
                <a:spcPct val="125000"/>
              </a:lnSpc>
              <a:spcAft>
                <a:spcPts val="0"/>
              </a:spcAft>
            </a:pPr>
            <a:r>
              <a:rPr sz="1300" b="0" i="0">
                <a:solidFill>
                  <a:srgbClr val="262422"/>
                </a:solidFill>
                <a:latin typeface="Georgia"/>
              </a:rPr>
              <a:t>What is the evidence?</a:t>
            </a:r>
          </a:p>
        </p:txBody>
      </p:sp>
      <p:sp>
        <p:nvSpPr>
          <p:cNvPr id="25" name="TextBox 24"/>
          <p:cNvSpPr txBox="1"/>
          <p:nvPr/>
        </p:nvSpPr>
        <p:spPr>
          <a:xfrm>
            <a:off x="4892040" y="3089910"/>
            <a:ext cx="3383280" cy="330708"/>
          </a:xfrm>
          <a:prstGeom prst="rect">
            <a:avLst/>
          </a:prstGeom>
          <a:noFill/>
          <a:effectLst/>
        </p:spPr>
        <p:txBody>
          <a:bodyPr wrap="square" anchor="t" lIns="0" rIns="0" tIns="0" bIns="0">
            <a:spAutoFit/>
          </a:bodyPr>
          <a:lstStyle/>
          <a:p>
            <a:pPr algn="l">
              <a:lnSpc>
                <a:spcPct val="125000"/>
              </a:lnSpc>
              <a:spcAft>
                <a:spcPts val="0"/>
              </a:spcAft>
            </a:pPr>
            <a:r>
              <a:rPr sz="1050" b="0" i="0">
                <a:solidFill>
                  <a:srgbClr val="56524B"/>
                </a:solidFill>
                <a:latin typeface="Calibri"/>
              </a:rPr>
              <a:t>A study, a number, a graph? Or only a slogan and a famous face?</a:t>
            </a:r>
          </a:p>
        </p:txBody>
      </p:sp>
      <p:sp>
        <p:nvSpPr>
          <p:cNvPr id="26" name="Rectangle 25"/>
          <p:cNvSpPr/>
          <p:nvPr/>
        </p:nvSpPr>
        <p:spPr>
          <a:xfrm>
            <a:off x="685800" y="3602736"/>
            <a:ext cx="7772400" cy="512064"/>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7" name="Oval 26"/>
          <p:cNvSpPr/>
          <p:nvPr/>
        </p:nvSpPr>
        <p:spPr>
          <a:xfrm>
            <a:off x="850392" y="3657600"/>
            <a:ext cx="402336" cy="402336"/>
          </a:xfrm>
          <a:prstGeom prst="ellipse">
            <a:avLst/>
          </a:prstGeom>
          <a:solidFill>
            <a:srgbClr val="34322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28" name="Picture 27" descr="flask.png"/>
          <p:cNvPicPr>
            <a:picLocks noChangeAspect="1"/>
          </p:cNvPicPr>
          <p:nvPr/>
        </p:nvPicPr>
        <p:blipFill>
          <a:blip r:embed="rId6"/>
          <a:stretch>
            <a:fillRect/>
          </a:stretch>
        </p:blipFill>
        <p:spPr>
          <a:xfrm>
            <a:off x="932688" y="3739896"/>
            <a:ext cx="237744" cy="237744"/>
          </a:xfrm>
          <a:prstGeom prst="rect">
            <a:avLst/>
          </a:prstGeom>
          <a:effectLst/>
        </p:spPr>
      </p:pic>
      <p:sp>
        <p:nvSpPr>
          <p:cNvPr id="29" name="TextBox 28"/>
          <p:cNvSpPr txBox="1"/>
          <p:nvPr/>
        </p:nvSpPr>
        <p:spPr>
          <a:xfrm>
            <a:off x="1417320" y="3739896"/>
            <a:ext cx="3520440" cy="274320"/>
          </a:xfrm>
          <a:prstGeom prst="rect">
            <a:avLst/>
          </a:prstGeom>
          <a:noFill/>
          <a:effectLst/>
        </p:spPr>
        <p:txBody>
          <a:bodyPr wrap="square" anchor="t" lIns="0" rIns="0" tIns="0" bIns="0">
            <a:spAutoFit/>
          </a:bodyPr>
          <a:lstStyle/>
          <a:p>
            <a:pPr algn="l">
              <a:lnSpc>
                <a:spcPct val="125000"/>
              </a:lnSpc>
              <a:spcAft>
                <a:spcPts val="0"/>
              </a:spcAft>
            </a:pPr>
            <a:r>
              <a:rPr sz="1300" b="0" i="0">
                <a:solidFill>
                  <a:srgbClr val="262422"/>
                </a:solidFill>
                <a:latin typeface="Georgia"/>
              </a:rPr>
              <a:t>Has it been tested, and by whom?</a:t>
            </a:r>
          </a:p>
        </p:txBody>
      </p:sp>
      <p:sp>
        <p:nvSpPr>
          <p:cNvPr id="30" name="TextBox 29"/>
          <p:cNvSpPr txBox="1"/>
          <p:nvPr/>
        </p:nvSpPr>
        <p:spPr>
          <a:xfrm>
            <a:off x="4892040" y="3693414"/>
            <a:ext cx="3383280" cy="330708"/>
          </a:xfrm>
          <a:prstGeom prst="rect">
            <a:avLst/>
          </a:prstGeom>
          <a:noFill/>
          <a:effectLst/>
        </p:spPr>
        <p:txBody>
          <a:bodyPr wrap="square" anchor="t" lIns="0" rIns="0" tIns="0" bIns="0">
            <a:spAutoFit/>
          </a:bodyPr>
          <a:lstStyle/>
          <a:p>
            <a:pPr algn="l">
              <a:lnSpc>
                <a:spcPct val="125000"/>
              </a:lnSpc>
              <a:spcAft>
                <a:spcPts val="0"/>
              </a:spcAft>
            </a:pPr>
            <a:r>
              <a:rPr sz="1050" b="0" i="0">
                <a:solidFill>
                  <a:srgbClr val="56524B"/>
                </a:solidFill>
                <a:latin typeface="Calibri"/>
              </a:rPr>
              <a:t>Tested on whom, for how long, and by somebody with nothing to gain?</a:t>
            </a:r>
          </a:p>
        </p:txBody>
      </p:sp>
      <p:sp>
        <p:nvSpPr>
          <p:cNvPr id="31" name="TextBox 30"/>
          <p:cNvSpPr txBox="1"/>
          <p:nvPr/>
        </p:nvSpPr>
        <p:spPr>
          <a:xfrm>
            <a:off x="868680" y="4261104"/>
            <a:ext cx="7406640" cy="200025"/>
          </a:xfrm>
          <a:prstGeom prst="rect">
            <a:avLst/>
          </a:prstGeom>
          <a:noFill/>
          <a:effectLst/>
        </p:spPr>
        <p:txBody>
          <a:bodyPr wrap="square" anchor="t" lIns="0" rIns="0" tIns="0" bIns="0">
            <a:spAutoFit/>
          </a:bodyPr>
          <a:lstStyle/>
          <a:p>
            <a:pPr algn="ctr">
              <a:lnSpc>
                <a:spcPct val="120000"/>
              </a:lnSpc>
              <a:spcAft>
                <a:spcPts val="0"/>
              </a:spcAft>
            </a:pPr>
            <a:r>
              <a:rPr sz="1250" b="1" i="0">
                <a:solidFill>
                  <a:srgbClr val="34322F"/>
                </a:solidFill>
                <a:latin typeface="Calibri"/>
              </a:rPr>
              <a:t>These five come back in every lesson. The first one is on the front page already.</a:t>
            </a:r>
          </a:p>
        </p:txBody>
      </p:sp>
      <p:pic>
        <p:nvPicPr>
          <p:cNvPr id="32" name="Picture 31" descr="logo-mark.png"/>
          <p:cNvPicPr>
            <a:picLocks noChangeAspect="1"/>
          </p:cNvPicPr>
          <p:nvPr/>
        </p:nvPicPr>
        <p:blipFill>
          <a:blip r:embed="rId7"/>
          <a:stretch>
            <a:fillRect/>
          </a:stretch>
        </p:blipFill>
        <p:spPr>
          <a:xfrm>
            <a:off x="384048" y="4727448"/>
            <a:ext cx="158374" cy="182880"/>
          </a:xfrm>
          <a:prstGeom prst="rect">
            <a:avLst/>
          </a:prstGeom>
          <a:effectLst/>
        </p:spPr>
      </p:pic>
      <p:sp>
        <p:nvSpPr>
          <p:cNvPr id="33" name="TextBox 32"/>
          <p:cNvSpPr txBox="1"/>
          <p:nvPr/>
        </p:nvSpPr>
        <p:spPr>
          <a:xfrm>
            <a:off x="603504" y="4709160"/>
            <a:ext cx="2194560" cy="210312"/>
          </a:xfrm>
          <a:prstGeom prst="rect">
            <a:avLst/>
          </a:prstGeom>
          <a:noFill/>
          <a:effectLst/>
        </p:spPr>
        <p:txBody>
          <a:bodyPr wrap="square" anchor="t" lIns="0" rIns="0" tIns="0" bIns="0">
            <a:spAutoFit/>
          </a:bodyPr>
          <a:lstStyle/>
          <a:p>
            <a:pPr algn="l">
              <a:lnSpc>
                <a:spcPct val="125000"/>
              </a:lnSpc>
              <a:spcAft>
                <a:spcPts val="0"/>
              </a:spcAft>
            </a:pPr>
            <a:r>
              <a:rPr sz="850" b="0" i="1">
                <a:solidFill>
                  <a:srgbClr val="8C877D"/>
                </a:solidFill>
                <a:latin typeface="Calibri"/>
              </a:rPr>
              <a:t>The Pastoral Guide</a:t>
            </a:r>
          </a:p>
        </p:txBody>
      </p:sp>
      <p:sp>
        <p:nvSpPr>
          <p:cNvPr id="34" name="TextBox 33"/>
          <p:cNvSpPr txBox="1"/>
          <p:nvPr/>
        </p:nvSpPr>
        <p:spPr>
          <a:xfrm>
            <a:off x="7680960" y="4727448"/>
            <a:ext cx="1078992" cy="219456"/>
          </a:xfrm>
          <a:prstGeom prst="rect">
            <a:avLst/>
          </a:prstGeom>
          <a:noFill/>
          <a:effectLst/>
        </p:spPr>
        <p:txBody>
          <a:bodyPr wrap="square" anchor="t" lIns="0" rIns="0" tIns="0" bIns="0">
            <a:spAutoFit/>
          </a:bodyPr>
          <a:lstStyle/>
          <a:p>
            <a:pPr algn="r">
              <a:lnSpc>
                <a:spcPct val="125000"/>
              </a:lnSpc>
              <a:spcAft>
                <a:spcPts val="0"/>
              </a:spcAft>
            </a:pPr>
            <a:r>
              <a:rPr sz="850" b="0" i="0">
                <a:solidFill>
                  <a:srgbClr val="8C877D"/>
                </a:solidFill>
                <a:latin typeface="Calibri"/>
              </a:rPr>
              <a:t>5 / 19</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4EFE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685800" y="274320"/>
            <a:ext cx="5669280" cy="201168"/>
          </a:xfrm>
          <a:prstGeom prst="rect">
            <a:avLst/>
          </a:prstGeom>
          <a:noFill/>
          <a:effectLst/>
        </p:spPr>
        <p:txBody>
          <a:bodyPr wrap="square" anchor="t" lIns="0" rIns="0" tIns="0" bIns="0">
            <a:spAutoFit/>
          </a:bodyPr>
          <a:lstStyle/>
          <a:p>
            <a:pPr algn="l">
              <a:lnSpc>
                <a:spcPct val="125000"/>
              </a:lnSpc>
              <a:spcAft>
                <a:spcPts val="0"/>
              </a:spcAft>
            </a:pPr>
            <a:r>
              <a:rPr sz="900" b="1" i="0" spc="150">
                <a:solidFill>
                  <a:srgbClr val="34322F"/>
                </a:solidFill>
                <a:latin typeface="Calibri"/>
              </a:rPr>
              <a:t>QUESTION THE HEADLINE  ·  LESSON 4 OF 5</a:t>
            </a:r>
          </a:p>
        </p:txBody>
      </p:sp>
      <p:sp>
        <p:nvSpPr>
          <p:cNvPr id="5" name="TextBox 4"/>
          <p:cNvSpPr txBox="1"/>
          <p:nvPr/>
        </p:nvSpPr>
        <p:spPr>
          <a:xfrm>
            <a:off x="685800" y="566928"/>
            <a:ext cx="7772400" cy="434848"/>
          </a:xfrm>
          <a:prstGeom prst="rect">
            <a:avLst/>
          </a:prstGeom>
          <a:noFill/>
          <a:effectLst/>
        </p:spPr>
        <p:txBody>
          <a:bodyPr wrap="square" anchor="t" lIns="0" rIns="0" tIns="0" bIns="0">
            <a:spAutoFit/>
          </a:bodyPr>
          <a:lstStyle/>
          <a:p>
            <a:pPr algn="l">
              <a:lnSpc>
                <a:spcPct val="105000"/>
              </a:lnSpc>
              <a:spcAft>
                <a:spcPts val="0"/>
              </a:spcAft>
            </a:pPr>
            <a:r>
              <a:rPr sz="2800" b="0" i="0">
                <a:solidFill>
                  <a:srgbClr val="262422"/>
                </a:solidFill>
                <a:latin typeface="Georgia"/>
              </a:rPr>
              <a:t>Watch the first one</a:t>
            </a:r>
          </a:p>
        </p:txBody>
      </p:sp>
      <p:sp>
        <p:nvSpPr>
          <p:cNvPr id="6" name="TextBox 5"/>
          <p:cNvSpPr txBox="1"/>
          <p:nvPr/>
        </p:nvSpPr>
        <p:spPr>
          <a:xfrm>
            <a:off x="685800" y="1170432"/>
            <a:ext cx="7772400" cy="274320"/>
          </a:xfrm>
          <a:prstGeom prst="rect">
            <a:avLst/>
          </a:prstGeom>
          <a:noFill/>
          <a:effectLst/>
        </p:spPr>
        <p:txBody>
          <a:bodyPr wrap="square" anchor="t" lIns="0" rIns="0" tIns="0" bIns="0">
            <a:spAutoFit/>
          </a:bodyPr>
          <a:lstStyle/>
          <a:p>
            <a:pPr algn="l">
              <a:lnSpc>
                <a:spcPct val="125000"/>
              </a:lnSpc>
              <a:spcAft>
                <a:spcPts val="0"/>
              </a:spcAft>
            </a:pPr>
            <a:r>
              <a:rPr sz="1600" b="0" i="0">
                <a:solidFill>
                  <a:srgbClr val="34322F"/>
                </a:solidFill>
                <a:latin typeface="Georgia"/>
              </a:rPr>
              <a:t>Question 1:  Who is saying it?</a:t>
            </a:r>
          </a:p>
        </p:txBody>
      </p:sp>
      <p:sp>
        <p:nvSpPr>
          <p:cNvPr id="7" name="Rectangle 6"/>
          <p:cNvSpPr/>
          <p:nvPr/>
        </p:nvSpPr>
        <p:spPr>
          <a:xfrm>
            <a:off x="685800" y="1609344"/>
            <a:ext cx="7772400" cy="1249680"/>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Rectangle 7"/>
          <p:cNvSpPr/>
          <p:nvPr/>
        </p:nvSpPr>
        <p:spPr>
          <a:xfrm>
            <a:off x="685800" y="1609344"/>
            <a:ext cx="45720" cy="1249680"/>
          </a:xfrm>
          <a:prstGeom prst="rect">
            <a:avLst/>
          </a:prstGeom>
          <a:solidFill>
            <a:srgbClr val="34322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1097280" y="1837943"/>
            <a:ext cx="6949440" cy="792480"/>
          </a:xfrm>
          <a:prstGeom prst="rect">
            <a:avLst/>
          </a:prstGeom>
          <a:noFill/>
          <a:effectLst/>
        </p:spPr>
        <p:txBody>
          <a:bodyPr wrap="square" anchor="t" lIns="0" rIns="0" tIns="0" bIns="0">
            <a:spAutoFit/>
          </a:bodyPr>
          <a:lstStyle/>
          <a:p>
            <a:pPr algn="l">
              <a:lnSpc>
                <a:spcPct val="128000"/>
              </a:lnSpc>
              <a:spcAft>
                <a:spcPts val="0"/>
              </a:spcAft>
            </a:pPr>
            <a:r>
              <a:rPr sz="1600" b="0" i="0">
                <a:solidFill>
                  <a:srgbClr val="262422"/>
                </a:solidFill>
                <a:latin typeface="Calibri"/>
              </a:rPr>
              <a:t>A committee called in by the government. It says it found no real evidence of harm. It does not say how hard it looked, or who did the testing.</a:t>
            </a:r>
          </a:p>
        </p:txBody>
      </p:sp>
      <p:sp>
        <p:nvSpPr>
          <p:cNvPr id="10" name="TextBox 9"/>
          <p:cNvSpPr txBox="1"/>
          <p:nvPr/>
        </p:nvSpPr>
        <p:spPr>
          <a:xfrm>
            <a:off x="685800" y="3133344"/>
            <a:ext cx="7772400" cy="548640"/>
          </a:xfrm>
          <a:prstGeom prst="rect">
            <a:avLst/>
          </a:prstGeom>
          <a:noFill/>
          <a:effectLst/>
        </p:spPr>
        <p:txBody>
          <a:bodyPr wrap="square" anchor="t" lIns="0" rIns="0" tIns="0" bIns="0">
            <a:spAutoFit/>
          </a:bodyPr>
          <a:lstStyle/>
          <a:p>
            <a:pPr algn="ctr">
              <a:lnSpc>
                <a:spcPct val="125000"/>
              </a:lnSpc>
              <a:spcAft>
                <a:spcPts val="0"/>
              </a:spcAft>
            </a:pPr>
            <a:r>
              <a:rPr sz="1400" b="0" i="1">
                <a:solidFill>
                  <a:srgbClr val="56524B"/>
                </a:solidFill>
                <a:latin typeface="Calibri"/>
              </a:rPr>
              <a:t>Notice the answer is not true or false. It tells you what to look for next.</a:t>
            </a:r>
          </a:p>
        </p:txBody>
      </p:sp>
      <p:pic>
        <p:nvPicPr>
          <p:cNvPr id="11" name="Picture 10" descr="logo-mark.png"/>
          <p:cNvPicPr>
            <a:picLocks noChangeAspect="1"/>
          </p:cNvPicPr>
          <p:nvPr/>
        </p:nvPicPr>
        <p:blipFill>
          <a:blip r:embed="rId2"/>
          <a:stretch>
            <a:fillRect/>
          </a:stretch>
        </p:blipFill>
        <p:spPr>
          <a:xfrm>
            <a:off x="384048" y="4727448"/>
            <a:ext cx="158374" cy="182880"/>
          </a:xfrm>
          <a:prstGeom prst="rect">
            <a:avLst/>
          </a:prstGeom>
          <a:effectLst/>
        </p:spPr>
      </p:pic>
      <p:sp>
        <p:nvSpPr>
          <p:cNvPr id="12" name="TextBox 11"/>
          <p:cNvSpPr txBox="1"/>
          <p:nvPr/>
        </p:nvSpPr>
        <p:spPr>
          <a:xfrm>
            <a:off x="603504" y="4709160"/>
            <a:ext cx="2194560" cy="210312"/>
          </a:xfrm>
          <a:prstGeom prst="rect">
            <a:avLst/>
          </a:prstGeom>
          <a:noFill/>
          <a:effectLst/>
        </p:spPr>
        <p:txBody>
          <a:bodyPr wrap="square" anchor="t" lIns="0" rIns="0" tIns="0" bIns="0">
            <a:spAutoFit/>
          </a:bodyPr>
          <a:lstStyle/>
          <a:p>
            <a:pPr algn="l">
              <a:lnSpc>
                <a:spcPct val="125000"/>
              </a:lnSpc>
              <a:spcAft>
                <a:spcPts val="0"/>
              </a:spcAft>
            </a:pPr>
            <a:r>
              <a:rPr sz="850" b="0" i="1">
                <a:solidFill>
                  <a:srgbClr val="8C877D"/>
                </a:solidFill>
                <a:latin typeface="Calibri"/>
              </a:rPr>
              <a:t>The Pastoral Guide</a:t>
            </a:r>
          </a:p>
        </p:txBody>
      </p:sp>
      <p:sp>
        <p:nvSpPr>
          <p:cNvPr id="13" name="TextBox 12"/>
          <p:cNvSpPr txBox="1"/>
          <p:nvPr/>
        </p:nvSpPr>
        <p:spPr>
          <a:xfrm>
            <a:off x="7680960" y="4727448"/>
            <a:ext cx="1078992" cy="219456"/>
          </a:xfrm>
          <a:prstGeom prst="rect">
            <a:avLst/>
          </a:prstGeom>
          <a:noFill/>
          <a:effectLst/>
        </p:spPr>
        <p:txBody>
          <a:bodyPr wrap="square" anchor="t" lIns="0" rIns="0" tIns="0" bIns="0">
            <a:spAutoFit/>
          </a:bodyPr>
          <a:lstStyle/>
          <a:p>
            <a:pPr algn="r">
              <a:lnSpc>
                <a:spcPct val="125000"/>
              </a:lnSpc>
              <a:spcAft>
                <a:spcPts val="0"/>
              </a:spcAft>
            </a:pPr>
            <a:r>
              <a:rPr sz="850" b="0" i="0">
                <a:solidFill>
                  <a:srgbClr val="8C877D"/>
                </a:solidFill>
                <a:latin typeface="Calibri"/>
              </a:rPr>
              <a:t>6 / 19</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4EFE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685800" y="274320"/>
            <a:ext cx="5669280" cy="201168"/>
          </a:xfrm>
          <a:prstGeom prst="rect">
            <a:avLst/>
          </a:prstGeom>
          <a:noFill/>
          <a:effectLst/>
        </p:spPr>
        <p:txBody>
          <a:bodyPr wrap="square" anchor="t" lIns="0" rIns="0" tIns="0" bIns="0">
            <a:spAutoFit/>
          </a:bodyPr>
          <a:lstStyle/>
          <a:p>
            <a:pPr algn="l">
              <a:lnSpc>
                <a:spcPct val="125000"/>
              </a:lnSpc>
              <a:spcAft>
                <a:spcPts val="0"/>
              </a:spcAft>
            </a:pPr>
            <a:r>
              <a:rPr sz="900" b="1" i="0" spc="150">
                <a:solidFill>
                  <a:srgbClr val="34322F"/>
                </a:solidFill>
                <a:latin typeface="Calibri"/>
              </a:rPr>
              <a:t>QUESTION THE HEADLINE  ·  LESSON 4 OF 5</a:t>
            </a:r>
          </a:p>
        </p:txBody>
      </p:sp>
      <p:sp>
        <p:nvSpPr>
          <p:cNvPr id="5" name="TextBox 4"/>
          <p:cNvSpPr txBox="1"/>
          <p:nvPr/>
        </p:nvSpPr>
        <p:spPr>
          <a:xfrm>
            <a:off x="685800" y="566928"/>
            <a:ext cx="7772400" cy="434848"/>
          </a:xfrm>
          <a:prstGeom prst="rect">
            <a:avLst/>
          </a:prstGeom>
          <a:noFill/>
          <a:effectLst/>
        </p:spPr>
        <p:txBody>
          <a:bodyPr wrap="square" anchor="t" lIns="0" rIns="0" tIns="0" bIns="0">
            <a:spAutoFit/>
          </a:bodyPr>
          <a:lstStyle/>
          <a:p>
            <a:pPr algn="l">
              <a:lnSpc>
                <a:spcPct val="105000"/>
              </a:lnSpc>
              <a:spcAft>
                <a:spcPts val="0"/>
              </a:spcAft>
            </a:pPr>
            <a:r>
              <a:rPr sz="2800" b="0" i="0">
                <a:solidFill>
                  <a:srgbClr val="262422"/>
                </a:solidFill>
                <a:latin typeface="Georgia"/>
              </a:rPr>
              <a:t>Now the other four</a:t>
            </a:r>
          </a:p>
        </p:txBody>
      </p:sp>
      <p:sp>
        <p:nvSpPr>
          <p:cNvPr id="6" name="TextBox 5"/>
          <p:cNvSpPr txBox="1"/>
          <p:nvPr/>
        </p:nvSpPr>
        <p:spPr>
          <a:xfrm>
            <a:off x="685800" y="1152144"/>
            <a:ext cx="7772400" cy="274320"/>
          </a:xfrm>
          <a:prstGeom prst="rect">
            <a:avLst/>
          </a:prstGeom>
          <a:noFill/>
          <a:effectLst/>
        </p:spPr>
        <p:txBody>
          <a:bodyPr wrap="square" anchor="t" lIns="0" rIns="0" tIns="0" bIns="0">
            <a:spAutoFit/>
          </a:bodyPr>
          <a:lstStyle/>
          <a:p>
            <a:pPr algn="l">
              <a:lnSpc>
                <a:spcPct val="125000"/>
              </a:lnSpc>
              <a:spcAft>
                <a:spcPts val="0"/>
              </a:spcAft>
            </a:pPr>
            <a:r>
              <a:rPr sz="1400" b="0" i="0">
                <a:solidFill>
                  <a:srgbClr val="56524B"/>
                </a:solidFill>
                <a:latin typeface="Calibri"/>
              </a:rPr>
              <a:t>Can the front page answer them? Talk it through in your group.</a:t>
            </a:r>
          </a:p>
        </p:txBody>
      </p:sp>
      <p:sp>
        <p:nvSpPr>
          <p:cNvPr id="7" name="Rectangle 6"/>
          <p:cNvSpPr/>
          <p:nvPr/>
        </p:nvSpPr>
        <p:spPr>
          <a:xfrm>
            <a:off x="685800" y="1645920"/>
            <a:ext cx="1792224" cy="1481328"/>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Rectangle 7"/>
          <p:cNvSpPr/>
          <p:nvPr/>
        </p:nvSpPr>
        <p:spPr>
          <a:xfrm>
            <a:off x="685800" y="1645920"/>
            <a:ext cx="1792224" cy="45720"/>
          </a:xfrm>
          <a:prstGeom prst="rect">
            <a:avLst/>
          </a:prstGeom>
          <a:solidFill>
            <a:srgbClr val="34322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Oval 8"/>
          <p:cNvSpPr/>
          <p:nvPr/>
        </p:nvSpPr>
        <p:spPr>
          <a:xfrm>
            <a:off x="1316736" y="1837943"/>
            <a:ext cx="530352" cy="530352"/>
          </a:xfrm>
          <a:prstGeom prst="ellipse">
            <a:avLst/>
          </a:prstGeom>
          <a:solidFill>
            <a:srgbClr val="34322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10" name="Picture 9" descr="coins.png"/>
          <p:cNvPicPr>
            <a:picLocks noChangeAspect="1"/>
          </p:cNvPicPr>
          <p:nvPr/>
        </p:nvPicPr>
        <p:blipFill>
          <a:blip r:embed="rId2"/>
          <a:stretch>
            <a:fillRect/>
          </a:stretch>
        </p:blipFill>
        <p:spPr>
          <a:xfrm>
            <a:off x="1426464" y="1947672"/>
            <a:ext cx="310896" cy="310896"/>
          </a:xfrm>
          <a:prstGeom prst="rect">
            <a:avLst/>
          </a:prstGeom>
          <a:effectLst/>
        </p:spPr>
      </p:pic>
      <p:sp>
        <p:nvSpPr>
          <p:cNvPr id="11" name="TextBox 10"/>
          <p:cNvSpPr txBox="1"/>
          <p:nvPr/>
        </p:nvSpPr>
        <p:spPr>
          <a:xfrm>
            <a:off x="822960" y="2487168"/>
            <a:ext cx="1517904" cy="409448"/>
          </a:xfrm>
          <a:prstGeom prst="rect">
            <a:avLst/>
          </a:prstGeom>
          <a:noFill/>
          <a:effectLst/>
        </p:spPr>
        <p:txBody>
          <a:bodyPr wrap="square" anchor="t" lIns="0" rIns="0" tIns="0" bIns="0">
            <a:spAutoFit/>
          </a:bodyPr>
          <a:lstStyle/>
          <a:p>
            <a:pPr algn="ctr">
              <a:lnSpc>
                <a:spcPct val="110000"/>
              </a:lnSpc>
              <a:spcAft>
                <a:spcPts val="0"/>
              </a:spcAft>
            </a:pPr>
            <a:r>
              <a:rPr sz="1300" b="0" i="0">
                <a:solidFill>
                  <a:srgbClr val="262422"/>
                </a:solidFill>
                <a:latin typeface="Georgia"/>
              </a:rPr>
              <a:t>Who gains if I believe it?</a:t>
            </a:r>
          </a:p>
        </p:txBody>
      </p:sp>
      <p:sp>
        <p:nvSpPr>
          <p:cNvPr id="12" name="Rectangle 11"/>
          <p:cNvSpPr/>
          <p:nvPr/>
        </p:nvSpPr>
        <p:spPr>
          <a:xfrm>
            <a:off x="2679192" y="1645920"/>
            <a:ext cx="1792224" cy="1481328"/>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Rectangle 12"/>
          <p:cNvSpPr/>
          <p:nvPr/>
        </p:nvSpPr>
        <p:spPr>
          <a:xfrm>
            <a:off x="2679192" y="1645920"/>
            <a:ext cx="1792224" cy="45720"/>
          </a:xfrm>
          <a:prstGeom prst="rect">
            <a:avLst/>
          </a:prstGeom>
          <a:solidFill>
            <a:srgbClr val="34322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Oval 13"/>
          <p:cNvSpPr/>
          <p:nvPr/>
        </p:nvSpPr>
        <p:spPr>
          <a:xfrm>
            <a:off x="3310128" y="1837943"/>
            <a:ext cx="530352" cy="530352"/>
          </a:xfrm>
          <a:prstGeom prst="ellipse">
            <a:avLst/>
          </a:prstGeom>
          <a:solidFill>
            <a:srgbClr val="34322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15" name="Picture 14" descr="purse.png"/>
          <p:cNvPicPr>
            <a:picLocks noChangeAspect="1"/>
          </p:cNvPicPr>
          <p:nvPr/>
        </p:nvPicPr>
        <p:blipFill>
          <a:blip r:embed="rId3"/>
          <a:stretch>
            <a:fillRect/>
          </a:stretch>
        </p:blipFill>
        <p:spPr>
          <a:xfrm>
            <a:off x="3419856" y="1947672"/>
            <a:ext cx="310896" cy="310896"/>
          </a:xfrm>
          <a:prstGeom prst="rect">
            <a:avLst/>
          </a:prstGeom>
          <a:effectLst/>
        </p:spPr>
      </p:pic>
      <p:sp>
        <p:nvSpPr>
          <p:cNvPr id="16" name="TextBox 15"/>
          <p:cNvSpPr txBox="1"/>
          <p:nvPr/>
        </p:nvSpPr>
        <p:spPr>
          <a:xfrm>
            <a:off x="2816352" y="2487168"/>
            <a:ext cx="1517904" cy="204724"/>
          </a:xfrm>
          <a:prstGeom prst="rect">
            <a:avLst/>
          </a:prstGeom>
          <a:noFill/>
          <a:effectLst/>
        </p:spPr>
        <p:txBody>
          <a:bodyPr wrap="square" anchor="t" lIns="0" rIns="0" tIns="0" bIns="0">
            <a:spAutoFit/>
          </a:bodyPr>
          <a:lstStyle/>
          <a:p>
            <a:pPr algn="ctr">
              <a:lnSpc>
                <a:spcPct val="110000"/>
              </a:lnSpc>
              <a:spcAft>
                <a:spcPts val="0"/>
              </a:spcAft>
            </a:pPr>
            <a:r>
              <a:rPr sz="1300" b="0" i="0">
                <a:solidFill>
                  <a:srgbClr val="262422"/>
                </a:solidFill>
                <a:latin typeface="Georgia"/>
              </a:rPr>
              <a:t>Who paid for it?</a:t>
            </a:r>
          </a:p>
        </p:txBody>
      </p:sp>
      <p:sp>
        <p:nvSpPr>
          <p:cNvPr id="17" name="Rectangle 16"/>
          <p:cNvSpPr/>
          <p:nvPr/>
        </p:nvSpPr>
        <p:spPr>
          <a:xfrm>
            <a:off x="4672584" y="1645920"/>
            <a:ext cx="1792224" cy="1481328"/>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Rectangle 17"/>
          <p:cNvSpPr/>
          <p:nvPr/>
        </p:nvSpPr>
        <p:spPr>
          <a:xfrm>
            <a:off x="4672584" y="1645920"/>
            <a:ext cx="1792224" cy="45720"/>
          </a:xfrm>
          <a:prstGeom prst="rect">
            <a:avLst/>
          </a:prstGeom>
          <a:solidFill>
            <a:srgbClr val="34322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 name="Oval 18"/>
          <p:cNvSpPr/>
          <p:nvPr/>
        </p:nvSpPr>
        <p:spPr>
          <a:xfrm>
            <a:off x="5303520" y="1837943"/>
            <a:ext cx="530352" cy="530352"/>
          </a:xfrm>
          <a:prstGeom prst="ellipse">
            <a:avLst/>
          </a:prstGeom>
          <a:solidFill>
            <a:srgbClr val="34322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20" name="Picture 19" descr="magnifier.png"/>
          <p:cNvPicPr>
            <a:picLocks noChangeAspect="1"/>
          </p:cNvPicPr>
          <p:nvPr/>
        </p:nvPicPr>
        <p:blipFill>
          <a:blip r:embed="rId4"/>
          <a:stretch>
            <a:fillRect/>
          </a:stretch>
        </p:blipFill>
        <p:spPr>
          <a:xfrm>
            <a:off x="5413248" y="1947672"/>
            <a:ext cx="310896" cy="310896"/>
          </a:xfrm>
          <a:prstGeom prst="rect">
            <a:avLst/>
          </a:prstGeom>
          <a:effectLst/>
        </p:spPr>
      </p:pic>
      <p:sp>
        <p:nvSpPr>
          <p:cNvPr id="21" name="TextBox 20"/>
          <p:cNvSpPr txBox="1"/>
          <p:nvPr/>
        </p:nvSpPr>
        <p:spPr>
          <a:xfrm>
            <a:off x="4809744" y="2487168"/>
            <a:ext cx="1517904" cy="409448"/>
          </a:xfrm>
          <a:prstGeom prst="rect">
            <a:avLst/>
          </a:prstGeom>
          <a:noFill/>
          <a:effectLst/>
        </p:spPr>
        <p:txBody>
          <a:bodyPr wrap="square" anchor="t" lIns="0" rIns="0" tIns="0" bIns="0">
            <a:spAutoFit/>
          </a:bodyPr>
          <a:lstStyle/>
          <a:p>
            <a:pPr algn="ctr">
              <a:lnSpc>
                <a:spcPct val="110000"/>
              </a:lnSpc>
              <a:spcAft>
                <a:spcPts val="0"/>
              </a:spcAft>
            </a:pPr>
            <a:r>
              <a:rPr sz="1300" b="0" i="0">
                <a:solidFill>
                  <a:srgbClr val="262422"/>
                </a:solidFill>
                <a:latin typeface="Georgia"/>
              </a:rPr>
              <a:t>What is the evidence?</a:t>
            </a:r>
          </a:p>
        </p:txBody>
      </p:sp>
      <p:sp>
        <p:nvSpPr>
          <p:cNvPr id="22" name="Rectangle 21"/>
          <p:cNvSpPr/>
          <p:nvPr/>
        </p:nvSpPr>
        <p:spPr>
          <a:xfrm>
            <a:off x="6665976" y="1645920"/>
            <a:ext cx="1792224" cy="1481328"/>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Rectangle 22"/>
          <p:cNvSpPr/>
          <p:nvPr/>
        </p:nvSpPr>
        <p:spPr>
          <a:xfrm>
            <a:off x="6665976" y="1645920"/>
            <a:ext cx="1792224" cy="45720"/>
          </a:xfrm>
          <a:prstGeom prst="rect">
            <a:avLst/>
          </a:prstGeom>
          <a:solidFill>
            <a:srgbClr val="34322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 name="Oval 23"/>
          <p:cNvSpPr/>
          <p:nvPr/>
        </p:nvSpPr>
        <p:spPr>
          <a:xfrm>
            <a:off x="7296912" y="1837943"/>
            <a:ext cx="530352" cy="530352"/>
          </a:xfrm>
          <a:prstGeom prst="ellipse">
            <a:avLst/>
          </a:prstGeom>
          <a:solidFill>
            <a:srgbClr val="34322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25" name="Picture 24" descr="flask.png"/>
          <p:cNvPicPr>
            <a:picLocks noChangeAspect="1"/>
          </p:cNvPicPr>
          <p:nvPr/>
        </p:nvPicPr>
        <p:blipFill>
          <a:blip r:embed="rId5"/>
          <a:stretch>
            <a:fillRect/>
          </a:stretch>
        </p:blipFill>
        <p:spPr>
          <a:xfrm>
            <a:off x="7406640" y="1947672"/>
            <a:ext cx="310896" cy="310896"/>
          </a:xfrm>
          <a:prstGeom prst="rect">
            <a:avLst/>
          </a:prstGeom>
          <a:effectLst/>
        </p:spPr>
      </p:pic>
      <p:sp>
        <p:nvSpPr>
          <p:cNvPr id="26" name="TextBox 25"/>
          <p:cNvSpPr txBox="1"/>
          <p:nvPr/>
        </p:nvSpPr>
        <p:spPr>
          <a:xfrm>
            <a:off x="6803136" y="2487168"/>
            <a:ext cx="1517904" cy="614172"/>
          </a:xfrm>
          <a:prstGeom prst="rect">
            <a:avLst/>
          </a:prstGeom>
          <a:noFill/>
          <a:effectLst/>
        </p:spPr>
        <p:txBody>
          <a:bodyPr wrap="square" anchor="t" lIns="0" rIns="0" tIns="0" bIns="0">
            <a:spAutoFit/>
          </a:bodyPr>
          <a:lstStyle/>
          <a:p>
            <a:pPr algn="ctr">
              <a:lnSpc>
                <a:spcPct val="110000"/>
              </a:lnSpc>
              <a:spcAft>
                <a:spcPts val="0"/>
              </a:spcAft>
            </a:pPr>
            <a:r>
              <a:rPr sz="1300" b="0" i="0">
                <a:solidFill>
                  <a:srgbClr val="262422"/>
                </a:solidFill>
                <a:latin typeface="Georgia"/>
              </a:rPr>
              <a:t>Has it been tested, and by whom?</a:t>
            </a:r>
          </a:p>
        </p:txBody>
      </p:sp>
      <p:sp>
        <p:nvSpPr>
          <p:cNvPr id="27" name="TextBox 26"/>
          <p:cNvSpPr txBox="1"/>
          <p:nvPr/>
        </p:nvSpPr>
        <p:spPr>
          <a:xfrm>
            <a:off x="868680" y="3474720"/>
            <a:ext cx="7406640" cy="432054"/>
          </a:xfrm>
          <a:prstGeom prst="rect">
            <a:avLst/>
          </a:prstGeom>
          <a:noFill/>
          <a:effectLst/>
        </p:spPr>
        <p:txBody>
          <a:bodyPr wrap="square" anchor="t" lIns="0" rIns="0" tIns="0" bIns="0">
            <a:spAutoFit/>
          </a:bodyPr>
          <a:lstStyle/>
          <a:p>
            <a:pPr algn="ctr">
              <a:lnSpc>
                <a:spcPct val="120000"/>
              </a:lnSpc>
              <a:spcAft>
                <a:spcPts val="0"/>
              </a:spcAft>
            </a:pPr>
            <a:r>
              <a:rPr sz="1350" b="1" i="0">
                <a:solidFill>
                  <a:srgbClr val="34322F"/>
                </a:solidFill>
                <a:latin typeface="Calibri"/>
              </a:rPr>
              <a:t>Then fill in the top of your evidence sheet: where you stand, and what you would need to know.</a:t>
            </a:r>
          </a:p>
        </p:txBody>
      </p:sp>
      <p:pic>
        <p:nvPicPr>
          <p:cNvPr id="28" name="Picture 27" descr="logo-mark.png"/>
          <p:cNvPicPr>
            <a:picLocks noChangeAspect="1"/>
          </p:cNvPicPr>
          <p:nvPr/>
        </p:nvPicPr>
        <p:blipFill>
          <a:blip r:embed="rId6"/>
          <a:stretch>
            <a:fillRect/>
          </a:stretch>
        </p:blipFill>
        <p:spPr>
          <a:xfrm>
            <a:off x="384048" y="4727448"/>
            <a:ext cx="158374" cy="182880"/>
          </a:xfrm>
          <a:prstGeom prst="rect">
            <a:avLst/>
          </a:prstGeom>
          <a:effectLst/>
        </p:spPr>
      </p:pic>
      <p:sp>
        <p:nvSpPr>
          <p:cNvPr id="29" name="TextBox 28"/>
          <p:cNvSpPr txBox="1"/>
          <p:nvPr/>
        </p:nvSpPr>
        <p:spPr>
          <a:xfrm>
            <a:off x="603504" y="4709160"/>
            <a:ext cx="2194560" cy="210312"/>
          </a:xfrm>
          <a:prstGeom prst="rect">
            <a:avLst/>
          </a:prstGeom>
          <a:noFill/>
          <a:effectLst/>
        </p:spPr>
        <p:txBody>
          <a:bodyPr wrap="square" anchor="t" lIns="0" rIns="0" tIns="0" bIns="0">
            <a:spAutoFit/>
          </a:bodyPr>
          <a:lstStyle/>
          <a:p>
            <a:pPr algn="l">
              <a:lnSpc>
                <a:spcPct val="125000"/>
              </a:lnSpc>
              <a:spcAft>
                <a:spcPts val="0"/>
              </a:spcAft>
            </a:pPr>
            <a:r>
              <a:rPr sz="850" b="0" i="1">
                <a:solidFill>
                  <a:srgbClr val="8C877D"/>
                </a:solidFill>
                <a:latin typeface="Calibri"/>
              </a:rPr>
              <a:t>The Pastoral Guide</a:t>
            </a:r>
          </a:p>
        </p:txBody>
      </p:sp>
      <p:sp>
        <p:nvSpPr>
          <p:cNvPr id="30" name="TextBox 29"/>
          <p:cNvSpPr txBox="1"/>
          <p:nvPr/>
        </p:nvSpPr>
        <p:spPr>
          <a:xfrm>
            <a:off x="7680960" y="4727448"/>
            <a:ext cx="1078992" cy="219456"/>
          </a:xfrm>
          <a:prstGeom prst="rect">
            <a:avLst/>
          </a:prstGeom>
          <a:noFill/>
          <a:effectLst/>
        </p:spPr>
        <p:txBody>
          <a:bodyPr wrap="square" anchor="t" lIns="0" rIns="0" tIns="0" bIns="0">
            <a:spAutoFit/>
          </a:bodyPr>
          <a:lstStyle/>
          <a:p>
            <a:pPr algn="r">
              <a:lnSpc>
                <a:spcPct val="125000"/>
              </a:lnSpc>
              <a:spcAft>
                <a:spcPts val="0"/>
              </a:spcAft>
            </a:pPr>
            <a:r>
              <a:rPr sz="850" b="0" i="0">
                <a:solidFill>
                  <a:srgbClr val="8C877D"/>
                </a:solidFill>
                <a:latin typeface="Calibri"/>
              </a:rPr>
              <a:t>7 / 19</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4EFE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685800" y="274320"/>
            <a:ext cx="5669280" cy="201168"/>
          </a:xfrm>
          <a:prstGeom prst="rect">
            <a:avLst/>
          </a:prstGeom>
          <a:noFill/>
          <a:effectLst/>
        </p:spPr>
        <p:txBody>
          <a:bodyPr wrap="square" anchor="t" lIns="0" rIns="0" tIns="0" bIns="0">
            <a:spAutoFit/>
          </a:bodyPr>
          <a:lstStyle/>
          <a:p>
            <a:pPr algn="l">
              <a:lnSpc>
                <a:spcPct val="125000"/>
              </a:lnSpc>
              <a:spcAft>
                <a:spcPts val="0"/>
              </a:spcAft>
            </a:pPr>
            <a:r>
              <a:rPr sz="900" b="1" i="0" spc="150">
                <a:solidFill>
                  <a:srgbClr val="34322F"/>
                </a:solidFill>
                <a:latin typeface="Calibri"/>
              </a:rPr>
              <a:t>QUESTION THE HEADLINE  ·  LESSON 4 OF 5</a:t>
            </a:r>
          </a:p>
        </p:txBody>
      </p:sp>
      <p:sp>
        <p:nvSpPr>
          <p:cNvPr id="4" name="Rounded Rectangle 3"/>
          <p:cNvSpPr/>
          <p:nvPr/>
        </p:nvSpPr>
        <p:spPr>
          <a:xfrm>
            <a:off x="7075113" y="246888"/>
            <a:ext cx="1383086" cy="237744"/>
          </a:xfrm>
          <a:prstGeom prst="roundRect">
            <a:avLst>
              <a:gd name="adj" fmla="val 50000"/>
            </a:avLst>
          </a:prstGeom>
          <a:solidFill>
            <a:srgbClr val="34322F"/>
          </a:solidFill>
          <a:ln>
            <a:noFill/>
          </a:ln>
          <a:effectLst/>
        </p:spPr>
        <p:style>
          <a:lnRef idx="1">
            <a:schemeClr val="accent1"/>
          </a:lnRef>
          <a:fillRef idx="3">
            <a:schemeClr val="accent1"/>
          </a:fillRef>
          <a:effectRef idx="0">
            <a:schemeClr val="accent1"/>
          </a:effectRef>
          <a:fontRef idx="minor">
            <a:schemeClr val="lt1"/>
          </a:fontRef>
        </p:style>
        <p:txBody>
          <a:bodyPr rtlCol="0" anchor="ctr" wrap="none" lIns="0" rIns="0" tIns="0" bIns="0"/>
          <a:lstStyle/>
          <a:p>
            <a:pPr algn="ctr"/>
            <a:r>
              <a:rPr sz="950" b="1" spc="90">
                <a:solidFill>
                  <a:srgbClr val="FFFDF7"/>
                </a:solidFill>
                <a:latin typeface="Calibri"/>
              </a:rPr>
              <a:t>ROUND 1 OF 4</a:t>
            </a:r>
          </a:p>
        </p:txBody>
      </p:sp>
      <p:sp>
        <p:nvSpPr>
          <p:cNvPr id="5" name="Rectangle 4"/>
          <p:cNvSpPr/>
          <p:nvPr/>
        </p:nvSpPr>
        <p:spPr>
          <a:xfrm>
            <a:off x="685800" y="603504"/>
            <a:ext cx="1554480" cy="329184"/>
          </a:xfrm>
          <a:prstGeom prst="rect">
            <a:avLst/>
          </a:prstGeom>
          <a:solidFill>
            <a:srgbClr val="34322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TextBox 5"/>
          <p:cNvSpPr txBox="1"/>
          <p:nvPr/>
        </p:nvSpPr>
        <p:spPr>
          <a:xfrm>
            <a:off x="685800" y="658368"/>
            <a:ext cx="1554480" cy="237744"/>
          </a:xfrm>
          <a:prstGeom prst="rect">
            <a:avLst/>
          </a:prstGeom>
          <a:noFill/>
          <a:effectLst/>
        </p:spPr>
        <p:txBody>
          <a:bodyPr wrap="square" anchor="t" lIns="0" rIns="0" tIns="0" bIns="0">
            <a:spAutoFit/>
          </a:bodyPr>
          <a:lstStyle/>
          <a:p>
            <a:pPr algn="ctr">
              <a:lnSpc>
                <a:spcPct val="125000"/>
              </a:lnSpc>
              <a:spcAft>
                <a:spcPts val="0"/>
              </a:spcAft>
            </a:pPr>
            <a:r>
              <a:rPr sz="1100" b="1" i="0" spc="160">
                <a:solidFill>
                  <a:srgbClr val="FFFDF7"/>
                </a:solidFill>
                <a:latin typeface="Calibri"/>
              </a:rPr>
              <a:t>EVIDENCE A</a:t>
            </a:r>
          </a:p>
        </p:txBody>
      </p:sp>
      <p:sp>
        <p:nvSpPr>
          <p:cNvPr id="7" name="Rectangle 6"/>
          <p:cNvSpPr/>
          <p:nvPr/>
        </p:nvSpPr>
        <p:spPr>
          <a:xfrm>
            <a:off x="685800" y="932688"/>
            <a:ext cx="7772400" cy="3072384"/>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Rectangle 7"/>
          <p:cNvSpPr/>
          <p:nvPr/>
        </p:nvSpPr>
        <p:spPr>
          <a:xfrm>
            <a:off x="685800" y="932688"/>
            <a:ext cx="7772400" cy="45720"/>
          </a:xfrm>
          <a:prstGeom prst="rect">
            <a:avLst/>
          </a:prstGeom>
          <a:solidFill>
            <a:srgbClr val="34322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1005840" y="1115568"/>
            <a:ext cx="7132320" cy="365760"/>
          </a:xfrm>
          <a:prstGeom prst="rect">
            <a:avLst/>
          </a:prstGeom>
          <a:noFill/>
          <a:effectLst/>
        </p:spPr>
        <p:txBody>
          <a:bodyPr wrap="square" anchor="t" lIns="0" rIns="0" tIns="0" bIns="0">
            <a:spAutoFit/>
          </a:bodyPr>
          <a:lstStyle/>
          <a:p>
            <a:pPr algn="l">
              <a:lnSpc>
                <a:spcPct val="125000"/>
              </a:lnSpc>
              <a:spcAft>
                <a:spcPts val="0"/>
              </a:spcAft>
            </a:pPr>
            <a:r>
              <a:rPr sz="2200" b="0" i="0">
                <a:solidFill>
                  <a:srgbClr val="262422"/>
                </a:solidFill>
                <a:latin typeface="Georgia"/>
              </a:rPr>
              <a:t>The deaths</a:t>
            </a:r>
          </a:p>
        </p:txBody>
      </p:sp>
      <p:sp>
        <p:nvSpPr>
          <p:cNvPr id="10" name="TextBox 9"/>
          <p:cNvSpPr txBox="1"/>
          <p:nvPr/>
        </p:nvSpPr>
        <p:spPr>
          <a:xfrm>
            <a:off x="1005840" y="1609344"/>
            <a:ext cx="7132320" cy="1320800"/>
          </a:xfrm>
          <a:prstGeom prst="rect">
            <a:avLst/>
          </a:prstGeom>
          <a:noFill/>
          <a:effectLst/>
        </p:spPr>
        <p:txBody>
          <a:bodyPr wrap="square" anchor="t" lIns="0" rIns="0" tIns="0" bIns="0">
            <a:spAutoFit/>
          </a:bodyPr>
          <a:lstStyle/>
          <a:p>
            <a:pPr algn="l">
              <a:lnSpc>
                <a:spcPct val="130000"/>
              </a:lnSpc>
              <a:spcAft>
                <a:spcPts val="0"/>
              </a:spcAft>
            </a:pPr>
            <a:r>
              <a:rPr sz="1600" b="0" i="0">
                <a:solidFill>
                  <a:srgbClr val="262422"/>
                </a:solidFill>
                <a:latin typeface="Georgia"/>
              </a:rPr>
              <a:t>In 1924, five workers died and many more were badly hurt at Standard Oil refineries in New Jersey, where the lead additive was made. Newspapers called it “loony gas”. Sales stopped for a year. In 1926, a committee said there was “no real evidence” of harm to the public, and sales started again.</a:t>
            </a:r>
          </a:p>
        </p:txBody>
      </p:sp>
      <p:sp>
        <p:nvSpPr>
          <p:cNvPr id="11" name="TextBox 10"/>
          <p:cNvSpPr txBox="1"/>
          <p:nvPr/>
        </p:nvSpPr>
        <p:spPr>
          <a:xfrm>
            <a:off x="1005840" y="3675887"/>
            <a:ext cx="7132320" cy="219456"/>
          </a:xfrm>
          <a:prstGeom prst="rect">
            <a:avLst/>
          </a:prstGeom>
          <a:noFill/>
          <a:effectLst/>
        </p:spPr>
        <p:txBody>
          <a:bodyPr wrap="square" anchor="t" lIns="0" rIns="0" tIns="0" bIns="0">
            <a:spAutoFit/>
          </a:bodyPr>
          <a:lstStyle/>
          <a:p>
            <a:pPr algn="l">
              <a:lnSpc>
                <a:spcPct val="125000"/>
              </a:lnSpc>
              <a:spcAft>
                <a:spcPts val="0"/>
              </a:spcAft>
            </a:pPr>
            <a:r>
              <a:rPr sz="950" b="0" i="1">
                <a:solidFill>
                  <a:srgbClr val="8C877D"/>
                </a:solidFill>
                <a:latin typeface="Calibri"/>
              </a:rPr>
              <a:t>Source: Wikipedia, Tetraethyllead</a:t>
            </a:r>
          </a:p>
        </p:txBody>
      </p:sp>
      <p:sp>
        <p:nvSpPr>
          <p:cNvPr id="12" name="TextBox 11"/>
          <p:cNvSpPr txBox="1"/>
          <p:nvPr/>
        </p:nvSpPr>
        <p:spPr>
          <a:xfrm>
            <a:off x="868680" y="4133087"/>
            <a:ext cx="7406640" cy="400050"/>
          </a:xfrm>
          <a:prstGeom prst="rect">
            <a:avLst/>
          </a:prstGeom>
          <a:noFill/>
          <a:effectLst/>
        </p:spPr>
        <p:txBody>
          <a:bodyPr wrap="square" anchor="t" lIns="0" rIns="0" tIns="0" bIns="0">
            <a:spAutoFit/>
          </a:bodyPr>
          <a:lstStyle/>
          <a:p>
            <a:pPr algn="ctr">
              <a:lnSpc>
                <a:spcPct val="120000"/>
              </a:lnSpc>
              <a:spcAft>
                <a:spcPts val="0"/>
              </a:spcAft>
            </a:pPr>
            <a:r>
              <a:rPr sz="1250" b="1" i="0">
                <a:solidFill>
                  <a:srgbClr val="34322F"/>
                </a:solidFill>
                <a:latin typeface="Calibri"/>
              </a:rPr>
              <a:t>Read it as a group. Fill in the card A row on your evidence sheet, then move on the line.</a:t>
            </a:r>
          </a:p>
        </p:txBody>
      </p:sp>
      <p:pic>
        <p:nvPicPr>
          <p:cNvPr id="13" name="Picture 12" descr="logo-mark.png"/>
          <p:cNvPicPr>
            <a:picLocks noChangeAspect="1"/>
          </p:cNvPicPr>
          <p:nvPr/>
        </p:nvPicPr>
        <p:blipFill>
          <a:blip r:embed="rId2"/>
          <a:stretch>
            <a:fillRect/>
          </a:stretch>
        </p:blipFill>
        <p:spPr>
          <a:xfrm>
            <a:off x="384048" y="4727448"/>
            <a:ext cx="158374" cy="182880"/>
          </a:xfrm>
          <a:prstGeom prst="rect">
            <a:avLst/>
          </a:prstGeom>
          <a:effectLst/>
        </p:spPr>
      </p:pic>
      <p:sp>
        <p:nvSpPr>
          <p:cNvPr id="14" name="TextBox 13"/>
          <p:cNvSpPr txBox="1"/>
          <p:nvPr/>
        </p:nvSpPr>
        <p:spPr>
          <a:xfrm>
            <a:off x="603504" y="4709160"/>
            <a:ext cx="2194560" cy="210312"/>
          </a:xfrm>
          <a:prstGeom prst="rect">
            <a:avLst/>
          </a:prstGeom>
          <a:noFill/>
          <a:effectLst/>
        </p:spPr>
        <p:txBody>
          <a:bodyPr wrap="square" anchor="t" lIns="0" rIns="0" tIns="0" bIns="0">
            <a:spAutoFit/>
          </a:bodyPr>
          <a:lstStyle/>
          <a:p>
            <a:pPr algn="l">
              <a:lnSpc>
                <a:spcPct val="125000"/>
              </a:lnSpc>
              <a:spcAft>
                <a:spcPts val="0"/>
              </a:spcAft>
            </a:pPr>
            <a:r>
              <a:rPr sz="850" b="0" i="1">
                <a:solidFill>
                  <a:srgbClr val="8C877D"/>
                </a:solidFill>
                <a:latin typeface="Calibri"/>
              </a:rPr>
              <a:t>The Pastoral Guide</a:t>
            </a:r>
          </a:p>
        </p:txBody>
      </p:sp>
      <p:sp>
        <p:nvSpPr>
          <p:cNvPr id="15" name="TextBox 14"/>
          <p:cNvSpPr txBox="1"/>
          <p:nvPr/>
        </p:nvSpPr>
        <p:spPr>
          <a:xfrm>
            <a:off x="7680960" y="4727448"/>
            <a:ext cx="1078992" cy="219456"/>
          </a:xfrm>
          <a:prstGeom prst="rect">
            <a:avLst/>
          </a:prstGeom>
          <a:noFill/>
          <a:effectLst/>
        </p:spPr>
        <p:txBody>
          <a:bodyPr wrap="square" anchor="t" lIns="0" rIns="0" tIns="0" bIns="0">
            <a:spAutoFit/>
          </a:bodyPr>
          <a:lstStyle/>
          <a:p>
            <a:pPr algn="r">
              <a:lnSpc>
                <a:spcPct val="125000"/>
              </a:lnSpc>
              <a:spcAft>
                <a:spcPts val="0"/>
              </a:spcAft>
            </a:pPr>
            <a:r>
              <a:rPr sz="850" b="0" i="0">
                <a:solidFill>
                  <a:srgbClr val="8C877D"/>
                </a:solidFill>
                <a:latin typeface="Calibri"/>
              </a:rPr>
              <a:t>8 / 19</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4EFE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685800" y="274320"/>
            <a:ext cx="5669280" cy="201168"/>
          </a:xfrm>
          <a:prstGeom prst="rect">
            <a:avLst/>
          </a:prstGeom>
          <a:noFill/>
          <a:effectLst/>
        </p:spPr>
        <p:txBody>
          <a:bodyPr wrap="square" anchor="t" lIns="0" rIns="0" tIns="0" bIns="0">
            <a:spAutoFit/>
          </a:bodyPr>
          <a:lstStyle/>
          <a:p>
            <a:pPr algn="l">
              <a:lnSpc>
                <a:spcPct val="125000"/>
              </a:lnSpc>
              <a:spcAft>
                <a:spcPts val="0"/>
              </a:spcAft>
            </a:pPr>
            <a:r>
              <a:rPr sz="900" b="1" i="0" spc="150">
                <a:solidFill>
                  <a:srgbClr val="34322F"/>
                </a:solidFill>
                <a:latin typeface="Calibri"/>
              </a:rPr>
              <a:t>QUESTION THE HEADLINE  ·  LESSON 4 OF 5</a:t>
            </a:r>
          </a:p>
        </p:txBody>
      </p:sp>
      <p:sp>
        <p:nvSpPr>
          <p:cNvPr id="4" name="Rounded Rectangle 3"/>
          <p:cNvSpPr/>
          <p:nvPr/>
        </p:nvSpPr>
        <p:spPr>
          <a:xfrm>
            <a:off x="7075113" y="246888"/>
            <a:ext cx="1383086" cy="237744"/>
          </a:xfrm>
          <a:prstGeom prst="roundRect">
            <a:avLst>
              <a:gd name="adj" fmla="val 50000"/>
            </a:avLst>
          </a:prstGeom>
          <a:solidFill>
            <a:srgbClr val="34322F"/>
          </a:solidFill>
          <a:ln>
            <a:noFill/>
          </a:ln>
          <a:effectLst/>
        </p:spPr>
        <p:style>
          <a:lnRef idx="1">
            <a:schemeClr val="accent1"/>
          </a:lnRef>
          <a:fillRef idx="3">
            <a:schemeClr val="accent1"/>
          </a:fillRef>
          <a:effectRef idx="0">
            <a:schemeClr val="accent1"/>
          </a:effectRef>
          <a:fontRef idx="minor">
            <a:schemeClr val="lt1"/>
          </a:fontRef>
        </p:style>
        <p:txBody>
          <a:bodyPr rtlCol="0" anchor="ctr" wrap="none" lIns="0" rIns="0" tIns="0" bIns="0"/>
          <a:lstStyle/>
          <a:p>
            <a:pPr algn="ctr"/>
            <a:r>
              <a:rPr sz="950" b="1" spc="90">
                <a:solidFill>
                  <a:srgbClr val="FFFDF7"/>
                </a:solidFill>
                <a:latin typeface="Calibri"/>
              </a:rPr>
              <a:t>ROUND 2 OF 4</a:t>
            </a:r>
          </a:p>
        </p:txBody>
      </p:sp>
      <p:sp>
        <p:nvSpPr>
          <p:cNvPr id="5" name="Rectangle 4"/>
          <p:cNvSpPr/>
          <p:nvPr/>
        </p:nvSpPr>
        <p:spPr>
          <a:xfrm>
            <a:off x="685800" y="603504"/>
            <a:ext cx="1554480" cy="329184"/>
          </a:xfrm>
          <a:prstGeom prst="rect">
            <a:avLst/>
          </a:prstGeom>
          <a:solidFill>
            <a:srgbClr val="34322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TextBox 5"/>
          <p:cNvSpPr txBox="1"/>
          <p:nvPr/>
        </p:nvSpPr>
        <p:spPr>
          <a:xfrm>
            <a:off x="685800" y="658368"/>
            <a:ext cx="1554480" cy="237744"/>
          </a:xfrm>
          <a:prstGeom prst="rect">
            <a:avLst/>
          </a:prstGeom>
          <a:noFill/>
          <a:effectLst/>
        </p:spPr>
        <p:txBody>
          <a:bodyPr wrap="square" anchor="t" lIns="0" rIns="0" tIns="0" bIns="0">
            <a:spAutoFit/>
          </a:bodyPr>
          <a:lstStyle/>
          <a:p>
            <a:pPr algn="ctr">
              <a:lnSpc>
                <a:spcPct val="125000"/>
              </a:lnSpc>
              <a:spcAft>
                <a:spcPts val="0"/>
              </a:spcAft>
            </a:pPr>
            <a:r>
              <a:rPr sz="1100" b="1" i="0" spc="160">
                <a:solidFill>
                  <a:srgbClr val="FFFDF7"/>
                </a:solidFill>
                <a:latin typeface="Calibri"/>
              </a:rPr>
              <a:t>EVIDENCE B</a:t>
            </a:r>
          </a:p>
        </p:txBody>
      </p:sp>
      <p:sp>
        <p:nvSpPr>
          <p:cNvPr id="7" name="Rectangle 6"/>
          <p:cNvSpPr/>
          <p:nvPr/>
        </p:nvSpPr>
        <p:spPr>
          <a:xfrm>
            <a:off x="685800" y="932688"/>
            <a:ext cx="7772400" cy="3072384"/>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Rectangle 7"/>
          <p:cNvSpPr/>
          <p:nvPr/>
        </p:nvSpPr>
        <p:spPr>
          <a:xfrm>
            <a:off x="685800" y="932688"/>
            <a:ext cx="7772400" cy="45720"/>
          </a:xfrm>
          <a:prstGeom prst="rect">
            <a:avLst/>
          </a:prstGeom>
          <a:solidFill>
            <a:srgbClr val="34322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1005840" y="1115568"/>
            <a:ext cx="7132320" cy="365760"/>
          </a:xfrm>
          <a:prstGeom prst="rect">
            <a:avLst/>
          </a:prstGeom>
          <a:noFill/>
          <a:effectLst/>
        </p:spPr>
        <p:txBody>
          <a:bodyPr wrap="square" anchor="t" lIns="0" rIns="0" tIns="0" bIns="0">
            <a:spAutoFit/>
          </a:bodyPr>
          <a:lstStyle/>
          <a:p>
            <a:pPr algn="l">
              <a:lnSpc>
                <a:spcPct val="125000"/>
              </a:lnSpc>
              <a:spcAft>
                <a:spcPts val="0"/>
              </a:spcAft>
            </a:pPr>
            <a:r>
              <a:rPr sz="2200" b="0" i="0">
                <a:solidFill>
                  <a:srgbClr val="262422"/>
                </a:solidFill>
                <a:latin typeface="Georgia"/>
              </a:rPr>
              <a:t>The expert</a:t>
            </a:r>
          </a:p>
        </p:txBody>
      </p:sp>
      <p:sp>
        <p:nvSpPr>
          <p:cNvPr id="10" name="TextBox 9"/>
          <p:cNvSpPr txBox="1"/>
          <p:nvPr/>
        </p:nvSpPr>
        <p:spPr>
          <a:xfrm>
            <a:off x="1005840" y="1609344"/>
            <a:ext cx="7132320" cy="1320800"/>
          </a:xfrm>
          <a:prstGeom prst="rect">
            <a:avLst/>
          </a:prstGeom>
          <a:noFill/>
          <a:effectLst/>
        </p:spPr>
        <p:txBody>
          <a:bodyPr wrap="square" anchor="t" lIns="0" rIns="0" tIns="0" bIns="0">
            <a:spAutoFit/>
          </a:bodyPr>
          <a:lstStyle/>
          <a:p>
            <a:pPr algn="l">
              <a:lnSpc>
                <a:spcPct val="130000"/>
              </a:lnSpc>
              <a:spcAft>
                <a:spcPts val="0"/>
              </a:spcAft>
            </a:pPr>
            <a:r>
              <a:rPr sz="1600" b="0" i="0">
                <a:solidFill>
                  <a:srgbClr val="262422"/>
                </a:solidFill>
                <a:latin typeface="Georgia"/>
              </a:rPr>
              <a:t>For forty years the leading expert on lead was Robert Kehoe. He said the lead found in people was normal and that low levels did no harm. From 1925 he was the chief medical adviser to the Ethyl Corporation, which sold the lead additive, and his laboratory was paid for by General Motors, DuPont and Ethyl.</a:t>
            </a:r>
          </a:p>
        </p:txBody>
      </p:sp>
      <p:sp>
        <p:nvSpPr>
          <p:cNvPr id="11" name="TextBox 10"/>
          <p:cNvSpPr txBox="1"/>
          <p:nvPr/>
        </p:nvSpPr>
        <p:spPr>
          <a:xfrm>
            <a:off x="1005840" y="3675887"/>
            <a:ext cx="7132320" cy="219456"/>
          </a:xfrm>
          <a:prstGeom prst="rect">
            <a:avLst/>
          </a:prstGeom>
          <a:noFill/>
          <a:effectLst/>
        </p:spPr>
        <p:txBody>
          <a:bodyPr wrap="square" anchor="t" lIns="0" rIns="0" tIns="0" bIns="0">
            <a:spAutoFit/>
          </a:bodyPr>
          <a:lstStyle/>
          <a:p>
            <a:pPr algn="l">
              <a:lnSpc>
                <a:spcPct val="125000"/>
              </a:lnSpc>
              <a:spcAft>
                <a:spcPts val="0"/>
              </a:spcAft>
            </a:pPr>
            <a:r>
              <a:rPr sz="950" b="0" i="1">
                <a:solidFill>
                  <a:srgbClr val="8C877D"/>
                </a:solidFill>
                <a:latin typeface="Calibri"/>
              </a:rPr>
              <a:t>Source: Wikipedia, Robert A. Kehoe; University of Cincinnati Libraries</a:t>
            </a:r>
          </a:p>
        </p:txBody>
      </p:sp>
      <p:sp>
        <p:nvSpPr>
          <p:cNvPr id="12" name="TextBox 11"/>
          <p:cNvSpPr txBox="1"/>
          <p:nvPr/>
        </p:nvSpPr>
        <p:spPr>
          <a:xfrm>
            <a:off x="868680" y="4133087"/>
            <a:ext cx="7406640" cy="400050"/>
          </a:xfrm>
          <a:prstGeom prst="rect">
            <a:avLst/>
          </a:prstGeom>
          <a:noFill/>
          <a:effectLst/>
        </p:spPr>
        <p:txBody>
          <a:bodyPr wrap="square" anchor="t" lIns="0" rIns="0" tIns="0" bIns="0">
            <a:spAutoFit/>
          </a:bodyPr>
          <a:lstStyle/>
          <a:p>
            <a:pPr algn="ctr">
              <a:lnSpc>
                <a:spcPct val="120000"/>
              </a:lnSpc>
              <a:spcAft>
                <a:spcPts val="0"/>
              </a:spcAft>
            </a:pPr>
            <a:r>
              <a:rPr sz="1250" b="1" i="0">
                <a:solidFill>
                  <a:srgbClr val="34322F"/>
                </a:solidFill>
                <a:latin typeface="Calibri"/>
              </a:rPr>
              <a:t>Read it as a group. Fill in the card B row on your evidence sheet, then move on the line.</a:t>
            </a:r>
          </a:p>
        </p:txBody>
      </p:sp>
      <p:pic>
        <p:nvPicPr>
          <p:cNvPr id="13" name="Picture 12" descr="logo-mark.png"/>
          <p:cNvPicPr>
            <a:picLocks noChangeAspect="1"/>
          </p:cNvPicPr>
          <p:nvPr/>
        </p:nvPicPr>
        <p:blipFill>
          <a:blip r:embed="rId2"/>
          <a:stretch>
            <a:fillRect/>
          </a:stretch>
        </p:blipFill>
        <p:spPr>
          <a:xfrm>
            <a:off x="384048" y="4727448"/>
            <a:ext cx="158374" cy="182880"/>
          </a:xfrm>
          <a:prstGeom prst="rect">
            <a:avLst/>
          </a:prstGeom>
          <a:effectLst/>
        </p:spPr>
      </p:pic>
      <p:sp>
        <p:nvSpPr>
          <p:cNvPr id="14" name="TextBox 13"/>
          <p:cNvSpPr txBox="1"/>
          <p:nvPr/>
        </p:nvSpPr>
        <p:spPr>
          <a:xfrm>
            <a:off x="603504" y="4709160"/>
            <a:ext cx="2194560" cy="210312"/>
          </a:xfrm>
          <a:prstGeom prst="rect">
            <a:avLst/>
          </a:prstGeom>
          <a:noFill/>
          <a:effectLst/>
        </p:spPr>
        <p:txBody>
          <a:bodyPr wrap="square" anchor="t" lIns="0" rIns="0" tIns="0" bIns="0">
            <a:spAutoFit/>
          </a:bodyPr>
          <a:lstStyle/>
          <a:p>
            <a:pPr algn="l">
              <a:lnSpc>
                <a:spcPct val="125000"/>
              </a:lnSpc>
              <a:spcAft>
                <a:spcPts val="0"/>
              </a:spcAft>
            </a:pPr>
            <a:r>
              <a:rPr sz="850" b="0" i="1">
                <a:solidFill>
                  <a:srgbClr val="8C877D"/>
                </a:solidFill>
                <a:latin typeface="Calibri"/>
              </a:rPr>
              <a:t>The Pastoral Guide</a:t>
            </a:r>
          </a:p>
        </p:txBody>
      </p:sp>
      <p:sp>
        <p:nvSpPr>
          <p:cNvPr id="15" name="TextBox 14"/>
          <p:cNvSpPr txBox="1"/>
          <p:nvPr/>
        </p:nvSpPr>
        <p:spPr>
          <a:xfrm>
            <a:off x="7680960" y="4727448"/>
            <a:ext cx="1078992" cy="219456"/>
          </a:xfrm>
          <a:prstGeom prst="rect">
            <a:avLst/>
          </a:prstGeom>
          <a:noFill/>
          <a:effectLst/>
        </p:spPr>
        <p:txBody>
          <a:bodyPr wrap="square" anchor="t" lIns="0" rIns="0" tIns="0" bIns="0">
            <a:spAutoFit/>
          </a:bodyPr>
          <a:lstStyle/>
          <a:p>
            <a:pPr algn="r">
              <a:lnSpc>
                <a:spcPct val="125000"/>
              </a:lnSpc>
              <a:spcAft>
                <a:spcPts val="0"/>
              </a:spcAft>
            </a:pPr>
            <a:r>
              <a:rPr sz="850" b="0" i="0">
                <a:solidFill>
                  <a:srgbClr val="8C877D"/>
                </a:solidFill>
                <a:latin typeface="Calibri"/>
              </a:rPr>
              <a:t>9 / 19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4EFE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685800" y="274320"/>
            <a:ext cx="5669280" cy="201168"/>
          </a:xfrm>
          <a:prstGeom prst="rect">
            <a:avLst/>
          </a:prstGeom>
          <a:noFill/>
          <a:effectLst/>
        </p:spPr>
        <p:txBody>
          <a:bodyPr wrap="square" anchor="t" lIns="0" rIns="0" tIns="0" bIns="0">
            <a:spAutoFit/>
          </a:bodyPr>
          <a:lstStyle/>
          <a:p>
            <a:pPr algn="l">
              <a:lnSpc>
                <a:spcPct val="125000"/>
              </a:lnSpc>
              <a:spcAft>
                <a:spcPts val="0"/>
              </a:spcAft>
            </a:pPr>
            <a:r>
              <a:rPr sz="900" b="1" i="0" spc="150">
                <a:solidFill>
                  <a:srgbClr val="34322F"/>
                </a:solidFill>
                <a:latin typeface="Calibri"/>
              </a:rPr>
              <a:t>QUESTION THE HEADLINE  ·  LESSON 4 OF 5</a:t>
            </a:r>
          </a:p>
        </p:txBody>
      </p:sp>
      <p:sp>
        <p:nvSpPr>
          <p:cNvPr id="4" name="Rounded Rectangle 3"/>
          <p:cNvSpPr/>
          <p:nvPr/>
        </p:nvSpPr>
        <p:spPr>
          <a:xfrm>
            <a:off x="7075113" y="246888"/>
            <a:ext cx="1383086" cy="237744"/>
          </a:xfrm>
          <a:prstGeom prst="roundRect">
            <a:avLst>
              <a:gd name="adj" fmla="val 50000"/>
            </a:avLst>
          </a:prstGeom>
          <a:solidFill>
            <a:srgbClr val="34322F"/>
          </a:solidFill>
          <a:ln>
            <a:noFill/>
          </a:ln>
          <a:effectLst/>
        </p:spPr>
        <p:style>
          <a:lnRef idx="1">
            <a:schemeClr val="accent1"/>
          </a:lnRef>
          <a:fillRef idx="3">
            <a:schemeClr val="accent1"/>
          </a:fillRef>
          <a:effectRef idx="0">
            <a:schemeClr val="accent1"/>
          </a:effectRef>
          <a:fontRef idx="minor">
            <a:schemeClr val="lt1"/>
          </a:fontRef>
        </p:style>
        <p:txBody>
          <a:bodyPr rtlCol="0" anchor="ctr" wrap="none" lIns="0" rIns="0" tIns="0" bIns="0"/>
          <a:lstStyle/>
          <a:p>
            <a:pPr algn="ctr"/>
            <a:r>
              <a:rPr sz="950" b="1" spc="90">
                <a:solidFill>
                  <a:srgbClr val="FFFDF7"/>
                </a:solidFill>
                <a:latin typeface="Calibri"/>
              </a:rPr>
              <a:t>ROUND 3 OF 4</a:t>
            </a:r>
          </a:p>
        </p:txBody>
      </p:sp>
      <p:sp>
        <p:nvSpPr>
          <p:cNvPr id="5" name="Rectangle 4"/>
          <p:cNvSpPr/>
          <p:nvPr/>
        </p:nvSpPr>
        <p:spPr>
          <a:xfrm>
            <a:off x="685800" y="603504"/>
            <a:ext cx="1554480" cy="329184"/>
          </a:xfrm>
          <a:prstGeom prst="rect">
            <a:avLst/>
          </a:prstGeom>
          <a:solidFill>
            <a:srgbClr val="34322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TextBox 5"/>
          <p:cNvSpPr txBox="1"/>
          <p:nvPr/>
        </p:nvSpPr>
        <p:spPr>
          <a:xfrm>
            <a:off x="685800" y="658368"/>
            <a:ext cx="1554480" cy="237744"/>
          </a:xfrm>
          <a:prstGeom prst="rect">
            <a:avLst/>
          </a:prstGeom>
          <a:noFill/>
          <a:effectLst/>
        </p:spPr>
        <p:txBody>
          <a:bodyPr wrap="square" anchor="t" lIns="0" rIns="0" tIns="0" bIns="0">
            <a:spAutoFit/>
          </a:bodyPr>
          <a:lstStyle/>
          <a:p>
            <a:pPr algn="ctr">
              <a:lnSpc>
                <a:spcPct val="125000"/>
              </a:lnSpc>
              <a:spcAft>
                <a:spcPts val="0"/>
              </a:spcAft>
            </a:pPr>
            <a:r>
              <a:rPr sz="1100" b="1" i="0" spc="160">
                <a:solidFill>
                  <a:srgbClr val="FFFDF7"/>
                </a:solidFill>
                <a:latin typeface="Calibri"/>
              </a:rPr>
              <a:t>EVIDENCE C</a:t>
            </a:r>
          </a:p>
        </p:txBody>
      </p:sp>
      <p:sp>
        <p:nvSpPr>
          <p:cNvPr id="7" name="Rectangle 6"/>
          <p:cNvSpPr/>
          <p:nvPr/>
        </p:nvSpPr>
        <p:spPr>
          <a:xfrm>
            <a:off x="685800" y="932688"/>
            <a:ext cx="7772400" cy="3072384"/>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Rectangle 7"/>
          <p:cNvSpPr/>
          <p:nvPr/>
        </p:nvSpPr>
        <p:spPr>
          <a:xfrm>
            <a:off x="685800" y="932688"/>
            <a:ext cx="7772400" cy="45720"/>
          </a:xfrm>
          <a:prstGeom prst="rect">
            <a:avLst/>
          </a:prstGeom>
          <a:solidFill>
            <a:srgbClr val="34322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1005840" y="1060704"/>
            <a:ext cx="7132320" cy="365760"/>
          </a:xfrm>
          <a:prstGeom prst="rect">
            <a:avLst/>
          </a:prstGeom>
          <a:noFill/>
          <a:effectLst/>
        </p:spPr>
        <p:txBody>
          <a:bodyPr wrap="square" anchor="t" lIns="0" rIns="0" tIns="0" bIns="0">
            <a:spAutoFit/>
          </a:bodyPr>
          <a:lstStyle/>
          <a:p>
            <a:pPr algn="l">
              <a:lnSpc>
                <a:spcPct val="125000"/>
              </a:lnSpc>
              <a:spcAft>
                <a:spcPts val="0"/>
              </a:spcAft>
            </a:pPr>
            <a:r>
              <a:rPr sz="1800" b="0" i="0">
                <a:solidFill>
                  <a:srgbClr val="262422"/>
                </a:solidFill>
                <a:latin typeface="Georgia"/>
              </a:rPr>
              <a:t>The numbers</a:t>
            </a:r>
          </a:p>
        </p:txBody>
      </p:sp>
      <p:sp>
        <p:nvSpPr>
          <p:cNvPr id="10" name="Rectangle 9"/>
          <p:cNvSpPr/>
          <p:nvPr/>
        </p:nvSpPr>
        <p:spPr>
          <a:xfrm>
            <a:off x="960120" y="1444752"/>
            <a:ext cx="4754880" cy="2176272"/>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Rectangle 10"/>
          <p:cNvSpPr/>
          <p:nvPr/>
        </p:nvSpPr>
        <p:spPr>
          <a:xfrm>
            <a:off x="960120" y="1444752"/>
            <a:ext cx="4754880" cy="45720"/>
          </a:xfrm>
          <a:prstGeom prst="rect">
            <a:avLst/>
          </a:prstGeom>
          <a:solidFill>
            <a:srgbClr val="34322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graphicFrame>
        <p:nvGraphicFramePr>
          <p:cNvPr id="12" name="Chart 11"/>
          <p:cNvGraphicFramePr>
            <a:graphicFrameLocks noGrp="1"/>
          </p:cNvGraphicFramePr>
          <p:nvPr/>
        </p:nvGraphicFramePr>
        <p:xfrm>
          <a:off x="1051560" y="1572768"/>
          <a:ext cx="4572000" cy="1645919"/>
        </p:xfrm>
        <a:graphic>
          <a:graphicData uri="http://schemas.openxmlformats.org/drawingml/2006/chart">
            <c:chart xmlns:c="http://schemas.openxmlformats.org/drawingml/2006/chart" r:id="rId2"/>
          </a:graphicData>
        </a:graphic>
      </p:graphicFrame>
      <p:sp>
        <p:nvSpPr>
          <p:cNvPr id="13" name="TextBox 12"/>
          <p:cNvSpPr txBox="1"/>
          <p:nvPr/>
        </p:nvSpPr>
        <p:spPr>
          <a:xfrm>
            <a:off x="1161288" y="3273552"/>
            <a:ext cx="4352544" cy="237744"/>
          </a:xfrm>
          <a:prstGeom prst="rect">
            <a:avLst/>
          </a:prstGeom>
          <a:noFill/>
          <a:effectLst/>
        </p:spPr>
        <p:txBody>
          <a:bodyPr wrap="square" anchor="t" lIns="0" rIns="0" tIns="0" bIns="0">
            <a:spAutoFit/>
          </a:bodyPr>
          <a:lstStyle/>
          <a:p>
            <a:pPr algn="ctr">
              <a:lnSpc>
                <a:spcPct val="125000"/>
              </a:lnSpc>
              <a:spcAft>
                <a:spcPts val="0"/>
              </a:spcAft>
            </a:pPr>
            <a:r>
              <a:rPr sz="900" b="0" i="1">
                <a:solidFill>
                  <a:srgbClr val="56524B"/>
                </a:solidFill>
                <a:latin typeface="Calibri"/>
              </a:rPr>
              <a:t>Micrograms of lead per decilitre of blood, children aged 1 to 5</a:t>
            </a:r>
          </a:p>
        </p:txBody>
      </p:sp>
      <p:sp>
        <p:nvSpPr>
          <p:cNvPr id="14" name="Rectangle 13"/>
          <p:cNvSpPr/>
          <p:nvPr/>
        </p:nvSpPr>
        <p:spPr>
          <a:xfrm>
            <a:off x="5897880" y="1444752"/>
            <a:ext cx="2286000" cy="2176272"/>
          </a:xfrm>
          <a:prstGeom prst="rect">
            <a:avLst/>
          </a:prstGeom>
          <a:solidFill>
            <a:srgbClr val="E9E2D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TextBox 14"/>
          <p:cNvSpPr txBox="1"/>
          <p:nvPr/>
        </p:nvSpPr>
        <p:spPr>
          <a:xfrm>
            <a:off x="6080760" y="1609344"/>
            <a:ext cx="1920240" cy="182880"/>
          </a:xfrm>
          <a:prstGeom prst="rect">
            <a:avLst/>
          </a:prstGeom>
          <a:noFill/>
          <a:effectLst/>
        </p:spPr>
        <p:txBody>
          <a:bodyPr wrap="square" anchor="t" lIns="0" rIns="0" tIns="0" bIns="0">
            <a:spAutoFit/>
          </a:bodyPr>
          <a:lstStyle/>
          <a:p>
            <a:pPr algn="l">
              <a:lnSpc>
                <a:spcPct val="125000"/>
              </a:lnSpc>
              <a:spcAft>
                <a:spcPts val="0"/>
              </a:spcAft>
            </a:pPr>
            <a:r>
              <a:rPr sz="800" b="1" i="0" spc="140">
                <a:solidFill>
                  <a:srgbClr val="34322F"/>
                </a:solidFill>
                <a:latin typeface="Calibri"/>
              </a:rPr>
              <a:t>ABOUT THIS</a:t>
            </a:r>
          </a:p>
        </p:txBody>
      </p:sp>
      <p:sp>
        <p:nvSpPr>
          <p:cNvPr id="16" name="TextBox 15"/>
          <p:cNvSpPr txBox="1"/>
          <p:nvPr/>
        </p:nvSpPr>
        <p:spPr>
          <a:xfrm>
            <a:off x="6080760" y="1865376"/>
            <a:ext cx="1920240" cy="1452880"/>
          </a:xfrm>
          <a:prstGeom prst="rect">
            <a:avLst/>
          </a:prstGeom>
          <a:noFill/>
          <a:effectLst/>
        </p:spPr>
        <p:txBody>
          <a:bodyPr wrap="square" anchor="t" lIns="0" rIns="0" tIns="0" bIns="0">
            <a:spAutoFit/>
          </a:bodyPr>
          <a:lstStyle/>
          <a:p>
            <a:pPr algn="l">
              <a:lnSpc>
                <a:spcPct val="128000"/>
              </a:lnSpc>
              <a:spcAft>
                <a:spcPts val="0"/>
              </a:spcAft>
            </a:pPr>
            <a:r>
              <a:rPr sz="1100" b="0" i="0">
                <a:solidFill>
                  <a:srgbClr val="262422"/>
                </a:solidFill>
                <a:latin typeface="Calibri"/>
              </a:rPr>
              <a:t>The US took lead out of petrol from 1975 and banned it for cars in 1996.</a:t>
            </a:r>
          </a:p>
        </p:txBody>
      </p:sp>
      <p:sp>
        <p:nvSpPr>
          <p:cNvPr id="17" name="TextBox 16"/>
          <p:cNvSpPr txBox="1"/>
          <p:nvPr/>
        </p:nvSpPr>
        <p:spPr>
          <a:xfrm>
            <a:off x="1005840" y="3675887"/>
            <a:ext cx="7132320" cy="219456"/>
          </a:xfrm>
          <a:prstGeom prst="rect">
            <a:avLst/>
          </a:prstGeom>
          <a:noFill/>
          <a:effectLst/>
        </p:spPr>
        <p:txBody>
          <a:bodyPr wrap="square" anchor="t" lIns="0" rIns="0" tIns="0" bIns="0">
            <a:spAutoFit/>
          </a:bodyPr>
          <a:lstStyle/>
          <a:p>
            <a:pPr algn="l">
              <a:lnSpc>
                <a:spcPct val="125000"/>
              </a:lnSpc>
              <a:spcAft>
                <a:spcPts val="0"/>
              </a:spcAft>
            </a:pPr>
            <a:r>
              <a:rPr sz="950" b="0" i="1">
                <a:solidFill>
                  <a:srgbClr val="8C877D"/>
                </a:solidFill>
                <a:latin typeface="Calibri"/>
              </a:rPr>
              <a:t>Source: Egan and others, 2021; US EPA</a:t>
            </a:r>
          </a:p>
        </p:txBody>
      </p:sp>
      <p:sp>
        <p:nvSpPr>
          <p:cNvPr id="18" name="TextBox 17"/>
          <p:cNvSpPr txBox="1"/>
          <p:nvPr/>
        </p:nvSpPr>
        <p:spPr>
          <a:xfrm>
            <a:off x="868680" y="4133087"/>
            <a:ext cx="7406640" cy="400050"/>
          </a:xfrm>
          <a:prstGeom prst="rect">
            <a:avLst/>
          </a:prstGeom>
          <a:noFill/>
          <a:effectLst/>
        </p:spPr>
        <p:txBody>
          <a:bodyPr wrap="square" anchor="t" lIns="0" rIns="0" tIns="0" bIns="0">
            <a:spAutoFit/>
          </a:bodyPr>
          <a:lstStyle/>
          <a:p>
            <a:pPr algn="ctr">
              <a:lnSpc>
                <a:spcPct val="120000"/>
              </a:lnSpc>
              <a:spcAft>
                <a:spcPts val="0"/>
              </a:spcAft>
            </a:pPr>
            <a:r>
              <a:rPr sz="1250" b="1" i="0">
                <a:solidFill>
                  <a:srgbClr val="34322F"/>
                </a:solidFill>
                <a:latin typeface="Calibri"/>
              </a:rPr>
              <a:t>Read it as a group. Fill in the card C row on your evidence sheet, then move on the line.</a:t>
            </a:r>
          </a:p>
        </p:txBody>
      </p:sp>
      <p:pic>
        <p:nvPicPr>
          <p:cNvPr id="19" name="Picture 18" descr="logo-mark.png"/>
          <p:cNvPicPr>
            <a:picLocks noChangeAspect="1"/>
          </p:cNvPicPr>
          <p:nvPr/>
        </p:nvPicPr>
        <p:blipFill>
          <a:blip r:embed="rId3"/>
          <a:stretch>
            <a:fillRect/>
          </a:stretch>
        </p:blipFill>
        <p:spPr>
          <a:xfrm>
            <a:off x="384048" y="4727448"/>
            <a:ext cx="158374" cy="182880"/>
          </a:xfrm>
          <a:prstGeom prst="rect">
            <a:avLst/>
          </a:prstGeom>
          <a:effectLst/>
        </p:spPr>
      </p:pic>
      <p:sp>
        <p:nvSpPr>
          <p:cNvPr id="20" name="TextBox 19"/>
          <p:cNvSpPr txBox="1"/>
          <p:nvPr/>
        </p:nvSpPr>
        <p:spPr>
          <a:xfrm>
            <a:off x="603504" y="4709160"/>
            <a:ext cx="2194560" cy="210312"/>
          </a:xfrm>
          <a:prstGeom prst="rect">
            <a:avLst/>
          </a:prstGeom>
          <a:noFill/>
          <a:effectLst/>
        </p:spPr>
        <p:txBody>
          <a:bodyPr wrap="square" anchor="t" lIns="0" rIns="0" tIns="0" bIns="0">
            <a:spAutoFit/>
          </a:bodyPr>
          <a:lstStyle/>
          <a:p>
            <a:pPr algn="l">
              <a:lnSpc>
                <a:spcPct val="125000"/>
              </a:lnSpc>
              <a:spcAft>
                <a:spcPts val="0"/>
              </a:spcAft>
            </a:pPr>
            <a:r>
              <a:rPr sz="850" b="0" i="1">
                <a:solidFill>
                  <a:srgbClr val="8C877D"/>
                </a:solidFill>
                <a:latin typeface="Calibri"/>
              </a:rPr>
              <a:t>The Pastoral Guide</a:t>
            </a:r>
          </a:p>
        </p:txBody>
      </p:sp>
      <p:sp>
        <p:nvSpPr>
          <p:cNvPr id="21" name="TextBox 20"/>
          <p:cNvSpPr txBox="1"/>
          <p:nvPr/>
        </p:nvSpPr>
        <p:spPr>
          <a:xfrm>
            <a:off x="7680960" y="4727448"/>
            <a:ext cx="1078992" cy="219456"/>
          </a:xfrm>
          <a:prstGeom prst="rect">
            <a:avLst/>
          </a:prstGeom>
          <a:noFill/>
          <a:effectLst/>
        </p:spPr>
        <p:txBody>
          <a:bodyPr wrap="square" anchor="t" lIns="0" rIns="0" tIns="0" bIns="0">
            <a:spAutoFit/>
          </a:bodyPr>
          <a:lstStyle/>
          <a:p>
            <a:pPr algn="r">
              <a:lnSpc>
                <a:spcPct val="125000"/>
              </a:lnSpc>
              <a:spcAft>
                <a:spcPts val="0"/>
              </a:spcAft>
            </a:pPr>
            <a:r>
              <a:rPr sz="850" b="0" i="0">
                <a:solidFill>
                  <a:srgbClr val="8C877D"/>
                </a:solidFill>
                <a:latin typeface="Calibri"/>
              </a:rPr>
              <a:t>10 / 19</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4EFE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685800" y="274320"/>
            <a:ext cx="5669280" cy="201168"/>
          </a:xfrm>
          <a:prstGeom prst="rect">
            <a:avLst/>
          </a:prstGeom>
          <a:noFill/>
          <a:effectLst/>
        </p:spPr>
        <p:txBody>
          <a:bodyPr wrap="square" anchor="t" lIns="0" rIns="0" tIns="0" bIns="0">
            <a:spAutoFit/>
          </a:bodyPr>
          <a:lstStyle/>
          <a:p>
            <a:pPr algn="l">
              <a:lnSpc>
                <a:spcPct val="125000"/>
              </a:lnSpc>
              <a:spcAft>
                <a:spcPts val="0"/>
              </a:spcAft>
            </a:pPr>
            <a:r>
              <a:rPr sz="900" b="1" i="0" spc="150">
                <a:solidFill>
                  <a:srgbClr val="34322F"/>
                </a:solidFill>
                <a:latin typeface="Calibri"/>
              </a:rPr>
              <a:t>QUESTION THE HEADLINE  ·  LESSON 4 OF 5</a:t>
            </a:r>
          </a:p>
        </p:txBody>
      </p:sp>
      <p:sp>
        <p:nvSpPr>
          <p:cNvPr id="5" name="TextBox 4"/>
          <p:cNvSpPr txBox="1"/>
          <p:nvPr/>
        </p:nvSpPr>
        <p:spPr>
          <a:xfrm>
            <a:off x="685800" y="566928"/>
            <a:ext cx="7772400" cy="434848"/>
          </a:xfrm>
          <a:prstGeom prst="rect">
            <a:avLst/>
          </a:prstGeom>
          <a:noFill/>
          <a:effectLst/>
        </p:spPr>
        <p:txBody>
          <a:bodyPr wrap="square" anchor="t" lIns="0" rIns="0" tIns="0" bIns="0">
            <a:spAutoFit/>
          </a:bodyPr>
          <a:lstStyle/>
          <a:p>
            <a:pPr algn="l">
              <a:lnSpc>
                <a:spcPct val="105000"/>
              </a:lnSpc>
              <a:spcAft>
                <a:spcPts val="0"/>
              </a:spcAft>
            </a:pPr>
            <a:r>
              <a:rPr sz="2800" b="0" i="0">
                <a:solidFill>
                  <a:srgbClr val="262422"/>
                </a:solidFill>
                <a:latin typeface="Georgia"/>
              </a:rPr>
              <a:t>What do the numbers say?</a:t>
            </a:r>
          </a:p>
        </p:txBody>
      </p:sp>
      <p:sp>
        <p:nvSpPr>
          <p:cNvPr id="6" name="TextBox 5"/>
          <p:cNvSpPr txBox="1"/>
          <p:nvPr/>
        </p:nvSpPr>
        <p:spPr>
          <a:xfrm>
            <a:off x="685800" y="1133856"/>
            <a:ext cx="7772400" cy="274320"/>
          </a:xfrm>
          <a:prstGeom prst="rect">
            <a:avLst/>
          </a:prstGeom>
          <a:noFill/>
          <a:effectLst/>
        </p:spPr>
        <p:txBody>
          <a:bodyPr wrap="square" anchor="t" lIns="0" rIns="0" tIns="0" bIns="0">
            <a:spAutoFit/>
          </a:bodyPr>
          <a:lstStyle/>
          <a:p>
            <a:pPr algn="l">
              <a:lnSpc>
                <a:spcPct val="125000"/>
              </a:lnSpc>
              <a:spcAft>
                <a:spcPts val="0"/>
              </a:spcAft>
            </a:pPr>
            <a:r>
              <a:rPr sz="1250" b="0" i="0">
                <a:solidFill>
                  <a:srgbClr val="56524B"/>
                </a:solidFill>
                <a:latin typeface="Calibri"/>
              </a:rPr>
              <a:t>Work them out in your group. Write your working on your evidence sheet.</a:t>
            </a:r>
          </a:p>
        </p:txBody>
      </p:sp>
      <p:sp>
        <p:nvSpPr>
          <p:cNvPr id="7" name="Rectangle 6"/>
          <p:cNvSpPr/>
          <p:nvPr/>
        </p:nvSpPr>
        <p:spPr>
          <a:xfrm>
            <a:off x="685800" y="1481328"/>
            <a:ext cx="7772400" cy="699516"/>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Oval 7"/>
          <p:cNvSpPr/>
          <p:nvPr/>
        </p:nvSpPr>
        <p:spPr>
          <a:xfrm>
            <a:off x="868680" y="1563624"/>
            <a:ext cx="329184" cy="329184"/>
          </a:xfrm>
          <a:prstGeom prst="ellipse">
            <a:avLst/>
          </a:prstGeom>
          <a:solidFill>
            <a:srgbClr val="34322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868680" y="1636776"/>
            <a:ext cx="329184" cy="182880"/>
          </a:xfrm>
          <a:prstGeom prst="rect">
            <a:avLst/>
          </a:prstGeom>
          <a:noFill/>
          <a:effectLst/>
        </p:spPr>
        <p:txBody>
          <a:bodyPr wrap="square" anchor="t" lIns="0" rIns="0" tIns="0" bIns="0">
            <a:spAutoFit/>
          </a:bodyPr>
          <a:lstStyle/>
          <a:p>
            <a:pPr algn="ctr">
              <a:lnSpc>
                <a:spcPct val="125000"/>
              </a:lnSpc>
              <a:spcAft>
                <a:spcPts val="0"/>
              </a:spcAft>
            </a:pPr>
            <a:r>
              <a:rPr sz="1050" b="1" i="0">
                <a:solidFill>
                  <a:srgbClr val="FFFDF7"/>
                </a:solidFill>
                <a:latin typeface="Calibri"/>
              </a:rPr>
              <a:t>1</a:t>
            </a:r>
          </a:p>
        </p:txBody>
      </p:sp>
      <p:sp>
        <p:nvSpPr>
          <p:cNvPr id="10" name="TextBox 9"/>
          <p:cNvSpPr txBox="1"/>
          <p:nvPr/>
        </p:nvSpPr>
        <p:spPr>
          <a:xfrm>
            <a:off x="1371600" y="1591056"/>
            <a:ext cx="6903720" cy="480060"/>
          </a:xfrm>
          <a:prstGeom prst="rect">
            <a:avLst/>
          </a:prstGeom>
          <a:noFill/>
          <a:effectLst/>
        </p:spPr>
        <p:txBody>
          <a:bodyPr wrap="square" anchor="t" lIns="0" rIns="0" tIns="0" bIns="0">
            <a:spAutoFit/>
          </a:bodyPr>
          <a:lstStyle/>
          <a:p>
            <a:pPr algn="l">
              <a:lnSpc>
                <a:spcPct val="120000"/>
              </a:lnSpc>
              <a:spcAft>
                <a:spcPts val="0"/>
              </a:spcAft>
            </a:pPr>
            <a:r>
              <a:rPr sz="1500" b="1" i="0">
                <a:solidFill>
                  <a:srgbClr val="262422"/>
                </a:solidFill>
                <a:latin typeface="Calibri"/>
              </a:rPr>
              <a:t>By roughly what percentage did the lead in young children’s blood fall from 1976–80 (15.2) to 2017–18 (0.7)?</a:t>
            </a:r>
          </a:p>
        </p:txBody>
      </p:sp>
      <p:sp>
        <p:nvSpPr>
          <p:cNvPr id="11" name="Rectangle 10"/>
          <p:cNvSpPr/>
          <p:nvPr/>
        </p:nvSpPr>
        <p:spPr>
          <a:xfrm>
            <a:off x="685800" y="2345436"/>
            <a:ext cx="7772400" cy="459485"/>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Oval 11"/>
          <p:cNvSpPr/>
          <p:nvPr/>
        </p:nvSpPr>
        <p:spPr>
          <a:xfrm>
            <a:off x="868680" y="2427732"/>
            <a:ext cx="329184" cy="329184"/>
          </a:xfrm>
          <a:prstGeom prst="ellipse">
            <a:avLst/>
          </a:prstGeom>
          <a:solidFill>
            <a:srgbClr val="34322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TextBox 12"/>
          <p:cNvSpPr txBox="1"/>
          <p:nvPr/>
        </p:nvSpPr>
        <p:spPr>
          <a:xfrm>
            <a:off x="868680" y="2500884"/>
            <a:ext cx="329184" cy="182880"/>
          </a:xfrm>
          <a:prstGeom prst="rect">
            <a:avLst/>
          </a:prstGeom>
          <a:noFill/>
          <a:effectLst/>
        </p:spPr>
        <p:txBody>
          <a:bodyPr wrap="square" anchor="t" lIns="0" rIns="0" tIns="0" bIns="0">
            <a:spAutoFit/>
          </a:bodyPr>
          <a:lstStyle/>
          <a:p>
            <a:pPr algn="ctr">
              <a:lnSpc>
                <a:spcPct val="125000"/>
              </a:lnSpc>
              <a:spcAft>
                <a:spcPts val="0"/>
              </a:spcAft>
            </a:pPr>
            <a:r>
              <a:rPr sz="1050" b="1" i="0">
                <a:solidFill>
                  <a:srgbClr val="FFFDF7"/>
                </a:solidFill>
                <a:latin typeface="Calibri"/>
              </a:rPr>
              <a:t>2</a:t>
            </a:r>
          </a:p>
        </p:txBody>
      </p:sp>
      <p:sp>
        <p:nvSpPr>
          <p:cNvPr id="14" name="TextBox 13"/>
          <p:cNvSpPr txBox="1"/>
          <p:nvPr/>
        </p:nvSpPr>
        <p:spPr>
          <a:xfrm>
            <a:off x="1371600" y="2455164"/>
            <a:ext cx="6903720" cy="240030"/>
          </a:xfrm>
          <a:prstGeom prst="rect">
            <a:avLst/>
          </a:prstGeom>
          <a:noFill/>
          <a:effectLst/>
        </p:spPr>
        <p:txBody>
          <a:bodyPr wrap="square" anchor="t" lIns="0" rIns="0" tIns="0" bIns="0">
            <a:spAutoFit/>
          </a:bodyPr>
          <a:lstStyle/>
          <a:p>
            <a:pPr algn="l">
              <a:lnSpc>
                <a:spcPct val="120000"/>
              </a:lnSpc>
              <a:spcAft>
                <a:spcPts val="0"/>
              </a:spcAft>
            </a:pPr>
            <a:r>
              <a:rPr sz="1500" b="1" i="0">
                <a:solidFill>
                  <a:srgbClr val="262422"/>
                </a:solidFill>
                <a:latin typeface="Calibri"/>
              </a:rPr>
              <a:t>Between which two surveys on the graph was the biggest fall?</a:t>
            </a:r>
          </a:p>
        </p:txBody>
      </p:sp>
      <p:sp>
        <p:nvSpPr>
          <p:cNvPr id="15" name="Rectangle 14"/>
          <p:cNvSpPr/>
          <p:nvPr/>
        </p:nvSpPr>
        <p:spPr>
          <a:xfrm>
            <a:off x="685800" y="2969514"/>
            <a:ext cx="7772400" cy="459485"/>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Oval 15"/>
          <p:cNvSpPr/>
          <p:nvPr/>
        </p:nvSpPr>
        <p:spPr>
          <a:xfrm>
            <a:off x="868680" y="3051810"/>
            <a:ext cx="329184" cy="329184"/>
          </a:xfrm>
          <a:prstGeom prst="ellipse">
            <a:avLst/>
          </a:prstGeom>
          <a:solidFill>
            <a:srgbClr val="34322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TextBox 16"/>
          <p:cNvSpPr txBox="1"/>
          <p:nvPr/>
        </p:nvSpPr>
        <p:spPr>
          <a:xfrm>
            <a:off x="868680" y="3124962"/>
            <a:ext cx="329184" cy="182880"/>
          </a:xfrm>
          <a:prstGeom prst="rect">
            <a:avLst/>
          </a:prstGeom>
          <a:noFill/>
          <a:effectLst/>
        </p:spPr>
        <p:txBody>
          <a:bodyPr wrap="square" anchor="t" lIns="0" rIns="0" tIns="0" bIns="0">
            <a:spAutoFit/>
          </a:bodyPr>
          <a:lstStyle/>
          <a:p>
            <a:pPr algn="ctr">
              <a:lnSpc>
                <a:spcPct val="125000"/>
              </a:lnSpc>
              <a:spcAft>
                <a:spcPts val="0"/>
              </a:spcAft>
            </a:pPr>
            <a:r>
              <a:rPr sz="1050" b="1" i="0">
                <a:solidFill>
                  <a:srgbClr val="FFFDF7"/>
                </a:solidFill>
                <a:latin typeface="Calibri"/>
              </a:rPr>
              <a:t>3</a:t>
            </a:r>
          </a:p>
        </p:txBody>
      </p:sp>
      <p:sp>
        <p:nvSpPr>
          <p:cNvPr id="18" name="TextBox 17"/>
          <p:cNvSpPr txBox="1"/>
          <p:nvPr/>
        </p:nvSpPr>
        <p:spPr>
          <a:xfrm>
            <a:off x="1371600" y="3079242"/>
            <a:ext cx="6903720" cy="240030"/>
          </a:xfrm>
          <a:prstGeom prst="rect">
            <a:avLst/>
          </a:prstGeom>
          <a:noFill/>
          <a:effectLst/>
        </p:spPr>
        <p:txBody>
          <a:bodyPr wrap="square" anchor="t" lIns="0" rIns="0" tIns="0" bIns="0">
            <a:spAutoFit/>
          </a:bodyPr>
          <a:lstStyle/>
          <a:p>
            <a:pPr algn="l">
              <a:lnSpc>
                <a:spcPct val="120000"/>
              </a:lnSpc>
              <a:spcAft>
                <a:spcPts val="0"/>
              </a:spcAft>
            </a:pPr>
            <a:r>
              <a:rPr sz="1500" b="1" i="0">
                <a:solidFill>
                  <a:srgbClr val="262422"/>
                </a:solidFill>
                <a:latin typeface="Calibri"/>
              </a:rPr>
              <a:t>Name one other change that could explain some of the fall.</a:t>
            </a:r>
          </a:p>
        </p:txBody>
      </p:sp>
      <p:pic>
        <p:nvPicPr>
          <p:cNvPr id="19" name="Picture 18" descr="logo-mark.png"/>
          <p:cNvPicPr>
            <a:picLocks noChangeAspect="1"/>
          </p:cNvPicPr>
          <p:nvPr/>
        </p:nvPicPr>
        <p:blipFill>
          <a:blip r:embed="rId2"/>
          <a:stretch>
            <a:fillRect/>
          </a:stretch>
        </p:blipFill>
        <p:spPr>
          <a:xfrm>
            <a:off x="384048" y="4727448"/>
            <a:ext cx="158374" cy="182880"/>
          </a:xfrm>
          <a:prstGeom prst="rect">
            <a:avLst/>
          </a:prstGeom>
          <a:effectLst/>
        </p:spPr>
      </p:pic>
      <p:sp>
        <p:nvSpPr>
          <p:cNvPr id="20" name="TextBox 19"/>
          <p:cNvSpPr txBox="1"/>
          <p:nvPr/>
        </p:nvSpPr>
        <p:spPr>
          <a:xfrm>
            <a:off x="603504" y="4709160"/>
            <a:ext cx="2194560" cy="210312"/>
          </a:xfrm>
          <a:prstGeom prst="rect">
            <a:avLst/>
          </a:prstGeom>
          <a:noFill/>
          <a:effectLst/>
        </p:spPr>
        <p:txBody>
          <a:bodyPr wrap="square" anchor="t" lIns="0" rIns="0" tIns="0" bIns="0">
            <a:spAutoFit/>
          </a:bodyPr>
          <a:lstStyle/>
          <a:p>
            <a:pPr algn="l">
              <a:lnSpc>
                <a:spcPct val="125000"/>
              </a:lnSpc>
              <a:spcAft>
                <a:spcPts val="0"/>
              </a:spcAft>
            </a:pPr>
            <a:r>
              <a:rPr sz="850" b="0" i="1">
                <a:solidFill>
                  <a:srgbClr val="8C877D"/>
                </a:solidFill>
                <a:latin typeface="Calibri"/>
              </a:rPr>
              <a:t>The Pastoral Guide</a:t>
            </a:r>
          </a:p>
        </p:txBody>
      </p:sp>
      <p:sp>
        <p:nvSpPr>
          <p:cNvPr id="21" name="TextBox 20"/>
          <p:cNvSpPr txBox="1"/>
          <p:nvPr/>
        </p:nvSpPr>
        <p:spPr>
          <a:xfrm>
            <a:off x="7680960" y="4727448"/>
            <a:ext cx="1078992" cy="219456"/>
          </a:xfrm>
          <a:prstGeom prst="rect">
            <a:avLst/>
          </a:prstGeom>
          <a:noFill/>
          <a:effectLst/>
        </p:spPr>
        <p:txBody>
          <a:bodyPr wrap="square" anchor="t" lIns="0" rIns="0" tIns="0" bIns="0">
            <a:spAutoFit/>
          </a:bodyPr>
          <a:lstStyle/>
          <a:p>
            <a:pPr algn="r">
              <a:lnSpc>
                <a:spcPct val="125000"/>
              </a:lnSpc>
              <a:spcAft>
                <a:spcPts val="0"/>
              </a:spcAft>
            </a:pPr>
            <a:r>
              <a:rPr sz="850" b="0" i="0">
                <a:solidFill>
                  <a:srgbClr val="8C877D"/>
                </a:solidFill>
                <a:latin typeface="Calibri"/>
              </a:rPr>
              <a:t>11 / 19</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4EFE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685800" y="274320"/>
            <a:ext cx="5669280" cy="201168"/>
          </a:xfrm>
          <a:prstGeom prst="rect">
            <a:avLst/>
          </a:prstGeom>
          <a:noFill/>
          <a:effectLst/>
        </p:spPr>
        <p:txBody>
          <a:bodyPr wrap="square" anchor="t" lIns="0" rIns="0" tIns="0" bIns="0">
            <a:spAutoFit/>
          </a:bodyPr>
          <a:lstStyle/>
          <a:p>
            <a:pPr algn="l">
              <a:lnSpc>
                <a:spcPct val="125000"/>
              </a:lnSpc>
              <a:spcAft>
                <a:spcPts val="0"/>
              </a:spcAft>
            </a:pPr>
            <a:r>
              <a:rPr sz="900" b="1" i="0" spc="150">
                <a:solidFill>
                  <a:srgbClr val="34322F"/>
                </a:solidFill>
                <a:latin typeface="Calibri"/>
              </a:rPr>
              <a:t>QUESTION THE HEADLINE  ·  LESSON 4 OF 5</a:t>
            </a:r>
          </a:p>
        </p:txBody>
      </p:sp>
      <p:sp>
        <p:nvSpPr>
          <p:cNvPr id="4" name="Rounded Rectangle 3"/>
          <p:cNvSpPr/>
          <p:nvPr/>
        </p:nvSpPr>
        <p:spPr>
          <a:xfrm>
            <a:off x="7072528" y="246888"/>
            <a:ext cx="1385671" cy="237744"/>
          </a:xfrm>
          <a:prstGeom prst="roundRect">
            <a:avLst>
              <a:gd name="adj" fmla="val 50000"/>
            </a:avLst>
          </a:prstGeom>
          <a:solidFill>
            <a:srgbClr val="34322F"/>
          </a:solidFill>
          <a:ln>
            <a:noFill/>
          </a:ln>
          <a:effectLst/>
        </p:spPr>
        <p:style>
          <a:lnRef idx="1">
            <a:schemeClr val="accent1"/>
          </a:lnRef>
          <a:fillRef idx="3">
            <a:schemeClr val="accent1"/>
          </a:fillRef>
          <a:effectRef idx="0">
            <a:schemeClr val="accent1"/>
          </a:effectRef>
          <a:fontRef idx="minor">
            <a:schemeClr val="lt1"/>
          </a:fontRef>
        </p:style>
        <p:txBody>
          <a:bodyPr rtlCol="0" anchor="ctr" wrap="none" lIns="0" rIns="0" tIns="0" bIns="0"/>
          <a:lstStyle/>
          <a:p>
            <a:pPr algn="ctr"/>
            <a:r>
              <a:rPr sz="950" b="1" spc="90">
                <a:solidFill>
                  <a:srgbClr val="FFFDF7"/>
                </a:solidFill>
                <a:latin typeface="Calibri"/>
              </a:rPr>
              <a:t>THE ANSWERS</a:t>
            </a:r>
          </a:p>
        </p:txBody>
      </p:sp>
      <p:sp>
        <p:nvSpPr>
          <p:cNvPr id="5" name="TextBox 4"/>
          <p:cNvSpPr txBox="1"/>
          <p:nvPr/>
        </p:nvSpPr>
        <p:spPr>
          <a:xfrm>
            <a:off x="685800" y="566928"/>
            <a:ext cx="7772400" cy="434848"/>
          </a:xfrm>
          <a:prstGeom prst="rect">
            <a:avLst/>
          </a:prstGeom>
          <a:noFill/>
          <a:effectLst/>
        </p:spPr>
        <p:txBody>
          <a:bodyPr wrap="square" anchor="t" lIns="0" rIns="0" tIns="0" bIns="0">
            <a:spAutoFit/>
          </a:bodyPr>
          <a:lstStyle/>
          <a:p>
            <a:pPr algn="l">
              <a:lnSpc>
                <a:spcPct val="105000"/>
              </a:lnSpc>
              <a:spcAft>
                <a:spcPts val="0"/>
              </a:spcAft>
            </a:pPr>
            <a:r>
              <a:rPr sz="2800" b="0" i="0">
                <a:solidFill>
                  <a:srgbClr val="262422"/>
                </a:solidFill>
                <a:latin typeface="Georgia"/>
              </a:rPr>
              <a:t>Check your working</a:t>
            </a:r>
          </a:p>
        </p:txBody>
      </p:sp>
      <p:sp>
        <p:nvSpPr>
          <p:cNvPr id="6" name="TextBox 5"/>
          <p:cNvSpPr txBox="1"/>
          <p:nvPr/>
        </p:nvSpPr>
        <p:spPr>
          <a:xfrm>
            <a:off x="685800" y="1133856"/>
            <a:ext cx="7772400" cy="274320"/>
          </a:xfrm>
          <a:prstGeom prst="rect">
            <a:avLst/>
          </a:prstGeom>
          <a:noFill/>
          <a:effectLst/>
        </p:spPr>
        <p:txBody>
          <a:bodyPr wrap="square" anchor="t" lIns="0" rIns="0" tIns="0" bIns="0">
            <a:spAutoFit/>
          </a:bodyPr>
          <a:lstStyle/>
          <a:p>
            <a:pPr algn="l">
              <a:lnSpc>
                <a:spcPct val="125000"/>
              </a:lnSpc>
              <a:spcAft>
                <a:spcPts val="0"/>
              </a:spcAft>
            </a:pPr>
            <a:r>
              <a:rPr sz="1250" b="0" i="0">
                <a:solidFill>
                  <a:srgbClr val="56524B"/>
                </a:solidFill>
                <a:latin typeface="Calibri"/>
              </a:rPr>
              <a:t>Mark your own. A different method that gets the same answer is fine.</a:t>
            </a:r>
          </a:p>
        </p:txBody>
      </p:sp>
      <p:sp>
        <p:nvSpPr>
          <p:cNvPr id="7" name="Rectangle 6"/>
          <p:cNvSpPr/>
          <p:nvPr/>
        </p:nvSpPr>
        <p:spPr>
          <a:xfrm>
            <a:off x="685800" y="1481328"/>
            <a:ext cx="7772400" cy="850392"/>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Oval 7"/>
          <p:cNvSpPr/>
          <p:nvPr/>
        </p:nvSpPr>
        <p:spPr>
          <a:xfrm>
            <a:off x="868680" y="1563624"/>
            <a:ext cx="329184" cy="329184"/>
          </a:xfrm>
          <a:prstGeom prst="ellipse">
            <a:avLst/>
          </a:prstGeom>
          <a:solidFill>
            <a:srgbClr val="34322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868680" y="1636776"/>
            <a:ext cx="329184" cy="182880"/>
          </a:xfrm>
          <a:prstGeom prst="rect">
            <a:avLst/>
          </a:prstGeom>
          <a:noFill/>
          <a:effectLst/>
        </p:spPr>
        <p:txBody>
          <a:bodyPr wrap="square" anchor="t" lIns="0" rIns="0" tIns="0" bIns="0">
            <a:spAutoFit/>
          </a:bodyPr>
          <a:lstStyle/>
          <a:p>
            <a:pPr algn="ctr">
              <a:lnSpc>
                <a:spcPct val="125000"/>
              </a:lnSpc>
              <a:spcAft>
                <a:spcPts val="0"/>
              </a:spcAft>
            </a:pPr>
            <a:r>
              <a:rPr sz="1050" b="1" i="0">
                <a:solidFill>
                  <a:srgbClr val="FFFDF7"/>
                </a:solidFill>
                <a:latin typeface="Calibri"/>
              </a:rPr>
              <a:t>1</a:t>
            </a:r>
          </a:p>
        </p:txBody>
      </p:sp>
      <p:sp>
        <p:nvSpPr>
          <p:cNvPr id="10" name="TextBox 9"/>
          <p:cNvSpPr txBox="1"/>
          <p:nvPr/>
        </p:nvSpPr>
        <p:spPr>
          <a:xfrm>
            <a:off x="1371600" y="1591056"/>
            <a:ext cx="6903720" cy="384048"/>
          </a:xfrm>
          <a:prstGeom prst="rect">
            <a:avLst/>
          </a:prstGeom>
          <a:noFill/>
          <a:effectLst/>
        </p:spPr>
        <p:txBody>
          <a:bodyPr wrap="square" anchor="t" lIns="0" rIns="0" tIns="0" bIns="0">
            <a:spAutoFit/>
          </a:bodyPr>
          <a:lstStyle/>
          <a:p>
            <a:pPr algn="l">
              <a:lnSpc>
                <a:spcPct val="120000"/>
              </a:lnSpc>
              <a:spcAft>
                <a:spcPts val="0"/>
              </a:spcAft>
            </a:pPr>
            <a:r>
              <a:rPr sz="1200" b="1" i="0">
                <a:solidFill>
                  <a:srgbClr val="262422"/>
                </a:solidFill>
                <a:latin typeface="Calibri"/>
              </a:rPr>
              <a:t>By roughly what percentage did the lead in young children’s blood fall from 1976–80 (15.2) to 2017–18 (0.7)?</a:t>
            </a:r>
          </a:p>
        </p:txBody>
      </p:sp>
      <p:sp>
        <p:nvSpPr>
          <p:cNvPr id="11" name="TextBox 10"/>
          <p:cNvSpPr txBox="1"/>
          <p:nvPr/>
        </p:nvSpPr>
        <p:spPr>
          <a:xfrm>
            <a:off x="1371600" y="2029968"/>
            <a:ext cx="6903720" cy="192024"/>
          </a:xfrm>
          <a:prstGeom prst="rect">
            <a:avLst/>
          </a:prstGeom>
          <a:noFill/>
          <a:effectLst/>
        </p:spPr>
        <p:txBody>
          <a:bodyPr wrap="square" anchor="t" lIns="0" rIns="0" tIns="0" bIns="0">
            <a:spAutoFit/>
          </a:bodyPr>
          <a:lstStyle/>
          <a:p>
            <a:pPr algn="l">
              <a:lnSpc>
                <a:spcPct val="120000"/>
              </a:lnSpc>
              <a:spcAft>
                <a:spcPts val="0"/>
              </a:spcAft>
            </a:pPr>
            <a:r>
              <a:rPr sz="1200" b="0" i="0">
                <a:solidFill>
                  <a:srgbClr val="34322F"/>
                </a:solidFill>
                <a:latin typeface="Calibri"/>
              </a:rPr>
              <a:t>About 95 per cent ((15.2 − 0.7) ÷ 15.2 = 0.954).</a:t>
            </a:r>
          </a:p>
        </p:txBody>
      </p:sp>
      <p:sp>
        <p:nvSpPr>
          <p:cNvPr id="12" name="Rectangle 11"/>
          <p:cNvSpPr/>
          <p:nvPr/>
        </p:nvSpPr>
        <p:spPr>
          <a:xfrm>
            <a:off x="685800" y="2423160"/>
            <a:ext cx="7772400" cy="850392"/>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Oval 12"/>
          <p:cNvSpPr/>
          <p:nvPr/>
        </p:nvSpPr>
        <p:spPr>
          <a:xfrm>
            <a:off x="868680" y="2505456"/>
            <a:ext cx="329184" cy="329184"/>
          </a:xfrm>
          <a:prstGeom prst="ellipse">
            <a:avLst/>
          </a:prstGeom>
          <a:solidFill>
            <a:srgbClr val="34322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TextBox 13"/>
          <p:cNvSpPr txBox="1"/>
          <p:nvPr/>
        </p:nvSpPr>
        <p:spPr>
          <a:xfrm>
            <a:off x="868680" y="2578608"/>
            <a:ext cx="329184" cy="182880"/>
          </a:xfrm>
          <a:prstGeom prst="rect">
            <a:avLst/>
          </a:prstGeom>
          <a:noFill/>
          <a:effectLst/>
        </p:spPr>
        <p:txBody>
          <a:bodyPr wrap="square" anchor="t" lIns="0" rIns="0" tIns="0" bIns="0">
            <a:spAutoFit/>
          </a:bodyPr>
          <a:lstStyle/>
          <a:p>
            <a:pPr algn="ctr">
              <a:lnSpc>
                <a:spcPct val="125000"/>
              </a:lnSpc>
              <a:spcAft>
                <a:spcPts val="0"/>
              </a:spcAft>
            </a:pPr>
            <a:r>
              <a:rPr sz="1050" b="1" i="0">
                <a:solidFill>
                  <a:srgbClr val="FFFDF7"/>
                </a:solidFill>
                <a:latin typeface="Calibri"/>
              </a:rPr>
              <a:t>2</a:t>
            </a:r>
          </a:p>
        </p:txBody>
      </p:sp>
      <p:sp>
        <p:nvSpPr>
          <p:cNvPr id="15" name="TextBox 14"/>
          <p:cNvSpPr txBox="1"/>
          <p:nvPr/>
        </p:nvSpPr>
        <p:spPr>
          <a:xfrm>
            <a:off x="1371600" y="2532888"/>
            <a:ext cx="6903720" cy="192024"/>
          </a:xfrm>
          <a:prstGeom prst="rect">
            <a:avLst/>
          </a:prstGeom>
          <a:noFill/>
          <a:effectLst/>
        </p:spPr>
        <p:txBody>
          <a:bodyPr wrap="square" anchor="t" lIns="0" rIns="0" tIns="0" bIns="0">
            <a:spAutoFit/>
          </a:bodyPr>
          <a:lstStyle/>
          <a:p>
            <a:pPr algn="l">
              <a:lnSpc>
                <a:spcPct val="120000"/>
              </a:lnSpc>
              <a:spcAft>
                <a:spcPts val="0"/>
              </a:spcAft>
            </a:pPr>
            <a:r>
              <a:rPr sz="1200" b="1" i="0">
                <a:solidFill>
                  <a:srgbClr val="262422"/>
                </a:solidFill>
                <a:latin typeface="Calibri"/>
              </a:rPr>
              <a:t>Between which two surveys on the graph was the biggest fall?</a:t>
            </a:r>
          </a:p>
        </p:txBody>
      </p:sp>
      <p:sp>
        <p:nvSpPr>
          <p:cNvPr id="16" name="TextBox 15"/>
          <p:cNvSpPr txBox="1"/>
          <p:nvPr/>
        </p:nvSpPr>
        <p:spPr>
          <a:xfrm>
            <a:off x="1371600" y="2779776"/>
            <a:ext cx="6903720" cy="384048"/>
          </a:xfrm>
          <a:prstGeom prst="rect">
            <a:avLst/>
          </a:prstGeom>
          <a:noFill/>
          <a:effectLst/>
        </p:spPr>
        <p:txBody>
          <a:bodyPr wrap="square" anchor="t" lIns="0" rIns="0" tIns="0" bIns="0">
            <a:spAutoFit/>
          </a:bodyPr>
          <a:lstStyle/>
          <a:p>
            <a:pPr algn="l">
              <a:lnSpc>
                <a:spcPct val="120000"/>
              </a:lnSpc>
              <a:spcAft>
                <a:spcPts val="0"/>
              </a:spcAft>
            </a:pPr>
            <a:r>
              <a:rPr sz="1200" b="0" i="0">
                <a:solidFill>
                  <a:srgbClr val="34322F"/>
                </a:solidFill>
                <a:latin typeface="Calibri"/>
              </a:rPr>
              <a:t>Between 1976–80 and 1999–2000, from 15.2 to 2.2, which is when lead came out of petrol.</a:t>
            </a:r>
          </a:p>
        </p:txBody>
      </p:sp>
      <p:sp>
        <p:nvSpPr>
          <p:cNvPr id="17" name="Rectangle 16"/>
          <p:cNvSpPr/>
          <p:nvPr/>
        </p:nvSpPr>
        <p:spPr>
          <a:xfrm>
            <a:off x="685800" y="3364992"/>
            <a:ext cx="7772400" cy="658368"/>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Oval 17"/>
          <p:cNvSpPr/>
          <p:nvPr/>
        </p:nvSpPr>
        <p:spPr>
          <a:xfrm>
            <a:off x="868680" y="3447288"/>
            <a:ext cx="329184" cy="329184"/>
          </a:xfrm>
          <a:prstGeom prst="ellipse">
            <a:avLst/>
          </a:prstGeom>
          <a:solidFill>
            <a:srgbClr val="34322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 name="TextBox 18"/>
          <p:cNvSpPr txBox="1"/>
          <p:nvPr/>
        </p:nvSpPr>
        <p:spPr>
          <a:xfrm>
            <a:off x="868680" y="3520440"/>
            <a:ext cx="329184" cy="182880"/>
          </a:xfrm>
          <a:prstGeom prst="rect">
            <a:avLst/>
          </a:prstGeom>
          <a:noFill/>
          <a:effectLst/>
        </p:spPr>
        <p:txBody>
          <a:bodyPr wrap="square" anchor="t" lIns="0" rIns="0" tIns="0" bIns="0">
            <a:spAutoFit/>
          </a:bodyPr>
          <a:lstStyle/>
          <a:p>
            <a:pPr algn="ctr">
              <a:lnSpc>
                <a:spcPct val="125000"/>
              </a:lnSpc>
              <a:spcAft>
                <a:spcPts val="0"/>
              </a:spcAft>
            </a:pPr>
            <a:r>
              <a:rPr sz="1050" b="1" i="0">
                <a:solidFill>
                  <a:srgbClr val="FFFDF7"/>
                </a:solidFill>
                <a:latin typeface="Calibri"/>
              </a:rPr>
              <a:t>3</a:t>
            </a:r>
          </a:p>
        </p:txBody>
      </p:sp>
      <p:sp>
        <p:nvSpPr>
          <p:cNvPr id="20" name="TextBox 19"/>
          <p:cNvSpPr txBox="1"/>
          <p:nvPr/>
        </p:nvSpPr>
        <p:spPr>
          <a:xfrm>
            <a:off x="1371600" y="3474720"/>
            <a:ext cx="6903720" cy="192024"/>
          </a:xfrm>
          <a:prstGeom prst="rect">
            <a:avLst/>
          </a:prstGeom>
          <a:noFill/>
          <a:effectLst/>
        </p:spPr>
        <p:txBody>
          <a:bodyPr wrap="square" anchor="t" lIns="0" rIns="0" tIns="0" bIns="0">
            <a:spAutoFit/>
          </a:bodyPr>
          <a:lstStyle/>
          <a:p>
            <a:pPr algn="l">
              <a:lnSpc>
                <a:spcPct val="120000"/>
              </a:lnSpc>
              <a:spcAft>
                <a:spcPts val="0"/>
              </a:spcAft>
            </a:pPr>
            <a:r>
              <a:rPr sz="1200" b="1" i="0">
                <a:solidFill>
                  <a:srgbClr val="262422"/>
                </a:solidFill>
                <a:latin typeface="Calibri"/>
              </a:rPr>
              <a:t>Name one other change that could explain some of the fall.</a:t>
            </a:r>
          </a:p>
        </p:txBody>
      </p:sp>
      <p:sp>
        <p:nvSpPr>
          <p:cNvPr id="21" name="TextBox 20"/>
          <p:cNvSpPr txBox="1"/>
          <p:nvPr/>
        </p:nvSpPr>
        <p:spPr>
          <a:xfrm>
            <a:off x="1371600" y="3721608"/>
            <a:ext cx="6903720" cy="192024"/>
          </a:xfrm>
          <a:prstGeom prst="rect">
            <a:avLst/>
          </a:prstGeom>
          <a:noFill/>
          <a:effectLst/>
        </p:spPr>
        <p:txBody>
          <a:bodyPr wrap="square" anchor="t" lIns="0" rIns="0" tIns="0" bIns="0">
            <a:spAutoFit/>
          </a:bodyPr>
          <a:lstStyle/>
          <a:p>
            <a:pPr algn="l">
              <a:lnSpc>
                <a:spcPct val="120000"/>
              </a:lnSpc>
              <a:spcAft>
                <a:spcPts val="0"/>
              </a:spcAft>
            </a:pPr>
            <a:r>
              <a:rPr sz="1200" b="0" i="0">
                <a:solidFill>
                  <a:srgbClr val="34322F"/>
                </a:solidFill>
                <a:latin typeface="Calibri"/>
              </a:rPr>
              <a:t>Lead paint and lead solder were banned in the same years.</a:t>
            </a:r>
          </a:p>
        </p:txBody>
      </p:sp>
      <p:pic>
        <p:nvPicPr>
          <p:cNvPr id="22" name="Picture 21" descr="logo-mark.png"/>
          <p:cNvPicPr>
            <a:picLocks noChangeAspect="1"/>
          </p:cNvPicPr>
          <p:nvPr/>
        </p:nvPicPr>
        <p:blipFill>
          <a:blip r:embed="rId2"/>
          <a:stretch>
            <a:fillRect/>
          </a:stretch>
        </p:blipFill>
        <p:spPr>
          <a:xfrm>
            <a:off x="384048" y="4727448"/>
            <a:ext cx="158374" cy="182880"/>
          </a:xfrm>
          <a:prstGeom prst="rect">
            <a:avLst/>
          </a:prstGeom>
          <a:effectLst/>
        </p:spPr>
      </p:pic>
      <p:sp>
        <p:nvSpPr>
          <p:cNvPr id="23" name="TextBox 22"/>
          <p:cNvSpPr txBox="1"/>
          <p:nvPr/>
        </p:nvSpPr>
        <p:spPr>
          <a:xfrm>
            <a:off x="603504" y="4709160"/>
            <a:ext cx="2194560" cy="210312"/>
          </a:xfrm>
          <a:prstGeom prst="rect">
            <a:avLst/>
          </a:prstGeom>
          <a:noFill/>
          <a:effectLst/>
        </p:spPr>
        <p:txBody>
          <a:bodyPr wrap="square" anchor="t" lIns="0" rIns="0" tIns="0" bIns="0">
            <a:spAutoFit/>
          </a:bodyPr>
          <a:lstStyle/>
          <a:p>
            <a:pPr algn="l">
              <a:lnSpc>
                <a:spcPct val="125000"/>
              </a:lnSpc>
              <a:spcAft>
                <a:spcPts val="0"/>
              </a:spcAft>
            </a:pPr>
            <a:r>
              <a:rPr sz="850" b="0" i="1">
                <a:solidFill>
                  <a:srgbClr val="8C877D"/>
                </a:solidFill>
                <a:latin typeface="Calibri"/>
              </a:rPr>
              <a:t>The Pastoral Guide</a:t>
            </a:r>
          </a:p>
        </p:txBody>
      </p:sp>
      <p:sp>
        <p:nvSpPr>
          <p:cNvPr id="24" name="TextBox 23"/>
          <p:cNvSpPr txBox="1"/>
          <p:nvPr/>
        </p:nvSpPr>
        <p:spPr>
          <a:xfrm>
            <a:off x="7680960" y="4727448"/>
            <a:ext cx="1078992" cy="219456"/>
          </a:xfrm>
          <a:prstGeom prst="rect">
            <a:avLst/>
          </a:prstGeom>
          <a:noFill/>
          <a:effectLst/>
        </p:spPr>
        <p:txBody>
          <a:bodyPr wrap="square" anchor="t" lIns="0" rIns="0" tIns="0" bIns="0">
            <a:spAutoFit/>
          </a:bodyPr>
          <a:lstStyle/>
          <a:p>
            <a:pPr algn="r">
              <a:lnSpc>
                <a:spcPct val="125000"/>
              </a:lnSpc>
              <a:spcAft>
                <a:spcPts val="0"/>
              </a:spcAft>
            </a:pPr>
            <a:r>
              <a:rPr sz="850" b="0" i="0">
                <a:solidFill>
                  <a:srgbClr val="8C877D"/>
                </a:solidFill>
                <a:latin typeface="Calibri"/>
              </a:rPr>
              <a:t>12 / 19</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4EFE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685800" y="274320"/>
            <a:ext cx="5669280" cy="201168"/>
          </a:xfrm>
          <a:prstGeom prst="rect">
            <a:avLst/>
          </a:prstGeom>
          <a:noFill/>
          <a:effectLst/>
        </p:spPr>
        <p:txBody>
          <a:bodyPr wrap="square" anchor="t" lIns="0" rIns="0" tIns="0" bIns="0">
            <a:spAutoFit/>
          </a:bodyPr>
          <a:lstStyle/>
          <a:p>
            <a:pPr algn="l">
              <a:lnSpc>
                <a:spcPct val="125000"/>
              </a:lnSpc>
              <a:spcAft>
                <a:spcPts val="0"/>
              </a:spcAft>
            </a:pPr>
            <a:r>
              <a:rPr sz="900" b="1" i="0" spc="150">
                <a:solidFill>
                  <a:srgbClr val="34322F"/>
                </a:solidFill>
                <a:latin typeface="Calibri"/>
              </a:rPr>
              <a:t>QUESTION THE HEADLINE  ·  LESSON 4 OF 5</a:t>
            </a:r>
          </a:p>
        </p:txBody>
      </p:sp>
      <p:sp>
        <p:nvSpPr>
          <p:cNvPr id="4" name="Rounded Rectangle 3"/>
          <p:cNvSpPr/>
          <p:nvPr/>
        </p:nvSpPr>
        <p:spPr>
          <a:xfrm>
            <a:off x="7075113" y="246888"/>
            <a:ext cx="1383086" cy="237744"/>
          </a:xfrm>
          <a:prstGeom prst="roundRect">
            <a:avLst>
              <a:gd name="adj" fmla="val 50000"/>
            </a:avLst>
          </a:prstGeom>
          <a:solidFill>
            <a:srgbClr val="34322F"/>
          </a:solidFill>
          <a:ln>
            <a:noFill/>
          </a:ln>
          <a:effectLst/>
        </p:spPr>
        <p:style>
          <a:lnRef idx="1">
            <a:schemeClr val="accent1"/>
          </a:lnRef>
          <a:fillRef idx="3">
            <a:schemeClr val="accent1"/>
          </a:fillRef>
          <a:effectRef idx="0">
            <a:schemeClr val="accent1"/>
          </a:effectRef>
          <a:fontRef idx="minor">
            <a:schemeClr val="lt1"/>
          </a:fontRef>
        </p:style>
        <p:txBody>
          <a:bodyPr rtlCol="0" anchor="ctr" wrap="none" lIns="0" rIns="0" tIns="0" bIns="0"/>
          <a:lstStyle/>
          <a:p>
            <a:pPr algn="ctr"/>
            <a:r>
              <a:rPr sz="950" b="1" spc="90">
                <a:solidFill>
                  <a:srgbClr val="FFFDF7"/>
                </a:solidFill>
                <a:latin typeface="Calibri"/>
              </a:rPr>
              <a:t>ROUND 4 OF 4</a:t>
            </a:r>
          </a:p>
        </p:txBody>
      </p:sp>
      <p:sp>
        <p:nvSpPr>
          <p:cNvPr id="5" name="Rectangle 4"/>
          <p:cNvSpPr/>
          <p:nvPr/>
        </p:nvSpPr>
        <p:spPr>
          <a:xfrm>
            <a:off x="685800" y="603504"/>
            <a:ext cx="1554480" cy="329184"/>
          </a:xfrm>
          <a:prstGeom prst="rect">
            <a:avLst/>
          </a:prstGeom>
          <a:solidFill>
            <a:srgbClr val="34322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TextBox 5"/>
          <p:cNvSpPr txBox="1"/>
          <p:nvPr/>
        </p:nvSpPr>
        <p:spPr>
          <a:xfrm>
            <a:off x="685800" y="658368"/>
            <a:ext cx="1554480" cy="237744"/>
          </a:xfrm>
          <a:prstGeom prst="rect">
            <a:avLst/>
          </a:prstGeom>
          <a:noFill/>
          <a:effectLst/>
        </p:spPr>
        <p:txBody>
          <a:bodyPr wrap="square" anchor="t" lIns="0" rIns="0" tIns="0" bIns="0">
            <a:spAutoFit/>
          </a:bodyPr>
          <a:lstStyle/>
          <a:p>
            <a:pPr algn="ctr">
              <a:lnSpc>
                <a:spcPct val="125000"/>
              </a:lnSpc>
              <a:spcAft>
                <a:spcPts val="0"/>
              </a:spcAft>
            </a:pPr>
            <a:r>
              <a:rPr sz="1100" b="1" i="0" spc="160">
                <a:solidFill>
                  <a:srgbClr val="FFFDF7"/>
                </a:solidFill>
                <a:latin typeface="Calibri"/>
              </a:rPr>
              <a:t>EVIDENCE D</a:t>
            </a:r>
          </a:p>
        </p:txBody>
      </p:sp>
      <p:sp>
        <p:nvSpPr>
          <p:cNvPr id="7" name="Rectangle 6"/>
          <p:cNvSpPr/>
          <p:nvPr/>
        </p:nvSpPr>
        <p:spPr>
          <a:xfrm>
            <a:off x="685800" y="932688"/>
            <a:ext cx="7772400" cy="3072384"/>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Rectangle 7"/>
          <p:cNvSpPr/>
          <p:nvPr/>
        </p:nvSpPr>
        <p:spPr>
          <a:xfrm>
            <a:off x="685800" y="932688"/>
            <a:ext cx="7772400" cy="45720"/>
          </a:xfrm>
          <a:prstGeom prst="rect">
            <a:avLst/>
          </a:prstGeom>
          <a:solidFill>
            <a:srgbClr val="34322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1005840" y="1115568"/>
            <a:ext cx="7132320" cy="365760"/>
          </a:xfrm>
          <a:prstGeom prst="rect">
            <a:avLst/>
          </a:prstGeom>
          <a:noFill/>
          <a:effectLst/>
        </p:spPr>
        <p:txBody>
          <a:bodyPr wrap="square" anchor="t" lIns="0" rIns="0" tIns="0" bIns="0">
            <a:spAutoFit/>
          </a:bodyPr>
          <a:lstStyle/>
          <a:p>
            <a:pPr algn="l">
              <a:lnSpc>
                <a:spcPct val="125000"/>
              </a:lnSpc>
              <a:spcAft>
                <a:spcPts val="0"/>
              </a:spcAft>
            </a:pPr>
            <a:r>
              <a:rPr sz="2200" b="0" i="0">
                <a:solidFill>
                  <a:srgbClr val="262422"/>
                </a:solidFill>
                <a:latin typeface="Georgia"/>
              </a:rPr>
              <a:t>The scientist</a:t>
            </a:r>
          </a:p>
        </p:txBody>
      </p:sp>
      <p:sp>
        <p:nvSpPr>
          <p:cNvPr id="10" name="TextBox 9"/>
          <p:cNvSpPr txBox="1"/>
          <p:nvPr/>
        </p:nvSpPr>
        <p:spPr>
          <a:xfrm>
            <a:off x="1005840" y="1609344"/>
            <a:ext cx="7132320" cy="1320800"/>
          </a:xfrm>
          <a:prstGeom prst="rect">
            <a:avLst/>
          </a:prstGeom>
          <a:noFill/>
          <a:effectLst/>
        </p:spPr>
        <p:txBody>
          <a:bodyPr wrap="square" anchor="t" lIns="0" rIns="0" tIns="0" bIns="0">
            <a:spAutoFit/>
          </a:bodyPr>
          <a:lstStyle/>
          <a:p>
            <a:pPr algn="l">
              <a:lnSpc>
                <a:spcPct val="130000"/>
              </a:lnSpc>
              <a:spcAft>
                <a:spcPts val="0"/>
              </a:spcAft>
            </a:pPr>
            <a:r>
              <a:rPr sz="1600" b="0" i="0">
                <a:solidFill>
                  <a:srgbClr val="262422"/>
                </a:solidFill>
                <a:latin typeface="Georgia"/>
              </a:rPr>
              <a:t>Clair Patterson set out to measure the age of the Earth and kept finding lead everywhere. He showed that ice laid down before leaded petrol held very little lead, and his team found that modern bones held hundreds of times more lead than bones from centuries ago. He argued that “normal” was not the same as “natural”.</a:t>
            </a:r>
          </a:p>
        </p:txBody>
      </p:sp>
      <p:sp>
        <p:nvSpPr>
          <p:cNvPr id="11" name="TextBox 10"/>
          <p:cNvSpPr txBox="1"/>
          <p:nvPr/>
        </p:nvSpPr>
        <p:spPr>
          <a:xfrm>
            <a:off x="1005840" y="3675887"/>
            <a:ext cx="7132320" cy="219456"/>
          </a:xfrm>
          <a:prstGeom prst="rect">
            <a:avLst/>
          </a:prstGeom>
          <a:noFill/>
          <a:effectLst/>
        </p:spPr>
        <p:txBody>
          <a:bodyPr wrap="square" anchor="t" lIns="0" rIns="0" tIns="0" bIns="0">
            <a:spAutoFit/>
          </a:bodyPr>
          <a:lstStyle/>
          <a:p>
            <a:pPr algn="l">
              <a:lnSpc>
                <a:spcPct val="125000"/>
              </a:lnSpc>
              <a:spcAft>
                <a:spcPts val="0"/>
              </a:spcAft>
            </a:pPr>
            <a:r>
              <a:rPr sz="950" b="0" i="1">
                <a:solidFill>
                  <a:srgbClr val="8C877D"/>
                </a:solidFill>
                <a:latin typeface="Calibri"/>
              </a:rPr>
              <a:t>Source: Wikipedia, Clair Cameron Patterson</a:t>
            </a:r>
          </a:p>
        </p:txBody>
      </p:sp>
      <p:sp>
        <p:nvSpPr>
          <p:cNvPr id="12" name="TextBox 11"/>
          <p:cNvSpPr txBox="1"/>
          <p:nvPr/>
        </p:nvSpPr>
        <p:spPr>
          <a:xfrm>
            <a:off x="868680" y="4133087"/>
            <a:ext cx="7406640" cy="400050"/>
          </a:xfrm>
          <a:prstGeom prst="rect">
            <a:avLst/>
          </a:prstGeom>
          <a:noFill/>
          <a:effectLst/>
        </p:spPr>
        <p:txBody>
          <a:bodyPr wrap="square" anchor="t" lIns="0" rIns="0" tIns="0" bIns="0">
            <a:spAutoFit/>
          </a:bodyPr>
          <a:lstStyle/>
          <a:p>
            <a:pPr algn="ctr">
              <a:lnSpc>
                <a:spcPct val="120000"/>
              </a:lnSpc>
              <a:spcAft>
                <a:spcPts val="0"/>
              </a:spcAft>
            </a:pPr>
            <a:r>
              <a:rPr sz="1250" b="1" i="0">
                <a:solidFill>
                  <a:srgbClr val="34322F"/>
                </a:solidFill>
                <a:latin typeface="Calibri"/>
              </a:rPr>
              <a:t>Read it as a group. Fill in the card D row on your evidence sheet, then move on the line.</a:t>
            </a:r>
          </a:p>
        </p:txBody>
      </p:sp>
      <p:pic>
        <p:nvPicPr>
          <p:cNvPr id="13" name="Picture 12" descr="logo-mark.png"/>
          <p:cNvPicPr>
            <a:picLocks noChangeAspect="1"/>
          </p:cNvPicPr>
          <p:nvPr/>
        </p:nvPicPr>
        <p:blipFill>
          <a:blip r:embed="rId2"/>
          <a:stretch>
            <a:fillRect/>
          </a:stretch>
        </p:blipFill>
        <p:spPr>
          <a:xfrm>
            <a:off x="384048" y="4727448"/>
            <a:ext cx="158374" cy="182880"/>
          </a:xfrm>
          <a:prstGeom prst="rect">
            <a:avLst/>
          </a:prstGeom>
          <a:effectLst/>
        </p:spPr>
      </p:pic>
      <p:sp>
        <p:nvSpPr>
          <p:cNvPr id="14" name="TextBox 13"/>
          <p:cNvSpPr txBox="1"/>
          <p:nvPr/>
        </p:nvSpPr>
        <p:spPr>
          <a:xfrm>
            <a:off x="603504" y="4709160"/>
            <a:ext cx="2194560" cy="210312"/>
          </a:xfrm>
          <a:prstGeom prst="rect">
            <a:avLst/>
          </a:prstGeom>
          <a:noFill/>
          <a:effectLst/>
        </p:spPr>
        <p:txBody>
          <a:bodyPr wrap="square" anchor="t" lIns="0" rIns="0" tIns="0" bIns="0">
            <a:spAutoFit/>
          </a:bodyPr>
          <a:lstStyle/>
          <a:p>
            <a:pPr algn="l">
              <a:lnSpc>
                <a:spcPct val="125000"/>
              </a:lnSpc>
              <a:spcAft>
                <a:spcPts val="0"/>
              </a:spcAft>
            </a:pPr>
            <a:r>
              <a:rPr sz="850" b="0" i="1">
                <a:solidFill>
                  <a:srgbClr val="8C877D"/>
                </a:solidFill>
                <a:latin typeface="Calibri"/>
              </a:rPr>
              <a:t>The Pastoral Guide</a:t>
            </a:r>
          </a:p>
        </p:txBody>
      </p:sp>
      <p:sp>
        <p:nvSpPr>
          <p:cNvPr id="15" name="TextBox 14"/>
          <p:cNvSpPr txBox="1"/>
          <p:nvPr/>
        </p:nvSpPr>
        <p:spPr>
          <a:xfrm>
            <a:off x="7680960" y="4727448"/>
            <a:ext cx="1078992" cy="219456"/>
          </a:xfrm>
          <a:prstGeom prst="rect">
            <a:avLst/>
          </a:prstGeom>
          <a:noFill/>
          <a:effectLst/>
        </p:spPr>
        <p:txBody>
          <a:bodyPr wrap="square" anchor="t" lIns="0" rIns="0" tIns="0" bIns="0">
            <a:spAutoFit/>
          </a:bodyPr>
          <a:lstStyle/>
          <a:p>
            <a:pPr algn="r">
              <a:lnSpc>
                <a:spcPct val="125000"/>
              </a:lnSpc>
              <a:spcAft>
                <a:spcPts val="0"/>
              </a:spcAft>
            </a:pPr>
            <a:r>
              <a:rPr sz="850" b="0" i="0">
                <a:solidFill>
                  <a:srgbClr val="8C877D"/>
                </a:solidFill>
                <a:latin typeface="Calibri"/>
              </a:rPr>
              <a:t>13 / 19</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4EFE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685800" y="274320"/>
            <a:ext cx="5669280" cy="201168"/>
          </a:xfrm>
          <a:prstGeom prst="rect">
            <a:avLst/>
          </a:prstGeom>
          <a:noFill/>
          <a:effectLst/>
        </p:spPr>
        <p:txBody>
          <a:bodyPr wrap="square" anchor="t" lIns="0" rIns="0" tIns="0" bIns="0">
            <a:spAutoFit/>
          </a:bodyPr>
          <a:lstStyle/>
          <a:p>
            <a:pPr algn="l">
              <a:lnSpc>
                <a:spcPct val="125000"/>
              </a:lnSpc>
              <a:spcAft>
                <a:spcPts val="0"/>
              </a:spcAft>
            </a:pPr>
            <a:r>
              <a:rPr sz="900" b="1" i="0" spc="150">
                <a:solidFill>
                  <a:srgbClr val="34322F"/>
                </a:solidFill>
                <a:latin typeface="Calibri"/>
              </a:rPr>
              <a:t>QUESTION THE HEADLINE  ·  LESSON 4 OF 5</a:t>
            </a:r>
          </a:p>
        </p:txBody>
      </p:sp>
      <p:sp>
        <p:nvSpPr>
          <p:cNvPr id="5" name="TextBox 4"/>
          <p:cNvSpPr txBox="1"/>
          <p:nvPr/>
        </p:nvSpPr>
        <p:spPr>
          <a:xfrm>
            <a:off x="685800" y="566928"/>
            <a:ext cx="7772400" cy="434848"/>
          </a:xfrm>
          <a:prstGeom prst="rect">
            <a:avLst/>
          </a:prstGeom>
          <a:noFill/>
          <a:effectLst/>
        </p:spPr>
        <p:txBody>
          <a:bodyPr wrap="square" anchor="t" lIns="0" rIns="0" tIns="0" bIns="0">
            <a:spAutoFit/>
          </a:bodyPr>
          <a:lstStyle/>
          <a:p>
            <a:pPr algn="l">
              <a:lnSpc>
                <a:spcPct val="105000"/>
              </a:lnSpc>
              <a:spcAft>
                <a:spcPts val="0"/>
              </a:spcAft>
            </a:pPr>
            <a:r>
              <a:rPr sz="2800" b="0" i="0">
                <a:solidFill>
                  <a:srgbClr val="262422"/>
                </a:solidFill>
                <a:latin typeface="Georgia"/>
              </a:rPr>
              <a:t>Write the real front page</a:t>
            </a:r>
          </a:p>
        </p:txBody>
      </p:sp>
      <p:sp>
        <p:nvSpPr>
          <p:cNvPr id="6" name="TextBox 5"/>
          <p:cNvSpPr txBox="1"/>
          <p:nvPr/>
        </p:nvSpPr>
        <p:spPr>
          <a:xfrm>
            <a:off x="685800" y="1115568"/>
            <a:ext cx="7772400" cy="274320"/>
          </a:xfrm>
          <a:prstGeom prst="rect">
            <a:avLst/>
          </a:prstGeom>
          <a:noFill/>
          <a:effectLst/>
        </p:spPr>
        <p:txBody>
          <a:bodyPr wrap="square" anchor="t" lIns="0" rIns="0" tIns="0" bIns="0">
            <a:spAutoFit/>
          </a:bodyPr>
          <a:lstStyle/>
          <a:p>
            <a:pPr algn="l">
              <a:lnSpc>
                <a:spcPct val="125000"/>
              </a:lnSpc>
              <a:spcAft>
                <a:spcPts val="0"/>
              </a:spcAft>
            </a:pPr>
            <a:r>
              <a:rPr sz="1300" b="0" i="0">
                <a:solidFill>
                  <a:srgbClr val="56524B"/>
                </a:solidFill>
                <a:latin typeface="Calibri"/>
              </a:rPr>
              <a:t>On your front page sheet, on your own or with one partner.</a:t>
            </a:r>
          </a:p>
        </p:txBody>
      </p:sp>
      <p:sp>
        <p:nvSpPr>
          <p:cNvPr id="7" name="Rectangle 6"/>
          <p:cNvSpPr/>
          <p:nvPr/>
        </p:nvSpPr>
        <p:spPr>
          <a:xfrm>
            <a:off x="685800" y="1499616"/>
            <a:ext cx="7772400" cy="676656"/>
          </a:xfrm>
          <a:prstGeom prst="rect">
            <a:avLst/>
          </a:prstGeom>
          <a:solidFill>
            <a:srgbClr val="FFFDF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Oval 7"/>
          <p:cNvSpPr/>
          <p:nvPr/>
        </p:nvSpPr>
        <p:spPr>
          <a:xfrm>
            <a:off x="868680" y="1636775"/>
            <a:ext cx="402336" cy="402336"/>
          </a:xfrm>
          <a:prstGeom prst="ellipse">
            <a:avLst/>
          </a:prstGeom>
          <a:solidFill>
            <a:srgbClr val="34322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868680" y="1732787"/>
            <a:ext cx="402336" cy="219456"/>
          </a:xfrm>
          <a:prstGeom prst="rect">
            <a:avLst/>
          </a:prstGeom>
          <a:noFill/>
          <a:effectLst/>
        </p:spPr>
        <p:txBody>
          <a:bodyPr wrap="square" anchor="t" lIns="0" rIns="0" tIns="0" bIns="0">
            <a:spAutoFit/>
          </a:bodyPr>
          <a:lstStyle/>
          <a:p>
            <a:pPr algn="ctr">
              <a:lnSpc>
                <a:spcPct val="125000"/>
              </a:lnSpc>
              <a:spcAft>
                <a:spcPts val="0"/>
              </a:spcAft>
            </a:pPr>
            <a:r>
              <a:rPr sz="1150" b="1" i="0">
                <a:solidFill>
                  <a:srgbClr val="FFFDF7"/>
                </a:solidFill>
                <a:latin typeface="Calibri"/>
              </a:rPr>
              <a:t>1</a:t>
            </a:r>
          </a:p>
        </p:txBody>
      </p:sp>
      <p:sp>
        <p:nvSpPr>
          <p:cNvPr id="10" name="TextBox 9"/>
          <p:cNvSpPr txBox="1"/>
          <p:nvPr/>
        </p:nvSpPr>
        <p:spPr>
          <a:xfrm>
            <a:off x="1417320" y="1600200"/>
            <a:ext cx="6821424" cy="237744"/>
          </a:xfrm>
          <a:prstGeom prst="rect">
            <a:avLst/>
          </a:prstGeom>
          <a:noFill/>
          <a:effectLst/>
        </p:spPr>
        <p:txBody>
          <a:bodyPr wrap="square" anchor="t" lIns="0" rIns="0" tIns="0" bIns="0">
            <a:spAutoFit/>
          </a:bodyPr>
          <a:lstStyle/>
          <a:p>
            <a:pPr algn="l">
              <a:lnSpc>
                <a:spcPct val="125000"/>
              </a:lnSpc>
              <a:spcAft>
                <a:spcPts val="0"/>
              </a:spcAft>
            </a:pPr>
            <a:r>
              <a:rPr sz="1300" b="0" i="0">
                <a:solidFill>
                  <a:srgbClr val="34322F"/>
                </a:solidFill>
                <a:latin typeface="Georgia"/>
              </a:rPr>
              <a:t>A headline that is true to the evidence</a:t>
            </a:r>
          </a:p>
        </p:txBody>
      </p:sp>
      <p:sp>
        <p:nvSpPr>
          <p:cNvPr id="11" name="TextBox 10"/>
          <p:cNvSpPr txBox="1"/>
          <p:nvPr/>
        </p:nvSpPr>
        <p:spPr>
          <a:xfrm>
            <a:off x="1417320" y="1847088"/>
            <a:ext cx="6821424" cy="256031"/>
          </a:xfrm>
          <a:prstGeom prst="rect">
            <a:avLst/>
          </a:prstGeom>
          <a:noFill/>
          <a:effectLst/>
        </p:spPr>
        <p:txBody>
          <a:bodyPr wrap="square" anchor="t" lIns="0" rIns="0" tIns="0" bIns="0">
            <a:spAutoFit/>
          </a:bodyPr>
          <a:lstStyle/>
          <a:p>
            <a:pPr algn="l">
              <a:lnSpc>
                <a:spcPct val="125000"/>
              </a:lnSpc>
              <a:spcAft>
                <a:spcPts val="0"/>
              </a:spcAft>
            </a:pPr>
            <a:r>
              <a:rPr sz="1100" b="0" i="0">
                <a:solidFill>
                  <a:srgbClr val="56524B"/>
                </a:solidFill>
                <a:latin typeface="Calibri"/>
              </a:rPr>
              <a:t>No bigger than the evidence. If you are not sure, the headline can say so.</a:t>
            </a:r>
          </a:p>
        </p:txBody>
      </p:sp>
      <p:sp>
        <p:nvSpPr>
          <p:cNvPr id="12" name="Rectangle 11"/>
          <p:cNvSpPr/>
          <p:nvPr/>
        </p:nvSpPr>
        <p:spPr>
          <a:xfrm>
            <a:off x="685800" y="2304288"/>
            <a:ext cx="7772400" cy="676656"/>
          </a:xfrm>
          <a:prstGeom prst="rect">
            <a:avLst/>
          </a:prstGeom>
          <a:solidFill>
            <a:srgbClr val="FFFDF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Oval 12"/>
          <p:cNvSpPr/>
          <p:nvPr/>
        </p:nvSpPr>
        <p:spPr>
          <a:xfrm>
            <a:off x="868680" y="2441448"/>
            <a:ext cx="402336" cy="402336"/>
          </a:xfrm>
          <a:prstGeom prst="ellipse">
            <a:avLst/>
          </a:prstGeom>
          <a:solidFill>
            <a:srgbClr val="34322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TextBox 13"/>
          <p:cNvSpPr txBox="1"/>
          <p:nvPr/>
        </p:nvSpPr>
        <p:spPr>
          <a:xfrm>
            <a:off x="868680" y="2537460"/>
            <a:ext cx="402336" cy="219456"/>
          </a:xfrm>
          <a:prstGeom prst="rect">
            <a:avLst/>
          </a:prstGeom>
          <a:noFill/>
          <a:effectLst/>
        </p:spPr>
        <p:txBody>
          <a:bodyPr wrap="square" anchor="t" lIns="0" rIns="0" tIns="0" bIns="0">
            <a:spAutoFit/>
          </a:bodyPr>
          <a:lstStyle/>
          <a:p>
            <a:pPr algn="ctr">
              <a:lnSpc>
                <a:spcPct val="125000"/>
              </a:lnSpc>
              <a:spcAft>
                <a:spcPts val="0"/>
              </a:spcAft>
            </a:pPr>
            <a:r>
              <a:rPr sz="1150" b="1" i="0">
                <a:solidFill>
                  <a:srgbClr val="FFFDF7"/>
                </a:solidFill>
                <a:latin typeface="Calibri"/>
              </a:rPr>
              <a:t>2</a:t>
            </a:r>
          </a:p>
        </p:txBody>
      </p:sp>
      <p:sp>
        <p:nvSpPr>
          <p:cNvPr id="15" name="TextBox 14"/>
          <p:cNvSpPr txBox="1"/>
          <p:nvPr/>
        </p:nvSpPr>
        <p:spPr>
          <a:xfrm>
            <a:off x="1417320" y="2404872"/>
            <a:ext cx="6821424" cy="237744"/>
          </a:xfrm>
          <a:prstGeom prst="rect">
            <a:avLst/>
          </a:prstGeom>
          <a:noFill/>
          <a:effectLst/>
        </p:spPr>
        <p:txBody>
          <a:bodyPr wrap="square" anchor="t" lIns="0" rIns="0" tIns="0" bIns="0">
            <a:spAutoFit/>
          </a:bodyPr>
          <a:lstStyle/>
          <a:p>
            <a:pPr algn="l">
              <a:lnSpc>
                <a:spcPct val="125000"/>
              </a:lnSpc>
              <a:spcAft>
                <a:spcPts val="0"/>
              </a:spcAft>
            </a:pPr>
            <a:r>
              <a:rPr sz="1300" b="0" i="0">
                <a:solidFill>
                  <a:srgbClr val="34322F"/>
                </a:solidFill>
                <a:latin typeface="Georgia"/>
              </a:rPr>
              <a:t>One line under it that sums up the story</a:t>
            </a:r>
          </a:p>
        </p:txBody>
      </p:sp>
      <p:sp>
        <p:nvSpPr>
          <p:cNvPr id="16" name="TextBox 15"/>
          <p:cNvSpPr txBox="1"/>
          <p:nvPr/>
        </p:nvSpPr>
        <p:spPr>
          <a:xfrm>
            <a:off x="1417320" y="2651760"/>
            <a:ext cx="6821424" cy="256031"/>
          </a:xfrm>
          <a:prstGeom prst="rect">
            <a:avLst/>
          </a:prstGeom>
          <a:noFill/>
          <a:effectLst/>
        </p:spPr>
        <p:txBody>
          <a:bodyPr wrap="square" anchor="t" lIns="0" rIns="0" tIns="0" bIns="0">
            <a:spAutoFit/>
          </a:bodyPr>
          <a:lstStyle/>
          <a:p>
            <a:pPr algn="l">
              <a:lnSpc>
                <a:spcPct val="125000"/>
              </a:lnSpc>
              <a:spcAft>
                <a:spcPts val="0"/>
              </a:spcAft>
            </a:pPr>
            <a:r>
              <a:rPr sz="1100" b="0" i="0">
                <a:solidFill>
                  <a:srgbClr val="56524B"/>
                </a:solidFill>
                <a:latin typeface="Calibri"/>
              </a:rPr>
              <a:t>Who made the claim, and what they stood to gain.</a:t>
            </a:r>
          </a:p>
        </p:txBody>
      </p:sp>
      <p:sp>
        <p:nvSpPr>
          <p:cNvPr id="17" name="Rectangle 16"/>
          <p:cNvSpPr/>
          <p:nvPr/>
        </p:nvSpPr>
        <p:spPr>
          <a:xfrm>
            <a:off x="685800" y="3108960"/>
            <a:ext cx="7772400" cy="676656"/>
          </a:xfrm>
          <a:prstGeom prst="rect">
            <a:avLst/>
          </a:prstGeom>
          <a:solidFill>
            <a:srgbClr val="FFFDF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Oval 17"/>
          <p:cNvSpPr/>
          <p:nvPr/>
        </p:nvSpPr>
        <p:spPr>
          <a:xfrm>
            <a:off x="868680" y="3246120"/>
            <a:ext cx="402336" cy="402336"/>
          </a:xfrm>
          <a:prstGeom prst="ellipse">
            <a:avLst/>
          </a:prstGeom>
          <a:solidFill>
            <a:srgbClr val="34322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 name="TextBox 18"/>
          <p:cNvSpPr txBox="1"/>
          <p:nvPr/>
        </p:nvSpPr>
        <p:spPr>
          <a:xfrm>
            <a:off x="868680" y="3342132"/>
            <a:ext cx="402336" cy="219456"/>
          </a:xfrm>
          <a:prstGeom prst="rect">
            <a:avLst/>
          </a:prstGeom>
          <a:noFill/>
          <a:effectLst/>
        </p:spPr>
        <p:txBody>
          <a:bodyPr wrap="square" anchor="t" lIns="0" rIns="0" tIns="0" bIns="0">
            <a:spAutoFit/>
          </a:bodyPr>
          <a:lstStyle/>
          <a:p>
            <a:pPr algn="ctr">
              <a:lnSpc>
                <a:spcPct val="125000"/>
              </a:lnSpc>
              <a:spcAft>
                <a:spcPts val="0"/>
              </a:spcAft>
            </a:pPr>
            <a:r>
              <a:rPr sz="1150" b="1" i="0">
                <a:solidFill>
                  <a:srgbClr val="FFFDF7"/>
                </a:solidFill>
                <a:latin typeface="Calibri"/>
              </a:rPr>
              <a:t>3</a:t>
            </a:r>
          </a:p>
        </p:txBody>
      </p:sp>
      <p:sp>
        <p:nvSpPr>
          <p:cNvPr id="20" name="TextBox 19"/>
          <p:cNvSpPr txBox="1"/>
          <p:nvPr/>
        </p:nvSpPr>
        <p:spPr>
          <a:xfrm>
            <a:off x="1417320" y="3209544"/>
            <a:ext cx="6821424" cy="237744"/>
          </a:xfrm>
          <a:prstGeom prst="rect">
            <a:avLst/>
          </a:prstGeom>
          <a:noFill/>
          <a:effectLst/>
        </p:spPr>
        <p:txBody>
          <a:bodyPr wrap="square" anchor="t" lIns="0" rIns="0" tIns="0" bIns="0">
            <a:spAutoFit/>
          </a:bodyPr>
          <a:lstStyle/>
          <a:p>
            <a:pPr algn="l">
              <a:lnSpc>
                <a:spcPct val="125000"/>
              </a:lnSpc>
              <a:spcAft>
                <a:spcPts val="0"/>
              </a:spcAft>
            </a:pPr>
            <a:r>
              <a:rPr sz="1300" b="0" i="0">
                <a:solidFill>
                  <a:srgbClr val="34322F"/>
                </a:solidFill>
                <a:latin typeface="Georgia"/>
              </a:rPr>
              <a:t>The story, in four or five sentences</a:t>
            </a:r>
          </a:p>
        </p:txBody>
      </p:sp>
      <p:sp>
        <p:nvSpPr>
          <p:cNvPr id="21" name="TextBox 20"/>
          <p:cNvSpPr txBox="1"/>
          <p:nvPr/>
        </p:nvSpPr>
        <p:spPr>
          <a:xfrm>
            <a:off x="1417320" y="3456432"/>
            <a:ext cx="6821424" cy="256031"/>
          </a:xfrm>
          <a:prstGeom prst="rect">
            <a:avLst/>
          </a:prstGeom>
          <a:noFill/>
          <a:effectLst/>
        </p:spPr>
        <p:txBody>
          <a:bodyPr wrap="square" anchor="t" lIns="0" rIns="0" tIns="0" bIns="0">
            <a:spAutoFit/>
          </a:bodyPr>
          <a:lstStyle/>
          <a:p>
            <a:pPr algn="l">
              <a:lnSpc>
                <a:spcPct val="125000"/>
              </a:lnSpc>
              <a:spcAft>
                <a:spcPts val="0"/>
              </a:spcAft>
            </a:pPr>
            <a:r>
              <a:rPr sz="1100" b="0" i="0">
                <a:solidFill>
                  <a:srgbClr val="56524B"/>
                </a:solidFill>
                <a:latin typeface="Calibri"/>
              </a:rPr>
              <a:t>Use at least two cards, name each one, and put in one number from your sums.</a:t>
            </a:r>
          </a:p>
        </p:txBody>
      </p:sp>
      <p:sp>
        <p:nvSpPr>
          <p:cNvPr id="22" name="TextBox 21"/>
          <p:cNvSpPr txBox="1"/>
          <p:nvPr/>
        </p:nvSpPr>
        <p:spPr>
          <a:xfrm>
            <a:off x="868680" y="3986784"/>
            <a:ext cx="7406640" cy="432054"/>
          </a:xfrm>
          <a:prstGeom prst="rect">
            <a:avLst/>
          </a:prstGeom>
          <a:noFill/>
          <a:effectLst/>
        </p:spPr>
        <p:txBody>
          <a:bodyPr wrap="square" anchor="t" lIns="0" rIns="0" tIns="0" bIns="0">
            <a:spAutoFit/>
          </a:bodyPr>
          <a:lstStyle/>
          <a:p>
            <a:pPr algn="ctr">
              <a:lnSpc>
                <a:spcPct val="120000"/>
              </a:lnSpc>
              <a:spcAft>
                <a:spcPts val="0"/>
              </a:spcAft>
            </a:pPr>
            <a:r>
              <a:rPr sz="1350" b="1" i="0">
                <a:solidFill>
                  <a:srgbClr val="34322F"/>
                </a:solidFill>
                <a:latin typeface="Calibri"/>
              </a:rPr>
              <a:t>Your evidence sheet has everything you need. Write it for somebody who has not seen the cards.</a:t>
            </a:r>
          </a:p>
        </p:txBody>
      </p:sp>
      <p:pic>
        <p:nvPicPr>
          <p:cNvPr id="23" name="Picture 22" descr="logo-mark.png"/>
          <p:cNvPicPr>
            <a:picLocks noChangeAspect="1"/>
          </p:cNvPicPr>
          <p:nvPr/>
        </p:nvPicPr>
        <p:blipFill>
          <a:blip r:embed="rId2"/>
          <a:stretch>
            <a:fillRect/>
          </a:stretch>
        </p:blipFill>
        <p:spPr>
          <a:xfrm>
            <a:off x="384048" y="4727448"/>
            <a:ext cx="158374" cy="182880"/>
          </a:xfrm>
          <a:prstGeom prst="rect">
            <a:avLst/>
          </a:prstGeom>
          <a:effectLst/>
        </p:spPr>
      </p:pic>
      <p:sp>
        <p:nvSpPr>
          <p:cNvPr id="24" name="TextBox 23"/>
          <p:cNvSpPr txBox="1"/>
          <p:nvPr/>
        </p:nvSpPr>
        <p:spPr>
          <a:xfrm>
            <a:off x="603504" y="4709160"/>
            <a:ext cx="2194560" cy="210312"/>
          </a:xfrm>
          <a:prstGeom prst="rect">
            <a:avLst/>
          </a:prstGeom>
          <a:noFill/>
          <a:effectLst/>
        </p:spPr>
        <p:txBody>
          <a:bodyPr wrap="square" anchor="t" lIns="0" rIns="0" tIns="0" bIns="0">
            <a:spAutoFit/>
          </a:bodyPr>
          <a:lstStyle/>
          <a:p>
            <a:pPr algn="l">
              <a:lnSpc>
                <a:spcPct val="125000"/>
              </a:lnSpc>
              <a:spcAft>
                <a:spcPts val="0"/>
              </a:spcAft>
            </a:pPr>
            <a:r>
              <a:rPr sz="850" b="0" i="1">
                <a:solidFill>
                  <a:srgbClr val="8C877D"/>
                </a:solidFill>
                <a:latin typeface="Calibri"/>
              </a:rPr>
              <a:t>The Pastoral Guide</a:t>
            </a:r>
          </a:p>
        </p:txBody>
      </p:sp>
      <p:sp>
        <p:nvSpPr>
          <p:cNvPr id="25" name="TextBox 24"/>
          <p:cNvSpPr txBox="1"/>
          <p:nvPr/>
        </p:nvSpPr>
        <p:spPr>
          <a:xfrm>
            <a:off x="7680960" y="4727448"/>
            <a:ext cx="1078992" cy="219456"/>
          </a:xfrm>
          <a:prstGeom prst="rect">
            <a:avLst/>
          </a:prstGeom>
          <a:noFill/>
          <a:effectLst/>
        </p:spPr>
        <p:txBody>
          <a:bodyPr wrap="square" anchor="t" lIns="0" rIns="0" tIns="0" bIns="0">
            <a:spAutoFit/>
          </a:bodyPr>
          <a:lstStyle/>
          <a:p>
            <a:pPr algn="r">
              <a:lnSpc>
                <a:spcPct val="125000"/>
              </a:lnSpc>
              <a:spcAft>
                <a:spcPts val="0"/>
              </a:spcAft>
            </a:pPr>
            <a:r>
              <a:rPr sz="850" b="0" i="0">
                <a:solidFill>
                  <a:srgbClr val="8C877D"/>
                </a:solidFill>
                <a:latin typeface="Calibri"/>
              </a:rPr>
              <a:t>14 / 19</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4EFE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685800" y="274320"/>
            <a:ext cx="5669280" cy="201168"/>
          </a:xfrm>
          <a:prstGeom prst="rect">
            <a:avLst/>
          </a:prstGeom>
          <a:noFill/>
          <a:effectLst/>
        </p:spPr>
        <p:txBody>
          <a:bodyPr wrap="square" anchor="t" lIns="0" rIns="0" tIns="0" bIns="0">
            <a:spAutoFit/>
          </a:bodyPr>
          <a:lstStyle/>
          <a:p>
            <a:pPr algn="l">
              <a:lnSpc>
                <a:spcPct val="125000"/>
              </a:lnSpc>
              <a:spcAft>
                <a:spcPts val="0"/>
              </a:spcAft>
            </a:pPr>
            <a:r>
              <a:rPr sz="900" b="1" i="0" spc="150">
                <a:solidFill>
                  <a:srgbClr val="34322F"/>
                </a:solidFill>
                <a:latin typeface="Calibri"/>
              </a:rPr>
              <a:t>QUESTION THE HEADLINE  ·  LESSON 4 OF 5</a:t>
            </a:r>
          </a:p>
        </p:txBody>
      </p:sp>
      <p:sp>
        <p:nvSpPr>
          <p:cNvPr id="5" name="TextBox 4"/>
          <p:cNvSpPr txBox="1"/>
          <p:nvPr/>
        </p:nvSpPr>
        <p:spPr>
          <a:xfrm>
            <a:off x="685800" y="566928"/>
            <a:ext cx="7772400" cy="434848"/>
          </a:xfrm>
          <a:prstGeom prst="rect">
            <a:avLst/>
          </a:prstGeom>
          <a:noFill/>
          <a:effectLst/>
        </p:spPr>
        <p:txBody>
          <a:bodyPr wrap="square" anchor="t" lIns="0" rIns="0" tIns="0" bIns="0">
            <a:spAutoFit/>
          </a:bodyPr>
          <a:lstStyle/>
          <a:p>
            <a:pPr algn="l">
              <a:lnSpc>
                <a:spcPct val="105000"/>
              </a:lnSpc>
              <a:spcAft>
                <a:spcPts val="0"/>
              </a:spcAft>
            </a:pPr>
            <a:r>
              <a:rPr sz="2800" b="0" i="0">
                <a:solidFill>
                  <a:srgbClr val="262422"/>
                </a:solidFill>
                <a:latin typeface="Georgia"/>
              </a:rPr>
              <a:t>Check somebody else’s page</a:t>
            </a:r>
          </a:p>
        </p:txBody>
      </p:sp>
      <p:sp>
        <p:nvSpPr>
          <p:cNvPr id="6" name="TextBox 5"/>
          <p:cNvSpPr txBox="1"/>
          <p:nvPr/>
        </p:nvSpPr>
        <p:spPr>
          <a:xfrm>
            <a:off x="685800" y="1152144"/>
            <a:ext cx="7772400" cy="274320"/>
          </a:xfrm>
          <a:prstGeom prst="rect">
            <a:avLst/>
          </a:prstGeom>
          <a:noFill/>
          <a:effectLst/>
        </p:spPr>
        <p:txBody>
          <a:bodyPr wrap="square" anchor="t" lIns="0" rIns="0" tIns="0" bIns="0">
            <a:spAutoFit/>
          </a:bodyPr>
          <a:lstStyle/>
          <a:p>
            <a:pPr algn="l">
              <a:lnSpc>
                <a:spcPct val="125000"/>
              </a:lnSpc>
              <a:spcAft>
                <a:spcPts val="0"/>
              </a:spcAft>
            </a:pPr>
            <a:r>
              <a:rPr sz="1300" b="0" i="0">
                <a:solidFill>
                  <a:srgbClr val="56524B"/>
                </a:solidFill>
                <a:latin typeface="Calibri"/>
              </a:rPr>
              <a:t>Swap front pages with somebody from another group. Tick each box it passes.</a:t>
            </a:r>
          </a:p>
        </p:txBody>
      </p:sp>
      <p:sp>
        <p:nvSpPr>
          <p:cNvPr id="7" name="Rectangle 6"/>
          <p:cNvSpPr/>
          <p:nvPr/>
        </p:nvSpPr>
        <p:spPr>
          <a:xfrm>
            <a:off x="685800" y="1591056"/>
            <a:ext cx="7772400" cy="676656"/>
          </a:xfrm>
          <a:prstGeom prst="rect">
            <a:avLst/>
          </a:prstGeom>
          <a:solidFill>
            <a:srgbClr val="FFFDF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Oval 7"/>
          <p:cNvSpPr/>
          <p:nvPr/>
        </p:nvSpPr>
        <p:spPr>
          <a:xfrm>
            <a:off x="868680" y="1728216"/>
            <a:ext cx="402336" cy="402336"/>
          </a:xfrm>
          <a:prstGeom prst="ellipse">
            <a:avLst/>
          </a:prstGeom>
          <a:solidFill>
            <a:srgbClr val="34322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868680" y="1824228"/>
            <a:ext cx="402336" cy="219456"/>
          </a:xfrm>
          <a:prstGeom prst="rect">
            <a:avLst/>
          </a:prstGeom>
          <a:noFill/>
          <a:effectLst/>
        </p:spPr>
        <p:txBody>
          <a:bodyPr wrap="square" anchor="t" lIns="0" rIns="0" tIns="0" bIns="0">
            <a:spAutoFit/>
          </a:bodyPr>
          <a:lstStyle/>
          <a:p>
            <a:pPr algn="ctr">
              <a:lnSpc>
                <a:spcPct val="125000"/>
              </a:lnSpc>
              <a:spcAft>
                <a:spcPts val="0"/>
              </a:spcAft>
            </a:pPr>
            <a:r>
              <a:rPr sz="1150" b="1" i="0">
                <a:solidFill>
                  <a:srgbClr val="FFFDF7"/>
                </a:solidFill>
                <a:latin typeface="Calibri"/>
              </a:rPr>
              <a:t>1</a:t>
            </a:r>
          </a:p>
        </p:txBody>
      </p:sp>
      <p:sp>
        <p:nvSpPr>
          <p:cNvPr id="10" name="TextBox 9"/>
          <p:cNvSpPr txBox="1"/>
          <p:nvPr/>
        </p:nvSpPr>
        <p:spPr>
          <a:xfrm>
            <a:off x="1417320" y="1691640"/>
            <a:ext cx="6821424" cy="237744"/>
          </a:xfrm>
          <a:prstGeom prst="rect">
            <a:avLst/>
          </a:prstGeom>
          <a:noFill/>
          <a:effectLst/>
        </p:spPr>
        <p:txBody>
          <a:bodyPr wrap="square" anchor="t" lIns="0" rIns="0" tIns="0" bIns="0">
            <a:spAutoFit/>
          </a:bodyPr>
          <a:lstStyle/>
          <a:p>
            <a:pPr algn="l">
              <a:lnSpc>
                <a:spcPct val="125000"/>
              </a:lnSpc>
              <a:spcAft>
                <a:spcPts val="0"/>
              </a:spcAft>
            </a:pPr>
            <a:r>
              <a:rPr sz="1300" b="0" i="0">
                <a:solidFill>
                  <a:srgbClr val="34322F"/>
                </a:solidFill>
                <a:latin typeface="Georgia"/>
              </a:rPr>
              <a:t>Is the headline true to the evidence?</a:t>
            </a:r>
          </a:p>
        </p:txBody>
      </p:sp>
      <p:sp>
        <p:nvSpPr>
          <p:cNvPr id="11" name="TextBox 10"/>
          <p:cNvSpPr txBox="1"/>
          <p:nvPr/>
        </p:nvSpPr>
        <p:spPr>
          <a:xfrm>
            <a:off x="1417320" y="1938528"/>
            <a:ext cx="6821424" cy="256031"/>
          </a:xfrm>
          <a:prstGeom prst="rect">
            <a:avLst/>
          </a:prstGeom>
          <a:noFill/>
          <a:effectLst/>
        </p:spPr>
        <p:txBody>
          <a:bodyPr wrap="square" anchor="t" lIns="0" rIns="0" tIns="0" bIns="0">
            <a:spAutoFit/>
          </a:bodyPr>
          <a:lstStyle/>
          <a:p>
            <a:pPr algn="l">
              <a:lnSpc>
                <a:spcPct val="125000"/>
              </a:lnSpc>
              <a:spcAft>
                <a:spcPts val="0"/>
              </a:spcAft>
            </a:pPr>
            <a:r>
              <a:rPr sz="1100" b="0" i="0">
                <a:solidFill>
                  <a:srgbClr val="56524B"/>
                </a:solidFill>
                <a:latin typeface="Calibri"/>
              </a:rPr>
              <a:t>Not bigger, not smaller, than what the cards show.</a:t>
            </a:r>
          </a:p>
        </p:txBody>
      </p:sp>
      <p:sp>
        <p:nvSpPr>
          <p:cNvPr id="12" name="Rectangle 11"/>
          <p:cNvSpPr/>
          <p:nvPr/>
        </p:nvSpPr>
        <p:spPr>
          <a:xfrm>
            <a:off x="685800" y="2414016"/>
            <a:ext cx="7772400" cy="676656"/>
          </a:xfrm>
          <a:prstGeom prst="rect">
            <a:avLst/>
          </a:prstGeom>
          <a:solidFill>
            <a:srgbClr val="FFFDF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Oval 12"/>
          <p:cNvSpPr/>
          <p:nvPr/>
        </p:nvSpPr>
        <p:spPr>
          <a:xfrm>
            <a:off x="868680" y="2551176"/>
            <a:ext cx="402336" cy="402336"/>
          </a:xfrm>
          <a:prstGeom prst="ellipse">
            <a:avLst/>
          </a:prstGeom>
          <a:solidFill>
            <a:srgbClr val="34322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TextBox 13"/>
          <p:cNvSpPr txBox="1"/>
          <p:nvPr/>
        </p:nvSpPr>
        <p:spPr>
          <a:xfrm>
            <a:off x="868680" y="2647188"/>
            <a:ext cx="402336" cy="219456"/>
          </a:xfrm>
          <a:prstGeom prst="rect">
            <a:avLst/>
          </a:prstGeom>
          <a:noFill/>
          <a:effectLst/>
        </p:spPr>
        <p:txBody>
          <a:bodyPr wrap="square" anchor="t" lIns="0" rIns="0" tIns="0" bIns="0">
            <a:spAutoFit/>
          </a:bodyPr>
          <a:lstStyle/>
          <a:p>
            <a:pPr algn="ctr">
              <a:lnSpc>
                <a:spcPct val="125000"/>
              </a:lnSpc>
              <a:spcAft>
                <a:spcPts val="0"/>
              </a:spcAft>
            </a:pPr>
            <a:r>
              <a:rPr sz="1150" b="1" i="0">
                <a:solidFill>
                  <a:srgbClr val="FFFDF7"/>
                </a:solidFill>
                <a:latin typeface="Calibri"/>
              </a:rPr>
              <a:t>2</a:t>
            </a:r>
          </a:p>
        </p:txBody>
      </p:sp>
      <p:sp>
        <p:nvSpPr>
          <p:cNvPr id="15" name="TextBox 14"/>
          <p:cNvSpPr txBox="1"/>
          <p:nvPr/>
        </p:nvSpPr>
        <p:spPr>
          <a:xfrm>
            <a:off x="1417320" y="2514600"/>
            <a:ext cx="6821424" cy="237744"/>
          </a:xfrm>
          <a:prstGeom prst="rect">
            <a:avLst/>
          </a:prstGeom>
          <a:noFill/>
          <a:effectLst/>
        </p:spPr>
        <p:txBody>
          <a:bodyPr wrap="square" anchor="t" lIns="0" rIns="0" tIns="0" bIns="0">
            <a:spAutoFit/>
          </a:bodyPr>
          <a:lstStyle/>
          <a:p>
            <a:pPr algn="l">
              <a:lnSpc>
                <a:spcPct val="125000"/>
              </a:lnSpc>
              <a:spcAft>
                <a:spcPts val="0"/>
              </a:spcAft>
            </a:pPr>
            <a:r>
              <a:rPr sz="1300" b="0" i="0">
                <a:solidFill>
                  <a:srgbClr val="34322F"/>
                </a:solidFill>
                <a:latin typeface="Georgia"/>
              </a:rPr>
              <a:t>Does it say where the evidence came from?</a:t>
            </a:r>
          </a:p>
        </p:txBody>
      </p:sp>
      <p:sp>
        <p:nvSpPr>
          <p:cNvPr id="16" name="TextBox 15"/>
          <p:cNvSpPr txBox="1"/>
          <p:nvPr/>
        </p:nvSpPr>
        <p:spPr>
          <a:xfrm>
            <a:off x="1417320" y="2761488"/>
            <a:ext cx="6821424" cy="256031"/>
          </a:xfrm>
          <a:prstGeom prst="rect">
            <a:avLst/>
          </a:prstGeom>
          <a:noFill/>
          <a:effectLst/>
        </p:spPr>
        <p:txBody>
          <a:bodyPr wrap="square" anchor="t" lIns="0" rIns="0" tIns="0" bIns="0">
            <a:spAutoFit/>
          </a:bodyPr>
          <a:lstStyle/>
          <a:p>
            <a:pPr algn="l">
              <a:lnSpc>
                <a:spcPct val="125000"/>
              </a:lnSpc>
              <a:spcAft>
                <a:spcPts val="0"/>
              </a:spcAft>
            </a:pPr>
            <a:r>
              <a:rPr sz="1100" b="0" i="0">
                <a:solidFill>
                  <a:srgbClr val="56524B"/>
                </a:solidFill>
                <a:latin typeface="Calibri"/>
              </a:rPr>
              <a:t>A study, a document, a person with a name.</a:t>
            </a:r>
          </a:p>
        </p:txBody>
      </p:sp>
      <p:sp>
        <p:nvSpPr>
          <p:cNvPr id="17" name="Rectangle 16"/>
          <p:cNvSpPr/>
          <p:nvPr/>
        </p:nvSpPr>
        <p:spPr>
          <a:xfrm>
            <a:off x="685800" y="3236976"/>
            <a:ext cx="7772400" cy="676656"/>
          </a:xfrm>
          <a:prstGeom prst="rect">
            <a:avLst/>
          </a:prstGeom>
          <a:solidFill>
            <a:srgbClr val="FFFDF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Oval 17"/>
          <p:cNvSpPr/>
          <p:nvPr/>
        </p:nvSpPr>
        <p:spPr>
          <a:xfrm>
            <a:off x="868680" y="3374136"/>
            <a:ext cx="402336" cy="402336"/>
          </a:xfrm>
          <a:prstGeom prst="ellipse">
            <a:avLst/>
          </a:prstGeom>
          <a:solidFill>
            <a:srgbClr val="34322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 name="TextBox 18"/>
          <p:cNvSpPr txBox="1"/>
          <p:nvPr/>
        </p:nvSpPr>
        <p:spPr>
          <a:xfrm>
            <a:off x="868680" y="3470148"/>
            <a:ext cx="402336" cy="219456"/>
          </a:xfrm>
          <a:prstGeom prst="rect">
            <a:avLst/>
          </a:prstGeom>
          <a:noFill/>
          <a:effectLst/>
        </p:spPr>
        <p:txBody>
          <a:bodyPr wrap="square" anchor="t" lIns="0" rIns="0" tIns="0" bIns="0">
            <a:spAutoFit/>
          </a:bodyPr>
          <a:lstStyle/>
          <a:p>
            <a:pPr algn="ctr">
              <a:lnSpc>
                <a:spcPct val="125000"/>
              </a:lnSpc>
              <a:spcAft>
                <a:spcPts val="0"/>
              </a:spcAft>
            </a:pPr>
            <a:r>
              <a:rPr sz="1150" b="1" i="0">
                <a:solidFill>
                  <a:srgbClr val="FFFDF7"/>
                </a:solidFill>
                <a:latin typeface="Calibri"/>
              </a:rPr>
              <a:t>3</a:t>
            </a:r>
          </a:p>
        </p:txBody>
      </p:sp>
      <p:sp>
        <p:nvSpPr>
          <p:cNvPr id="20" name="TextBox 19"/>
          <p:cNvSpPr txBox="1"/>
          <p:nvPr/>
        </p:nvSpPr>
        <p:spPr>
          <a:xfrm>
            <a:off x="1417320" y="3337560"/>
            <a:ext cx="6821424" cy="237744"/>
          </a:xfrm>
          <a:prstGeom prst="rect">
            <a:avLst/>
          </a:prstGeom>
          <a:noFill/>
          <a:effectLst/>
        </p:spPr>
        <p:txBody>
          <a:bodyPr wrap="square" anchor="t" lIns="0" rIns="0" tIns="0" bIns="0">
            <a:spAutoFit/>
          </a:bodyPr>
          <a:lstStyle/>
          <a:p>
            <a:pPr algn="l">
              <a:lnSpc>
                <a:spcPct val="125000"/>
              </a:lnSpc>
              <a:spcAft>
                <a:spcPts val="0"/>
              </a:spcAft>
            </a:pPr>
            <a:r>
              <a:rPr sz="1300" b="0" i="0">
                <a:solidFill>
                  <a:srgbClr val="34322F"/>
                </a:solidFill>
                <a:latin typeface="Georgia"/>
              </a:rPr>
              <a:t>Would it survive the five questions?</a:t>
            </a:r>
          </a:p>
        </p:txBody>
      </p:sp>
      <p:sp>
        <p:nvSpPr>
          <p:cNvPr id="21" name="TextBox 20"/>
          <p:cNvSpPr txBox="1"/>
          <p:nvPr/>
        </p:nvSpPr>
        <p:spPr>
          <a:xfrm>
            <a:off x="1417320" y="3584448"/>
            <a:ext cx="6821424" cy="256031"/>
          </a:xfrm>
          <a:prstGeom prst="rect">
            <a:avLst/>
          </a:prstGeom>
          <a:noFill/>
          <a:effectLst/>
        </p:spPr>
        <p:txBody>
          <a:bodyPr wrap="square" anchor="t" lIns="0" rIns="0" tIns="0" bIns="0">
            <a:spAutoFit/>
          </a:bodyPr>
          <a:lstStyle/>
          <a:p>
            <a:pPr algn="l">
              <a:lnSpc>
                <a:spcPct val="125000"/>
              </a:lnSpc>
              <a:spcAft>
                <a:spcPts val="0"/>
              </a:spcAft>
            </a:pPr>
            <a:r>
              <a:rPr sz="1100" b="0" i="0">
                <a:solidFill>
                  <a:srgbClr val="56524B"/>
                </a:solidFill>
                <a:latin typeface="Calibri"/>
              </a:rPr>
              <a:t>Try one or two of them on it.</a:t>
            </a:r>
          </a:p>
        </p:txBody>
      </p:sp>
      <p:sp>
        <p:nvSpPr>
          <p:cNvPr id="22" name="TextBox 21"/>
          <p:cNvSpPr txBox="1"/>
          <p:nvPr/>
        </p:nvSpPr>
        <p:spPr>
          <a:xfrm>
            <a:off x="868680" y="4023360"/>
            <a:ext cx="7406640" cy="216027"/>
          </a:xfrm>
          <a:prstGeom prst="rect">
            <a:avLst/>
          </a:prstGeom>
          <a:noFill/>
          <a:effectLst/>
        </p:spPr>
        <p:txBody>
          <a:bodyPr wrap="square" anchor="t" lIns="0" rIns="0" tIns="0" bIns="0">
            <a:spAutoFit/>
          </a:bodyPr>
          <a:lstStyle/>
          <a:p>
            <a:pPr algn="ctr">
              <a:lnSpc>
                <a:spcPct val="120000"/>
              </a:lnSpc>
              <a:spcAft>
                <a:spcPts val="0"/>
              </a:spcAft>
            </a:pPr>
            <a:r>
              <a:rPr sz="1350" b="1" i="0">
                <a:solidFill>
                  <a:srgbClr val="34322F"/>
                </a:solidFill>
                <a:latin typeface="Calibri"/>
              </a:rPr>
              <a:t>Write one change that would make it better, then hand it back.</a:t>
            </a:r>
          </a:p>
        </p:txBody>
      </p:sp>
      <p:pic>
        <p:nvPicPr>
          <p:cNvPr id="23" name="Picture 22" descr="logo-mark.png"/>
          <p:cNvPicPr>
            <a:picLocks noChangeAspect="1"/>
          </p:cNvPicPr>
          <p:nvPr/>
        </p:nvPicPr>
        <p:blipFill>
          <a:blip r:embed="rId2"/>
          <a:stretch>
            <a:fillRect/>
          </a:stretch>
        </p:blipFill>
        <p:spPr>
          <a:xfrm>
            <a:off x="384048" y="4727448"/>
            <a:ext cx="158374" cy="182880"/>
          </a:xfrm>
          <a:prstGeom prst="rect">
            <a:avLst/>
          </a:prstGeom>
          <a:effectLst/>
        </p:spPr>
      </p:pic>
      <p:sp>
        <p:nvSpPr>
          <p:cNvPr id="24" name="TextBox 23"/>
          <p:cNvSpPr txBox="1"/>
          <p:nvPr/>
        </p:nvSpPr>
        <p:spPr>
          <a:xfrm>
            <a:off x="603504" y="4709160"/>
            <a:ext cx="2194560" cy="210312"/>
          </a:xfrm>
          <a:prstGeom prst="rect">
            <a:avLst/>
          </a:prstGeom>
          <a:noFill/>
          <a:effectLst/>
        </p:spPr>
        <p:txBody>
          <a:bodyPr wrap="square" anchor="t" lIns="0" rIns="0" tIns="0" bIns="0">
            <a:spAutoFit/>
          </a:bodyPr>
          <a:lstStyle/>
          <a:p>
            <a:pPr algn="l">
              <a:lnSpc>
                <a:spcPct val="125000"/>
              </a:lnSpc>
              <a:spcAft>
                <a:spcPts val="0"/>
              </a:spcAft>
            </a:pPr>
            <a:r>
              <a:rPr sz="850" b="0" i="1">
                <a:solidFill>
                  <a:srgbClr val="8C877D"/>
                </a:solidFill>
                <a:latin typeface="Calibri"/>
              </a:rPr>
              <a:t>The Pastoral Guide</a:t>
            </a:r>
          </a:p>
        </p:txBody>
      </p:sp>
      <p:sp>
        <p:nvSpPr>
          <p:cNvPr id="25" name="TextBox 24"/>
          <p:cNvSpPr txBox="1"/>
          <p:nvPr/>
        </p:nvSpPr>
        <p:spPr>
          <a:xfrm>
            <a:off x="7680960" y="4727448"/>
            <a:ext cx="1078992" cy="219456"/>
          </a:xfrm>
          <a:prstGeom prst="rect">
            <a:avLst/>
          </a:prstGeom>
          <a:noFill/>
          <a:effectLst/>
        </p:spPr>
        <p:txBody>
          <a:bodyPr wrap="square" anchor="t" lIns="0" rIns="0" tIns="0" bIns="0">
            <a:spAutoFit/>
          </a:bodyPr>
          <a:lstStyle/>
          <a:p>
            <a:pPr algn="r">
              <a:lnSpc>
                <a:spcPct val="125000"/>
              </a:lnSpc>
              <a:spcAft>
                <a:spcPts val="0"/>
              </a:spcAft>
            </a:pPr>
            <a:r>
              <a:rPr sz="850" b="0" i="0">
                <a:solidFill>
                  <a:srgbClr val="8C877D"/>
                </a:solidFill>
                <a:latin typeface="Calibri"/>
              </a:rPr>
              <a:t>15 / 19</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4EFE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685800" y="274320"/>
            <a:ext cx="5669280" cy="201168"/>
          </a:xfrm>
          <a:prstGeom prst="rect">
            <a:avLst/>
          </a:prstGeom>
          <a:noFill/>
          <a:effectLst/>
        </p:spPr>
        <p:txBody>
          <a:bodyPr wrap="square" anchor="t" lIns="0" rIns="0" tIns="0" bIns="0">
            <a:spAutoFit/>
          </a:bodyPr>
          <a:lstStyle/>
          <a:p>
            <a:pPr algn="l">
              <a:lnSpc>
                <a:spcPct val="125000"/>
              </a:lnSpc>
              <a:spcAft>
                <a:spcPts val="0"/>
              </a:spcAft>
            </a:pPr>
            <a:r>
              <a:rPr sz="900" b="1" i="0" spc="150">
                <a:solidFill>
                  <a:srgbClr val="34322F"/>
                </a:solidFill>
                <a:latin typeface="Calibri"/>
              </a:rPr>
              <a:t>QUESTION THE HEADLINE  ·  LESSON 4 OF 5</a:t>
            </a:r>
          </a:p>
        </p:txBody>
      </p:sp>
      <p:sp>
        <p:nvSpPr>
          <p:cNvPr id="4" name="TextBox 3"/>
          <p:cNvSpPr txBox="1"/>
          <p:nvPr/>
        </p:nvSpPr>
        <p:spPr>
          <a:xfrm>
            <a:off x="685800" y="566928"/>
            <a:ext cx="5120640" cy="434848"/>
          </a:xfrm>
          <a:prstGeom prst="rect">
            <a:avLst/>
          </a:prstGeom>
          <a:noFill/>
          <a:effectLst/>
        </p:spPr>
        <p:txBody>
          <a:bodyPr wrap="square" anchor="t" lIns="0" rIns="0" tIns="0" bIns="0">
            <a:spAutoFit/>
          </a:bodyPr>
          <a:lstStyle/>
          <a:p>
            <a:pPr algn="l">
              <a:lnSpc>
                <a:spcPct val="105000"/>
              </a:lnSpc>
              <a:spcAft>
                <a:spcPts val="0"/>
              </a:spcAft>
            </a:pPr>
            <a:r>
              <a:rPr sz="2800" b="0" i="0">
                <a:solidFill>
                  <a:srgbClr val="262422"/>
                </a:solidFill>
                <a:latin typeface="Georgia"/>
              </a:rPr>
              <a:t>What really happened</a:t>
            </a:r>
          </a:p>
        </p:txBody>
      </p:sp>
      <p:sp>
        <p:nvSpPr>
          <p:cNvPr id="5" name="Rounded Rectangle 4"/>
          <p:cNvSpPr/>
          <p:nvPr/>
        </p:nvSpPr>
        <p:spPr>
          <a:xfrm rot="21120000">
            <a:off x="5748829" y="522732"/>
            <a:ext cx="2858421" cy="746760"/>
          </a:xfrm>
          <a:prstGeom prst="roundRect">
            <a:avLst>
              <a:gd name="adj" fmla="val 8000"/>
            </a:avLst>
          </a:prstGeom>
          <a:noFill/>
          <a:ln w="44450">
            <a:solidFill>
              <a:srgbClr val="34322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Rounded Rectangle 5"/>
          <p:cNvSpPr/>
          <p:nvPr/>
        </p:nvSpPr>
        <p:spPr>
          <a:xfrm rot="21120000">
            <a:off x="5831125" y="605028"/>
            <a:ext cx="2693829" cy="582168"/>
          </a:xfrm>
          <a:prstGeom prst="roundRect">
            <a:avLst>
              <a:gd name="adj" fmla="val 6000"/>
            </a:avLst>
          </a:prstGeom>
          <a:noFill/>
          <a:ln w="15240">
            <a:solidFill>
              <a:srgbClr val="34322F"/>
            </a:solidFill>
          </a:ln>
          <a:effectLst/>
        </p:spPr>
        <p:style>
          <a:lnRef idx="1">
            <a:schemeClr val="accent1"/>
          </a:lnRef>
          <a:fillRef idx="3">
            <a:schemeClr val="accent1"/>
          </a:fillRef>
          <a:effectRef idx="0">
            <a:schemeClr val="accent1"/>
          </a:effectRef>
          <a:fontRef idx="minor">
            <a:schemeClr val="lt1"/>
          </a:fontRef>
        </p:style>
        <p:txBody>
          <a:bodyPr rtlCol="0" anchor="ctr" lIns="0" rIns="0" tIns="0" bIns="0" wrap="none"/>
          <a:lstStyle/>
          <a:p>
            <a:pPr algn="ctr"/>
            <a:r>
              <a:rPr sz="3000" b="1" spc="600">
                <a:solidFill>
                  <a:srgbClr val="34322F"/>
                </a:solidFill>
                <a:latin typeface="Calibri"/>
              </a:rPr>
              <a:t>BUSTED</a:t>
            </a:r>
          </a:p>
        </p:txBody>
      </p:sp>
      <p:sp>
        <p:nvSpPr>
          <p:cNvPr id="7" name="TextBox 6"/>
          <p:cNvSpPr txBox="1"/>
          <p:nvPr/>
        </p:nvSpPr>
        <p:spPr>
          <a:xfrm>
            <a:off x="685800" y="1591056"/>
            <a:ext cx="1005840" cy="274320"/>
          </a:xfrm>
          <a:prstGeom prst="rect">
            <a:avLst/>
          </a:prstGeom>
          <a:noFill/>
          <a:effectLst/>
        </p:spPr>
        <p:txBody>
          <a:bodyPr wrap="square" anchor="t" lIns="0" rIns="0" tIns="0" bIns="0">
            <a:spAutoFit/>
          </a:bodyPr>
          <a:lstStyle/>
          <a:p>
            <a:pPr algn="r">
              <a:lnSpc>
                <a:spcPct val="125000"/>
              </a:lnSpc>
              <a:spcAft>
                <a:spcPts val="0"/>
              </a:spcAft>
            </a:pPr>
            <a:r>
              <a:rPr sz="1500" b="0" i="0">
                <a:solidFill>
                  <a:srgbClr val="34322F"/>
                </a:solidFill>
                <a:latin typeface="Georgia"/>
              </a:rPr>
              <a:t>1923</a:t>
            </a:r>
          </a:p>
        </p:txBody>
      </p:sp>
      <p:sp>
        <p:nvSpPr>
          <p:cNvPr id="8" name="Oval 7"/>
          <p:cNvSpPr/>
          <p:nvPr/>
        </p:nvSpPr>
        <p:spPr>
          <a:xfrm>
            <a:off x="1819656" y="1645919"/>
            <a:ext cx="146304" cy="146304"/>
          </a:xfrm>
          <a:prstGeom prst="ellipse">
            <a:avLst/>
          </a:prstGeom>
          <a:solidFill>
            <a:srgbClr val="34322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2130552" y="1591056"/>
            <a:ext cx="6309360" cy="216027"/>
          </a:xfrm>
          <a:prstGeom prst="rect">
            <a:avLst/>
          </a:prstGeom>
          <a:noFill/>
          <a:effectLst/>
        </p:spPr>
        <p:txBody>
          <a:bodyPr wrap="square" anchor="t" lIns="0" rIns="0" tIns="0" bIns="0">
            <a:spAutoFit/>
          </a:bodyPr>
          <a:lstStyle/>
          <a:p>
            <a:pPr algn="l">
              <a:lnSpc>
                <a:spcPct val="122000"/>
              </a:lnSpc>
              <a:spcAft>
                <a:spcPts val="0"/>
              </a:spcAft>
            </a:pPr>
            <a:r>
              <a:rPr sz="1350" b="0" i="0">
                <a:solidFill>
                  <a:srgbClr val="262422"/>
                </a:solidFill>
                <a:latin typeface="Calibri"/>
              </a:rPr>
              <a:t>Lead is first added to petrol.</a:t>
            </a:r>
          </a:p>
        </p:txBody>
      </p:sp>
      <p:sp>
        <p:nvSpPr>
          <p:cNvPr id="10" name="TextBox 9"/>
          <p:cNvSpPr txBox="1"/>
          <p:nvPr/>
        </p:nvSpPr>
        <p:spPr>
          <a:xfrm>
            <a:off x="685800" y="2029967"/>
            <a:ext cx="1005840" cy="274320"/>
          </a:xfrm>
          <a:prstGeom prst="rect">
            <a:avLst/>
          </a:prstGeom>
          <a:noFill/>
          <a:effectLst/>
        </p:spPr>
        <p:txBody>
          <a:bodyPr wrap="square" anchor="t" lIns="0" rIns="0" tIns="0" bIns="0">
            <a:spAutoFit/>
          </a:bodyPr>
          <a:lstStyle/>
          <a:p>
            <a:pPr algn="r">
              <a:lnSpc>
                <a:spcPct val="125000"/>
              </a:lnSpc>
              <a:spcAft>
                <a:spcPts val="0"/>
              </a:spcAft>
            </a:pPr>
            <a:r>
              <a:rPr sz="1500" b="0" i="0">
                <a:solidFill>
                  <a:srgbClr val="34322F"/>
                </a:solidFill>
                <a:latin typeface="Georgia"/>
              </a:rPr>
              <a:t>1926</a:t>
            </a:r>
          </a:p>
        </p:txBody>
      </p:sp>
      <p:sp>
        <p:nvSpPr>
          <p:cNvPr id="11" name="Oval 10"/>
          <p:cNvSpPr/>
          <p:nvPr/>
        </p:nvSpPr>
        <p:spPr>
          <a:xfrm>
            <a:off x="1819656" y="2084831"/>
            <a:ext cx="146304" cy="146304"/>
          </a:xfrm>
          <a:prstGeom prst="ellipse">
            <a:avLst/>
          </a:prstGeom>
          <a:solidFill>
            <a:srgbClr val="34322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TextBox 11"/>
          <p:cNvSpPr txBox="1"/>
          <p:nvPr/>
        </p:nvSpPr>
        <p:spPr>
          <a:xfrm>
            <a:off x="2130552" y="2029967"/>
            <a:ext cx="6309360" cy="216027"/>
          </a:xfrm>
          <a:prstGeom prst="rect">
            <a:avLst/>
          </a:prstGeom>
          <a:noFill/>
          <a:effectLst/>
        </p:spPr>
        <p:txBody>
          <a:bodyPr wrap="square" anchor="t" lIns="0" rIns="0" tIns="0" bIns="0">
            <a:spAutoFit/>
          </a:bodyPr>
          <a:lstStyle/>
          <a:p>
            <a:pPr algn="l">
              <a:lnSpc>
                <a:spcPct val="122000"/>
              </a:lnSpc>
              <a:spcAft>
                <a:spcPts val="0"/>
              </a:spcAft>
            </a:pPr>
            <a:r>
              <a:rPr sz="1350" b="0" i="0">
                <a:solidFill>
                  <a:srgbClr val="262422"/>
                </a:solidFill>
                <a:latin typeface="Calibri"/>
              </a:rPr>
              <a:t>A committee finds “no real evidence” of harm, and sales restart.</a:t>
            </a:r>
          </a:p>
        </p:txBody>
      </p:sp>
      <p:sp>
        <p:nvSpPr>
          <p:cNvPr id="13" name="TextBox 12"/>
          <p:cNvSpPr txBox="1"/>
          <p:nvPr/>
        </p:nvSpPr>
        <p:spPr>
          <a:xfrm>
            <a:off x="685800" y="2468879"/>
            <a:ext cx="1005840" cy="274320"/>
          </a:xfrm>
          <a:prstGeom prst="rect">
            <a:avLst/>
          </a:prstGeom>
          <a:noFill/>
          <a:effectLst/>
        </p:spPr>
        <p:txBody>
          <a:bodyPr wrap="square" anchor="t" lIns="0" rIns="0" tIns="0" bIns="0">
            <a:spAutoFit/>
          </a:bodyPr>
          <a:lstStyle/>
          <a:p>
            <a:pPr algn="r">
              <a:lnSpc>
                <a:spcPct val="125000"/>
              </a:lnSpc>
              <a:spcAft>
                <a:spcPts val="0"/>
              </a:spcAft>
            </a:pPr>
            <a:r>
              <a:rPr sz="1500" b="0" i="0">
                <a:solidFill>
                  <a:srgbClr val="34322F"/>
                </a:solidFill>
                <a:latin typeface="Georgia"/>
              </a:rPr>
              <a:t>1965</a:t>
            </a:r>
          </a:p>
        </p:txBody>
      </p:sp>
      <p:sp>
        <p:nvSpPr>
          <p:cNvPr id="14" name="Oval 13"/>
          <p:cNvSpPr/>
          <p:nvPr/>
        </p:nvSpPr>
        <p:spPr>
          <a:xfrm>
            <a:off x="1819656" y="2523744"/>
            <a:ext cx="146304" cy="146304"/>
          </a:xfrm>
          <a:prstGeom prst="ellipse">
            <a:avLst/>
          </a:prstGeom>
          <a:solidFill>
            <a:srgbClr val="34322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TextBox 14"/>
          <p:cNvSpPr txBox="1"/>
          <p:nvPr/>
        </p:nvSpPr>
        <p:spPr>
          <a:xfrm>
            <a:off x="2130552" y="2468879"/>
            <a:ext cx="6309360" cy="216027"/>
          </a:xfrm>
          <a:prstGeom prst="rect">
            <a:avLst/>
          </a:prstGeom>
          <a:noFill/>
          <a:effectLst/>
        </p:spPr>
        <p:txBody>
          <a:bodyPr wrap="square" anchor="t" lIns="0" rIns="0" tIns="0" bIns="0">
            <a:spAutoFit/>
          </a:bodyPr>
          <a:lstStyle/>
          <a:p>
            <a:pPr algn="l">
              <a:lnSpc>
                <a:spcPct val="122000"/>
              </a:lnSpc>
              <a:spcAft>
                <a:spcPts val="0"/>
              </a:spcAft>
            </a:pPr>
            <a:r>
              <a:rPr sz="1350" b="0" i="0">
                <a:solidFill>
                  <a:srgbClr val="262422"/>
                </a:solidFill>
                <a:latin typeface="Calibri"/>
              </a:rPr>
              <a:t>Clair Patterson publishes evidence of lead pollution.</a:t>
            </a:r>
          </a:p>
        </p:txBody>
      </p:sp>
      <p:sp>
        <p:nvSpPr>
          <p:cNvPr id="16" name="TextBox 15"/>
          <p:cNvSpPr txBox="1"/>
          <p:nvPr/>
        </p:nvSpPr>
        <p:spPr>
          <a:xfrm>
            <a:off x="685800" y="2907791"/>
            <a:ext cx="1005840" cy="274320"/>
          </a:xfrm>
          <a:prstGeom prst="rect">
            <a:avLst/>
          </a:prstGeom>
          <a:noFill/>
          <a:effectLst/>
        </p:spPr>
        <p:txBody>
          <a:bodyPr wrap="square" anchor="t" lIns="0" rIns="0" tIns="0" bIns="0">
            <a:spAutoFit/>
          </a:bodyPr>
          <a:lstStyle/>
          <a:p>
            <a:pPr algn="r">
              <a:lnSpc>
                <a:spcPct val="125000"/>
              </a:lnSpc>
              <a:spcAft>
                <a:spcPts val="0"/>
              </a:spcAft>
            </a:pPr>
            <a:r>
              <a:rPr sz="1500" b="0" i="0">
                <a:solidFill>
                  <a:srgbClr val="34322F"/>
                </a:solidFill>
                <a:latin typeface="Georgia"/>
              </a:rPr>
              <a:t>2000</a:t>
            </a:r>
          </a:p>
        </p:txBody>
      </p:sp>
      <p:sp>
        <p:nvSpPr>
          <p:cNvPr id="17" name="Oval 16"/>
          <p:cNvSpPr/>
          <p:nvPr/>
        </p:nvSpPr>
        <p:spPr>
          <a:xfrm>
            <a:off x="1819656" y="2962656"/>
            <a:ext cx="146304" cy="146304"/>
          </a:xfrm>
          <a:prstGeom prst="ellipse">
            <a:avLst/>
          </a:prstGeom>
          <a:solidFill>
            <a:srgbClr val="34322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TextBox 17"/>
          <p:cNvSpPr txBox="1"/>
          <p:nvPr/>
        </p:nvSpPr>
        <p:spPr>
          <a:xfrm>
            <a:off x="2130552" y="2907791"/>
            <a:ext cx="6309360" cy="216027"/>
          </a:xfrm>
          <a:prstGeom prst="rect">
            <a:avLst/>
          </a:prstGeom>
          <a:noFill/>
          <a:effectLst/>
        </p:spPr>
        <p:txBody>
          <a:bodyPr wrap="square" anchor="t" lIns="0" rIns="0" tIns="0" bIns="0">
            <a:spAutoFit/>
          </a:bodyPr>
          <a:lstStyle/>
          <a:p>
            <a:pPr algn="l">
              <a:lnSpc>
                <a:spcPct val="122000"/>
              </a:lnSpc>
              <a:spcAft>
                <a:spcPts val="0"/>
              </a:spcAft>
            </a:pPr>
            <a:r>
              <a:rPr sz="1350" b="0" i="0">
                <a:solidFill>
                  <a:srgbClr val="262422"/>
                </a:solidFill>
                <a:latin typeface="Calibri"/>
              </a:rPr>
              <a:t>The UK bans leaded petrol. 2021: the last country stops.</a:t>
            </a:r>
          </a:p>
        </p:txBody>
      </p:sp>
      <p:sp>
        <p:nvSpPr>
          <p:cNvPr id="19" name="Rectangle 18"/>
          <p:cNvSpPr/>
          <p:nvPr/>
        </p:nvSpPr>
        <p:spPr>
          <a:xfrm>
            <a:off x="685800" y="3840480"/>
            <a:ext cx="7772400" cy="676656"/>
          </a:xfrm>
          <a:prstGeom prst="rect">
            <a:avLst/>
          </a:prstGeom>
          <a:solidFill>
            <a:srgbClr val="34322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TextBox 19"/>
          <p:cNvSpPr txBox="1"/>
          <p:nvPr/>
        </p:nvSpPr>
        <p:spPr>
          <a:xfrm>
            <a:off x="868680" y="3941063"/>
            <a:ext cx="7406640" cy="182880"/>
          </a:xfrm>
          <a:prstGeom prst="rect">
            <a:avLst/>
          </a:prstGeom>
          <a:noFill/>
          <a:effectLst/>
        </p:spPr>
        <p:txBody>
          <a:bodyPr wrap="square" anchor="t" lIns="0" rIns="0" tIns="0" bIns="0">
            <a:spAutoFit/>
          </a:bodyPr>
          <a:lstStyle/>
          <a:p>
            <a:pPr algn="ctr">
              <a:lnSpc>
                <a:spcPct val="125000"/>
              </a:lnSpc>
              <a:spcAft>
                <a:spcPts val="0"/>
              </a:spcAft>
            </a:pPr>
            <a:r>
              <a:rPr sz="850" b="1" i="0" spc="150">
                <a:solidFill>
                  <a:srgbClr val="D7D2C8"/>
                </a:solidFill>
                <a:latin typeface="Calibri"/>
              </a:rPr>
              <a:t>THE QUESTION THAT WOULD HAVE CAUGHT IT</a:t>
            </a:r>
          </a:p>
        </p:txBody>
      </p:sp>
      <p:sp>
        <p:nvSpPr>
          <p:cNvPr id="21" name="TextBox 20"/>
          <p:cNvSpPr txBox="1"/>
          <p:nvPr/>
        </p:nvSpPr>
        <p:spPr>
          <a:xfrm>
            <a:off x="868680" y="4133087"/>
            <a:ext cx="7406640" cy="310896"/>
          </a:xfrm>
          <a:prstGeom prst="rect">
            <a:avLst/>
          </a:prstGeom>
          <a:noFill/>
          <a:effectLst/>
        </p:spPr>
        <p:txBody>
          <a:bodyPr wrap="square" anchor="t" lIns="0" rIns="0" tIns="0" bIns="0">
            <a:spAutoFit/>
          </a:bodyPr>
          <a:lstStyle/>
          <a:p>
            <a:pPr algn="ctr">
              <a:lnSpc>
                <a:spcPct val="125000"/>
              </a:lnSpc>
              <a:spcAft>
                <a:spcPts val="0"/>
              </a:spcAft>
            </a:pPr>
            <a:r>
              <a:rPr sz="1800" b="0" i="0">
                <a:solidFill>
                  <a:srgbClr val="FFFDF7"/>
                </a:solidFill>
                <a:latin typeface="Georgia"/>
              </a:rPr>
              <a:t>Has it been tested, and by whom?</a:t>
            </a:r>
          </a:p>
        </p:txBody>
      </p:sp>
      <p:pic>
        <p:nvPicPr>
          <p:cNvPr id="22" name="Picture 21" descr="logo-mark.png"/>
          <p:cNvPicPr>
            <a:picLocks noChangeAspect="1"/>
          </p:cNvPicPr>
          <p:nvPr/>
        </p:nvPicPr>
        <p:blipFill>
          <a:blip r:embed="rId2"/>
          <a:stretch>
            <a:fillRect/>
          </a:stretch>
        </p:blipFill>
        <p:spPr>
          <a:xfrm>
            <a:off x="384048" y="4727448"/>
            <a:ext cx="158374" cy="182880"/>
          </a:xfrm>
          <a:prstGeom prst="rect">
            <a:avLst/>
          </a:prstGeom>
          <a:effectLst/>
        </p:spPr>
      </p:pic>
      <p:sp>
        <p:nvSpPr>
          <p:cNvPr id="23" name="TextBox 22"/>
          <p:cNvSpPr txBox="1"/>
          <p:nvPr/>
        </p:nvSpPr>
        <p:spPr>
          <a:xfrm>
            <a:off x="603504" y="4709160"/>
            <a:ext cx="2194560" cy="210312"/>
          </a:xfrm>
          <a:prstGeom prst="rect">
            <a:avLst/>
          </a:prstGeom>
          <a:noFill/>
          <a:effectLst/>
        </p:spPr>
        <p:txBody>
          <a:bodyPr wrap="square" anchor="t" lIns="0" rIns="0" tIns="0" bIns="0">
            <a:spAutoFit/>
          </a:bodyPr>
          <a:lstStyle/>
          <a:p>
            <a:pPr algn="l">
              <a:lnSpc>
                <a:spcPct val="125000"/>
              </a:lnSpc>
              <a:spcAft>
                <a:spcPts val="0"/>
              </a:spcAft>
            </a:pPr>
            <a:r>
              <a:rPr sz="850" b="0" i="1">
                <a:solidFill>
                  <a:srgbClr val="8C877D"/>
                </a:solidFill>
                <a:latin typeface="Calibri"/>
              </a:rPr>
              <a:t>The Pastoral Guide</a:t>
            </a:r>
          </a:p>
        </p:txBody>
      </p:sp>
      <p:sp>
        <p:nvSpPr>
          <p:cNvPr id="24" name="TextBox 23"/>
          <p:cNvSpPr txBox="1"/>
          <p:nvPr/>
        </p:nvSpPr>
        <p:spPr>
          <a:xfrm>
            <a:off x="7680960" y="4727448"/>
            <a:ext cx="1078992" cy="219456"/>
          </a:xfrm>
          <a:prstGeom prst="rect">
            <a:avLst/>
          </a:prstGeom>
          <a:noFill/>
          <a:effectLst/>
        </p:spPr>
        <p:txBody>
          <a:bodyPr wrap="square" anchor="t" lIns="0" rIns="0" tIns="0" bIns="0">
            <a:spAutoFit/>
          </a:bodyPr>
          <a:lstStyle/>
          <a:p>
            <a:pPr algn="r">
              <a:lnSpc>
                <a:spcPct val="125000"/>
              </a:lnSpc>
              <a:spcAft>
                <a:spcPts val="0"/>
              </a:spcAft>
            </a:pPr>
            <a:r>
              <a:rPr sz="850" b="0" i="0">
                <a:solidFill>
                  <a:srgbClr val="8C877D"/>
                </a:solidFill>
                <a:latin typeface="Calibri"/>
              </a:rPr>
              <a:t>16 / 19</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4EFE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685800" y="274320"/>
            <a:ext cx="5669280" cy="201168"/>
          </a:xfrm>
          <a:prstGeom prst="rect">
            <a:avLst/>
          </a:prstGeom>
          <a:noFill/>
          <a:effectLst/>
        </p:spPr>
        <p:txBody>
          <a:bodyPr wrap="square" anchor="t" lIns="0" rIns="0" tIns="0" bIns="0">
            <a:spAutoFit/>
          </a:bodyPr>
          <a:lstStyle/>
          <a:p>
            <a:pPr algn="l">
              <a:lnSpc>
                <a:spcPct val="125000"/>
              </a:lnSpc>
              <a:spcAft>
                <a:spcPts val="0"/>
              </a:spcAft>
            </a:pPr>
            <a:r>
              <a:rPr sz="900" b="1" i="0" spc="150">
                <a:solidFill>
                  <a:srgbClr val="34322F"/>
                </a:solidFill>
                <a:latin typeface="Calibri"/>
              </a:rPr>
              <a:t>QUESTION THE HEADLINE  ·  LESSON 4 OF 5</a:t>
            </a:r>
          </a:p>
        </p:txBody>
      </p:sp>
      <p:sp>
        <p:nvSpPr>
          <p:cNvPr id="5" name="TextBox 4"/>
          <p:cNvSpPr txBox="1"/>
          <p:nvPr/>
        </p:nvSpPr>
        <p:spPr>
          <a:xfrm>
            <a:off x="685800" y="731520"/>
            <a:ext cx="7772400" cy="201168"/>
          </a:xfrm>
          <a:prstGeom prst="rect">
            <a:avLst/>
          </a:prstGeom>
          <a:noFill/>
          <a:effectLst/>
        </p:spPr>
        <p:txBody>
          <a:bodyPr wrap="square" anchor="t" lIns="0" rIns="0" tIns="0" bIns="0">
            <a:spAutoFit/>
          </a:bodyPr>
          <a:lstStyle/>
          <a:p>
            <a:pPr algn="ctr">
              <a:lnSpc>
                <a:spcPct val="125000"/>
              </a:lnSpc>
              <a:spcAft>
                <a:spcPts val="0"/>
              </a:spcAft>
            </a:pPr>
            <a:r>
              <a:rPr sz="900" b="1" i="0" spc="160">
                <a:solidFill>
                  <a:srgbClr val="56524B"/>
                </a:solidFill>
                <a:latin typeface="Calibri"/>
              </a:rPr>
              <a:t>NO RIGHT ANSWER</a:t>
            </a:r>
          </a:p>
        </p:txBody>
      </p:sp>
      <p:sp>
        <p:nvSpPr>
          <p:cNvPr id="6" name="KEEP_SHADOW"/>
          <p:cNvSpPr/>
          <p:nvPr/>
        </p:nvSpPr>
        <p:spPr>
          <a:xfrm>
            <a:off x="685800" y="1042415"/>
            <a:ext cx="7772400" cy="1934464"/>
          </a:xfrm>
          <a:prstGeom prst="rect">
            <a:avLst/>
          </a:prstGeom>
          <a:solidFill>
            <a:srgbClr val="FFFFFF"/>
          </a:solidFill>
          <a:ln>
            <a:noFill/>
          </a:ln>
          <a:effectLst>
            <a:outerShdw blurRad="76200" dist="25400" dir="5400000" algn="t" rotWithShape="0">
              <a:srgbClr val="000000">
                <a:alpha val="22000"/>
              </a:srgbClr>
            </a:outerShdw>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Rectangle 6"/>
          <p:cNvSpPr/>
          <p:nvPr/>
        </p:nvSpPr>
        <p:spPr>
          <a:xfrm>
            <a:off x="685800" y="1042415"/>
            <a:ext cx="7772400" cy="45720"/>
          </a:xfrm>
          <a:prstGeom prst="rect">
            <a:avLst/>
          </a:prstGeom>
          <a:solidFill>
            <a:srgbClr val="34322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TextBox 7"/>
          <p:cNvSpPr txBox="1"/>
          <p:nvPr/>
        </p:nvSpPr>
        <p:spPr>
          <a:xfrm>
            <a:off x="1143000" y="1316736"/>
            <a:ext cx="6858000" cy="1385824"/>
          </a:xfrm>
          <a:prstGeom prst="rect">
            <a:avLst/>
          </a:prstGeom>
          <a:noFill/>
          <a:effectLst/>
        </p:spPr>
        <p:txBody>
          <a:bodyPr wrap="square" anchor="t" lIns="0" rIns="0" tIns="0" bIns="0">
            <a:spAutoFit/>
          </a:bodyPr>
          <a:lstStyle/>
          <a:p>
            <a:pPr algn="ctr">
              <a:lnSpc>
                <a:spcPct val="112000"/>
              </a:lnSpc>
              <a:spcAft>
                <a:spcPts val="0"/>
              </a:spcAft>
            </a:pPr>
            <a:r>
              <a:rPr sz="2200" b="0" i="0">
                <a:solidFill>
                  <a:srgbClr val="262422"/>
                </a:solidFill>
                <a:latin typeface="Georgia"/>
              </a:rPr>
              <a:t>“No real evidence of harm” and “safe” are not the same thing. Who should have to do the proving: the people selling something, or the people worried about it?</a:t>
            </a:r>
          </a:p>
        </p:txBody>
      </p:sp>
      <p:sp>
        <p:nvSpPr>
          <p:cNvPr id="9" name="TextBox 8"/>
          <p:cNvSpPr txBox="1"/>
          <p:nvPr/>
        </p:nvSpPr>
        <p:spPr>
          <a:xfrm>
            <a:off x="868680" y="3296920"/>
            <a:ext cx="7406640" cy="224028"/>
          </a:xfrm>
          <a:prstGeom prst="rect">
            <a:avLst/>
          </a:prstGeom>
          <a:noFill/>
          <a:effectLst/>
        </p:spPr>
        <p:txBody>
          <a:bodyPr wrap="square" anchor="t" lIns="0" rIns="0" tIns="0" bIns="0">
            <a:spAutoFit/>
          </a:bodyPr>
          <a:lstStyle/>
          <a:p>
            <a:pPr algn="ctr">
              <a:lnSpc>
                <a:spcPct val="120000"/>
              </a:lnSpc>
              <a:spcAft>
                <a:spcPts val="0"/>
              </a:spcAft>
            </a:pPr>
            <a:r>
              <a:rPr sz="1400" b="1" i="0">
                <a:solidFill>
                  <a:srgbClr val="34322F"/>
                </a:solidFill>
                <a:latin typeface="Calibri"/>
              </a:rPr>
              <a:t>Two minutes with the person next to you, then we hear from a few.</a:t>
            </a:r>
          </a:p>
        </p:txBody>
      </p:sp>
      <p:pic>
        <p:nvPicPr>
          <p:cNvPr id="10" name="Picture 9" descr="logo-mark.png"/>
          <p:cNvPicPr>
            <a:picLocks noChangeAspect="1"/>
          </p:cNvPicPr>
          <p:nvPr/>
        </p:nvPicPr>
        <p:blipFill>
          <a:blip r:embed="rId2"/>
          <a:stretch>
            <a:fillRect/>
          </a:stretch>
        </p:blipFill>
        <p:spPr>
          <a:xfrm>
            <a:off x="384048" y="4727448"/>
            <a:ext cx="158374" cy="182880"/>
          </a:xfrm>
          <a:prstGeom prst="rect">
            <a:avLst/>
          </a:prstGeom>
          <a:effectLst/>
        </p:spPr>
      </p:pic>
      <p:sp>
        <p:nvSpPr>
          <p:cNvPr id="11" name="TextBox 10"/>
          <p:cNvSpPr txBox="1"/>
          <p:nvPr/>
        </p:nvSpPr>
        <p:spPr>
          <a:xfrm>
            <a:off x="603504" y="4709160"/>
            <a:ext cx="2194560" cy="210312"/>
          </a:xfrm>
          <a:prstGeom prst="rect">
            <a:avLst/>
          </a:prstGeom>
          <a:noFill/>
          <a:effectLst/>
        </p:spPr>
        <p:txBody>
          <a:bodyPr wrap="square" anchor="t" lIns="0" rIns="0" tIns="0" bIns="0">
            <a:spAutoFit/>
          </a:bodyPr>
          <a:lstStyle/>
          <a:p>
            <a:pPr algn="l">
              <a:lnSpc>
                <a:spcPct val="125000"/>
              </a:lnSpc>
              <a:spcAft>
                <a:spcPts val="0"/>
              </a:spcAft>
            </a:pPr>
            <a:r>
              <a:rPr sz="850" b="0" i="1">
                <a:solidFill>
                  <a:srgbClr val="8C877D"/>
                </a:solidFill>
                <a:latin typeface="Calibri"/>
              </a:rPr>
              <a:t>The Pastoral Guide</a:t>
            </a:r>
          </a:p>
        </p:txBody>
      </p:sp>
      <p:sp>
        <p:nvSpPr>
          <p:cNvPr id="12" name="TextBox 11"/>
          <p:cNvSpPr txBox="1"/>
          <p:nvPr/>
        </p:nvSpPr>
        <p:spPr>
          <a:xfrm>
            <a:off x="7680960" y="4727448"/>
            <a:ext cx="1078992" cy="219456"/>
          </a:xfrm>
          <a:prstGeom prst="rect">
            <a:avLst/>
          </a:prstGeom>
          <a:noFill/>
          <a:effectLst/>
        </p:spPr>
        <p:txBody>
          <a:bodyPr wrap="square" anchor="t" lIns="0" rIns="0" tIns="0" bIns="0">
            <a:spAutoFit/>
          </a:bodyPr>
          <a:lstStyle/>
          <a:p>
            <a:pPr algn="r">
              <a:lnSpc>
                <a:spcPct val="125000"/>
              </a:lnSpc>
              <a:spcAft>
                <a:spcPts val="0"/>
              </a:spcAft>
            </a:pPr>
            <a:r>
              <a:rPr sz="850" b="0" i="0">
                <a:solidFill>
                  <a:srgbClr val="8C877D"/>
                </a:solidFill>
                <a:latin typeface="Calibri"/>
              </a:rPr>
              <a:t>17 / 19</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4EFE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685800" y="274320"/>
            <a:ext cx="5669280" cy="201168"/>
          </a:xfrm>
          <a:prstGeom prst="rect">
            <a:avLst/>
          </a:prstGeom>
          <a:noFill/>
          <a:effectLst/>
        </p:spPr>
        <p:txBody>
          <a:bodyPr wrap="square" anchor="t" lIns="0" rIns="0" tIns="0" bIns="0">
            <a:spAutoFit/>
          </a:bodyPr>
          <a:lstStyle/>
          <a:p>
            <a:pPr algn="l">
              <a:lnSpc>
                <a:spcPct val="125000"/>
              </a:lnSpc>
              <a:spcAft>
                <a:spcPts val="0"/>
              </a:spcAft>
            </a:pPr>
            <a:r>
              <a:rPr sz="900" b="1" i="0" spc="150">
                <a:solidFill>
                  <a:srgbClr val="34322F"/>
                </a:solidFill>
                <a:latin typeface="Calibri"/>
              </a:rPr>
              <a:t>QUESTION THE HEADLINE  ·  LESSON 4 OF 5</a:t>
            </a:r>
          </a:p>
        </p:txBody>
      </p:sp>
      <p:sp>
        <p:nvSpPr>
          <p:cNvPr id="5" name="TextBox 4"/>
          <p:cNvSpPr txBox="1"/>
          <p:nvPr/>
        </p:nvSpPr>
        <p:spPr>
          <a:xfrm>
            <a:off x="685800" y="566928"/>
            <a:ext cx="7772400" cy="434848"/>
          </a:xfrm>
          <a:prstGeom prst="rect">
            <a:avLst/>
          </a:prstGeom>
          <a:noFill/>
          <a:effectLst/>
        </p:spPr>
        <p:txBody>
          <a:bodyPr wrap="square" anchor="t" lIns="0" rIns="0" tIns="0" bIns="0">
            <a:spAutoFit/>
          </a:bodyPr>
          <a:lstStyle/>
          <a:p>
            <a:pPr algn="l">
              <a:lnSpc>
                <a:spcPct val="105000"/>
              </a:lnSpc>
              <a:spcAft>
                <a:spcPts val="0"/>
              </a:spcAft>
            </a:pPr>
            <a:r>
              <a:rPr sz="2800" b="0" i="0">
                <a:solidFill>
                  <a:srgbClr val="262422"/>
                </a:solidFill>
                <a:latin typeface="Georgia"/>
              </a:rPr>
              <a:t>Two questions, just for you</a:t>
            </a:r>
          </a:p>
        </p:txBody>
      </p:sp>
      <p:sp>
        <p:nvSpPr>
          <p:cNvPr id="6" name="Rectangle 5"/>
          <p:cNvSpPr/>
          <p:nvPr/>
        </p:nvSpPr>
        <p:spPr>
          <a:xfrm>
            <a:off x="685800" y="1371600"/>
            <a:ext cx="7772400" cy="946403"/>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Rectangle 6"/>
          <p:cNvSpPr/>
          <p:nvPr/>
        </p:nvSpPr>
        <p:spPr>
          <a:xfrm>
            <a:off x="685800" y="1371600"/>
            <a:ext cx="45720" cy="946403"/>
          </a:xfrm>
          <a:prstGeom prst="rect">
            <a:avLst/>
          </a:prstGeom>
          <a:solidFill>
            <a:srgbClr val="34322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Oval 7"/>
          <p:cNvSpPr/>
          <p:nvPr/>
        </p:nvSpPr>
        <p:spPr>
          <a:xfrm>
            <a:off x="896112" y="1643634"/>
            <a:ext cx="402336" cy="402336"/>
          </a:xfrm>
          <a:prstGeom prst="ellipse">
            <a:avLst/>
          </a:prstGeom>
          <a:solidFill>
            <a:srgbClr val="34322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896112" y="1735074"/>
            <a:ext cx="402336" cy="219456"/>
          </a:xfrm>
          <a:prstGeom prst="rect">
            <a:avLst/>
          </a:prstGeom>
          <a:noFill/>
          <a:effectLst/>
        </p:spPr>
        <p:txBody>
          <a:bodyPr wrap="square" anchor="t" lIns="0" rIns="0" tIns="0" bIns="0">
            <a:spAutoFit/>
          </a:bodyPr>
          <a:lstStyle/>
          <a:p>
            <a:pPr algn="ctr">
              <a:lnSpc>
                <a:spcPct val="125000"/>
              </a:lnSpc>
              <a:spcAft>
                <a:spcPts val="0"/>
              </a:spcAft>
            </a:pPr>
            <a:r>
              <a:rPr sz="1200" b="1" i="0">
                <a:solidFill>
                  <a:srgbClr val="FFFDF7"/>
                </a:solidFill>
                <a:latin typeface="Calibri"/>
              </a:rPr>
              <a:t>1</a:t>
            </a:r>
          </a:p>
        </p:txBody>
      </p:sp>
      <p:sp>
        <p:nvSpPr>
          <p:cNvPr id="10" name="TextBox 9"/>
          <p:cNvSpPr txBox="1"/>
          <p:nvPr/>
        </p:nvSpPr>
        <p:spPr>
          <a:xfrm>
            <a:off x="1554480" y="1572768"/>
            <a:ext cx="6675120" cy="544068"/>
          </a:xfrm>
          <a:prstGeom prst="rect">
            <a:avLst/>
          </a:prstGeom>
          <a:noFill/>
          <a:effectLst/>
        </p:spPr>
        <p:txBody>
          <a:bodyPr wrap="square" anchor="t" lIns="0" rIns="0" tIns="0" bIns="0">
            <a:spAutoFit/>
          </a:bodyPr>
          <a:lstStyle/>
          <a:p>
            <a:pPr algn="l">
              <a:lnSpc>
                <a:spcPct val="115000"/>
              </a:lnSpc>
              <a:spcAft>
                <a:spcPts val="0"/>
              </a:spcAft>
            </a:pPr>
            <a:r>
              <a:rPr sz="1700" b="0" i="0">
                <a:solidFill>
                  <a:srgbClr val="262422"/>
                </a:solidFill>
                <a:latin typeface="Georgia"/>
              </a:rPr>
              <a:t>Where did you move on the line, and which card moved you?</a:t>
            </a:r>
          </a:p>
        </p:txBody>
      </p:sp>
      <p:sp>
        <p:nvSpPr>
          <p:cNvPr id="11" name="Rectangle 10"/>
          <p:cNvSpPr/>
          <p:nvPr/>
        </p:nvSpPr>
        <p:spPr>
          <a:xfrm>
            <a:off x="685800" y="2537460"/>
            <a:ext cx="7772400" cy="946403"/>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Rectangle 11"/>
          <p:cNvSpPr/>
          <p:nvPr/>
        </p:nvSpPr>
        <p:spPr>
          <a:xfrm>
            <a:off x="685800" y="2537460"/>
            <a:ext cx="45720" cy="946403"/>
          </a:xfrm>
          <a:prstGeom prst="rect">
            <a:avLst/>
          </a:prstGeom>
          <a:solidFill>
            <a:srgbClr val="34322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Oval 12"/>
          <p:cNvSpPr/>
          <p:nvPr/>
        </p:nvSpPr>
        <p:spPr>
          <a:xfrm>
            <a:off x="896112" y="2809494"/>
            <a:ext cx="402336" cy="402336"/>
          </a:xfrm>
          <a:prstGeom prst="ellipse">
            <a:avLst/>
          </a:prstGeom>
          <a:solidFill>
            <a:srgbClr val="34322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TextBox 13"/>
          <p:cNvSpPr txBox="1"/>
          <p:nvPr/>
        </p:nvSpPr>
        <p:spPr>
          <a:xfrm>
            <a:off x="896112" y="2900934"/>
            <a:ext cx="402336" cy="219456"/>
          </a:xfrm>
          <a:prstGeom prst="rect">
            <a:avLst/>
          </a:prstGeom>
          <a:noFill/>
          <a:effectLst/>
        </p:spPr>
        <p:txBody>
          <a:bodyPr wrap="square" anchor="t" lIns="0" rIns="0" tIns="0" bIns="0">
            <a:spAutoFit/>
          </a:bodyPr>
          <a:lstStyle/>
          <a:p>
            <a:pPr algn="ctr">
              <a:lnSpc>
                <a:spcPct val="125000"/>
              </a:lnSpc>
              <a:spcAft>
                <a:spcPts val="0"/>
              </a:spcAft>
            </a:pPr>
            <a:r>
              <a:rPr sz="1200" b="1" i="0">
                <a:solidFill>
                  <a:srgbClr val="FFFDF7"/>
                </a:solidFill>
                <a:latin typeface="Calibri"/>
              </a:rPr>
              <a:t>2</a:t>
            </a:r>
          </a:p>
        </p:txBody>
      </p:sp>
      <p:sp>
        <p:nvSpPr>
          <p:cNvPr id="15" name="TextBox 14"/>
          <p:cNvSpPr txBox="1"/>
          <p:nvPr/>
        </p:nvSpPr>
        <p:spPr>
          <a:xfrm>
            <a:off x="1554480" y="2738628"/>
            <a:ext cx="6675120" cy="544068"/>
          </a:xfrm>
          <a:prstGeom prst="rect">
            <a:avLst/>
          </a:prstGeom>
          <a:noFill/>
          <a:effectLst/>
        </p:spPr>
        <p:txBody>
          <a:bodyPr wrap="square" anchor="t" lIns="0" rIns="0" tIns="0" bIns="0">
            <a:spAutoFit/>
          </a:bodyPr>
          <a:lstStyle/>
          <a:p>
            <a:pPr algn="l">
              <a:lnSpc>
                <a:spcPct val="115000"/>
              </a:lnSpc>
              <a:spcAft>
                <a:spcPts val="0"/>
              </a:spcAft>
            </a:pPr>
            <a:r>
              <a:rPr sz="1700" b="0" i="0">
                <a:solidFill>
                  <a:srgbClr val="262422"/>
                </a:solidFill>
                <a:latin typeface="Georgia"/>
              </a:rPr>
              <a:t>Next time you see a headline, which of the five questions will you ask first?</a:t>
            </a:r>
          </a:p>
        </p:txBody>
      </p:sp>
      <p:sp>
        <p:nvSpPr>
          <p:cNvPr id="16" name="TextBox 15"/>
          <p:cNvSpPr txBox="1"/>
          <p:nvPr/>
        </p:nvSpPr>
        <p:spPr>
          <a:xfrm>
            <a:off x="868680" y="3886200"/>
            <a:ext cx="7406640" cy="416052"/>
          </a:xfrm>
          <a:prstGeom prst="rect">
            <a:avLst/>
          </a:prstGeom>
          <a:noFill/>
          <a:effectLst/>
        </p:spPr>
        <p:txBody>
          <a:bodyPr wrap="square" anchor="t" lIns="0" rIns="0" tIns="0" bIns="0">
            <a:spAutoFit/>
          </a:bodyPr>
          <a:lstStyle/>
          <a:p>
            <a:pPr algn="ctr">
              <a:lnSpc>
                <a:spcPct val="120000"/>
              </a:lnSpc>
              <a:spcAft>
                <a:spcPts val="0"/>
              </a:spcAft>
            </a:pPr>
            <a:r>
              <a:rPr sz="1300" b="1" i="0">
                <a:solidFill>
                  <a:srgbClr val="34322F"/>
                </a:solidFill>
                <a:latin typeface="Calibri"/>
              </a:rPr>
              <a:t>Write your answers in the last box of your evidence sheet. It is yours to keep, and nothing is read out.</a:t>
            </a:r>
          </a:p>
        </p:txBody>
      </p:sp>
      <p:pic>
        <p:nvPicPr>
          <p:cNvPr id="17" name="Picture 16" descr="logo-mark.png"/>
          <p:cNvPicPr>
            <a:picLocks noChangeAspect="1"/>
          </p:cNvPicPr>
          <p:nvPr/>
        </p:nvPicPr>
        <p:blipFill>
          <a:blip r:embed="rId2"/>
          <a:stretch>
            <a:fillRect/>
          </a:stretch>
        </p:blipFill>
        <p:spPr>
          <a:xfrm>
            <a:off x="384048" y="4727448"/>
            <a:ext cx="158374" cy="182880"/>
          </a:xfrm>
          <a:prstGeom prst="rect">
            <a:avLst/>
          </a:prstGeom>
          <a:effectLst/>
        </p:spPr>
      </p:pic>
      <p:sp>
        <p:nvSpPr>
          <p:cNvPr id="18" name="TextBox 17"/>
          <p:cNvSpPr txBox="1"/>
          <p:nvPr/>
        </p:nvSpPr>
        <p:spPr>
          <a:xfrm>
            <a:off x="603504" y="4709160"/>
            <a:ext cx="2194560" cy="210312"/>
          </a:xfrm>
          <a:prstGeom prst="rect">
            <a:avLst/>
          </a:prstGeom>
          <a:noFill/>
          <a:effectLst/>
        </p:spPr>
        <p:txBody>
          <a:bodyPr wrap="square" anchor="t" lIns="0" rIns="0" tIns="0" bIns="0">
            <a:spAutoFit/>
          </a:bodyPr>
          <a:lstStyle/>
          <a:p>
            <a:pPr algn="l">
              <a:lnSpc>
                <a:spcPct val="125000"/>
              </a:lnSpc>
              <a:spcAft>
                <a:spcPts val="0"/>
              </a:spcAft>
            </a:pPr>
            <a:r>
              <a:rPr sz="850" b="0" i="1">
                <a:solidFill>
                  <a:srgbClr val="8C877D"/>
                </a:solidFill>
                <a:latin typeface="Calibri"/>
              </a:rPr>
              <a:t>The Pastoral Guide</a:t>
            </a:r>
          </a:p>
        </p:txBody>
      </p:sp>
      <p:sp>
        <p:nvSpPr>
          <p:cNvPr id="19" name="TextBox 18"/>
          <p:cNvSpPr txBox="1"/>
          <p:nvPr/>
        </p:nvSpPr>
        <p:spPr>
          <a:xfrm>
            <a:off x="7680960" y="4727448"/>
            <a:ext cx="1078992" cy="219456"/>
          </a:xfrm>
          <a:prstGeom prst="rect">
            <a:avLst/>
          </a:prstGeom>
          <a:noFill/>
          <a:effectLst/>
        </p:spPr>
        <p:txBody>
          <a:bodyPr wrap="square" anchor="t" lIns="0" rIns="0" tIns="0" bIns="0">
            <a:spAutoFit/>
          </a:bodyPr>
          <a:lstStyle/>
          <a:p>
            <a:pPr algn="r">
              <a:lnSpc>
                <a:spcPct val="125000"/>
              </a:lnSpc>
              <a:spcAft>
                <a:spcPts val="0"/>
              </a:spcAft>
            </a:pPr>
            <a:r>
              <a:rPr sz="850" b="0" i="0">
                <a:solidFill>
                  <a:srgbClr val="8C877D"/>
                </a:solidFill>
                <a:latin typeface="Calibri"/>
              </a:rPr>
              <a:t>18 / 19</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4EFE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Rounded Rectangle 2"/>
          <p:cNvSpPr/>
          <p:nvPr/>
        </p:nvSpPr>
        <p:spPr>
          <a:xfrm>
            <a:off x="685800" y="274320"/>
            <a:ext cx="2635689" cy="237744"/>
          </a:xfrm>
          <a:prstGeom prst="roundRect">
            <a:avLst>
              <a:gd name="adj" fmla="val 50000"/>
            </a:avLst>
          </a:prstGeom>
          <a:solidFill>
            <a:srgbClr val="EFECE5"/>
          </a:solidFill>
          <a:ln>
            <a:noFill/>
          </a:ln>
          <a:effectLst/>
        </p:spPr>
        <p:style>
          <a:lnRef idx="1">
            <a:schemeClr val="accent1"/>
          </a:lnRef>
          <a:fillRef idx="3">
            <a:schemeClr val="accent1"/>
          </a:fillRef>
          <a:effectRef idx="0">
            <a:schemeClr val="accent1"/>
          </a:effectRef>
          <a:fontRef idx="minor">
            <a:schemeClr val="lt1"/>
          </a:fontRef>
        </p:style>
        <p:txBody>
          <a:bodyPr rtlCol="0" anchor="ctr" wrap="none" lIns="0" rIns="0" tIns="0" bIns="0"/>
          <a:lstStyle/>
          <a:p>
            <a:pPr algn="ctr"/>
            <a:r>
              <a:rPr sz="950" b="1" spc="90">
                <a:solidFill>
                  <a:srgbClr val="34322F"/>
                </a:solidFill>
                <a:latin typeface="Calibri"/>
              </a:rPr>
              <a:t>FOR THE TEACHER  ·  SOURCES</a:t>
            </a:r>
          </a:p>
        </p:txBody>
      </p:sp>
      <p:sp>
        <p:nvSpPr>
          <p:cNvPr id="4" name="TextBox 3"/>
          <p:cNvSpPr txBox="1"/>
          <p:nvPr/>
        </p:nvSpPr>
        <p:spPr>
          <a:xfrm>
            <a:off x="685800" y="658368"/>
            <a:ext cx="7772400" cy="406400"/>
          </a:xfrm>
          <a:prstGeom prst="rect">
            <a:avLst/>
          </a:prstGeom>
          <a:noFill/>
          <a:effectLst/>
        </p:spPr>
        <p:txBody>
          <a:bodyPr wrap="square" anchor="t" lIns="0" rIns="0" tIns="0" bIns="0">
            <a:spAutoFit/>
          </a:bodyPr>
          <a:lstStyle/>
          <a:p>
            <a:pPr algn="l">
              <a:lnSpc>
                <a:spcPct val="105000"/>
              </a:lnSpc>
              <a:spcAft>
                <a:spcPts val="0"/>
              </a:spcAft>
            </a:pPr>
            <a:r>
              <a:rPr sz="2600" b="0" i="0">
                <a:solidFill>
                  <a:srgbClr val="262422"/>
                </a:solidFill>
                <a:latin typeface="Georgia"/>
              </a:rPr>
              <a:t>Where the evidence came from</a:t>
            </a:r>
          </a:p>
        </p:txBody>
      </p:sp>
      <p:sp>
        <p:nvSpPr>
          <p:cNvPr id="5" name="TextBox 4"/>
          <p:cNvSpPr txBox="1"/>
          <p:nvPr/>
        </p:nvSpPr>
        <p:spPr>
          <a:xfrm>
            <a:off x="685800" y="1280160"/>
            <a:ext cx="7772400" cy="363220"/>
          </a:xfrm>
          <a:prstGeom prst="rect">
            <a:avLst/>
          </a:prstGeom>
          <a:noFill/>
          <a:effectLst/>
        </p:spPr>
        <p:txBody>
          <a:bodyPr wrap="square" anchor="t" lIns="0" rIns="0" tIns="0" bIns="0">
            <a:spAutoFit/>
          </a:bodyPr>
          <a:lstStyle/>
          <a:p>
            <a:pPr algn="l">
              <a:lnSpc>
                <a:spcPct val="125000"/>
              </a:lnSpc>
              <a:spcAft>
                <a:spcPts val="0"/>
              </a:spcAft>
            </a:pPr>
            <a:r>
              <a:rPr sz="1100" b="0" i="0">
                <a:solidFill>
                  <a:srgbClr val="262422"/>
                </a:solidFill>
                <a:latin typeface="Calibri"/>
              </a:rPr>
              <a:t>Egan K. B. and others (2021). Blood lead levels in U.S. children ages 1–11 years, 1976–2016. Environmental Health Perspectives, 129(3).</a:t>
            </a:r>
          </a:p>
        </p:txBody>
      </p:sp>
      <p:sp>
        <p:nvSpPr>
          <p:cNvPr id="6" name="TextBox 5"/>
          <p:cNvSpPr txBox="1"/>
          <p:nvPr/>
        </p:nvSpPr>
        <p:spPr>
          <a:xfrm>
            <a:off x="685800" y="1771396"/>
            <a:ext cx="7772400" cy="363220"/>
          </a:xfrm>
          <a:prstGeom prst="rect">
            <a:avLst/>
          </a:prstGeom>
          <a:noFill/>
          <a:effectLst/>
        </p:spPr>
        <p:txBody>
          <a:bodyPr wrap="square" anchor="t" lIns="0" rIns="0" tIns="0" bIns="0">
            <a:spAutoFit/>
          </a:bodyPr>
          <a:lstStyle/>
          <a:p>
            <a:pPr algn="l">
              <a:lnSpc>
                <a:spcPct val="125000"/>
              </a:lnSpc>
              <a:spcAft>
                <a:spcPts val="0"/>
              </a:spcAft>
            </a:pPr>
            <a:r>
              <a:rPr sz="1100" b="0" i="0">
                <a:solidFill>
                  <a:srgbClr val="262422"/>
                </a:solidFill>
                <a:latin typeface="Calibri"/>
              </a:rPr>
              <a:t>US Environmental Protection Agency, Report on the Environment: Blood Lead (2023) and America’s Children and the Environment: Lead (2026).</a:t>
            </a:r>
          </a:p>
        </p:txBody>
      </p:sp>
      <p:sp>
        <p:nvSpPr>
          <p:cNvPr id="7" name="TextBox 6"/>
          <p:cNvSpPr txBox="1"/>
          <p:nvPr/>
        </p:nvSpPr>
        <p:spPr>
          <a:xfrm>
            <a:off x="685800" y="2262632"/>
            <a:ext cx="7772400" cy="181610"/>
          </a:xfrm>
          <a:prstGeom prst="rect">
            <a:avLst/>
          </a:prstGeom>
          <a:noFill/>
          <a:effectLst/>
        </p:spPr>
        <p:txBody>
          <a:bodyPr wrap="square" anchor="t" lIns="0" rIns="0" tIns="0" bIns="0">
            <a:spAutoFit/>
          </a:bodyPr>
          <a:lstStyle/>
          <a:p>
            <a:pPr algn="l">
              <a:lnSpc>
                <a:spcPct val="125000"/>
              </a:lnSpc>
              <a:spcAft>
                <a:spcPts val="0"/>
              </a:spcAft>
            </a:pPr>
            <a:r>
              <a:rPr sz="1100" b="0" i="0">
                <a:solidFill>
                  <a:srgbClr val="262422"/>
                </a:solidFill>
                <a:latin typeface="Calibri"/>
              </a:rPr>
              <a:t>UNEP (2021). Era of leaded petrol over. Press release, 30 August 2021.</a:t>
            </a:r>
          </a:p>
        </p:txBody>
      </p:sp>
      <p:sp>
        <p:nvSpPr>
          <p:cNvPr id="8" name="TextBox 7"/>
          <p:cNvSpPr txBox="1"/>
          <p:nvPr/>
        </p:nvSpPr>
        <p:spPr>
          <a:xfrm>
            <a:off x="685800" y="2572258"/>
            <a:ext cx="7772400" cy="181610"/>
          </a:xfrm>
          <a:prstGeom prst="rect">
            <a:avLst/>
          </a:prstGeom>
          <a:noFill/>
          <a:effectLst/>
        </p:spPr>
        <p:txBody>
          <a:bodyPr wrap="square" anchor="t" lIns="0" rIns="0" tIns="0" bIns="0">
            <a:spAutoFit/>
          </a:bodyPr>
          <a:lstStyle/>
          <a:p>
            <a:pPr algn="l">
              <a:lnSpc>
                <a:spcPct val="125000"/>
              </a:lnSpc>
              <a:spcAft>
                <a:spcPts val="0"/>
              </a:spcAft>
            </a:pPr>
            <a:r>
              <a:rPr sz="1100" b="0" i="0">
                <a:solidFill>
                  <a:srgbClr val="262422"/>
                </a:solidFill>
                <a:latin typeface="Calibri"/>
              </a:rPr>
              <a:t>Wikipedia, Tetraethyllead, Robert A. Kehoe and Clair Cameron Patterson, accessed September 2026.</a:t>
            </a:r>
          </a:p>
        </p:txBody>
      </p:sp>
      <p:sp>
        <p:nvSpPr>
          <p:cNvPr id="9" name="TextBox 8"/>
          <p:cNvSpPr txBox="1"/>
          <p:nvPr/>
        </p:nvSpPr>
        <p:spPr>
          <a:xfrm>
            <a:off x="685800" y="2881884"/>
            <a:ext cx="7772400" cy="363220"/>
          </a:xfrm>
          <a:prstGeom prst="rect">
            <a:avLst/>
          </a:prstGeom>
          <a:noFill/>
          <a:effectLst/>
        </p:spPr>
        <p:txBody>
          <a:bodyPr wrap="square" anchor="t" lIns="0" rIns="0" tIns="0" bIns="0">
            <a:spAutoFit/>
          </a:bodyPr>
          <a:lstStyle/>
          <a:p>
            <a:pPr algn="l">
              <a:lnSpc>
                <a:spcPct val="125000"/>
              </a:lnSpc>
              <a:spcAft>
                <a:spcPts val="0"/>
              </a:spcAft>
            </a:pPr>
            <a:r>
              <a:rPr sz="1100" b="0" i="0">
                <a:solidFill>
                  <a:srgbClr val="262422"/>
                </a:solidFill>
                <a:latin typeface="Calibri"/>
              </a:rPr>
              <a:t>Ericson J. E., Shirahata H. and Patterson C. C. (1979). Skeletal concentrations of lead in ancient Peruvians. New England Journal of Medicine, 300, 946–951.</a:t>
            </a:r>
          </a:p>
        </p:txBody>
      </p:sp>
      <p:pic>
        <p:nvPicPr>
          <p:cNvPr id="10" name="Picture 9" descr="logo-mark.png"/>
          <p:cNvPicPr>
            <a:picLocks noChangeAspect="1"/>
          </p:cNvPicPr>
          <p:nvPr/>
        </p:nvPicPr>
        <p:blipFill>
          <a:blip r:embed="rId2"/>
          <a:stretch>
            <a:fillRect/>
          </a:stretch>
        </p:blipFill>
        <p:spPr>
          <a:xfrm>
            <a:off x="384048" y="4727448"/>
            <a:ext cx="158374" cy="182880"/>
          </a:xfrm>
          <a:prstGeom prst="rect">
            <a:avLst/>
          </a:prstGeom>
          <a:effectLst/>
        </p:spPr>
      </p:pic>
      <p:sp>
        <p:nvSpPr>
          <p:cNvPr id="11" name="TextBox 10"/>
          <p:cNvSpPr txBox="1"/>
          <p:nvPr/>
        </p:nvSpPr>
        <p:spPr>
          <a:xfrm>
            <a:off x="603504" y="4709160"/>
            <a:ext cx="2194560" cy="210312"/>
          </a:xfrm>
          <a:prstGeom prst="rect">
            <a:avLst/>
          </a:prstGeom>
          <a:noFill/>
          <a:effectLst/>
        </p:spPr>
        <p:txBody>
          <a:bodyPr wrap="square" anchor="t" lIns="0" rIns="0" tIns="0" bIns="0">
            <a:spAutoFit/>
          </a:bodyPr>
          <a:lstStyle/>
          <a:p>
            <a:pPr algn="l">
              <a:lnSpc>
                <a:spcPct val="125000"/>
              </a:lnSpc>
              <a:spcAft>
                <a:spcPts val="0"/>
              </a:spcAft>
            </a:pPr>
            <a:r>
              <a:rPr sz="850" b="0" i="1">
                <a:solidFill>
                  <a:srgbClr val="8C877D"/>
                </a:solidFill>
                <a:latin typeface="Calibri"/>
              </a:rPr>
              <a:t>The Pastoral Guide</a:t>
            </a:r>
          </a:p>
        </p:txBody>
      </p:sp>
      <p:sp>
        <p:nvSpPr>
          <p:cNvPr id="12" name="TextBox 11"/>
          <p:cNvSpPr txBox="1"/>
          <p:nvPr/>
        </p:nvSpPr>
        <p:spPr>
          <a:xfrm>
            <a:off x="7680960" y="4727448"/>
            <a:ext cx="1078992" cy="219456"/>
          </a:xfrm>
          <a:prstGeom prst="rect">
            <a:avLst/>
          </a:prstGeom>
          <a:noFill/>
          <a:effectLst/>
        </p:spPr>
        <p:txBody>
          <a:bodyPr wrap="square" anchor="t" lIns="0" rIns="0" tIns="0" bIns="0">
            <a:spAutoFit/>
          </a:bodyPr>
          <a:lstStyle/>
          <a:p>
            <a:pPr algn="r">
              <a:lnSpc>
                <a:spcPct val="125000"/>
              </a:lnSpc>
              <a:spcAft>
                <a:spcPts val="0"/>
              </a:spcAft>
            </a:pPr>
            <a:r>
              <a:rPr sz="850" b="0" i="0">
                <a:solidFill>
                  <a:srgbClr val="8C877D"/>
                </a:solidFill>
                <a:latin typeface="Calibri"/>
              </a:rPr>
              <a:t>19 / 19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