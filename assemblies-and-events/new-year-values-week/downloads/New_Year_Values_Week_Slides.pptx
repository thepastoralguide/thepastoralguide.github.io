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689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F6577"/>
                </a:solidFill>
                <a:latin typeface="Libre Caslon Display"/>
              </a:rPr>
              <a:t>The New Year Values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5C6552"/>
                </a:solidFill>
                <a:latin typeface="Karla"/>
              </a:rPr>
              <a:t>An Assembly and a Week of Form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9179"/>
                </a:solidFill>
                <a:latin typeface="Karla"/>
              </a:rPr>
              <a:t>The first week of the spring term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Hands up if you have ever made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a New Year’s resolution.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B9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B9DBE4"/>
                </a:solidFill>
                <a:latin typeface="Karla"/>
              </a:rPr>
              <a:t>Keep your hand up if it lasted until February. This week is about goals that do.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B9DBE4"/>
                </a:solidFill>
                <a:latin typeface="Karla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B9DBE4"/>
                </a:solidFill>
                <a:latin typeface="Karla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Not a new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This week is not about becoming somebody else. It is about four values that help you get a little better at one 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64008" cy="1188720"/>
          </a:xfrm>
          <a:prstGeom prst="rect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414016"/>
            <a:ext cx="69677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This morning: what research says about goals that last.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This week: five minutes each morning, and one sheet to keep.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A fresh start really does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Researchers counted how often students used a university gym, day by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FFFDF7"/>
                </a:solidFill>
                <a:latin typeface="Libre Caslon Display"/>
              </a:rPr>
              <a:t>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9DBE4"/>
                </a:solidFill>
                <a:latin typeface="Karla"/>
              </a:rPr>
              <a:t>more visits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9DBE4"/>
                </a:solidFill>
                <a:latin typeface="Karla"/>
              </a:rPr>
              <a:t>as a new term 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8040" y="2212848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8040" y="2359152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1F6577"/>
                </a:solidFill>
                <a:latin typeface="Libre Caslon Display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640" y="3127248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more visits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as a new week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2212848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0280" y="2359152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1F6577"/>
                </a:solidFill>
                <a:latin typeface="Libre Caslon Display"/>
              </a:rPr>
              <a:t>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3127248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more visits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as a new year 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So now is a good time to start. The hard part is keeping going.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Dai, Milkman and Riis, 2014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Aim towards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In Sweden, over 1,000 people made a New Year’s resolution. A year later, researchers asked how they were getting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FFFDF7"/>
                </a:solidFill>
                <a:latin typeface="Libre Caslon Display"/>
              </a:rPr>
              <a:t>59%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3291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9DBE4"/>
                </a:solidFill>
                <a:latin typeface="Karla"/>
              </a:rPr>
              <a:t>kept a goal to start or do more of something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2212848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359152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1F6577"/>
                </a:solidFill>
                <a:latin typeface="Libre Caslon Display"/>
              </a:rPr>
              <a:t>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127248"/>
            <a:ext cx="3291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kept a goal to stop or avoid something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Not “stop wasting time on my phone”, but “read for ten minutes before bed”.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Oscarsson and colleagues, 2020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Plan for the hard moment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Some people made a plan that said: when this happens, I will do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It is called an if-then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Across 94 studies, an if-then plan helped people reach their goals.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That is a big difference for something this simple.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The decision is already made before the hard moment 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So there is less to argue with yourself about.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Think about it: what usually gets in the way when you try to keep something up?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Gollwitzer and Sheeran, 2006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Missing a day doesn’t ruin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96 people each picked one new habit, like fruit with lunch.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They recorded it every day for twelve weeks.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On average it took 66 days before the habit felt automatic.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For some people it was much quicker, and for some much slower.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Missing one day made very little difference.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What mattered was getting back to it the next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So a bad week is not the end. The week after counts more.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Lally and colleagues, 2010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IN FORM TIME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One value a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1F6577"/>
                </a:solidFill>
                <a:latin typeface="Karla"/>
              </a:rPr>
              <a:t>MONDAY</a:t>
            </a:r>
          </a:p>
        </p:txBody>
      </p:sp>
      <p:sp>
        <p:nvSpPr>
          <p:cNvPr id="7" name="Oval 6"/>
          <p:cNvSpPr/>
          <p:nvPr/>
        </p:nvSpPr>
        <p:spPr>
          <a:xfrm>
            <a:off x="956462" y="2221991"/>
            <a:ext cx="822960" cy="822960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395728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7828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7828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1F6577"/>
                </a:solidFill>
                <a:latin typeface="Karla"/>
              </a:rPr>
              <a:t>TUESDAY</a:t>
            </a:r>
          </a:p>
        </p:txBody>
      </p:sp>
      <p:sp>
        <p:nvSpPr>
          <p:cNvPr id="12" name="Oval 11"/>
          <p:cNvSpPr/>
          <p:nvPr/>
        </p:nvSpPr>
        <p:spPr>
          <a:xfrm>
            <a:off x="2558491" y="2221991"/>
            <a:ext cx="822960" cy="822960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395728"/>
            <a:ext cx="475488" cy="475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15844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Gratitude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9857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9857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1F6577"/>
                </a:solidFill>
                <a:latin typeface="Karla"/>
              </a:rPr>
              <a:t>WEDNESDAY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221991"/>
            <a:ext cx="822960" cy="822960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95728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17873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Ambition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1886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1886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1F6577"/>
                </a:solidFill>
                <a:latin typeface="Karla"/>
              </a:rPr>
              <a:t>THURSDAY</a:t>
            </a:r>
          </a:p>
        </p:txBody>
      </p:sp>
      <p:sp>
        <p:nvSpPr>
          <p:cNvPr id="22" name="Oval 21"/>
          <p:cNvSpPr/>
          <p:nvPr/>
        </p:nvSpPr>
        <p:spPr>
          <a:xfrm>
            <a:off x="5762548" y="2221991"/>
            <a:ext cx="822960" cy="822960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umbrel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84" y="2395728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19902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Resilience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3915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3915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1F6577"/>
                </a:solidFill>
                <a:latin typeface="Karla"/>
              </a:rPr>
              <a:t>FRIDAY</a:t>
            </a:r>
          </a:p>
        </p:txBody>
      </p:sp>
      <p:sp>
        <p:nvSpPr>
          <p:cNvPr id="27" name="Oval 26"/>
          <p:cNvSpPr/>
          <p:nvPr/>
        </p:nvSpPr>
        <p:spPr>
          <a:xfrm>
            <a:off x="7364577" y="2221991"/>
            <a:ext cx="822960" cy="822960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te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313" y="2395728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1931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Courage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Five minutes each morning, and it all goes on one sheet.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1F6577"/>
                </a:solidFill>
                <a:latin typeface="Karla"/>
              </a:rPr>
              <a:t>YOUR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One sheet, until half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00784"/>
            <a:ext cx="3730752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56816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The front: this week</a:t>
            </a:r>
          </a:p>
        </p:txBody>
      </p:sp>
      <p:sp>
        <p:nvSpPr>
          <p:cNvPr id="7" name="Oval 6"/>
          <p:cNvSpPr/>
          <p:nvPr/>
        </p:nvSpPr>
        <p:spPr>
          <a:xfrm>
            <a:off x="1005839" y="2432304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77440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Tuesday: three things that went well, and one person who helped.</a:t>
            </a:r>
          </a:p>
        </p:txBody>
      </p:sp>
      <p:sp>
        <p:nvSpPr>
          <p:cNvPr id="9" name="Oval 8"/>
          <p:cNvSpPr/>
          <p:nvPr/>
        </p:nvSpPr>
        <p:spPr>
          <a:xfrm>
            <a:off x="1005839" y="2880280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82541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Wednesday: one thing to get better at, made small.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39" y="3328257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73393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Thursday: your first step, and a plan for when it gets hard.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39" y="3776233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21369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Friday: take the first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1700784"/>
            <a:ext cx="3730752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1956816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The back: every Friday</a:t>
            </a:r>
          </a:p>
        </p:txBody>
      </p:sp>
      <p:sp>
        <p:nvSpPr>
          <p:cNvPr id="17" name="Oval 16"/>
          <p:cNvSpPr/>
          <p:nvPr/>
        </p:nvSpPr>
        <p:spPr>
          <a:xfrm>
            <a:off x="5047488" y="2432304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377440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Write one line: what you actually did that week.</a:t>
            </a:r>
          </a:p>
        </p:txBody>
      </p:sp>
      <p:sp>
        <p:nvSpPr>
          <p:cNvPr id="19" name="Oval 18"/>
          <p:cNvSpPr/>
          <p:nvPr/>
        </p:nvSpPr>
        <p:spPr>
          <a:xfrm>
            <a:off x="5047488" y="2968752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913888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A blank week is not a fail. Write what you will do next week instead.</a:t>
            </a:r>
          </a:p>
        </p:txBody>
      </p:sp>
      <p:sp>
        <p:nvSpPr>
          <p:cNvPr id="21" name="Oval 20"/>
          <p:cNvSpPr/>
          <p:nvPr/>
        </p:nvSpPr>
        <p:spPr>
          <a:xfrm>
            <a:off x="5047488" y="3505200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345033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At half term, look back at the whole sheet.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Start small.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Keep going.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B9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B9DBE4"/>
                </a:solidFill>
                <a:latin typeface="Karla"/>
              </a:rPr>
              <a:t>It doesn’t have to be big.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B9DBE4"/>
                </a:solidFill>
                <a:latin typeface="Karla"/>
              </a:rPr>
              <a:t>It has to be yours, and small enough to start this week.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B9DBE4"/>
                </a:solidFill>
                <a:latin typeface="Karla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B9DBE4"/>
                </a:solidFill>
                <a:latin typeface="Karla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50976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F6577"/>
                </a:solidFill>
                <a:latin typeface="Libre Caslon Display"/>
              </a:rPr>
              <a:t>Start small. Keep 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7121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Tomorrow in form time: gratitude. Think of one good thing from last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B9179"/>
                </a:solidFill>
                <a:latin typeface="Karla"/>
              </a:rPr>
              <a:t>The New Year Values Week  ·  An Assembly and a Week of Form Time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3181248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TUESDAY  ·  GRATITUDE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2E3436"/>
                </a:solidFill>
                <a:latin typeface="Libre Caslon Display"/>
              </a:rPr>
              <a:t>Start with what you’ve already got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On your sheet, write three things that went well last term, and one person who helped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84831"/>
            <a:ext cx="3730752" cy="190195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40863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For example</a:t>
            </a:r>
          </a:p>
        </p:txBody>
      </p:sp>
      <p:sp>
        <p:nvSpPr>
          <p:cNvPr id="8" name="Oval 7"/>
          <p:cNvSpPr/>
          <p:nvPr/>
        </p:nvSpPr>
        <p:spPr>
          <a:xfrm>
            <a:off x="1005839" y="2816351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61487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I finally understood equations.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1005839" y="3188207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33343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I got into the football team.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39" y="3560064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05199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My nan picked me up every Thursday.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2084831"/>
            <a:ext cx="3730752" cy="190195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340863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Why it helps</a:t>
            </a:r>
          </a:p>
        </p:txBody>
      </p:sp>
      <p:sp>
        <p:nvSpPr>
          <p:cNvPr id="16" name="Oval 15"/>
          <p:cNvSpPr/>
          <p:nvPr/>
        </p:nvSpPr>
        <p:spPr>
          <a:xfrm>
            <a:off x="5047488" y="2816351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761487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For two weeks, 221 students listed what they were grateful for.</a:t>
            </a:r>
          </a:p>
        </p:txBody>
      </p:sp>
      <p:sp>
        <p:nvSpPr>
          <p:cNvPr id="18" name="Oval 17"/>
          <p:cNvSpPr/>
          <p:nvPr/>
        </p:nvSpPr>
        <p:spPr>
          <a:xfrm>
            <a:off x="5047488" y="3374136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3319272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They felt more satisfied with school, and still did three weeks later.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Small things count. Finishing a book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Froh, Sefick and Emmons, 2008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3340836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WEDNESDAY  · 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One thing to get better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Pick one thing to get better at by half term. Then make it smaller, until you could start this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39112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35124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Too big: get better at maths.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It isn’t something you can sit down and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3347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15768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1177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3405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Smaller: get better at algebra.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8094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Closer, but it still doesn’t say what you will actually 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1012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392424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8843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1071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Small enough: ten algebra questions every Sunday.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You could start this week, and you would know if you had done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Make it something to do, not something to stop. And keep it about what you do, not how you look.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3326444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THURSDAY  · 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Plan for when it gets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Write your first step. Then finish the sentence: when this happens, I will do that.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93392"/>
            <a:ext cx="3730752" cy="19933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942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For example</a:t>
            </a:r>
          </a:p>
        </p:txBody>
      </p:sp>
      <p:sp>
        <p:nvSpPr>
          <p:cNvPr id="8" name="Oval 7"/>
          <p:cNvSpPr/>
          <p:nvPr/>
        </p:nvSpPr>
        <p:spPr>
          <a:xfrm>
            <a:off x="1005839" y="2724912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70048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When I get home tired and want my phone, I will do the ten questions first.</a:t>
            </a:r>
          </a:p>
        </p:txBody>
      </p:sp>
      <p:sp>
        <p:nvSpPr>
          <p:cNvPr id="10" name="Oval 9"/>
          <p:cNvSpPr/>
          <p:nvPr/>
        </p:nvSpPr>
        <p:spPr>
          <a:xfrm>
            <a:off x="1005839" y="3328416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73552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When I miss a week, I will start again the next Sunday.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1993392"/>
            <a:ext cx="3730752" cy="19933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224942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Ask yourself</a:t>
            </a:r>
          </a:p>
        </p:txBody>
      </p:sp>
      <p:sp>
        <p:nvSpPr>
          <p:cNvPr id="14" name="Oval 13"/>
          <p:cNvSpPr/>
          <p:nvPr/>
        </p:nvSpPr>
        <p:spPr>
          <a:xfrm>
            <a:off x="5047488" y="2724912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67004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What usually gets in the way?</a:t>
            </a:r>
          </a:p>
        </p:txBody>
      </p:sp>
      <p:sp>
        <p:nvSpPr>
          <p:cNvPr id="16" name="Oval 15"/>
          <p:cNvSpPr/>
          <p:nvPr/>
        </p:nvSpPr>
        <p:spPr>
          <a:xfrm>
            <a:off x="5047488" y="3127248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3072384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When is it most likely to happen?</a:t>
            </a:r>
          </a:p>
        </p:txBody>
      </p:sp>
      <p:sp>
        <p:nvSpPr>
          <p:cNvPr id="18" name="Oval 17"/>
          <p:cNvSpPr/>
          <p:nvPr/>
        </p:nvSpPr>
        <p:spPr>
          <a:xfrm>
            <a:off x="5047488" y="3529584"/>
            <a:ext cx="91440" cy="91440"/>
          </a:xfrm>
          <a:prstGeom prst="ellipse">
            <a:avLst/>
          </a:prstGeom>
          <a:solidFill>
            <a:srgbClr val="4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3474720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What will you do instead?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This is the if-then plan from Monday’s assembly.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917988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FRIDAY  ·  COURAGE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Take the first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Do your first step today, or as soon as you can, and write the date on your sheet.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7510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121408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585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88950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Start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8328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Five minutes still 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97510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121408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58568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288950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Write the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38328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On the front, under Friday.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97510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121408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5856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88950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Pick a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38328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Someone to ask how it’s going.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Starting something small can feel a bit silly. Do it anyway.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4068649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EVERY FRIDAY  ·  UNTIL HALF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Friday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On the back of your sheet, write one line: what did you actually do this week?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58521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48255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4268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Write what you did, not what you meant to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Ten questions on Sunday is evidence. “I’ll try harder” is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60904"/>
            <a:ext cx="7772400" cy="58521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52344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483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6148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A blank week is not a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0837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Write what you will do next week instead.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64992"/>
            <a:ext cx="7772400" cy="58521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56432"/>
            <a:ext cx="402336" cy="402336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52444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6557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6577"/>
                </a:solidFill>
                <a:latin typeface="Libre Caslon Display"/>
              </a:rPr>
              <a:t>If your goal was too big, make it smaller.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1246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That is not giving up. That counts as progress.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Two minutes, every Friday.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4107890" cy="237744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1F6577"/>
                </a:solidFill>
                <a:latin typeface="Karla"/>
              </a:rPr>
              <a:t>FORM TIME  ·  LAST FRIDAY  ·  BEFORE HALF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Look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Read your sheet from the beginning, then answer the three questions at the bottom of the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48256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194560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n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33172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962656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What did you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56432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Count the weeks with a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2048256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194560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mbr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33172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2962656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What helped?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456432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And what got in the way?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048256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194560"/>
            <a:ext cx="658368" cy="658368"/>
          </a:xfrm>
          <a:prstGeom prst="ellipse">
            <a:avLst/>
          </a:prstGeom>
          <a:solidFill>
            <a:srgbClr val="1F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33172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962656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F6577"/>
                </a:solidFill>
                <a:latin typeface="Libre Caslon Display"/>
              </a:rPr>
              <a:t>What will you keep?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456432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One thing to carry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1F6577"/>
                </a:solidFill>
                <a:latin typeface="Karla"/>
              </a:rPr>
              <a:t>Start small. Keep going.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New Year Values Week: the assembly and form time slides</dc:title>
  <dc:subject>A free assembly from The Pastoral Guide (thepastoralguide.com)</dc:subject>
  <dc:creator>The Pastoral Guide</dc:creator>
  <cp:keywords>new year assembly, values, goal setting, resilience, gratitude, secondary, form time</cp:keywords>
  <dc:description/>
  <cp:lastModifiedBy>The Pastoral Guide</cp:lastModifiedBy>
  <cp:revision>1</cp:revision>
  <dcterms:created xsi:type="dcterms:W3CDTF">2026-10-06T09:00:00Z</dcterms:created>
  <dcterms:modified xsi:type="dcterms:W3CDTF">2026-10-06T09:00:00Z</dcterms:modified>
  <cp:category/>
</cp:coreProperties>
</file>