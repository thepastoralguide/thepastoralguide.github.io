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7533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036D97"/>
                </a:solidFill>
                <a:latin typeface="Libre Caslon Display"/>
              </a:rPr>
              <a:t>Made to Look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5C6552"/>
                </a:solidFill>
                <a:latin typeface="Karla"/>
              </a:rPr>
              <a:t>Deepfakes and AI-made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9179"/>
                </a:solidFill>
                <a:latin typeface="Karla"/>
              </a:rPr>
              <a:t>Tutor Time  ·  Year 8 to 11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89110" y="731520"/>
            <a:ext cx="1365778" cy="237744"/>
          </a:xfrm>
          <a:prstGeom prst="roundRect">
            <a:avLst>
              <a:gd name="adj" fmla="val 50000"/>
            </a:avLst>
          </a:prstGeom>
          <a:solidFill>
            <a:srgbClr val="B8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ABOUT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498079" cy="1808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FFFDF7"/>
                </a:solidFill>
                <a:latin typeface="Libre Caslon Display"/>
              </a:rPr>
              <a:t>Today is about deciding what to trust online: pictures, video and voices that a computer may have made, and what to do when you can’t tell.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01568"/>
            <a:ext cx="914400" cy="18288"/>
          </a:xfrm>
          <a:prstGeom prst="rect">
            <a:avLst/>
          </a:prstGeom>
          <a:solidFill>
            <a:srgbClr val="B8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639312"/>
            <a:ext cx="676656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B8D6E2"/>
                </a:solidFill>
                <a:latin typeface="Karla"/>
              </a:rPr>
              <a:t>Every case is invented, and nobody will be asked about their own life.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B8D6E2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B8D6E2"/>
                </a:solidFill>
                <a:latin typeface="Karla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1171965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SORT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Sort the eight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66368"/>
            <a:ext cx="7772400" cy="22288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Work in pairs. Read each card, talk it over, and put it in one pile.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3664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029968"/>
            <a:ext cx="658368" cy="658368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67128"/>
            <a:ext cx="384048" cy="384048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813816" y="2798064"/>
            <a:ext cx="21396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91840"/>
            <a:ext cx="2066544" cy="58521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person made it, and it shows what really happened.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883664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29968"/>
            <a:ext cx="658368" cy="658368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167128"/>
            <a:ext cx="384048" cy="38404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3502152" y="2798064"/>
            <a:ext cx="21396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291840"/>
            <a:ext cx="2066544" cy="58521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computer made it, or changed it, so it no longer shows what happened.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883664"/>
            <a:ext cx="2395728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029968"/>
            <a:ext cx="658368" cy="658368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skbub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167128"/>
            <a:ext cx="384048" cy="384048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6190488" y="2798064"/>
            <a:ext cx="2139696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Can’t tell yet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291840"/>
            <a:ext cx="2066544" cy="58521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There is not enough to decide. This pile is allowed to be big.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87952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Karla"/>
              </a:rPr>
              <a:t>Talk each card through before you place it.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881618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What was really going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57224"/>
            <a:ext cx="7772400" cy="20637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Three real, three made, and two you could not decide from the card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1790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1790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682496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4650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8191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Video  ·  Made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0136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An AI video. It is too perfect, and nobody knows where it 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942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4942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2414015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47802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1343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Voice note  · 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3288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It came from Sam’s own account and fits what Sam does every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8094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98094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3145535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954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44951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Photo  ·  Made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6440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An AI image. A snowman that tall would be news everywhere.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12463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12463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3877056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941063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7647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Screenshot  ·  Can’t tell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995927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screenshot can be edited in a minute, and you can’t see where it came from.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59" y="151790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151790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73752" y="1682496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3751" y="174650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158191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Video  ·  Made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180136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An AI video. The odd blinking gave it away, but better fakes don’t.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59" y="224942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59" y="224942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73752" y="2414015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3751" y="247802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231343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Photo  ·  Real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253288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real photo. Movement blurred her hand. A strange hand does not prove a fake.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59" y="298094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09159" y="2980944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73752" y="3145535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1" y="3209544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044951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Voice note  ·  Can’t tell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264408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voice can be copied from a few seconds of audio, and you can’t tell who made this one.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59" y="3712463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09159" y="3712463"/>
            <a:ext cx="54864" cy="65836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73752" y="3877056"/>
            <a:ext cx="329184" cy="329184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1" y="3941063"/>
            <a:ext cx="3291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3776472"/>
            <a:ext cx="298094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036D97"/>
                </a:solidFill>
                <a:latin typeface="Karla"/>
              </a:rPr>
              <a:t>Video  ·  Real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3995927"/>
            <a:ext cx="2980944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friend filmed it, so there is somebody to ask.</a:t>
            </a:r>
          </a:p>
        </p:txBody>
      </p:sp>
      <p:pic>
        <p:nvPicPr>
          <p:cNvPr id="54" name="Picture 5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55" name="TextBox 5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798577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What is a deepfake?</a:t>
            </a:r>
          </a:p>
        </p:txBody>
      </p:sp>
      <p:sp>
        <p:nvSpPr>
          <p:cNvPr id="5" name="KEEP_SHADOW"/>
          <p:cNvSpPr/>
          <p:nvPr/>
        </p:nvSpPr>
        <p:spPr>
          <a:xfrm>
            <a:off x="685800" y="1463040"/>
            <a:ext cx="3730752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730752" cy="64008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182112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036D97"/>
                </a:solidFill>
                <a:latin typeface="Libre Caslon Display"/>
              </a:rPr>
              <a:t>Deepfake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3182112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Karla"/>
              </a:rPr>
              <a:t>A video, image or voice that AI has made or changed to show a real person doing or saying something they never did.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1463040"/>
            <a:ext cx="3730752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7448" y="1463040"/>
            <a:ext cx="3730752" cy="64008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737360"/>
            <a:ext cx="3182112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036D97"/>
                </a:solidFill>
                <a:latin typeface="Libre Caslon Display"/>
              </a:rPr>
              <a:t>AI-made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212848"/>
            <a:ext cx="3182112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Karla"/>
              </a:rPr>
              <a:t>Anything a computer creates from a written request: pictures, video, voices and writing. It does not have to show a real person.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7772400" cy="2311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Karla"/>
              </a:rPr>
              <a:t>Some of it is harmless. Some is made to trick, scare or hurt somebody.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798577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Why “can’t tell” is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242011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2420112" cy="6400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054352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2017776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552"/>
                </a:solidFill>
                <a:latin typeface="Karla"/>
              </a:rPr>
              <a:t>of people aged 16 and over in the UK had seen a deepfake online in six months. So had 50% of 8 to 15 year 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1944" y="1353312"/>
            <a:ext cx="242011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1944" y="1353312"/>
            <a:ext cx="2420112" cy="6400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4824" y="1627632"/>
            <a:ext cx="2054352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3112" y="2267712"/>
            <a:ext cx="2017776" cy="792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552"/>
                </a:solidFill>
                <a:latin typeface="Karla"/>
              </a:rPr>
              <a:t>of those people aged 16 and over said they were confident they could spot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8088" y="1353312"/>
            <a:ext cx="242011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8088" y="1353312"/>
            <a:ext cx="2420112" cy="6400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0968" y="1627632"/>
            <a:ext cx="2054352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3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9256" y="2267712"/>
            <a:ext cx="2017776" cy="792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552"/>
                </a:solidFill>
                <a:latin typeface="Karla"/>
              </a:rPr>
              <a:t>of somebody’s voice can be enough for a scam to copy it, according to one bank’s warning in 2024.</a:t>
            </a:r>
          </a:p>
        </p:txBody>
      </p:sp>
      <p:sp>
        <p:nvSpPr>
          <p:cNvPr id="17" name="KEEP_SHADOW"/>
          <p:cNvSpPr/>
          <p:nvPr/>
        </p:nvSpPr>
        <p:spPr>
          <a:xfrm>
            <a:off x="685800" y="3712463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EDF5F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12463"/>
            <a:ext cx="64008" cy="457200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22191"/>
            <a:ext cx="7315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Karla"/>
              </a:rPr>
              <a:t>So “can’t tell yet” is often honest. Then you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8B9179"/>
                </a:solidFill>
                <a:latin typeface="Karla"/>
              </a:rPr>
              <a:t>Ofcom deepfakes polls, June 2024. Starling Bank and Mortar Research, September 2024. Figures will date.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798577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Check the source, not the glitch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73075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3730752" cy="64008"/>
          </a:xfrm>
          <a:prstGeom prst="rect">
            <a:avLst/>
          </a:prstGeom>
          <a:solidFill>
            <a:srgbClr val="8B9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3182112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5C6552"/>
                </a:solidFill>
                <a:latin typeface="Libre Caslon Display"/>
              </a:rPr>
              <a:t>Spotting the glitch</a:t>
            </a:r>
          </a:p>
        </p:txBody>
      </p:sp>
      <p:sp>
        <p:nvSpPr>
          <p:cNvPr id="8" name="Oval 7"/>
          <p:cNvSpPr/>
          <p:nvPr/>
        </p:nvSpPr>
        <p:spPr>
          <a:xfrm>
            <a:off x="1001268" y="2217420"/>
            <a:ext cx="100584" cy="100584"/>
          </a:xfrm>
          <a:prstGeom prst="ellipse">
            <a:avLst/>
          </a:prstGeom>
          <a:solidFill>
            <a:srgbClr val="8B9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57984"/>
            <a:ext cx="2889504" cy="4226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Look for extra fingers, odd blinking or a flat voice.</a:t>
            </a:r>
          </a:p>
        </p:txBody>
      </p:sp>
      <p:sp>
        <p:nvSpPr>
          <p:cNvPr id="10" name="Oval 9"/>
          <p:cNvSpPr/>
          <p:nvPr/>
        </p:nvSpPr>
        <p:spPr>
          <a:xfrm>
            <a:off x="1001268" y="2822956"/>
            <a:ext cx="100584" cy="100584"/>
          </a:xfrm>
          <a:prstGeom prst="ellipse">
            <a:avLst/>
          </a:prstGeom>
          <a:solidFill>
            <a:srgbClr val="8B9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763520"/>
            <a:ext cx="2889504" cy="4226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It used to be enough. It works less every year.</a:t>
            </a:r>
          </a:p>
        </p:txBody>
      </p:sp>
      <p:sp>
        <p:nvSpPr>
          <p:cNvPr id="12" name="Oval 11"/>
          <p:cNvSpPr/>
          <p:nvPr/>
        </p:nvSpPr>
        <p:spPr>
          <a:xfrm>
            <a:off x="1001268" y="3428492"/>
            <a:ext cx="100584" cy="100584"/>
          </a:xfrm>
          <a:prstGeom prst="ellipse">
            <a:avLst/>
          </a:prstGeom>
          <a:solidFill>
            <a:srgbClr val="8B9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369056"/>
            <a:ext cx="2889504" cy="4226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Card 6 was a real photo with a strange hand.</a:t>
            </a:r>
          </a:p>
        </p:txBody>
      </p:sp>
      <p:sp>
        <p:nvSpPr>
          <p:cNvPr id="14" name="KEEP_SHADOW"/>
          <p:cNvSpPr/>
          <p:nvPr/>
        </p:nvSpPr>
        <p:spPr>
          <a:xfrm>
            <a:off x="4727448" y="1371600"/>
            <a:ext cx="3730752" cy="2788920"/>
          </a:xfrm>
          <a:prstGeom prst="roundRect">
            <a:avLst>
              <a:gd name="adj" fmla="val 5000"/>
            </a:avLst>
          </a:prstGeom>
          <a:solidFill>
            <a:srgbClr val="EDF5F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27448" y="1371600"/>
            <a:ext cx="3730752" cy="64008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1627632"/>
            <a:ext cx="3182112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036D97"/>
                </a:solidFill>
                <a:latin typeface="Libre Caslon Display"/>
              </a:rPr>
              <a:t>Checking the source</a:t>
            </a:r>
          </a:p>
        </p:txBody>
      </p:sp>
      <p:sp>
        <p:nvSpPr>
          <p:cNvPr id="17" name="Oval 16"/>
          <p:cNvSpPr/>
          <p:nvPr/>
        </p:nvSpPr>
        <p:spPr>
          <a:xfrm>
            <a:off x="5042916" y="2217420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157984"/>
            <a:ext cx="2889504" cy="4226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Who posted it first, and where else is it?</a:t>
            </a:r>
          </a:p>
        </p:txBody>
      </p:sp>
      <p:sp>
        <p:nvSpPr>
          <p:cNvPr id="19" name="Oval 18"/>
          <p:cNvSpPr/>
          <p:nvPr/>
        </p:nvSpPr>
        <p:spPr>
          <a:xfrm>
            <a:off x="5042916" y="2822956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763520"/>
            <a:ext cx="2889504" cy="2113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Would they really say or do this?</a:t>
            </a:r>
          </a:p>
        </p:txBody>
      </p:sp>
      <p:sp>
        <p:nvSpPr>
          <p:cNvPr id="21" name="Oval 20"/>
          <p:cNvSpPr/>
          <p:nvPr/>
        </p:nvSpPr>
        <p:spPr>
          <a:xfrm>
            <a:off x="5042916" y="3217164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3157728"/>
            <a:ext cx="2889504" cy="2113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Ask them another way.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798577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The five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43584"/>
            <a:ext cx="777240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43584"/>
            <a:ext cx="54864" cy="585216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1335024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426464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335024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Libre Caslon Display"/>
              </a:rPr>
              <a:t>Who posted it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596263"/>
            <a:ext cx="67299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Find the earliest post. A new account or an unknown name is a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11095"/>
            <a:ext cx="777240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11095"/>
            <a:ext cx="54864" cy="585216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" y="2002535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093975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002536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Libre Caslon Display"/>
              </a:rPr>
              <a:t>Where else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263775"/>
            <a:ext cx="67299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Big real news turns up in several trusted places. Only in one chat? Be careful.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78608"/>
            <a:ext cx="777240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578608"/>
            <a:ext cx="54864" cy="585216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256" y="2670047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61487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2670048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Libre Caslon Display"/>
              </a:rPr>
              <a:t>Does it want a fast reaction?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2931287"/>
            <a:ext cx="67299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Fakes and scams push you to act now: send it, pay, tell everyone. Slow down.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46120"/>
            <a:ext cx="777240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246120"/>
            <a:ext cx="54864" cy="585216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6" y="3337559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28999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2184" y="3337560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Libre Caslon Display"/>
              </a:rPr>
              <a:t>Would they really say or do this?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2184" y="3598799"/>
            <a:ext cx="67299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Does it fit what you know about this person, or this place?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13631"/>
            <a:ext cx="777240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913631"/>
            <a:ext cx="54864" cy="585216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5256" y="4005072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1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2184" y="4005071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Libre Caslon Display"/>
              </a:rPr>
              <a:t>Can I ask them another way?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4266310"/>
            <a:ext cx="672998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Ask face to face, or ask an adult who would know. Not in the same chat.</a:t>
            </a:r>
          </a:p>
        </p:txBody>
      </p:sp>
      <p:pic>
        <p:nvPicPr>
          <p:cNvPr id="35" name="Picture 3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834098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036D97"/>
                </a:solidFill>
                <a:latin typeface="Libre Caslon Display"/>
              </a:rPr>
              <a:t>Model: a voice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7920"/>
            <a:ext cx="7772400" cy="429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A voice note goes round the year group chat. It sounds like a teacher: “Tomorrow’s trip is cancelled. Please tell everyone.”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5196"/>
            <a:ext cx="777240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5196"/>
            <a:ext cx="54864" cy="36576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86636"/>
            <a:ext cx="15544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36D97"/>
                </a:solidFill>
                <a:latin typeface="Karla"/>
              </a:rPr>
              <a:t>Who 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790446"/>
            <a:ext cx="5760720" cy="175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Somebody sent it to a student. Nobody can say who posted it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6676"/>
            <a:ext cx="777240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06676"/>
            <a:ext cx="54864" cy="36576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98116"/>
            <a:ext cx="15544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36D97"/>
                </a:solidFill>
                <a:latin typeface="Karla"/>
              </a:rPr>
              <a:t>Where else?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01926"/>
            <a:ext cx="5760720" cy="175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It is not in the school notices, and no teacher has mentioned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18156"/>
            <a:ext cx="777240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18156"/>
            <a:ext cx="54864" cy="36576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609596"/>
            <a:ext cx="15544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36D97"/>
                </a:solidFill>
                <a:latin typeface="Karla"/>
              </a:rPr>
              <a:t>Fast reaction?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613406"/>
            <a:ext cx="5760720" cy="175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It says “tell everyone”, so it wants to spread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29636"/>
            <a:ext cx="777240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929636"/>
            <a:ext cx="54864" cy="36576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21076"/>
            <a:ext cx="15544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36D97"/>
                </a:solidFill>
                <a:latin typeface="Karla"/>
              </a:rPr>
              <a:t>Would they?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024886"/>
            <a:ext cx="5760720" cy="175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Trips are announced by email or in person, not by voice note.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41116"/>
            <a:ext cx="777240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341116"/>
            <a:ext cx="54864" cy="36576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432556"/>
            <a:ext cx="15544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36D97"/>
                </a:solidFill>
                <a:latin typeface="Karla"/>
              </a:rPr>
              <a:t>Ask another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436366"/>
            <a:ext cx="5760720" cy="175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I ask the teacher in person tomorrow, or the school office.</a:t>
            </a:r>
          </a:p>
        </p:txBody>
      </p:sp>
      <p:sp>
        <p:nvSpPr>
          <p:cNvPr id="26" name="KEEP_SHADOW"/>
          <p:cNvSpPr/>
          <p:nvPr/>
        </p:nvSpPr>
        <p:spPr>
          <a:xfrm>
            <a:off x="685800" y="3789172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EDF5F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789172"/>
            <a:ext cx="64008" cy="457200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908044"/>
            <a:ext cx="7315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036D97"/>
                </a:solidFill>
                <a:latin typeface="Karla"/>
              </a:rPr>
              <a:t>I can’t tell whether the voice is real. Four checks say don’t pass it on, so I don’t.</a:t>
            </a:r>
          </a:p>
        </p:txBody>
      </p:sp>
      <p:pic>
        <p:nvPicPr>
          <p:cNvPr id="29" name="Picture 2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1101575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036D97"/>
                </a:solidFill>
                <a:latin typeface="Libre Caslon Display"/>
              </a:rPr>
              <a:t>Together: a cracked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74496"/>
            <a:ext cx="7772400" cy="71818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E3436"/>
                </a:solidFill>
                <a:latin typeface="Karla"/>
              </a:rPr>
              <a:t>A photo of the town bridge with a huge crack down the middle is spreading. It was posted by an account with no other posts, and hundreds of people are commenting “it’s going to fall”.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2075561"/>
            <a:ext cx="7772400" cy="731520"/>
          </a:xfrm>
          <a:prstGeom prst="roundRect">
            <a:avLst>
              <a:gd name="adj" fmla="val 6000"/>
            </a:avLst>
          </a:prstGeom>
          <a:solidFill>
            <a:srgbClr val="EDF5F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75561"/>
            <a:ext cx="64008" cy="731520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203196"/>
            <a:ext cx="7040880" cy="4762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Karla"/>
              </a:rPr>
              <a:t>Go through the five checks as a class. What would you check first, and what would you 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44825"/>
            <a:ext cx="144475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" y="3136265"/>
            <a:ext cx="274320" cy="274320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3172841"/>
            <a:ext cx="2743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502025"/>
            <a:ext cx="13716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36D97"/>
                </a:solidFill>
                <a:latin typeface="Karla"/>
              </a:rPr>
              <a:t>Who first?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7712" y="3044825"/>
            <a:ext cx="144475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8" y="3136265"/>
            <a:ext cx="274320" cy="274320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3172841"/>
            <a:ext cx="2743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502025"/>
            <a:ext cx="13716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36D97"/>
                </a:solidFill>
                <a:latin typeface="Karla"/>
              </a:rPr>
              <a:t>Where else?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3044825"/>
            <a:ext cx="144475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3136265"/>
            <a:ext cx="274320" cy="274320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172841"/>
            <a:ext cx="2743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502025"/>
            <a:ext cx="13716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36D97"/>
                </a:solidFill>
                <a:latin typeface="Karla"/>
              </a:rPr>
              <a:t>Fast reaction?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31536" y="3044825"/>
            <a:ext cx="144475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16751" y="3136265"/>
            <a:ext cx="274320" cy="274320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1" y="3172841"/>
            <a:ext cx="2743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502025"/>
            <a:ext cx="13716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36D97"/>
                </a:solidFill>
                <a:latin typeface="Karla"/>
              </a:rPr>
              <a:t>Would they?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13448" y="3044825"/>
            <a:ext cx="1444752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98664" y="3136265"/>
            <a:ext cx="274320" cy="274320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4" y="3172841"/>
            <a:ext cx="2743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3502025"/>
            <a:ext cx="13716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036D97"/>
                </a:solidFill>
                <a:latin typeface="Karla"/>
              </a:rPr>
              <a:t>Ask another way</a:t>
            </a:r>
          </a:p>
        </p:txBody>
      </p:sp>
      <p:pic>
        <p:nvPicPr>
          <p:cNvPr id="29" name="Picture 2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2003214" cy="237744"/>
          </a:xfrm>
          <a:prstGeom prst="roundRect">
            <a:avLst>
              <a:gd name="adj" fmla="val 50000"/>
            </a:avLst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Karla"/>
              </a:rPr>
              <a:t>THE SAME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754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One kind of fake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20637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 fake sexual image of a real student, for example one made by editing the clothes off a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4823"/>
            <a:ext cx="7772400" cy="6007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4823"/>
            <a:ext cx="54864" cy="600773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604041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695481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596263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Don’t open it, save it or pass it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1873377"/>
            <a:ext cx="6729984" cy="235013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Not to show a friend, and not to say “look how bad this is”.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8748"/>
            <a:ext cx="7772400" cy="6007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78748"/>
            <a:ext cx="54864" cy="600773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277967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369407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270188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Tell an adult you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2547302"/>
            <a:ext cx="6729984" cy="235013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Your form tutor or the safeguarding lead. Tell them straight away.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52674"/>
            <a:ext cx="7772400" cy="79921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852674"/>
            <a:ext cx="54864" cy="799211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256" y="3051111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142551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2944114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It is against the law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221228"/>
            <a:ext cx="6729984" cy="433451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In the UK, making, keeping or sharing a sexual image of anyone under 18 is a crime, even if AI made it, and even as a joke. Check the law where you 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25037"/>
            <a:ext cx="7772400" cy="6007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25037"/>
            <a:ext cx="54864" cy="600773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5256" y="3824255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915695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2184" y="3816477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If it is a picture of you, you have done nothing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" y="4093590"/>
            <a:ext cx="6729984" cy="235013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You can ask for it to be taken down. The next slide shows how.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1090258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REPORT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Who to tell, and where to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57224"/>
            <a:ext cx="7772400" cy="20637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Outside the UK, your school’s safeguarding lead knows the local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91615"/>
            <a:ext cx="7772400" cy="566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91615"/>
            <a:ext cx="54864" cy="56661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" y="1724628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83055"/>
            <a:ext cx="7150607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An adult at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52231"/>
            <a:ext cx="7150607" cy="2008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C6552"/>
                </a:solidFill>
                <a:latin typeface="Karla"/>
              </a:rPr>
              <a:t>Your form tutor or the safeguarding lead.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22233"/>
            <a:ext cx="7772400" cy="566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22233"/>
            <a:ext cx="54864" cy="56661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964" y="2355246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13673"/>
            <a:ext cx="7150607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The platform’s report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82850"/>
            <a:ext cx="7150607" cy="2008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C6552"/>
                </a:solidFill>
                <a:latin typeface="Karla"/>
              </a:rPr>
              <a:t>Every app and site has one. It is how a post gets taken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52852"/>
            <a:ext cx="7772400" cy="566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52852"/>
            <a:ext cx="54864" cy="56661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" y="2985865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44292"/>
            <a:ext cx="7150607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Childline (UK)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113468"/>
            <a:ext cx="7150607" cy="2008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C6552"/>
                </a:solidFill>
                <a:latin typeface="Karla"/>
              </a:rPr>
              <a:t>Free and private, on 0800 1111 or online. You don’t have to say your name.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470"/>
            <a:ext cx="7772400" cy="566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83470"/>
            <a:ext cx="54864" cy="56661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4964" y="3616483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474910"/>
            <a:ext cx="7150607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Report Remove (UK, under 18)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44087"/>
            <a:ext cx="7150607" cy="2008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C6552"/>
                </a:solidFill>
                <a:latin typeface="Karla"/>
              </a:rPr>
              <a:t>Childline and the IWF, for a sexual image or video of you, including a fake 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14089"/>
            <a:ext cx="7772400" cy="566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014089"/>
            <a:ext cx="54864" cy="56661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4964" y="4247102"/>
            <a:ext cx="100584" cy="100584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105529"/>
            <a:ext cx="7150607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36D97"/>
                </a:solidFill>
                <a:latin typeface="Libre Caslon Display"/>
              </a:rPr>
              <a:t>CEOP (UK)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74705"/>
            <a:ext cx="7150607" cy="20085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C6552"/>
                </a:solidFill>
                <a:latin typeface="Karla"/>
              </a:rPr>
              <a:t>The National Crime Agency’s route for online sexual abuse of a child.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960039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IN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632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36D97"/>
                </a:solidFill>
                <a:latin typeface="Libre Caslon Display"/>
              </a:rPr>
              <a:t>Your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9888"/>
            <a:ext cx="7772400" cy="78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54864" cy="78124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1579340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70780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508760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036D97"/>
                </a:solidFill>
                <a:latin typeface="Libre Caslon Display"/>
              </a:rPr>
              <a:t>Take a case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817623"/>
            <a:ext cx="6729984" cy="415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Each pair gets one. Read the case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17432"/>
            <a:ext cx="7772400" cy="78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17432"/>
            <a:ext cx="54864" cy="78124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" y="2506884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598324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436304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036D97"/>
                </a:solidFill>
                <a:latin typeface="Libre Caslon Display"/>
              </a:rPr>
              <a:t>Fill it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745168"/>
            <a:ext cx="6729984" cy="415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What would you check? What would you do? Who would you tell?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4977"/>
            <a:ext cx="7772400" cy="78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44977"/>
            <a:ext cx="54864" cy="781240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256" y="3434429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25869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363849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036D97"/>
                </a:solidFill>
                <a:latin typeface="Libre Caslon Display"/>
              </a:rPr>
              <a:t>Use the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3672712"/>
            <a:ext cx="6729984" cy="415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Name at least two of the five, and say which number each one is.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937572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MARK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Mark another pair’s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7772400" cy="6922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4864" cy="692213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1425098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16538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371600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Libre Caslon Display"/>
              </a:rPr>
              <a:t>Swap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664589"/>
            <a:ext cx="6729984" cy="326453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Pass yours to a table that had a different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63813"/>
            <a:ext cx="7772400" cy="6922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063813"/>
            <a:ext cx="54864" cy="692213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" y="2208752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00192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155253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Libre Caslon Display"/>
              </a:rPr>
              <a:t>Read it 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448242"/>
            <a:ext cx="6729984" cy="326453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Read the case at the top, then the answers.</a:t>
            </a:r>
          </a:p>
        </p:txBody>
      </p:sp>
      <p:sp>
        <p:nvSpPr>
          <p:cNvPr id="17" name="KEEP_SHADOW"/>
          <p:cNvSpPr/>
          <p:nvPr/>
        </p:nvSpPr>
        <p:spPr>
          <a:xfrm>
            <a:off x="685800" y="2902331"/>
            <a:ext cx="7772400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02331"/>
            <a:ext cx="64008" cy="1243584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3271" y="3085211"/>
            <a:ext cx="2377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36D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184" y="3103499"/>
            <a:ext cx="6675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Karla"/>
              </a:rPr>
              <a:t>Names at least two of the five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1" y="3432683"/>
            <a:ext cx="2377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36D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" y="3450971"/>
            <a:ext cx="6675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Karla"/>
              </a:rPr>
              <a:t>Gives a next step that keeps everybody safe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780155"/>
            <a:ext cx="2377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36D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2184" y="3798442"/>
            <a:ext cx="6675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Karla"/>
              </a:rPr>
              <a:t>Says who to tell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73931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36D97"/>
                </a:solidFill>
                <a:latin typeface="Karla"/>
              </a:rPr>
              <a:t>Then write one thing you would add.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1177620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A card for a Year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66368"/>
            <a:ext cx="7772400" cy="4292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E3436"/>
                </a:solidFill>
                <a:latin typeface="Karla"/>
              </a:rPr>
              <a:t>Imagine a Year 7 has just been sent something that might be fake. Write the card you would want them to 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96796"/>
            <a:ext cx="7772400" cy="72878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96796"/>
            <a:ext cx="54864" cy="728789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960022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051462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915668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Libre Caslon Display"/>
              </a:rPr>
              <a:t>Two checks, in your own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208657"/>
            <a:ext cx="6729984" cy="36302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Not copied from the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3601"/>
            <a:ext cx="7772400" cy="72878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53601"/>
            <a:ext cx="54864" cy="728789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816828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908268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772473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Libre Caslon Display"/>
              </a:rPr>
              <a:t>What to do if you can’t tell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3065462"/>
            <a:ext cx="6729984" cy="36302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Say it so a Year 7 would do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10407"/>
            <a:ext cx="7772400" cy="72878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10407"/>
            <a:ext cx="54864" cy="728789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256" y="3673633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765073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3629279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36D97"/>
                </a:solidFill>
                <a:latin typeface="Libre Caslon Display"/>
              </a:rPr>
              <a:t>Who to tell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922268"/>
            <a:ext cx="6729984" cy="363029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Name a real person or a real service.</a:t>
            </a:r>
          </a:p>
        </p:txBody>
      </p:sp>
      <p:pic>
        <p:nvPicPr>
          <p:cNvPr id="24" name="Picture 2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1433980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TALK ABOUT IT</a:t>
            </a:r>
          </a:p>
        </p:txBody>
      </p:sp>
      <p:sp>
        <p:nvSpPr>
          <p:cNvPr id="4" name="KEEP_SHADOW"/>
          <p:cNvSpPr/>
          <p:nvPr/>
        </p:nvSpPr>
        <p:spPr>
          <a:xfrm>
            <a:off x="685800" y="786384"/>
            <a:ext cx="7772400" cy="1225296"/>
          </a:xfrm>
          <a:prstGeom prst="roundRect">
            <a:avLst>
              <a:gd name="adj" fmla="val 6000"/>
            </a:avLst>
          </a:prstGeom>
          <a:solidFill>
            <a:srgbClr val="EDF5F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86384"/>
            <a:ext cx="64008" cy="1225296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69264"/>
            <a:ext cx="7040880" cy="8778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036D97"/>
                </a:solidFill>
                <a:latin typeface="Libre Caslon Display"/>
              </a:rPr>
              <a:t>Is it ever OK to make a fake</a:t>
            </a:r>
            <a:br>
              <a:rPr lang="en-GB"/>
            </a:br>
            <a:r>
              <a:rPr sz="2600" b="1" i="0">
                <a:solidFill>
                  <a:srgbClr val="036D97"/>
                </a:solidFill>
                <a:latin typeface="Libre Caslon Display"/>
              </a:rPr>
              <a:t>of your friend, as a joke?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31136"/>
            <a:ext cx="77724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THEN ASK</a:t>
            </a:r>
          </a:p>
        </p:txBody>
      </p:sp>
      <p:sp>
        <p:nvSpPr>
          <p:cNvPr id="8" name="Oval 7"/>
          <p:cNvSpPr/>
          <p:nvPr/>
        </p:nvSpPr>
        <p:spPr>
          <a:xfrm>
            <a:off x="754380" y="2601468"/>
            <a:ext cx="118872" cy="118872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23744"/>
            <a:ext cx="7223760" cy="254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What would have to be true for it to be OK?</a:t>
            </a:r>
          </a:p>
        </p:txBody>
      </p:sp>
      <p:sp>
        <p:nvSpPr>
          <p:cNvPr id="10" name="Oval 9"/>
          <p:cNvSpPr/>
          <p:nvPr/>
        </p:nvSpPr>
        <p:spPr>
          <a:xfrm>
            <a:off x="754380" y="3074924"/>
            <a:ext cx="118872" cy="118872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97200"/>
            <a:ext cx="7223760" cy="254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Who decides: the person who makes it, or the person it shows?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" y="3548380"/>
            <a:ext cx="118872" cy="118872"/>
          </a:xfrm>
          <a:prstGeom prst="ellipse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70656"/>
            <a:ext cx="7223760" cy="254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What changes if it gets shared beyond your friends?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928593" cy="237744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036D97"/>
                </a:solidFill>
                <a:latin typeface="Karla"/>
              </a:rPr>
              <a:t>PRIVATE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36D97"/>
                </a:solidFill>
                <a:latin typeface="Libre Caslon Display"/>
              </a:rPr>
              <a:t>Your exit slip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66368"/>
            <a:ext cx="7772400" cy="22288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E3436"/>
                </a:solidFill>
                <a:latin typeface="Karla"/>
              </a:rPr>
              <a:t>Fold it and keep it. Nobody reads it, and nobody collects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8709"/>
            <a:ext cx="7772400" cy="7891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8709"/>
            <a:ext cx="54864" cy="78917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802130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93570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727581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Question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004694"/>
            <a:ext cx="6729984" cy="42341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C6552"/>
                </a:solidFill>
                <a:latin typeface="Karla"/>
              </a:rPr>
              <a:t>One thing I will check the next time I am not sure something is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44191"/>
            <a:ext cx="7772400" cy="78917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44191"/>
            <a:ext cx="54864" cy="789178"/>
          </a:xfrm>
          <a:prstGeom prst="rect">
            <a:avLst/>
          </a:prstGeom>
          <a:solidFill>
            <a:srgbClr val="4F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737612"/>
            <a:ext cx="402336" cy="402336"/>
          </a:xfrm>
          <a:prstGeom prst="ellipse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29052"/>
            <a:ext cx="402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663063"/>
            <a:ext cx="67299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36D97"/>
                </a:solidFill>
                <a:latin typeface="Libre Caslon Display"/>
              </a:rPr>
              <a:t>Question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2940177"/>
            <a:ext cx="6729984" cy="42341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C6552"/>
                </a:solidFill>
                <a:latin typeface="Karla"/>
              </a:rPr>
              <a:t>One adult I could tell if something like this happened to me or a friend.</a:t>
            </a:r>
          </a:p>
        </p:txBody>
      </p:sp>
      <p:pic>
        <p:nvPicPr>
          <p:cNvPr id="18" name="Picture 1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548640" y="1755648"/>
            <a:ext cx="8046720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036D97"/>
                </a:solidFill>
                <a:latin typeface="Libre Caslon Display"/>
              </a:rPr>
              <a:t>If something like this happens,</a:t>
            </a:r>
            <a:br>
              <a:rPr lang="en-GB"/>
            </a:br>
            <a:r>
              <a:rPr sz="3200" b="1" i="0">
                <a:solidFill>
                  <a:srgbClr val="036D97"/>
                </a:solidFill>
                <a:latin typeface="Libre Caslon Display"/>
              </a:rPr>
              <a:t>tell an adult.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Your form tutor or the safeguarding lead, at any time. In the UK, Childline is on 0800 1111.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More free tutor time lessons at thepastoralguide.com.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