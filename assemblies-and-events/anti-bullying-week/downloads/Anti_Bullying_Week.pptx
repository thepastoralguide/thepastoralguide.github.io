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2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ster.png"/>
          <p:cNvPicPr>
            <a:picLocks noChangeAspect="1"/>
          </p:cNvPicPr>
          <p:nvPr/>
        </p:nvPicPr>
        <p:blipFill>
          <a:blip r:embed="rId2"/>
          <a:stretch>
            <a:fillRect/>
          </a:stretch>
        </p:blipFill>
        <p:spPr>
          <a:xfrm>
            <a:off x="4168146" y="640080"/>
            <a:ext cx="807707" cy="932688"/>
          </a:xfrm>
          <a:prstGeom prst="rect">
            <a:avLst/>
          </a:prstGeom>
        </p:spPr>
      </p:pic>
      <p:sp>
        <p:nvSpPr>
          <p:cNvPr id="4" name="TextBox 3"/>
          <p:cNvSpPr txBox="1"/>
          <p:nvPr/>
        </p:nvSpPr>
        <p:spPr>
          <a:xfrm>
            <a:off x="548640" y="1810512"/>
            <a:ext cx="8046720" cy="822960"/>
          </a:xfrm>
          <a:prstGeom prst="rect">
            <a:avLst/>
          </a:prstGeom>
          <a:noFill/>
        </p:spPr>
        <p:txBody>
          <a:bodyPr wrap="square" lIns="0" rIns="0" tIns="0" bIns="0" anchor="t">
            <a:spAutoFit/>
          </a:bodyPr>
          <a:lstStyle/>
          <a:p>
            <a:pPr algn="ctr">
              <a:lnSpc>
                <a:spcPct val="100000"/>
              </a:lnSpc>
              <a:spcAft>
                <a:spcPts val="0"/>
              </a:spcAft>
            </a:pPr>
            <a:r>
              <a:rPr sz="4800" b="0" i="0">
                <a:solidFill>
                  <a:srgbClr val="5B4F73"/>
                </a:solidFill>
                <a:latin typeface="Georgia"/>
              </a:rPr>
              <a:t>Anti-Bullying Week</a:t>
            </a:r>
          </a:p>
        </p:txBody>
      </p:sp>
      <p:sp>
        <p:nvSpPr>
          <p:cNvPr id="5" name="Rectangle 4"/>
          <p:cNvSpPr/>
          <p:nvPr/>
        </p:nvSpPr>
        <p:spPr>
          <a:xfrm>
            <a:off x="4069080" y="2761488"/>
            <a:ext cx="1005840" cy="18288"/>
          </a:xfrm>
          <a:prstGeom prst="rect">
            <a:avLst/>
          </a:prstGeom>
          <a:solidFill>
            <a:srgbClr val="A09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62656"/>
            <a:ext cx="7680960" cy="365760"/>
          </a:xfrm>
          <a:prstGeom prst="rect">
            <a:avLst/>
          </a:prstGeom>
          <a:noFill/>
        </p:spPr>
        <p:txBody>
          <a:bodyPr wrap="square" lIns="0" rIns="0" tIns="0" bIns="0" anchor="t">
            <a:spAutoFit/>
          </a:bodyPr>
          <a:lstStyle/>
          <a:p>
            <a:pPr algn="ctr">
              <a:lnSpc>
                <a:spcPct val="125000"/>
              </a:lnSpc>
              <a:spcAft>
                <a:spcPts val="0"/>
              </a:spcAft>
            </a:pPr>
            <a:r>
              <a:rPr sz="1800" b="0" i="0">
                <a:solidFill>
                  <a:srgbClr val="756F80"/>
                </a:solidFill>
                <a:latin typeface="Calibri"/>
              </a:rPr>
              <a:t>Five Themed Days</a:t>
            </a:r>
          </a:p>
        </p:txBody>
      </p:sp>
      <p:sp>
        <p:nvSpPr>
          <p:cNvPr id="7" name="TextBox 6"/>
          <p:cNvSpPr txBox="1"/>
          <p:nvPr/>
        </p:nvSpPr>
        <p:spPr>
          <a:xfrm>
            <a:off x="731520" y="3493008"/>
            <a:ext cx="7680960" cy="365760"/>
          </a:xfrm>
          <a:prstGeom prst="rect">
            <a:avLst/>
          </a:prstGeom>
          <a:noFill/>
        </p:spPr>
        <p:txBody>
          <a:bodyPr wrap="square" lIns="0" rIns="0" tIns="0" bIns="0" anchor="t">
            <a:spAutoFit/>
          </a:bodyPr>
          <a:lstStyle/>
          <a:p>
            <a:pPr algn="ctr">
              <a:lnSpc>
                <a:spcPct val="125000"/>
              </a:lnSpc>
              <a:spcAft>
                <a:spcPts val="0"/>
              </a:spcAft>
            </a:pPr>
            <a:r>
              <a:rPr sz="1300" b="0" i="1">
                <a:solidFill>
                  <a:srgbClr val="A9A3B2"/>
                </a:solidFill>
                <a:latin typeface="Calibri"/>
              </a:rPr>
              <a:t>[ DATES ]</a:t>
            </a:r>
          </a:p>
        </p:txBody>
      </p:sp>
      <p:pic>
        <p:nvPicPr>
          <p:cNvPr id="8" name="Picture 7" descr="logo-master.png"/>
          <p:cNvPicPr>
            <a:picLocks noChangeAspect="1"/>
          </p:cNvPicPr>
          <p:nvPr/>
        </p:nvPicPr>
        <p:blipFill>
          <a:blip r:embed="rId2"/>
          <a:stretch>
            <a:fillRect/>
          </a:stretch>
        </p:blipFill>
        <p:spPr>
          <a:xfrm>
            <a:off x="384048" y="4722876"/>
            <a:ext cx="158374" cy="182880"/>
          </a:xfrm>
          <a:prstGeom prst="rect">
            <a:avLst/>
          </a:prstGeom>
        </p:spPr>
      </p:pic>
      <p:sp>
        <p:nvSpPr>
          <p:cNvPr id="9" name="TextBox 8"/>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10" name="TextBox 9"/>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89888"/>
            <a:ext cx="8046720" cy="1371600"/>
          </a:xfrm>
          <a:prstGeom prst="rect">
            <a:avLst/>
          </a:prstGeom>
          <a:noFill/>
        </p:spPr>
        <p:txBody>
          <a:bodyPr wrap="square" lIns="0" rIns="0" tIns="0" bIns="0" anchor="t">
            <a:spAutoFit/>
          </a:bodyPr>
          <a:lstStyle/>
          <a:p>
            <a:pPr algn="ctr">
              <a:lnSpc>
                <a:spcPct val="126000"/>
              </a:lnSpc>
              <a:spcAft>
                <a:spcPts val="0"/>
              </a:spcAft>
            </a:pPr>
            <a:r>
              <a:rPr sz="2800" b="0" i="0">
                <a:solidFill>
                  <a:srgbClr val="FFFDF7"/>
                </a:solidFill>
                <a:latin typeface="Georgia"/>
              </a:rPr>
              <a:t>Bullying is often much less obvious than a fight.</a:t>
            </a:r>
          </a:p>
          <a:p>
            <a:pPr algn="ctr">
              <a:lnSpc>
                <a:spcPct val="126000"/>
              </a:lnSpc>
              <a:spcAft>
                <a:spcPts val="0"/>
              </a:spcAft>
            </a:pPr>
            <a:r>
              <a:rPr sz="2800" b="0" i="0">
                <a:solidFill>
                  <a:srgbClr val="FFFDF7"/>
                </a:solidFill>
                <a:latin typeface="Georgia"/>
              </a:rPr>
              <a:t>It can be someone being left out, talked about, or laughed at.</a:t>
            </a:r>
          </a:p>
        </p:txBody>
      </p:sp>
      <p:sp>
        <p:nvSpPr>
          <p:cNvPr id="4" name="Rectangle 3"/>
          <p:cNvSpPr/>
          <p:nvPr/>
        </p:nvSpPr>
        <p:spPr>
          <a:xfrm>
            <a:off x="4114800" y="3108960"/>
            <a:ext cx="914400" cy="18288"/>
          </a:xfrm>
          <a:prstGeom prst="rect">
            <a:avLst/>
          </a:prstGeom>
          <a:solidFill>
            <a:srgbClr val="D3C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346704"/>
            <a:ext cx="6400800" cy="731520"/>
          </a:xfrm>
          <a:prstGeom prst="rect">
            <a:avLst/>
          </a:prstGeom>
          <a:noFill/>
        </p:spPr>
        <p:txBody>
          <a:bodyPr wrap="square" lIns="0" rIns="0" tIns="0" bIns="0" anchor="t">
            <a:spAutoFit/>
          </a:bodyPr>
          <a:lstStyle/>
          <a:p>
            <a:pPr algn="ctr">
              <a:lnSpc>
                <a:spcPct val="140000"/>
              </a:lnSpc>
              <a:spcAft>
                <a:spcPts val="0"/>
              </a:spcAft>
            </a:pPr>
            <a:r>
              <a:rPr sz="1350" b="0" i="1">
                <a:solidFill>
                  <a:srgbClr val="D3CCDF"/>
                </a:solidFill>
                <a:latin typeface="Calibri"/>
              </a:rPr>
              <a:t>That is why it is easy to miss, and why people can join in without meaning to.</a:t>
            </a:r>
          </a:p>
        </p:txBody>
      </p:sp>
      <p:pic>
        <p:nvPicPr>
          <p:cNvPr id="6" name="Picture 5" descr="logo-master.png"/>
          <p:cNvPicPr>
            <a:picLocks noChangeAspect="1"/>
          </p:cNvPicPr>
          <p:nvPr/>
        </p:nvPicPr>
        <p:blipFill>
          <a:blip r:embed="rId2"/>
          <a:stretch>
            <a:fillRect/>
          </a:stretch>
        </p:blipFill>
        <p:spPr>
          <a:xfrm>
            <a:off x="384048" y="4722876"/>
            <a:ext cx="158374" cy="182880"/>
          </a:xfrm>
          <a:prstGeom prst="rect">
            <a:avLst/>
          </a:prstGeom>
        </p:spPr>
      </p:pic>
      <p:sp>
        <p:nvSpPr>
          <p:cNvPr id="7" name="TextBox 6"/>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D3CCDF"/>
                </a:solidFill>
                <a:latin typeface="Calibri"/>
              </a:rPr>
              <a:t>The Pastoral Guide</a:t>
            </a:r>
          </a:p>
        </p:txBody>
      </p:sp>
      <p:sp>
        <p:nvSpPr>
          <p:cNvPr id="8" name="TextBox 7"/>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D3CCDF"/>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ctr">
              <a:lnSpc>
                <a:spcPct val="125000"/>
              </a:lnSpc>
              <a:spcAft>
                <a:spcPts val="0"/>
              </a:spcAft>
            </a:pPr>
            <a:r>
              <a:rPr sz="1050" b="1" i="0" spc="160">
                <a:solidFill>
                  <a:srgbClr val="5B4F73"/>
                </a:solidFill>
                <a:latin typeface="Calibri"/>
              </a:rPr>
              <a:t>THE WEEK AHEAD</a:t>
            </a:r>
          </a:p>
        </p:txBody>
      </p:sp>
      <p:sp>
        <p:nvSpPr>
          <p:cNvPr id="4" name="TextBox 3"/>
          <p:cNvSpPr txBox="1"/>
          <p:nvPr/>
        </p:nvSpPr>
        <p:spPr>
          <a:xfrm>
            <a:off x="685800" y="859536"/>
            <a:ext cx="7772400" cy="566928"/>
          </a:xfrm>
          <a:prstGeom prst="rect">
            <a:avLst/>
          </a:prstGeom>
          <a:noFill/>
        </p:spPr>
        <p:txBody>
          <a:bodyPr wrap="square" lIns="0" rIns="0" tIns="0" bIns="0" anchor="t">
            <a:spAutoFit/>
          </a:bodyPr>
          <a:lstStyle/>
          <a:p>
            <a:pPr algn="ctr">
              <a:lnSpc>
                <a:spcPct val="105000"/>
              </a:lnSpc>
              <a:spcAft>
                <a:spcPts val="0"/>
              </a:spcAft>
            </a:pPr>
            <a:r>
              <a:rPr sz="3000" b="0" i="0">
                <a:solidFill>
                  <a:srgbClr val="44404C"/>
                </a:solidFill>
                <a:latin typeface="Georgia"/>
              </a:rPr>
              <a:t>Five days, five things</a:t>
            </a:r>
          </a:p>
        </p:txBody>
      </p:sp>
      <p:sp>
        <p:nvSpPr>
          <p:cNvPr id="5" name="Rounded Rectangle 4"/>
          <p:cNvSpPr/>
          <p:nvPr/>
        </p:nvSpPr>
        <p:spPr>
          <a:xfrm>
            <a:off x="685800" y="1700784"/>
            <a:ext cx="1364284" cy="248716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1364284" cy="256032"/>
          </a:xfrm>
          <a:prstGeom prst="rect">
            <a:avLst/>
          </a:prstGeom>
          <a:noFill/>
        </p:spPr>
        <p:txBody>
          <a:bodyPr wrap="square" lIns="0" rIns="0" tIns="0" bIns="0" anchor="t">
            <a:spAutoFit/>
          </a:bodyPr>
          <a:lstStyle/>
          <a:p>
            <a:pPr algn="ctr">
              <a:lnSpc>
                <a:spcPct val="125000"/>
              </a:lnSpc>
              <a:spcAft>
                <a:spcPts val="0"/>
              </a:spcAft>
            </a:pPr>
            <a:r>
              <a:rPr sz="1150" b="1" i="0" spc="140">
                <a:solidFill>
                  <a:srgbClr val="A094B5"/>
                </a:solidFill>
                <a:latin typeface="Calibri"/>
              </a:rPr>
              <a:t>MON</a:t>
            </a:r>
          </a:p>
        </p:txBody>
      </p:sp>
      <p:sp>
        <p:nvSpPr>
          <p:cNvPr id="7" name="Oval 6"/>
          <p:cNvSpPr/>
          <p:nvPr/>
        </p:nvSpPr>
        <p:spPr>
          <a:xfrm>
            <a:off x="956462" y="2276856"/>
            <a:ext cx="822960" cy="82296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ock.png"/>
          <p:cNvPicPr>
            <a:picLocks noChangeAspect="1"/>
          </p:cNvPicPr>
          <p:nvPr/>
        </p:nvPicPr>
        <p:blipFill>
          <a:blip r:embed="rId2"/>
          <a:stretch>
            <a:fillRect/>
          </a:stretch>
        </p:blipFill>
        <p:spPr>
          <a:xfrm>
            <a:off x="1130198" y="2450591"/>
            <a:ext cx="475488" cy="475488"/>
          </a:xfrm>
          <a:prstGeom prst="rect">
            <a:avLst/>
          </a:prstGeom>
        </p:spPr>
      </p:pic>
      <p:sp>
        <p:nvSpPr>
          <p:cNvPr id="9" name="TextBox 8"/>
          <p:cNvSpPr txBox="1"/>
          <p:nvPr/>
        </p:nvSpPr>
        <p:spPr>
          <a:xfrm>
            <a:off x="813816" y="3255264"/>
            <a:ext cx="1108252" cy="786384"/>
          </a:xfrm>
          <a:prstGeom prst="rect">
            <a:avLst/>
          </a:prstGeom>
          <a:noFill/>
        </p:spPr>
        <p:txBody>
          <a:bodyPr wrap="square" lIns="0" rIns="0" tIns="0" bIns="0" anchor="t">
            <a:spAutoFit/>
          </a:bodyPr>
          <a:lstStyle/>
          <a:p>
            <a:pPr algn="ctr">
              <a:lnSpc>
                <a:spcPct val="114000"/>
              </a:lnSpc>
              <a:spcAft>
                <a:spcPts val="0"/>
              </a:spcAft>
            </a:pPr>
            <a:r>
              <a:rPr sz="1400" b="0" i="0">
                <a:solidFill>
                  <a:srgbClr val="5B4F73"/>
                </a:solidFill>
                <a:latin typeface="Georgia"/>
              </a:rPr>
              <a:t>Odd Socks Day</a:t>
            </a:r>
          </a:p>
        </p:txBody>
      </p:sp>
      <p:sp>
        <p:nvSpPr>
          <p:cNvPr id="10" name="Rounded Rectangle 9"/>
          <p:cNvSpPr/>
          <p:nvPr/>
        </p:nvSpPr>
        <p:spPr>
          <a:xfrm>
            <a:off x="2287828" y="1700784"/>
            <a:ext cx="1364284" cy="248716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7828" y="1920240"/>
            <a:ext cx="1364284" cy="256032"/>
          </a:xfrm>
          <a:prstGeom prst="rect">
            <a:avLst/>
          </a:prstGeom>
          <a:noFill/>
        </p:spPr>
        <p:txBody>
          <a:bodyPr wrap="square" lIns="0" rIns="0" tIns="0" bIns="0" anchor="t">
            <a:spAutoFit/>
          </a:bodyPr>
          <a:lstStyle/>
          <a:p>
            <a:pPr algn="ctr">
              <a:lnSpc>
                <a:spcPct val="125000"/>
              </a:lnSpc>
              <a:spcAft>
                <a:spcPts val="0"/>
              </a:spcAft>
            </a:pPr>
            <a:r>
              <a:rPr sz="1150" b="1" i="0" spc="140">
                <a:solidFill>
                  <a:srgbClr val="A094B5"/>
                </a:solidFill>
                <a:latin typeface="Calibri"/>
              </a:rPr>
              <a:t>TUE</a:t>
            </a:r>
          </a:p>
        </p:txBody>
      </p:sp>
      <p:sp>
        <p:nvSpPr>
          <p:cNvPr id="12" name="Oval 11"/>
          <p:cNvSpPr/>
          <p:nvPr/>
        </p:nvSpPr>
        <p:spPr>
          <a:xfrm>
            <a:off x="2558491" y="2276856"/>
            <a:ext cx="822960" cy="82296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wap.png"/>
          <p:cNvPicPr>
            <a:picLocks noChangeAspect="1"/>
          </p:cNvPicPr>
          <p:nvPr/>
        </p:nvPicPr>
        <p:blipFill>
          <a:blip r:embed="rId3"/>
          <a:stretch>
            <a:fillRect/>
          </a:stretch>
        </p:blipFill>
        <p:spPr>
          <a:xfrm>
            <a:off x="2732227" y="2450591"/>
            <a:ext cx="475488" cy="475488"/>
          </a:xfrm>
          <a:prstGeom prst="rect">
            <a:avLst/>
          </a:prstGeom>
        </p:spPr>
      </p:pic>
      <p:sp>
        <p:nvSpPr>
          <p:cNvPr id="14" name="TextBox 13"/>
          <p:cNvSpPr txBox="1"/>
          <p:nvPr/>
        </p:nvSpPr>
        <p:spPr>
          <a:xfrm>
            <a:off x="2415844" y="3255264"/>
            <a:ext cx="1108252" cy="786384"/>
          </a:xfrm>
          <a:prstGeom prst="rect">
            <a:avLst/>
          </a:prstGeom>
          <a:noFill/>
        </p:spPr>
        <p:txBody>
          <a:bodyPr wrap="square" lIns="0" rIns="0" tIns="0" bIns="0" anchor="t">
            <a:spAutoFit/>
          </a:bodyPr>
          <a:lstStyle/>
          <a:p>
            <a:pPr algn="ctr">
              <a:lnSpc>
                <a:spcPct val="114000"/>
              </a:lnSpc>
              <a:spcAft>
                <a:spcPts val="0"/>
              </a:spcAft>
            </a:pPr>
            <a:r>
              <a:rPr sz="1400" b="0" i="0">
                <a:solidFill>
                  <a:srgbClr val="5B4F73"/>
                </a:solidFill>
                <a:latin typeface="Georgia"/>
              </a:rPr>
              <a:t>Mix-It-Up Lunch</a:t>
            </a:r>
          </a:p>
        </p:txBody>
      </p:sp>
      <p:sp>
        <p:nvSpPr>
          <p:cNvPr id="15" name="Rounded Rectangle 14"/>
          <p:cNvSpPr/>
          <p:nvPr/>
        </p:nvSpPr>
        <p:spPr>
          <a:xfrm>
            <a:off x="3889857" y="1700784"/>
            <a:ext cx="1364284" cy="248716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9857" y="1920240"/>
            <a:ext cx="1364284" cy="256032"/>
          </a:xfrm>
          <a:prstGeom prst="rect">
            <a:avLst/>
          </a:prstGeom>
          <a:noFill/>
        </p:spPr>
        <p:txBody>
          <a:bodyPr wrap="square" lIns="0" rIns="0" tIns="0" bIns="0" anchor="t">
            <a:spAutoFit/>
          </a:bodyPr>
          <a:lstStyle/>
          <a:p>
            <a:pPr algn="ctr">
              <a:lnSpc>
                <a:spcPct val="125000"/>
              </a:lnSpc>
              <a:spcAft>
                <a:spcPts val="0"/>
              </a:spcAft>
            </a:pPr>
            <a:r>
              <a:rPr sz="1150" b="1" i="0" spc="140">
                <a:solidFill>
                  <a:srgbClr val="A094B5"/>
                </a:solidFill>
                <a:latin typeface="Calibri"/>
              </a:rPr>
              <a:t>WED</a:t>
            </a:r>
          </a:p>
        </p:txBody>
      </p:sp>
      <p:sp>
        <p:nvSpPr>
          <p:cNvPr id="17" name="Oval 16"/>
          <p:cNvSpPr/>
          <p:nvPr/>
        </p:nvSpPr>
        <p:spPr>
          <a:xfrm>
            <a:off x="4160520" y="2276856"/>
            <a:ext cx="822960" cy="82296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celet.png"/>
          <p:cNvPicPr>
            <a:picLocks noChangeAspect="1"/>
          </p:cNvPicPr>
          <p:nvPr/>
        </p:nvPicPr>
        <p:blipFill>
          <a:blip r:embed="rId4"/>
          <a:stretch>
            <a:fillRect/>
          </a:stretch>
        </p:blipFill>
        <p:spPr>
          <a:xfrm>
            <a:off x="4334256" y="2450591"/>
            <a:ext cx="475488" cy="475488"/>
          </a:xfrm>
          <a:prstGeom prst="rect">
            <a:avLst/>
          </a:prstGeom>
        </p:spPr>
      </p:pic>
      <p:sp>
        <p:nvSpPr>
          <p:cNvPr id="19" name="TextBox 18"/>
          <p:cNvSpPr txBox="1"/>
          <p:nvPr/>
        </p:nvSpPr>
        <p:spPr>
          <a:xfrm>
            <a:off x="4017873" y="3255264"/>
            <a:ext cx="1108252" cy="786384"/>
          </a:xfrm>
          <a:prstGeom prst="rect">
            <a:avLst/>
          </a:prstGeom>
          <a:noFill/>
        </p:spPr>
        <p:txBody>
          <a:bodyPr wrap="square" lIns="0" rIns="0" tIns="0" bIns="0" anchor="t">
            <a:spAutoFit/>
          </a:bodyPr>
          <a:lstStyle/>
          <a:p>
            <a:pPr algn="ctr">
              <a:lnSpc>
                <a:spcPct val="114000"/>
              </a:lnSpc>
              <a:spcAft>
                <a:spcPts val="0"/>
              </a:spcAft>
            </a:pPr>
            <a:r>
              <a:rPr sz="1400" b="0" i="0">
                <a:solidFill>
                  <a:srgbClr val="5B4F73"/>
                </a:solidFill>
                <a:latin typeface="Georgia"/>
              </a:rPr>
              <a:t>Friendship Bracelets</a:t>
            </a:r>
          </a:p>
        </p:txBody>
      </p:sp>
      <p:sp>
        <p:nvSpPr>
          <p:cNvPr id="20" name="Rounded Rectangle 19"/>
          <p:cNvSpPr/>
          <p:nvPr/>
        </p:nvSpPr>
        <p:spPr>
          <a:xfrm>
            <a:off x="5491886" y="1700784"/>
            <a:ext cx="1364284" cy="248716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91886" y="1920240"/>
            <a:ext cx="1364284" cy="256032"/>
          </a:xfrm>
          <a:prstGeom prst="rect">
            <a:avLst/>
          </a:prstGeom>
          <a:noFill/>
        </p:spPr>
        <p:txBody>
          <a:bodyPr wrap="square" lIns="0" rIns="0" tIns="0" bIns="0" anchor="t">
            <a:spAutoFit/>
          </a:bodyPr>
          <a:lstStyle/>
          <a:p>
            <a:pPr algn="ctr">
              <a:lnSpc>
                <a:spcPct val="125000"/>
              </a:lnSpc>
              <a:spcAft>
                <a:spcPts val="0"/>
              </a:spcAft>
            </a:pPr>
            <a:r>
              <a:rPr sz="1150" b="1" i="0" spc="140">
                <a:solidFill>
                  <a:srgbClr val="A094B5"/>
                </a:solidFill>
                <a:latin typeface="Calibri"/>
              </a:rPr>
              <a:t>THU</a:t>
            </a:r>
          </a:p>
        </p:txBody>
      </p:sp>
      <p:sp>
        <p:nvSpPr>
          <p:cNvPr id="22" name="Oval 21"/>
          <p:cNvSpPr/>
          <p:nvPr/>
        </p:nvSpPr>
        <p:spPr>
          <a:xfrm>
            <a:off x="5762548" y="2276856"/>
            <a:ext cx="822960" cy="82296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at.png"/>
          <p:cNvPicPr>
            <a:picLocks noChangeAspect="1"/>
          </p:cNvPicPr>
          <p:nvPr/>
        </p:nvPicPr>
        <p:blipFill>
          <a:blip r:embed="rId5"/>
          <a:stretch>
            <a:fillRect/>
          </a:stretch>
        </p:blipFill>
        <p:spPr>
          <a:xfrm>
            <a:off x="5936284" y="2450591"/>
            <a:ext cx="475488" cy="475488"/>
          </a:xfrm>
          <a:prstGeom prst="rect">
            <a:avLst/>
          </a:prstGeom>
        </p:spPr>
      </p:pic>
      <p:sp>
        <p:nvSpPr>
          <p:cNvPr id="24" name="TextBox 23"/>
          <p:cNvSpPr txBox="1"/>
          <p:nvPr/>
        </p:nvSpPr>
        <p:spPr>
          <a:xfrm>
            <a:off x="5619902" y="3255264"/>
            <a:ext cx="1108252" cy="786384"/>
          </a:xfrm>
          <a:prstGeom prst="rect">
            <a:avLst/>
          </a:prstGeom>
          <a:noFill/>
        </p:spPr>
        <p:txBody>
          <a:bodyPr wrap="square" lIns="0" rIns="0" tIns="0" bIns="0" anchor="t">
            <a:spAutoFit/>
          </a:bodyPr>
          <a:lstStyle/>
          <a:p>
            <a:pPr algn="ctr">
              <a:lnSpc>
                <a:spcPct val="114000"/>
              </a:lnSpc>
              <a:spcAft>
                <a:spcPts val="0"/>
              </a:spcAft>
            </a:pPr>
            <a:r>
              <a:rPr sz="1400" b="0" i="0">
                <a:solidFill>
                  <a:srgbClr val="5B4F73"/>
                </a:solidFill>
                <a:latin typeface="Georgia"/>
              </a:rPr>
              <a:t>The Group Chat</a:t>
            </a:r>
          </a:p>
        </p:txBody>
      </p:sp>
      <p:sp>
        <p:nvSpPr>
          <p:cNvPr id="25" name="Rounded Rectangle 24"/>
          <p:cNvSpPr/>
          <p:nvPr/>
        </p:nvSpPr>
        <p:spPr>
          <a:xfrm>
            <a:off x="7093915" y="1700784"/>
            <a:ext cx="1364284" cy="248716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93915" y="1920240"/>
            <a:ext cx="1364284" cy="256032"/>
          </a:xfrm>
          <a:prstGeom prst="rect">
            <a:avLst/>
          </a:prstGeom>
          <a:noFill/>
        </p:spPr>
        <p:txBody>
          <a:bodyPr wrap="square" lIns="0" rIns="0" tIns="0" bIns="0" anchor="t">
            <a:spAutoFit/>
          </a:bodyPr>
          <a:lstStyle/>
          <a:p>
            <a:pPr algn="ctr">
              <a:lnSpc>
                <a:spcPct val="125000"/>
              </a:lnSpc>
              <a:spcAft>
                <a:spcPts val="0"/>
              </a:spcAft>
            </a:pPr>
            <a:r>
              <a:rPr sz="1150" b="1" i="0" spc="140">
                <a:solidFill>
                  <a:srgbClr val="A094B5"/>
                </a:solidFill>
                <a:latin typeface="Calibri"/>
              </a:rPr>
              <a:t>FRI</a:t>
            </a:r>
          </a:p>
        </p:txBody>
      </p:sp>
      <p:sp>
        <p:nvSpPr>
          <p:cNvPr id="27" name="Oval 26"/>
          <p:cNvSpPr/>
          <p:nvPr/>
        </p:nvSpPr>
        <p:spPr>
          <a:xfrm>
            <a:off x="7364577" y="2276856"/>
            <a:ext cx="822960" cy="82296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eaf.png"/>
          <p:cNvPicPr>
            <a:picLocks noChangeAspect="1"/>
          </p:cNvPicPr>
          <p:nvPr/>
        </p:nvPicPr>
        <p:blipFill>
          <a:blip r:embed="rId6"/>
          <a:stretch>
            <a:fillRect/>
          </a:stretch>
        </p:blipFill>
        <p:spPr>
          <a:xfrm>
            <a:off x="7538313" y="2450591"/>
            <a:ext cx="475488" cy="475488"/>
          </a:xfrm>
          <a:prstGeom prst="rect">
            <a:avLst/>
          </a:prstGeom>
        </p:spPr>
      </p:pic>
      <p:sp>
        <p:nvSpPr>
          <p:cNvPr id="29" name="TextBox 28"/>
          <p:cNvSpPr txBox="1"/>
          <p:nvPr/>
        </p:nvSpPr>
        <p:spPr>
          <a:xfrm>
            <a:off x="7221931" y="3255264"/>
            <a:ext cx="1108252" cy="786384"/>
          </a:xfrm>
          <a:prstGeom prst="rect">
            <a:avLst/>
          </a:prstGeom>
          <a:noFill/>
        </p:spPr>
        <p:txBody>
          <a:bodyPr wrap="square" lIns="0" rIns="0" tIns="0" bIns="0" anchor="t">
            <a:spAutoFit/>
          </a:bodyPr>
          <a:lstStyle/>
          <a:p>
            <a:pPr algn="ctr">
              <a:lnSpc>
                <a:spcPct val="114000"/>
              </a:lnSpc>
              <a:spcAft>
                <a:spcPts val="0"/>
              </a:spcAft>
            </a:pPr>
            <a:r>
              <a:rPr sz="1400" b="0" i="0">
                <a:solidFill>
                  <a:srgbClr val="5B4F73"/>
                </a:solidFill>
                <a:latin typeface="Georgia"/>
              </a:rPr>
              <a:t>The Positivity Tree</a:t>
            </a:r>
          </a:p>
        </p:txBody>
      </p:sp>
      <p:sp>
        <p:nvSpPr>
          <p:cNvPr id="30" name="TextBox 29"/>
          <p:cNvSpPr txBox="1"/>
          <p:nvPr/>
        </p:nvSpPr>
        <p:spPr>
          <a:xfrm>
            <a:off x="685800" y="4370832"/>
            <a:ext cx="7772400" cy="292608"/>
          </a:xfrm>
          <a:prstGeom prst="rect">
            <a:avLst/>
          </a:prstGeom>
          <a:noFill/>
        </p:spPr>
        <p:txBody>
          <a:bodyPr wrap="square" lIns="0" rIns="0" tIns="0" bIns="0" anchor="t">
            <a:spAutoFit/>
          </a:bodyPr>
          <a:lstStyle/>
          <a:p>
            <a:pPr algn="ctr">
              <a:lnSpc>
                <a:spcPct val="125000"/>
              </a:lnSpc>
              <a:spcAft>
                <a:spcPts val="0"/>
              </a:spcAft>
            </a:pPr>
            <a:r>
              <a:rPr sz="1200" b="0" i="1">
                <a:solidFill>
                  <a:srgbClr val="756F80"/>
                </a:solidFill>
                <a:latin typeface="Calibri"/>
              </a:rPr>
              <a:t>Every one of them is open to everybody, and you can join in as much or as little as you like.</a:t>
            </a:r>
          </a:p>
        </p:txBody>
      </p:sp>
      <p:pic>
        <p:nvPicPr>
          <p:cNvPr id="31" name="Picture 30" descr="logo-master.png"/>
          <p:cNvPicPr>
            <a:picLocks noChangeAspect="1"/>
          </p:cNvPicPr>
          <p:nvPr/>
        </p:nvPicPr>
        <p:blipFill>
          <a:blip r:embed="rId7"/>
          <a:stretch>
            <a:fillRect/>
          </a:stretch>
        </p:blipFill>
        <p:spPr>
          <a:xfrm>
            <a:off x="384048" y="4722876"/>
            <a:ext cx="158374" cy="182880"/>
          </a:xfrm>
          <a:prstGeom prst="rect">
            <a:avLst/>
          </a:prstGeom>
        </p:spPr>
      </p:pic>
      <p:sp>
        <p:nvSpPr>
          <p:cNvPr id="32" name="TextBox 31"/>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33" name="TextBox 32"/>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5B4F73"/>
                </a:solidFill>
                <a:latin typeface="Calibri"/>
              </a:rPr>
              <a:t>DAY ONE  ·  MONDAY</a:t>
            </a:r>
          </a:p>
        </p:txBody>
      </p:sp>
      <p:sp>
        <p:nvSpPr>
          <p:cNvPr id="4" name="TextBox 3"/>
          <p:cNvSpPr txBox="1"/>
          <p:nvPr/>
        </p:nvSpPr>
        <p:spPr>
          <a:xfrm>
            <a:off x="685800" y="859536"/>
            <a:ext cx="7772400" cy="603504"/>
          </a:xfrm>
          <a:prstGeom prst="rect">
            <a:avLst/>
          </a:prstGeom>
          <a:noFill/>
        </p:spPr>
        <p:txBody>
          <a:bodyPr wrap="square" lIns="0" rIns="0" tIns="0" bIns="0" anchor="t">
            <a:spAutoFit/>
          </a:bodyPr>
          <a:lstStyle/>
          <a:p>
            <a:pPr algn="l">
              <a:lnSpc>
                <a:spcPct val="105000"/>
              </a:lnSpc>
              <a:spcAft>
                <a:spcPts val="0"/>
              </a:spcAft>
            </a:pPr>
            <a:r>
              <a:rPr sz="3200" b="0" i="0">
                <a:solidFill>
                  <a:srgbClr val="44404C"/>
                </a:solidFill>
                <a:latin typeface="Georgia"/>
              </a:rPr>
              <a:t>Odd Socks Day</a:t>
            </a:r>
          </a:p>
        </p:txBody>
      </p:sp>
      <p:sp>
        <p:nvSpPr>
          <p:cNvPr id="5" name="Rounded Rectangle 4"/>
          <p:cNvSpPr/>
          <p:nvPr/>
        </p:nvSpPr>
        <p:spPr>
          <a:xfrm>
            <a:off x="685800" y="1700784"/>
            <a:ext cx="4892040" cy="239572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4206240" cy="420624"/>
          </a:xfrm>
          <a:prstGeom prst="rect">
            <a:avLst/>
          </a:prstGeom>
          <a:noFill/>
        </p:spPr>
        <p:txBody>
          <a:bodyPr wrap="square" lIns="0" rIns="0" tIns="0" bIns="0" anchor="t">
            <a:spAutoFit/>
          </a:bodyPr>
          <a:lstStyle/>
          <a:p>
            <a:pPr algn="l">
              <a:lnSpc>
                <a:spcPct val="125000"/>
              </a:lnSpc>
              <a:spcAft>
                <a:spcPts val="0"/>
              </a:spcAft>
            </a:pPr>
            <a:r>
              <a:rPr sz="1200" b="1" i="0" spc="120">
                <a:solidFill>
                  <a:srgbClr val="5B4F73"/>
                </a:solidFill>
                <a:latin typeface="Calibri"/>
              </a:rPr>
              <a:t>What is happening</a:t>
            </a:r>
          </a:p>
        </p:txBody>
      </p:sp>
      <p:sp>
        <p:nvSpPr>
          <p:cNvPr id="7" name="TextBox 6"/>
          <p:cNvSpPr txBox="1"/>
          <p:nvPr/>
        </p:nvSpPr>
        <p:spPr>
          <a:xfrm>
            <a:off x="1024128" y="2432304"/>
            <a:ext cx="4224528" cy="1371600"/>
          </a:xfrm>
          <a:prstGeom prst="rect">
            <a:avLst/>
          </a:prstGeom>
          <a:noFill/>
        </p:spPr>
        <p:txBody>
          <a:bodyPr wrap="square" lIns="0" rIns="0" tIns="0" bIns="0" anchor="t">
            <a:spAutoFit/>
          </a:bodyPr>
          <a:lstStyle/>
          <a:p>
            <a:pPr algn="l">
              <a:lnSpc>
                <a:spcPct val="142000"/>
              </a:lnSpc>
              <a:spcAft>
                <a:spcPts val="0"/>
              </a:spcAft>
            </a:pPr>
            <a:r>
              <a:rPr sz="1450" b="0" i="0">
                <a:solidFill>
                  <a:srgbClr val="44404C"/>
                </a:solidFill>
                <a:latin typeface="Calibri"/>
              </a:rPr>
              <a:t>Please wear odd socks with your uniform all day. It is an easy way to join in, and everybody is welcome to take part, so nobody should get a hard time for it.</a:t>
            </a:r>
          </a:p>
        </p:txBody>
      </p:sp>
      <p:sp>
        <p:nvSpPr>
          <p:cNvPr id="8" name="Oval 7"/>
          <p:cNvSpPr/>
          <p:nvPr/>
        </p:nvSpPr>
        <p:spPr>
          <a:xfrm>
            <a:off x="6217920" y="1709928"/>
            <a:ext cx="1371600" cy="137160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ock.png"/>
          <p:cNvPicPr>
            <a:picLocks noChangeAspect="1"/>
          </p:cNvPicPr>
          <p:nvPr/>
        </p:nvPicPr>
        <p:blipFill>
          <a:blip r:embed="rId2"/>
          <a:stretch>
            <a:fillRect/>
          </a:stretch>
        </p:blipFill>
        <p:spPr>
          <a:xfrm>
            <a:off x="6501383" y="1993392"/>
            <a:ext cx="804672" cy="804672"/>
          </a:xfrm>
          <a:prstGeom prst="rect">
            <a:avLst/>
          </a:prstGeom>
        </p:spPr>
      </p:pic>
      <p:sp>
        <p:nvSpPr>
          <p:cNvPr id="10" name="Rounded Rectangle 9"/>
          <p:cNvSpPr/>
          <p:nvPr/>
        </p:nvSpPr>
        <p:spPr>
          <a:xfrm>
            <a:off x="5870448" y="3401568"/>
            <a:ext cx="2615184" cy="694944"/>
          </a:xfrm>
          <a:prstGeom prst="roundRect">
            <a:avLst>
              <a:gd name="adj" fmla="val 5500"/>
            </a:avLst>
          </a:prstGeom>
          <a:solidFill>
            <a:srgbClr val="F2EFF6"/>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3511296"/>
            <a:ext cx="2286000" cy="493776"/>
          </a:xfrm>
          <a:prstGeom prst="rect">
            <a:avLst/>
          </a:prstGeom>
          <a:noFill/>
        </p:spPr>
        <p:txBody>
          <a:bodyPr wrap="square" lIns="0" rIns="0" tIns="0" bIns="0" anchor="ctr">
            <a:spAutoFit/>
          </a:bodyPr>
          <a:lstStyle/>
          <a:p>
            <a:pPr algn="ctr">
              <a:lnSpc>
                <a:spcPct val="128000"/>
              </a:lnSpc>
              <a:spcAft>
                <a:spcPts val="0"/>
              </a:spcAft>
            </a:pPr>
            <a:r>
              <a:rPr sz="1150" b="0" i="0">
                <a:solidFill>
                  <a:srgbClr val="5B4F73"/>
                </a:solidFill>
                <a:latin typeface="Calibri"/>
              </a:rPr>
              <a:t>All day</a:t>
            </a:r>
          </a:p>
          <a:p>
            <a:pPr algn="ctr">
              <a:lnSpc>
                <a:spcPct val="128000"/>
              </a:lnSpc>
              <a:spcAft>
                <a:spcPts val="0"/>
              </a:spcAft>
            </a:pPr>
            <a:r>
              <a:rPr sz="1150" b="0" i="0">
                <a:solidFill>
                  <a:srgbClr val="5B4F73"/>
                </a:solidFill>
                <a:latin typeface="Calibri"/>
              </a:rPr>
              <a:t>Just odd socks</a:t>
            </a:r>
          </a:p>
        </p:txBody>
      </p:sp>
      <p:sp>
        <p:nvSpPr>
          <p:cNvPr id="12" name="TextBox 11"/>
          <p:cNvSpPr txBox="1"/>
          <p:nvPr/>
        </p:nvSpPr>
        <p:spPr>
          <a:xfrm>
            <a:off x="685800" y="4279392"/>
            <a:ext cx="7772400" cy="310896"/>
          </a:xfrm>
          <a:prstGeom prst="rect">
            <a:avLst/>
          </a:prstGeom>
          <a:noFill/>
        </p:spPr>
        <p:txBody>
          <a:bodyPr wrap="square" lIns="0" rIns="0" tIns="0" bIns="0" anchor="t">
            <a:spAutoFit/>
          </a:bodyPr>
          <a:lstStyle/>
          <a:p>
            <a:pPr algn="l">
              <a:lnSpc>
                <a:spcPct val="125000"/>
              </a:lnSpc>
              <a:spcAft>
                <a:spcPts val="0"/>
              </a:spcAft>
            </a:pPr>
            <a:r>
              <a:rPr sz="1200" b="0" i="1">
                <a:solidFill>
                  <a:srgbClr val="756F80"/>
                </a:solidFill>
                <a:latin typeface="Calibri"/>
              </a:rPr>
              <a:t>Odd socks only. The rest of the uniform stays exactly as normal.</a:t>
            </a:r>
          </a:p>
        </p:txBody>
      </p:sp>
      <p:pic>
        <p:nvPicPr>
          <p:cNvPr id="13" name="Picture 12" descr="logo-master.png"/>
          <p:cNvPicPr>
            <a:picLocks noChangeAspect="1"/>
          </p:cNvPicPr>
          <p:nvPr/>
        </p:nvPicPr>
        <p:blipFill>
          <a:blip r:embed="rId3"/>
          <a:stretch>
            <a:fillRect/>
          </a:stretch>
        </p:blipFill>
        <p:spPr>
          <a:xfrm>
            <a:off x="384048" y="4722876"/>
            <a:ext cx="158374" cy="182880"/>
          </a:xfrm>
          <a:prstGeom prst="rect">
            <a:avLst/>
          </a:prstGeom>
        </p:spPr>
      </p:pic>
      <p:sp>
        <p:nvSpPr>
          <p:cNvPr id="14" name="TextBox 13"/>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15" name="TextBox 14"/>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5B4F73"/>
                </a:solidFill>
                <a:latin typeface="Calibri"/>
              </a:rPr>
              <a:t>DAY TWO  ·  TUESDAY</a:t>
            </a:r>
          </a:p>
        </p:txBody>
      </p:sp>
      <p:sp>
        <p:nvSpPr>
          <p:cNvPr id="4" name="TextBox 3"/>
          <p:cNvSpPr txBox="1"/>
          <p:nvPr/>
        </p:nvSpPr>
        <p:spPr>
          <a:xfrm>
            <a:off x="685800" y="859536"/>
            <a:ext cx="7772400" cy="603504"/>
          </a:xfrm>
          <a:prstGeom prst="rect">
            <a:avLst/>
          </a:prstGeom>
          <a:noFill/>
        </p:spPr>
        <p:txBody>
          <a:bodyPr wrap="square" lIns="0" rIns="0" tIns="0" bIns="0" anchor="t">
            <a:spAutoFit/>
          </a:bodyPr>
          <a:lstStyle/>
          <a:p>
            <a:pPr algn="l">
              <a:lnSpc>
                <a:spcPct val="105000"/>
              </a:lnSpc>
              <a:spcAft>
                <a:spcPts val="0"/>
              </a:spcAft>
            </a:pPr>
            <a:r>
              <a:rPr sz="3200" b="0" i="0">
                <a:solidFill>
                  <a:srgbClr val="44404C"/>
                </a:solidFill>
                <a:latin typeface="Georgia"/>
              </a:rPr>
              <a:t>Mix-It-Up Lunch</a:t>
            </a:r>
          </a:p>
        </p:txBody>
      </p:sp>
      <p:sp>
        <p:nvSpPr>
          <p:cNvPr id="5" name="Rounded Rectangle 4"/>
          <p:cNvSpPr/>
          <p:nvPr/>
        </p:nvSpPr>
        <p:spPr>
          <a:xfrm>
            <a:off x="685800" y="1700784"/>
            <a:ext cx="4892040" cy="239572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4206240" cy="420624"/>
          </a:xfrm>
          <a:prstGeom prst="rect">
            <a:avLst/>
          </a:prstGeom>
          <a:noFill/>
        </p:spPr>
        <p:txBody>
          <a:bodyPr wrap="square" lIns="0" rIns="0" tIns="0" bIns="0" anchor="t">
            <a:spAutoFit/>
          </a:bodyPr>
          <a:lstStyle/>
          <a:p>
            <a:pPr algn="l">
              <a:lnSpc>
                <a:spcPct val="125000"/>
              </a:lnSpc>
              <a:spcAft>
                <a:spcPts val="0"/>
              </a:spcAft>
            </a:pPr>
            <a:r>
              <a:rPr sz="1200" b="1" i="0" spc="120">
                <a:solidFill>
                  <a:srgbClr val="5B4F73"/>
                </a:solidFill>
                <a:latin typeface="Calibri"/>
              </a:rPr>
              <a:t>What is happening</a:t>
            </a:r>
          </a:p>
        </p:txBody>
      </p:sp>
      <p:sp>
        <p:nvSpPr>
          <p:cNvPr id="7" name="TextBox 6"/>
          <p:cNvSpPr txBox="1"/>
          <p:nvPr/>
        </p:nvSpPr>
        <p:spPr>
          <a:xfrm>
            <a:off x="1024128" y="2432304"/>
            <a:ext cx="4224528" cy="1371600"/>
          </a:xfrm>
          <a:prstGeom prst="rect">
            <a:avLst/>
          </a:prstGeom>
          <a:noFill/>
        </p:spPr>
        <p:txBody>
          <a:bodyPr wrap="square" lIns="0" rIns="0" tIns="0" bIns="0" anchor="t">
            <a:spAutoFit/>
          </a:bodyPr>
          <a:lstStyle/>
          <a:p>
            <a:pPr algn="l">
              <a:lnSpc>
                <a:spcPct val="142000"/>
              </a:lnSpc>
              <a:spcAft>
                <a:spcPts val="0"/>
              </a:spcAft>
            </a:pPr>
            <a:r>
              <a:rPr sz="1450" b="0" i="0">
                <a:solidFill>
                  <a:srgbClr val="44404C"/>
                </a:solidFill>
                <a:latin typeface="Calibri"/>
              </a:rPr>
              <a:t>Every table in the hall has a topic card on it. Sit at a table with people you do not usually sit with, and talk about whatever the card says.</a:t>
            </a:r>
          </a:p>
        </p:txBody>
      </p:sp>
      <p:sp>
        <p:nvSpPr>
          <p:cNvPr id="8" name="Oval 7"/>
          <p:cNvSpPr/>
          <p:nvPr/>
        </p:nvSpPr>
        <p:spPr>
          <a:xfrm>
            <a:off x="6217920" y="1709928"/>
            <a:ext cx="1371600" cy="137160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wap.png"/>
          <p:cNvPicPr>
            <a:picLocks noChangeAspect="1"/>
          </p:cNvPicPr>
          <p:nvPr/>
        </p:nvPicPr>
        <p:blipFill>
          <a:blip r:embed="rId2"/>
          <a:stretch>
            <a:fillRect/>
          </a:stretch>
        </p:blipFill>
        <p:spPr>
          <a:xfrm>
            <a:off x="6501383" y="1993392"/>
            <a:ext cx="804672" cy="804672"/>
          </a:xfrm>
          <a:prstGeom prst="rect">
            <a:avLst/>
          </a:prstGeom>
        </p:spPr>
      </p:pic>
      <p:sp>
        <p:nvSpPr>
          <p:cNvPr id="10" name="Rounded Rectangle 9"/>
          <p:cNvSpPr/>
          <p:nvPr/>
        </p:nvSpPr>
        <p:spPr>
          <a:xfrm>
            <a:off x="5870448" y="3401568"/>
            <a:ext cx="2615184" cy="694944"/>
          </a:xfrm>
          <a:prstGeom prst="roundRect">
            <a:avLst>
              <a:gd name="adj" fmla="val 5500"/>
            </a:avLst>
          </a:prstGeom>
          <a:solidFill>
            <a:srgbClr val="F2EFF6"/>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3511296"/>
            <a:ext cx="2286000" cy="493776"/>
          </a:xfrm>
          <a:prstGeom prst="rect">
            <a:avLst/>
          </a:prstGeom>
          <a:noFill/>
        </p:spPr>
        <p:txBody>
          <a:bodyPr wrap="square" lIns="0" rIns="0" tIns="0" bIns="0" anchor="ctr">
            <a:spAutoFit/>
          </a:bodyPr>
          <a:lstStyle/>
          <a:p>
            <a:pPr algn="ctr">
              <a:lnSpc>
                <a:spcPct val="128000"/>
              </a:lnSpc>
              <a:spcAft>
                <a:spcPts val="0"/>
              </a:spcAft>
            </a:pPr>
            <a:r>
              <a:rPr sz="1150" b="0" i="0">
                <a:solidFill>
                  <a:srgbClr val="5B4F73"/>
                </a:solidFill>
                <a:latin typeface="Calibri"/>
              </a:rPr>
              <a:t>[ THE HALL ]</a:t>
            </a:r>
          </a:p>
          <a:p>
            <a:pPr algn="ctr">
              <a:lnSpc>
                <a:spcPct val="128000"/>
              </a:lnSpc>
              <a:spcAft>
                <a:spcPts val="0"/>
              </a:spcAft>
            </a:pPr>
            <a:r>
              <a:rPr sz="1150" b="0" i="0">
                <a:solidFill>
                  <a:srgbClr val="5B4F73"/>
                </a:solidFill>
                <a:latin typeface="Calibri"/>
              </a:rPr>
              <a:t>All of lunch</a:t>
            </a:r>
          </a:p>
        </p:txBody>
      </p:sp>
      <p:sp>
        <p:nvSpPr>
          <p:cNvPr id="12" name="TextBox 11"/>
          <p:cNvSpPr txBox="1"/>
          <p:nvPr/>
        </p:nvSpPr>
        <p:spPr>
          <a:xfrm>
            <a:off x="685800" y="4279392"/>
            <a:ext cx="7772400" cy="310896"/>
          </a:xfrm>
          <a:prstGeom prst="rect">
            <a:avLst/>
          </a:prstGeom>
          <a:noFill/>
        </p:spPr>
        <p:txBody>
          <a:bodyPr wrap="square" lIns="0" rIns="0" tIns="0" bIns="0" anchor="t">
            <a:spAutoFit/>
          </a:bodyPr>
          <a:lstStyle/>
          <a:p>
            <a:pPr algn="l">
              <a:lnSpc>
                <a:spcPct val="125000"/>
              </a:lnSpc>
              <a:spcAft>
                <a:spcPts val="0"/>
              </a:spcAft>
            </a:pPr>
            <a:r>
              <a:rPr sz="1200" b="0" i="1">
                <a:solidFill>
                  <a:srgbClr val="756F80"/>
                </a:solidFill>
                <a:latin typeface="Calibri"/>
              </a:rPr>
              <a:t>If you would rather not, that is fine. Nobody is going to make you move.</a:t>
            </a:r>
          </a:p>
        </p:txBody>
      </p:sp>
      <p:pic>
        <p:nvPicPr>
          <p:cNvPr id="13" name="Picture 12" descr="logo-master.png"/>
          <p:cNvPicPr>
            <a:picLocks noChangeAspect="1"/>
          </p:cNvPicPr>
          <p:nvPr/>
        </p:nvPicPr>
        <p:blipFill>
          <a:blip r:embed="rId3"/>
          <a:stretch>
            <a:fillRect/>
          </a:stretch>
        </p:blipFill>
        <p:spPr>
          <a:xfrm>
            <a:off x="384048" y="4722876"/>
            <a:ext cx="158374" cy="182880"/>
          </a:xfrm>
          <a:prstGeom prst="rect">
            <a:avLst/>
          </a:prstGeom>
        </p:spPr>
      </p:pic>
      <p:sp>
        <p:nvSpPr>
          <p:cNvPr id="14" name="TextBox 13"/>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15" name="TextBox 14"/>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5B4F73"/>
                </a:solidFill>
                <a:latin typeface="Calibri"/>
              </a:rPr>
              <a:t>DAY THREE  ·  WEDNESDAY</a:t>
            </a:r>
          </a:p>
        </p:txBody>
      </p:sp>
      <p:sp>
        <p:nvSpPr>
          <p:cNvPr id="4" name="TextBox 3"/>
          <p:cNvSpPr txBox="1"/>
          <p:nvPr/>
        </p:nvSpPr>
        <p:spPr>
          <a:xfrm>
            <a:off x="685800" y="859536"/>
            <a:ext cx="7772400" cy="603504"/>
          </a:xfrm>
          <a:prstGeom prst="rect">
            <a:avLst/>
          </a:prstGeom>
          <a:noFill/>
        </p:spPr>
        <p:txBody>
          <a:bodyPr wrap="square" lIns="0" rIns="0" tIns="0" bIns="0" anchor="t">
            <a:spAutoFit/>
          </a:bodyPr>
          <a:lstStyle/>
          <a:p>
            <a:pPr algn="l">
              <a:lnSpc>
                <a:spcPct val="105000"/>
              </a:lnSpc>
              <a:spcAft>
                <a:spcPts val="0"/>
              </a:spcAft>
            </a:pPr>
            <a:r>
              <a:rPr sz="3200" b="0" i="0">
                <a:solidFill>
                  <a:srgbClr val="44404C"/>
                </a:solidFill>
                <a:latin typeface="Georgia"/>
              </a:rPr>
              <a:t>Friendship Bracelets</a:t>
            </a:r>
          </a:p>
        </p:txBody>
      </p:sp>
      <p:sp>
        <p:nvSpPr>
          <p:cNvPr id="5" name="Rounded Rectangle 4"/>
          <p:cNvSpPr/>
          <p:nvPr/>
        </p:nvSpPr>
        <p:spPr>
          <a:xfrm>
            <a:off x="685800" y="1700784"/>
            <a:ext cx="4892040" cy="239572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4206240" cy="420624"/>
          </a:xfrm>
          <a:prstGeom prst="rect">
            <a:avLst/>
          </a:prstGeom>
          <a:noFill/>
        </p:spPr>
        <p:txBody>
          <a:bodyPr wrap="square" lIns="0" rIns="0" tIns="0" bIns="0" anchor="t">
            <a:spAutoFit/>
          </a:bodyPr>
          <a:lstStyle/>
          <a:p>
            <a:pPr algn="l">
              <a:lnSpc>
                <a:spcPct val="125000"/>
              </a:lnSpc>
              <a:spcAft>
                <a:spcPts val="0"/>
              </a:spcAft>
            </a:pPr>
            <a:r>
              <a:rPr sz="1200" b="1" i="0" spc="120">
                <a:solidFill>
                  <a:srgbClr val="5B4F73"/>
                </a:solidFill>
                <a:latin typeface="Calibri"/>
              </a:rPr>
              <a:t>What is happening</a:t>
            </a:r>
          </a:p>
        </p:txBody>
      </p:sp>
      <p:sp>
        <p:nvSpPr>
          <p:cNvPr id="7" name="TextBox 6"/>
          <p:cNvSpPr txBox="1"/>
          <p:nvPr/>
        </p:nvSpPr>
        <p:spPr>
          <a:xfrm>
            <a:off x="1024128" y="2432304"/>
            <a:ext cx="4224528" cy="1371600"/>
          </a:xfrm>
          <a:prstGeom prst="rect">
            <a:avLst/>
          </a:prstGeom>
          <a:noFill/>
        </p:spPr>
        <p:txBody>
          <a:bodyPr wrap="square" lIns="0" rIns="0" tIns="0" bIns="0" anchor="t">
            <a:spAutoFit/>
          </a:bodyPr>
          <a:lstStyle/>
          <a:p>
            <a:pPr algn="l">
              <a:lnSpc>
                <a:spcPct val="142000"/>
              </a:lnSpc>
              <a:spcAft>
                <a:spcPts val="0"/>
              </a:spcAft>
            </a:pPr>
            <a:r>
              <a:rPr sz="1450" b="0" i="0">
                <a:solidFill>
                  <a:srgbClr val="44404C"/>
                </a:solidFill>
                <a:latin typeface="Calibri"/>
              </a:rPr>
              <a:t>Come and make two bracelets at lunch. Keep one, and give the other to somebody who would not be expecting it, perhaps somebody you rarely talk to.</a:t>
            </a:r>
          </a:p>
        </p:txBody>
      </p:sp>
      <p:sp>
        <p:nvSpPr>
          <p:cNvPr id="8" name="Oval 7"/>
          <p:cNvSpPr/>
          <p:nvPr/>
        </p:nvSpPr>
        <p:spPr>
          <a:xfrm>
            <a:off x="6217920" y="1709928"/>
            <a:ext cx="1371600" cy="137160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racelet.png"/>
          <p:cNvPicPr>
            <a:picLocks noChangeAspect="1"/>
          </p:cNvPicPr>
          <p:nvPr/>
        </p:nvPicPr>
        <p:blipFill>
          <a:blip r:embed="rId2"/>
          <a:stretch>
            <a:fillRect/>
          </a:stretch>
        </p:blipFill>
        <p:spPr>
          <a:xfrm>
            <a:off x="6501383" y="1993392"/>
            <a:ext cx="804672" cy="804672"/>
          </a:xfrm>
          <a:prstGeom prst="rect">
            <a:avLst/>
          </a:prstGeom>
        </p:spPr>
      </p:pic>
      <p:sp>
        <p:nvSpPr>
          <p:cNvPr id="10" name="Rounded Rectangle 9"/>
          <p:cNvSpPr/>
          <p:nvPr/>
        </p:nvSpPr>
        <p:spPr>
          <a:xfrm>
            <a:off x="5870448" y="3401568"/>
            <a:ext cx="2615184" cy="694944"/>
          </a:xfrm>
          <a:prstGeom prst="roundRect">
            <a:avLst>
              <a:gd name="adj" fmla="val 5500"/>
            </a:avLst>
          </a:prstGeom>
          <a:solidFill>
            <a:srgbClr val="F2EFF6"/>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3511296"/>
            <a:ext cx="2286000" cy="493776"/>
          </a:xfrm>
          <a:prstGeom prst="rect">
            <a:avLst/>
          </a:prstGeom>
          <a:noFill/>
        </p:spPr>
        <p:txBody>
          <a:bodyPr wrap="square" lIns="0" rIns="0" tIns="0" bIns="0" anchor="ctr">
            <a:spAutoFit/>
          </a:bodyPr>
          <a:lstStyle/>
          <a:p>
            <a:pPr algn="ctr">
              <a:lnSpc>
                <a:spcPct val="128000"/>
              </a:lnSpc>
              <a:spcAft>
                <a:spcPts val="0"/>
              </a:spcAft>
            </a:pPr>
            <a:r>
              <a:rPr sz="1150" b="0" i="0">
                <a:solidFill>
                  <a:srgbClr val="5B4F73"/>
                </a:solidFill>
                <a:latin typeface="Calibri"/>
              </a:rPr>
              <a:t>[ ROOM ]</a:t>
            </a:r>
          </a:p>
          <a:p>
            <a:pPr algn="ctr">
              <a:lnSpc>
                <a:spcPct val="128000"/>
              </a:lnSpc>
              <a:spcAft>
                <a:spcPts val="0"/>
              </a:spcAft>
            </a:pPr>
            <a:r>
              <a:rPr sz="1150" b="0" i="0">
                <a:solidFill>
                  <a:srgbClr val="5B4F73"/>
                </a:solidFill>
                <a:latin typeface="Calibri"/>
              </a:rPr>
              <a:t>Lunchtime</a:t>
            </a:r>
          </a:p>
        </p:txBody>
      </p:sp>
      <p:sp>
        <p:nvSpPr>
          <p:cNvPr id="12" name="TextBox 11"/>
          <p:cNvSpPr txBox="1"/>
          <p:nvPr/>
        </p:nvSpPr>
        <p:spPr>
          <a:xfrm>
            <a:off x="685800" y="4279392"/>
            <a:ext cx="7772400" cy="310896"/>
          </a:xfrm>
          <a:prstGeom prst="rect">
            <a:avLst/>
          </a:prstGeom>
          <a:noFill/>
        </p:spPr>
        <p:txBody>
          <a:bodyPr wrap="square" lIns="0" rIns="0" tIns="0" bIns="0" anchor="t">
            <a:spAutoFit/>
          </a:bodyPr>
          <a:lstStyle/>
          <a:p>
            <a:pPr algn="l">
              <a:lnSpc>
                <a:spcPct val="125000"/>
              </a:lnSpc>
              <a:spcAft>
                <a:spcPts val="0"/>
              </a:spcAft>
            </a:pPr>
            <a:r>
              <a:rPr sz="1200" b="0" i="1">
                <a:solidFill>
                  <a:srgbClr val="756F80"/>
                </a:solidFill>
                <a:latin typeface="Calibri"/>
              </a:rPr>
              <a:t>Thread and beads are provided.</a:t>
            </a:r>
          </a:p>
        </p:txBody>
      </p:sp>
      <p:pic>
        <p:nvPicPr>
          <p:cNvPr id="13" name="Picture 12" descr="logo-master.png"/>
          <p:cNvPicPr>
            <a:picLocks noChangeAspect="1"/>
          </p:cNvPicPr>
          <p:nvPr/>
        </p:nvPicPr>
        <p:blipFill>
          <a:blip r:embed="rId3"/>
          <a:stretch>
            <a:fillRect/>
          </a:stretch>
        </p:blipFill>
        <p:spPr>
          <a:xfrm>
            <a:off x="384048" y="4722876"/>
            <a:ext cx="158374" cy="182880"/>
          </a:xfrm>
          <a:prstGeom prst="rect">
            <a:avLst/>
          </a:prstGeom>
        </p:spPr>
      </p:pic>
      <p:sp>
        <p:nvSpPr>
          <p:cNvPr id="14" name="TextBox 13"/>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15" name="TextBox 14"/>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5B4F73"/>
                </a:solidFill>
                <a:latin typeface="Calibri"/>
              </a:rPr>
              <a:t>DAY FOUR  ·  THURSDAY</a:t>
            </a:r>
          </a:p>
        </p:txBody>
      </p:sp>
      <p:sp>
        <p:nvSpPr>
          <p:cNvPr id="4" name="TextBox 3"/>
          <p:cNvSpPr txBox="1"/>
          <p:nvPr/>
        </p:nvSpPr>
        <p:spPr>
          <a:xfrm>
            <a:off x="685800" y="859536"/>
            <a:ext cx="7772400" cy="603504"/>
          </a:xfrm>
          <a:prstGeom prst="rect">
            <a:avLst/>
          </a:prstGeom>
          <a:noFill/>
        </p:spPr>
        <p:txBody>
          <a:bodyPr wrap="square" lIns="0" rIns="0" tIns="0" bIns="0" anchor="t">
            <a:spAutoFit/>
          </a:bodyPr>
          <a:lstStyle/>
          <a:p>
            <a:pPr algn="l">
              <a:lnSpc>
                <a:spcPct val="105000"/>
              </a:lnSpc>
              <a:spcAft>
                <a:spcPts val="0"/>
              </a:spcAft>
            </a:pPr>
            <a:r>
              <a:rPr sz="3200" b="0" i="0">
                <a:solidFill>
                  <a:srgbClr val="44404C"/>
                </a:solidFill>
                <a:latin typeface="Georgia"/>
              </a:rPr>
              <a:t>The Group Chat</a:t>
            </a:r>
          </a:p>
        </p:txBody>
      </p:sp>
      <p:sp>
        <p:nvSpPr>
          <p:cNvPr id="5" name="Rounded Rectangle 4"/>
          <p:cNvSpPr/>
          <p:nvPr/>
        </p:nvSpPr>
        <p:spPr>
          <a:xfrm>
            <a:off x="685800" y="1700784"/>
            <a:ext cx="4892040" cy="239572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4206240" cy="420624"/>
          </a:xfrm>
          <a:prstGeom prst="rect">
            <a:avLst/>
          </a:prstGeom>
          <a:noFill/>
        </p:spPr>
        <p:txBody>
          <a:bodyPr wrap="square" lIns="0" rIns="0" tIns="0" bIns="0" anchor="t">
            <a:spAutoFit/>
          </a:bodyPr>
          <a:lstStyle/>
          <a:p>
            <a:pPr algn="l">
              <a:lnSpc>
                <a:spcPct val="125000"/>
              </a:lnSpc>
              <a:spcAft>
                <a:spcPts val="0"/>
              </a:spcAft>
            </a:pPr>
            <a:r>
              <a:rPr sz="1200" b="1" i="0" spc="120">
                <a:solidFill>
                  <a:srgbClr val="5B4F73"/>
                </a:solidFill>
                <a:latin typeface="Calibri"/>
              </a:rPr>
              <a:t>What is happening</a:t>
            </a:r>
          </a:p>
        </p:txBody>
      </p:sp>
      <p:sp>
        <p:nvSpPr>
          <p:cNvPr id="7" name="TextBox 6"/>
          <p:cNvSpPr txBox="1"/>
          <p:nvPr/>
        </p:nvSpPr>
        <p:spPr>
          <a:xfrm>
            <a:off x="1024128" y="2432304"/>
            <a:ext cx="4224528" cy="1371600"/>
          </a:xfrm>
          <a:prstGeom prst="rect">
            <a:avLst/>
          </a:prstGeom>
          <a:noFill/>
        </p:spPr>
        <p:txBody>
          <a:bodyPr wrap="square" lIns="0" rIns="0" tIns="0" bIns="0" anchor="t">
            <a:spAutoFit/>
          </a:bodyPr>
          <a:lstStyle/>
          <a:p>
            <a:pPr algn="l">
              <a:lnSpc>
                <a:spcPct val="142000"/>
              </a:lnSpc>
              <a:spcAft>
                <a:spcPts val="0"/>
              </a:spcAft>
            </a:pPr>
            <a:r>
              <a:rPr sz="1450" b="0" i="0">
                <a:solidFill>
                  <a:srgbClr val="44404C"/>
                </a:solidFill>
                <a:latin typeface="Calibri"/>
              </a:rPr>
              <a:t>A group chat goes up on the wall. Read it, then stick a note on the message where you think it went wrong, and write what you would have said instead.</a:t>
            </a:r>
          </a:p>
        </p:txBody>
      </p:sp>
      <p:sp>
        <p:nvSpPr>
          <p:cNvPr id="8" name="Oval 7"/>
          <p:cNvSpPr/>
          <p:nvPr/>
        </p:nvSpPr>
        <p:spPr>
          <a:xfrm>
            <a:off x="6217920" y="1709928"/>
            <a:ext cx="1371600" cy="137160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t.png"/>
          <p:cNvPicPr>
            <a:picLocks noChangeAspect="1"/>
          </p:cNvPicPr>
          <p:nvPr/>
        </p:nvPicPr>
        <p:blipFill>
          <a:blip r:embed="rId2"/>
          <a:stretch>
            <a:fillRect/>
          </a:stretch>
        </p:blipFill>
        <p:spPr>
          <a:xfrm>
            <a:off x="6501383" y="1993392"/>
            <a:ext cx="804672" cy="804672"/>
          </a:xfrm>
          <a:prstGeom prst="rect">
            <a:avLst/>
          </a:prstGeom>
        </p:spPr>
      </p:pic>
      <p:sp>
        <p:nvSpPr>
          <p:cNvPr id="10" name="Rounded Rectangle 9"/>
          <p:cNvSpPr/>
          <p:nvPr/>
        </p:nvSpPr>
        <p:spPr>
          <a:xfrm>
            <a:off x="5870448" y="3401568"/>
            <a:ext cx="2615184" cy="694944"/>
          </a:xfrm>
          <a:prstGeom prst="roundRect">
            <a:avLst>
              <a:gd name="adj" fmla="val 5500"/>
            </a:avLst>
          </a:prstGeom>
          <a:solidFill>
            <a:srgbClr val="F2EFF6"/>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3511296"/>
            <a:ext cx="2286000" cy="493776"/>
          </a:xfrm>
          <a:prstGeom prst="rect">
            <a:avLst/>
          </a:prstGeom>
          <a:noFill/>
        </p:spPr>
        <p:txBody>
          <a:bodyPr wrap="square" lIns="0" rIns="0" tIns="0" bIns="0" anchor="ctr">
            <a:spAutoFit/>
          </a:bodyPr>
          <a:lstStyle/>
          <a:p>
            <a:pPr algn="ctr">
              <a:lnSpc>
                <a:spcPct val="128000"/>
              </a:lnSpc>
              <a:spcAft>
                <a:spcPts val="0"/>
              </a:spcAft>
            </a:pPr>
            <a:r>
              <a:rPr sz="1150" b="0" i="0">
                <a:solidFill>
                  <a:srgbClr val="5B4F73"/>
                </a:solidFill>
                <a:latin typeface="Calibri"/>
              </a:rPr>
              <a:t>[ PLACE ]</a:t>
            </a:r>
          </a:p>
          <a:p>
            <a:pPr algn="ctr">
              <a:lnSpc>
                <a:spcPct val="128000"/>
              </a:lnSpc>
              <a:spcAft>
                <a:spcPts val="0"/>
              </a:spcAft>
            </a:pPr>
            <a:r>
              <a:rPr sz="1150" b="0" i="0">
                <a:solidFill>
                  <a:srgbClr val="5B4F73"/>
                </a:solidFill>
                <a:latin typeface="Calibri"/>
              </a:rPr>
              <a:t>All day</a:t>
            </a:r>
          </a:p>
        </p:txBody>
      </p:sp>
      <p:sp>
        <p:nvSpPr>
          <p:cNvPr id="12" name="TextBox 11"/>
          <p:cNvSpPr txBox="1"/>
          <p:nvPr/>
        </p:nvSpPr>
        <p:spPr>
          <a:xfrm>
            <a:off x="685800" y="4279392"/>
            <a:ext cx="7772400" cy="310896"/>
          </a:xfrm>
          <a:prstGeom prst="rect">
            <a:avLst/>
          </a:prstGeom>
          <a:noFill/>
        </p:spPr>
        <p:txBody>
          <a:bodyPr wrap="square" lIns="0" rIns="0" tIns="0" bIns="0" anchor="t">
            <a:spAutoFit/>
          </a:bodyPr>
          <a:lstStyle/>
          <a:p>
            <a:pPr algn="l">
              <a:lnSpc>
                <a:spcPct val="125000"/>
              </a:lnSpc>
              <a:spcAft>
                <a:spcPts val="0"/>
              </a:spcAft>
            </a:pPr>
            <a:r>
              <a:rPr sz="1200" b="0" i="1">
                <a:solidFill>
                  <a:srgbClr val="756F80"/>
                </a:solidFill>
                <a:latin typeface="Calibri"/>
              </a:rPr>
              <a:t>This chat is made up, and it is not about anyone here.</a:t>
            </a:r>
          </a:p>
        </p:txBody>
      </p:sp>
      <p:pic>
        <p:nvPicPr>
          <p:cNvPr id="13" name="Picture 12" descr="logo-master.png"/>
          <p:cNvPicPr>
            <a:picLocks noChangeAspect="1"/>
          </p:cNvPicPr>
          <p:nvPr/>
        </p:nvPicPr>
        <p:blipFill>
          <a:blip r:embed="rId3"/>
          <a:stretch>
            <a:fillRect/>
          </a:stretch>
        </p:blipFill>
        <p:spPr>
          <a:xfrm>
            <a:off x="384048" y="4722876"/>
            <a:ext cx="158374" cy="182880"/>
          </a:xfrm>
          <a:prstGeom prst="rect">
            <a:avLst/>
          </a:prstGeom>
        </p:spPr>
      </p:pic>
      <p:sp>
        <p:nvSpPr>
          <p:cNvPr id="14" name="TextBox 13"/>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15" name="TextBox 14"/>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5B4F73"/>
                </a:solidFill>
                <a:latin typeface="Calibri"/>
              </a:rPr>
              <a:t>DAY FIVE  ·  FRIDAY</a:t>
            </a:r>
          </a:p>
        </p:txBody>
      </p:sp>
      <p:sp>
        <p:nvSpPr>
          <p:cNvPr id="4" name="TextBox 3"/>
          <p:cNvSpPr txBox="1"/>
          <p:nvPr/>
        </p:nvSpPr>
        <p:spPr>
          <a:xfrm>
            <a:off x="685800" y="859536"/>
            <a:ext cx="7772400" cy="603504"/>
          </a:xfrm>
          <a:prstGeom prst="rect">
            <a:avLst/>
          </a:prstGeom>
          <a:noFill/>
        </p:spPr>
        <p:txBody>
          <a:bodyPr wrap="square" lIns="0" rIns="0" tIns="0" bIns="0" anchor="t">
            <a:spAutoFit/>
          </a:bodyPr>
          <a:lstStyle/>
          <a:p>
            <a:pPr algn="l">
              <a:lnSpc>
                <a:spcPct val="105000"/>
              </a:lnSpc>
              <a:spcAft>
                <a:spcPts val="0"/>
              </a:spcAft>
            </a:pPr>
            <a:r>
              <a:rPr sz="3200" b="0" i="0">
                <a:solidFill>
                  <a:srgbClr val="44404C"/>
                </a:solidFill>
                <a:latin typeface="Georgia"/>
              </a:rPr>
              <a:t>The Positivity Tree</a:t>
            </a:r>
          </a:p>
        </p:txBody>
      </p:sp>
      <p:sp>
        <p:nvSpPr>
          <p:cNvPr id="5" name="Rounded Rectangle 4"/>
          <p:cNvSpPr/>
          <p:nvPr/>
        </p:nvSpPr>
        <p:spPr>
          <a:xfrm>
            <a:off x="685800" y="1700784"/>
            <a:ext cx="4892040" cy="2395728"/>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4206240" cy="420624"/>
          </a:xfrm>
          <a:prstGeom prst="rect">
            <a:avLst/>
          </a:prstGeom>
          <a:noFill/>
        </p:spPr>
        <p:txBody>
          <a:bodyPr wrap="square" lIns="0" rIns="0" tIns="0" bIns="0" anchor="t">
            <a:spAutoFit/>
          </a:bodyPr>
          <a:lstStyle/>
          <a:p>
            <a:pPr algn="l">
              <a:lnSpc>
                <a:spcPct val="125000"/>
              </a:lnSpc>
              <a:spcAft>
                <a:spcPts val="0"/>
              </a:spcAft>
            </a:pPr>
            <a:r>
              <a:rPr sz="1200" b="1" i="0" spc="120">
                <a:solidFill>
                  <a:srgbClr val="5B4F73"/>
                </a:solidFill>
                <a:latin typeface="Calibri"/>
              </a:rPr>
              <a:t>What is happening</a:t>
            </a:r>
          </a:p>
        </p:txBody>
      </p:sp>
      <p:sp>
        <p:nvSpPr>
          <p:cNvPr id="7" name="TextBox 6"/>
          <p:cNvSpPr txBox="1"/>
          <p:nvPr/>
        </p:nvSpPr>
        <p:spPr>
          <a:xfrm>
            <a:off x="1024128" y="2432304"/>
            <a:ext cx="4224528" cy="1371600"/>
          </a:xfrm>
          <a:prstGeom prst="rect">
            <a:avLst/>
          </a:prstGeom>
          <a:noFill/>
        </p:spPr>
        <p:txBody>
          <a:bodyPr wrap="square" lIns="0" rIns="0" tIns="0" bIns="0" anchor="t">
            <a:spAutoFit/>
          </a:bodyPr>
          <a:lstStyle/>
          <a:p>
            <a:pPr algn="l">
              <a:lnSpc>
                <a:spcPct val="142000"/>
              </a:lnSpc>
              <a:spcAft>
                <a:spcPts val="0"/>
              </a:spcAft>
            </a:pPr>
            <a:r>
              <a:rPr sz="1450" b="0" i="0">
                <a:solidFill>
                  <a:srgbClr val="44404C"/>
                </a:solidFill>
                <a:latin typeface="Calibri"/>
              </a:rPr>
              <a:t>Write something good about somebody in this school on a leaf, and hang it on the tree. Choose somebody who is not your best friend, ideally somebody who would not expect it from you.</a:t>
            </a:r>
          </a:p>
        </p:txBody>
      </p:sp>
      <p:sp>
        <p:nvSpPr>
          <p:cNvPr id="8" name="Oval 7"/>
          <p:cNvSpPr/>
          <p:nvPr/>
        </p:nvSpPr>
        <p:spPr>
          <a:xfrm>
            <a:off x="6217920" y="1709928"/>
            <a:ext cx="1371600" cy="1371600"/>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eaf.png"/>
          <p:cNvPicPr>
            <a:picLocks noChangeAspect="1"/>
          </p:cNvPicPr>
          <p:nvPr/>
        </p:nvPicPr>
        <p:blipFill>
          <a:blip r:embed="rId2"/>
          <a:stretch>
            <a:fillRect/>
          </a:stretch>
        </p:blipFill>
        <p:spPr>
          <a:xfrm>
            <a:off x="6501383" y="1993392"/>
            <a:ext cx="804672" cy="804672"/>
          </a:xfrm>
          <a:prstGeom prst="rect">
            <a:avLst/>
          </a:prstGeom>
        </p:spPr>
      </p:pic>
      <p:sp>
        <p:nvSpPr>
          <p:cNvPr id="10" name="Rounded Rectangle 9"/>
          <p:cNvSpPr/>
          <p:nvPr/>
        </p:nvSpPr>
        <p:spPr>
          <a:xfrm>
            <a:off x="5870448" y="3401568"/>
            <a:ext cx="2615184" cy="694944"/>
          </a:xfrm>
          <a:prstGeom prst="roundRect">
            <a:avLst>
              <a:gd name="adj" fmla="val 5500"/>
            </a:avLst>
          </a:prstGeom>
          <a:solidFill>
            <a:srgbClr val="F2EFF6"/>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3511296"/>
            <a:ext cx="2286000" cy="493776"/>
          </a:xfrm>
          <a:prstGeom prst="rect">
            <a:avLst/>
          </a:prstGeom>
          <a:noFill/>
        </p:spPr>
        <p:txBody>
          <a:bodyPr wrap="square" lIns="0" rIns="0" tIns="0" bIns="0" anchor="ctr">
            <a:spAutoFit/>
          </a:bodyPr>
          <a:lstStyle/>
          <a:p>
            <a:pPr algn="ctr">
              <a:lnSpc>
                <a:spcPct val="128000"/>
              </a:lnSpc>
              <a:spcAft>
                <a:spcPts val="0"/>
              </a:spcAft>
            </a:pPr>
            <a:r>
              <a:rPr sz="1150" b="0" i="0">
                <a:solidFill>
                  <a:srgbClr val="5B4F73"/>
                </a:solidFill>
                <a:latin typeface="Calibri"/>
              </a:rPr>
              <a:t>[ THE TREE ]</a:t>
            </a:r>
          </a:p>
          <a:p>
            <a:pPr algn="ctr">
              <a:lnSpc>
                <a:spcPct val="128000"/>
              </a:lnSpc>
              <a:spcAft>
                <a:spcPts val="0"/>
              </a:spcAft>
            </a:pPr>
            <a:r>
              <a:rPr sz="1150" b="0" i="0">
                <a:solidFill>
                  <a:srgbClr val="5B4F73"/>
                </a:solidFill>
                <a:latin typeface="Calibri"/>
              </a:rPr>
              <a:t>Lunchtime</a:t>
            </a:r>
          </a:p>
        </p:txBody>
      </p:sp>
      <p:sp>
        <p:nvSpPr>
          <p:cNvPr id="12" name="TextBox 11"/>
          <p:cNvSpPr txBox="1"/>
          <p:nvPr/>
        </p:nvSpPr>
        <p:spPr>
          <a:xfrm>
            <a:off x="685800" y="4279392"/>
            <a:ext cx="7772400" cy="310896"/>
          </a:xfrm>
          <a:prstGeom prst="rect">
            <a:avLst/>
          </a:prstGeom>
          <a:noFill/>
        </p:spPr>
        <p:txBody>
          <a:bodyPr wrap="square" lIns="0" rIns="0" tIns="0" bIns="0" anchor="t">
            <a:spAutoFit/>
          </a:bodyPr>
          <a:lstStyle/>
          <a:p>
            <a:pPr algn="l">
              <a:lnSpc>
                <a:spcPct val="125000"/>
              </a:lnSpc>
              <a:spcAft>
                <a:spcPts val="0"/>
              </a:spcAft>
            </a:pPr>
            <a:r>
              <a:rPr sz="1200" b="0" i="1">
                <a:solidFill>
                  <a:srgbClr val="756F80"/>
                </a:solidFill>
                <a:latin typeface="Calibri"/>
              </a:rPr>
              <a:t>Please do not sign your leaf. We hope the tree will be full of kind words by the end of lunch.</a:t>
            </a:r>
          </a:p>
        </p:txBody>
      </p:sp>
      <p:pic>
        <p:nvPicPr>
          <p:cNvPr id="13" name="Picture 12" descr="logo-master.png"/>
          <p:cNvPicPr>
            <a:picLocks noChangeAspect="1"/>
          </p:cNvPicPr>
          <p:nvPr/>
        </p:nvPicPr>
        <p:blipFill>
          <a:blip r:embed="rId3"/>
          <a:stretch>
            <a:fillRect/>
          </a:stretch>
        </p:blipFill>
        <p:spPr>
          <a:xfrm>
            <a:off x="384048" y="4722876"/>
            <a:ext cx="158374" cy="182880"/>
          </a:xfrm>
          <a:prstGeom prst="rect">
            <a:avLst/>
          </a:prstGeom>
        </p:spPr>
      </p:pic>
      <p:sp>
        <p:nvSpPr>
          <p:cNvPr id="14" name="TextBox 13"/>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15" name="TextBox 14"/>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p:spPr>
        <p:txBody>
          <a:bodyPr wrap="square" lIns="0" rIns="0" tIns="0" bIns="0" anchor="t">
            <a:spAutoFit/>
          </a:bodyPr>
          <a:lstStyle/>
          <a:p>
            <a:pPr algn="l">
              <a:lnSpc>
                <a:spcPct val="125000"/>
              </a:lnSpc>
              <a:spcAft>
                <a:spcPts val="0"/>
              </a:spcAft>
            </a:pPr>
            <a:r>
              <a:rPr sz="1050" b="1" i="0" spc="160">
                <a:solidFill>
                  <a:srgbClr val="5B4F73"/>
                </a:solidFill>
                <a:latin typeface="Calibri"/>
              </a:rPr>
              <a:t>ONE MORE THING</a:t>
            </a:r>
          </a:p>
        </p:txBody>
      </p:sp>
      <p:sp>
        <p:nvSpPr>
          <p:cNvPr id="4" name="TextBox 3"/>
          <p:cNvSpPr txBox="1"/>
          <p:nvPr/>
        </p:nvSpPr>
        <p:spPr>
          <a:xfrm>
            <a:off x="685800" y="859536"/>
            <a:ext cx="7772400" cy="566928"/>
          </a:xfrm>
          <a:prstGeom prst="rect">
            <a:avLst/>
          </a:prstGeom>
          <a:noFill/>
        </p:spPr>
        <p:txBody>
          <a:bodyPr wrap="square" lIns="0" rIns="0" tIns="0" bIns="0" anchor="t">
            <a:spAutoFit/>
          </a:bodyPr>
          <a:lstStyle/>
          <a:p>
            <a:pPr algn="l">
              <a:lnSpc>
                <a:spcPct val="105000"/>
              </a:lnSpc>
              <a:spcAft>
                <a:spcPts val="0"/>
              </a:spcAft>
            </a:pPr>
            <a:r>
              <a:rPr sz="3000" b="0" i="0">
                <a:solidFill>
                  <a:srgbClr val="44404C"/>
                </a:solidFill>
                <a:latin typeface="Georgia"/>
              </a:rPr>
              <a:t>If any of this is happening to you</a:t>
            </a:r>
          </a:p>
        </p:txBody>
      </p:sp>
      <p:sp>
        <p:nvSpPr>
          <p:cNvPr id="5" name="TextBox 4"/>
          <p:cNvSpPr txBox="1"/>
          <p:nvPr/>
        </p:nvSpPr>
        <p:spPr>
          <a:xfrm>
            <a:off x="685800" y="1481328"/>
            <a:ext cx="7772400" cy="310896"/>
          </a:xfrm>
          <a:prstGeom prst="rect">
            <a:avLst/>
          </a:prstGeom>
          <a:noFill/>
        </p:spPr>
        <p:txBody>
          <a:bodyPr wrap="square" lIns="0" rIns="0" tIns="0" bIns="0" anchor="t">
            <a:spAutoFit/>
          </a:bodyPr>
          <a:lstStyle/>
          <a:p>
            <a:pPr algn="l">
              <a:lnSpc>
                <a:spcPct val="125000"/>
              </a:lnSpc>
              <a:spcAft>
                <a:spcPts val="0"/>
              </a:spcAft>
            </a:pPr>
            <a:r>
              <a:rPr sz="1300" b="0" i="1">
                <a:solidFill>
                  <a:srgbClr val="756F80"/>
                </a:solidFill>
                <a:latin typeface="Calibri"/>
              </a:rPr>
              <a:t>You can also tell someone if you have watched it happen to somebody else.</a:t>
            </a:r>
          </a:p>
        </p:txBody>
      </p:sp>
      <p:sp>
        <p:nvSpPr>
          <p:cNvPr id="6" name="Rounded Rectangle 5"/>
          <p:cNvSpPr/>
          <p:nvPr/>
        </p:nvSpPr>
        <p:spPr>
          <a:xfrm>
            <a:off x="685800" y="1920240"/>
            <a:ext cx="2395728" cy="1883664"/>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54480" y="2066544"/>
            <a:ext cx="658368" cy="658368"/>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eak.png"/>
          <p:cNvPicPr>
            <a:picLocks noChangeAspect="1"/>
          </p:cNvPicPr>
          <p:nvPr/>
        </p:nvPicPr>
        <p:blipFill>
          <a:blip r:embed="rId2"/>
          <a:stretch>
            <a:fillRect/>
          </a:stretch>
        </p:blipFill>
        <p:spPr>
          <a:xfrm>
            <a:off x="1691640" y="2203704"/>
            <a:ext cx="384048" cy="384048"/>
          </a:xfrm>
          <a:prstGeom prst="rect">
            <a:avLst/>
          </a:prstGeom>
        </p:spPr>
      </p:pic>
      <p:sp>
        <p:nvSpPr>
          <p:cNvPr id="9" name="TextBox 8"/>
          <p:cNvSpPr txBox="1"/>
          <p:nvPr/>
        </p:nvSpPr>
        <p:spPr>
          <a:xfrm>
            <a:off x="813816" y="2834640"/>
            <a:ext cx="2139696" cy="475488"/>
          </a:xfrm>
          <a:prstGeom prst="rect">
            <a:avLst/>
          </a:prstGeom>
          <a:noFill/>
        </p:spPr>
        <p:txBody>
          <a:bodyPr wrap="square" lIns="0" rIns="0" tIns="0" bIns="0" anchor="t">
            <a:spAutoFit/>
          </a:bodyPr>
          <a:lstStyle/>
          <a:p>
            <a:pPr algn="ctr">
              <a:lnSpc>
                <a:spcPct val="110000"/>
              </a:lnSpc>
              <a:spcAft>
                <a:spcPts val="0"/>
              </a:spcAft>
            </a:pPr>
            <a:r>
              <a:rPr sz="1350" b="0" i="0">
                <a:solidFill>
                  <a:srgbClr val="5B4F73"/>
                </a:solidFill>
                <a:latin typeface="Georgia"/>
              </a:rPr>
              <a:t>Your form tutor</a:t>
            </a:r>
          </a:p>
        </p:txBody>
      </p:sp>
      <p:sp>
        <p:nvSpPr>
          <p:cNvPr id="10" name="TextBox 9"/>
          <p:cNvSpPr txBox="1"/>
          <p:nvPr/>
        </p:nvSpPr>
        <p:spPr>
          <a:xfrm>
            <a:off x="850392" y="3328416"/>
            <a:ext cx="2066544" cy="420624"/>
          </a:xfrm>
          <a:prstGeom prst="rect">
            <a:avLst/>
          </a:prstGeom>
          <a:noFill/>
        </p:spPr>
        <p:txBody>
          <a:bodyPr wrap="square" lIns="0" rIns="0" tIns="0" bIns="0" anchor="t">
            <a:spAutoFit/>
          </a:bodyPr>
          <a:lstStyle/>
          <a:p>
            <a:pPr algn="ctr">
              <a:lnSpc>
                <a:spcPct val="130000"/>
              </a:lnSpc>
              <a:spcAft>
                <a:spcPts val="0"/>
              </a:spcAft>
            </a:pPr>
            <a:r>
              <a:rPr sz="1050" b="0" i="0">
                <a:solidFill>
                  <a:srgbClr val="756F80"/>
                </a:solidFill>
                <a:latin typeface="Calibri"/>
              </a:rPr>
              <a:t>Talk to them any morning, before the day starts.</a:t>
            </a:r>
          </a:p>
        </p:txBody>
      </p:sp>
      <p:sp>
        <p:nvSpPr>
          <p:cNvPr id="11" name="Rounded Rectangle 10"/>
          <p:cNvSpPr/>
          <p:nvPr/>
        </p:nvSpPr>
        <p:spPr>
          <a:xfrm>
            <a:off x="3374136" y="1920240"/>
            <a:ext cx="2395728" cy="1883664"/>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42816" y="2066544"/>
            <a:ext cx="658368" cy="658368"/>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eak.png"/>
          <p:cNvPicPr>
            <a:picLocks noChangeAspect="1"/>
          </p:cNvPicPr>
          <p:nvPr/>
        </p:nvPicPr>
        <p:blipFill>
          <a:blip r:embed="rId2"/>
          <a:stretch>
            <a:fillRect/>
          </a:stretch>
        </p:blipFill>
        <p:spPr>
          <a:xfrm>
            <a:off x="4379976" y="2203704"/>
            <a:ext cx="384048" cy="384048"/>
          </a:xfrm>
          <a:prstGeom prst="rect">
            <a:avLst/>
          </a:prstGeom>
        </p:spPr>
      </p:pic>
      <p:sp>
        <p:nvSpPr>
          <p:cNvPr id="14" name="TextBox 13"/>
          <p:cNvSpPr txBox="1"/>
          <p:nvPr/>
        </p:nvSpPr>
        <p:spPr>
          <a:xfrm>
            <a:off x="3502152" y="2834640"/>
            <a:ext cx="2139696" cy="475488"/>
          </a:xfrm>
          <a:prstGeom prst="rect">
            <a:avLst/>
          </a:prstGeom>
          <a:noFill/>
        </p:spPr>
        <p:txBody>
          <a:bodyPr wrap="square" lIns="0" rIns="0" tIns="0" bIns="0" anchor="t">
            <a:spAutoFit/>
          </a:bodyPr>
          <a:lstStyle/>
          <a:p>
            <a:pPr algn="ctr">
              <a:lnSpc>
                <a:spcPct val="110000"/>
              </a:lnSpc>
              <a:spcAft>
                <a:spcPts val="0"/>
              </a:spcAft>
            </a:pPr>
            <a:r>
              <a:rPr sz="1350" b="0" i="0">
                <a:solidFill>
                  <a:srgbClr val="5B4F73"/>
                </a:solidFill>
                <a:latin typeface="Georgia"/>
              </a:rPr>
              <a:t>[ NAMED STAFF ]</a:t>
            </a:r>
          </a:p>
        </p:txBody>
      </p:sp>
      <p:sp>
        <p:nvSpPr>
          <p:cNvPr id="15" name="TextBox 14"/>
          <p:cNvSpPr txBox="1"/>
          <p:nvPr/>
        </p:nvSpPr>
        <p:spPr>
          <a:xfrm>
            <a:off x="3538728" y="3328416"/>
            <a:ext cx="2066544" cy="420624"/>
          </a:xfrm>
          <a:prstGeom prst="rect">
            <a:avLst/>
          </a:prstGeom>
          <a:noFill/>
        </p:spPr>
        <p:txBody>
          <a:bodyPr wrap="square" lIns="0" rIns="0" tIns="0" bIns="0" anchor="t">
            <a:spAutoFit/>
          </a:bodyPr>
          <a:lstStyle/>
          <a:p>
            <a:pPr algn="ctr">
              <a:lnSpc>
                <a:spcPct val="130000"/>
              </a:lnSpc>
              <a:spcAft>
                <a:spcPts val="0"/>
              </a:spcAft>
            </a:pPr>
            <a:r>
              <a:rPr sz="1050" b="0" i="0">
                <a:solidFill>
                  <a:srgbClr val="756F80"/>
                </a:solidFill>
                <a:latin typeface="Calibri"/>
              </a:rPr>
              <a:t>Ask at reception and they will find them for you.</a:t>
            </a:r>
          </a:p>
        </p:txBody>
      </p:sp>
      <p:sp>
        <p:nvSpPr>
          <p:cNvPr id="16" name="Rounded Rectangle 15"/>
          <p:cNvSpPr/>
          <p:nvPr/>
        </p:nvSpPr>
        <p:spPr>
          <a:xfrm>
            <a:off x="6062472" y="1920240"/>
            <a:ext cx="2395728" cy="1883664"/>
          </a:xfrm>
          <a:prstGeom prst="roundRect">
            <a:avLst>
              <a:gd name="adj" fmla="val 5500"/>
            </a:avLst>
          </a:prstGeom>
          <a:solidFill>
            <a:srgbClr val="FFFDF7"/>
          </a:solidFill>
          <a:ln w="12700">
            <a:solidFill>
              <a:srgbClr val="D3C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931151" y="2066544"/>
            <a:ext cx="658368" cy="658368"/>
          </a:xfrm>
          <a:prstGeom prst="ellipse">
            <a:avLst/>
          </a:prstGeom>
          <a:solidFill>
            <a:srgbClr val="5B4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eak.png"/>
          <p:cNvPicPr>
            <a:picLocks noChangeAspect="1"/>
          </p:cNvPicPr>
          <p:nvPr/>
        </p:nvPicPr>
        <p:blipFill>
          <a:blip r:embed="rId2"/>
          <a:stretch>
            <a:fillRect/>
          </a:stretch>
        </p:blipFill>
        <p:spPr>
          <a:xfrm>
            <a:off x="7068312" y="2203704"/>
            <a:ext cx="384048" cy="384048"/>
          </a:xfrm>
          <a:prstGeom prst="rect">
            <a:avLst/>
          </a:prstGeom>
        </p:spPr>
      </p:pic>
      <p:sp>
        <p:nvSpPr>
          <p:cNvPr id="19" name="TextBox 18"/>
          <p:cNvSpPr txBox="1"/>
          <p:nvPr/>
        </p:nvSpPr>
        <p:spPr>
          <a:xfrm>
            <a:off x="6190488" y="2834640"/>
            <a:ext cx="2139696" cy="475488"/>
          </a:xfrm>
          <a:prstGeom prst="rect">
            <a:avLst/>
          </a:prstGeom>
          <a:noFill/>
        </p:spPr>
        <p:txBody>
          <a:bodyPr wrap="square" lIns="0" rIns="0" tIns="0" bIns="0" anchor="t">
            <a:spAutoFit/>
          </a:bodyPr>
          <a:lstStyle/>
          <a:p>
            <a:pPr algn="ctr">
              <a:lnSpc>
                <a:spcPct val="110000"/>
              </a:lnSpc>
              <a:spcAft>
                <a:spcPts val="0"/>
              </a:spcAft>
            </a:pPr>
            <a:r>
              <a:rPr sz="1350" b="0" i="0">
                <a:solidFill>
                  <a:srgbClr val="5B4F73"/>
                </a:solidFill>
                <a:latin typeface="Georgia"/>
              </a:rPr>
              <a:t>[ REPORTING ROUTE ]</a:t>
            </a:r>
          </a:p>
        </p:txBody>
      </p:sp>
      <p:sp>
        <p:nvSpPr>
          <p:cNvPr id="20" name="TextBox 19"/>
          <p:cNvSpPr txBox="1"/>
          <p:nvPr/>
        </p:nvSpPr>
        <p:spPr>
          <a:xfrm>
            <a:off x="6227064" y="3328416"/>
            <a:ext cx="2066544" cy="420624"/>
          </a:xfrm>
          <a:prstGeom prst="rect">
            <a:avLst/>
          </a:prstGeom>
          <a:noFill/>
        </p:spPr>
        <p:txBody>
          <a:bodyPr wrap="square" lIns="0" rIns="0" tIns="0" bIns="0" anchor="t">
            <a:spAutoFit/>
          </a:bodyPr>
          <a:lstStyle/>
          <a:p>
            <a:pPr algn="ctr">
              <a:lnSpc>
                <a:spcPct val="130000"/>
              </a:lnSpc>
              <a:spcAft>
                <a:spcPts val="0"/>
              </a:spcAft>
            </a:pPr>
            <a:r>
              <a:rPr sz="1050" b="0" i="0">
                <a:solidFill>
                  <a:srgbClr val="756F80"/>
                </a:solidFill>
                <a:latin typeface="Calibri"/>
              </a:rPr>
              <a:t>If you would rather not say it out loud, you can use this.</a:t>
            </a:r>
          </a:p>
        </p:txBody>
      </p:sp>
      <p:sp>
        <p:nvSpPr>
          <p:cNvPr id="21" name="TextBox 20"/>
          <p:cNvSpPr txBox="1"/>
          <p:nvPr/>
        </p:nvSpPr>
        <p:spPr>
          <a:xfrm>
            <a:off x="685800" y="4059936"/>
            <a:ext cx="7772400" cy="310896"/>
          </a:xfrm>
          <a:prstGeom prst="rect">
            <a:avLst/>
          </a:prstGeom>
          <a:noFill/>
        </p:spPr>
        <p:txBody>
          <a:bodyPr wrap="square" lIns="0" rIns="0" tIns="0" bIns="0" anchor="t">
            <a:spAutoFit/>
          </a:bodyPr>
          <a:lstStyle/>
          <a:p>
            <a:pPr algn="ctr">
              <a:lnSpc>
                <a:spcPct val="125000"/>
              </a:lnSpc>
              <a:spcAft>
                <a:spcPts val="0"/>
              </a:spcAft>
            </a:pPr>
            <a:r>
              <a:rPr sz="1250" b="1" i="0">
                <a:solidFill>
                  <a:srgbClr val="5B4F73"/>
                </a:solidFill>
                <a:latin typeface="Calibri"/>
              </a:rPr>
              <a:t>A member of staff will always talk to you before doing anything. If somebody could be in danger, they will need to tell the safeguarding lead, and they will explain that to you.</a:t>
            </a:r>
          </a:p>
        </p:txBody>
      </p:sp>
      <p:pic>
        <p:nvPicPr>
          <p:cNvPr id="22" name="Picture 21" descr="logo-master.png"/>
          <p:cNvPicPr>
            <a:picLocks noChangeAspect="1"/>
          </p:cNvPicPr>
          <p:nvPr/>
        </p:nvPicPr>
        <p:blipFill>
          <a:blip r:embed="rId3"/>
          <a:stretch>
            <a:fillRect/>
          </a:stretch>
        </p:blipFill>
        <p:spPr>
          <a:xfrm>
            <a:off x="384048" y="4722876"/>
            <a:ext cx="158374" cy="182880"/>
          </a:xfrm>
          <a:prstGeom prst="rect">
            <a:avLst/>
          </a:prstGeom>
        </p:spPr>
      </p:pic>
      <p:sp>
        <p:nvSpPr>
          <p:cNvPr id="23" name="TextBox 22"/>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24" name="TextBox 23"/>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2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ster.png"/>
          <p:cNvPicPr>
            <a:picLocks noChangeAspect="1"/>
          </p:cNvPicPr>
          <p:nvPr/>
        </p:nvPicPr>
        <p:blipFill>
          <a:blip r:embed="rId2"/>
          <a:stretch>
            <a:fillRect/>
          </a:stretch>
        </p:blipFill>
        <p:spPr>
          <a:xfrm>
            <a:off x="4255251" y="950976"/>
            <a:ext cx="633496" cy="731520"/>
          </a:xfrm>
          <a:prstGeom prst="rect">
            <a:avLst/>
          </a:prstGeom>
        </p:spPr>
      </p:pic>
      <p:sp>
        <p:nvSpPr>
          <p:cNvPr id="4" name="TextBox 3"/>
          <p:cNvSpPr txBox="1"/>
          <p:nvPr/>
        </p:nvSpPr>
        <p:spPr>
          <a:xfrm>
            <a:off x="548640" y="1993392"/>
            <a:ext cx="8046720" cy="786384"/>
          </a:xfrm>
          <a:prstGeom prst="rect">
            <a:avLst/>
          </a:prstGeom>
          <a:noFill/>
        </p:spPr>
        <p:txBody>
          <a:bodyPr wrap="square" lIns="0" rIns="0" tIns="0" bIns="0" anchor="t">
            <a:spAutoFit/>
          </a:bodyPr>
          <a:lstStyle/>
          <a:p>
            <a:pPr algn="ctr">
              <a:lnSpc>
                <a:spcPct val="110000"/>
              </a:lnSpc>
              <a:spcAft>
                <a:spcPts val="0"/>
              </a:spcAft>
            </a:pPr>
            <a:r>
              <a:rPr sz="3200" b="0" i="0">
                <a:solidFill>
                  <a:srgbClr val="5B4F73"/>
                </a:solidFill>
                <a:latin typeface="Georgia"/>
              </a:rPr>
              <a:t>This week is a good start.</a:t>
            </a:r>
          </a:p>
        </p:txBody>
      </p:sp>
      <p:sp>
        <p:nvSpPr>
          <p:cNvPr id="5" name="TextBox 4"/>
          <p:cNvSpPr txBox="1"/>
          <p:nvPr/>
        </p:nvSpPr>
        <p:spPr>
          <a:xfrm>
            <a:off x="1188720" y="2871216"/>
            <a:ext cx="6766560" cy="731520"/>
          </a:xfrm>
          <a:prstGeom prst="rect">
            <a:avLst/>
          </a:prstGeom>
          <a:noFill/>
        </p:spPr>
        <p:txBody>
          <a:bodyPr wrap="square" lIns="0" rIns="0" tIns="0" bIns="0" anchor="t">
            <a:spAutoFit/>
          </a:bodyPr>
          <a:lstStyle/>
          <a:p>
            <a:pPr algn="ctr">
              <a:lnSpc>
                <a:spcPct val="140000"/>
              </a:lnSpc>
              <a:spcAft>
                <a:spcPts val="0"/>
              </a:spcAft>
            </a:pPr>
            <a:r>
              <a:rPr sz="1500" b="0" i="0">
                <a:solidFill>
                  <a:srgbClr val="756F80"/>
                </a:solidFill>
                <a:latin typeface="Calibri"/>
              </a:rPr>
              <a:t>Keep looking out for anybody who seems to be on their own, on Friday and after.</a:t>
            </a:r>
          </a:p>
        </p:txBody>
      </p:sp>
      <p:sp>
        <p:nvSpPr>
          <p:cNvPr id="6" name="TextBox 5"/>
          <p:cNvSpPr txBox="1"/>
          <p:nvPr/>
        </p:nvSpPr>
        <p:spPr>
          <a:xfrm>
            <a:off x="731520" y="3803904"/>
            <a:ext cx="7680960" cy="310896"/>
          </a:xfrm>
          <a:prstGeom prst="rect">
            <a:avLst/>
          </a:prstGeom>
          <a:noFill/>
        </p:spPr>
        <p:txBody>
          <a:bodyPr wrap="square" lIns="0" rIns="0" tIns="0" bIns="0" anchor="t">
            <a:spAutoFit/>
          </a:bodyPr>
          <a:lstStyle/>
          <a:p>
            <a:pPr algn="ctr">
              <a:lnSpc>
                <a:spcPct val="125000"/>
              </a:lnSpc>
              <a:spcAft>
                <a:spcPts val="0"/>
              </a:spcAft>
            </a:pPr>
            <a:r>
              <a:rPr sz="1200" b="0" i="1">
                <a:solidFill>
                  <a:srgbClr val="A9A3B2"/>
                </a:solidFill>
                <a:latin typeface="Calibri"/>
              </a:rPr>
              <a:t>Anti-Bullying Week  ·  Five Themed Days</a:t>
            </a:r>
          </a:p>
        </p:txBody>
      </p:sp>
      <p:pic>
        <p:nvPicPr>
          <p:cNvPr id="7" name="Picture 6" descr="logo-master.png"/>
          <p:cNvPicPr>
            <a:picLocks noChangeAspect="1"/>
          </p:cNvPicPr>
          <p:nvPr/>
        </p:nvPicPr>
        <p:blipFill>
          <a:blip r:embed="rId2"/>
          <a:stretch>
            <a:fillRect/>
          </a:stretch>
        </p:blipFill>
        <p:spPr>
          <a:xfrm>
            <a:off x="384048" y="4722876"/>
            <a:ext cx="158374" cy="182880"/>
          </a:xfrm>
          <a:prstGeom prst="rect">
            <a:avLst/>
          </a:prstGeom>
        </p:spPr>
      </p:pic>
      <p:sp>
        <p:nvSpPr>
          <p:cNvPr id="8" name="TextBox 7"/>
          <p:cNvSpPr txBox="1"/>
          <p:nvPr/>
        </p:nvSpPr>
        <p:spPr>
          <a:xfrm>
            <a:off x="606430" y="4709160"/>
            <a:ext cx="2194560" cy="210312"/>
          </a:xfrm>
          <a:prstGeom prst="rect">
            <a:avLst/>
          </a:prstGeom>
          <a:noFill/>
        </p:spPr>
        <p:txBody>
          <a:bodyPr wrap="square" lIns="0" rIns="0" tIns="0" bIns="0" anchor="ctr">
            <a:spAutoFit/>
          </a:bodyPr>
          <a:lstStyle/>
          <a:p>
            <a:pPr algn="l">
              <a:lnSpc>
                <a:spcPct val="125000"/>
              </a:lnSpc>
              <a:spcAft>
                <a:spcPts val="0"/>
              </a:spcAft>
            </a:pPr>
            <a:r>
              <a:rPr sz="850" b="0" i="1">
                <a:solidFill>
                  <a:srgbClr val="A9A3B2"/>
                </a:solidFill>
                <a:latin typeface="Calibri"/>
              </a:rPr>
              <a:t>The Pastoral Guide</a:t>
            </a:r>
          </a:p>
        </p:txBody>
      </p:sp>
      <p:sp>
        <p:nvSpPr>
          <p:cNvPr id="9" name="TextBox 8"/>
          <p:cNvSpPr txBox="1"/>
          <p:nvPr/>
        </p:nvSpPr>
        <p:spPr>
          <a:xfrm>
            <a:off x="7680960" y="4722876"/>
            <a:ext cx="1078992" cy="219456"/>
          </a:xfrm>
          <a:prstGeom prst="rect">
            <a:avLst/>
          </a:prstGeom>
          <a:noFill/>
        </p:spPr>
        <p:txBody>
          <a:bodyPr wrap="square" lIns="0" rIns="0" tIns="0" bIns="0" anchor="ctr">
            <a:spAutoFit/>
          </a:bodyPr>
          <a:lstStyle/>
          <a:p>
            <a:pPr algn="r">
              <a:lnSpc>
                <a:spcPct val="125000"/>
              </a:lnSpc>
              <a:spcAft>
                <a:spcPts val="0"/>
              </a:spcAft>
            </a:pPr>
            <a:r>
              <a:rPr sz="850" b="0" i="0">
                <a:solidFill>
                  <a:srgbClr val="A9A3B2"/>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The Pastoral Guide</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Anti-Bullying Week: the slides</dc:title>
  <dc:subject>A free pastoral resource for form tutors, from The Pastoral Guide, thepastoralguide.com</dc:subject>
  <dc:creator>The Pastoral Guide</dc:creator>
  <cp:keywords>form time, tutor time, pastoral, PSHE, secondary, free</cp:keywords>
  <dc:description>A free pastoral resource for form tutors, from The Pastoral Guide, thepastoralguide.com</dc:description>
  <cp:lastModifiedBy>The Pastoral Guide</cp:lastModifiedBy>
  <cp:revision>1</cp:revision>
  <dcterms:created xsi:type="dcterms:W3CDTF">2026-09-14T05:55:02Z</dcterms:created>
  <dcterms:modified xsi:type="dcterms:W3CDTF">2026-09-14T05:55:02Z</dcterms:modified>
  <cp:category>Pastoral resources</cp:category>
</cp:coreProperties>
</file>