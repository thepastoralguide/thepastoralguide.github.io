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D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146" y="640080"/>
            <a:ext cx="807707" cy="932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10512"/>
            <a:ext cx="8046720" cy="753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3A3320"/>
                </a:solidFill>
                <a:latin typeface="Libre Caslon Display"/>
              </a:rPr>
              <a:t>World Kindness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16352"/>
            <a:ext cx="1005840" cy="18288"/>
          </a:xfrm>
          <a:prstGeom prst="rect">
            <a:avLst/>
          </a:prstGeom>
          <a:solidFill>
            <a:srgbClr val="A87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0" i="0">
                <a:solidFill>
                  <a:srgbClr val="5C6552"/>
                </a:solidFill>
                <a:latin typeface="Karla"/>
              </a:rPr>
              <a:t>An Assembly and a Week of Form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4787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13 November, every year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5C6552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C6552"/>
                </a:solidFill>
                <a:latin typeface="Karla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D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3A3320"/>
                </a:solidFill>
                <a:latin typeface="Libre Caslon Display"/>
              </a:rPr>
              <a:t>Imagine you buy a stranger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3A3320"/>
                </a:solidFill>
                <a:latin typeface="Libre Caslon Display"/>
              </a:rPr>
              <a:t>a hot chocolate.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A87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On a scale of 0 to 10, how big a deal is it to them? Hold your number in your head. We will come back to it.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5C6552"/>
                </a:solidFill>
                <a:latin typeface="Karla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C6552"/>
                </a:solidFill>
                <a:latin typeface="Karla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WHAT THE DAY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World Kindness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It has been held on 13 November every year since 1998, when the World Kindness Movement started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B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64008" cy="1188720"/>
          </a:xfrm>
          <a:prstGeom prst="rect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414016"/>
            <a:ext cx="69677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This morning: what researchers found when they tested small kind acts.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2E3436"/>
                </a:solidFill>
                <a:latin typeface="Karla"/>
              </a:rPr>
              <a:t>This week: five minutes of form time a day, ending on Friday.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World Kindness Movement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2E3436"/>
                </a:solidFill>
                <a:latin typeface="Libre Caslon Display"/>
              </a:rPr>
              <a:t>Small kind acts feel bigger than we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412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At an ice rink in Chicago, people gave a stranger a hot chocolate. Both were asked how big a deal it was, out of 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3730752" cy="15544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3730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600" b="1" i="0">
                <a:solidFill>
                  <a:srgbClr val="3A3320"/>
                </a:solidFill>
                <a:latin typeface="Libre Caslon Display"/>
              </a:rPr>
              <a:t>3.8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45536"/>
            <a:ext cx="3182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how big the givers thought it was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2212848"/>
            <a:ext cx="3730752" cy="1554480"/>
          </a:xfrm>
          <a:prstGeom prst="roundRect">
            <a:avLst>
              <a:gd name="adj" fmla="val 6000"/>
            </a:avLst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359152"/>
            <a:ext cx="3730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4600" b="1" i="0">
                <a:solidFill>
                  <a:srgbClr val="3A3320"/>
                </a:solidFill>
                <a:latin typeface="Libre Caslon Display"/>
              </a:rPr>
              <a:t>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3145536"/>
            <a:ext cx="318211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3A3320"/>
                </a:solidFill>
                <a:latin typeface="Karla"/>
              </a:rPr>
              <a:t>how big the people getting it said it was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Think about it: when did something small that someone did for you feel big?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Kumar and Epley, 2023</a:t>
            </a:r>
          </a:p>
        </p:txBody>
      </p:sp>
      <p:pic>
        <p:nvPicPr>
          <p:cNvPr id="14" name="Picture 1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2E3436"/>
                </a:solidFill>
                <a:latin typeface="Libre Caslon Display"/>
              </a:rPr>
              <a:t>Compliments feel better than we expect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Students paid compliments to people they did not know.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Before they did it, they expected the other person to feel awkward.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The other person felt much better than they predicted.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They were also far less bothered by it than the students had guessed.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The students giving the compliments felt better too.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Their nerves were what made them guess wrong.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Think about it: what stops you saying something nice you are already thinking?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Boothby and Bohns, 2021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2E3436"/>
                </a:solidFill>
                <a:latin typeface="Libre Caslon Display"/>
              </a:rPr>
              <a:t>A thank-you means more than we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Adults wrote a short thank-you letter to someone who had helped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Then they guessed how the other person would react.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They underestimated how surprised and happy the person would 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The letters mattered more than the writers expected.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They expected it to be awkward. It was less awkward than they thought.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Most of the worry was in their own heads.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Think about it: who have you never properly thanked?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Kumar and Epley, 2018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WHAT THE RESEARCH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E3436"/>
                </a:solidFill>
                <a:latin typeface="Libre Caslon Display"/>
              </a:rPr>
              <a:t>Kindness and friendships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46504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2515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6479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In Canada, 9 to 11 year olds did three kind acts a week for four weeks.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Another group visited three places a week instead.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441448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37460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Afterwards, more classmates wanted to spend time with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Both groups gained some, but the kind group gained about twice as many.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54096"/>
            <a:ext cx="7772400" cy="566928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136391"/>
            <a:ext cx="402336" cy="402336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32403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3A3320"/>
                </a:solidFill>
                <a:latin typeface="Karl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546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3A3320"/>
                </a:solidFill>
                <a:latin typeface="Libre Caslon Display"/>
              </a:rPr>
              <a:t>They were younger than you, so the honest answer is: test it yourself.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Karla"/>
              </a:rPr>
              <a:t>That is what this week is for.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Think about it: who in this room would you like to know better?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Layous et al., 2012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SO WHY DON’T 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Why we hold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0078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847088"/>
            <a:ext cx="658368" cy="658368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84248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It will be awkward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0896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It is usually far less awkward than we expect.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70078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42816" y="1847088"/>
            <a:ext cx="658368" cy="658368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984248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02152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I will say it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10896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People remember that you said it, not the exact words.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700784"/>
            <a:ext cx="2395728" cy="1883664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31151" y="1847088"/>
            <a:ext cx="658368" cy="658368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98424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0488" y="2615184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It is too small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108960"/>
            <a:ext cx="20665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The person getting it rates it bigger than you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And being kind gives the person doing it a small but real lift too.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Curry et al., 2018</a:t>
            </a:r>
          </a:p>
        </p:txBody>
      </p:sp>
      <p:pic>
        <p:nvPicPr>
          <p:cNvPr id="22" name="Picture 21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3A3320"/>
                </a:solidFill>
                <a:latin typeface="Karla"/>
              </a:rPr>
              <a:t>IN FORM TIME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E3436"/>
                </a:solidFill>
                <a:latin typeface="Libre Caslon Display"/>
              </a:rPr>
              <a:t>Five minutes a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A3320"/>
                </a:solidFill>
                <a:latin typeface="Karla"/>
              </a:rPr>
              <a:t>MONDAY</a:t>
            </a:r>
          </a:p>
        </p:txBody>
      </p:sp>
      <p:sp>
        <p:nvSpPr>
          <p:cNvPr id="7" name="Oval 6"/>
          <p:cNvSpPr/>
          <p:nvPr/>
        </p:nvSpPr>
        <p:spPr>
          <a:xfrm>
            <a:off x="956462" y="2221991"/>
            <a:ext cx="822960" cy="822960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395728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Write a compliment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7828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7828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A3320"/>
                </a:solidFill>
                <a:latin typeface="Karla"/>
              </a:rPr>
              <a:t>TUESDAY</a:t>
            </a:r>
          </a:p>
        </p:txBody>
      </p:sp>
      <p:sp>
        <p:nvSpPr>
          <p:cNvPr id="12" name="Oval 11"/>
          <p:cNvSpPr/>
          <p:nvPr/>
        </p:nvSpPr>
        <p:spPr>
          <a:xfrm>
            <a:off x="2558491" y="2221991"/>
            <a:ext cx="822960" cy="822960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395728"/>
            <a:ext cx="475488" cy="4754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15844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Read yours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9857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9857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A3320"/>
                </a:solidFill>
                <a:latin typeface="Karla"/>
              </a:rPr>
              <a:t>WEDNESDAY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221991"/>
            <a:ext cx="822960" cy="822960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ost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395728"/>
            <a:ext cx="475488" cy="4754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17873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Send a postcard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1886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1886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A3320"/>
                </a:solidFill>
                <a:latin typeface="Karla"/>
              </a:rPr>
              <a:t>THURSDAY</a:t>
            </a:r>
          </a:p>
        </p:txBody>
      </p:sp>
      <p:sp>
        <p:nvSpPr>
          <p:cNvPr id="22" name="Oval 21"/>
          <p:cNvSpPr/>
          <p:nvPr/>
        </p:nvSpPr>
        <p:spPr>
          <a:xfrm>
            <a:off x="5762548" y="2221991"/>
            <a:ext cx="822960" cy="822960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inn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84" y="2395728"/>
            <a:ext cx="475488" cy="475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19902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Write a shout-out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3915" y="1645920"/>
            <a:ext cx="1364284" cy="237744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3915" y="1865376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3A3320"/>
                </a:solidFill>
                <a:latin typeface="Karla"/>
              </a:rPr>
              <a:t>FRIDAY</a:t>
            </a:r>
          </a:p>
        </p:txBody>
      </p:sp>
      <p:sp>
        <p:nvSpPr>
          <p:cNvPr id="27" name="Oval 26"/>
          <p:cNvSpPr/>
          <p:nvPr/>
        </p:nvSpPr>
        <p:spPr>
          <a:xfrm>
            <a:off x="7364577" y="2221991"/>
            <a:ext cx="822960" cy="822960"/>
          </a:xfrm>
          <a:prstGeom prst="ellipse">
            <a:avLst/>
          </a:prstGeom>
          <a:solidFill>
            <a:srgbClr val="DBA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8313" y="2395728"/>
            <a:ext cx="475488" cy="475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21931" y="3200400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3A3320"/>
                </a:solidFill>
                <a:latin typeface="Libre Caslon Display"/>
              </a:rPr>
              <a:t>Shout-outs read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3A3320"/>
                </a:solidFill>
                <a:latin typeface="Karla"/>
              </a:rPr>
              <a:t>Friday is World Kindness Day.</a:t>
            </a:r>
          </a:p>
        </p:txBody>
      </p:sp>
      <p:pic>
        <p:nvPicPr>
          <p:cNvPr id="31" name="Picture 30" descr="logo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D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89888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2800" b="1" i="0">
                <a:solidFill>
                  <a:srgbClr val="3A3320"/>
                </a:solidFill>
                <a:latin typeface="Libre Caslon Display"/>
              </a:rPr>
              <a:t>What number did you pick</a:t>
            </a:r>
          </a:p>
          <a:p>
            <a:pPr algn="ctr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2800" b="1" i="0">
                <a:solidFill>
                  <a:srgbClr val="3A3320"/>
                </a:solidFill>
                <a:latin typeface="Libre Caslon Display"/>
              </a:rPr>
              <a:t>for the hot chocolate?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914400" cy="18288"/>
          </a:xfrm>
          <a:prstGeom prst="rect">
            <a:avLst/>
          </a:prstGeom>
          <a:solidFill>
            <a:srgbClr val="A87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46704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552"/>
                </a:solidFill>
                <a:latin typeface="Karla"/>
              </a:rPr>
              <a:t>The people who got one said 7 out of 10. Most of us guess too low, so this week, test it for yourself.</a:t>
            </a:r>
          </a:p>
        </p:txBody>
      </p:sp>
      <p:pic>
        <p:nvPicPr>
          <p:cNvPr id="6" name="Picture 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5C6552"/>
                </a:solidFill>
                <a:latin typeface="Karla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C6552"/>
                </a:solidFill>
                <a:latin typeface="Karla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D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950976"/>
            <a:ext cx="633496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93392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3A3320"/>
                </a:solidFill>
                <a:latin typeface="Libre Caslon Display"/>
              </a:rPr>
              <a:t>Say the kind thing out 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71216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Anti-Bullying Week starts the Monday after World Kindness Day. If something is wrong, tell someone you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552"/>
                </a:solidFill>
                <a:latin typeface="Karla"/>
              </a:rPr>
              <a:t>World Kindness Day  ·  An Assembly and a Week of Form Time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5C6552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C6552"/>
                </a:solidFill>
                <a:latin typeface="Karla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Kindness Day: the assembly</dc:title>
  <dc:subject>A free assembly from The Pastoral Guide (thepastoralguide.com)</dc:subject>
  <dc:creator>The Pastoral Guide</dc:creator>
  <cp:keywords>world kindness day assembly, kindness assembly, secondary, form time</cp:keywords>
  <dc:description/>
  <cp:lastModifiedBy>The Pastoral Guide</cp:lastModifiedBy>
  <cp:revision>1</cp:revision>
  <dcterms:created xsi:type="dcterms:W3CDTF">2026-10-05T09:00:00Z</dcterms:created>
  <dcterms:modified xsi:type="dcterms:W3CDTF">2026-10-05T09:00:00Z</dcterms:modified>
  <cp:category/>
</cp:coreProperties>
</file>