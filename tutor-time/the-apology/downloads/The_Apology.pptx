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8146" y="640080"/>
            <a:ext cx="807707" cy="9326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10512"/>
            <a:ext cx="8046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0" b="1" i="0">
                <a:solidFill>
                  <a:srgbClr val="9A4030"/>
                </a:solidFill>
                <a:latin typeface="Libre Caslon Display"/>
              </a:rPr>
              <a:t>The Apology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2779776"/>
            <a:ext cx="1005840" cy="18288"/>
          </a:xfrm>
          <a:prstGeom prst="rect">
            <a:avLst/>
          </a:prstGeom>
          <a:solidFill>
            <a:srgbClr val="CD8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980944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700" b="0" i="0">
                <a:solidFill>
                  <a:srgbClr val="7A6862"/>
                </a:solidFill>
                <a:latin typeface="Karla"/>
              </a:rPr>
              <a:t>Everyone says it. Almost nobody is taught how.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11296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0" i="1">
                <a:solidFill>
                  <a:srgbClr val="AD9C96"/>
                </a:solidFill>
                <a:latin typeface="Karla"/>
              </a:rPr>
              <a:t>One lesson</a:t>
            </a:r>
          </a:p>
        </p:txBody>
      </p:sp>
      <p:pic>
        <p:nvPicPr>
          <p:cNvPr id="8" name="Picture 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Karla"/>
              </a:rPr>
              <a:t>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D8878"/>
                </a:solidFill>
                <a:latin typeface="Karla"/>
              </a:rPr>
              <a:t>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463A36"/>
                </a:solidFill>
                <a:latin typeface="Libre Caslon Display"/>
              </a:rPr>
              <a:t>Five things, in this order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37360"/>
            <a:ext cx="1393545" cy="2286000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3388" y="1883664"/>
            <a:ext cx="658368" cy="65836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02536"/>
            <a:ext cx="13935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70048"/>
            <a:ext cx="121066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9A4030"/>
                </a:solidFill>
                <a:latin typeface="Libre Caslon Display"/>
              </a:rPr>
              <a:t>Sort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3035808"/>
            <a:ext cx="1137513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A6862"/>
                </a:solidFill>
                <a:latin typeface="Karla"/>
              </a:rPr>
              <a:t>Which of these are real apologies?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0513" y="1737360"/>
            <a:ext cx="1393545" cy="2286000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48102" y="1883664"/>
            <a:ext cx="658368" cy="65836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0513" y="2002536"/>
            <a:ext cx="13935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1953" y="2670048"/>
            <a:ext cx="121066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9A4030"/>
                </a:solidFill>
                <a:latin typeface="Libre Caslon Display"/>
              </a:rPr>
              <a:t>Learn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08529" y="3035808"/>
            <a:ext cx="1137513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A6862"/>
                </a:solidFill>
                <a:latin typeface="Karla"/>
              </a:rPr>
              <a:t>The four parts of one that 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75227" y="1737360"/>
            <a:ext cx="1393545" cy="2286000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242816" y="1883664"/>
            <a:ext cx="658368" cy="65836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75227" y="2002536"/>
            <a:ext cx="13935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6667" y="2670048"/>
            <a:ext cx="121066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9A4030"/>
                </a:solidFill>
                <a:latin typeface="Libre Caslon Display"/>
              </a:rPr>
              <a:t>Fix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03243" y="3035808"/>
            <a:ext cx="1137513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A6862"/>
                </a:solidFill>
                <a:latin typeface="Karla"/>
              </a:rPr>
              <a:t>Rewrite a bad one, in pairs.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69940" y="1737360"/>
            <a:ext cx="1393545" cy="2286000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837529" y="1883664"/>
            <a:ext cx="658368" cy="65836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69940" y="2002536"/>
            <a:ext cx="13935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61380" y="2670048"/>
            <a:ext cx="121066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9A4030"/>
                </a:solidFill>
                <a:latin typeface="Libre Caslon Display"/>
              </a:rPr>
              <a:t>Mark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97956" y="3035808"/>
            <a:ext cx="1137513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A6862"/>
                </a:solidFill>
                <a:latin typeface="Karla"/>
              </a:rPr>
              <a:t>Check somebody else's against the four.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64654" y="1737360"/>
            <a:ext cx="1393545" cy="2286000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432243" y="1883664"/>
            <a:ext cx="658368" cy="65836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64654" y="2002536"/>
            <a:ext cx="13935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1" i="0">
                <a:solidFill>
                  <a:srgbClr val="FFFDF7"/>
                </a:solidFill>
                <a:latin typeface="Libre Caslon Display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56094" y="2670048"/>
            <a:ext cx="121066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9A4030"/>
                </a:solidFill>
                <a:latin typeface="Libre Caslon Display"/>
              </a:rPr>
              <a:t>Write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2670" y="3035808"/>
            <a:ext cx="1137513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A6862"/>
                </a:solidFill>
                <a:latin typeface="Karla"/>
              </a:rPr>
              <a:t>One you actually owe. Nobody reads it.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9A4030"/>
                </a:solidFill>
                <a:latin typeface="Karla"/>
              </a:rPr>
              <a:t>Nothing you write today gets read out or handed in.</a:t>
            </a:r>
          </a:p>
        </p:txBody>
      </p:sp>
      <p:pic>
        <p:nvPicPr>
          <p:cNvPr id="31" name="Picture 30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Karla"/>
              </a:rPr>
              <a:t>The Pastoral Guide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Karla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EBC4B6"/>
                </a:solidFill>
                <a:latin typeface="Karla"/>
              </a:rPr>
              <a:t>FIRST UP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9A4030"/>
                </a:solidFill>
                <a:latin typeface="Karla"/>
              </a:rPr>
              <a:t>STARTER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77724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FFFDF7"/>
                </a:solidFill>
                <a:latin typeface="Libre Caslon Display"/>
              </a:rPr>
              <a:t>Sort them into two piles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17320" y="1810512"/>
            <a:ext cx="6309360" cy="585216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FA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55064" y="1911095"/>
            <a:ext cx="384048" cy="38404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55064" y="1911095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31136" y="1883664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4030"/>
                </a:solidFill>
                <a:latin typeface="Karla"/>
              </a:rPr>
              <a:t>Eight cards on your table. Real apology, or not?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2505456"/>
            <a:ext cx="6309360" cy="585216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FA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55064" y="2606040"/>
            <a:ext cx="384048" cy="38404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55064" y="260604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31136" y="2578608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4030"/>
                </a:solidFill>
                <a:latin typeface="Karla"/>
              </a:rPr>
              <a:t>Two piles. You will not agree on all eight.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17320" y="3200400"/>
            <a:ext cx="6309360" cy="585216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FA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655064" y="3300984"/>
            <a:ext cx="384048" cy="38404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55064" y="33009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31136" y="3273552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4030"/>
                </a:solidFill>
                <a:latin typeface="Karla"/>
              </a:rPr>
              <a:t>Be ready to say why.</a:t>
            </a:r>
          </a:p>
        </p:txBody>
      </p:sp>
      <p:pic>
        <p:nvPicPr>
          <p:cNvPr id="19" name="Picture 1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EBC4B6"/>
                </a:solidFill>
                <a:latin typeface="Karla"/>
              </a:rPr>
              <a:t>The Pastoral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EBC4B6"/>
                </a:solidFill>
                <a:latin typeface="Karla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D8878"/>
                </a:solidFill>
                <a:latin typeface="Karla"/>
              </a:rPr>
              <a:t>FEEDBACK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59168" y="530352"/>
            <a:ext cx="1399032" cy="347472"/>
          </a:xfrm>
          <a:prstGeom prst="roundRect">
            <a:avLst>
              <a:gd name="adj" fmla="val 50000"/>
            </a:avLst>
          </a:prstGeom>
          <a:solidFill>
            <a:srgbClr val="FA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59168" y="589788"/>
            <a:ext cx="139903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9A4030"/>
                </a:solidFill>
                <a:latin typeface="Karla"/>
              </a:rPr>
              <a:t>FEEDBACK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463A36"/>
                </a:solidFill>
                <a:latin typeface="Libre Caslon Display"/>
              </a:rPr>
              <a:t>Only three were real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83664"/>
            <a:ext cx="7772400" cy="640080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2002536"/>
            <a:ext cx="402336" cy="402336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98424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1965960"/>
            <a:ext cx="6583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9A4030"/>
                </a:solidFill>
                <a:latin typeface="Libre Caslon Display"/>
              </a:rPr>
              <a:t>“I shouldn’t have said it in front of everyone. That was embarrassing for you.”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615184"/>
            <a:ext cx="7772400" cy="640080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734056"/>
            <a:ext cx="402336" cy="402336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71576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2768" y="2697480"/>
            <a:ext cx="6583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9A4030"/>
                </a:solidFill>
                <a:latin typeface="Libre Caslon Display"/>
              </a:rPr>
              <a:t>“I was wrong, and I am not going to do it again.”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346704"/>
            <a:ext cx="7772400" cy="640080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1832" y="3465575"/>
            <a:ext cx="402336" cy="402336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44728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3429000"/>
            <a:ext cx="6583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9A4030"/>
                </a:solidFill>
                <a:latin typeface="Libre Caslon Display"/>
              </a:rPr>
              <a:t>“I know saying sorry doesn’t undo it. I’ll walk in with you tomorrow.”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2611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7A6862"/>
                </a:solidFill>
                <a:latin typeface="Karla"/>
              </a:rPr>
              <a:t>The other five are all doing one of three things instead.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Karla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D8878"/>
                </a:solidFill>
                <a:latin typeface="Karla"/>
              </a:rPr>
              <a:t>FEEDBACK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9A4030"/>
                </a:solidFill>
                <a:latin typeface="Karla"/>
              </a:rPr>
              <a:t>TEACH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463A36"/>
                </a:solidFill>
                <a:latin typeface="Libre Caslon Display"/>
              </a:rPr>
              <a:t>The three moves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00784"/>
            <a:ext cx="2420112" cy="252374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66672" y="1828800"/>
            <a:ext cx="658368" cy="65836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ubble_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2976" y="1975103"/>
            <a:ext cx="365760" cy="365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32104" y="2578608"/>
            <a:ext cx="212750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300" b="1" i="0">
                <a:solidFill>
                  <a:srgbClr val="9A4030"/>
                </a:solidFill>
                <a:latin typeface="Libre Caslon Display"/>
              </a:rPr>
              <a:t>“I’m sorry you feel that way.”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3163824"/>
            <a:ext cx="212750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1" i="0">
                <a:solidFill>
                  <a:srgbClr val="463A36"/>
                </a:solidFill>
                <a:latin typeface="Karla"/>
              </a:rPr>
              <a:t>Blames the person who was hurt.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3602736"/>
            <a:ext cx="2090928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000" b="0" i="0">
                <a:solidFill>
                  <a:srgbClr val="7A6862"/>
                </a:solidFill>
                <a:latin typeface="Karla"/>
              </a:rPr>
              <a:t>The sentence is about their reaction, not your action.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61944" y="1700784"/>
            <a:ext cx="2420112" cy="252374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242816" y="1828800"/>
            <a:ext cx="658368" cy="65836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ubble_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975103"/>
            <a:ext cx="365760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508248" y="2578608"/>
            <a:ext cx="212750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300" b="1" i="0">
                <a:solidFill>
                  <a:srgbClr val="9A4030"/>
                </a:solidFill>
                <a:latin typeface="Libre Caslon Display"/>
              </a:rPr>
              <a:t>“Mistakes were made.”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8248" y="3163824"/>
            <a:ext cx="212750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1" i="0">
                <a:solidFill>
                  <a:srgbClr val="463A36"/>
                </a:solidFill>
                <a:latin typeface="Karla"/>
              </a:rPr>
              <a:t>Takes the person out.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6536" y="3602736"/>
            <a:ext cx="2090928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000" b="0" i="0">
                <a:solidFill>
                  <a:srgbClr val="7A6862"/>
                </a:solidFill>
                <a:latin typeface="Karla"/>
              </a:rPr>
              <a:t>If you cannot say who did it, you have not admitted anything.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8088" y="1700784"/>
            <a:ext cx="2420112" cy="252374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918960" y="1828800"/>
            <a:ext cx="658368" cy="65836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bubble_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5264" y="1975103"/>
            <a:ext cx="365760" cy="3657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184392" y="2578608"/>
            <a:ext cx="212750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300" b="1" i="0">
                <a:solidFill>
                  <a:srgbClr val="9A4030"/>
                </a:solidFill>
                <a:latin typeface="Libre Caslon Display"/>
              </a:rPr>
              <a:t>“Sorry, but you started it.”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4392" y="3163824"/>
            <a:ext cx="212750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1" i="0">
                <a:solidFill>
                  <a:srgbClr val="463A36"/>
                </a:solidFill>
                <a:latin typeface="Karla"/>
              </a:rPr>
              <a:t>Cancels itself out.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2680" y="3602736"/>
            <a:ext cx="2090928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000" b="0" i="0">
                <a:solidFill>
                  <a:srgbClr val="7A6862"/>
                </a:solidFill>
                <a:latin typeface="Karla"/>
              </a:rPr>
              <a:t>Everything after but is what you actually meant.</a:t>
            </a:r>
          </a:p>
        </p:txBody>
      </p:sp>
      <p:pic>
        <p:nvPicPr>
          <p:cNvPr id="25" name="Picture 24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Karla"/>
              </a:rPr>
              <a:t>The Pastoral Guide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Karla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D8878"/>
                </a:solidFill>
                <a:latin typeface="Karla"/>
              </a:rPr>
              <a:t>SO WHAT DOES A REAL ONE 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9A4030"/>
                </a:solidFill>
                <a:latin typeface="Karla"/>
              </a:rPr>
              <a:t>TEACH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463A36"/>
                </a:solidFill>
                <a:latin typeface="Libre Caslon Display"/>
              </a:rPr>
              <a:t>Four parts, in this order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55648"/>
            <a:ext cx="1764792" cy="239572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20724" y="1883664"/>
            <a:ext cx="694944" cy="694944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11680"/>
            <a:ext cx="17647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" y="2688336"/>
            <a:ext cx="15087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350" b="1" i="0">
                <a:solidFill>
                  <a:srgbClr val="9A4030"/>
                </a:solidFill>
                <a:latin typeface="Libre Caslon Display"/>
              </a:rPr>
              <a:t>Name what you did.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328416"/>
            <a:ext cx="143560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A6862"/>
                </a:solidFill>
                <a:latin typeface="Karla"/>
              </a:rPr>
              <a:t>Not what happened: what you did.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88336" y="1755648"/>
            <a:ext cx="1764792" cy="239572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223260" y="1883664"/>
            <a:ext cx="694944" cy="694944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88336" y="2011680"/>
            <a:ext cx="17647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6352" y="2688336"/>
            <a:ext cx="15087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350" b="1" i="0">
                <a:solidFill>
                  <a:srgbClr val="9A4030"/>
                </a:solidFill>
                <a:latin typeface="Libre Caslon Display"/>
              </a:rPr>
              <a:t>Say why it landed.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2928" y="3328416"/>
            <a:ext cx="143560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A6862"/>
                </a:solidFill>
                <a:latin typeface="Karla"/>
              </a:rPr>
              <a:t>Show you understand the effect on them.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90872" y="1755648"/>
            <a:ext cx="1764792" cy="239572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225796" y="1883664"/>
            <a:ext cx="694944" cy="694944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90872" y="2011680"/>
            <a:ext cx="17647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2688336"/>
            <a:ext cx="15087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350" b="1" i="0">
                <a:solidFill>
                  <a:srgbClr val="9A4030"/>
                </a:solidFill>
                <a:latin typeface="Libre Caslon Display"/>
              </a:rPr>
              <a:t>Stop.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5464" y="3328416"/>
            <a:ext cx="143560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A6862"/>
                </a:solidFill>
                <a:latin typeface="Karla"/>
              </a:rPr>
              <a:t>No “but”, no explaining, no asking to be let off.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93408" y="1755648"/>
            <a:ext cx="1764792" cy="239572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8332" y="1883664"/>
            <a:ext cx="694944" cy="694944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93408" y="2011680"/>
            <a:ext cx="17647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21424" y="2688336"/>
            <a:ext cx="15087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350" b="1" i="0">
                <a:solidFill>
                  <a:srgbClr val="9A4030"/>
                </a:solidFill>
                <a:latin typeface="Libre Caslon Display"/>
              </a:rPr>
              <a:t>Say what changes.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3328416"/>
            <a:ext cx="143560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A6862"/>
                </a:solidFill>
                <a:latin typeface="Karla"/>
              </a:rPr>
              <a:t>One specific thing you will do differently.</a:t>
            </a:r>
          </a:p>
        </p:txBody>
      </p:sp>
      <p:pic>
        <p:nvPicPr>
          <p:cNvPr id="27" name="Picture 2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Karla"/>
              </a:rPr>
              <a:t>The Pastoral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Karla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D8878"/>
                </a:solidFill>
                <a:latin typeface="Karla"/>
              </a:rPr>
              <a:t>WATCH ONE GET FIXED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9A4030"/>
                </a:solidFill>
                <a:latin typeface="Karla"/>
              </a:rP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463A36"/>
                </a:solidFill>
                <a:latin typeface="Libre Caslon Display"/>
              </a:rPr>
              <a:t>Before and after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55648"/>
            <a:ext cx="3749039" cy="2286000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93852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20">
                <a:solidFill>
                  <a:srgbClr val="CD8878"/>
                </a:solidFill>
                <a:latin typeface="Karla"/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267712"/>
            <a:ext cx="32004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500" b="0" i="1">
                <a:solidFill>
                  <a:srgbClr val="7A6862"/>
                </a:solidFill>
                <a:latin typeface="Karla"/>
              </a:rPr>
              <a:t>“Sorry if you got upset about the group chat thing, but you know what you’re like.”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755648"/>
            <a:ext cx="3749039" cy="2286000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92624" y="193852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20">
                <a:solidFill>
                  <a:srgbClr val="9A4030"/>
                </a:solidFill>
                <a:latin typeface="Karla"/>
              </a:rPr>
              <a:t>AFTER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92624" y="2267712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350" b="0" i="0">
                <a:solidFill>
                  <a:srgbClr val="463A36"/>
                </a:solidFill>
                <a:latin typeface="Karla"/>
              </a:rPr>
              <a:t>“I left you out of the group chat and then laughed when you asked about it. That was humiliating. I am not doing it again, and I will say so to the others.”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9A4030"/>
                </a:solidFill>
                <a:latin typeface="Karla"/>
              </a:rPr>
              <a:t>Point at each of the four parts on the right, in order.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Karla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D8878"/>
                </a:solidFill>
                <a:latin typeface="Karla"/>
              </a:rPr>
              <a:t>ALL TOGETHER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50024" y="530352"/>
            <a:ext cx="1408176" cy="347472"/>
          </a:xfrm>
          <a:prstGeom prst="roundRect">
            <a:avLst>
              <a:gd name="adj" fmla="val 50000"/>
            </a:avLst>
          </a:prstGeom>
          <a:solidFill>
            <a:srgbClr val="FA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50024" y="589788"/>
            <a:ext cx="1408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9A4030"/>
                </a:solidFill>
                <a:latin typeface="Karla"/>
              </a:rPr>
              <a:t>TOGETHER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463A36"/>
                </a:solidFill>
                <a:latin typeface="Libre Caslon Display"/>
              </a:rPr>
              <a:t>Now fix this one out loud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7772400" cy="731520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65376"/>
            <a:ext cx="71323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400" b="0" i="0">
                <a:solidFill>
                  <a:srgbClr val="463A36"/>
                </a:solidFill>
                <a:latin typeface="Karla"/>
              </a:rPr>
              <a:t>You promised to cover your friend’s shift, then did not turn up. They got in trouble for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633472"/>
            <a:ext cx="7772400" cy="859536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500" b="1" i="0">
                <a:solidFill>
                  <a:srgbClr val="9A4030"/>
                </a:solidFill>
                <a:latin typeface="Libre Caslon Display"/>
              </a:rPr>
              <a:t>“Sorry about the shift thing, I completely forgot, I’ve had so much on. But you know I’d normally do it.”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730752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 i="0">
                <a:solidFill>
                  <a:srgbClr val="7A6862"/>
                </a:solidFill>
                <a:latin typeface="Karla"/>
              </a:rPr>
              <a:t>Which parts are missing? Rebuild it one part at a time and write the finished version on the board.</a:t>
            </a:r>
          </a:p>
        </p:txBody>
      </p:sp>
      <p:pic>
        <p:nvPicPr>
          <p:cNvPr id="12" name="Picture 11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Karla"/>
              </a:rPr>
              <a:t>The Pastoral Guide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Karla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EBC4B6"/>
                </a:solidFill>
                <a:latin typeface="Karla"/>
              </a:rPr>
              <a:t>MAIN ACTIVITY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9A4030"/>
                </a:solidFill>
                <a:latin typeface="Karla"/>
              </a:rPr>
              <a:t>IN PAIRS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77724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FFFDF7"/>
                </a:solidFill>
                <a:latin typeface="Libre Caslon Display"/>
              </a:rPr>
              <a:t>Fix a real one, in pairs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17320" y="1810512"/>
            <a:ext cx="6309360" cy="585216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FA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55064" y="1911095"/>
            <a:ext cx="384048" cy="38404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55064" y="1911095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31136" y="1883664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4030"/>
                </a:solidFill>
                <a:latin typeface="Karla"/>
              </a:rPr>
              <a:t>Take one scenario card between two.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2505456"/>
            <a:ext cx="6309360" cy="585216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FA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55064" y="2606040"/>
            <a:ext cx="384048" cy="38404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55064" y="260604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31136" y="2578608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4030"/>
                </a:solidFill>
                <a:latin typeface="Karla"/>
              </a:rPr>
              <a:t>Rewrite the apology on the sheet. All four parts, in order.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17320" y="3200400"/>
            <a:ext cx="6309360" cy="585216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FA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655064" y="3300984"/>
            <a:ext cx="384048" cy="38404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55064" y="33009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31136" y="3273552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4030"/>
                </a:solidFill>
                <a:latin typeface="Karla"/>
              </a:rPr>
              <a:t>No names on it. Another pair is going to mark it.</a:t>
            </a:r>
          </a:p>
        </p:txBody>
      </p:sp>
      <p:pic>
        <p:nvPicPr>
          <p:cNvPr id="19" name="Picture 1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EBC4B6"/>
                </a:solidFill>
                <a:latin typeface="Karla"/>
              </a:rPr>
              <a:t>The Pastoral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EBC4B6"/>
                </a:solidFill>
                <a:latin typeface="Karla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D8878"/>
                </a:solidFill>
                <a:latin typeface="Karla"/>
              </a:rPr>
              <a:t>SWAP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9A4030"/>
                </a:solidFill>
                <a:latin typeface="Karla"/>
              </a:rPr>
              <a:t>SWAP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463A36"/>
                </a:solidFill>
                <a:latin typeface="Libre Caslon Display"/>
              </a:rPr>
              <a:t>Mark somebody else’s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813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1">
                <a:solidFill>
                  <a:srgbClr val="7A6862"/>
                </a:solidFill>
                <a:latin typeface="Karla"/>
              </a:rPr>
              <a:t>Pass your sheet two tables along. Mark it against the four parts.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56816"/>
            <a:ext cx="6858000" cy="493776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89888" y="2039112"/>
            <a:ext cx="329184" cy="329184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ubble_t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7612" y="2116836"/>
            <a:ext cx="173736" cy="1737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01952" y="2002536"/>
            <a:ext cx="58521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00" b="0" i="0">
                <a:solidFill>
                  <a:srgbClr val="463A36"/>
                </a:solidFill>
                <a:latin typeface="Karla"/>
              </a:rPr>
              <a:t>Does it say what they did, in their own words?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560320"/>
            <a:ext cx="6858000" cy="493776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89888" y="2642616"/>
            <a:ext cx="329184" cy="329184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bubble_t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7612" y="2720340"/>
            <a:ext cx="173736" cy="1737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901952" y="2606040"/>
            <a:ext cx="58521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00" b="0" i="0">
                <a:solidFill>
                  <a:srgbClr val="463A36"/>
                </a:solidFill>
                <a:latin typeface="Karla"/>
              </a:rPr>
              <a:t>Does it show they understand why it mattered?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163824"/>
            <a:ext cx="6858000" cy="493776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89888" y="3246120"/>
            <a:ext cx="329184" cy="329184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bubble_t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7612" y="3323844"/>
            <a:ext cx="173736" cy="1737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901952" y="3209544"/>
            <a:ext cx="58521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00" b="0" i="0">
                <a:solidFill>
                  <a:srgbClr val="463A36"/>
                </a:solidFill>
                <a:latin typeface="Karla"/>
              </a:rPr>
              <a:t>Is there a but anywhere? Circle 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3767328"/>
            <a:ext cx="6858000" cy="493776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89888" y="3849624"/>
            <a:ext cx="329184" cy="329184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bubble_t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7612" y="3927348"/>
            <a:ext cx="173736" cy="1737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901952" y="3813048"/>
            <a:ext cx="58521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00" b="0" i="0">
                <a:solidFill>
                  <a:srgbClr val="463A36"/>
                </a:solidFill>
                <a:latin typeface="Karla"/>
              </a:rPr>
              <a:t>Is there one specific thing they will do differently?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4352544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9A4030"/>
                </a:solidFill>
                <a:latin typeface="Karla"/>
              </a:rPr>
              <a:t>Then one sentence at the bottom: which part is weakest, and why.</a:t>
            </a:r>
          </a:p>
        </p:txBody>
      </p:sp>
      <p:pic>
        <p:nvPicPr>
          <p:cNvPr id="25" name="Picture 24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Karla"/>
              </a:rPr>
              <a:t>The Pastoral Guide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Karla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D8878"/>
                </a:solidFill>
                <a:latin typeface="Karla"/>
              </a:rPr>
              <a:t>THE HARDER BIT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9A4030"/>
                </a:solidFill>
                <a:latin typeface="Karla"/>
              </a:rPr>
              <a:t>DISCUSS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463A36"/>
                </a:solidFill>
                <a:latin typeface="Libre Caslon Display"/>
              </a:rPr>
              <a:t>Three hard questions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83664"/>
            <a:ext cx="7772400" cy="69494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14984" y="1993391"/>
            <a:ext cx="438912" cy="438912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2011680"/>
            <a:ext cx="43891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975104"/>
            <a:ext cx="64922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463A36"/>
                </a:solidFill>
                <a:latin typeface="Karla"/>
              </a:rPr>
              <a:t>Does an apology have to be accepted?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670048"/>
            <a:ext cx="7772400" cy="69494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14984" y="2779776"/>
            <a:ext cx="438912" cy="438912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2798064"/>
            <a:ext cx="43891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2761488"/>
            <a:ext cx="64922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463A36"/>
                </a:solidFill>
                <a:latin typeface="Karla"/>
              </a:rPr>
              <a:t>Can you apologise for something you still think you were right about?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456432"/>
            <a:ext cx="7772400" cy="694944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14984" y="3566160"/>
            <a:ext cx="438912" cy="438912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3584448"/>
            <a:ext cx="43891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3547872"/>
            <a:ext cx="64922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463A36"/>
                </a:solidFill>
                <a:latin typeface="Karla"/>
              </a:rPr>
              <a:t>Is there a point where it is too late to say it?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31596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7A6862"/>
                </a:solidFill>
                <a:latin typeface="Karla"/>
              </a:rPr>
              <a:t>Talk to the person next to you, then take a few answers.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Karla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D8878"/>
                </a:solidFill>
                <a:latin typeface="Karla"/>
              </a:rPr>
              <a:t>TWO THINGS WORTH KNOWING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9A4030"/>
                </a:solidFill>
                <a:latin typeface="Karla"/>
              </a:rPr>
              <a:t>TEACH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463A36"/>
                </a:solidFill>
                <a:latin typeface="Libre Caslon Display"/>
              </a:rPr>
              <a:t>An apology is not a request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73936"/>
            <a:ext cx="3749039" cy="2286000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1993392"/>
            <a:ext cx="316382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9A4030"/>
                </a:solidFill>
                <a:latin typeface="Libre Caslon Display"/>
              </a:rPr>
              <a:t>It does not come with forgiveness attached.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779776"/>
            <a:ext cx="316382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200" b="0" i="0">
                <a:solidFill>
                  <a:srgbClr val="7A6862"/>
                </a:solidFill>
                <a:latin typeface="Karla"/>
              </a:rPr>
              <a:t>You are not owed anything back. Apologising so somebody will say it is fine is a favour you are asking for, not an apology you are giving.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773936"/>
            <a:ext cx="3749039" cy="2286000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1768" y="1993392"/>
            <a:ext cx="316382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9A4030"/>
                </a:solidFill>
                <a:latin typeface="Libre Caslon Display"/>
              </a:rPr>
              <a:t>You do not have to send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1768" y="2779776"/>
            <a:ext cx="316382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200" b="0" i="0">
                <a:solidFill>
                  <a:srgbClr val="7A6862"/>
                </a:solidFill>
                <a:latin typeface="Karla"/>
              </a:rPr>
              <a:t>Some of the things people most need to say are to somebody who is not around any more. Writing it still does something.</a:t>
            </a:r>
          </a:p>
        </p:txBody>
      </p:sp>
      <p:pic>
        <p:nvPicPr>
          <p:cNvPr id="13" name="Picture 1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Karla"/>
              </a:rPr>
              <a:t>The Pastoral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Karla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EBC4B6"/>
                </a:solidFill>
                <a:latin typeface="Karla"/>
              </a:rPr>
              <a:t>BEFORE YOU GO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9A4030"/>
                </a:solidFill>
                <a:latin typeface="Karla"/>
              </a:rPr>
              <a:t>EXIT SLIP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77724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FFFDF7"/>
                </a:solidFill>
                <a:latin typeface="Libre Caslon Display"/>
              </a:rPr>
              <a:t>One you actually owe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17320" y="1810512"/>
            <a:ext cx="6309360" cy="585216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FA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55064" y="1911095"/>
            <a:ext cx="384048" cy="38404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55064" y="1911095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31136" y="1883664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4030"/>
                </a:solidFill>
                <a:latin typeface="Karla"/>
              </a:rPr>
              <a:t>Take a slip. Small is fine. It does not have to be recent.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2505456"/>
            <a:ext cx="6309360" cy="585216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FA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55064" y="2606040"/>
            <a:ext cx="384048" cy="38404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55064" y="260604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31136" y="2578608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4030"/>
                </a:solidFill>
                <a:latin typeface="Karla"/>
              </a:rPr>
              <a:t>Nobody reads it. Nobody collects it. Fold it and keep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17320" y="3200400"/>
            <a:ext cx="6309360" cy="585216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FA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655064" y="3300984"/>
            <a:ext cx="384048" cy="38404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55064" y="33009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31136" y="3273552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4030"/>
                </a:solidFill>
                <a:latin typeface="Karla"/>
              </a:rPr>
              <a:t>You do not have to send it.</a:t>
            </a:r>
          </a:p>
        </p:txBody>
      </p:sp>
      <p:pic>
        <p:nvPicPr>
          <p:cNvPr id="19" name="Picture 1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EBC4B6"/>
                </a:solidFill>
                <a:latin typeface="Karla"/>
              </a:rPr>
              <a:t>The Pastoral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EBC4B6"/>
                </a:solidFill>
                <a:latin typeface="Karla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251" y="932688"/>
            <a:ext cx="633496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56816"/>
            <a:ext cx="8046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9A4030"/>
                </a:solidFill>
                <a:latin typeface="Libre Caslon Display"/>
              </a:rPr>
              <a:t>Sorry is the easy part.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889504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500" b="0" i="0">
                <a:solidFill>
                  <a:srgbClr val="7A6862"/>
                </a:solidFill>
                <a:latin typeface="Karla"/>
              </a:rPr>
              <a:t>Saying what you did, and what you will do instead, is the bit that costs something. That is the bit people remember.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7680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AD9C96"/>
                </a:solidFill>
                <a:latin typeface="Karla"/>
              </a:rPr>
              <a:t>The Apology  ·  A tutor time lesson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Karla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The Pastoral Guide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Apology: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