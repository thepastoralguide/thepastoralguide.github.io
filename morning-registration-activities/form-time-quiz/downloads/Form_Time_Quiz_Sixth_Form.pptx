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MORNING REGISTRATION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7772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974F16"/>
                </a:solidFill>
                <a:latin typeface="Georgia"/>
              </a:rPr>
              <a:t>The Form Time Quiz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5360" y="1243584"/>
            <a:ext cx="2473279" cy="237744"/>
          </a:xfrm>
          <a:prstGeom prst="roundRect">
            <a:avLst>
              <a:gd name="adj" fmla="val 50000"/>
            </a:avLst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FFFDF7"/>
                </a:solidFill>
                <a:latin typeface="Calibri"/>
              </a:rPr>
              <a:t>VOLUME ONE  ·  SIXTH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5C6552"/>
                </a:solidFill>
                <a:latin typeface="Calibri"/>
              </a:rPr>
              <a:t>Ten questions: six on adult life admin, then four of general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084832"/>
            <a:ext cx="658368" cy="658368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wo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222199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974F16"/>
                </a:solidFill>
                <a:latin typeface="Georgia"/>
              </a:rPr>
              <a:t>Get into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Three or four to a team, with one answer sheet between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4136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42816" y="2084832"/>
            <a:ext cx="658368" cy="658368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221992"/>
            <a:ext cx="384048" cy="3840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02152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974F16"/>
                </a:solidFill>
                <a:latin typeface="Georgia"/>
              </a:rPr>
              <a:t>Answer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38728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Each question goes up on the board. Agree an answer, then write it down.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2472" y="1938528"/>
            <a:ext cx="2395728" cy="201168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31151" y="2084832"/>
            <a:ext cx="658368" cy="658368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w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2221992"/>
            <a:ext cx="384048" cy="3840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90488" y="2852928"/>
            <a:ext cx="213969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50" b="0" i="0">
                <a:solidFill>
                  <a:srgbClr val="974F16"/>
                </a:solidFill>
                <a:latin typeface="Georgia"/>
              </a:rPr>
              <a:t>Swap and mark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7064" y="3346704"/>
            <a:ext cx="2066544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5C6552"/>
                </a:solidFill>
                <a:latin typeface="Calibri"/>
              </a:rPr>
              <a:t>Swap sheets with the team next to you, then the answers go up one at a 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78224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8B9179"/>
                </a:solidFill>
                <a:latin typeface="Calibri"/>
              </a:rPr>
              <a:t>Needs: one answer sheet per team, from the resource pack.</a:t>
            </a:r>
          </a:p>
        </p:txBody>
      </p:sp>
      <p:pic>
        <p:nvPicPr>
          <p:cNvPr id="23" name="Picture 22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68281" y="914400"/>
            <a:ext cx="1207436" cy="237744"/>
          </a:xfrm>
          <a:prstGeom prst="roundRect">
            <a:avLst>
              <a:gd name="adj" fmla="val 50000"/>
            </a:avLst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974F16"/>
                </a:solidFill>
                <a:latin typeface="Calibri"/>
              </a:rPr>
              <a:t>ROUND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FFFDF7"/>
                </a:solidFill>
                <a:latin typeface="Georgia"/>
              </a:rPr>
              <a:t>Adult life admin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EBCDAE"/>
                </a:solidFill>
                <a:latin typeface="Calibri"/>
              </a:rPr>
              <a:t>Six questions. Some are fact or myth, and some give you three options to choose from.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EBCDAE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EBCDAE"/>
                </a:solidFill>
                <a:latin typeface="Calibr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ROUND ONE  ·  QUESTION 1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974F16"/>
                </a:solidFill>
                <a:latin typeface="Georgia"/>
              </a:rPr>
              <a:t>On a payslip, what does gross pay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207873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038856"/>
            <a:ext cx="402336" cy="402336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2992120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Your pay after tax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614928"/>
            <a:ext cx="207873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038856"/>
            <a:ext cx="402336" cy="402336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2992120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Your pay before tax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614928"/>
            <a:ext cx="207873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038856"/>
            <a:ext cx="402336" cy="402336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2992120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Your pay plus bonuses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ROUND ONE  ·  QUESTION 2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974F16"/>
                </a:solidFill>
                <a:latin typeface="Georgia"/>
              </a:rPr>
              <a:t>Most free trials stop on their own when the trial ends.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341985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974F16"/>
                </a:solidFill>
                <a:latin typeface="Georgia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614928"/>
            <a:ext cx="341985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974F16"/>
                </a:solidFill>
                <a:latin typeface="Georgia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ROUND ONE  ·  QUESTION 3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912114"/>
            <a:ext cx="7772400" cy="1577340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912114"/>
            <a:ext cx="7772400" cy="54864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04722"/>
            <a:ext cx="6309360" cy="9921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100" b="0" i="0">
                <a:solidFill>
                  <a:srgbClr val="974F16"/>
                </a:solidFill>
                <a:latin typeface="Georgia"/>
              </a:rPr>
              <a:t>You should get the deposit on a rented flat back when you move out, as long as you leave it in good condition.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1747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1007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733037"/>
            <a:ext cx="341985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319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974F16"/>
                </a:solidFill>
                <a:latin typeface="Georgia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91007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733037"/>
            <a:ext cx="341985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20319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974F16"/>
                </a:solidFill>
                <a:latin typeface="Georgia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ROUND ONE  ·  QUESTION 4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974F16"/>
                </a:solidFill>
                <a:latin typeface="Georgia"/>
              </a:rPr>
              <a:t>Your bank might text you asking you to confirm your PIN.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341985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974F16"/>
                </a:solidFill>
                <a:latin typeface="Georgia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791968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614928"/>
            <a:ext cx="341985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085084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974F16"/>
                </a:solidFill>
                <a:latin typeface="Georgia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ROUND ONE  ·  QUESTION 5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719072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133856"/>
            <a:ext cx="6309360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974F16"/>
                </a:solidFill>
                <a:latin typeface="Georgia"/>
              </a:rPr>
              <a:t>Paying the minimum on a credit card each month clears the debt fairly quickly.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88336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FACT OR MYTH?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803904"/>
            <a:ext cx="341985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974F16"/>
                </a:solidFill>
                <a:latin typeface="Georgia"/>
              </a:rPr>
              <a:t>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59" y="2980944"/>
            <a:ext cx="3749039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3751" y="3803904"/>
            <a:ext cx="341985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274060"/>
            <a:ext cx="3383279" cy="309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974F16"/>
                </a:solidFill>
                <a:latin typeface="Georgia"/>
              </a:rPr>
              <a:t>Myth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17" name="Picture 1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ROUND ONE  ·  QUESTION 6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30224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30224"/>
            <a:ext cx="7772400" cy="54864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22832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974F16"/>
                </a:solidFill>
                <a:latin typeface="Georgia"/>
              </a:rPr>
              <a:t>What does the APR on a loan or a credit card tell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993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614928"/>
            <a:ext cx="207873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038856"/>
            <a:ext cx="402336" cy="402336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2992120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The yearly cost of borrowing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614928"/>
            <a:ext cx="207873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3038856"/>
            <a:ext cx="402336" cy="402336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2992120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How much you can borrow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7919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614928"/>
            <a:ext cx="207873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3038856"/>
            <a:ext cx="402336" cy="402336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1211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2992120"/>
            <a:ext cx="1584960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How long the loan lasts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952258" y="914400"/>
            <a:ext cx="1239483" cy="237744"/>
          </a:xfrm>
          <a:prstGeom prst="roundRect">
            <a:avLst>
              <a:gd name="adj" fmla="val 50000"/>
            </a:avLst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974F16"/>
                </a:solidFill>
                <a:latin typeface="Calibri"/>
              </a:rPr>
              <a:t>ROUND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FFFDF7"/>
                </a:solidFill>
                <a:latin typeface="Georgia"/>
              </a:rPr>
              <a:t>General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EBCDAE"/>
                </a:solidFill>
                <a:latin typeface="Calibri"/>
              </a:rPr>
              <a:t>Four questions to finish. Some have options, and some you will have to write out in full.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EBCDAE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EBCDAE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ROUND TWO  ·  QUESTION 7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70432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70432"/>
            <a:ext cx="7772400" cy="54864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75816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974F16"/>
                </a:solidFill>
                <a:latin typeface="Georgia"/>
              </a:rPr>
              <a:t>What is the capital city of Australia?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291840"/>
            <a:ext cx="5212080" cy="27432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381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ROUND TWO  ·  QUESTION 8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4232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4232"/>
            <a:ext cx="7772400" cy="54864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86840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974F16"/>
                </a:solidFill>
                <a:latin typeface="Georgia"/>
              </a:rPr>
              <a:t>In which year did people first walk on the Moon?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368040"/>
            <a:ext cx="5212080" cy="27432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143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ROUND TWO  ·  QUESTION 9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06424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106424"/>
            <a:ext cx="7772400" cy="54864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399032"/>
            <a:ext cx="603504" cy="603504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511808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974F16"/>
                </a:solidFill>
                <a:latin typeface="Georgia"/>
              </a:rPr>
              <a:t>What is the smallest prime number?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7772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40">
                <a:solidFill>
                  <a:srgbClr val="8B9179"/>
                </a:solidFill>
                <a:latin typeface="Calibri"/>
              </a:rPr>
              <a:t>ONE OF THESE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57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0392" y="3538728"/>
            <a:ext cx="207873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2962656"/>
            <a:ext cx="402336" cy="402336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449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30398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8040" y="27157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32632" y="3538728"/>
            <a:ext cx="207873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2631" y="2962656"/>
            <a:ext cx="402336" cy="402336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2632" y="30449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4695" y="30398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0280" y="2715768"/>
            <a:ext cx="2407920" cy="8961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4871" y="3538728"/>
            <a:ext cx="2078736" cy="27432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14872" y="2962656"/>
            <a:ext cx="402336" cy="402336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4871" y="3044952"/>
            <a:ext cx="4023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1" i="0">
                <a:solidFill>
                  <a:srgbClr val="FFFDF7"/>
                </a:solidFill>
                <a:latin typeface="Calibri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6936" y="3039872"/>
            <a:ext cx="1584960" cy="2479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9663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50" b="0" i="1">
                <a:solidFill>
                  <a:srgbClr val="5C6552"/>
                </a:solidFill>
                <a:latin typeface="Calibri"/>
              </a:rPr>
              <a:t>Agree it as a team, then tick it on the sheet.</a:t>
            </a:r>
          </a:p>
        </p:txBody>
      </p:sp>
      <p:pic>
        <p:nvPicPr>
          <p:cNvPr id="26" name="Picture 25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ROUND TWO  ·  QUESTION 10 OF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94232"/>
            <a:ext cx="7772400" cy="1341120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94232"/>
            <a:ext cx="7772400" cy="54864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463040"/>
            <a:ext cx="603504" cy="603504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91056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386840"/>
            <a:ext cx="6309360" cy="755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974F16"/>
                </a:solidFill>
                <a:latin typeface="Georgia"/>
              </a:rPr>
              <a:t>Which country’s flag has a green cedar tree in the middle?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3368040"/>
            <a:ext cx="5212080" cy="27432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14344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Agree it as a team, then write it on the sheet.</a:t>
            </a:r>
          </a:p>
        </p:txBody>
      </p:sp>
      <p:pic>
        <p:nvPicPr>
          <p:cNvPr id="11" name="Picture 10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049462" y="914400"/>
            <a:ext cx="1045075" cy="237744"/>
          </a:xfrm>
          <a:prstGeom prst="roundRect">
            <a:avLst>
              <a:gd name="adj" fmla="val 50000"/>
            </a:avLst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974F16"/>
                </a:solidFill>
                <a:latin typeface="Calibri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8046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4000" b="0" i="0">
                <a:solidFill>
                  <a:srgbClr val="FFFDF7"/>
                </a:solidFill>
                <a:latin typeface="Georgia"/>
              </a:rPr>
              <a:t>Swap sheets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87168"/>
            <a:ext cx="914400" cy="18288"/>
          </a:xfrm>
          <a:prstGeom prst="rect">
            <a:avLst/>
          </a:prstGeom>
          <a:solidFill>
            <a:srgbClr val="EBCD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24912"/>
            <a:ext cx="6583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EBCDAE"/>
                </a:solidFill>
                <a:latin typeface="Calibri"/>
              </a:rPr>
              <a:t>Swap with the team next to you. Give one mark for each right answer, then add up the score out of ten.</a:t>
            </a:r>
          </a:p>
        </p:txBody>
      </p:sp>
      <p:pic>
        <p:nvPicPr>
          <p:cNvPr id="7" name="Picture 6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EBCDAE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EBCDAE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ANSWERS  · 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On a payslip, what does gross pay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974F16"/>
                </a:solidFill>
                <a:latin typeface="Georgia"/>
              </a:rPr>
              <a:t>B.  Your pay before tax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Gross is the full amount before tax and anything else is taken off. What actually lands in your account is net pay, and it is usually less.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ANSWERS  ·  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Most free trials stop on their own when the trial ends.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974F16"/>
                </a:solidFill>
                <a:latin typeface="Georgia"/>
              </a:rPr>
              <a:t>Myth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Most roll straight into a paid subscription unless you cancel. Put a reminder in your calendar on the day you sign up.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ANSWERS  ·  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93190"/>
            <a:ext cx="77724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You should get the deposit on a rented flat back when you move out, as long as you leave it in good condition.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570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974F16"/>
                </a:solidFill>
                <a:latin typeface="Georgia"/>
              </a:rPr>
              <a:t>Fact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806954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806954"/>
            <a:ext cx="64008" cy="1011936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44698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Take dated photos of every room on the day you move in. They are your evidence if there is a disagreement about damage later.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ANSWERS  ·  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Your bank might text you asking you to confirm your PIN.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974F16"/>
                </a:solidFill>
                <a:latin typeface="Georgia"/>
              </a:rPr>
              <a:t>Myth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 real bank will never ask for your full PIN or password by text, email or phone. A message that does is a scam, however real it looks.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ANSWERS  ·  QUESTION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Paying the minimum on a credit card each month clears the debt fairly quickly.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974F16"/>
                </a:solidFill>
                <a:latin typeface="Georgia"/>
              </a:rPr>
              <a:t>Myth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The minimum payment barely covers the interest, so the debt can take years to clear and cost a lot more than you borrowed.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ANSWERS  ·  QUESTION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0203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What does the APR on a loan or a credit card tell you?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75333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0" i="0">
                <a:solidFill>
                  <a:srgbClr val="974F16"/>
                </a:solidFill>
                <a:latin typeface="Georgia"/>
              </a:rPr>
              <a:t>A.  The yearly cost of borrowing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61717"/>
            <a:ext cx="7772400" cy="1280160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561717"/>
            <a:ext cx="64008" cy="1280160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99461"/>
            <a:ext cx="704088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APR stands for annual percentage rate. The higher it is, the more the borrowing costs you, so it is the number to compare before you sign anything.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ANSWERS  ·  QUESTION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What is the capital city of Australia?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974F16"/>
                </a:solidFill>
                <a:latin typeface="Georgia"/>
              </a:rPr>
              <a:t>Canberra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Not Sydney. Canberra was built to be the capital as a compromise between Sydney and Melbourne.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ANSWERS  ·  QUESTION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In which year did people first walk on the Moon?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974F16"/>
                </a:solidFill>
                <a:latin typeface="Georgia"/>
              </a:rPr>
              <a:t>1969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Neil Armstrong and Buzz Aldrin, on the Apollo 11 mission, in July 1969.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ANSWERS  ·  QUESTION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What is the smallest prime number?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974F16"/>
                </a:solidFill>
                <a:latin typeface="Georgia"/>
              </a:rPr>
              <a:t>C.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A prime has exactly two factors, one and itself. One has only one factor, so it does not count, and two is the only even prime.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ANSWERS  ·  QUESTION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4315"/>
            <a:ext cx="7772400" cy="22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Which country’s flag has a green cedar tree in the middle?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09445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974F16"/>
                </a:solidFill>
                <a:latin typeface="Georgia"/>
              </a:rPr>
              <a:t>Lebanon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5829"/>
            <a:ext cx="7772400" cy="1011936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695829"/>
            <a:ext cx="64008" cy="1011936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933573"/>
            <a:ext cx="7040880" cy="536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The cedar has been a symbol of Lebanon for thousands of years and is mentioned in some of the oldest writing in the world.</a:t>
            </a:r>
          </a:p>
        </p:txBody>
      </p:sp>
      <p:pic>
        <p:nvPicPr>
          <p:cNvPr id="9" name="Picture 8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7772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00" b="1" i="0" spc="160">
                <a:solidFill>
                  <a:srgbClr val="974F16"/>
                </a:solidFill>
                <a:latin typeface="Calibri"/>
              </a:rPr>
              <a:t>THE FORM TIME QUIZ  ·  VOLUME ONE</a:t>
            </a:r>
          </a:p>
        </p:txBody>
      </p:sp>
      <p:pic>
        <p:nvPicPr>
          <p:cNvPr id="4" name="Picture 3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251" y="822960"/>
            <a:ext cx="633496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755648"/>
            <a:ext cx="8046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0" i="0">
                <a:solidFill>
                  <a:srgbClr val="974F16"/>
                </a:solidFill>
                <a:latin typeface="Georgia"/>
              </a:rPr>
              <a:t>Scores back to their owners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5C6552"/>
                </a:solidFill>
                <a:latin typeface="Calibri"/>
              </a:rPr>
              <a:t>Hands up if you got ten. Then hands up if one of the answers surprised you, and tell us which.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39312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8B9179"/>
                </a:solidFill>
                <a:latin typeface="Calibri"/>
              </a:rPr>
              <a:t>Volume Two is available now at thepastoralguide.com.</a:t>
            </a:r>
          </a:p>
        </p:txBody>
      </p:sp>
      <p:pic>
        <p:nvPicPr>
          <p:cNvPr id="8" name="Picture 7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3129423" cy="237744"/>
          </a:xfrm>
          <a:prstGeom prst="roundRect">
            <a:avLst>
              <a:gd name="adj" fmla="val 50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974F16"/>
                </a:solidFill>
                <a:latin typeface="Calibri"/>
              </a:rPr>
              <a:t>FOR THE TEACHER  ·  ADD YOUR 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41248"/>
            <a:ext cx="7772400" cy="1188720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841248"/>
            <a:ext cx="7772400" cy="54864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1133856"/>
            <a:ext cx="603504" cy="603504"/>
          </a:xfrm>
          <a:prstGeom prst="ellipse">
            <a:avLst/>
          </a:prstGeom>
          <a:solidFill>
            <a:srgbClr val="974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261872"/>
            <a:ext cx="60350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000" b="1" i="0">
                <a:solidFill>
                  <a:srgbClr val="FFFDF7"/>
                </a:solidFill>
                <a:latin typeface="Calibri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246632"/>
            <a:ext cx="6309360" cy="377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400" b="0" i="0">
                <a:solidFill>
                  <a:srgbClr val="974F16"/>
                </a:solidFill>
                <a:latin typeface="Georgia"/>
              </a:rPr>
              <a:t>[ Type your own question here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32304"/>
            <a:ext cx="7772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Calibri"/>
              </a:rPr>
              <a:t>Add your own questions here: something from assembly, a date coming up, or a question about your own school.</a:t>
            </a:r>
          </a:p>
          <a:p>
            <a:pPr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Calibri"/>
              </a:rPr>
              <a:t>Duplicate this slide for each one and drag it in after question 10. There are two spare rows on the answer sheet for them.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9184"/>
            <a:ext cx="3129423" cy="237744"/>
          </a:xfrm>
          <a:prstGeom prst="roundRect">
            <a:avLst>
              <a:gd name="adj" fmla="val 50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spc="90">
                <a:solidFill>
                  <a:srgbClr val="974F16"/>
                </a:solidFill>
                <a:latin typeface="Calibri"/>
              </a:rPr>
              <a:t>FOR THE TEACHER  ·  ADD YOUR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7772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1">
                <a:solidFill>
                  <a:srgbClr val="5C6552"/>
                </a:solidFill>
                <a:latin typeface="Calibri"/>
              </a:rPr>
              <a:t>[ Your question again, so the room remembers it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25296"/>
            <a:ext cx="77724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0" i="0">
                <a:solidFill>
                  <a:srgbClr val="974F16"/>
                </a:solidFill>
                <a:latin typeface="Georgia"/>
              </a:rPr>
              <a:t>[ The answer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11680"/>
            <a:ext cx="7772400" cy="932688"/>
          </a:xfrm>
          <a:prstGeom prst="roundRect">
            <a:avLst>
              <a:gd name="adj" fmla="val 6000"/>
            </a:avLst>
          </a:prstGeom>
          <a:solidFill>
            <a:srgbClr val="F8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64008" cy="932688"/>
          </a:xfrm>
          <a:prstGeom prst="rect">
            <a:avLst/>
          </a:prstGeom>
          <a:solidFill>
            <a:srgbClr val="C9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9424"/>
            <a:ext cx="7040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0">
                <a:solidFill>
                  <a:srgbClr val="2E3436"/>
                </a:solidFill>
                <a:latin typeface="Calibri"/>
              </a:rPr>
              <a:t>[ One line on why, if there is something worth knowing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8688"/>
            <a:ext cx="7772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5C6552"/>
                </a:solidFill>
                <a:latin typeface="Calibri"/>
              </a:rPr>
              <a:t>Duplicate this slide for each of your own questions and drag it in after the answer to question 10.</a:t>
            </a:r>
          </a:p>
        </p:txBody>
      </p:sp>
      <p:pic>
        <p:nvPicPr>
          <p:cNvPr id="10" name="Picture 9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7448"/>
            <a:ext cx="158374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" y="4709160"/>
            <a:ext cx="2194560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8B9179"/>
                </a:solidFill>
                <a:latin typeface="Calibri"/>
              </a:rPr>
              <a:t>The Pastoral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727448"/>
            <a:ext cx="10789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8B9179"/>
                </a:solidFill>
                <a:latin typeface="Calibri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