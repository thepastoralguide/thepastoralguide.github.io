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5143500" cx="9144000"/>
  <p:notesSz cx="51435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8" roundtripDataSignature="AMtx7miILXE4XobXKnKAXKRjrf/R50t+3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" name="Google Shape;24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" name="Google Shape;25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6" name="Google Shape;9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" name="Google Shape;167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0" name="Google Shape;25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8" name="Google Shape;30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3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5" name="Google Shape;34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8" name="Google Shape;378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9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1" name="Google Shape;42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2" name="Google Shape;42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0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" name="Google Shape;4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2" name="Google Shape;472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0.png"/><Relationship Id="rId4" Type="http://schemas.openxmlformats.org/officeDocument/2006/relationships/image" Target="../media/image7.png"/><Relationship Id="rId5" Type="http://schemas.openxmlformats.org/officeDocument/2006/relationships/image" Target="../media/image4.png"/><Relationship Id="rId6" Type="http://schemas.openxmlformats.org/officeDocument/2006/relationships/image" Target="../media/image1.png"/><Relationship Id="rId7" Type="http://schemas.openxmlformats.org/officeDocument/2006/relationships/image" Target="../media/image8.png"/><Relationship Id="rId8" Type="http://schemas.openxmlformats.org/officeDocument/2006/relationships/image" Target="../media/image11.png"/><Relationship Id="rId9" Type="http://schemas.openxmlformats.org/officeDocument/2006/relationships/image" Target="../media/image14.png"/><Relationship Id="rId10" Type="http://schemas.openxmlformats.org/officeDocument/2006/relationships/image" Target="../media/image5.png"/><Relationship Id="rId11" Type="http://schemas.openxmlformats.org/officeDocument/2006/relationships/image" Target="../media/image1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12.png"/><Relationship Id="rId7" Type="http://schemas.openxmlformats.org/officeDocument/2006/relationships/image" Target="../media/image14.png"/><Relationship Id="rId8" Type="http://schemas.openxmlformats.org/officeDocument/2006/relationships/image" Target="../media/image9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png"/><Relationship Id="rId4" Type="http://schemas.openxmlformats.org/officeDocument/2006/relationships/image" Target="../media/image45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8.png"/><Relationship Id="rId4" Type="http://schemas.openxmlformats.org/officeDocument/2006/relationships/image" Target="../media/image21.png"/><Relationship Id="rId5" Type="http://schemas.openxmlformats.org/officeDocument/2006/relationships/image" Target="../media/image1.png"/><Relationship Id="rId6" Type="http://schemas.openxmlformats.org/officeDocument/2006/relationships/image" Target="../media/image41.png"/><Relationship Id="rId7" Type="http://schemas.openxmlformats.org/officeDocument/2006/relationships/image" Target="../media/image15.png"/><Relationship Id="rId8" Type="http://schemas.openxmlformats.org/officeDocument/2006/relationships/image" Target="../media/image14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5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image" Target="../media/image3.png"/><Relationship Id="rId7" Type="http://schemas.openxmlformats.org/officeDocument/2006/relationships/image" Target="../media/image32.png"/><Relationship Id="rId8" Type="http://schemas.openxmlformats.org/officeDocument/2006/relationships/image" Target="../media/image5.png"/><Relationship Id="rId9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1.png"/><Relationship Id="rId5" Type="http://schemas.openxmlformats.org/officeDocument/2006/relationships/image" Target="../media/image21.png"/><Relationship Id="rId6" Type="http://schemas.openxmlformats.org/officeDocument/2006/relationships/image" Target="../media/image2.png"/><Relationship Id="rId7" Type="http://schemas.openxmlformats.org/officeDocument/2006/relationships/image" Target="../media/image11.png"/><Relationship Id="rId8" Type="http://schemas.openxmlformats.org/officeDocument/2006/relationships/image" Target="../media/image3.png"/><Relationship Id="rId9" Type="http://schemas.openxmlformats.org/officeDocument/2006/relationships/image" Target="../media/image8.png"/><Relationship Id="rId10" Type="http://schemas.openxmlformats.org/officeDocument/2006/relationships/image" Target="../media/image5.png"/><Relationship Id="rId11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3.png"/><Relationship Id="rId4" Type="http://schemas.openxmlformats.org/officeDocument/2006/relationships/image" Target="../media/image5.png"/><Relationship Id="rId5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.png"/><Relationship Id="rId6" Type="http://schemas.openxmlformats.org/officeDocument/2006/relationships/image" Target="../media/image11.png"/><Relationship Id="rId7" Type="http://schemas.openxmlformats.org/officeDocument/2006/relationships/image" Target="../media/image3.png"/><Relationship Id="rId8" Type="http://schemas.openxmlformats.org/officeDocument/2006/relationships/image" Target="../media/image33.png"/><Relationship Id="rId9" Type="http://schemas.openxmlformats.org/officeDocument/2006/relationships/image" Target="../media/image5.png"/><Relationship Id="rId10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2.png"/><Relationship Id="rId4" Type="http://schemas.openxmlformats.org/officeDocument/2006/relationships/image" Target="../media/image15.png"/><Relationship Id="rId5" Type="http://schemas.openxmlformats.org/officeDocument/2006/relationships/image" Target="../media/image5.png"/><Relationship Id="rId6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8" name="Google Shape;18;p1"/>
          <p:cNvSpPr/>
          <p:nvPr/>
        </p:nvSpPr>
        <p:spPr>
          <a:xfrm>
            <a:off x="548640" y="1965960"/>
            <a:ext cx="80467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200"/>
              <a:buFont typeface="Cambria"/>
              <a:buNone/>
            </a:pPr>
            <a:r>
              <a:rPr b="1" i="0" lang="en-US" sz="4200" u="none" cap="none" strike="noStrike">
                <a:solidFill>
                  <a:srgbClr val="5E8B6E"/>
                </a:solidFill>
                <a:latin typeface="Libre Caslon Display"/>
                <a:ea typeface="Cambria"/>
                <a:cs typeface="Cambria"/>
                <a:sym typeface="Cambria"/>
              </a:rPr>
              <a:t>The Planting Project</a:t>
            </a:r>
            <a:endParaRPr b="0" i="0" sz="4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1097280" y="2880360"/>
            <a:ext cx="69494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EEF4E7"/>
              </a:buClr>
              <a:buSzPts val="1600"/>
              <a:buFont typeface="Calibri"/>
              <a:buNone/>
            </a:pPr>
            <a:r>
              <a:rPr b="0" i="0" lang="en-US" sz="1600" u="none" cap="none" strike="noStrike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Ten pairs. Ten herbs. A few weeks of growing and caring</a:t>
            </a:r>
            <a:r>
              <a:rPr lang="en-US" sz="1600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,</a:t>
            </a:r>
            <a:r>
              <a:rPr b="0" i="0" lang="en-US" sz="1600" u="none" cap="none" strike="noStrike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 then a meal </a:t>
            </a:r>
            <a:r>
              <a:rPr lang="en-US" sz="1600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you cook for your </a:t>
            </a:r>
            <a:r>
              <a:rPr lang="en-US" sz="1600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families.</a:t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A FORM ROOM PROJECT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24" name="Picture 23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0268" y="320040"/>
            <a:ext cx="1003465" cy="1158270"/>
          </a:xfrm>
          <a:prstGeom prst="rect">
            <a:avLst/>
          </a:prstGeom>
        </p:spPr>
      </p:pic>
      <p:pic>
        <p:nvPicPr>
          <p:cNvPr id="25" name="Picture 24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55" descr="page_text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7" name="Google Shape;27;p2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GETTING STARTED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2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What is the project?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Each pair will follow the same journey with their own herb: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2"/>
          <p:cNvSpPr/>
          <p:nvPr/>
        </p:nvSpPr>
        <p:spPr>
          <a:xfrm>
            <a:off x="502920" y="1600200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" name="Google Shape;31;p2"/>
          <p:cNvSpPr/>
          <p:nvPr/>
        </p:nvSpPr>
        <p:spPr>
          <a:xfrm>
            <a:off x="612648" y="160020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sers_forest.png" id="32" name="Google Shape;3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65963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2"/>
          <p:cNvSpPr/>
          <p:nvPr/>
        </p:nvSpPr>
        <p:spPr>
          <a:xfrm>
            <a:off x="1124712" y="1600200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Work in pairs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2"/>
          <p:cNvSpPr/>
          <p:nvPr/>
        </p:nvSpPr>
        <p:spPr>
          <a:xfrm>
            <a:off x="612648" y="202082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arch_forest.png" id="35" name="Google Shape;35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208026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2"/>
          <p:cNvSpPr/>
          <p:nvPr/>
        </p:nvSpPr>
        <p:spPr>
          <a:xfrm>
            <a:off x="1124712" y="2020824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Research your assigned herb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2"/>
          <p:cNvSpPr/>
          <p:nvPr/>
        </p:nvSpPr>
        <p:spPr>
          <a:xfrm>
            <a:off x="502920" y="2441448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612648" y="244144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edling_forest.png" id="39" name="Google Shape;39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50088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0;p2"/>
          <p:cNvSpPr/>
          <p:nvPr/>
        </p:nvSpPr>
        <p:spPr>
          <a:xfrm>
            <a:off x="1124712" y="2441448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Plant your seeds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2"/>
          <p:cNvSpPr/>
          <p:nvPr/>
        </p:nvSpPr>
        <p:spPr>
          <a:xfrm>
            <a:off x="612648" y="286207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42" name="Google Shape;42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92150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2"/>
          <p:cNvSpPr/>
          <p:nvPr/>
        </p:nvSpPr>
        <p:spPr>
          <a:xfrm>
            <a:off x="1124712" y="2862072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Care for your plant over the coming weeks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2"/>
          <p:cNvSpPr/>
          <p:nvPr/>
        </p:nvSpPr>
        <p:spPr>
          <a:xfrm>
            <a:off x="502920" y="3282696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612648" y="328269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art_forest.png" id="46" name="Google Shape;46;p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334213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2"/>
          <p:cNvSpPr/>
          <p:nvPr/>
        </p:nvSpPr>
        <p:spPr>
          <a:xfrm>
            <a:off x="1124712" y="3282696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Monitor its progress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2"/>
          <p:cNvSpPr/>
          <p:nvPr/>
        </p:nvSpPr>
        <p:spPr>
          <a:xfrm>
            <a:off x="612648" y="3703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49" name="Google Shape;49;p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7627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2"/>
          <p:cNvSpPr/>
          <p:nvPr/>
        </p:nvSpPr>
        <p:spPr>
          <a:xfrm>
            <a:off x="1124712" y="3703320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Harvest some leaves when it is ready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"/>
          <p:cNvSpPr/>
          <p:nvPr/>
        </p:nvSpPr>
        <p:spPr>
          <a:xfrm>
            <a:off x="502920" y="4123944"/>
            <a:ext cx="8138160" cy="365760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52" name="Google Shape;52;p2"/>
          <p:cNvSpPr/>
          <p:nvPr/>
        </p:nvSpPr>
        <p:spPr>
          <a:xfrm>
            <a:off x="612648" y="412394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53" name="Google Shape;53;p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2084" y="418338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2"/>
          <p:cNvSpPr/>
          <p:nvPr/>
        </p:nvSpPr>
        <p:spPr>
          <a:xfrm>
            <a:off x="1124712" y="4123944"/>
            <a:ext cx="7360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Use your herb to cook something for your family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2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2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58" name="Picture 57" descr="logo-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Picture 93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61" name="Google Shape;61;p3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THE BIGGER PICTURE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3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Why are we doing this?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3"/>
          <p:cNvSpPr/>
          <p:nvPr/>
        </p:nvSpPr>
        <p:spPr>
          <a:xfrm>
            <a:off x="50292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4" name="Google Shape;64;p3"/>
          <p:cNvSpPr/>
          <p:nvPr/>
        </p:nvSpPr>
        <p:spPr>
          <a:xfrm>
            <a:off x="70408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eart_forest.png" id="65" name="Google Shape;65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266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3"/>
          <p:cNvSpPr/>
          <p:nvPr/>
        </p:nvSpPr>
        <p:spPr>
          <a:xfrm>
            <a:off x="70408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Responsibility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3"/>
          <p:cNvSpPr/>
          <p:nvPr/>
        </p:nvSpPr>
        <p:spPr>
          <a:xfrm>
            <a:off x="70408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Look after something that depends on you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329184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69" name="Google Shape;69;p3"/>
          <p:cNvSpPr/>
          <p:nvPr/>
        </p:nvSpPr>
        <p:spPr>
          <a:xfrm>
            <a:off x="349300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70" name="Google Shape;70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56158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3"/>
          <p:cNvSpPr/>
          <p:nvPr/>
        </p:nvSpPr>
        <p:spPr>
          <a:xfrm>
            <a:off x="349300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Teamwork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349300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Work well with your partner, every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6080760" y="123444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4" name="Google Shape;74;p3"/>
          <p:cNvSpPr/>
          <p:nvPr/>
        </p:nvSpPr>
        <p:spPr>
          <a:xfrm>
            <a:off x="6281928" y="143560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prout_forest.png" id="75" name="Google Shape;75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50508" y="15041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3"/>
          <p:cNvSpPr/>
          <p:nvPr/>
        </p:nvSpPr>
        <p:spPr>
          <a:xfrm>
            <a:off x="6281928" y="202082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Patience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6281928" y="231343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Learn to care for something over 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50292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79" name="Google Shape;79;p3"/>
          <p:cNvSpPr/>
          <p:nvPr/>
        </p:nvSpPr>
        <p:spPr>
          <a:xfrm>
            <a:off x="70408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erbs_forest.png" id="80" name="Google Shape;80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266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3"/>
          <p:cNvSpPr/>
          <p:nvPr/>
        </p:nvSpPr>
        <p:spPr>
          <a:xfrm>
            <a:off x="70408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Where food comes from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3"/>
          <p:cNvSpPr/>
          <p:nvPr/>
        </p:nvSpPr>
        <p:spPr>
          <a:xfrm>
            <a:off x="70408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See how ingredients actually grow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3"/>
          <p:cNvSpPr/>
          <p:nvPr/>
        </p:nvSpPr>
        <p:spPr>
          <a:xfrm>
            <a:off x="329184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4" name="Google Shape;84;p3"/>
          <p:cNvSpPr/>
          <p:nvPr/>
        </p:nvSpPr>
        <p:spPr>
          <a:xfrm>
            <a:off x="349300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85" name="Google Shape;85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56158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3"/>
          <p:cNvSpPr/>
          <p:nvPr/>
        </p:nvSpPr>
        <p:spPr>
          <a:xfrm>
            <a:off x="349300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Life skills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3"/>
          <p:cNvSpPr/>
          <p:nvPr/>
        </p:nvSpPr>
        <p:spPr>
          <a:xfrm>
            <a:off x="349300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Practise useful cooking skills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6080760" y="3108960"/>
            <a:ext cx="2560320" cy="1645920"/>
          </a:xfrm>
          <a:prstGeom prst="roundRect">
            <a:avLst>
              <a:gd fmla="val 4444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6281928" y="3310128"/>
            <a:ext cx="457200" cy="457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ome_forest.png" id="90" name="Google Shape;90;p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50508" y="33787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3"/>
          <p:cNvSpPr/>
          <p:nvPr/>
        </p:nvSpPr>
        <p:spPr>
          <a:xfrm>
            <a:off x="6281928" y="3895344"/>
            <a:ext cx="2157984" cy="310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400"/>
              <a:buFont typeface="Cambria"/>
              <a:buNone/>
            </a:pPr>
            <a:r>
              <a:rPr b="1" i="0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For our families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3"/>
          <p:cNvSpPr/>
          <p:nvPr/>
        </p:nvSpPr>
        <p:spPr>
          <a:xfrm>
            <a:off x="6281928" y="4187952"/>
            <a:ext cx="215798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Do something thoughtful for the people at home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3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3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TextBox 94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96" name="Picture 95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Picture 151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99" name="Google Shape;99;p4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TEN HERBS, TEN PAIRS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4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Meet the herbs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4"/>
          <p:cNvSpPr/>
          <p:nvPr/>
        </p:nvSpPr>
        <p:spPr>
          <a:xfrm>
            <a:off x="457200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2" name="Google Shape;102;p4"/>
          <p:cNvSpPr/>
          <p:nvPr/>
        </p:nvSpPr>
        <p:spPr>
          <a:xfrm>
            <a:off x="994867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03" name="Google Shape;10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875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4"/>
          <p:cNvSpPr/>
          <p:nvPr/>
        </p:nvSpPr>
        <p:spPr>
          <a:xfrm>
            <a:off x="530352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Italian basil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4"/>
          <p:cNvSpPr/>
          <p:nvPr/>
        </p:nvSpPr>
        <p:spPr>
          <a:xfrm>
            <a:off x="530352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Pesto &amp; pasta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4"/>
          <p:cNvSpPr/>
          <p:nvPr/>
        </p:nvSpPr>
        <p:spPr>
          <a:xfrm>
            <a:off x="2136038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07" name="Google Shape;107;p4"/>
          <p:cNvSpPr/>
          <p:nvPr/>
        </p:nvSpPr>
        <p:spPr>
          <a:xfrm>
            <a:off x="2673706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08" name="Google Shape;10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37714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4"/>
          <p:cNvSpPr/>
          <p:nvPr/>
        </p:nvSpPr>
        <p:spPr>
          <a:xfrm>
            <a:off x="2209190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Thai basil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4"/>
          <p:cNvSpPr/>
          <p:nvPr/>
        </p:nvSpPr>
        <p:spPr>
          <a:xfrm>
            <a:off x="2209190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Stir-fries &amp; noodles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3814877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4352544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13" name="Google Shape;11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6552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4"/>
          <p:cNvSpPr/>
          <p:nvPr/>
        </p:nvSpPr>
        <p:spPr>
          <a:xfrm>
            <a:off x="3888029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Rosemary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4"/>
          <p:cNvSpPr/>
          <p:nvPr/>
        </p:nvSpPr>
        <p:spPr>
          <a:xfrm>
            <a:off x="3888029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Roast potatoes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4"/>
          <p:cNvSpPr/>
          <p:nvPr/>
        </p:nvSpPr>
        <p:spPr>
          <a:xfrm>
            <a:off x="5493715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17" name="Google Shape;117;p4"/>
          <p:cNvSpPr/>
          <p:nvPr/>
        </p:nvSpPr>
        <p:spPr>
          <a:xfrm>
            <a:off x="6031382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18" name="Google Shape;11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390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4"/>
          <p:cNvSpPr/>
          <p:nvPr/>
        </p:nvSpPr>
        <p:spPr>
          <a:xfrm>
            <a:off x="5566867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Peppermint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5566867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Tea &amp; fresh salads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7172554" y="1143000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2" name="Google Shape;122;p4"/>
          <p:cNvSpPr/>
          <p:nvPr/>
        </p:nvSpPr>
        <p:spPr>
          <a:xfrm>
            <a:off x="7710221" y="1289304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23" name="Google Shape;12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4229" y="1353312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4"/>
          <p:cNvSpPr/>
          <p:nvPr/>
        </p:nvSpPr>
        <p:spPr>
          <a:xfrm>
            <a:off x="7245706" y="1764792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Coriander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7245706" y="2318004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Salsas &amp; curries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457200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27" name="Google Shape;127;p4"/>
          <p:cNvSpPr/>
          <p:nvPr/>
        </p:nvSpPr>
        <p:spPr>
          <a:xfrm>
            <a:off x="994867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28" name="Google Shape;12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58875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4"/>
          <p:cNvSpPr/>
          <p:nvPr/>
        </p:nvSpPr>
        <p:spPr>
          <a:xfrm>
            <a:off x="530352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Flat-leaf parsley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4"/>
          <p:cNvSpPr/>
          <p:nvPr/>
        </p:nvSpPr>
        <p:spPr>
          <a:xfrm>
            <a:off x="530352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Garnish &amp; tabbouleh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4"/>
          <p:cNvSpPr/>
          <p:nvPr/>
        </p:nvSpPr>
        <p:spPr>
          <a:xfrm>
            <a:off x="2136038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2" name="Google Shape;132;p4"/>
          <p:cNvSpPr/>
          <p:nvPr/>
        </p:nvSpPr>
        <p:spPr>
          <a:xfrm>
            <a:off x="2673706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33" name="Google Shape;13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37714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4"/>
          <p:cNvSpPr/>
          <p:nvPr/>
        </p:nvSpPr>
        <p:spPr>
          <a:xfrm>
            <a:off x="2209190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Thyme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4"/>
          <p:cNvSpPr/>
          <p:nvPr/>
        </p:nvSpPr>
        <p:spPr>
          <a:xfrm>
            <a:off x="2209190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Roast chicken &amp; soup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4"/>
          <p:cNvSpPr/>
          <p:nvPr/>
        </p:nvSpPr>
        <p:spPr>
          <a:xfrm>
            <a:off x="3814877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37" name="Google Shape;137;p4"/>
          <p:cNvSpPr/>
          <p:nvPr/>
        </p:nvSpPr>
        <p:spPr>
          <a:xfrm>
            <a:off x="4352544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38" name="Google Shape;13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416552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4"/>
          <p:cNvSpPr/>
          <p:nvPr/>
        </p:nvSpPr>
        <p:spPr>
          <a:xfrm>
            <a:off x="3888029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Common chives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4"/>
          <p:cNvSpPr/>
          <p:nvPr/>
        </p:nvSpPr>
        <p:spPr>
          <a:xfrm>
            <a:off x="3888029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Scrambled eggs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4"/>
          <p:cNvSpPr/>
          <p:nvPr/>
        </p:nvSpPr>
        <p:spPr>
          <a:xfrm>
            <a:off x="5493715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031382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43" name="Google Shape;14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5390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4"/>
          <p:cNvSpPr/>
          <p:nvPr/>
        </p:nvSpPr>
        <p:spPr>
          <a:xfrm>
            <a:off x="5566867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Oregano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4"/>
          <p:cNvSpPr/>
          <p:nvPr/>
        </p:nvSpPr>
        <p:spPr>
          <a:xfrm>
            <a:off x="5566867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Pizza &amp; tomato sauce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4"/>
          <p:cNvSpPr/>
          <p:nvPr/>
        </p:nvSpPr>
        <p:spPr>
          <a:xfrm>
            <a:off x="7172554" y="2985516"/>
            <a:ext cx="1514246" cy="1677924"/>
          </a:xfrm>
          <a:prstGeom prst="roundRect">
            <a:avLst>
              <a:gd fmla="val 4227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147" name="Google Shape;147;p4"/>
          <p:cNvSpPr/>
          <p:nvPr/>
        </p:nvSpPr>
        <p:spPr>
          <a:xfrm>
            <a:off x="7710221" y="3131820"/>
            <a:ext cx="438912" cy="438912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148" name="Google Shape;14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4229" y="3195828"/>
            <a:ext cx="310896" cy="310896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4"/>
          <p:cNvSpPr/>
          <p:nvPr/>
        </p:nvSpPr>
        <p:spPr>
          <a:xfrm>
            <a:off x="7245706" y="3607308"/>
            <a:ext cx="1367942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00"/>
              <a:buFont typeface="Cambria"/>
              <a:buNone/>
            </a:pPr>
            <a:r>
              <a:rPr b="1" i="0" lang="en-US" sz="12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Dill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4"/>
          <p:cNvSpPr/>
          <p:nvPr/>
        </p:nvSpPr>
        <p:spPr>
          <a:xfrm>
            <a:off x="7245706" y="4160520"/>
            <a:ext cx="136794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50"/>
              <a:buFont typeface="Calibri"/>
              <a:buNone/>
            </a:pPr>
            <a:r>
              <a:rPr b="0" i="1" lang="en-US" sz="9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Dill potatoes &amp; fish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4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4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TextBox 152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154" name="Picture 153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Picture 164" descr="page_tex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57" name="Google Shape;157;p5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GETTING ORGANISED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Your team and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548640" y="1417320"/>
            <a:ext cx="914400" cy="914400"/>
          </a:xfrm>
          <a:prstGeom prst="ellipse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sers_forest.png" id="160" name="Google Shape;16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5800" y="1554480"/>
            <a:ext cx="640080" cy="64008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5"/>
          <p:cNvSpPr/>
          <p:nvPr/>
        </p:nvSpPr>
        <p:spPr>
          <a:xfrm>
            <a:off x="502920" y="2514600"/>
            <a:ext cx="356616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Each pair is allocated one herb to look after for the whole project. You and your partner are responsible for it from seed to harvest.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502920" y="3977640"/>
            <a:ext cx="35661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You can even give your plant a name, if you like!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5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4" name="Google Shape;164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73474" y="1227014"/>
            <a:ext cx="4187650" cy="35993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TextBox 165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167" name="Picture 166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="0">
  <p:cSld>
    <p:bg>
      <p:bgPr>
        <a:solidFill>
          <a:srgbClr val="FAF8F3"/>
        </a:solidFill>
      </p:bgPr>
    </p:bg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Picture 247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grpSp>
        <p:nvGrpSpPr>
          <p:cNvPr id="170" name="Google Shape;170;p6"/>
          <p:cNvGrpSpPr/>
          <p:nvPr/>
        </p:nvGrpSpPr>
        <p:grpSpPr>
          <a:xfrm>
            <a:off x="281450" y="195250"/>
            <a:ext cx="2590800" cy="2234100"/>
            <a:chOff x="281450" y="195250"/>
            <a:chExt cx="2590800" cy="2234100"/>
          </a:xfrm>
        </p:grpSpPr>
        <p:sp>
          <p:nvSpPr>
            <p:cNvPr id="171" name="Google Shape;171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72" name="Google Shape;172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73" name="Google Shape;173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4" name="Google Shape;174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6" name="Google Shape;176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77" name="Google Shape;177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78" name="Google Shape;178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79" name="Google Shape;179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0" name="Google Shape;180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81" name="Google Shape;181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2" name="Google Shape;182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83" name="Google Shape;183;p6"/>
          <p:cNvGrpSpPr/>
          <p:nvPr/>
        </p:nvGrpSpPr>
        <p:grpSpPr>
          <a:xfrm>
            <a:off x="3276600" y="195250"/>
            <a:ext cx="2590800" cy="2234100"/>
            <a:chOff x="281450" y="195250"/>
            <a:chExt cx="2590800" cy="2234100"/>
          </a:xfrm>
        </p:grpSpPr>
        <p:sp>
          <p:nvSpPr>
            <p:cNvPr id="184" name="Google Shape;184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85" name="Google Shape;185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86" name="Google Shape;186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87" name="Google Shape;187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89" name="Google Shape;189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0" name="Google Shape;190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1" name="Google Shape;191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2" name="Google Shape;192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3" name="Google Shape;193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94" name="Google Shape;194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195" name="Google Shape;195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196" name="Google Shape;196;p6"/>
          <p:cNvGrpSpPr/>
          <p:nvPr/>
        </p:nvGrpSpPr>
        <p:grpSpPr>
          <a:xfrm>
            <a:off x="6271750" y="195250"/>
            <a:ext cx="2590800" cy="2234100"/>
            <a:chOff x="281450" y="195250"/>
            <a:chExt cx="2590800" cy="2234100"/>
          </a:xfrm>
        </p:grpSpPr>
        <p:sp>
          <p:nvSpPr>
            <p:cNvPr id="197" name="Google Shape;197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198" name="Google Shape;198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199" name="Google Shape;199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00" name="Google Shape;200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1" name="Google Shape;201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2" name="Google Shape;202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3" name="Google Shape;203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4" name="Google Shape;204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5" name="Google Shape;205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6" name="Google Shape;206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07" name="Google Shape;207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08" name="Google Shape;208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09" name="Google Shape;209;p6"/>
          <p:cNvGrpSpPr/>
          <p:nvPr/>
        </p:nvGrpSpPr>
        <p:grpSpPr>
          <a:xfrm>
            <a:off x="6271750" y="2761225"/>
            <a:ext cx="2590800" cy="2234100"/>
            <a:chOff x="281450" y="195250"/>
            <a:chExt cx="2590800" cy="2234100"/>
          </a:xfrm>
        </p:grpSpPr>
        <p:sp>
          <p:nvSpPr>
            <p:cNvPr id="210" name="Google Shape;210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11" name="Google Shape;211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12" name="Google Shape;212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13" name="Google Shape;213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5" name="Google Shape;215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6" name="Google Shape;216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7" name="Google Shape;217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8" name="Google Shape;218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19" name="Google Shape;219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20" name="Google Shape;220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1" name="Google Shape;221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22" name="Google Shape;222;p6"/>
          <p:cNvGrpSpPr/>
          <p:nvPr/>
        </p:nvGrpSpPr>
        <p:grpSpPr>
          <a:xfrm>
            <a:off x="3276600" y="2761225"/>
            <a:ext cx="2590800" cy="2234100"/>
            <a:chOff x="281450" y="195250"/>
            <a:chExt cx="2590800" cy="2234100"/>
          </a:xfrm>
        </p:grpSpPr>
        <p:sp>
          <p:nvSpPr>
            <p:cNvPr id="223" name="Google Shape;223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24" name="Google Shape;224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25" name="Google Shape;225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6" name="Google Shape;226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27" name="Google Shape;227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28" name="Google Shape;228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29" name="Google Shape;229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0" name="Google Shape;230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1" name="Google Shape;231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2" name="Google Shape;232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34" name="Google Shape;234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grpSp>
        <p:nvGrpSpPr>
          <p:cNvPr id="235" name="Google Shape;235;p6"/>
          <p:cNvGrpSpPr/>
          <p:nvPr/>
        </p:nvGrpSpPr>
        <p:grpSpPr>
          <a:xfrm>
            <a:off x="281450" y="2761225"/>
            <a:ext cx="2590800" cy="2234100"/>
            <a:chOff x="281450" y="195250"/>
            <a:chExt cx="2590800" cy="2234100"/>
          </a:xfrm>
        </p:grpSpPr>
        <p:sp>
          <p:nvSpPr>
            <p:cNvPr id="236" name="Google Shape;236;p6"/>
            <p:cNvSpPr/>
            <p:nvPr/>
          </p:nvSpPr>
          <p:spPr>
            <a:xfrm>
              <a:off x="281450" y="195250"/>
              <a:ext cx="2590800" cy="2234100"/>
            </a:xfrm>
            <a:prstGeom prst="roundRect">
              <a:avLst>
                <a:gd fmla="val 3077" name="adj"/>
              </a:avLst>
            </a:prstGeom>
            <a:solidFill>
              <a:srgbClr val="FFFFFF"/>
            </a:solidFill>
            <a:ln cap="flat" cmpd="sng" w="15875">
              <a:solidFill>
                <a:srgbClr val="B1C69A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sp>
          <p:nvSpPr>
            <p:cNvPr id="237" name="Google Shape;237;p6"/>
            <p:cNvSpPr/>
            <p:nvPr/>
          </p:nvSpPr>
          <p:spPr>
            <a:xfrm>
              <a:off x="382029" y="274857"/>
              <a:ext cx="310800" cy="310800"/>
            </a:xfrm>
            <a:prstGeom prst="ellipse">
              <a:avLst/>
            </a:prstGeom>
            <a:solidFill>
              <a:srgbClr val="F3F7EE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/>
                <a:t/>
              </a:r>
              <a:endParaRPr/>
            </a:p>
          </p:txBody>
        </p:sp>
        <p:pic>
          <p:nvPicPr>
            <p:cNvPr descr="/home/claude/planting-project/icons/leaf_forest.png" id="238" name="Google Shape;238;p6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27749" y="311427"/>
              <a:ext cx="219456" cy="219456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39" name="Google Shape;239;p6"/>
            <p:cNvSpPr/>
            <p:nvPr/>
          </p:nvSpPr>
          <p:spPr>
            <a:xfrm>
              <a:off x="1559225" y="293158"/>
              <a:ext cx="1206900" cy="237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r">
                <a:spcBef>
                  <a:spcPts val="0"/>
                </a:spcBef>
                <a:spcAft>
                  <a:spcPts val="0"/>
                </a:spcAft>
                <a:buClr>
                  <a:srgbClr val="C9723F"/>
                </a:buClr>
                <a:buSzPts val="850"/>
                <a:buFont typeface="Calibri"/>
                <a:buNone/>
              </a:pPr>
              <a:r>
                <a:rPr b="1" i="0" lang="en-US" sz="850" u="none" cap="none" strike="noStrike">
                  <a:solidFill>
                    <a:srgbClr val="C9723F"/>
                  </a:solidFill>
                  <a:latin typeface="Karla"/>
                  <a:ea typeface="Calibri"/>
                  <a:cs typeface="Calibri"/>
                  <a:sym typeface="Calibri"/>
                </a:rPr>
                <a:t>MY POT</a:t>
              </a:r>
              <a:endParaRPr b="0" i="0" sz="8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0" name="Google Shape;240;p6"/>
            <p:cNvSpPr/>
            <p:nvPr/>
          </p:nvSpPr>
          <p:spPr>
            <a:xfrm>
              <a:off x="446017" y="1091133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Herb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1" name="Google Shape;241;p6"/>
            <p:cNvCxnSpPr/>
            <p:nvPr/>
          </p:nvCxnSpPr>
          <p:spPr>
            <a:xfrm>
              <a:off x="446017" y="140699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2" name="Google Shape;242;p6"/>
            <p:cNvSpPr/>
            <p:nvPr/>
          </p:nvSpPr>
          <p:spPr>
            <a:xfrm>
              <a:off x="445967" y="1508919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i="0" lang="en-US" sz="950" u="none" cap="none" strike="noStrike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Grown by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3" name="Google Shape;243;p6"/>
            <p:cNvCxnSpPr/>
            <p:nvPr/>
          </p:nvCxnSpPr>
          <p:spPr>
            <a:xfrm>
              <a:off x="445967" y="1839552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4" name="Google Shape;244;p6"/>
            <p:cNvSpPr/>
            <p:nvPr/>
          </p:nvSpPr>
          <p:spPr>
            <a:xfrm>
              <a:off x="446017" y="1930705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Date planted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5" name="Google Shape;245;p6"/>
            <p:cNvCxnSpPr/>
            <p:nvPr/>
          </p:nvCxnSpPr>
          <p:spPr>
            <a:xfrm>
              <a:off x="445967" y="2247013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46" name="Google Shape;246;p6"/>
            <p:cNvSpPr/>
            <p:nvPr/>
          </p:nvSpPr>
          <p:spPr>
            <a:xfrm>
              <a:off x="446017" y="686470"/>
              <a:ext cx="2261700" cy="219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Clr>
                  <a:srgbClr val="41A45D"/>
                </a:buClr>
                <a:buSzPts val="950"/>
                <a:buFont typeface="Calibri"/>
                <a:buNone/>
              </a:pPr>
              <a:r>
                <a:rPr b="1" lang="en-US" sz="950">
                  <a:solidFill>
                    <a:srgbClr val="41A45D"/>
                  </a:solidFill>
                  <a:latin typeface="Karla"/>
                  <a:ea typeface="Calibri"/>
                  <a:cs typeface="Calibri"/>
                  <a:sym typeface="Calibri"/>
                </a:rPr>
                <a:t>Plant name</a:t>
              </a:r>
              <a:endParaRPr b="0" i="0" sz="95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cxnSp>
          <p:nvCxnSpPr>
            <p:cNvPr id="247" name="Google Shape;247;p6"/>
            <p:cNvCxnSpPr/>
            <p:nvPr/>
          </p:nvCxnSpPr>
          <p:spPr>
            <a:xfrm>
              <a:off x="446017" y="1002041"/>
              <a:ext cx="2261700" cy="0"/>
            </a:xfrm>
            <a:prstGeom prst="straightConnector1">
              <a:avLst/>
            </a:prstGeom>
            <a:noFill/>
            <a:ln cap="flat" cmpd="sng" w="12700">
              <a:solidFill>
                <a:srgbClr val="E4EEDB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9" name="TextBox 248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250" name="Picture 249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9" name="Picture 278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53" name="Google Shape;253;p7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BEFORE YOU PLANT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7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Research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7"/>
          <p:cNvSpPr/>
          <p:nvPr/>
        </p:nvSpPr>
        <p:spPr>
          <a:xfrm>
            <a:off x="502920" y="11704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56" name="Google Shape;256;p7"/>
          <p:cNvSpPr/>
          <p:nvPr/>
        </p:nvSpPr>
        <p:spPr>
          <a:xfrm>
            <a:off x="612648" y="11887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ruler_forest.png" id="257" name="Google Shape;257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2481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7"/>
          <p:cNvSpPr/>
          <p:nvPr/>
        </p:nvSpPr>
        <p:spPr>
          <a:xfrm>
            <a:off x="1124712" y="11704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deep should the seeds be planted?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612648" y="16459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260" name="Google Shape;26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17053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1" name="Google Shape;261;p7"/>
          <p:cNvSpPr/>
          <p:nvPr/>
        </p:nvSpPr>
        <p:spPr>
          <a:xfrm>
            <a:off x="1124712" y="16276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much light does the plant need?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502920" y="20848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63" name="Google Shape;263;p7"/>
          <p:cNvSpPr/>
          <p:nvPr/>
        </p:nvSpPr>
        <p:spPr>
          <a:xfrm>
            <a:off x="612648" y="21031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264" name="Google Shape;264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1625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5" name="Google Shape;265;p7"/>
          <p:cNvSpPr/>
          <p:nvPr/>
        </p:nvSpPr>
        <p:spPr>
          <a:xfrm>
            <a:off x="1124712" y="20848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often should it be watered?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612648" y="25603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lendar_forest.png" id="267" name="Google Shape;267;p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6197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7"/>
          <p:cNvSpPr/>
          <p:nvPr/>
        </p:nvSpPr>
        <p:spPr>
          <a:xfrm>
            <a:off x="1124712" y="25420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About how long will the seeds take to germinate?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7"/>
          <p:cNvSpPr/>
          <p:nvPr/>
        </p:nvSpPr>
        <p:spPr>
          <a:xfrm>
            <a:off x="502920" y="2999232"/>
            <a:ext cx="8138160" cy="402336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0" name="Google Shape;270;p7"/>
          <p:cNvSpPr/>
          <p:nvPr/>
        </p:nvSpPr>
        <p:spPr>
          <a:xfrm>
            <a:off x="612648" y="30175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271" name="Google Shape;271;p7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30769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72" name="Google Shape;272;p7"/>
          <p:cNvSpPr/>
          <p:nvPr/>
        </p:nvSpPr>
        <p:spPr>
          <a:xfrm>
            <a:off x="1124712" y="29992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Are there any special care requirements?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7"/>
          <p:cNvSpPr/>
          <p:nvPr/>
        </p:nvSpPr>
        <p:spPr>
          <a:xfrm>
            <a:off x="612648" y="347472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274" name="Google Shape;274;p7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53415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7"/>
          <p:cNvSpPr/>
          <p:nvPr/>
        </p:nvSpPr>
        <p:spPr>
          <a:xfrm>
            <a:off x="1124712" y="3456432"/>
            <a:ext cx="73609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kinds of meals is this herb commonly used in?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7"/>
          <p:cNvSpPr/>
          <p:nvPr/>
        </p:nvSpPr>
        <p:spPr>
          <a:xfrm>
            <a:off x="502920" y="4023360"/>
            <a:ext cx="8138160" cy="566928"/>
          </a:xfrm>
          <a:prstGeom prst="roundRect">
            <a:avLst>
              <a:gd fmla="val 12903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777240" y="4023360"/>
            <a:ext cx="75895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200"/>
              <a:buFont typeface="Calibri"/>
              <a:buNone/>
            </a:pPr>
            <a:r>
              <a:rPr b="1" i="1" lang="en-US" sz="12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Different herbs have different needs, so research your own plant. Don’t assume they all grow the same way!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7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6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TextBox 279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281" name="Picture 280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6" name="Picture 305" descr="page_textu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84" name="Google Shape;284;p8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PLAN BEFORE YOU PLANT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Make your planting plan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With your partner, agree on: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/>
          <p:nvPr/>
        </p:nvSpPr>
        <p:spPr>
          <a:xfrm>
            <a:off x="502920" y="1673352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88" name="Google Shape;288;p8"/>
          <p:cNvSpPr/>
          <p:nvPr/>
        </p:nvSpPr>
        <p:spPr>
          <a:xfrm>
            <a:off x="612648" y="174650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lipboard_forest.png" id="289" name="Google Shape;289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80594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0" name="Google Shape;290;p8"/>
          <p:cNvSpPr/>
          <p:nvPr/>
        </p:nvSpPr>
        <p:spPr>
          <a:xfrm>
            <a:off x="1124712" y="1673352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you need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612648" y="231343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edling_forest.png" id="292" name="Google Shape;292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237286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3" name="Google Shape;293;p8"/>
          <p:cNvSpPr/>
          <p:nvPr/>
        </p:nvSpPr>
        <p:spPr>
          <a:xfrm>
            <a:off x="1124712" y="2240280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you will plant the seeds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8"/>
          <p:cNvSpPr/>
          <p:nvPr/>
        </p:nvSpPr>
        <p:spPr>
          <a:xfrm>
            <a:off x="502920" y="2807208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295" name="Google Shape;295;p8"/>
          <p:cNvSpPr/>
          <p:nvPr/>
        </p:nvSpPr>
        <p:spPr>
          <a:xfrm>
            <a:off x="612648" y="288036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296" name="Google Shape;296;p8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93979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297" name="Google Shape;297;p8"/>
          <p:cNvSpPr/>
          <p:nvPr/>
        </p:nvSpPr>
        <p:spPr>
          <a:xfrm>
            <a:off x="1124712" y="2807208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Where your pot should be kept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8"/>
          <p:cNvSpPr/>
          <p:nvPr/>
        </p:nvSpPr>
        <p:spPr>
          <a:xfrm>
            <a:off x="612648" y="344728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299" name="Google Shape;299;p8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350672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8"/>
          <p:cNvSpPr/>
          <p:nvPr/>
        </p:nvSpPr>
        <p:spPr>
          <a:xfrm>
            <a:off x="1124712" y="3374136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you will share responsibility for watering and checking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/>
          <p:nvPr/>
        </p:nvSpPr>
        <p:spPr>
          <a:xfrm>
            <a:off x="502920" y="3941064"/>
            <a:ext cx="8138160" cy="512064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02" name="Google Shape;302;p8"/>
          <p:cNvSpPr/>
          <p:nvPr/>
        </p:nvSpPr>
        <p:spPr>
          <a:xfrm>
            <a:off x="612648" y="401421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eck_forest.png" id="303" name="Google Shape;303;p8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407365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04" name="Google Shape;304;p8"/>
          <p:cNvSpPr/>
          <p:nvPr/>
        </p:nvSpPr>
        <p:spPr>
          <a:xfrm>
            <a:off x="1124712" y="3941064"/>
            <a:ext cx="7360920" cy="51206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you will know whether your plant is healthy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8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7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TextBox 30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308" name="Picture 307" descr="logo-m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3" name="Picture 342" descr="page_tex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11" name="Google Shape;311;p9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STEP BY STEP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9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Planting instructions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9"/>
          <p:cNvSpPr/>
          <p:nvPr/>
        </p:nvSpPr>
        <p:spPr>
          <a:xfrm>
            <a:off x="457200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4" name="Google Shape;314;p9"/>
          <p:cNvSpPr/>
          <p:nvPr/>
        </p:nvSpPr>
        <p:spPr>
          <a:xfrm>
            <a:off x="1191006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5" name="Google Shape;315;p9"/>
          <p:cNvSpPr/>
          <p:nvPr/>
        </p:nvSpPr>
        <p:spPr>
          <a:xfrm>
            <a:off x="1191006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1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9"/>
          <p:cNvSpPr/>
          <p:nvPr/>
        </p:nvSpPr>
        <p:spPr>
          <a:xfrm>
            <a:off x="566928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Fill a labelled pot with compost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9"/>
          <p:cNvSpPr/>
          <p:nvPr/>
        </p:nvSpPr>
        <p:spPr>
          <a:xfrm>
            <a:off x="2564892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8" name="Google Shape;318;p9"/>
          <p:cNvSpPr/>
          <p:nvPr/>
        </p:nvSpPr>
        <p:spPr>
          <a:xfrm>
            <a:off x="3298698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19" name="Google Shape;319;p9"/>
          <p:cNvSpPr/>
          <p:nvPr/>
        </p:nvSpPr>
        <p:spPr>
          <a:xfrm>
            <a:off x="3298698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2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9"/>
          <p:cNvSpPr/>
          <p:nvPr/>
        </p:nvSpPr>
        <p:spPr>
          <a:xfrm>
            <a:off x="2674620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Moisten the compost lightly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9"/>
          <p:cNvSpPr/>
          <p:nvPr/>
        </p:nvSpPr>
        <p:spPr>
          <a:xfrm>
            <a:off x="4672584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2" name="Google Shape;322;p9"/>
          <p:cNvSpPr/>
          <p:nvPr/>
        </p:nvSpPr>
        <p:spPr>
          <a:xfrm>
            <a:off x="5406390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3" name="Google Shape;323;p9"/>
          <p:cNvSpPr/>
          <p:nvPr/>
        </p:nvSpPr>
        <p:spPr>
          <a:xfrm>
            <a:off x="5406390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3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9"/>
          <p:cNvSpPr/>
          <p:nvPr/>
        </p:nvSpPr>
        <p:spPr>
          <a:xfrm>
            <a:off x="4782312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Plant several seeds at the right depth for your herb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9"/>
          <p:cNvSpPr/>
          <p:nvPr/>
        </p:nvSpPr>
        <p:spPr>
          <a:xfrm>
            <a:off x="6780276" y="1078992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6" name="Google Shape;326;p9"/>
          <p:cNvSpPr/>
          <p:nvPr/>
        </p:nvSpPr>
        <p:spPr>
          <a:xfrm>
            <a:off x="7514082" y="1225296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27" name="Google Shape;327;p9"/>
          <p:cNvSpPr/>
          <p:nvPr/>
        </p:nvSpPr>
        <p:spPr>
          <a:xfrm>
            <a:off x="7514082" y="1225296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9"/>
          <p:cNvSpPr/>
          <p:nvPr/>
        </p:nvSpPr>
        <p:spPr>
          <a:xfrm>
            <a:off x="6890004" y="1737360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Cover the seeds, if required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9"/>
          <p:cNvSpPr/>
          <p:nvPr/>
        </p:nvSpPr>
        <p:spPr>
          <a:xfrm>
            <a:off x="457200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0" name="Google Shape;330;p9"/>
          <p:cNvSpPr/>
          <p:nvPr/>
        </p:nvSpPr>
        <p:spPr>
          <a:xfrm>
            <a:off x="1191006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1" name="Google Shape;331;p9"/>
          <p:cNvSpPr/>
          <p:nvPr/>
        </p:nvSpPr>
        <p:spPr>
          <a:xfrm>
            <a:off x="1191006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5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9"/>
          <p:cNvSpPr/>
          <p:nvPr/>
        </p:nvSpPr>
        <p:spPr>
          <a:xfrm>
            <a:off x="566928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Place the pot in a suitable location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9"/>
          <p:cNvSpPr/>
          <p:nvPr/>
        </p:nvSpPr>
        <p:spPr>
          <a:xfrm>
            <a:off x="2564892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4" name="Google Shape;334;p9"/>
          <p:cNvSpPr/>
          <p:nvPr/>
        </p:nvSpPr>
        <p:spPr>
          <a:xfrm>
            <a:off x="3298698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5" name="Google Shape;335;p9"/>
          <p:cNvSpPr/>
          <p:nvPr/>
        </p:nvSpPr>
        <p:spPr>
          <a:xfrm>
            <a:off x="3298698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6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9"/>
          <p:cNvSpPr/>
          <p:nvPr/>
        </p:nvSpPr>
        <p:spPr>
          <a:xfrm>
            <a:off x="2674620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Keep the compost gently moist, and don’t overwater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9"/>
          <p:cNvSpPr/>
          <p:nvPr/>
        </p:nvSpPr>
        <p:spPr>
          <a:xfrm>
            <a:off x="4672584" y="2711196"/>
            <a:ext cx="1906524" cy="1431036"/>
          </a:xfrm>
          <a:prstGeom prst="roundRect">
            <a:avLst>
              <a:gd fmla="val 5112" name="adj"/>
            </a:avLst>
          </a:prstGeom>
          <a:solidFill>
            <a:srgbClr val="E4EED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8" name="Google Shape;338;p9"/>
          <p:cNvSpPr/>
          <p:nvPr/>
        </p:nvSpPr>
        <p:spPr>
          <a:xfrm>
            <a:off x="5406390" y="2857500"/>
            <a:ext cx="438912" cy="438912"/>
          </a:xfrm>
          <a:prstGeom prst="ellipse">
            <a:avLst/>
          </a:prstGeom>
          <a:solidFill>
            <a:srgbClr val="C9723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39" name="Google Shape;339;p9"/>
          <p:cNvSpPr/>
          <p:nvPr/>
        </p:nvSpPr>
        <p:spPr>
          <a:xfrm>
            <a:off x="5406390" y="2857500"/>
            <a:ext cx="438912" cy="4389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Cambria"/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Libre Caslon Display"/>
                <a:ea typeface="Cambria"/>
                <a:cs typeface="Cambria"/>
                <a:sym typeface="Cambria"/>
              </a:rPr>
              <a:t>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9"/>
          <p:cNvSpPr/>
          <p:nvPr/>
        </p:nvSpPr>
        <p:spPr>
          <a:xfrm>
            <a:off x="4782312" y="3369564"/>
            <a:ext cx="1687068" cy="6812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Record the planting 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9"/>
          <p:cNvSpPr/>
          <p:nvPr/>
        </p:nvSpPr>
        <p:spPr>
          <a:xfrm>
            <a:off x="502920" y="4251960"/>
            <a:ext cx="8138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Tiny seeds? Sow them on or close to the surface, not buried deep.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9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8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TextBox 343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345" name="Picture 344" descr="logo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Picture 375" descr="page_textur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48" name="Google Shape;348;p10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EVERY WEEK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0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Caring for your herb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0"/>
          <p:cNvSpPr/>
          <p:nvPr/>
        </p:nvSpPr>
        <p:spPr>
          <a:xfrm>
            <a:off x="502920" y="1170432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1" name="Google Shape;351;p10"/>
          <p:cNvSpPr/>
          <p:nvPr/>
        </p:nvSpPr>
        <p:spPr>
          <a:xfrm>
            <a:off x="612648" y="117957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earch_forest.png" id="352" name="Google Shape;352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084" y="123901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53" name="Google Shape;353;p10"/>
          <p:cNvSpPr/>
          <p:nvPr/>
        </p:nvSpPr>
        <p:spPr>
          <a:xfrm>
            <a:off x="1124712" y="1170432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Check whether the compost feels dry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0"/>
          <p:cNvSpPr/>
          <p:nvPr/>
        </p:nvSpPr>
        <p:spPr>
          <a:xfrm>
            <a:off x="612648" y="161848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355" name="Google Shape;35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72084" y="167792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56" name="Google Shape;356;p10"/>
          <p:cNvSpPr/>
          <p:nvPr/>
        </p:nvSpPr>
        <p:spPr>
          <a:xfrm>
            <a:off x="1124712" y="1609344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Water carefully when needed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0"/>
          <p:cNvSpPr/>
          <p:nvPr/>
        </p:nvSpPr>
        <p:spPr>
          <a:xfrm>
            <a:off x="502920" y="2048256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58" name="Google Shape;358;p10"/>
          <p:cNvSpPr/>
          <p:nvPr/>
        </p:nvSpPr>
        <p:spPr>
          <a:xfrm>
            <a:off x="612648" y="2057400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un_forest.png" id="359" name="Google Shape;359;p10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72084" y="2116836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0" name="Google Shape;360;p10"/>
          <p:cNvSpPr/>
          <p:nvPr/>
        </p:nvSpPr>
        <p:spPr>
          <a:xfrm>
            <a:off x="1124712" y="2048256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Make sure the plant gets suitable light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0"/>
          <p:cNvSpPr/>
          <p:nvPr/>
        </p:nvSpPr>
        <p:spPr>
          <a:xfrm>
            <a:off x="612648" y="2496312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sprout_forest.png" id="362" name="Google Shape;362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2084" y="2555748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10"/>
          <p:cNvSpPr/>
          <p:nvPr/>
        </p:nvSpPr>
        <p:spPr>
          <a:xfrm>
            <a:off x="1124712" y="2487168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Look out for new shoots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0"/>
          <p:cNvSpPr/>
          <p:nvPr/>
        </p:nvSpPr>
        <p:spPr>
          <a:xfrm>
            <a:off x="502920" y="2926080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65" name="Google Shape;365;p10"/>
          <p:cNvSpPr/>
          <p:nvPr/>
        </p:nvSpPr>
        <p:spPr>
          <a:xfrm>
            <a:off x="612648" y="2935224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366" name="Google Shape;366;p10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72084" y="2994660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67" name="Google Shape;367;p10"/>
          <p:cNvSpPr/>
          <p:nvPr/>
        </p:nvSpPr>
        <p:spPr>
          <a:xfrm>
            <a:off x="1124712" y="2926080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Remove weaker seedlings if the pot gets overcrowded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0"/>
          <p:cNvSpPr/>
          <p:nvPr/>
        </p:nvSpPr>
        <p:spPr>
          <a:xfrm>
            <a:off x="612648" y="3374136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369" name="Google Shape;369;p1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2084" y="3433572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10"/>
          <p:cNvSpPr/>
          <p:nvPr/>
        </p:nvSpPr>
        <p:spPr>
          <a:xfrm>
            <a:off x="1124712" y="3364992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Share responsibilities fairly with your partner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1" name="Google Shape;371;p10"/>
          <p:cNvSpPr/>
          <p:nvPr/>
        </p:nvSpPr>
        <p:spPr>
          <a:xfrm>
            <a:off x="502920" y="3803904"/>
            <a:ext cx="8138160" cy="384048"/>
          </a:xfrm>
          <a:prstGeom prst="rect">
            <a:avLst/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72" name="Google Shape;372;p10"/>
          <p:cNvSpPr/>
          <p:nvPr/>
        </p:nvSpPr>
        <p:spPr>
          <a:xfrm>
            <a:off x="612648" y="3813048"/>
            <a:ext cx="365760" cy="36576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hart_forest.png" id="373" name="Google Shape;373;p10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2084" y="3872484"/>
            <a:ext cx="246888" cy="246888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10"/>
          <p:cNvSpPr/>
          <p:nvPr/>
        </p:nvSpPr>
        <p:spPr>
          <a:xfrm>
            <a:off x="1124712" y="3803904"/>
            <a:ext cx="736092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Remember, some herbs grow much faster than others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9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TextBox 376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378" name="Picture 377" descr="logo-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380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9" name="Picture 418" descr="page_tex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81" name="Google Shape;381;p11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KEEP A RECORD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1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Track its progress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1"/>
          <p:cNvSpPr/>
          <p:nvPr/>
        </p:nvSpPr>
        <p:spPr>
          <a:xfrm>
            <a:off x="502920" y="1234440"/>
            <a:ext cx="8138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Each week, log: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" name="Google Shape;384;p11"/>
          <p:cNvSpPr/>
          <p:nvPr/>
        </p:nvSpPr>
        <p:spPr>
          <a:xfrm>
            <a:off x="502920" y="1600200"/>
            <a:ext cx="91440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5" name="Google Shape;385;p11"/>
          <p:cNvSpPr/>
          <p:nvPr/>
        </p:nvSpPr>
        <p:spPr>
          <a:xfrm>
            <a:off x="502920" y="1600200"/>
            <a:ext cx="914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Date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1"/>
          <p:cNvSpPr/>
          <p:nvPr/>
        </p:nvSpPr>
        <p:spPr>
          <a:xfrm>
            <a:off x="1417320" y="1600200"/>
            <a:ext cx="123444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7" name="Google Shape;387;p11"/>
          <p:cNvSpPr/>
          <p:nvPr/>
        </p:nvSpPr>
        <p:spPr>
          <a:xfrm>
            <a:off x="1417320" y="1600200"/>
            <a:ext cx="12344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Germinated?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1"/>
          <p:cNvSpPr/>
          <p:nvPr/>
        </p:nvSpPr>
        <p:spPr>
          <a:xfrm>
            <a:off x="2651760" y="1600200"/>
            <a:ext cx="91440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89" name="Google Shape;389;p11"/>
          <p:cNvSpPr/>
          <p:nvPr/>
        </p:nvSpPr>
        <p:spPr>
          <a:xfrm>
            <a:off x="2651760" y="1600200"/>
            <a:ext cx="914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Height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1"/>
          <p:cNvSpPr/>
          <p:nvPr/>
        </p:nvSpPr>
        <p:spPr>
          <a:xfrm>
            <a:off x="3566160" y="1600200"/>
            <a:ext cx="105156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1" name="Google Shape;391;p11"/>
          <p:cNvSpPr/>
          <p:nvPr/>
        </p:nvSpPr>
        <p:spPr>
          <a:xfrm>
            <a:off x="3566160" y="1600200"/>
            <a:ext cx="1051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Leaves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1"/>
          <p:cNvSpPr/>
          <p:nvPr/>
        </p:nvSpPr>
        <p:spPr>
          <a:xfrm>
            <a:off x="4617720" y="1600200"/>
            <a:ext cx="192024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3" name="Google Shape;393;p11"/>
          <p:cNvSpPr/>
          <p:nvPr/>
        </p:nvSpPr>
        <p:spPr>
          <a:xfrm>
            <a:off x="4617720" y="1600200"/>
            <a:ext cx="192024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Problems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1"/>
          <p:cNvSpPr/>
          <p:nvPr/>
        </p:nvSpPr>
        <p:spPr>
          <a:xfrm>
            <a:off x="6537960" y="1600200"/>
            <a:ext cx="2194560" cy="502920"/>
          </a:xfrm>
          <a:prstGeom prst="rect">
            <a:avLst/>
          </a:prstGeom>
          <a:solidFill>
            <a:srgbClr val="41A45D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5" name="Google Shape;395;p11"/>
          <p:cNvSpPr/>
          <p:nvPr/>
        </p:nvSpPr>
        <p:spPr>
          <a:xfrm>
            <a:off x="6537960" y="1600200"/>
            <a:ext cx="21945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Karla"/>
                <a:ea typeface="Calibri"/>
                <a:cs typeface="Calibri"/>
                <a:sym typeface="Calibri"/>
              </a:rPr>
              <a:t>What we did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11"/>
          <p:cNvSpPr/>
          <p:nvPr/>
        </p:nvSpPr>
        <p:spPr>
          <a:xfrm>
            <a:off x="502920" y="210312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7" name="Google Shape;397;p11"/>
          <p:cNvSpPr/>
          <p:nvPr/>
        </p:nvSpPr>
        <p:spPr>
          <a:xfrm>
            <a:off x="1417320" y="2103120"/>
            <a:ext cx="12344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8" name="Google Shape;398;p11"/>
          <p:cNvSpPr/>
          <p:nvPr/>
        </p:nvSpPr>
        <p:spPr>
          <a:xfrm>
            <a:off x="2651760" y="210312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399" name="Google Shape;399;p11"/>
          <p:cNvSpPr/>
          <p:nvPr/>
        </p:nvSpPr>
        <p:spPr>
          <a:xfrm>
            <a:off x="3566160" y="2103120"/>
            <a:ext cx="1051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0" name="Google Shape;400;p11"/>
          <p:cNvSpPr/>
          <p:nvPr/>
        </p:nvSpPr>
        <p:spPr>
          <a:xfrm>
            <a:off x="4617720" y="2103120"/>
            <a:ext cx="19202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1" name="Google Shape;401;p11"/>
          <p:cNvSpPr/>
          <p:nvPr/>
        </p:nvSpPr>
        <p:spPr>
          <a:xfrm>
            <a:off x="6537960" y="2103120"/>
            <a:ext cx="2194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2" name="Google Shape;402;p11"/>
          <p:cNvSpPr/>
          <p:nvPr/>
        </p:nvSpPr>
        <p:spPr>
          <a:xfrm>
            <a:off x="502920" y="2606040"/>
            <a:ext cx="91440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3" name="Google Shape;403;p11"/>
          <p:cNvSpPr/>
          <p:nvPr/>
        </p:nvSpPr>
        <p:spPr>
          <a:xfrm>
            <a:off x="1417320" y="2606040"/>
            <a:ext cx="123444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4" name="Google Shape;404;p11"/>
          <p:cNvSpPr/>
          <p:nvPr/>
        </p:nvSpPr>
        <p:spPr>
          <a:xfrm>
            <a:off x="2651760" y="2606040"/>
            <a:ext cx="91440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5" name="Google Shape;405;p11"/>
          <p:cNvSpPr/>
          <p:nvPr/>
        </p:nvSpPr>
        <p:spPr>
          <a:xfrm>
            <a:off x="3566160" y="2606040"/>
            <a:ext cx="105156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6" name="Google Shape;406;p11"/>
          <p:cNvSpPr/>
          <p:nvPr/>
        </p:nvSpPr>
        <p:spPr>
          <a:xfrm>
            <a:off x="4617720" y="2606040"/>
            <a:ext cx="192024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7" name="Google Shape;407;p11"/>
          <p:cNvSpPr/>
          <p:nvPr/>
        </p:nvSpPr>
        <p:spPr>
          <a:xfrm>
            <a:off x="6537960" y="2606040"/>
            <a:ext cx="2194560" cy="502920"/>
          </a:xfrm>
          <a:prstGeom prst="rect">
            <a:avLst/>
          </a:prstGeom>
          <a:solidFill>
            <a:srgbClr val="F3F7EE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8" name="Google Shape;408;p11"/>
          <p:cNvSpPr/>
          <p:nvPr/>
        </p:nvSpPr>
        <p:spPr>
          <a:xfrm>
            <a:off x="502920" y="310896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09" name="Google Shape;409;p11"/>
          <p:cNvSpPr/>
          <p:nvPr/>
        </p:nvSpPr>
        <p:spPr>
          <a:xfrm>
            <a:off x="1417320" y="3108960"/>
            <a:ext cx="12344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0" name="Google Shape;410;p11"/>
          <p:cNvSpPr/>
          <p:nvPr/>
        </p:nvSpPr>
        <p:spPr>
          <a:xfrm>
            <a:off x="2651760" y="3108960"/>
            <a:ext cx="91440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1" name="Google Shape;411;p11"/>
          <p:cNvSpPr/>
          <p:nvPr/>
        </p:nvSpPr>
        <p:spPr>
          <a:xfrm>
            <a:off x="3566160" y="3108960"/>
            <a:ext cx="1051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2" name="Google Shape;412;p11"/>
          <p:cNvSpPr/>
          <p:nvPr/>
        </p:nvSpPr>
        <p:spPr>
          <a:xfrm>
            <a:off x="4617720" y="3108960"/>
            <a:ext cx="192024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3" name="Google Shape;413;p11"/>
          <p:cNvSpPr/>
          <p:nvPr/>
        </p:nvSpPr>
        <p:spPr>
          <a:xfrm>
            <a:off x="6537960" y="3108960"/>
            <a:ext cx="2194560" cy="50292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4EED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4" name="Google Shape;414;p11"/>
          <p:cNvSpPr/>
          <p:nvPr/>
        </p:nvSpPr>
        <p:spPr>
          <a:xfrm>
            <a:off x="502920" y="3886200"/>
            <a:ext cx="8138160" cy="777240"/>
          </a:xfrm>
          <a:prstGeom prst="roundRect">
            <a:avLst>
              <a:gd fmla="val 9412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15" name="Google Shape;415;p11"/>
          <p:cNvSpPr/>
          <p:nvPr/>
        </p:nvSpPr>
        <p:spPr>
          <a:xfrm>
            <a:off x="685800" y="4032504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mera_forest.png" id="416" name="Google Shape;416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58952" y="4105656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417" name="Google Shape;417;p11"/>
          <p:cNvSpPr/>
          <p:nvPr/>
        </p:nvSpPr>
        <p:spPr>
          <a:xfrm>
            <a:off x="1417320" y="3886200"/>
            <a:ext cx="704088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Take a photo each week and build a gallery of your herb’s journey from seed to harvest!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1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10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TextBox 419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421" name="Picture 420" descr="logo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0" name="Picture 469" descr="page_textur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24" name="Google Shape;424;p12"/>
          <p:cNvSpPr/>
          <p:nvPr/>
        </p:nvSpPr>
        <p:spPr>
          <a:xfrm>
            <a:off x="502920" y="292608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THE BEST PART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2"/>
          <p:cNvSpPr/>
          <p:nvPr/>
        </p:nvSpPr>
        <p:spPr>
          <a:xfrm>
            <a:off x="457200" y="530352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The family cooking challenge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2"/>
          <p:cNvSpPr/>
          <p:nvPr/>
        </p:nvSpPr>
        <p:spPr>
          <a:xfrm>
            <a:off x="457200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27" name="Google Shape;427;p12"/>
          <p:cNvSpPr/>
          <p:nvPr/>
        </p:nvSpPr>
        <p:spPr>
          <a:xfrm>
            <a:off x="621792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utensils_forest.png" id="428" name="Google Shape;428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81228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12"/>
          <p:cNvSpPr/>
          <p:nvPr/>
        </p:nvSpPr>
        <p:spPr>
          <a:xfrm>
            <a:off x="1097280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Cook for your family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2"/>
          <p:cNvSpPr/>
          <p:nvPr/>
        </p:nvSpPr>
        <p:spPr>
          <a:xfrm>
            <a:off x="621792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Use your herb in a meal you prepare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2"/>
          <p:cNvSpPr/>
          <p:nvPr/>
        </p:nvSpPr>
        <p:spPr>
          <a:xfrm>
            <a:off x="3267456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2" name="Google Shape;432;p12"/>
          <p:cNvSpPr/>
          <p:nvPr/>
        </p:nvSpPr>
        <p:spPr>
          <a:xfrm>
            <a:off x="3432048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forest.png" id="433" name="Google Shape;433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491484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12"/>
          <p:cNvSpPr/>
          <p:nvPr/>
        </p:nvSpPr>
        <p:spPr>
          <a:xfrm>
            <a:off x="3907536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Choose wisely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p12"/>
          <p:cNvSpPr/>
          <p:nvPr/>
        </p:nvSpPr>
        <p:spPr>
          <a:xfrm>
            <a:off x="3432048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Pick a dish that suits your herb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2"/>
          <p:cNvSpPr/>
          <p:nvPr/>
        </p:nvSpPr>
        <p:spPr>
          <a:xfrm>
            <a:off x="6077712" y="1188735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37" name="Google Shape;437;p12"/>
          <p:cNvSpPr/>
          <p:nvPr/>
        </p:nvSpPr>
        <p:spPr>
          <a:xfrm>
            <a:off x="6242304" y="1353327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tint_forest.png" id="438" name="Google Shape;438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01740" y="1412763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9" name="Google Shape;439;p12"/>
          <p:cNvSpPr/>
          <p:nvPr/>
        </p:nvSpPr>
        <p:spPr>
          <a:xfrm>
            <a:off x="6717792" y="1335039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Wash first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12"/>
          <p:cNvSpPr/>
          <p:nvPr/>
        </p:nvSpPr>
        <p:spPr>
          <a:xfrm>
            <a:off x="6242304" y="1755663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Rinse the herb before using it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2"/>
          <p:cNvSpPr/>
          <p:nvPr/>
        </p:nvSpPr>
        <p:spPr>
          <a:xfrm>
            <a:off x="457200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2" name="Google Shape;442;p12"/>
          <p:cNvSpPr/>
          <p:nvPr/>
        </p:nvSpPr>
        <p:spPr>
          <a:xfrm>
            <a:off x="621792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ut_forest.png" id="443" name="Google Shape;443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1228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12"/>
          <p:cNvSpPr/>
          <p:nvPr/>
        </p:nvSpPr>
        <p:spPr>
          <a:xfrm>
            <a:off x="1097280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Harvest sensibly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2"/>
          <p:cNvSpPr/>
          <p:nvPr/>
        </p:nvSpPr>
        <p:spPr>
          <a:xfrm>
            <a:off x="621792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Take only enough so the plant keeps growing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2"/>
          <p:cNvSpPr/>
          <p:nvPr/>
        </p:nvSpPr>
        <p:spPr>
          <a:xfrm>
            <a:off x="3267456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47" name="Google Shape;447;p12"/>
          <p:cNvSpPr/>
          <p:nvPr/>
        </p:nvSpPr>
        <p:spPr>
          <a:xfrm>
            <a:off x="3432048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hands_forest.png" id="448" name="Google Shape;448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3491484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9" name="Google Shape;449;p12"/>
          <p:cNvSpPr/>
          <p:nvPr/>
        </p:nvSpPr>
        <p:spPr>
          <a:xfrm>
            <a:off x="3907536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Get support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2"/>
          <p:cNvSpPr/>
          <p:nvPr/>
        </p:nvSpPr>
        <p:spPr>
          <a:xfrm>
            <a:off x="3432048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Ask an adult to help or supervise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2"/>
          <p:cNvSpPr/>
          <p:nvPr/>
        </p:nvSpPr>
        <p:spPr>
          <a:xfrm>
            <a:off x="6077712" y="2455179"/>
            <a:ext cx="2609100" cy="1065300"/>
          </a:xfrm>
          <a:prstGeom prst="roundRect">
            <a:avLst>
              <a:gd fmla="val 6867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2" name="Google Shape;452;p12"/>
          <p:cNvSpPr/>
          <p:nvPr/>
        </p:nvSpPr>
        <p:spPr>
          <a:xfrm>
            <a:off x="6242304" y="2619771"/>
            <a:ext cx="384000" cy="384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camera_forest.png" id="453" name="Google Shape;453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301740" y="2679207"/>
            <a:ext cx="265176" cy="265176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12"/>
          <p:cNvSpPr/>
          <p:nvPr/>
        </p:nvSpPr>
        <p:spPr>
          <a:xfrm>
            <a:off x="6717792" y="2601483"/>
            <a:ext cx="18045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1A45D"/>
              </a:buClr>
              <a:buSzPts val="1250"/>
              <a:buFont typeface="Cambria"/>
              <a:buNone/>
            </a:pPr>
            <a:r>
              <a:rPr b="1" i="0" lang="en-US" sz="125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Capture it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12"/>
          <p:cNvSpPr/>
          <p:nvPr/>
        </p:nvSpPr>
        <p:spPr>
          <a:xfrm>
            <a:off x="6242304" y="3022107"/>
            <a:ext cx="2280000" cy="40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4F7B4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Photograph the finished dish as your evidence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" name="Google Shape;456;p12"/>
          <p:cNvSpPr/>
          <p:nvPr/>
        </p:nvSpPr>
        <p:spPr>
          <a:xfrm>
            <a:off x="502920" y="3584448"/>
            <a:ext cx="81381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B1C69A"/>
                </a:solidFill>
                <a:latin typeface="Karla"/>
                <a:ea typeface="Calibri"/>
                <a:cs typeface="Calibri"/>
                <a:sym typeface="Calibri"/>
              </a:rPr>
              <a:t>A FEW IDEAS TO GET YOU STARTED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12"/>
          <p:cNvSpPr/>
          <p:nvPr/>
        </p:nvSpPr>
        <p:spPr>
          <a:xfrm>
            <a:off x="50292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58" name="Google Shape;458;p12"/>
          <p:cNvSpPr/>
          <p:nvPr/>
        </p:nvSpPr>
        <p:spPr>
          <a:xfrm>
            <a:off x="50292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Basil pasta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2"/>
          <p:cNvSpPr/>
          <p:nvPr/>
        </p:nvSpPr>
        <p:spPr>
          <a:xfrm>
            <a:off x="326136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0" name="Google Shape;460;p12"/>
          <p:cNvSpPr/>
          <p:nvPr/>
        </p:nvSpPr>
        <p:spPr>
          <a:xfrm>
            <a:off x="326136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Dill potatoes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12"/>
          <p:cNvSpPr/>
          <p:nvPr/>
        </p:nvSpPr>
        <p:spPr>
          <a:xfrm>
            <a:off x="6019800" y="3877056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2" name="Google Shape;462;p12"/>
          <p:cNvSpPr/>
          <p:nvPr/>
        </p:nvSpPr>
        <p:spPr>
          <a:xfrm>
            <a:off x="6019800" y="3877056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Coriander noodles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2"/>
          <p:cNvSpPr/>
          <p:nvPr/>
        </p:nvSpPr>
        <p:spPr>
          <a:xfrm>
            <a:off x="50292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4" name="Google Shape;464;p12"/>
          <p:cNvSpPr/>
          <p:nvPr/>
        </p:nvSpPr>
        <p:spPr>
          <a:xfrm>
            <a:off x="50292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Rosemary roast potatoes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2"/>
          <p:cNvSpPr/>
          <p:nvPr/>
        </p:nvSpPr>
        <p:spPr>
          <a:xfrm>
            <a:off x="326136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6" name="Google Shape;466;p12"/>
          <p:cNvSpPr/>
          <p:nvPr/>
        </p:nvSpPr>
        <p:spPr>
          <a:xfrm>
            <a:off x="326136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Chive scrambled eggs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2"/>
          <p:cNvSpPr/>
          <p:nvPr/>
        </p:nvSpPr>
        <p:spPr>
          <a:xfrm>
            <a:off x="6019800" y="4370832"/>
            <a:ext cx="2621280" cy="384048"/>
          </a:xfrm>
          <a:prstGeom prst="roundRect">
            <a:avLst>
              <a:gd fmla="val 50000" name="adj"/>
            </a:avLst>
          </a:prstGeom>
          <a:solidFill>
            <a:srgbClr val="F0DCC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68" name="Google Shape;468;p12"/>
          <p:cNvSpPr/>
          <p:nvPr/>
        </p:nvSpPr>
        <p:spPr>
          <a:xfrm>
            <a:off x="6019800" y="4370832"/>
            <a:ext cx="262128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532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A3532A"/>
                </a:solidFill>
                <a:latin typeface="Karla"/>
                <a:ea typeface="Calibri"/>
                <a:cs typeface="Calibri"/>
                <a:sym typeface="Calibri"/>
              </a:rPr>
              <a:t>Thai basil stir-fry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2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11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TextBox 470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472" name="Picture 471" descr="logo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8F3"/>
        </a:solidFill>
      </p:bgPr>
    </p:bg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7" name="Picture 496" descr="page_tex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75" name="Google Shape;475;p13"/>
          <p:cNvSpPr/>
          <p:nvPr/>
        </p:nvSpPr>
        <p:spPr>
          <a:xfrm>
            <a:off x="457200" y="365760"/>
            <a:ext cx="8229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000"/>
              <a:buFont typeface="Cambria"/>
              <a:buNone/>
            </a:pPr>
            <a:r>
              <a:rPr b="1" i="0" lang="en-US" sz="3000" u="none" cap="none" strike="noStrike">
                <a:solidFill>
                  <a:srgbClr val="5E8B6E"/>
                </a:solidFill>
                <a:latin typeface="Libre Caslon Display"/>
                <a:ea typeface="Cambria"/>
                <a:cs typeface="Cambria"/>
                <a:sym typeface="Cambria"/>
              </a:rPr>
              <a:t>Share &amp; reflect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3"/>
          <p:cNvSpPr/>
          <p:nvPr/>
        </p:nvSpPr>
        <p:spPr>
          <a:xfrm>
            <a:off x="502920" y="960120"/>
            <a:ext cx="81381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EF4E7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5C6552"/>
                </a:solidFill>
                <a:latin typeface="Karla"/>
                <a:ea typeface="Calibri"/>
                <a:cs typeface="Calibri"/>
                <a:sym typeface="Calibri"/>
              </a:rPr>
              <a:t>When you’ve cooked your dish, share your photo and tell us: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3"/>
          <p:cNvSpPr/>
          <p:nvPr/>
        </p:nvSpPr>
        <p:spPr>
          <a:xfrm>
            <a:off x="502920" y="14356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0" name="Google Shape;48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4813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p13"/>
          <p:cNvSpPr/>
          <p:nvPr/>
        </p:nvSpPr>
        <p:spPr>
          <a:xfrm>
            <a:off x="960120" y="14173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dish did you make?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" name="Google Shape;482;p13"/>
          <p:cNvSpPr/>
          <p:nvPr/>
        </p:nvSpPr>
        <p:spPr>
          <a:xfrm>
            <a:off x="502920" y="18928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3" name="Google Shape;483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19385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13"/>
          <p:cNvSpPr/>
          <p:nvPr/>
        </p:nvSpPr>
        <p:spPr>
          <a:xfrm>
            <a:off x="960120" y="18745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How did you use your herb?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3"/>
          <p:cNvSpPr/>
          <p:nvPr/>
        </p:nvSpPr>
        <p:spPr>
          <a:xfrm>
            <a:off x="502920" y="23500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6" name="Google Shape;486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23957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13"/>
          <p:cNvSpPr/>
          <p:nvPr/>
        </p:nvSpPr>
        <p:spPr>
          <a:xfrm>
            <a:off x="960120" y="23317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Who did you cook for?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3"/>
          <p:cNvSpPr/>
          <p:nvPr/>
        </p:nvSpPr>
        <p:spPr>
          <a:xfrm>
            <a:off x="502920" y="28072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89" name="Google Shape;489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28529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13"/>
          <p:cNvSpPr/>
          <p:nvPr/>
        </p:nvSpPr>
        <p:spPr>
          <a:xfrm>
            <a:off x="960120" y="27889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went well?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13"/>
          <p:cNvSpPr/>
          <p:nvPr/>
        </p:nvSpPr>
        <p:spPr>
          <a:xfrm>
            <a:off x="502920" y="3264408"/>
            <a:ext cx="292608" cy="292608"/>
          </a:xfrm>
          <a:prstGeom prst="ellipse">
            <a:avLst/>
          </a:prstGeom>
          <a:solidFill>
            <a:srgbClr val="39985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pic>
        <p:nvPicPr>
          <p:cNvPr descr="/home/claude/planting-project/icons/leaf_white.png" id="492" name="Google Shape;492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640" y="3310128"/>
            <a:ext cx="201168" cy="201168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13"/>
          <p:cNvSpPr/>
          <p:nvPr/>
        </p:nvSpPr>
        <p:spPr>
          <a:xfrm>
            <a:off x="960120" y="3246120"/>
            <a:ext cx="7589520" cy="40233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4F7B4F"/>
                </a:solidFill>
                <a:latin typeface="Karla"/>
                <a:ea typeface="Calibri"/>
                <a:cs typeface="Calibri"/>
                <a:sym typeface="Calibri"/>
              </a:rPr>
              <a:t>What did you learn about growing plants or cooking for others?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3"/>
          <p:cNvSpPr/>
          <p:nvPr/>
        </p:nvSpPr>
        <p:spPr>
          <a:xfrm>
            <a:off x="502920" y="3840480"/>
            <a:ext cx="8138160" cy="621792"/>
          </a:xfrm>
          <a:prstGeom prst="roundRect">
            <a:avLst>
              <a:gd fmla="val 14706" name="adj"/>
            </a:avLst>
          </a:prstGeom>
          <a:solidFill>
            <a:srgbClr val="F3F7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/>
              <a:t/>
            </a:r>
            <a:endParaRPr/>
          </a:p>
        </p:txBody>
      </p:sp>
      <p:sp>
        <p:nvSpPr>
          <p:cNvPr id="495" name="Google Shape;495;p13"/>
          <p:cNvSpPr/>
          <p:nvPr/>
        </p:nvSpPr>
        <p:spPr>
          <a:xfrm>
            <a:off x="777240" y="3840480"/>
            <a:ext cx="7589520" cy="62179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1C69A"/>
              </a:buClr>
              <a:buSzPts val="1400"/>
              <a:buFont typeface="Cambria"/>
              <a:buNone/>
            </a:pPr>
            <a:r>
              <a:rPr b="1" i="1" lang="en-US" sz="1400" u="none" cap="none" strike="noStrike">
                <a:solidFill>
                  <a:srgbClr val="41A45D"/>
                </a:solidFill>
                <a:latin typeface="Libre Caslon Display"/>
                <a:ea typeface="Cambria"/>
                <a:cs typeface="Cambria"/>
                <a:sym typeface="Cambria"/>
              </a:rPr>
              <a:t>Great teamwork, real responsibility, and something thoughtful for the people at home. Well done!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3"/>
          <p:cNvSpPr/>
          <p:nvPr/>
        </p:nvSpPr>
        <p:spPr>
          <a:xfrm>
            <a:off x="8229600" y="486460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899B86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899B86"/>
                </a:solidFill>
                <a:latin typeface="Karla"/>
                <a:ea typeface="Calibri"/>
                <a:cs typeface="Calibri"/>
                <a:sym typeface="Calibri"/>
              </a:rPr>
              <a:t>12 / 12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TextBox 497"/>
          <p:cNvSpPr txBox="1"/>
          <p:nvPr/>
        </p:nvSpPr>
        <p:spPr>
          <a:xfrm>
            <a:off x="420624" y="4759452"/>
            <a:ext cx="23774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i="1">
                <a:solidFill>
                  <a:srgbClr val="8B9179"/>
                </a:solidFill>
                <a:latin typeface="Karla"/>
              </a:rPr>
              <a:t>The Pastoral Guide</a:t>
            </a:r>
          </a:p>
        </p:txBody>
      </p:sp>
      <p:pic>
        <p:nvPicPr>
          <p:cNvPr id="499" name="Picture 498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58445" y="274320"/>
            <a:ext cx="633751" cy="731520"/>
          </a:xfrm>
          <a:prstGeom prst="rect">
            <a:avLst/>
          </a:prstGeom>
        </p:spPr>
      </p:pic>
      <p:pic>
        <p:nvPicPr>
          <p:cNvPr id="500" name="Picture 499" descr="logo-m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6505" y="4768596"/>
            <a:ext cx="116214" cy="13414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Planting Project: the slides</dc:title>
  <dc:subject>A free pastoral resource for form tutors, from The Pastoral Guide, thepastoralguide.com</dc:subject>
  <dc:creator>The Pastoral Guide</dc:creator>
  <cp:keywords>form time, tutor time, pastoral, PSHE, secondary, free</cp:keywords>
  <dc:description>A free pastoral resource for form tutors, from The Pastoral Guide, thepastoralguide.com</dc:description>
  <cp:lastModifiedBy>The Pastoral Guide</cp:lastModifiedBy>
  <cp:revision>1</cp:revision>
  <dcterms:created xsi:type="dcterms:W3CDTF">2026-09-14T05:55:02Z</dcterms:created>
  <dcterms:modified xsi:type="dcterms:W3CDTF">2026-09-14T05:55:02Z</dcterms:modified>
  <cp:category>Pastoral resources</cp:category>
</cp:coreProperties>
</file>