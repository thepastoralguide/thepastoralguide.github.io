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34322F"/>
                </a:solidFill>
                <a:latin typeface="Karla"/>
              </a:rPr>
              <a:t>TUTOR TIME  ·  QUESTION THE HEADLINE  ·  LESSON 1 OF 5</a:t>
            </a:r>
          </a:p>
        </p:txBody>
      </p:sp>
      <p:sp>
        <p:nvSpPr>
          <p:cNvPr id="4" name="Rectangle 3"/>
          <p:cNvSpPr/>
          <p:nvPr/>
        </p:nvSpPr>
        <p:spPr>
          <a:xfrm>
            <a:off x="685800" y="621792"/>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685800" y="658368"/>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6" name="Rectangle 5"/>
          <p:cNvSpPr/>
          <p:nvPr/>
        </p:nvSpPr>
        <p:spPr>
          <a:xfrm>
            <a:off x="685800" y="1170432"/>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685800" y="1207007"/>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BOSTON, 1967</a:t>
            </a:r>
          </a:p>
        </p:txBody>
      </p:sp>
      <p:sp>
        <p:nvSpPr>
          <p:cNvPr id="8" name="TextBox 7"/>
          <p:cNvSpPr txBox="1"/>
          <p:nvPr/>
        </p:nvSpPr>
        <p:spPr>
          <a:xfrm>
            <a:off x="3108960" y="1207007"/>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9" name="TextBox 8"/>
          <p:cNvSpPr txBox="1"/>
          <p:nvPr/>
        </p:nvSpPr>
        <p:spPr>
          <a:xfrm>
            <a:off x="5532120" y="1207007"/>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TUTOR TIME</a:t>
            </a:r>
          </a:p>
        </p:txBody>
      </p:sp>
      <p:sp>
        <p:nvSpPr>
          <p:cNvPr id="10" name="Rectangle 9"/>
          <p:cNvSpPr/>
          <p:nvPr/>
        </p:nvSpPr>
        <p:spPr>
          <a:xfrm>
            <a:off x="685800" y="1426464"/>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548640" y="1810512"/>
            <a:ext cx="8046720" cy="731520"/>
          </a:xfrm>
          <a:prstGeom prst="rect">
            <a:avLst/>
          </a:prstGeom>
          <a:noFill/>
          <a:effectLst/>
        </p:spPr>
        <p:txBody>
          <a:bodyPr wrap="square" anchor="t" lIns="0" rIns="0" tIns="0" bIns="0">
            <a:spAutoFit/>
          </a:bodyPr>
          <a:lstStyle/>
          <a:p>
            <a:pPr algn="ctr">
              <a:lnSpc>
                <a:spcPct val="100000"/>
              </a:lnSpc>
              <a:spcAft>
                <a:spcPts val="0"/>
              </a:spcAft>
            </a:pPr>
            <a:r>
              <a:rPr sz="4200" b="1" i="0">
                <a:solidFill>
                  <a:srgbClr val="262422"/>
                </a:solidFill>
                <a:latin typeface="Libre Caslon Display"/>
              </a:rPr>
              <a:t>Who Paid for the Science?</a:t>
            </a:r>
          </a:p>
        </p:txBody>
      </p:sp>
      <p:sp>
        <p:nvSpPr>
          <p:cNvPr id="12" name="Rectangle 11"/>
          <p:cNvSpPr/>
          <p:nvPr/>
        </p:nvSpPr>
        <p:spPr>
          <a:xfrm>
            <a:off x="4069080" y="2761488"/>
            <a:ext cx="1005840" cy="18288"/>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22960" y="2944368"/>
            <a:ext cx="7498079" cy="365760"/>
          </a:xfrm>
          <a:prstGeom prst="rect">
            <a:avLst/>
          </a:prstGeom>
          <a:noFill/>
          <a:effectLst/>
        </p:spPr>
        <p:txBody>
          <a:bodyPr wrap="square" anchor="t" lIns="0" rIns="0" tIns="0" bIns="0">
            <a:spAutoFit/>
          </a:bodyPr>
          <a:lstStyle/>
          <a:p>
            <a:pPr algn="ctr">
              <a:lnSpc>
                <a:spcPct val="125000"/>
              </a:lnSpc>
              <a:spcAft>
                <a:spcPts val="0"/>
              </a:spcAft>
            </a:pPr>
            <a:r>
              <a:rPr sz="1600" b="0" i="0">
                <a:solidFill>
                  <a:srgbClr val="56524B"/>
                </a:solidFill>
                <a:latin typeface="Karla"/>
              </a:rPr>
              <a:t>A claim that was printed as true, and four pieces of evidence to test it.</a:t>
            </a:r>
          </a:p>
        </p:txBody>
      </p:sp>
      <p:sp>
        <p:nvSpPr>
          <p:cNvPr id="14" name="Rounded Rectangle 13"/>
          <p:cNvSpPr/>
          <p:nvPr/>
        </p:nvSpPr>
        <p:spPr>
          <a:xfrm>
            <a:off x="3928051" y="3584448"/>
            <a:ext cx="128789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VOLUME ONE</a:t>
            </a:r>
          </a:p>
        </p:txBody>
      </p:sp>
      <p:pic>
        <p:nvPicPr>
          <p:cNvPr id="15" name="Picture 1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6" name="TextBox 1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7" name="TextBox 1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 / 19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269682"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TEACHER SLIDE  ·  SKIP IT</a:t>
            </a:r>
          </a:p>
        </p:txBody>
      </p:sp>
      <p:sp>
        <p:nvSpPr>
          <p:cNvPr id="4" name="TextBox 3"/>
          <p:cNvSpPr txBox="1"/>
          <p:nvPr/>
        </p:nvSpPr>
        <p:spPr>
          <a:xfrm>
            <a:off x="685800" y="65836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Before the lesson</a:t>
            </a:r>
          </a:p>
        </p:txBody>
      </p:sp>
      <p:sp>
        <p:nvSpPr>
          <p:cNvPr id="5" name="TextBox 4"/>
          <p:cNvSpPr txBox="1"/>
          <p:nvPr/>
        </p:nvSpPr>
        <p:spPr>
          <a:xfrm>
            <a:off x="685800" y="1188720"/>
            <a:ext cx="7772400" cy="420624"/>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This lesson is about who pays for research, and why readers need to be told.</a:t>
            </a:r>
          </a:p>
        </p:txBody>
      </p:sp>
      <p:sp>
        <p:nvSpPr>
          <p:cNvPr id="6" name="Rectangle 5"/>
          <p:cNvSpPr/>
          <p:nvPr/>
        </p:nvSpPr>
        <p:spPr>
          <a:xfrm>
            <a:off x="685800" y="1682496"/>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68680" y="1783080"/>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868680" y="1865376"/>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1</a:t>
            </a:r>
          </a:p>
        </p:txBody>
      </p:sp>
      <p:sp>
        <p:nvSpPr>
          <p:cNvPr id="9" name="TextBox 8"/>
          <p:cNvSpPr txBox="1"/>
          <p:nvPr/>
        </p:nvSpPr>
        <p:spPr>
          <a:xfrm>
            <a:off x="1399032" y="1764792"/>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and cut the evidence cards</a:t>
            </a:r>
          </a:p>
        </p:txBody>
      </p:sp>
      <p:sp>
        <p:nvSpPr>
          <p:cNvPr id="10" name="TextBox 9"/>
          <p:cNvSpPr txBox="1"/>
          <p:nvPr/>
        </p:nvSpPr>
        <p:spPr>
          <a:xfrm>
            <a:off x="1399032" y="2002536"/>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One set of four per group of three or four. Keep them in order, A to D.</a:t>
            </a:r>
          </a:p>
        </p:txBody>
      </p:sp>
      <p:sp>
        <p:nvSpPr>
          <p:cNvPr id="11" name="Rectangle 10"/>
          <p:cNvSpPr/>
          <p:nvPr/>
        </p:nvSpPr>
        <p:spPr>
          <a:xfrm>
            <a:off x="685800" y="2340864"/>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41448"/>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23744"/>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2</a:t>
            </a:r>
          </a:p>
        </p:txBody>
      </p:sp>
      <p:sp>
        <p:nvSpPr>
          <p:cNvPr id="14" name="TextBox 13"/>
          <p:cNvSpPr txBox="1"/>
          <p:nvPr/>
        </p:nvSpPr>
        <p:spPr>
          <a:xfrm>
            <a:off x="1399032" y="2423160"/>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Print two sheets per student</a:t>
            </a:r>
          </a:p>
        </p:txBody>
      </p:sp>
      <p:sp>
        <p:nvSpPr>
          <p:cNvPr id="15" name="TextBox 14"/>
          <p:cNvSpPr txBox="1"/>
          <p:nvPr/>
        </p:nvSpPr>
        <p:spPr>
          <a:xfrm>
            <a:off x="1399032" y="2660904"/>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This lesson’s evidence sheet, and the front page sheet, which is the same every lesson.</a:t>
            </a:r>
          </a:p>
        </p:txBody>
      </p:sp>
      <p:sp>
        <p:nvSpPr>
          <p:cNvPr id="16" name="Rectangle 15"/>
          <p:cNvSpPr/>
          <p:nvPr/>
        </p:nvSpPr>
        <p:spPr>
          <a:xfrm>
            <a:off x="685800" y="2999232"/>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68680" y="3099816"/>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868680" y="3182112"/>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3</a:t>
            </a:r>
          </a:p>
        </p:txBody>
      </p:sp>
      <p:sp>
        <p:nvSpPr>
          <p:cNvPr id="19" name="TextBox 18"/>
          <p:cNvSpPr txBox="1"/>
          <p:nvPr/>
        </p:nvSpPr>
        <p:spPr>
          <a:xfrm>
            <a:off x="1399032" y="3081528"/>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Mark out the line</a:t>
            </a:r>
          </a:p>
        </p:txBody>
      </p:sp>
      <p:sp>
        <p:nvSpPr>
          <p:cNvPr id="20" name="TextBox 19"/>
          <p:cNvSpPr txBox="1"/>
          <p:nvPr/>
        </p:nvSpPr>
        <p:spPr>
          <a:xfrm>
            <a:off x="1399032" y="3319272"/>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0 at one end of the room and a 10 at the other: definitely false to definitely true.</a:t>
            </a:r>
          </a:p>
        </p:txBody>
      </p:sp>
      <p:sp>
        <p:nvSpPr>
          <p:cNvPr id="21" name="Rectangle 20"/>
          <p:cNvSpPr/>
          <p:nvPr/>
        </p:nvSpPr>
        <p:spPr>
          <a:xfrm>
            <a:off x="685800" y="3657600"/>
            <a:ext cx="7772400" cy="5669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68680" y="3758183"/>
            <a:ext cx="365760" cy="365760"/>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68680" y="3840480"/>
            <a:ext cx="365760" cy="201168"/>
          </a:xfrm>
          <a:prstGeom prst="rect">
            <a:avLst/>
          </a:prstGeom>
          <a:noFill/>
          <a:effectLst/>
        </p:spPr>
        <p:txBody>
          <a:bodyPr wrap="square" anchor="t" lIns="0" rIns="0" tIns="0" bIns="0">
            <a:spAutoFit/>
          </a:bodyPr>
          <a:lstStyle/>
          <a:p>
            <a:pPr algn="ctr">
              <a:lnSpc>
                <a:spcPct val="125000"/>
              </a:lnSpc>
              <a:spcAft>
                <a:spcPts val="0"/>
              </a:spcAft>
            </a:pPr>
            <a:r>
              <a:rPr sz="1100" b="1" i="0">
                <a:solidFill>
                  <a:srgbClr val="FFFDF7"/>
                </a:solidFill>
                <a:latin typeface="Karla"/>
              </a:rPr>
              <a:t>4</a:t>
            </a:r>
          </a:p>
        </p:txBody>
      </p:sp>
      <p:sp>
        <p:nvSpPr>
          <p:cNvPr id="24" name="TextBox 23"/>
          <p:cNvSpPr txBox="1"/>
          <p:nvPr/>
        </p:nvSpPr>
        <p:spPr>
          <a:xfrm>
            <a:off x="1399032" y="3739896"/>
            <a:ext cx="6858000"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Hold the cards back</a:t>
            </a:r>
          </a:p>
        </p:txBody>
      </p:sp>
      <p:sp>
        <p:nvSpPr>
          <p:cNvPr id="25" name="TextBox 24"/>
          <p:cNvSpPr txBox="1"/>
          <p:nvPr/>
        </p:nvSpPr>
        <p:spPr>
          <a:xfrm>
            <a:off x="1399032" y="3977639"/>
            <a:ext cx="6858000" cy="219456"/>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Hand out one card per round, never the next one early. The verdict stays hidden until the end.</a:t>
            </a:r>
          </a:p>
        </p:txBody>
      </p:sp>
      <p:pic>
        <p:nvPicPr>
          <p:cNvPr id="26" name="Picture 25"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7" name="TextBox 26"/>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8" name="TextBox 27"/>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2 / 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TextBox 3"/>
          <p:cNvSpPr txBox="1"/>
          <p:nvPr/>
        </p:nvSpPr>
        <p:spPr>
          <a:xfrm>
            <a:off x="4800600" y="274320"/>
            <a:ext cx="3657600" cy="201168"/>
          </a:xfrm>
          <a:prstGeom prst="rect">
            <a:avLst/>
          </a:prstGeom>
          <a:noFill/>
          <a:effectLst/>
        </p:spPr>
        <p:txBody>
          <a:bodyPr wrap="square" anchor="t" lIns="0" rIns="0" tIns="0" bIns="0">
            <a:spAutoFit/>
          </a:bodyPr>
          <a:lstStyle/>
          <a:p>
            <a:pPr algn="r">
              <a:lnSpc>
                <a:spcPct val="125000"/>
              </a:lnSpc>
              <a:spcAft>
                <a:spcPts val="0"/>
              </a:spcAft>
            </a:pPr>
            <a:r>
              <a:rPr sz="850" b="0" i="1">
                <a:solidFill>
                  <a:srgbClr val="8C877D"/>
                </a:solidFill>
                <a:latin typeface="Karla"/>
              </a:rPr>
              <a:t>A recreated front page</a:t>
            </a:r>
          </a:p>
        </p:txBody>
      </p:sp>
      <p:sp>
        <p:nvSpPr>
          <p:cNvPr id="5" name="Rectangle 4"/>
          <p:cNvSpPr/>
          <p:nvPr/>
        </p:nvSpPr>
        <p:spPr>
          <a:xfrm>
            <a:off x="685800" y="475488"/>
            <a:ext cx="7772400" cy="1097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512064"/>
            <a:ext cx="7772400" cy="457200"/>
          </a:xfrm>
          <a:prstGeom prst="rect">
            <a:avLst/>
          </a:prstGeom>
          <a:noFill/>
          <a:effectLst/>
        </p:spPr>
        <p:txBody>
          <a:bodyPr wrap="square" anchor="t" lIns="0" rIns="0" tIns="0" bIns="0">
            <a:spAutoFit/>
          </a:bodyPr>
          <a:lstStyle/>
          <a:p>
            <a:pPr algn="ctr">
              <a:lnSpc>
                <a:spcPct val="100000"/>
              </a:lnSpc>
              <a:spcAft>
                <a:spcPts val="0"/>
              </a:spcAft>
            </a:pPr>
            <a:r>
              <a:rPr sz="3000" b="1" i="0">
                <a:solidFill>
                  <a:srgbClr val="262422"/>
                </a:solidFill>
                <a:latin typeface="Libre Caslon Display"/>
              </a:rPr>
              <a:t>The Daily Claim</a:t>
            </a:r>
          </a:p>
        </p:txBody>
      </p:sp>
      <p:sp>
        <p:nvSpPr>
          <p:cNvPr id="7" name="Rectangle 6"/>
          <p:cNvSpPr/>
          <p:nvPr/>
        </p:nvSpPr>
        <p:spPr>
          <a:xfrm>
            <a:off x="685800" y="1024128"/>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685800" y="1060704"/>
            <a:ext cx="2926080" cy="182880"/>
          </a:xfrm>
          <a:prstGeom prst="rect">
            <a:avLst/>
          </a:prstGeom>
          <a:noFill/>
          <a:effectLst/>
        </p:spPr>
        <p:txBody>
          <a:bodyPr wrap="square" anchor="t" lIns="0" rIns="0" tIns="0" bIns="0">
            <a:spAutoFit/>
          </a:bodyPr>
          <a:lstStyle/>
          <a:p>
            <a:pPr algn="l">
              <a:lnSpc>
                <a:spcPct val="125000"/>
              </a:lnSpc>
              <a:spcAft>
                <a:spcPts val="0"/>
              </a:spcAft>
            </a:pPr>
            <a:r>
              <a:rPr sz="800" b="1" i="0" spc="140">
                <a:solidFill>
                  <a:srgbClr val="56524B"/>
                </a:solidFill>
                <a:latin typeface="Karla"/>
              </a:rPr>
              <a:t>BOSTON, 1967</a:t>
            </a:r>
          </a:p>
        </p:txBody>
      </p:sp>
      <p:sp>
        <p:nvSpPr>
          <p:cNvPr id="9" name="TextBox 8"/>
          <p:cNvSpPr txBox="1"/>
          <p:nvPr/>
        </p:nvSpPr>
        <p:spPr>
          <a:xfrm>
            <a:off x="3108960" y="1060704"/>
            <a:ext cx="2926080" cy="182880"/>
          </a:xfrm>
          <a:prstGeom prst="rect">
            <a:avLst/>
          </a:prstGeom>
          <a:noFill/>
          <a:effectLst/>
        </p:spPr>
        <p:txBody>
          <a:bodyPr wrap="square" anchor="t" lIns="0" rIns="0" tIns="0" bIns="0">
            <a:spAutoFit/>
          </a:bodyPr>
          <a:lstStyle/>
          <a:p>
            <a:pPr algn="ctr">
              <a:lnSpc>
                <a:spcPct val="125000"/>
              </a:lnSpc>
              <a:spcAft>
                <a:spcPts val="0"/>
              </a:spcAft>
            </a:pPr>
            <a:r>
              <a:rPr sz="800" b="1" i="0" spc="140">
                <a:solidFill>
                  <a:srgbClr val="56524B"/>
                </a:solidFill>
                <a:latin typeface="Karla"/>
              </a:rPr>
              <a:t>VOLUME ONE</a:t>
            </a:r>
          </a:p>
        </p:txBody>
      </p:sp>
      <p:sp>
        <p:nvSpPr>
          <p:cNvPr id="10" name="TextBox 9"/>
          <p:cNvSpPr txBox="1"/>
          <p:nvPr/>
        </p:nvSpPr>
        <p:spPr>
          <a:xfrm>
            <a:off x="5532120" y="1060704"/>
            <a:ext cx="2926080" cy="182880"/>
          </a:xfrm>
          <a:prstGeom prst="rect">
            <a:avLst/>
          </a:prstGeom>
          <a:noFill/>
          <a:effectLst/>
        </p:spPr>
        <p:txBody>
          <a:bodyPr wrap="square" anchor="t" lIns="0" rIns="0" tIns="0" bIns="0">
            <a:spAutoFit/>
          </a:bodyPr>
          <a:lstStyle/>
          <a:p>
            <a:pPr algn="r">
              <a:lnSpc>
                <a:spcPct val="125000"/>
              </a:lnSpc>
              <a:spcAft>
                <a:spcPts val="0"/>
              </a:spcAft>
            </a:pPr>
            <a:r>
              <a:rPr sz="800" b="1" i="0" spc="140">
                <a:solidFill>
                  <a:srgbClr val="56524B"/>
                </a:solidFill>
                <a:latin typeface="Karla"/>
              </a:rPr>
              <a:t>LESSON 1 OF 5</a:t>
            </a:r>
          </a:p>
        </p:txBody>
      </p:sp>
      <p:sp>
        <p:nvSpPr>
          <p:cNvPr id="11" name="Rectangle 10"/>
          <p:cNvSpPr/>
          <p:nvPr/>
        </p:nvSpPr>
        <p:spPr>
          <a:xfrm>
            <a:off x="685800" y="1280160"/>
            <a:ext cx="7772400" cy="3200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685800" y="1421891"/>
            <a:ext cx="7772400" cy="881888"/>
          </a:xfrm>
          <a:prstGeom prst="rect">
            <a:avLst/>
          </a:prstGeom>
          <a:noFill/>
          <a:effectLst/>
        </p:spPr>
        <p:txBody>
          <a:bodyPr wrap="square" anchor="t" lIns="0" rIns="0" tIns="0" bIns="0">
            <a:spAutoFit/>
          </a:bodyPr>
          <a:lstStyle/>
          <a:p>
            <a:pPr algn="l">
              <a:lnSpc>
                <a:spcPct val="100000"/>
              </a:lnSpc>
              <a:spcAft>
                <a:spcPts val="0"/>
              </a:spcAft>
            </a:pPr>
            <a:r>
              <a:rPr sz="2800" b="1" i="0">
                <a:solidFill>
                  <a:srgbClr val="262422"/>
                </a:solidFill>
                <a:latin typeface="Libre Caslon Display"/>
              </a:rPr>
              <a:t>FAT, NOT SUGAR, IS THE</a:t>
            </a:r>
            <a:br>
              <a:rPr lang="en-GB"/>
            </a:br>
            <a:r>
              <a:rPr sz="2800" b="1" i="0">
                <a:solidFill>
                  <a:srgbClr val="262422"/>
                </a:solidFill>
                <a:latin typeface="Libre Caslon Display"/>
              </a:rPr>
              <a:t>DANGER TO YOUR HEART</a:t>
            </a:r>
          </a:p>
        </p:txBody>
      </p:sp>
      <p:sp>
        <p:nvSpPr>
          <p:cNvPr id="13" name="TextBox 12"/>
          <p:cNvSpPr txBox="1"/>
          <p:nvPr/>
        </p:nvSpPr>
        <p:spPr>
          <a:xfrm>
            <a:off x="685800" y="2376931"/>
            <a:ext cx="7772400" cy="409448"/>
          </a:xfrm>
          <a:prstGeom prst="rect">
            <a:avLst/>
          </a:prstGeom>
          <a:noFill/>
          <a:effectLst/>
        </p:spPr>
        <p:txBody>
          <a:bodyPr wrap="square" anchor="t" lIns="0" rIns="0" tIns="0" bIns="0">
            <a:spAutoFit/>
          </a:bodyPr>
          <a:lstStyle/>
          <a:p>
            <a:pPr algn="l">
              <a:lnSpc>
                <a:spcPct val="118000"/>
              </a:lnSpc>
              <a:spcAft>
                <a:spcPts val="0"/>
              </a:spcAft>
            </a:pPr>
            <a:r>
              <a:rPr sz="1300" b="0" i="1">
                <a:solidFill>
                  <a:srgbClr val="56524B"/>
                </a:solidFill>
                <a:latin typeface="Georgia"/>
              </a:rPr>
              <a:t>Harvard scientists review the evidence and find only one change to diet that can prevent heart disease: cutting fat and cholesterol.</a:t>
            </a:r>
          </a:p>
        </p:txBody>
      </p:sp>
      <p:sp>
        <p:nvSpPr>
          <p:cNvPr id="14" name="Rectangle 13"/>
          <p:cNvSpPr/>
          <p:nvPr/>
        </p:nvSpPr>
        <p:spPr>
          <a:xfrm>
            <a:off x="685800" y="2877819"/>
            <a:ext cx="7772400" cy="9144"/>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685800" y="2987547"/>
            <a:ext cx="2432304" cy="118872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A review in the New England Journal of Medicine, one of the most respected medical journals in the world, has looked at the studies blaming sugar for heart disease.</a:t>
            </a:r>
          </a:p>
        </p:txBody>
      </p:sp>
      <p:sp>
        <p:nvSpPr>
          <p:cNvPr id="16" name="Rectangle 15"/>
          <p:cNvSpPr/>
          <p:nvPr/>
        </p:nvSpPr>
        <p:spPr>
          <a:xfrm>
            <a:off x="3236976"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3355848" y="2987547"/>
            <a:ext cx="2432304" cy="1188720"/>
          </a:xfrm>
          <a:prstGeom prst="rect">
            <a:avLst/>
          </a:prstGeom>
          <a:noFill/>
          <a:effectLst/>
        </p:spPr>
        <p:txBody>
          <a:bodyPr wrap="square" anchor="t" lIns="0" rIns="0" tIns="0" bIns="0">
            <a:spAutoFit/>
          </a:bodyPr>
          <a:lstStyle/>
          <a:p>
            <a:pPr algn="l">
              <a:lnSpc>
                <a:spcPct val="126000"/>
              </a:lnSpc>
              <a:spcAft>
                <a:spcPts val="0"/>
              </a:spcAft>
            </a:pPr>
            <a:r>
              <a:rPr sz="1200" b="0" i="0">
                <a:solidFill>
                  <a:srgbClr val="262422"/>
                </a:solidFill>
                <a:latin typeface="Georgia"/>
              </a:rPr>
              <a:t>Its authors, from Harvard’s School of Public Health, found those studies weak. The answer, they say, is fat and cholesterol, and that is where families should look.</a:t>
            </a:r>
          </a:p>
        </p:txBody>
      </p:sp>
      <p:sp>
        <p:nvSpPr>
          <p:cNvPr id="18" name="Rectangle 17"/>
          <p:cNvSpPr/>
          <p:nvPr/>
        </p:nvSpPr>
        <p:spPr>
          <a:xfrm>
            <a:off x="5907024" y="2987547"/>
            <a:ext cx="9144" cy="1511300"/>
          </a:xfrm>
          <a:prstGeom prst="rect">
            <a:avLst/>
          </a:prstGeom>
          <a:solidFill>
            <a:srgbClr val="8C877D"/>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Rectangle 18"/>
          <p:cNvSpPr/>
          <p:nvPr/>
        </p:nvSpPr>
        <p:spPr>
          <a:xfrm>
            <a:off x="6025896" y="2987547"/>
            <a:ext cx="2432304" cy="1379855"/>
          </a:xfrm>
          <a:prstGeom prst="rect">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Rectangle 19"/>
          <p:cNvSpPr/>
          <p:nvPr/>
        </p:nvSpPr>
        <p:spPr>
          <a:xfrm>
            <a:off x="6025896" y="2987547"/>
            <a:ext cx="45720" cy="1379855"/>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6208776" y="3133851"/>
            <a:ext cx="2121408" cy="818896"/>
          </a:xfrm>
          <a:prstGeom prst="rect">
            <a:avLst/>
          </a:prstGeom>
          <a:noFill/>
          <a:effectLst/>
        </p:spPr>
        <p:txBody>
          <a:bodyPr wrap="square" anchor="t" lIns="0" rIns="0" tIns="0" bIns="0">
            <a:spAutoFit/>
          </a:bodyPr>
          <a:lstStyle/>
          <a:p>
            <a:pPr algn="l">
              <a:lnSpc>
                <a:spcPct val="112000"/>
              </a:lnSpc>
              <a:spcAft>
                <a:spcPts val="0"/>
              </a:spcAft>
            </a:pPr>
            <a:r>
              <a:rPr sz="1300" b="1" i="0">
                <a:solidFill>
                  <a:srgbClr val="34322F"/>
                </a:solidFill>
                <a:latin typeface="Libre Caslon Display"/>
              </a:rPr>
              <a:t>The only diet change that can prevent heart disease is cutting fat and cholesterol.</a:t>
            </a:r>
          </a:p>
        </p:txBody>
      </p:sp>
      <p:sp>
        <p:nvSpPr>
          <p:cNvPr id="22" name="TextBox 21"/>
          <p:cNvSpPr txBox="1"/>
          <p:nvPr/>
        </p:nvSpPr>
        <p:spPr>
          <a:xfrm>
            <a:off x="6208776" y="4044187"/>
            <a:ext cx="2121408" cy="140335"/>
          </a:xfrm>
          <a:prstGeom prst="rect">
            <a:avLst/>
          </a:prstGeom>
          <a:noFill/>
          <a:effectLst/>
        </p:spPr>
        <p:txBody>
          <a:bodyPr wrap="square" anchor="t" lIns="0" rIns="0" tIns="0" bIns="0">
            <a:spAutoFit/>
          </a:bodyPr>
          <a:lstStyle/>
          <a:p>
            <a:pPr algn="l">
              <a:lnSpc>
                <a:spcPct val="125000"/>
              </a:lnSpc>
              <a:spcAft>
                <a:spcPts val="0"/>
              </a:spcAft>
            </a:pPr>
            <a:r>
              <a:rPr sz="800" b="1" i="0" spc="110">
                <a:solidFill>
                  <a:srgbClr val="56524B"/>
                </a:solidFill>
                <a:latin typeface="Karla"/>
              </a:rPr>
              <a:t>WHAT THE REVIEW CONCLUDED</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3 / 19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398742" y="246888"/>
            <a:ext cx="105945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STAND UP</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How much do you believe it?</a:t>
            </a:r>
          </a:p>
        </p:txBody>
      </p:sp>
      <p:sp>
        <p:nvSpPr>
          <p:cNvPr id="6" name="KEEP_SHADOW"/>
          <p:cNvSpPr/>
          <p:nvPr/>
        </p:nvSpPr>
        <p:spPr>
          <a:xfrm>
            <a:off x="685800" y="1225296"/>
            <a:ext cx="7772400" cy="612647"/>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225296"/>
            <a:ext cx="45720" cy="612647"/>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051560" y="1389888"/>
            <a:ext cx="7040880" cy="283464"/>
          </a:xfrm>
          <a:prstGeom prst="rect">
            <a:avLst/>
          </a:prstGeom>
          <a:noFill/>
          <a:effectLst/>
        </p:spPr>
        <p:txBody>
          <a:bodyPr wrap="square" anchor="t" lIns="0" rIns="0" tIns="0" bIns="0">
            <a:spAutoFit/>
          </a:bodyPr>
          <a:lstStyle/>
          <a:p>
            <a:pPr algn="ctr">
              <a:lnSpc>
                <a:spcPct val="112000"/>
              </a:lnSpc>
              <a:spcAft>
                <a:spcPts val="0"/>
              </a:spcAft>
            </a:pPr>
            <a:r>
              <a:rPr sz="1800" b="1" i="0">
                <a:solidFill>
                  <a:srgbClr val="262422"/>
                </a:solidFill>
                <a:latin typeface="Libre Caslon Display"/>
              </a:rPr>
              <a:t>“Sugar is not a problem for your heart. Fat is.”</a:t>
            </a:r>
          </a:p>
        </p:txBody>
      </p:sp>
      <p:sp>
        <p:nvSpPr>
          <p:cNvPr id="9" name="Rectangle 8"/>
          <p:cNvSpPr/>
          <p:nvPr/>
        </p:nvSpPr>
        <p:spPr>
          <a:xfrm>
            <a:off x="960120" y="2395728"/>
            <a:ext cx="7223759" cy="36576"/>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Rectangle 9"/>
          <p:cNvSpPr/>
          <p:nvPr/>
        </p:nvSpPr>
        <p:spPr>
          <a:xfrm>
            <a:off x="94914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1" name="TextBox 10"/>
          <p:cNvSpPr txBox="1"/>
          <p:nvPr/>
        </p:nvSpPr>
        <p:spPr>
          <a:xfrm>
            <a:off x="73152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0</a:t>
            </a:r>
          </a:p>
        </p:txBody>
      </p:sp>
      <p:sp>
        <p:nvSpPr>
          <p:cNvPr id="12" name="Rectangle 11"/>
          <p:cNvSpPr/>
          <p:nvPr/>
        </p:nvSpPr>
        <p:spPr>
          <a:xfrm>
            <a:off x="167152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1453895"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1</a:t>
            </a:r>
          </a:p>
        </p:txBody>
      </p:sp>
      <p:sp>
        <p:nvSpPr>
          <p:cNvPr id="14" name="Rectangle 13"/>
          <p:cNvSpPr/>
          <p:nvPr/>
        </p:nvSpPr>
        <p:spPr>
          <a:xfrm>
            <a:off x="239389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76272"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2</a:t>
            </a:r>
          </a:p>
        </p:txBody>
      </p:sp>
      <p:sp>
        <p:nvSpPr>
          <p:cNvPr id="16" name="Rectangle 15"/>
          <p:cNvSpPr/>
          <p:nvPr/>
        </p:nvSpPr>
        <p:spPr>
          <a:xfrm>
            <a:off x="311627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2898648"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3</a:t>
            </a:r>
          </a:p>
        </p:txBody>
      </p:sp>
      <p:sp>
        <p:nvSpPr>
          <p:cNvPr id="18" name="Rectangle 17"/>
          <p:cNvSpPr/>
          <p:nvPr/>
        </p:nvSpPr>
        <p:spPr>
          <a:xfrm>
            <a:off x="383865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362102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4</a:t>
            </a:r>
          </a:p>
        </p:txBody>
      </p:sp>
      <p:sp>
        <p:nvSpPr>
          <p:cNvPr id="20" name="Rectangle 19"/>
          <p:cNvSpPr/>
          <p:nvPr/>
        </p:nvSpPr>
        <p:spPr>
          <a:xfrm>
            <a:off x="456102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434340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5</a:t>
            </a:r>
          </a:p>
        </p:txBody>
      </p:sp>
      <p:sp>
        <p:nvSpPr>
          <p:cNvPr id="22" name="Rectangle 21"/>
          <p:cNvSpPr/>
          <p:nvPr/>
        </p:nvSpPr>
        <p:spPr>
          <a:xfrm>
            <a:off x="5283403"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5065776"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6</a:t>
            </a:r>
          </a:p>
        </p:txBody>
      </p:sp>
      <p:sp>
        <p:nvSpPr>
          <p:cNvPr id="24" name="Rectangle 23"/>
          <p:cNvSpPr/>
          <p:nvPr/>
        </p:nvSpPr>
        <p:spPr>
          <a:xfrm>
            <a:off x="6005779"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TextBox 24"/>
          <p:cNvSpPr txBox="1"/>
          <p:nvPr/>
        </p:nvSpPr>
        <p:spPr>
          <a:xfrm>
            <a:off x="5788151"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7</a:t>
            </a:r>
          </a:p>
        </p:txBody>
      </p:sp>
      <p:sp>
        <p:nvSpPr>
          <p:cNvPr id="26" name="Rectangle 25"/>
          <p:cNvSpPr/>
          <p:nvPr/>
        </p:nvSpPr>
        <p:spPr>
          <a:xfrm>
            <a:off x="6728155"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6510527"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8</a:t>
            </a:r>
          </a:p>
        </p:txBody>
      </p:sp>
      <p:sp>
        <p:nvSpPr>
          <p:cNvPr id="28" name="Rectangle 27"/>
          <p:cNvSpPr/>
          <p:nvPr/>
        </p:nvSpPr>
        <p:spPr>
          <a:xfrm>
            <a:off x="7450531" y="2331720"/>
            <a:ext cx="21945" cy="16459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9" name="TextBox 28"/>
          <p:cNvSpPr txBox="1"/>
          <p:nvPr/>
        </p:nvSpPr>
        <p:spPr>
          <a:xfrm>
            <a:off x="7232904"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050" b="0" i="0">
                <a:solidFill>
                  <a:srgbClr val="56524B"/>
                </a:solidFill>
                <a:latin typeface="Karla"/>
              </a:rPr>
              <a:t>9</a:t>
            </a:r>
          </a:p>
        </p:txBody>
      </p:sp>
      <p:sp>
        <p:nvSpPr>
          <p:cNvPr id="30" name="Rectangle 29"/>
          <p:cNvSpPr/>
          <p:nvPr/>
        </p:nvSpPr>
        <p:spPr>
          <a:xfrm>
            <a:off x="8172907" y="2286000"/>
            <a:ext cx="21945" cy="256032"/>
          </a:xfrm>
          <a:prstGeom prst="rect">
            <a:avLst/>
          </a:prstGeom>
          <a:solidFill>
            <a:srgbClr val="262422"/>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1" name="TextBox 30"/>
          <p:cNvSpPr txBox="1"/>
          <p:nvPr/>
        </p:nvSpPr>
        <p:spPr>
          <a:xfrm>
            <a:off x="7955280" y="2578608"/>
            <a:ext cx="457200" cy="237744"/>
          </a:xfrm>
          <a:prstGeom prst="rect">
            <a:avLst/>
          </a:prstGeom>
          <a:noFill/>
          <a:effectLst/>
        </p:spPr>
        <p:txBody>
          <a:bodyPr wrap="square" anchor="t" lIns="0" rIns="0" tIns="0" bIns="0">
            <a:spAutoFit/>
          </a:bodyPr>
          <a:lstStyle/>
          <a:p>
            <a:pPr algn="ctr">
              <a:lnSpc>
                <a:spcPct val="125000"/>
              </a:lnSpc>
              <a:spcAft>
                <a:spcPts val="0"/>
              </a:spcAft>
            </a:pPr>
            <a:r>
              <a:rPr sz="1300" b="1" i="0">
                <a:solidFill>
                  <a:srgbClr val="262422"/>
                </a:solidFill>
                <a:latin typeface="Karla"/>
              </a:rPr>
              <a:t>10</a:t>
            </a:r>
          </a:p>
        </p:txBody>
      </p:sp>
      <p:sp>
        <p:nvSpPr>
          <p:cNvPr id="32" name="TextBox 31"/>
          <p:cNvSpPr txBox="1"/>
          <p:nvPr/>
        </p:nvSpPr>
        <p:spPr>
          <a:xfrm>
            <a:off x="685800" y="2852928"/>
            <a:ext cx="2194560" cy="237744"/>
          </a:xfrm>
          <a:prstGeom prst="rect">
            <a:avLst/>
          </a:prstGeom>
          <a:noFill/>
          <a:effectLst/>
        </p:spPr>
        <p:txBody>
          <a:bodyPr wrap="square" anchor="t" lIns="0" rIns="0" tIns="0" bIns="0">
            <a:spAutoFit/>
          </a:bodyPr>
          <a:lstStyle/>
          <a:p>
            <a:pPr algn="l">
              <a:lnSpc>
                <a:spcPct val="125000"/>
              </a:lnSpc>
              <a:spcAft>
                <a:spcPts val="0"/>
              </a:spcAft>
            </a:pPr>
            <a:r>
              <a:rPr sz="1100" b="1" i="0">
                <a:solidFill>
                  <a:srgbClr val="34322F"/>
                </a:solidFill>
                <a:latin typeface="Karla"/>
              </a:rPr>
              <a:t>Definitely false</a:t>
            </a:r>
          </a:p>
        </p:txBody>
      </p:sp>
      <p:sp>
        <p:nvSpPr>
          <p:cNvPr id="33" name="TextBox 32"/>
          <p:cNvSpPr txBox="1"/>
          <p:nvPr/>
        </p:nvSpPr>
        <p:spPr>
          <a:xfrm>
            <a:off x="6263640" y="2852928"/>
            <a:ext cx="2194560" cy="237744"/>
          </a:xfrm>
          <a:prstGeom prst="rect">
            <a:avLst/>
          </a:prstGeom>
          <a:noFill/>
          <a:effectLst/>
        </p:spPr>
        <p:txBody>
          <a:bodyPr wrap="square" anchor="t" lIns="0" rIns="0" tIns="0" bIns="0">
            <a:spAutoFit/>
          </a:bodyPr>
          <a:lstStyle/>
          <a:p>
            <a:pPr algn="r">
              <a:lnSpc>
                <a:spcPct val="125000"/>
              </a:lnSpc>
              <a:spcAft>
                <a:spcPts val="0"/>
              </a:spcAft>
            </a:pPr>
            <a:r>
              <a:rPr sz="1100" b="1" i="0">
                <a:solidFill>
                  <a:srgbClr val="34322F"/>
                </a:solidFill>
                <a:latin typeface="Karla"/>
              </a:rPr>
              <a:t>Definitely true</a:t>
            </a:r>
          </a:p>
        </p:txBody>
      </p:sp>
      <p:sp>
        <p:nvSpPr>
          <p:cNvPr id="34" name="TextBox 33"/>
          <p:cNvSpPr txBox="1"/>
          <p:nvPr/>
        </p:nvSpPr>
        <p:spPr>
          <a:xfrm>
            <a:off x="868680" y="3913632"/>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Stand on the line where you are now. Two or three people say why they are standing there.</a:t>
            </a:r>
          </a:p>
        </p:txBody>
      </p:sp>
      <p:pic>
        <p:nvPicPr>
          <p:cNvPr id="35" name="Picture 34"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36" name="TextBox 35"/>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7" name="TextBox 36"/>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4 / 19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658580" y="246888"/>
            <a:ext cx="799619"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TEACH</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Five questions for any headline</a:t>
            </a:r>
          </a:p>
        </p:txBody>
      </p:sp>
      <p:sp>
        <p:nvSpPr>
          <p:cNvPr id="6" name="Rectangle 5"/>
          <p:cNvSpPr/>
          <p:nvPr/>
        </p:nvSpPr>
        <p:spPr>
          <a:xfrm>
            <a:off x="685800" y="1188720"/>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Oval 6"/>
          <p:cNvSpPr/>
          <p:nvPr/>
        </p:nvSpPr>
        <p:spPr>
          <a:xfrm>
            <a:off x="850392" y="124358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8" name="Picture 7" descr="megaphone.png"/>
          <p:cNvPicPr>
            <a:picLocks noChangeAspect="1"/>
          </p:cNvPicPr>
          <p:nvPr/>
        </p:nvPicPr>
        <p:blipFill>
          <a:blip r:embed="rId2"/>
          <a:stretch>
            <a:fillRect/>
          </a:stretch>
        </p:blipFill>
        <p:spPr>
          <a:xfrm>
            <a:off x="932688" y="1325880"/>
            <a:ext cx="237744" cy="237744"/>
          </a:xfrm>
          <a:prstGeom prst="rect">
            <a:avLst/>
          </a:prstGeom>
          <a:effectLst/>
        </p:spPr>
      </p:pic>
      <p:sp>
        <p:nvSpPr>
          <p:cNvPr id="9" name="TextBox 8"/>
          <p:cNvSpPr txBox="1"/>
          <p:nvPr/>
        </p:nvSpPr>
        <p:spPr>
          <a:xfrm>
            <a:off x="1417320" y="1325880"/>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is saying it?</a:t>
            </a:r>
          </a:p>
        </p:txBody>
      </p:sp>
      <p:sp>
        <p:nvSpPr>
          <p:cNvPr id="10" name="TextBox 9"/>
          <p:cNvSpPr txBox="1"/>
          <p:nvPr/>
        </p:nvSpPr>
        <p:spPr>
          <a:xfrm>
            <a:off x="4892040" y="1279398"/>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company, a scientist, a newspaper, a government? Check the name.</a:t>
            </a:r>
          </a:p>
        </p:txBody>
      </p:sp>
      <p:sp>
        <p:nvSpPr>
          <p:cNvPr id="11" name="Rectangle 10"/>
          <p:cNvSpPr/>
          <p:nvPr/>
        </p:nvSpPr>
        <p:spPr>
          <a:xfrm>
            <a:off x="685800" y="1792224"/>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50392" y="184708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3" name="Picture 12" descr="coins.png"/>
          <p:cNvPicPr>
            <a:picLocks noChangeAspect="1"/>
          </p:cNvPicPr>
          <p:nvPr/>
        </p:nvPicPr>
        <p:blipFill>
          <a:blip r:embed="rId3"/>
          <a:stretch>
            <a:fillRect/>
          </a:stretch>
        </p:blipFill>
        <p:spPr>
          <a:xfrm>
            <a:off x="932688" y="1929384"/>
            <a:ext cx="237744" cy="237744"/>
          </a:xfrm>
          <a:prstGeom prst="rect">
            <a:avLst/>
          </a:prstGeom>
          <a:effectLst/>
        </p:spPr>
      </p:pic>
      <p:sp>
        <p:nvSpPr>
          <p:cNvPr id="14" name="TextBox 13"/>
          <p:cNvSpPr txBox="1"/>
          <p:nvPr/>
        </p:nvSpPr>
        <p:spPr>
          <a:xfrm>
            <a:off x="1417320" y="1929384"/>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gains if I believe it?</a:t>
            </a:r>
          </a:p>
        </p:txBody>
      </p:sp>
      <p:sp>
        <p:nvSpPr>
          <p:cNvPr id="15" name="TextBox 14"/>
          <p:cNvSpPr txBox="1"/>
          <p:nvPr/>
        </p:nvSpPr>
        <p:spPr>
          <a:xfrm>
            <a:off x="4892040" y="1882902"/>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Somebody always does. Work out who, and what they get.</a:t>
            </a:r>
          </a:p>
        </p:txBody>
      </p:sp>
      <p:sp>
        <p:nvSpPr>
          <p:cNvPr id="16" name="Rectangle 15"/>
          <p:cNvSpPr/>
          <p:nvPr/>
        </p:nvSpPr>
        <p:spPr>
          <a:xfrm>
            <a:off x="685800" y="2395728"/>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Oval 16"/>
          <p:cNvSpPr/>
          <p:nvPr/>
        </p:nvSpPr>
        <p:spPr>
          <a:xfrm>
            <a:off x="850392" y="2450592"/>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8" name="Picture 17" descr="purse.png"/>
          <p:cNvPicPr>
            <a:picLocks noChangeAspect="1"/>
          </p:cNvPicPr>
          <p:nvPr/>
        </p:nvPicPr>
        <p:blipFill>
          <a:blip r:embed="rId4"/>
          <a:stretch>
            <a:fillRect/>
          </a:stretch>
        </p:blipFill>
        <p:spPr>
          <a:xfrm>
            <a:off x="932688" y="2532888"/>
            <a:ext cx="237744" cy="237744"/>
          </a:xfrm>
          <a:prstGeom prst="rect">
            <a:avLst/>
          </a:prstGeom>
          <a:effectLst/>
        </p:spPr>
      </p:pic>
      <p:sp>
        <p:nvSpPr>
          <p:cNvPr id="19" name="TextBox 18"/>
          <p:cNvSpPr txBox="1"/>
          <p:nvPr/>
        </p:nvSpPr>
        <p:spPr>
          <a:xfrm>
            <a:off x="1417320" y="2532888"/>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Who paid for it?</a:t>
            </a:r>
          </a:p>
        </p:txBody>
      </p:sp>
      <p:sp>
        <p:nvSpPr>
          <p:cNvPr id="20" name="TextBox 19"/>
          <p:cNvSpPr txBox="1"/>
          <p:nvPr/>
        </p:nvSpPr>
        <p:spPr>
          <a:xfrm>
            <a:off x="4892040" y="2486406"/>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The research, the advert, the survey. Money does not make it false, but you should know.</a:t>
            </a:r>
          </a:p>
        </p:txBody>
      </p:sp>
      <p:sp>
        <p:nvSpPr>
          <p:cNvPr id="21" name="Rectangle 20"/>
          <p:cNvSpPr/>
          <p:nvPr/>
        </p:nvSpPr>
        <p:spPr>
          <a:xfrm>
            <a:off x="685800" y="2999232"/>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2" name="Oval 21"/>
          <p:cNvSpPr/>
          <p:nvPr/>
        </p:nvSpPr>
        <p:spPr>
          <a:xfrm>
            <a:off x="850392" y="305409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3" name="Picture 22" descr="magnifier.png"/>
          <p:cNvPicPr>
            <a:picLocks noChangeAspect="1"/>
          </p:cNvPicPr>
          <p:nvPr/>
        </p:nvPicPr>
        <p:blipFill>
          <a:blip r:embed="rId5"/>
          <a:stretch>
            <a:fillRect/>
          </a:stretch>
        </p:blipFill>
        <p:spPr>
          <a:xfrm>
            <a:off x="932688" y="3136392"/>
            <a:ext cx="237744" cy="237744"/>
          </a:xfrm>
          <a:prstGeom prst="rect">
            <a:avLst/>
          </a:prstGeom>
          <a:effectLst/>
        </p:spPr>
      </p:pic>
      <p:sp>
        <p:nvSpPr>
          <p:cNvPr id="24" name="TextBox 23"/>
          <p:cNvSpPr txBox="1"/>
          <p:nvPr/>
        </p:nvSpPr>
        <p:spPr>
          <a:xfrm>
            <a:off x="1417320" y="3136392"/>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What is the evidence?</a:t>
            </a:r>
          </a:p>
        </p:txBody>
      </p:sp>
      <p:sp>
        <p:nvSpPr>
          <p:cNvPr id="25" name="TextBox 24"/>
          <p:cNvSpPr txBox="1"/>
          <p:nvPr/>
        </p:nvSpPr>
        <p:spPr>
          <a:xfrm>
            <a:off x="4892040" y="3089910"/>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A study, a number, a graph? Or only a slogan and a famous face?</a:t>
            </a:r>
          </a:p>
        </p:txBody>
      </p:sp>
      <p:sp>
        <p:nvSpPr>
          <p:cNvPr id="26" name="Rectangle 25"/>
          <p:cNvSpPr/>
          <p:nvPr/>
        </p:nvSpPr>
        <p:spPr>
          <a:xfrm>
            <a:off x="685800" y="3602736"/>
            <a:ext cx="7772400" cy="51206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Oval 26"/>
          <p:cNvSpPr/>
          <p:nvPr/>
        </p:nvSpPr>
        <p:spPr>
          <a:xfrm>
            <a:off x="850392" y="365760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8" name="Picture 27" descr="flask.png"/>
          <p:cNvPicPr>
            <a:picLocks noChangeAspect="1"/>
          </p:cNvPicPr>
          <p:nvPr/>
        </p:nvPicPr>
        <p:blipFill>
          <a:blip r:embed="rId6"/>
          <a:stretch>
            <a:fillRect/>
          </a:stretch>
        </p:blipFill>
        <p:spPr>
          <a:xfrm>
            <a:off x="932688" y="3739896"/>
            <a:ext cx="237744" cy="237744"/>
          </a:xfrm>
          <a:prstGeom prst="rect">
            <a:avLst/>
          </a:prstGeom>
          <a:effectLst/>
        </p:spPr>
      </p:pic>
      <p:sp>
        <p:nvSpPr>
          <p:cNvPr id="29" name="TextBox 28"/>
          <p:cNvSpPr txBox="1"/>
          <p:nvPr/>
        </p:nvSpPr>
        <p:spPr>
          <a:xfrm>
            <a:off x="1417320" y="3739896"/>
            <a:ext cx="3520440" cy="274320"/>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262422"/>
                </a:solidFill>
                <a:latin typeface="Libre Caslon Display"/>
              </a:rPr>
              <a:t>Has it been tested, and by whom?</a:t>
            </a:r>
          </a:p>
        </p:txBody>
      </p:sp>
      <p:sp>
        <p:nvSpPr>
          <p:cNvPr id="30" name="TextBox 29"/>
          <p:cNvSpPr txBox="1"/>
          <p:nvPr/>
        </p:nvSpPr>
        <p:spPr>
          <a:xfrm>
            <a:off x="4892040" y="3693414"/>
            <a:ext cx="3383280" cy="330708"/>
          </a:xfrm>
          <a:prstGeom prst="rect">
            <a:avLst/>
          </a:prstGeom>
          <a:noFill/>
          <a:effectLst/>
        </p:spPr>
        <p:txBody>
          <a:bodyPr wrap="square" anchor="t" lIns="0" rIns="0" tIns="0" bIns="0">
            <a:spAutoFit/>
          </a:bodyPr>
          <a:lstStyle/>
          <a:p>
            <a:pPr algn="l">
              <a:lnSpc>
                <a:spcPct val="125000"/>
              </a:lnSpc>
              <a:spcAft>
                <a:spcPts val="0"/>
              </a:spcAft>
            </a:pPr>
            <a:r>
              <a:rPr sz="1050" b="0" i="0">
                <a:solidFill>
                  <a:srgbClr val="56524B"/>
                </a:solidFill>
                <a:latin typeface="Karla"/>
              </a:rPr>
              <a:t>Tested on whom, for how long, and by somebody with nothing to gain?</a:t>
            </a:r>
          </a:p>
        </p:txBody>
      </p:sp>
      <p:sp>
        <p:nvSpPr>
          <p:cNvPr id="31" name="TextBox 30"/>
          <p:cNvSpPr txBox="1"/>
          <p:nvPr/>
        </p:nvSpPr>
        <p:spPr>
          <a:xfrm>
            <a:off x="868680" y="4261104"/>
            <a:ext cx="7406640" cy="200025"/>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These five come back in every lesson. The first one is on the front page already.</a:t>
            </a:r>
          </a:p>
        </p:txBody>
      </p:sp>
      <p:pic>
        <p:nvPicPr>
          <p:cNvPr id="32" name="Picture 31" descr="logo-mark.png"/>
          <p:cNvPicPr>
            <a:picLocks noChangeAspect="1"/>
          </p:cNvPicPr>
          <p:nvPr/>
        </p:nvPicPr>
        <p:blipFill>
          <a:blip r:embed="rId7"/>
          <a:stretch>
            <a:fillRect/>
          </a:stretch>
        </p:blipFill>
        <p:spPr>
          <a:xfrm>
            <a:off x="384048" y="4727448"/>
            <a:ext cx="158374" cy="182880"/>
          </a:xfrm>
          <a:prstGeom prst="rect">
            <a:avLst/>
          </a:prstGeom>
          <a:effectLst/>
        </p:spPr>
      </p:pic>
      <p:sp>
        <p:nvSpPr>
          <p:cNvPr id="33" name="TextBox 3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4" name="TextBox 3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5 / 19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624101" y="246888"/>
            <a:ext cx="834098"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MODEL</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Watch the first one</a:t>
            </a:r>
          </a:p>
        </p:txBody>
      </p:sp>
      <p:sp>
        <p:nvSpPr>
          <p:cNvPr id="6" name="TextBox 5"/>
          <p:cNvSpPr txBox="1"/>
          <p:nvPr/>
        </p:nvSpPr>
        <p:spPr>
          <a:xfrm>
            <a:off x="685800" y="1170432"/>
            <a:ext cx="7772400" cy="274320"/>
          </a:xfrm>
          <a:prstGeom prst="rect">
            <a:avLst/>
          </a:prstGeom>
          <a:noFill/>
          <a:effectLst/>
        </p:spPr>
        <p:txBody>
          <a:bodyPr wrap="square" anchor="t" lIns="0" rIns="0" tIns="0" bIns="0">
            <a:spAutoFit/>
          </a:bodyPr>
          <a:lstStyle/>
          <a:p>
            <a:pPr algn="l">
              <a:lnSpc>
                <a:spcPct val="125000"/>
              </a:lnSpc>
              <a:spcAft>
                <a:spcPts val="0"/>
              </a:spcAft>
            </a:pPr>
            <a:r>
              <a:rPr sz="1600" b="1" i="0">
                <a:solidFill>
                  <a:srgbClr val="34322F"/>
                </a:solidFill>
                <a:latin typeface="Libre Caslon Display"/>
              </a:rPr>
              <a:t>Question 1:  Who is saying it?</a:t>
            </a:r>
          </a:p>
        </p:txBody>
      </p:sp>
      <p:sp>
        <p:nvSpPr>
          <p:cNvPr id="7" name="Rectangle 6"/>
          <p:cNvSpPr/>
          <p:nvPr/>
        </p:nvSpPr>
        <p:spPr>
          <a:xfrm>
            <a:off x="685800" y="1609344"/>
            <a:ext cx="7772400" cy="1249680"/>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09344"/>
            <a:ext cx="45720" cy="124968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97280" y="1837943"/>
            <a:ext cx="6949440" cy="792480"/>
          </a:xfrm>
          <a:prstGeom prst="rect">
            <a:avLst/>
          </a:prstGeom>
          <a:noFill/>
          <a:effectLst/>
        </p:spPr>
        <p:txBody>
          <a:bodyPr wrap="square" anchor="t" lIns="0" rIns="0" tIns="0" bIns="0">
            <a:spAutoFit/>
          </a:bodyPr>
          <a:lstStyle/>
          <a:p>
            <a:pPr algn="l">
              <a:lnSpc>
                <a:spcPct val="128000"/>
              </a:lnSpc>
              <a:spcAft>
                <a:spcPts val="0"/>
              </a:spcAft>
            </a:pPr>
            <a:r>
              <a:rPr sz="1600" b="0" i="0">
                <a:solidFill>
                  <a:srgbClr val="262422"/>
                </a:solidFill>
                <a:latin typeface="Karla"/>
              </a:rPr>
              <a:t>Scientists from Harvard, writing in one of the most respected medical journals. That sounds trustworthy. What the front page does not say is who paid for the work.</a:t>
            </a:r>
          </a:p>
        </p:txBody>
      </p:sp>
      <p:sp>
        <p:nvSpPr>
          <p:cNvPr id="10" name="TextBox 9"/>
          <p:cNvSpPr txBox="1"/>
          <p:nvPr/>
        </p:nvSpPr>
        <p:spPr>
          <a:xfrm>
            <a:off x="685800" y="3133344"/>
            <a:ext cx="7772400" cy="548640"/>
          </a:xfrm>
          <a:prstGeom prst="rect">
            <a:avLst/>
          </a:prstGeom>
          <a:noFill/>
          <a:effectLst/>
        </p:spPr>
        <p:txBody>
          <a:bodyPr wrap="square" anchor="t" lIns="0" rIns="0" tIns="0" bIns="0">
            <a:spAutoFit/>
          </a:bodyPr>
          <a:lstStyle/>
          <a:p>
            <a:pPr algn="ctr">
              <a:lnSpc>
                <a:spcPct val="125000"/>
              </a:lnSpc>
              <a:spcAft>
                <a:spcPts val="0"/>
              </a:spcAft>
            </a:pPr>
            <a:r>
              <a:rPr sz="1400" b="0" i="1">
                <a:solidFill>
                  <a:srgbClr val="56524B"/>
                </a:solidFill>
                <a:latin typeface="Karla"/>
              </a:rPr>
              <a:t>Notice the answer is not true or false. It tells you what to look for next.</a:t>
            </a:r>
          </a:p>
        </p:txBody>
      </p:sp>
      <p:pic>
        <p:nvPicPr>
          <p:cNvPr id="11" name="Picture 10"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2" name="TextBox 11"/>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3" name="TextBox 12"/>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6 / 19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356624" y="246888"/>
            <a:ext cx="110157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TOGETHER</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Now the other four</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400" b="0" i="0">
                <a:solidFill>
                  <a:srgbClr val="56524B"/>
                </a:solidFill>
                <a:latin typeface="Karla"/>
              </a:rPr>
              <a:t>Can the front page answer them? Talk it through in your group.</a:t>
            </a:r>
          </a:p>
        </p:txBody>
      </p:sp>
      <p:sp>
        <p:nvSpPr>
          <p:cNvPr id="7" name="Rectangle 6"/>
          <p:cNvSpPr/>
          <p:nvPr/>
        </p:nvSpPr>
        <p:spPr>
          <a:xfrm>
            <a:off x="685800"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Oval 8"/>
          <p:cNvSpPr/>
          <p:nvPr/>
        </p:nvSpPr>
        <p:spPr>
          <a:xfrm>
            <a:off x="1316736"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0" name="Picture 9" descr="coins.png"/>
          <p:cNvPicPr>
            <a:picLocks noChangeAspect="1"/>
          </p:cNvPicPr>
          <p:nvPr/>
        </p:nvPicPr>
        <p:blipFill>
          <a:blip r:embed="rId2"/>
          <a:stretch>
            <a:fillRect/>
          </a:stretch>
        </p:blipFill>
        <p:spPr>
          <a:xfrm>
            <a:off x="1426464" y="1947672"/>
            <a:ext cx="310896" cy="310896"/>
          </a:xfrm>
          <a:prstGeom prst="rect">
            <a:avLst/>
          </a:prstGeom>
          <a:effectLst/>
        </p:spPr>
      </p:pic>
      <p:sp>
        <p:nvSpPr>
          <p:cNvPr id="11" name="TextBox 10"/>
          <p:cNvSpPr txBox="1"/>
          <p:nvPr/>
        </p:nvSpPr>
        <p:spPr>
          <a:xfrm>
            <a:off x="822960"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gains if I believe it?</a:t>
            </a:r>
          </a:p>
        </p:txBody>
      </p:sp>
      <p:sp>
        <p:nvSpPr>
          <p:cNvPr id="12" name="Rectangle 11"/>
          <p:cNvSpPr/>
          <p:nvPr/>
        </p:nvSpPr>
        <p:spPr>
          <a:xfrm>
            <a:off x="2679192"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Rectangle 12"/>
          <p:cNvSpPr/>
          <p:nvPr/>
        </p:nvSpPr>
        <p:spPr>
          <a:xfrm>
            <a:off x="2679192"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Oval 13"/>
          <p:cNvSpPr/>
          <p:nvPr/>
        </p:nvSpPr>
        <p:spPr>
          <a:xfrm>
            <a:off x="3310128"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15" name="Picture 14" descr="purse.png"/>
          <p:cNvPicPr>
            <a:picLocks noChangeAspect="1"/>
          </p:cNvPicPr>
          <p:nvPr/>
        </p:nvPicPr>
        <p:blipFill>
          <a:blip r:embed="rId3"/>
          <a:stretch>
            <a:fillRect/>
          </a:stretch>
        </p:blipFill>
        <p:spPr>
          <a:xfrm>
            <a:off x="3419856" y="1947672"/>
            <a:ext cx="310896" cy="310896"/>
          </a:xfrm>
          <a:prstGeom prst="rect">
            <a:avLst/>
          </a:prstGeom>
          <a:effectLst/>
        </p:spPr>
      </p:pic>
      <p:sp>
        <p:nvSpPr>
          <p:cNvPr id="16" name="TextBox 15"/>
          <p:cNvSpPr txBox="1"/>
          <p:nvPr/>
        </p:nvSpPr>
        <p:spPr>
          <a:xfrm>
            <a:off x="2816352" y="2487168"/>
            <a:ext cx="1517904" cy="204724"/>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Who paid for it?</a:t>
            </a:r>
          </a:p>
        </p:txBody>
      </p:sp>
      <p:sp>
        <p:nvSpPr>
          <p:cNvPr id="17" name="Rectangle 16"/>
          <p:cNvSpPr/>
          <p:nvPr/>
        </p:nvSpPr>
        <p:spPr>
          <a:xfrm>
            <a:off x="4672584"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Rectangle 17"/>
          <p:cNvSpPr/>
          <p:nvPr/>
        </p:nvSpPr>
        <p:spPr>
          <a:xfrm>
            <a:off x="4672584"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Oval 18"/>
          <p:cNvSpPr/>
          <p:nvPr/>
        </p:nvSpPr>
        <p:spPr>
          <a:xfrm>
            <a:off x="5303520"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0" name="Picture 19" descr="magnifier.png"/>
          <p:cNvPicPr>
            <a:picLocks noChangeAspect="1"/>
          </p:cNvPicPr>
          <p:nvPr/>
        </p:nvPicPr>
        <p:blipFill>
          <a:blip r:embed="rId4"/>
          <a:stretch>
            <a:fillRect/>
          </a:stretch>
        </p:blipFill>
        <p:spPr>
          <a:xfrm>
            <a:off x="5413248" y="1947672"/>
            <a:ext cx="310896" cy="310896"/>
          </a:xfrm>
          <a:prstGeom prst="rect">
            <a:avLst/>
          </a:prstGeom>
          <a:effectLst/>
        </p:spPr>
      </p:pic>
      <p:sp>
        <p:nvSpPr>
          <p:cNvPr id="21" name="TextBox 20"/>
          <p:cNvSpPr txBox="1"/>
          <p:nvPr/>
        </p:nvSpPr>
        <p:spPr>
          <a:xfrm>
            <a:off x="4809744" y="2487168"/>
            <a:ext cx="1517904" cy="409448"/>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What is the evidence?</a:t>
            </a:r>
          </a:p>
        </p:txBody>
      </p:sp>
      <p:sp>
        <p:nvSpPr>
          <p:cNvPr id="22" name="Rectangle 21"/>
          <p:cNvSpPr/>
          <p:nvPr/>
        </p:nvSpPr>
        <p:spPr>
          <a:xfrm>
            <a:off x="6665976" y="1645920"/>
            <a:ext cx="1792224" cy="1481328"/>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Rectangle 22"/>
          <p:cNvSpPr/>
          <p:nvPr/>
        </p:nvSpPr>
        <p:spPr>
          <a:xfrm>
            <a:off x="6665976" y="1645920"/>
            <a:ext cx="1792224"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Oval 23"/>
          <p:cNvSpPr/>
          <p:nvPr/>
        </p:nvSpPr>
        <p:spPr>
          <a:xfrm>
            <a:off x="7296912" y="1837943"/>
            <a:ext cx="530352" cy="530352"/>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pic>
        <p:nvPicPr>
          <p:cNvPr id="25" name="Picture 24" descr="flask.png"/>
          <p:cNvPicPr>
            <a:picLocks noChangeAspect="1"/>
          </p:cNvPicPr>
          <p:nvPr/>
        </p:nvPicPr>
        <p:blipFill>
          <a:blip r:embed="rId5"/>
          <a:stretch>
            <a:fillRect/>
          </a:stretch>
        </p:blipFill>
        <p:spPr>
          <a:xfrm>
            <a:off x="7406640" y="1947672"/>
            <a:ext cx="310896" cy="310896"/>
          </a:xfrm>
          <a:prstGeom prst="rect">
            <a:avLst/>
          </a:prstGeom>
          <a:effectLst/>
        </p:spPr>
      </p:pic>
      <p:sp>
        <p:nvSpPr>
          <p:cNvPr id="26" name="TextBox 25"/>
          <p:cNvSpPr txBox="1"/>
          <p:nvPr/>
        </p:nvSpPr>
        <p:spPr>
          <a:xfrm>
            <a:off x="6803136" y="2487168"/>
            <a:ext cx="1517904" cy="614172"/>
          </a:xfrm>
          <a:prstGeom prst="rect">
            <a:avLst/>
          </a:prstGeom>
          <a:noFill/>
          <a:effectLst/>
        </p:spPr>
        <p:txBody>
          <a:bodyPr wrap="square" anchor="t" lIns="0" rIns="0" tIns="0" bIns="0">
            <a:spAutoFit/>
          </a:bodyPr>
          <a:lstStyle/>
          <a:p>
            <a:pPr algn="ctr">
              <a:lnSpc>
                <a:spcPct val="110000"/>
              </a:lnSpc>
              <a:spcAft>
                <a:spcPts val="0"/>
              </a:spcAft>
            </a:pPr>
            <a:r>
              <a:rPr sz="1300" b="1" i="0">
                <a:solidFill>
                  <a:srgbClr val="262422"/>
                </a:solidFill>
                <a:latin typeface="Libre Caslon Display"/>
              </a:rPr>
              <a:t>Has it been tested, and by whom?</a:t>
            </a:r>
          </a:p>
        </p:txBody>
      </p:sp>
      <p:sp>
        <p:nvSpPr>
          <p:cNvPr id="27" name="TextBox 26"/>
          <p:cNvSpPr txBox="1"/>
          <p:nvPr/>
        </p:nvSpPr>
        <p:spPr>
          <a:xfrm>
            <a:off x="868680" y="3474720"/>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Then fill in the top of your evidence sheet: where you stand, and what you would need to know.</a:t>
            </a:r>
          </a:p>
        </p:txBody>
      </p:sp>
      <p:pic>
        <p:nvPicPr>
          <p:cNvPr id="28" name="Picture 27" descr="logo-mark.png"/>
          <p:cNvPicPr>
            <a:picLocks noChangeAspect="1"/>
          </p:cNvPicPr>
          <p:nvPr/>
        </p:nvPicPr>
        <p:blipFill>
          <a:blip r:embed="rId6"/>
          <a:stretch>
            <a:fillRect/>
          </a:stretch>
        </p:blipFill>
        <p:spPr>
          <a:xfrm>
            <a:off x="384048" y="4727448"/>
            <a:ext cx="158374" cy="182880"/>
          </a:xfrm>
          <a:prstGeom prst="rect">
            <a:avLst/>
          </a:prstGeom>
          <a:effectLst/>
        </p:spPr>
      </p:pic>
      <p:sp>
        <p:nvSpPr>
          <p:cNvPr id="29" name="TextBox 28"/>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30" name="TextBox 29"/>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7 / 19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1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A</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authors</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The review was written by nutrition scientists at Harvard, one of the most famous universities in the world. It came out in 1967 in the New England Journal of Medicine. The authors listed some of the money that paid for their work. The Sugar Research Foundation was not on the list.</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STAT News, 12 September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A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8 / 19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2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B</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plan</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1964, a sugar industry group wrote a plan to change “negative attitudes towards sugar”, partly by paying for research. In July 1965, one of its leaders, John Hickson, asked Harvard for a review of the studies that found “some special metabolic peril in sucrose”, which is sugar. The fee was $6,500, about $48,000 in today’s money.</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STAT News and JAMA Internal Medicine,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B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9 / 19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3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C</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The letter</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The industry saw a draft before the review was sent to the journal. Hickson wrote back: “Let me assure you this is quite what we had in mind and we look forward to its appearance in print.” The review said cutting fat and cholesterol was the only diet change that could prevent heart disease.</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Quoted in STAT News,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C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10 / 19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6406362" y="246888"/>
            <a:ext cx="205183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CRUNCH THE NUMBERS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do the numbers say?</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Work them out in your group. Write your working on your evidence sheet.</a:t>
            </a:r>
          </a:p>
        </p:txBody>
      </p:sp>
      <p:sp>
        <p:nvSpPr>
          <p:cNvPr id="7" name="Rectangle 6"/>
          <p:cNvSpPr/>
          <p:nvPr/>
        </p:nvSpPr>
        <p:spPr>
          <a:xfrm>
            <a:off x="685800" y="1481328"/>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The fee was $6,500 in 1965, about $48,000 in 2016 money. Roughly how many times more is the 2016 figure?</a:t>
            </a:r>
          </a:p>
        </p:txBody>
      </p:sp>
      <p:sp>
        <p:nvSpPr>
          <p:cNvPr id="11" name="Rectangle 10"/>
          <p:cNvSpPr/>
          <p:nvPr/>
        </p:nvSpPr>
        <p:spPr>
          <a:xfrm>
            <a:off x="685800" y="2345436"/>
            <a:ext cx="7772400" cy="699516"/>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Oval 11"/>
          <p:cNvSpPr/>
          <p:nvPr/>
        </p:nvSpPr>
        <p:spPr>
          <a:xfrm>
            <a:off x="868680" y="2427732"/>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TextBox 12"/>
          <p:cNvSpPr txBox="1"/>
          <p:nvPr/>
        </p:nvSpPr>
        <p:spPr>
          <a:xfrm>
            <a:off x="868680" y="2500884"/>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4" name="TextBox 13"/>
          <p:cNvSpPr txBox="1"/>
          <p:nvPr/>
        </p:nvSpPr>
        <p:spPr>
          <a:xfrm>
            <a:off x="1371600" y="2455164"/>
            <a:ext cx="6903720" cy="48006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How many years passed between the review coming out (1967) and the letters being published (2016)?</a:t>
            </a:r>
          </a:p>
        </p:txBody>
      </p:sp>
      <p:sp>
        <p:nvSpPr>
          <p:cNvPr id="15" name="Rectangle 14"/>
          <p:cNvSpPr/>
          <p:nvPr/>
        </p:nvSpPr>
        <p:spPr>
          <a:xfrm>
            <a:off x="685800" y="3209544"/>
            <a:ext cx="7772400" cy="939545"/>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6" name="Oval 15"/>
          <p:cNvSpPr/>
          <p:nvPr/>
        </p:nvSpPr>
        <p:spPr>
          <a:xfrm>
            <a:off x="868680" y="3291840"/>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TextBox 16"/>
          <p:cNvSpPr txBox="1"/>
          <p:nvPr/>
        </p:nvSpPr>
        <p:spPr>
          <a:xfrm>
            <a:off x="868680" y="3364992"/>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18" name="TextBox 17"/>
          <p:cNvSpPr txBox="1"/>
          <p:nvPr/>
        </p:nvSpPr>
        <p:spPr>
          <a:xfrm>
            <a:off x="1371600" y="3319272"/>
            <a:ext cx="6903720" cy="720090"/>
          </a:xfrm>
          <a:prstGeom prst="rect">
            <a:avLst/>
          </a:prstGeom>
          <a:noFill/>
          <a:effectLst/>
        </p:spPr>
        <p:txBody>
          <a:bodyPr wrap="square" anchor="t" lIns="0" rIns="0" tIns="0" bIns="0">
            <a:spAutoFit/>
          </a:bodyPr>
          <a:lstStyle/>
          <a:p>
            <a:pPr algn="l">
              <a:lnSpc>
                <a:spcPct val="120000"/>
              </a:lnSpc>
              <a:spcAft>
                <a:spcPts val="0"/>
              </a:spcAft>
            </a:pPr>
            <a:r>
              <a:rPr sz="1500" b="1" i="0">
                <a:solidFill>
                  <a:srgbClr val="262422"/>
                </a:solidFill>
                <a:latin typeface="Karla"/>
              </a:rPr>
              <a:t>The journal started asking authors who paid them in 1984. How many years after the review was that, and why might it matter?</a:t>
            </a:r>
          </a:p>
        </p:txBody>
      </p:sp>
      <p:pic>
        <p:nvPicPr>
          <p:cNvPr id="19" name="Picture 18"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0" name="TextBox 19"/>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1" name="TextBox 20"/>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11 /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2528" y="246888"/>
            <a:ext cx="138567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THE ANSWERS</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your working</a:t>
            </a:r>
          </a:p>
        </p:txBody>
      </p:sp>
      <p:sp>
        <p:nvSpPr>
          <p:cNvPr id="6" name="TextBox 5"/>
          <p:cNvSpPr txBox="1"/>
          <p:nvPr/>
        </p:nvSpPr>
        <p:spPr>
          <a:xfrm>
            <a:off x="685800" y="1133856"/>
            <a:ext cx="7772400" cy="274320"/>
          </a:xfrm>
          <a:prstGeom prst="rect">
            <a:avLst/>
          </a:prstGeom>
          <a:noFill/>
          <a:effectLst/>
        </p:spPr>
        <p:txBody>
          <a:bodyPr wrap="square" anchor="t" lIns="0" rIns="0" tIns="0" bIns="0">
            <a:spAutoFit/>
          </a:bodyPr>
          <a:lstStyle/>
          <a:p>
            <a:pPr algn="l">
              <a:lnSpc>
                <a:spcPct val="125000"/>
              </a:lnSpc>
              <a:spcAft>
                <a:spcPts val="0"/>
              </a:spcAft>
            </a:pPr>
            <a:r>
              <a:rPr sz="1250" b="0" i="0">
                <a:solidFill>
                  <a:srgbClr val="56524B"/>
                </a:solidFill>
                <a:latin typeface="Karla"/>
              </a:rPr>
              <a:t>Mark your own. A different method that gets the same answer is fine.</a:t>
            </a:r>
          </a:p>
        </p:txBody>
      </p:sp>
      <p:sp>
        <p:nvSpPr>
          <p:cNvPr id="7" name="Rectangle 6"/>
          <p:cNvSpPr/>
          <p:nvPr/>
        </p:nvSpPr>
        <p:spPr>
          <a:xfrm>
            <a:off x="685800" y="1481328"/>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563624"/>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636776"/>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1</a:t>
            </a:r>
          </a:p>
        </p:txBody>
      </p:sp>
      <p:sp>
        <p:nvSpPr>
          <p:cNvPr id="10" name="TextBox 9"/>
          <p:cNvSpPr txBox="1"/>
          <p:nvPr/>
        </p:nvSpPr>
        <p:spPr>
          <a:xfrm>
            <a:off x="1371600" y="1591056"/>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The fee was $6,500 in 1965, about $48,000 in 2016 money. Roughly how many times more is the 2016 figure?</a:t>
            </a:r>
          </a:p>
        </p:txBody>
      </p:sp>
      <p:sp>
        <p:nvSpPr>
          <p:cNvPr id="11" name="TextBox 10"/>
          <p:cNvSpPr txBox="1"/>
          <p:nvPr/>
        </p:nvSpPr>
        <p:spPr>
          <a:xfrm>
            <a:off x="1371600" y="2029968"/>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About 7 times (48,000 ÷ 6,500 = 7.4).</a:t>
            </a:r>
          </a:p>
        </p:txBody>
      </p:sp>
      <p:sp>
        <p:nvSpPr>
          <p:cNvPr id="12" name="Rectangle 11"/>
          <p:cNvSpPr/>
          <p:nvPr/>
        </p:nvSpPr>
        <p:spPr>
          <a:xfrm>
            <a:off x="685800" y="2423160"/>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05456"/>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78608"/>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2</a:t>
            </a:r>
          </a:p>
        </p:txBody>
      </p:sp>
      <p:sp>
        <p:nvSpPr>
          <p:cNvPr id="15" name="TextBox 14"/>
          <p:cNvSpPr txBox="1"/>
          <p:nvPr/>
        </p:nvSpPr>
        <p:spPr>
          <a:xfrm>
            <a:off x="1371600" y="2532888"/>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How many years passed between the review coming out (1967) and the letters being published (2016)?</a:t>
            </a:r>
          </a:p>
        </p:txBody>
      </p:sp>
      <p:sp>
        <p:nvSpPr>
          <p:cNvPr id="16" name="TextBox 15"/>
          <p:cNvSpPr txBox="1"/>
          <p:nvPr/>
        </p:nvSpPr>
        <p:spPr>
          <a:xfrm>
            <a:off x="1371600" y="2971800"/>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49 years.</a:t>
            </a:r>
          </a:p>
        </p:txBody>
      </p:sp>
      <p:sp>
        <p:nvSpPr>
          <p:cNvPr id="17" name="Rectangle 16"/>
          <p:cNvSpPr/>
          <p:nvPr/>
        </p:nvSpPr>
        <p:spPr>
          <a:xfrm>
            <a:off x="685800" y="3364992"/>
            <a:ext cx="7772400" cy="850392"/>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447288"/>
            <a:ext cx="329184" cy="32918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520440"/>
            <a:ext cx="329184" cy="182880"/>
          </a:xfrm>
          <a:prstGeom prst="rect">
            <a:avLst/>
          </a:prstGeom>
          <a:noFill/>
          <a:effectLst/>
        </p:spPr>
        <p:txBody>
          <a:bodyPr wrap="square" anchor="t" lIns="0" rIns="0" tIns="0" bIns="0">
            <a:spAutoFit/>
          </a:bodyPr>
          <a:lstStyle/>
          <a:p>
            <a:pPr algn="ctr">
              <a:lnSpc>
                <a:spcPct val="125000"/>
              </a:lnSpc>
              <a:spcAft>
                <a:spcPts val="0"/>
              </a:spcAft>
            </a:pPr>
            <a:r>
              <a:rPr sz="1050" b="1" i="0">
                <a:solidFill>
                  <a:srgbClr val="FFFDF7"/>
                </a:solidFill>
                <a:latin typeface="Karla"/>
              </a:rPr>
              <a:t>3</a:t>
            </a:r>
          </a:p>
        </p:txBody>
      </p:sp>
      <p:sp>
        <p:nvSpPr>
          <p:cNvPr id="20" name="TextBox 19"/>
          <p:cNvSpPr txBox="1"/>
          <p:nvPr/>
        </p:nvSpPr>
        <p:spPr>
          <a:xfrm>
            <a:off x="1371600" y="3474720"/>
            <a:ext cx="6903720" cy="384048"/>
          </a:xfrm>
          <a:prstGeom prst="rect">
            <a:avLst/>
          </a:prstGeom>
          <a:noFill/>
          <a:effectLst/>
        </p:spPr>
        <p:txBody>
          <a:bodyPr wrap="square" anchor="t" lIns="0" rIns="0" tIns="0" bIns="0">
            <a:spAutoFit/>
          </a:bodyPr>
          <a:lstStyle/>
          <a:p>
            <a:pPr algn="l">
              <a:lnSpc>
                <a:spcPct val="120000"/>
              </a:lnSpc>
              <a:spcAft>
                <a:spcPts val="0"/>
              </a:spcAft>
            </a:pPr>
            <a:r>
              <a:rPr sz="1200" b="1" i="0">
                <a:solidFill>
                  <a:srgbClr val="262422"/>
                </a:solidFill>
                <a:latin typeface="Karla"/>
              </a:rPr>
              <a:t>The journal started asking authors who paid them in 1984. How many years after the review was that, and why might it matter?</a:t>
            </a:r>
          </a:p>
        </p:txBody>
      </p:sp>
      <p:sp>
        <p:nvSpPr>
          <p:cNvPr id="21" name="TextBox 20"/>
          <p:cNvSpPr txBox="1"/>
          <p:nvPr/>
        </p:nvSpPr>
        <p:spPr>
          <a:xfrm>
            <a:off x="1371600" y="3913632"/>
            <a:ext cx="6903720" cy="192024"/>
          </a:xfrm>
          <a:prstGeom prst="rect">
            <a:avLst/>
          </a:prstGeom>
          <a:noFill/>
          <a:effectLst/>
        </p:spPr>
        <p:txBody>
          <a:bodyPr wrap="square" anchor="t" lIns="0" rIns="0" tIns="0" bIns="0">
            <a:spAutoFit/>
          </a:bodyPr>
          <a:lstStyle/>
          <a:p>
            <a:pPr algn="l">
              <a:lnSpc>
                <a:spcPct val="120000"/>
              </a:lnSpc>
              <a:spcAft>
                <a:spcPts val="0"/>
              </a:spcAft>
            </a:pPr>
            <a:r>
              <a:rPr sz="1200" b="0" i="0">
                <a:solidFill>
                  <a:srgbClr val="34322F"/>
                </a:solidFill>
                <a:latin typeface="Karla"/>
              </a:rPr>
              <a:t>17 years. Until then, readers had no way of knowing who had paid for a study.</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12 / 19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075113" y="246888"/>
            <a:ext cx="1383086"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ROUND 4 OF 4</a:t>
            </a:r>
          </a:p>
        </p:txBody>
      </p:sp>
      <p:sp>
        <p:nvSpPr>
          <p:cNvPr id="5" name="Rectangle 4"/>
          <p:cNvSpPr/>
          <p:nvPr/>
        </p:nvSpPr>
        <p:spPr>
          <a:xfrm>
            <a:off x="685800" y="603504"/>
            <a:ext cx="1554480" cy="329184"/>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TextBox 5"/>
          <p:cNvSpPr txBox="1"/>
          <p:nvPr/>
        </p:nvSpPr>
        <p:spPr>
          <a:xfrm>
            <a:off x="685800" y="658368"/>
            <a:ext cx="1554480" cy="237744"/>
          </a:xfrm>
          <a:prstGeom prst="rect">
            <a:avLst/>
          </a:prstGeom>
          <a:noFill/>
          <a:effectLst/>
        </p:spPr>
        <p:txBody>
          <a:bodyPr wrap="square" anchor="t" lIns="0" rIns="0" tIns="0" bIns="0">
            <a:spAutoFit/>
          </a:bodyPr>
          <a:lstStyle/>
          <a:p>
            <a:pPr algn="ctr">
              <a:lnSpc>
                <a:spcPct val="125000"/>
              </a:lnSpc>
              <a:spcAft>
                <a:spcPts val="0"/>
              </a:spcAft>
            </a:pPr>
            <a:r>
              <a:rPr sz="1100" b="1" i="0" spc="160">
                <a:solidFill>
                  <a:srgbClr val="FFFDF7"/>
                </a:solidFill>
                <a:latin typeface="Karla"/>
              </a:rPr>
              <a:t>EVIDENCE D</a:t>
            </a:r>
          </a:p>
        </p:txBody>
      </p:sp>
      <p:sp>
        <p:nvSpPr>
          <p:cNvPr id="7" name="Rectangle 6"/>
          <p:cNvSpPr/>
          <p:nvPr/>
        </p:nvSpPr>
        <p:spPr>
          <a:xfrm>
            <a:off x="685800" y="932688"/>
            <a:ext cx="7772400" cy="3072384"/>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Rectangle 7"/>
          <p:cNvSpPr/>
          <p:nvPr/>
        </p:nvSpPr>
        <p:spPr>
          <a:xfrm>
            <a:off x="685800" y="932688"/>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1005840" y="1115568"/>
            <a:ext cx="7132320" cy="365760"/>
          </a:xfrm>
          <a:prstGeom prst="rect">
            <a:avLst/>
          </a:prstGeom>
          <a:noFill/>
          <a:effectLst/>
        </p:spPr>
        <p:txBody>
          <a:bodyPr wrap="square" anchor="t" lIns="0" rIns="0" tIns="0" bIns="0">
            <a:spAutoFit/>
          </a:bodyPr>
          <a:lstStyle/>
          <a:p>
            <a:pPr algn="l">
              <a:lnSpc>
                <a:spcPct val="125000"/>
              </a:lnSpc>
              <a:spcAft>
                <a:spcPts val="0"/>
              </a:spcAft>
            </a:pPr>
            <a:r>
              <a:rPr sz="2200" b="1" i="0">
                <a:solidFill>
                  <a:srgbClr val="262422"/>
                </a:solidFill>
                <a:latin typeface="Libre Caslon Display"/>
              </a:rPr>
              <a:t>Fifty years later</a:t>
            </a:r>
          </a:p>
        </p:txBody>
      </p:sp>
      <p:sp>
        <p:nvSpPr>
          <p:cNvPr id="10" name="TextBox 9"/>
          <p:cNvSpPr txBox="1"/>
          <p:nvPr/>
        </p:nvSpPr>
        <p:spPr>
          <a:xfrm>
            <a:off x="1005840" y="1609344"/>
            <a:ext cx="7132320" cy="1320800"/>
          </a:xfrm>
          <a:prstGeom prst="rect">
            <a:avLst/>
          </a:prstGeom>
          <a:noFill/>
          <a:effectLst/>
        </p:spPr>
        <p:txBody>
          <a:bodyPr wrap="square" anchor="t" lIns="0" rIns="0" tIns="0" bIns="0">
            <a:spAutoFit/>
          </a:bodyPr>
          <a:lstStyle/>
          <a:p>
            <a:pPr algn="l">
              <a:lnSpc>
                <a:spcPct val="130000"/>
              </a:lnSpc>
              <a:spcAft>
                <a:spcPts val="0"/>
              </a:spcAft>
            </a:pPr>
            <a:r>
              <a:rPr sz="1600" b="0" i="0">
                <a:solidFill>
                  <a:srgbClr val="262422"/>
                </a:solidFill>
                <a:latin typeface="Georgia"/>
              </a:rPr>
              <a:t>In 2016, a researcher called Cristin Kearns published the letters, which she found in a Harvard library. Her co-author said the review “delayed the development of a scientific consensus on sugar–heart disease for decades.” Another Harvard scientist pointed out that, in the 1960s, the evidence against fat really was stronger.</a:t>
            </a:r>
          </a:p>
        </p:txBody>
      </p:sp>
      <p:sp>
        <p:nvSpPr>
          <p:cNvPr id="11" name="TextBox 10"/>
          <p:cNvSpPr txBox="1"/>
          <p:nvPr/>
        </p:nvSpPr>
        <p:spPr>
          <a:xfrm>
            <a:off x="1005840" y="3675887"/>
            <a:ext cx="7132320" cy="219456"/>
          </a:xfrm>
          <a:prstGeom prst="rect">
            <a:avLst/>
          </a:prstGeom>
          <a:noFill/>
          <a:effectLst/>
        </p:spPr>
        <p:txBody>
          <a:bodyPr wrap="square" anchor="t" lIns="0" rIns="0" tIns="0" bIns="0">
            <a:spAutoFit/>
          </a:bodyPr>
          <a:lstStyle/>
          <a:p>
            <a:pPr algn="l">
              <a:lnSpc>
                <a:spcPct val="125000"/>
              </a:lnSpc>
              <a:spcAft>
                <a:spcPts val="0"/>
              </a:spcAft>
            </a:pPr>
            <a:r>
              <a:rPr sz="950" b="0" i="1">
                <a:solidFill>
                  <a:srgbClr val="8C877D"/>
                </a:solidFill>
                <a:latin typeface="Karla"/>
              </a:rPr>
              <a:t>Source: Kearns, Schmidt and Glantz, JAMA Internal Medicine, 2016</a:t>
            </a:r>
          </a:p>
        </p:txBody>
      </p:sp>
      <p:sp>
        <p:nvSpPr>
          <p:cNvPr id="12" name="TextBox 11"/>
          <p:cNvSpPr txBox="1"/>
          <p:nvPr/>
        </p:nvSpPr>
        <p:spPr>
          <a:xfrm>
            <a:off x="868680" y="4133087"/>
            <a:ext cx="7406640" cy="400050"/>
          </a:xfrm>
          <a:prstGeom prst="rect">
            <a:avLst/>
          </a:prstGeom>
          <a:noFill/>
          <a:effectLst/>
        </p:spPr>
        <p:txBody>
          <a:bodyPr wrap="square" anchor="t" lIns="0" rIns="0" tIns="0" bIns="0">
            <a:spAutoFit/>
          </a:bodyPr>
          <a:lstStyle/>
          <a:p>
            <a:pPr algn="ctr">
              <a:lnSpc>
                <a:spcPct val="120000"/>
              </a:lnSpc>
              <a:spcAft>
                <a:spcPts val="0"/>
              </a:spcAft>
            </a:pPr>
            <a:r>
              <a:rPr sz="1250" b="1" i="0">
                <a:solidFill>
                  <a:srgbClr val="34322F"/>
                </a:solidFill>
                <a:latin typeface="Karla"/>
              </a:rPr>
              <a:t>Read it as a group. Fill in the card D row on your evidence sheet, then move on the line.</a:t>
            </a:r>
          </a:p>
        </p:txBody>
      </p:sp>
      <p:pic>
        <p:nvPicPr>
          <p:cNvPr id="13" name="Picture 1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4" name="TextBox 1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5" name="TextBox 1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13 / 19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280579" y="246888"/>
            <a:ext cx="1177620"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YOUR TURN</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Write the real front page</a:t>
            </a:r>
          </a:p>
        </p:txBody>
      </p:sp>
      <p:sp>
        <p:nvSpPr>
          <p:cNvPr id="6" name="TextBox 5"/>
          <p:cNvSpPr txBox="1"/>
          <p:nvPr/>
        </p:nvSpPr>
        <p:spPr>
          <a:xfrm>
            <a:off x="685800" y="1115568"/>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On your front page sheet, on your own or with one partner.</a:t>
            </a:r>
          </a:p>
        </p:txBody>
      </p:sp>
      <p:sp>
        <p:nvSpPr>
          <p:cNvPr id="7" name="Rectangle 6"/>
          <p:cNvSpPr/>
          <p:nvPr/>
        </p:nvSpPr>
        <p:spPr>
          <a:xfrm>
            <a:off x="685800" y="14996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636775"/>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732787"/>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002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A headline that is true to the evidence</a:t>
            </a:r>
          </a:p>
        </p:txBody>
      </p:sp>
      <p:sp>
        <p:nvSpPr>
          <p:cNvPr id="11" name="TextBox 10"/>
          <p:cNvSpPr txBox="1"/>
          <p:nvPr/>
        </p:nvSpPr>
        <p:spPr>
          <a:xfrm>
            <a:off x="1417320" y="18470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 bigger than the evidence. If you are not sure, the headline can say so.</a:t>
            </a:r>
          </a:p>
        </p:txBody>
      </p:sp>
      <p:sp>
        <p:nvSpPr>
          <p:cNvPr id="12" name="Rectangle 11"/>
          <p:cNvSpPr/>
          <p:nvPr/>
        </p:nvSpPr>
        <p:spPr>
          <a:xfrm>
            <a:off x="685800" y="2304288"/>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441448"/>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537460"/>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404872"/>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One line under it that sums up the story</a:t>
            </a:r>
          </a:p>
        </p:txBody>
      </p:sp>
      <p:sp>
        <p:nvSpPr>
          <p:cNvPr id="16" name="TextBox 15"/>
          <p:cNvSpPr txBox="1"/>
          <p:nvPr/>
        </p:nvSpPr>
        <p:spPr>
          <a:xfrm>
            <a:off x="1417320" y="2651760"/>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Who made the claim, and what they stood to gain.</a:t>
            </a:r>
          </a:p>
        </p:txBody>
      </p:sp>
      <p:sp>
        <p:nvSpPr>
          <p:cNvPr id="17" name="Rectangle 16"/>
          <p:cNvSpPr/>
          <p:nvPr/>
        </p:nvSpPr>
        <p:spPr>
          <a:xfrm>
            <a:off x="685800" y="3108960"/>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246120"/>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342132"/>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209544"/>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The story, in four or five sentences</a:t>
            </a:r>
          </a:p>
        </p:txBody>
      </p:sp>
      <p:sp>
        <p:nvSpPr>
          <p:cNvPr id="21" name="TextBox 20"/>
          <p:cNvSpPr txBox="1"/>
          <p:nvPr/>
        </p:nvSpPr>
        <p:spPr>
          <a:xfrm>
            <a:off x="1417320" y="3456432"/>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Use at least two cards, name each one, and put in one number from your sums.</a:t>
            </a:r>
          </a:p>
        </p:txBody>
      </p:sp>
      <p:sp>
        <p:nvSpPr>
          <p:cNvPr id="22" name="TextBox 21"/>
          <p:cNvSpPr txBox="1"/>
          <p:nvPr/>
        </p:nvSpPr>
        <p:spPr>
          <a:xfrm>
            <a:off x="868680" y="3986784"/>
            <a:ext cx="7406640" cy="432054"/>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Your evidence sheet has everything you need. Write it for somebody who has not seen the cards.</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14 / 19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714534" y="246888"/>
            <a:ext cx="743665"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MARK</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Check somebody else’s page</a:t>
            </a:r>
          </a:p>
        </p:txBody>
      </p:sp>
      <p:sp>
        <p:nvSpPr>
          <p:cNvPr id="6" name="TextBox 5"/>
          <p:cNvSpPr txBox="1"/>
          <p:nvPr/>
        </p:nvSpPr>
        <p:spPr>
          <a:xfrm>
            <a:off x="685800" y="1152144"/>
            <a:ext cx="7772400" cy="274320"/>
          </a:xfrm>
          <a:prstGeom prst="rect">
            <a:avLst/>
          </a:prstGeom>
          <a:noFill/>
          <a:effectLst/>
        </p:spPr>
        <p:txBody>
          <a:bodyPr wrap="square" anchor="t" lIns="0" rIns="0" tIns="0" bIns="0">
            <a:spAutoFit/>
          </a:bodyPr>
          <a:lstStyle/>
          <a:p>
            <a:pPr algn="l">
              <a:lnSpc>
                <a:spcPct val="125000"/>
              </a:lnSpc>
              <a:spcAft>
                <a:spcPts val="0"/>
              </a:spcAft>
            </a:pPr>
            <a:r>
              <a:rPr sz="1300" b="0" i="0">
                <a:solidFill>
                  <a:srgbClr val="56524B"/>
                </a:solidFill>
                <a:latin typeface="Karla"/>
              </a:rPr>
              <a:t>Swap front pages with somebody from another group. Tick each box it passes.</a:t>
            </a:r>
          </a:p>
        </p:txBody>
      </p:sp>
      <p:sp>
        <p:nvSpPr>
          <p:cNvPr id="7" name="Rectangle 6"/>
          <p:cNvSpPr/>
          <p:nvPr/>
        </p:nvSpPr>
        <p:spPr>
          <a:xfrm>
            <a:off x="685800" y="159105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68680" y="172821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68680" y="182422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1</a:t>
            </a:r>
          </a:p>
        </p:txBody>
      </p:sp>
      <p:sp>
        <p:nvSpPr>
          <p:cNvPr id="10" name="TextBox 9"/>
          <p:cNvSpPr txBox="1"/>
          <p:nvPr/>
        </p:nvSpPr>
        <p:spPr>
          <a:xfrm>
            <a:off x="1417320" y="169164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Is the headline true to the evidence?</a:t>
            </a:r>
          </a:p>
        </p:txBody>
      </p:sp>
      <p:sp>
        <p:nvSpPr>
          <p:cNvPr id="11" name="TextBox 10"/>
          <p:cNvSpPr txBox="1"/>
          <p:nvPr/>
        </p:nvSpPr>
        <p:spPr>
          <a:xfrm>
            <a:off x="1417320" y="193852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Not bigger, not smaller, than what the cards show.</a:t>
            </a:r>
          </a:p>
        </p:txBody>
      </p:sp>
      <p:sp>
        <p:nvSpPr>
          <p:cNvPr id="12" name="Rectangle 11"/>
          <p:cNvSpPr/>
          <p:nvPr/>
        </p:nvSpPr>
        <p:spPr>
          <a:xfrm>
            <a:off x="685800" y="241401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68680" y="255117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68680" y="264718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2</a:t>
            </a:r>
          </a:p>
        </p:txBody>
      </p:sp>
      <p:sp>
        <p:nvSpPr>
          <p:cNvPr id="15" name="TextBox 14"/>
          <p:cNvSpPr txBox="1"/>
          <p:nvPr/>
        </p:nvSpPr>
        <p:spPr>
          <a:xfrm>
            <a:off x="1417320" y="251460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Does it say where the evidence came from?</a:t>
            </a:r>
          </a:p>
        </p:txBody>
      </p:sp>
      <p:sp>
        <p:nvSpPr>
          <p:cNvPr id="16" name="TextBox 15"/>
          <p:cNvSpPr txBox="1"/>
          <p:nvPr/>
        </p:nvSpPr>
        <p:spPr>
          <a:xfrm>
            <a:off x="1417320" y="276148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A study, a document, a person with a name.</a:t>
            </a:r>
          </a:p>
        </p:txBody>
      </p:sp>
      <p:sp>
        <p:nvSpPr>
          <p:cNvPr id="17" name="Rectangle 16"/>
          <p:cNvSpPr/>
          <p:nvPr/>
        </p:nvSpPr>
        <p:spPr>
          <a:xfrm>
            <a:off x="685800" y="3236976"/>
            <a:ext cx="7772400" cy="676656"/>
          </a:xfrm>
          <a:prstGeom prst="rect">
            <a:avLst/>
          </a:prstGeom>
          <a:solidFill>
            <a:srgbClr val="FFFDF7"/>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Oval 17"/>
          <p:cNvSpPr/>
          <p:nvPr/>
        </p:nvSpPr>
        <p:spPr>
          <a:xfrm>
            <a:off x="868680" y="3374136"/>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9" name="TextBox 18"/>
          <p:cNvSpPr txBox="1"/>
          <p:nvPr/>
        </p:nvSpPr>
        <p:spPr>
          <a:xfrm>
            <a:off x="868680" y="3470148"/>
            <a:ext cx="402336" cy="219456"/>
          </a:xfrm>
          <a:prstGeom prst="rect">
            <a:avLst/>
          </a:prstGeom>
          <a:noFill/>
          <a:effectLst/>
        </p:spPr>
        <p:txBody>
          <a:bodyPr wrap="square" anchor="t" lIns="0" rIns="0" tIns="0" bIns="0">
            <a:spAutoFit/>
          </a:bodyPr>
          <a:lstStyle/>
          <a:p>
            <a:pPr algn="ctr">
              <a:lnSpc>
                <a:spcPct val="125000"/>
              </a:lnSpc>
              <a:spcAft>
                <a:spcPts val="0"/>
              </a:spcAft>
            </a:pPr>
            <a:r>
              <a:rPr sz="1150" b="1" i="0">
                <a:solidFill>
                  <a:srgbClr val="FFFDF7"/>
                </a:solidFill>
                <a:latin typeface="Karla"/>
              </a:rPr>
              <a:t>3</a:t>
            </a:r>
          </a:p>
        </p:txBody>
      </p:sp>
      <p:sp>
        <p:nvSpPr>
          <p:cNvPr id="20" name="TextBox 19"/>
          <p:cNvSpPr txBox="1"/>
          <p:nvPr/>
        </p:nvSpPr>
        <p:spPr>
          <a:xfrm>
            <a:off x="1417320" y="3337560"/>
            <a:ext cx="6821424" cy="237744"/>
          </a:xfrm>
          <a:prstGeom prst="rect">
            <a:avLst/>
          </a:prstGeom>
          <a:noFill/>
          <a:effectLst/>
        </p:spPr>
        <p:txBody>
          <a:bodyPr wrap="square" anchor="t" lIns="0" rIns="0" tIns="0" bIns="0">
            <a:spAutoFit/>
          </a:bodyPr>
          <a:lstStyle/>
          <a:p>
            <a:pPr algn="l">
              <a:lnSpc>
                <a:spcPct val="125000"/>
              </a:lnSpc>
              <a:spcAft>
                <a:spcPts val="0"/>
              </a:spcAft>
            </a:pPr>
            <a:r>
              <a:rPr sz="1300" b="1" i="0">
                <a:solidFill>
                  <a:srgbClr val="34322F"/>
                </a:solidFill>
                <a:latin typeface="Libre Caslon Display"/>
              </a:rPr>
              <a:t>Would it survive the five questions?</a:t>
            </a:r>
          </a:p>
        </p:txBody>
      </p:sp>
      <p:sp>
        <p:nvSpPr>
          <p:cNvPr id="21" name="TextBox 20"/>
          <p:cNvSpPr txBox="1"/>
          <p:nvPr/>
        </p:nvSpPr>
        <p:spPr>
          <a:xfrm>
            <a:off x="1417320" y="3584448"/>
            <a:ext cx="6821424" cy="256031"/>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56524B"/>
                </a:solidFill>
                <a:latin typeface="Karla"/>
              </a:rPr>
              <a:t>Try one or two of them on it.</a:t>
            </a:r>
          </a:p>
        </p:txBody>
      </p:sp>
      <p:sp>
        <p:nvSpPr>
          <p:cNvPr id="22" name="TextBox 21"/>
          <p:cNvSpPr txBox="1"/>
          <p:nvPr/>
        </p:nvSpPr>
        <p:spPr>
          <a:xfrm>
            <a:off x="868680" y="4023360"/>
            <a:ext cx="7406640" cy="216027"/>
          </a:xfrm>
          <a:prstGeom prst="rect">
            <a:avLst/>
          </a:prstGeom>
          <a:noFill/>
          <a:effectLst/>
        </p:spPr>
        <p:txBody>
          <a:bodyPr wrap="square" anchor="t" lIns="0" rIns="0" tIns="0" bIns="0">
            <a:spAutoFit/>
          </a:bodyPr>
          <a:lstStyle/>
          <a:p>
            <a:pPr algn="ctr">
              <a:lnSpc>
                <a:spcPct val="120000"/>
              </a:lnSpc>
              <a:spcAft>
                <a:spcPts val="0"/>
              </a:spcAft>
            </a:pPr>
            <a:r>
              <a:rPr sz="1350" b="1" i="0">
                <a:solidFill>
                  <a:srgbClr val="34322F"/>
                </a:solidFill>
                <a:latin typeface="Karla"/>
              </a:rPr>
              <a:t>Write one change that would make it better, then hand it back.</a:t>
            </a:r>
          </a:p>
        </p:txBody>
      </p:sp>
      <p:pic>
        <p:nvPicPr>
          <p:cNvPr id="23" name="Picture 22"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4" name="TextBox 23"/>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5" name="TextBox 24"/>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15 / 19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TextBox 3"/>
          <p:cNvSpPr txBox="1"/>
          <p:nvPr/>
        </p:nvSpPr>
        <p:spPr>
          <a:xfrm>
            <a:off x="685800" y="566928"/>
            <a:ext cx="512064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What really happened</a:t>
            </a:r>
          </a:p>
        </p:txBody>
      </p:sp>
      <p:sp>
        <p:nvSpPr>
          <p:cNvPr id="5" name="Rounded Rectangle 4"/>
          <p:cNvSpPr/>
          <p:nvPr/>
        </p:nvSpPr>
        <p:spPr>
          <a:xfrm rot="21120000">
            <a:off x="5748829" y="522732"/>
            <a:ext cx="2858421" cy="746760"/>
          </a:xfrm>
          <a:prstGeom prst="roundRect">
            <a:avLst>
              <a:gd name="adj" fmla="val 8000"/>
            </a:avLst>
          </a:prstGeom>
          <a:noFill/>
          <a:ln w="4445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Rounded Rectangle 5"/>
          <p:cNvSpPr/>
          <p:nvPr/>
        </p:nvSpPr>
        <p:spPr>
          <a:xfrm rot="21120000">
            <a:off x="5831125" y="605028"/>
            <a:ext cx="2693829" cy="582168"/>
          </a:xfrm>
          <a:prstGeom prst="roundRect">
            <a:avLst>
              <a:gd name="adj" fmla="val 6000"/>
            </a:avLst>
          </a:prstGeom>
          <a:noFill/>
          <a:ln w="15240">
            <a:solidFill>
              <a:srgbClr val="34322F"/>
            </a:solidFill>
          </a:ln>
          <a:effectLst/>
        </p:spPr>
        <p:style>
          <a:lnRef idx="1">
            <a:schemeClr val="accent1"/>
          </a:lnRef>
          <a:fillRef idx="3">
            <a:schemeClr val="accent1"/>
          </a:fillRef>
          <a:effectRef idx="0">
            <a:schemeClr val="accent1"/>
          </a:effectRef>
          <a:fontRef idx="minor">
            <a:schemeClr val="lt1"/>
          </a:fontRef>
        </p:style>
        <p:txBody>
          <a:bodyPr rtlCol="0" anchor="ctr" lIns="0" rIns="0" tIns="0" bIns="0" wrap="none"/>
          <a:lstStyle/>
          <a:p>
            <a:pPr algn="ctr"/>
            <a:r>
              <a:rPr sz="3000" b="1" spc="600">
                <a:solidFill>
                  <a:srgbClr val="34322F"/>
                </a:solidFill>
                <a:latin typeface="Karla"/>
              </a:rPr>
              <a:t>BUSTED</a:t>
            </a:r>
          </a:p>
        </p:txBody>
      </p:sp>
      <p:sp>
        <p:nvSpPr>
          <p:cNvPr id="7" name="TextBox 6"/>
          <p:cNvSpPr txBox="1"/>
          <p:nvPr/>
        </p:nvSpPr>
        <p:spPr>
          <a:xfrm>
            <a:off x="685800" y="1591056"/>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1965</a:t>
            </a:r>
          </a:p>
        </p:txBody>
      </p:sp>
      <p:sp>
        <p:nvSpPr>
          <p:cNvPr id="8" name="Oval 7"/>
          <p:cNvSpPr/>
          <p:nvPr/>
        </p:nvSpPr>
        <p:spPr>
          <a:xfrm>
            <a:off x="1819656" y="1645919"/>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2130552" y="1591056"/>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sugar industry pays for a review of the studies that blamed sugar.</a:t>
            </a:r>
          </a:p>
        </p:txBody>
      </p:sp>
      <p:sp>
        <p:nvSpPr>
          <p:cNvPr id="10" name="TextBox 9"/>
          <p:cNvSpPr txBox="1"/>
          <p:nvPr/>
        </p:nvSpPr>
        <p:spPr>
          <a:xfrm>
            <a:off x="685800" y="2029967"/>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1967</a:t>
            </a:r>
          </a:p>
        </p:txBody>
      </p:sp>
      <p:sp>
        <p:nvSpPr>
          <p:cNvPr id="11" name="Oval 10"/>
          <p:cNvSpPr/>
          <p:nvPr/>
        </p:nvSpPr>
        <p:spPr>
          <a:xfrm>
            <a:off x="1819656" y="2084831"/>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2130552" y="2029967"/>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review blames fat and does not mention the sugar industry’s money.</a:t>
            </a:r>
          </a:p>
        </p:txBody>
      </p:sp>
      <p:sp>
        <p:nvSpPr>
          <p:cNvPr id="13" name="TextBox 12"/>
          <p:cNvSpPr txBox="1"/>
          <p:nvPr/>
        </p:nvSpPr>
        <p:spPr>
          <a:xfrm>
            <a:off x="685800" y="2468879"/>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1984</a:t>
            </a:r>
          </a:p>
        </p:txBody>
      </p:sp>
      <p:sp>
        <p:nvSpPr>
          <p:cNvPr id="14" name="Oval 13"/>
          <p:cNvSpPr/>
          <p:nvPr/>
        </p:nvSpPr>
        <p:spPr>
          <a:xfrm>
            <a:off x="1819656" y="2523744"/>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2130552" y="2468879"/>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journal starts asking authors to say who pays them.</a:t>
            </a:r>
          </a:p>
        </p:txBody>
      </p:sp>
      <p:sp>
        <p:nvSpPr>
          <p:cNvPr id="16" name="TextBox 15"/>
          <p:cNvSpPr txBox="1"/>
          <p:nvPr/>
        </p:nvSpPr>
        <p:spPr>
          <a:xfrm>
            <a:off x="685800" y="2907791"/>
            <a:ext cx="1005840" cy="274320"/>
          </a:xfrm>
          <a:prstGeom prst="rect">
            <a:avLst/>
          </a:prstGeom>
          <a:noFill/>
          <a:effectLst/>
        </p:spPr>
        <p:txBody>
          <a:bodyPr wrap="square" anchor="t" lIns="0" rIns="0" tIns="0" bIns="0">
            <a:spAutoFit/>
          </a:bodyPr>
          <a:lstStyle/>
          <a:p>
            <a:pPr algn="r">
              <a:lnSpc>
                <a:spcPct val="125000"/>
              </a:lnSpc>
              <a:spcAft>
                <a:spcPts val="0"/>
              </a:spcAft>
            </a:pPr>
            <a:r>
              <a:rPr sz="1500" b="1" i="0">
                <a:solidFill>
                  <a:srgbClr val="34322F"/>
                </a:solidFill>
                <a:latin typeface="Libre Caslon Display"/>
              </a:rPr>
              <a:t>2016</a:t>
            </a:r>
          </a:p>
        </p:txBody>
      </p:sp>
      <p:sp>
        <p:nvSpPr>
          <p:cNvPr id="17" name="Oval 16"/>
          <p:cNvSpPr/>
          <p:nvPr/>
        </p:nvSpPr>
        <p:spPr>
          <a:xfrm>
            <a:off x="1819656" y="2962656"/>
            <a:ext cx="146304" cy="146304"/>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2130552" y="2907791"/>
            <a:ext cx="6309360" cy="216027"/>
          </a:xfrm>
          <a:prstGeom prst="rect">
            <a:avLst/>
          </a:prstGeom>
          <a:noFill/>
          <a:effectLst/>
        </p:spPr>
        <p:txBody>
          <a:bodyPr wrap="square" anchor="t" lIns="0" rIns="0" tIns="0" bIns="0">
            <a:spAutoFit/>
          </a:bodyPr>
          <a:lstStyle/>
          <a:p>
            <a:pPr algn="l">
              <a:lnSpc>
                <a:spcPct val="122000"/>
              </a:lnSpc>
              <a:spcAft>
                <a:spcPts val="0"/>
              </a:spcAft>
            </a:pPr>
            <a:r>
              <a:rPr sz="1350" b="0" i="0">
                <a:solidFill>
                  <a:srgbClr val="262422"/>
                </a:solidFill>
                <a:latin typeface="Karla"/>
              </a:rPr>
              <a:t>The letters are found and published.</a:t>
            </a:r>
          </a:p>
        </p:txBody>
      </p:sp>
      <p:sp>
        <p:nvSpPr>
          <p:cNvPr id="19" name="Rectangle 18"/>
          <p:cNvSpPr/>
          <p:nvPr/>
        </p:nvSpPr>
        <p:spPr>
          <a:xfrm>
            <a:off x="685800" y="3840480"/>
            <a:ext cx="7772400" cy="676656"/>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0" name="TextBox 19"/>
          <p:cNvSpPr txBox="1"/>
          <p:nvPr/>
        </p:nvSpPr>
        <p:spPr>
          <a:xfrm>
            <a:off x="868680" y="3941063"/>
            <a:ext cx="7406640" cy="182880"/>
          </a:xfrm>
          <a:prstGeom prst="rect">
            <a:avLst/>
          </a:prstGeom>
          <a:noFill/>
          <a:effectLst/>
        </p:spPr>
        <p:txBody>
          <a:bodyPr wrap="square" anchor="t" lIns="0" rIns="0" tIns="0" bIns="0">
            <a:spAutoFit/>
          </a:bodyPr>
          <a:lstStyle/>
          <a:p>
            <a:pPr algn="ctr">
              <a:lnSpc>
                <a:spcPct val="125000"/>
              </a:lnSpc>
              <a:spcAft>
                <a:spcPts val="0"/>
              </a:spcAft>
            </a:pPr>
            <a:r>
              <a:rPr sz="850" b="1" i="0" spc="150">
                <a:solidFill>
                  <a:srgbClr val="D7D2C8"/>
                </a:solidFill>
                <a:latin typeface="Karla"/>
              </a:rPr>
              <a:t>THE QUESTION THAT WOULD HAVE CAUGHT IT</a:t>
            </a:r>
          </a:p>
        </p:txBody>
      </p:sp>
      <p:sp>
        <p:nvSpPr>
          <p:cNvPr id="21" name="TextBox 20"/>
          <p:cNvSpPr txBox="1"/>
          <p:nvPr/>
        </p:nvSpPr>
        <p:spPr>
          <a:xfrm>
            <a:off x="868680" y="4133087"/>
            <a:ext cx="7406640" cy="310896"/>
          </a:xfrm>
          <a:prstGeom prst="rect">
            <a:avLst/>
          </a:prstGeom>
          <a:noFill/>
          <a:effectLst/>
        </p:spPr>
        <p:txBody>
          <a:bodyPr wrap="square" anchor="t" lIns="0" rIns="0" tIns="0" bIns="0">
            <a:spAutoFit/>
          </a:bodyPr>
          <a:lstStyle/>
          <a:p>
            <a:pPr algn="ctr">
              <a:lnSpc>
                <a:spcPct val="125000"/>
              </a:lnSpc>
              <a:spcAft>
                <a:spcPts val="0"/>
              </a:spcAft>
            </a:pPr>
            <a:r>
              <a:rPr sz="1800" b="1" i="0">
                <a:solidFill>
                  <a:srgbClr val="FFFDF7"/>
                </a:solidFill>
                <a:latin typeface="Libre Caslon Display"/>
              </a:rPr>
              <a:t>Who paid for it?</a:t>
            </a:r>
          </a:p>
        </p:txBody>
      </p:sp>
      <p:pic>
        <p:nvPicPr>
          <p:cNvPr id="22" name="Picture 21"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23" name="TextBox 22"/>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24" name="TextBox 23"/>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16 / 19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640472" y="246888"/>
            <a:ext cx="817727"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ARGUE</a:t>
            </a:r>
          </a:p>
        </p:txBody>
      </p:sp>
      <p:sp>
        <p:nvSpPr>
          <p:cNvPr id="5" name="TextBox 4"/>
          <p:cNvSpPr txBox="1"/>
          <p:nvPr/>
        </p:nvSpPr>
        <p:spPr>
          <a:xfrm>
            <a:off x="685800" y="731520"/>
            <a:ext cx="7772400" cy="201168"/>
          </a:xfrm>
          <a:prstGeom prst="rect">
            <a:avLst/>
          </a:prstGeom>
          <a:noFill/>
          <a:effectLst/>
        </p:spPr>
        <p:txBody>
          <a:bodyPr wrap="square" anchor="t" lIns="0" rIns="0" tIns="0" bIns="0">
            <a:spAutoFit/>
          </a:bodyPr>
          <a:lstStyle/>
          <a:p>
            <a:pPr algn="ctr">
              <a:lnSpc>
                <a:spcPct val="125000"/>
              </a:lnSpc>
              <a:spcAft>
                <a:spcPts val="0"/>
              </a:spcAft>
            </a:pPr>
            <a:r>
              <a:rPr sz="900" b="1" i="0" spc="160">
                <a:solidFill>
                  <a:srgbClr val="56524B"/>
                </a:solidFill>
                <a:latin typeface="Karla"/>
              </a:rPr>
              <a:t>NO RIGHT ANSWER</a:t>
            </a:r>
          </a:p>
        </p:txBody>
      </p:sp>
      <p:sp>
        <p:nvSpPr>
          <p:cNvPr id="6" name="KEEP_SHADOW"/>
          <p:cNvSpPr/>
          <p:nvPr/>
        </p:nvSpPr>
        <p:spPr>
          <a:xfrm>
            <a:off x="685800" y="1042415"/>
            <a:ext cx="7772400" cy="1241552"/>
          </a:xfrm>
          <a:prstGeom prst="rect">
            <a:avLst/>
          </a:prstGeom>
          <a:solidFill>
            <a:srgbClr val="FFFFFF"/>
          </a:solidFill>
          <a:ln>
            <a:noFill/>
          </a:ln>
          <a:effectLst>
            <a:outerShdw blurRad="76200" dist="25400" dir="5400000" algn="t" rotWithShape="0">
              <a:srgbClr val="000000">
                <a:alpha val="22000"/>
              </a:srgbClr>
            </a:outerShdw>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042415"/>
            <a:ext cx="7772400" cy="45720"/>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TextBox 7"/>
          <p:cNvSpPr txBox="1"/>
          <p:nvPr/>
        </p:nvSpPr>
        <p:spPr>
          <a:xfrm>
            <a:off x="1143000" y="1316736"/>
            <a:ext cx="6858000" cy="692912"/>
          </a:xfrm>
          <a:prstGeom prst="rect">
            <a:avLst/>
          </a:prstGeom>
          <a:noFill/>
          <a:effectLst/>
        </p:spPr>
        <p:txBody>
          <a:bodyPr wrap="square" anchor="t" lIns="0" rIns="0" tIns="0" bIns="0">
            <a:spAutoFit/>
          </a:bodyPr>
          <a:lstStyle/>
          <a:p>
            <a:pPr algn="ctr">
              <a:lnSpc>
                <a:spcPct val="112000"/>
              </a:lnSpc>
              <a:spcAft>
                <a:spcPts val="0"/>
              </a:spcAft>
            </a:pPr>
            <a:r>
              <a:rPr sz="2200" b="1" i="0">
                <a:solidFill>
                  <a:srgbClr val="262422"/>
                </a:solidFill>
                <a:latin typeface="Libre Caslon Display"/>
              </a:rPr>
              <a:t>If the scientists believed every word they wrote, does it matter who paid them?</a:t>
            </a:r>
          </a:p>
        </p:txBody>
      </p:sp>
      <p:sp>
        <p:nvSpPr>
          <p:cNvPr id="9" name="TextBox 8"/>
          <p:cNvSpPr txBox="1"/>
          <p:nvPr/>
        </p:nvSpPr>
        <p:spPr>
          <a:xfrm>
            <a:off x="868680" y="2604008"/>
            <a:ext cx="7406640" cy="224028"/>
          </a:xfrm>
          <a:prstGeom prst="rect">
            <a:avLst/>
          </a:prstGeom>
          <a:noFill/>
          <a:effectLst/>
        </p:spPr>
        <p:txBody>
          <a:bodyPr wrap="square" anchor="t" lIns="0" rIns="0" tIns="0" bIns="0">
            <a:spAutoFit/>
          </a:bodyPr>
          <a:lstStyle/>
          <a:p>
            <a:pPr algn="ctr">
              <a:lnSpc>
                <a:spcPct val="120000"/>
              </a:lnSpc>
              <a:spcAft>
                <a:spcPts val="0"/>
              </a:spcAft>
            </a:pPr>
            <a:r>
              <a:rPr sz="1400" b="1" i="0">
                <a:solidFill>
                  <a:srgbClr val="34322F"/>
                </a:solidFill>
                <a:latin typeface="Karla"/>
              </a:rPr>
              <a:t>Two minutes with the person next to you, then we hear from a few.</a:t>
            </a:r>
          </a:p>
        </p:txBody>
      </p:sp>
      <p:pic>
        <p:nvPicPr>
          <p:cNvPr id="10" name="Picture 9"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1" name="TextBox 10"/>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2" name="TextBox 11"/>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17 / 19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TextBox 2"/>
          <p:cNvSpPr txBox="1"/>
          <p:nvPr/>
        </p:nvSpPr>
        <p:spPr>
          <a:xfrm>
            <a:off x="685800" y="274320"/>
            <a:ext cx="5669280" cy="201168"/>
          </a:xfrm>
          <a:prstGeom prst="rect">
            <a:avLst/>
          </a:prstGeom>
          <a:noFill/>
          <a:effectLst/>
        </p:spPr>
        <p:txBody>
          <a:bodyPr wrap="square" anchor="t" lIns="0" rIns="0" tIns="0" bIns="0">
            <a:spAutoFit/>
          </a:bodyPr>
          <a:lstStyle/>
          <a:p>
            <a:pPr algn="l">
              <a:lnSpc>
                <a:spcPct val="125000"/>
              </a:lnSpc>
              <a:spcAft>
                <a:spcPts val="0"/>
              </a:spcAft>
            </a:pPr>
            <a:r>
              <a:rPr sz="900" b="1" i="0" spc="150">
                <a:solidFill>
                  <a:srgbClr val="34322F"/>
                </a:solidFill>
                <a:latin typeface="Karla"/>
              </a:rPr>
              <a:t>QUESTION THE HEADLINE  ·  LESSON 1 OF 5</a:t>
            </a:r>
          </a:p>
        </p:txBody>
      </p:sp>
      <p:sp>
        <p:nvSpPr>
          <p:cNvPr id="4" name="Rounded Rectangle 3"/>
          <p:cNvSpPr/>
          <p:nvPr/>
        </p:nvSpPr>
        <p:spPr>
          <a:xfrm>
            <a:off x="7486248" y="246888"/>
            <a:ext cx="971951" cy="237744"/>
          </a:xfrm>
          <a:prstGeom prst="roundRect">
            <a:avLst>
              <a:gd name="adj" fmla="val 50000"/>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FFFDF7"/>
                </a:solidFill>
                <a:latin typeface="Karla"/>
              </a:rPr>
              <a:t>FOR YOU</a:t>
            </a:r>
          </a:p>
        </p:txBody>
      </p:sp>
      <p:sp>
        <p:nvSpPr>
          <p:cNvPr id="5" name="TextBox 4"/>
          <p:cNvSpPr txBox="1"/>
          <p:nvPr/>
        </p:nvSpPr>
        <p:spPr>
          <a:xfrm>
            <a:off x="685800" y="566928"/>
            <a:ext cx="7772400" cy="434848"/>
          </a:xfrm>
          <a:prstGeom prst="rect">
            <a:avLst/>
          </a:prstGeom>
          <a:noFill/>
          <a:effectLst/>
        </p:spPr>
        <p:txBody>
          <a:bodyPr wrap="square" anchor="t" lIns="0" rIns="0" tIns="0" bIns="0">
            <a:spAutoFit/>
          </a:bodyPr>
          <a:lstStyle/>
          <a:p>
            <a:pPr algn="l">
              <a:lnSpc>
                <a:spcPct val="105000"/>
              </a:lnSpc>
              <a:spcAft>
                <a:spcPts val="0"/>
              </a:spcAft>
            </a:pPr>
            <a:r>
              <a:rPr sz="2800" b="1" i="0">
                <a:solidFill>
                  <a:srgbClr val="262422"/>
                </a:solidFill>
                <a:latin typeface="Libre Caslon Display"/>
              </a:rPr>
              <a:t>Two questions, just for you</a:t>
            </a:r>
          </a:p>
        </p:txBody>
      </p:sp>
      <p:sp>
        <p:nvSpPr>
          <p:cNvPr id="6" name="Rectangle 5"/>
          <p:cNvSpPr/>
          <p:nvPr/>
        </p:nvSpPr>
        <p:spPr>
          <a:xfrm>
            <a:off x="685800" y="137160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Rectangle 6"/>
          <p:cNvSpPr/>
          <p:nvPr/>
        </p:nvSpPr>
        <p:spPr>
          <a:xfrm>
            <a:off x="685800" y="137160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8" name="Oval 7"/>
          <p:cNvSpPr/>
          <p:nvPr/>
        </p:nvSpPr>
        <p:spPr>
          <a:xfrm>
            <a:off x="896112" y="164363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96112" y="173507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1</a:t>
            </a:r>
          </a:p>
        </p:txBody>
      </p:sp>
      <p:sp>
        <p:nvSpPr>
          <p:cNvPr id="10" name="TextBox 9"/>
          <p:cNvSpPr txBox="1"/>
          <p:nvPr/>
        </p:nvSpPr>
        <p:spPr>
          <a:xfrm>
            <a:off x="1554480" y="157276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Where did you move on the line, and which card moved you?</a:t>
            </a:r>
          </a:p>
        </p:txBody>
      </p:sp>
      <p:sp>
        <p:nvSpPr>
          <p:cNvPr id="11" name="Rectangle 10"/>
          <p:cNvSpPr/>
          <p:nvPr/>
        </p:nvSpPr>
        <p:spPr>
          <a:xfrm>
            <a:off x="685800" y="2537460"/>
            <a:ext cx="7772400" cy="946403"/>
          </a:xfrm>
          <a:prstGeom prst="rect">
            <a:avLst/>
          </a:prstGeom>
          <a:solidFill>
            <a:srgbClr val="FFFFF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Rectangle 11"/>
          <p:cNvSpPr/>
          <p:nvPr/>
        </p:nvSpPr>
        <p:spPr>
          <a:xfrm>
            <a:off x="685800" y="2537460"/>
            <a:ext cx="45720" cy="946403"/>
          </a:xfrm>
          <a:prstGeom prst="rect">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3" name="Oval 12"/>
          <p:cNvSpPr/>
          <p:nvPr/>
        </p:nvSpPr>
        <p:spPr>
          <a:xfrm>
            <a:off x="896112" y="2809494"/>
            <a:ext cx="402336" cy="402336"/>
          </a:xfrm>
          <a:prstGeom prst="ellipse">
            <a:avLst/>
          </a:prstGeom>
          <a:solidFill>
            <a:srgbClr val="34322F"/>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4" name="TextBox 13"/>
          <p:cNvSpPr txBox="1"/>
          <p:nvPr/>
        </p:nvSpPr>
        <p:spPr>
          <a:xfrm>
            <a:off x="896112" y="2900934"/>
            <a:ext cx="402336" cy="219456"/>
          </a:xfrm>
          <a:prstGeom prst="rect">
            <a:avLst/>
          </a:prstGeom>
          <a:noFill/>
          <a:effectLst/>
        </p:spPr>
        <p:txBody>
          <a:bodyPr wrap="square" anchor="t" lIns="0" rIns="0" tIns="0" bIns="0">
            <a:spAutoFit/>
          </a:bodyPr>
          <a:lstStyle/>
          <a:p>
            <a:pPr algn="ctr">
              <a:lnSpc>
                <a:spcPct val="125000"/>
              </a:lnSpc>
              <a:spcAft>
                <a:spcPts val="0"/>
              </a:spcAft>
            </a:pPr>
            <a:r>
              <a:rPr sz="1200" b="1" i="0">
                <a:solidFill>
                  <a:srgbClr val="FFFDF7"/>
                </a:solidFill>
                <a:latin typeface="Karla"/>
              </a:rPr>
              <a:t>2</a:t>
            </a:r>
          </a:p>
        </p:txBody>
      </p:sp>
      <p:sp>
        <p:nvSpPr>
          <p:cNvPr id="15" name="TextBox 14"/>
          <p:cNvSpPr txBox="1"/>
          <p:nvPr/>
        </p:nvSpPr>
        <p:spPr>
          <a:xfrm>
            <a:off x="1554480" y="2738628"/>
            <a:ext cx="6675120" cy="544068"/>
          </a:xfrm>
          <a:prstGeom prst="rect">
            <a:avLst/>
          </a:prstGeom>
          <a:noFill/>
          <a:effectLst/>
        </p:spPr>
        <p:txBody>
          <a:bodyPr wrap="square" anchor="t" lIns="0" rIns="0" tIns="0" bIns="0">
            <a:spAutoFit/>
          </a:bodyPr>
          <a:lstStyle/>
          <a:p>
            <a:pPr algn="l">
              <a:lnSpc>
                <a:spcPct val="115000"/>
              </a:lnSpc>
              <a:spcAft>
                <a:spcPts val="0"/>
              </a:spcAft>
            </a:pPr>
            <a:r>
              <a:rPr sz="1700" b="1" i="0">
                <a:solidFill>
                  <a:srgbClr val="262422"/>
                </a:solidFill>
                <a:latin typeface="Libre Caslon Display"/>
              </a:rPr>
              <a:t>Next time you see a headline, which of the five questions will you ask first?</a:t>
            </a:r>
          </a:p>
        </p:txBody>
      </p:sp>
      <p:sp>
        <p:nvSpPr>
          <p:cNvPr id="16" name="TextBox 15"/>
          <p:cNvSpPr txBox="1"/>
          <p:nvPr/>
        </p:nvSpPr>
        <p:spPr>
          <a:xfrm>
            <a:off x="868680" y="3886200"/>
            <a:ext cx="7406640" cy="416052"/>
          </a:xfrm>
          <a:prstGeom prst="rect">
            <a:avLst/>
          </a:prstGeom>
          <a:noFill/>
          <a:effectLst/>
        </p:spPr>
        <p:txBody>
          <a:bodyPr wrap="square" anchor="t" lIns="0" rIns="0" tIns="0" bIns="0">
            <a:spAutoFit/>
          </a:bodyPr>
          <a:lstStyle/>
          <a:p>
            <a:pPr algn="ctr">
              <a:lnSpc>
                <a:spcPct val="120000"/>
              </a:lnSpc>
              <a:spcAft>
                <a:spcPts val="0"/>
              </a:spcAft>
            </a:pPr>
            <a:r>
              <a:rPr sz="1300" b="1" i="0">
                <a:solidFill>
                  <a:srgbClr val="34322F"/>
                </a:solidFill>
                <a:latin typeface="Karla"/>
              </a:rPr>
              <a:t>Write your answers in the last box of your evidence sheet. It is yours to keep, and nothing is read out.</a:t>
            </a:r>
          </a:p>
        </p:txBody>
      </p:sp>
      <p:pic>
        <p:nvPicPr>
          <p:cNvPr id="17" name="Picture 1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18" name="TextBox 1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19" name="TextBox 1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18 / 19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F4EFE3"/>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 name="Rounded Rectangle 2"/>
          <p:cNvSpPr/>
          <p:nvPr/>
        </p:nvSpPr>
        <p:spPr>
          <a:xfrm>
            <a:off x="685800" y="274320"/>
            <a:ext cx="2635689" cy="237744"/>
          </a:xfrm>
          <a:prstGeom prst="roundRect">
            <a:avLst>
              <a:gd name="adj" fmla="val 50000"/>
            </a:avLst>
          </a:prstGeom>
          <a:solidFill>
            <a:srgbClr val="EFECE5"/>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0" rIns="0" tIns="0" bIns="0"/>
          <a:lstStyle/>
          <a:p>
            <a:pPr algn="ctr"/>
            <a:r>
              <a:rPr sz="950" b="1" spc="90">
                <a:solidFill>
                  <a:srgbClr val="34322F"/>
                </a:solidFill>
                <a:latin typeface="Karla"/>
              </a:rPr>
              <a:t>FOR THE TEACHER  ·  SOURCES</a:t>
            </a:r>
          </a:p>
        </p:txBody>
      </p:sp>
      <p:sp>
        <p:nvSpPr>
          <p:cNvPr id="4" name="TextBox 3"/>
          <p:cNvSpPr txBox="1"/>
          <p:nvPr/>
        </p:nvSpPr>
        <p:spPr>
          <a:xfrm>
            <a:off x="685800" y="658368"/>
            <a:ext cx="7772400" cy="406400"/>
          </a:xfrm>
          <a:prstGeom prst="rect">
            <a:avLst/>
          </a:prstGeom>
          <a:noFill/>
          <a:effectLst/>
        </p:spPr>
        <p:txBody>
          <a:bodyPr wrap="square" anchor="t" lIns="0" rIns="0" tIns="0" bIns="0">
            <a:spAutoFit/>
          </a:bodyPr>
          <a:lstStyle/>
          <a:p>
            <a:pPr algn="l">
              <a:lnSpc>
                <a:spcPct val="105000"/>
              </a:lnSpc>
              <a:spcAft>
                <a:spcPts val="0"/>
              </a:spcAft>
            </a:pPr>
            <a:r>
              <a:rPr sz="2600" b="1" i="0">
                <a:solidFill>
                  <a:srgbClr val="262422"/>
                </a:solidFill>
                <a:latin typeface="Libre Caslon Display"/>
              </a:rPr>
              <a:t>Where the evidence came from</a:t>
            </a:r>
          </a:p>
        </p:txBody>
      </p:sp>
      <p:sp>
        <p:nvSpPr>
          <p:cNvPr id="5" name="TextBox 4"/>
          <p:cNvSpPr txBox="1"/>
          <p:nvPr/>
        </p:nvSpPr>
        <p:spPr>
          <a:xfrm>
            <a:off x="685800" y="1280160"/>
            <a:ext cx="7772400" cy="36322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Kearns C. E., Schmidt L. A. and Glantz S. A. (2016). Sugar industry and coronary heart disease research. JAMA Internal Medicine, 176(11), 1680–1685.</a:t>
            </a:r>
          </a:p>
        </p:txBody>
      </p:sp>
      <p:sp>
        <p:nvSpPr>
          <p:cNvPr id="6" name="TextBox 5"/>
          <p:cNvSpPr txBox="1"/>
          <p:nvPr/>
        </p:nvSpPr>
        <p:spPr>
          <a:xfrm>
            <a:off x="685800" y="1771396"/>
            <a:ext cx="7772400" cy="181610"/>
          </a:xfrm>
          <a:prstGeom prst="rect">
            <a:avLst/>
          </a:prstGeom>
          <a:noFill/>
          <a:effectLst/>
        </p:spPr>
        <p:txBody>
          <a:bodyPr wrap="square" anchor="t" lIns="0" rIns="0" tIns="0" bIns="0">
            <a:spAutoFit/>
          </a:bodyPr>
          <a:lstStyle/>
          <a:p>
            <a:pPr algn="l">
              <a:lnSpc>
                <a:spcPct val="125000"/>
              </a:lnSpc>
              <a:spcAft>
                <a:spcPts val="0"/>
              </a:spcAft>
            </a:pPr>
            <a:r>
              <a:rPr sz="1100" b="0" i="0">
                <a:solidFill>
                  <a:srgbClr val="262422"/>
                </a:solidFill>
                <a:latin typeface="Karla"/>
              </a:rPr>
              <a:t>Bailey M. (2016). Sugar industry secretly paid for favorable Harvard research. STAT News, 12 September 2016.</a:t>
            </a:r>
          </a:p>
        </p:txBody>
      </p:sp>
      <p:pic>
        <p:nvPicPr>
          <p:cNvPr id="7" name="Picture 6" descr="logo-mark.png"/>
          <p:cNvPicPr>
            <a:picLocks noChangeAspect="1"/>
          </p:cNvPicPr>
          <p:nvPr/>
        </p:nvPicPr>
        <p:blipFill>
          <a:blip r:embed="rId2"/>
          <a:stretch>
            <a:fillRect/>
          </a:stretch>
        </p:blipFill>
        <p:spPr>
          <a:xfrm>
            <a:off x="384048" y="4727448"/>
            <a:ext cx="158374" cy="182880"/>
          </a:xfrm>
          <a:prstGeom prst="rect">
            <a:avLst/>
          </a:prstGeom>
          <a:effectLst/>
        </p:spPr>
      </p:pic>
      <p:sp>
        <p:nvSpPr>
          <p:cNvPr id="8" name="TextBox 7"/>
          <p:cNvSpPr txBox="1"/>
          <p:nvPr/>
        </p:nvSpPr>
        <p:spPr>
          <a:xfrm>
            <a:off x="603504" y="4709160"/>
            <a:ext cx="2194560" cy="210312"/>
          </a:xfrm>
          <a:prstGeom prst="rect">
            <a:avLst/>
          </a:prstGeom>
          <a:noFill/>
          <a:effectLst/>
        </p:spPr>
        <p:txBody>
          <a:bodyPr wrap="square" anchor="t" lIns="0" rIns="0" tIns="0" bIns="0">
            <a:spAutoFit/>
          </a:bodyPr>
          <a:lstStyle/>
          <a:p>
            <a:pPr algn="l">
              <a:lnSpc>
                <a:spcPct val="125000"/>
              </a:lnSpc>
              <a:spcAft>
                <a:spcPts val="0"/>
              </a:spcAft>
            </a:pPr>
            <a:r>
              <a:rPr sz="850" b="0" i="1">
                <a:solidFill>
                  <a:srgbClr val="8C877D"/>
                </a:solidFill>
                <a:latin typeface="Karla"/>
              </a:rPr>
              <a:t>The Pastoral Guide</a:t>
            </a:r>
          </a:p>
        </p:txBody>
      </p:sp>
      <p:sp>
        <p:nvSpPr>
          <p:cNvPr id="9" name="TextBox 8"/>
          <p:cNvSpPr txBox="1"/>
          <p:nvPr/>
        </p:nvSpPr>
        <p:spPr>
          <a:xfrm>
            <a:off x="7680960" y="4727448"/>
            <a:ext cx="1078992" cy="219456"/>
          </a:xfrm>
          <a:prstGeom prst="rect">
            <a:avLst/>
          </a:prstGeom>
          <a:noFill/>
          <a:effectLst/>
        </p:spPr>
        <p:txBody>
          <a:bodyPr wrap="square" anchor="t" lIns="0" rIns="0" tIns="0" bIns="0">
            <a:spAutoFit/>
          </a:bodyPr>
          <a:lstStyle/>
          <a:p>
            <a:pPr algn="r">
              <a:lnSpc>
                <a:spcPct val="125000"/>
              </a:lnSpc>
              <a:spcAft>
                <a:spcPts val="0"/>
              </a:spcAft>
            </a:pPr>
            <a:r>
              <a:rPr sz="850" b="0" i="0">
                <a:solidFill>
                  <a:srgbClr val="8C877D"/>
                </a:solidFill>
                <a:latin typeface="Karla"/>
              </a:rPr>
              <a:t>19 / 19</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