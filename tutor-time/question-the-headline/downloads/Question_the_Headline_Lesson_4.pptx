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Series</c:v>
                </c:pt>
              </c:strCache>
            </c:strRef>
          </c:tx>
          <c:spPr>
            <a:solidFill>
              <a:srgbClr val="34322F"/>
            </a:solidFill>
          </c:spPr>
          <c:dLbls>
            <c:dLbl>
              <c:idx val="0"/>
              <c:tx>
                <c:rich>
                  <a:bodyPr/>
                  <a:lstStyle/>
                  <a:p>
                    <a:r>
                      <a:rPr sz="1200" b="1">
                        <a:solidFill>
                          <a:srgbClr val="262422"/>
                        </a:solidFill>
                        <a:latin typeface="Karla"/>
                      </a:rPr>
                      <a:t>15.2</a:t>
                    </a:r>
                  </a:p>
                </c:rich>
              </c:tx>
              <c:dLblPos val="outEnd"/>
              <c:showLegendKey val="0"/>
              <c:showVal val="1"/>
              <c:showCatName val="0"/>
              <c:showSerName val="0"/>
              <c:showPercent val="0"/>
              <c:showBubbleSize val="0"/>
            </c:dLbl>
            <c:dLbl>
              <c:idx val="1"/>
              <c:tx>
                <c:rich>
                  <a:bodyPr/>
                  <a:lstStyle/>
                  <a:p>
                    <a:r>
                      <a:rPr sz="1200" b="1">
                        <a:solidFill>
                          <a:srgbClr val="262422"/>
                        </a:solidFill>
                        <a:latin typeface="Karla"/>
                      </a:rPr>
                      <a:t>2.2</a:t>
                    </a:r>
                  </a:p>
                </c:rich>
              </c:tx>
              <c:dLblPos val="outEnd"/>
              <c:showLegendKey val="0"/>
              <c:showVal val="1"/>
              <c:showCatName val="0"/>
              <c:showSerName val="0"/>
              <c:showPercent val="0"/>
              <c:showBubbleSize val="0"/>
            </c:dLbl>
            <c:dLbl>
              <c:idx val="2"/>
              <c:tx>
                <c:rich>
                  <a:bodyPr/>
                  <a:lstStyle/>
                  <a:p>
                    <a:r>
                      <a:rPr sz="1200" b="1">
                        <a:solidFill>
                          <a:srgbClr val="262422"/>
                        </a:solidFill>
                        <a:latin typeface="Karla"/>
                      </a:rPr>
                      <a:t>1.5</a:t>
                    </a:r>
                  </a:p>
                </c:rich>
              </c:tx>
              <c:dLblPos val="outEnd"/>
              <c:showLegendKey val="0"/>
              <c:showVal val="1"/>
              <c:showCatName val="0"/>
              <c:showSerName val="0"/>
              <c:showPercent val="0"/>
              <c:showBubbleSize val="0"/>
            </c:dLbl>
            <c:dLbl>
              <c:idx val="3"/>
              <c:tx>
                <c:rich>
                  <a:bodyPr/>
                  <a:lstStyle/>
                  <a:p>
                    <a:r>
                      <a:rPr sz="1200" b="1">
                        <a:solidFill>
                          <a:srgbClr val="262422"/>
                        </a:solidFill>
                        <a:latin typeface="Karla"/>
                      </a:rPr>
                      <a:t>1.0</a:t>
                    </a:r>
                  </a:p>
                </c:rich>
              </c:tx>
              <c:dLblPos val="outEnd"/>
              <c:showLegendKey val="0"/>
              <c:showVal val="1"/>
              <c:showCatName val="0"/>
              <c:showSerName val="0"/>
              <c:showPercent val="0"/>
              <c:showBubbleSize val="0"/>
            </c:dLbl>
            <c:dLbl>
              <c:idx val="4"/>
              <c:tx>
                <c:rich>
                  <a:bodyPr/>
                  <a:lstStyle/>
                  <a:p>
                    <a:r>
                      <a:rPr sz="1200" b="1">
                        <a:solidFill>
                          <a:srgbClr val="262422"/>
                        </a:solidFill>
                        <a:latin typeface="Karla"/>
                      </a:rPr>
                      <a:t>0.7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1976–80</c:v>
                </c:pt>
                <c:pt idx="1">
                  <c:v>1999–2000</c:v>
                </c:pt>
                <c:pt idx="2">
                  <c:v>2005–06</c:v>
                </c:pt>
                <c:pt idx="3">
                  <c:v>2011–12</c:v>
                </c:pt>
                <c:pt idx="4">
                  <c:v>2017–18</c:v>
                </c:pt>
              </c:strCache>
            </c:strRef>
          </c:cat>
          <c:val>
            <c:numRef>
              <c:f>Sheet1!$B$2:$B$6</c:f>
              <c:numCache>
                <c:formatCode>General</c:formatCode>
                <c:ptCount val="5"/>
                <c:pt idx="0">
                  <c:v>15.2</c:v>
                </c:pt>
                <c:pt idx="1">
                  <c:v>2.23</c:v>
                </c:pt>
                <c:pt idx="2">
                  <c:v>1.46</c:v>
                </c:pt>
                <c:pt idx="3">
                  <c:v>0.97</c:v>
                </c:pt>
                <c:pt idx="4">
                  <c:v>0.67</c:v>
                </c:pt>
              </c:numCache>
            </c:numRef>
          </c:val>
        </c:ser>
        <c:dLbls>
          <c:txPr>
            <a:bodyPr/>
            <a:lstStyle/>
            <a:p>
              <a:pPr>
                <a:defRPr sz="1200" b="1">
                  <a:solidFill>
                    <a:srgbClr val="262422"/>
                  </a:solidFill>
                  <a:latin typeface="Karla"/>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title>
          <c:tx>
            <c:rich>
              <a:bodyPr/>
              <a:lstStyle/>
              <a:p>
                <a:r>
                  <a:rPr sz="1000" b="0" i="1">
                    <a:solidFill>
                      <a:srgbClr val="56524B"/>
                    </a:solidFill>
                    <a:latin typeface="Karla"/>
                  </a:rPr>
                  <a:t>Survey years</a:t>
                </a:r>
              </a:p>
            </c:rich>
          </c:tx>
          <c:layout/>
          <c:overlay val="0"/>
        </c:title>
        <c:majorTickMark val="out"/>
        <c:minorTickMark val="none"/>
        <c:tickLblPos val="nextTo"/>
        <c:spPr>
          <a:ln>
            <a:solidFill>
              <a:srgbClr val="8C877D"/>
            </a:solidFill>
          </a:ln>
        </c:spPr>
        <c:txPr>
          <a:bodyPr/>
          <a:lstStyle/>
          <a:p>
            <a:pPr>
              <a:defRPr sz="1100">
                <a:solidFill>
                  <a:srgbClr val="262422"/>
                </a:solidFill>
                <a:latin typeface="Karla"/>
              </a:defRPr>
            </a:pPr>
          </a:p>
        </c:txPr>
        <c:crossAx val="-2113994440"/>
        <c:crosses val="autoZero"/>
        <c:auto val="1"/>
        <c:lblAlgn val="ctr"/>
        <c:lblOffset val="100"/>
        <c:noMultiLvlLbl val="0"/>
      </c:catAx>
      <c:valAx>
        <c:axId val="-2113994440"/>
        <c:scaling>
          <c:max val="18.544"/>
          <c:min val="0.0"/>
        </c:scaling>
        <c:delete/>
        <c:axPos val="l"/>
        <c:majorTickMark val="out"/>
        <c:minorTickMark val="none"/>
        <c:tickLblPos val="nextTo"/>
        <c:crossAx val="-2068027336"/>
        <c:crosses val="autoZero"/>
      </c:valAx>
    </c:plotArea>
    <c:dispBlanksAs val="gap"/>
  </c:chart>
  <c:txPr>
    <a:bodyPr/>
    <a:lstStyle/>
    <a:p>
      <a:pPr>
        <a:defRPr sz="1100">
          <a:solidFill>
            <a:srgbClr val="262422"/>
          </a:solidFill>
          <a:latin typeface="Karla"/>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34322F"/>
                </a:solidFill>
                <a:latin typeface="Karla"/>
              </a:rPr>
              <a:t>TUTOR TIME  ·  QUESTION THE HEADLINE  ·  LESSON 4 OF 5</a:t>
            </a:r>
          </a:p>
        </p:txBody>
      </p:sp>
      <p:sp>
        <p:nvSpPr>
          <p:cNvPr id="4" name="Rectangle 3"/>
          <p:cNvSpPr/>
          <p:nvPr/>
        </p:nvSpPr>
        <p:spPr>
          <a:xfrm>
            <a:off x="685800" y="621792"/>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658368"/>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6" name="Rectangle 5"/>
          <p:cNvSpPr/>
          <p:nvPr/>
        </p:nvSpPr>
        <p:spPr>
          <a:xfrm>
            <a:off x="685800" y="1170432"/>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85800" y="1207007"/>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WASHINGTON, 1926</a:t>
            </a:r>
          </a:p>
        </p:txBody>
      </p:sp>
      <p:sp>
        <p:nvSpPr>
          <p:cNvPr id="8" name="TextBox 7"/>
          <p:cNvSpPr txBox="1"/>
          <p:nvPr/>
        </p:nvSpPr>
        <p:spPr>
          <a:xfrm>
            <a:off x="3108960" y="1207007"/>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9" name="TextBox 8"/>
          <p:cNvSpPr txBox="1"/>
          <p:nvPr/>
        </p:nvSpPr>
        <p:spPr>
          <a:xfrm>
            <a:off x="5532120" y="1207007"/>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TUTOR TIME</a:t>
            </a:r>
          </a:p>
        </p:txBody>
      </p:sp>
      <p:sp>
        <p:nvSpPr>
          <p:cNvPr id="10" name="Rectangle 9"/>
          <p:cNvSpPr/>
          <p:nvPr/>
        </p:nvSpPr>
        <p:spPr>
          <a:xfrm>
            <a:off x="685800" y="1426464"/>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48640" y="1810512"/>
            <a:ext cx="8046720" cy="731520"/>
          </a:xfrm>
          <a:prstGeom prst="rect">
            <a:avLst/>
          </a:prstGeom>
          <a:noFill/>
          <a:effectLst/>
        </p:spPr>
        <p:txBody>
          <a:bodyPr wrap="square" anchor="t" lIns="0" rIns="0" tIns="0" bIns="0">
            <a:spAutoFit/>
          </a:bodyPr>
          <a:lstStyle/>
          <a:p>
            <a:pPr algn="ctr">
              <a:lnSpc>
                <a:spcPct val="100000"/>
              </a:lnSpc>
              <a:spcAft>
                <a:spcPts val="0"/>
              </a:spcAft>
            </a:pPr>
            <a:r>
              <a:rPr sz="4200" b="1" i="0">
                <a:solidFill>
                  <a:srgbClr val="262422"/>
                </a:solidFill>
                <a:latin typeface="Libre Caslon Display"/>
              </a:rPr>
              <a:t>No Real Evidence</a:t>
            </a:r>
          </a:p>
        </p:txBody>
      </p:sp>
      <p:sp>
        <p:nvSpPr>
          <p:cNvPr id="12" name="Rectangle 11"/>
          <p:cNvSpPr/>
          <p:nvPr/>
        </p:nvSpPr>
        <p:spPr>
          <a:xfrm>
            <a:off x="4069080" y="2761488"/>
            <a:ext cx="1005840" cy="18288"/>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22960" y="2944368"/>
            <a:ext cx="7498079" cy="365760"/>
          </a:xfrm>
          <a:prstGeom prst="rect">
            <a:avLst/>
          </a:prstGeom>
          <a:noFill/>
          <a:effectLst/>
        </p:spPr>
        <p:txBody>
          <a:bodyPr wrap="square" anchor="t" lIns="0" rIns="0" tIns="0" bIns="0">
            <a:spAutoFit/>
          </a:bodyPr>
          <a:lstStyle/>
          <a:p>
            <a:pPr algn="ctr">
              <a:lnSpc>
                <a:spcPct val="125000"/>
              </a:lnSpc>
              <a:spcAft>
                <a:spcPts val="0"/>
              </a:spcAft>
            </a:pPr>
            <a:r>
              <a:rPr sz="1600" b="0" i="0">
                <a:solidFill>
                  <a:srgbClr val="56524B"/>
                </a:solidFill>
                <a:latin typeface="Karla"/>
              </a:rPr>
              <a:t>A claim that was printed as true, and four pieces of evidence to test it.</a:t>
            </a:r>
          </a:p>
        </p:txBody>
      </p:sp>
      <p:sp>
        <p:nvSpPr>
          <p:cNvPr id="14" name="Rounded Rectangle 13"/>
          <p:cNvSpPr/>
          <p:nvPr/>
        </p:nvSpPr>
        <p:spPr>
          <a:xfrm>
            <a:off x="3928051" y="3584448"/>
            <a:ext cx="128789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a:t>
            </a:r>
          </a:p>
        </p:txBody>
      </p:sp>
      <p:pic>
        <p:nvPicPr>
          <p:cNvPr id="15" name="Picture 1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6" name="TextBox 1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269682"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TEACHER SLIDE  ·  SKIP IT</a:t>
            </a:r>
          </a:p>
        </p:txBody>
      </p:sp>
      <p:sp>
        <p:nvSpPr>
          <p:cNvPr id="4" name="TextBox 3"/>
          <p:cNvSpPr txBox="1"/>
          <p:nvPr/>
        </p:nvSpPr>
        <p:spPr>
          <a:xfrm>
            <a:off x="685800" y="65836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Before the lesson</a:t>
            </a:r>
          </a:p>
        </p:txBody>
      </p:sp>
      <p:sp>
        <p:nvSpPr>
          <p:cNvPr id="5" name="TextBox 4"/>
          <p:cNvSpPr txBox="1"/>
          <p:nvPr/>
        </p:nvSpPr>
        <p:spPr>
          <a:xfrm>
            <a:off x="685800" y="1188720"/>
            <a:ext cx="7772400" cy="420624"/>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This lesson is about the difference between no evidence of harm and evidence that something is safe.</a:t>
            </a:r>
          </a:p>
        </p:txBody>
      </p:sp>
      <p:sp>
        <p:nvSpPr>
          <p:cNvPr id="6" name="Rectangle 5"/>
          <p:cNvSpPr/>
          <p:nvPr/>
        </p:nvSpPr>
        <p:spPr>
          <a:xfrm>
            <a:off x="685800" y="1682496"/>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68680" y="1783080"/>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865376"/>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1</a:t>
            </a:r>
          </a:p>
        </p:txBody>
      </p:sp>
      <p:sp>
        <p:nvSpPr>
          <p:cNvPr id="9" name="TextBox 8"/>
          <p:cNvSpPr txBox="1"/>
          <p:nvPr/>
        </p:nvSpPr>
        <p:spPr>
          <a:xfrm>
            <a:off x="1399032" y="1764792"/>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and cut the evidence cards</a:t>
            </a:r>
          </a:p>
        </p:txBody>
      </p:sp>
      <p:sp>
        <p:nvSpPr>
          <p:cNvPr id="10" name="TextBox 9"/>
          <p:cNvSpPr txBox="1"/>
          <p:nvPr/>
        </p:nvSpPr>
        <p:spPr>
          <a:xfrm>
            <a:off x="1399032" y="2002536"/>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One set of four per group of three or four. Keep them in order, A to D.</a:t>
            </a:r>
          </a:p>
        </p:txBody>
      </p:sp>
      <p:sp>
        <p:nvSpPr>
          <p:cNvPr id="11" name="Rectangle 10"/>
          <p:cNvSpPr/>
          <p:nvPr/>
        </p:nvSpPr>
        <p:spPr>
          <a:xfrm>
            <a:off x="685800" y="2340864"/>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41448"/>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23744"/>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2</a:t>
            </a:r>
          </a:p>
        </p:txBody>
      </p:sp>
      <p:sp>
        <p:nvSpPr>
          <p:cNvPr id="14" name="TextBox 13"/>
          <p:cNvSpPr txBox="1"/>
          <p:nvPr/>
        </p:nvSpPr>
        <p:spPr>
          <a:xfrm>
            <a:off x="1399032" y="2423160"/>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two sheets per student</a:t>
            </a:r>
          </a:p>
        </p:txBody>
      </p:sp>
      <p:sp>
        <p:nvSpPr>
          <p:cNvPr id="15" name="TextBox 14"/>
          <p:cNvSpPr txBox="1"/>
          <p:nvPr/>
        </p:nvSpPr>
        <p:spPr>
          <a:xfrm>
            <a:off x="1399032" y="2660904"/>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This lesson’s evidence sheet, and the front page sheet, which is the same every lesson.</a:t>
            </a:r>
          </a:p>
        </p:txBody>
      </p:sp>
      <p:sp>
        <p:nvSpPr>
          <p:cNvPr id="16" name="Rectangle 15"/>
          <p:cNvSpPr/>
          <p:nvPr/>
        </p:nvSpPr>
        <p:spPr>
          <a:xfrm>
            <a:off x="685800" y="2999232"/>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68680" y="3099816"/>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3182112"/>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3</a:t>
            </a:r>
          </a:p>
        </p:txBody>
      </p:sp>
      <p:sp>
        <p:nvSpPr>
          <p:cNvPr id="19" name="TextBox 18"/>
          <p:cNvSpPr txBox="1"/>
          <p:nvPr/>
        </p:nvSpPr>
        <p:spPr>
          <a:xfrm>
            <a:off x="1399032" y="3081528"/>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Mark out the line</a:t>
            </a:r>
          </a:p>
        </p:txBody>
      </p:sp>
      <p:sp>
        <p:nvSpPr>
          <p:cNvPr id="20" name="TextBox 19"/>
          <p:cNvSpPr txBox="1"/>
          <p:nvPr/>
        </p:nvSpPr>
        <p:spPr>
          <a:xfrm>
            <a:off x="1399032" y="3319272"/>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0 at one end of the room and a 10 at the other: definitely false to definitely true.</a:t>
            </a:r>
          </a:p>
        </p:txBody>
      </p:sp>
      <p:sp>
        <p:nvSpPr>
          <p:cNvPr id="21" name="Rectangle 20"/>
          <p:cNvSpPr/>
          <p:nvPr/>
        </p:nvSpPr>
        <p:spPr>
          <a:xfrm>
            <a:off x="685800" y="3657600"/>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68680" y="3758183"/>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8680" y="3840480"/>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4</a:t>
            </a:r>
          </a:p>
        </p:txBody>
      </p:sp>
      <p:sp>
        <p:nvSpPr>
          <p:cNvPr id="24" name="TextBox 23"/>
          <p:cNvSpPr txBox="1"/>
          <p:nvPr/>
        </p:nvSpPr>
        <p:spPr>
          <a:xfrm>
            <a:off x="1399032" y="3739896"/>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Hold the cards back</a:t>
            </a:r>
          </a:p>
        </p:txBody>
      </p:sp>
      <p:sp>
        <p:nvSpPr>
          <p:cNvPr id="25" name="TextBox 24"/>
          <p:cNvSpPr txBox="1"/>
          <p:nvPr/>
        </p:nvSpPr>
        <p:spPr>
          <a:xfrm>
            <a:off x="1399032" y="3977639"/>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Hand out one card per round, never the next one early. The verdict stays hidden until the end.</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7" name="TextBox 26"/>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8" name="TextBox 27"/>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TextBox 3"/>
          <p:cNvSpPr txBox="1"/>
          <p:nvPr/>
        </p:nvSpPr>
        <p:spPr>
          <a:xfrm>
            <a:off x="4800600" y="274320"/>
            <a:ext cx="3657600" cy="201168"/>
          </a:xfrm>
          <a:prstGeom prst="rect">
            <a:avLst/>
          </a:prstGeom>
          <a:noFill/>
          <a:effectLst/>
        </p:spPr>
        <p:txBody>
          <a:bodyPr wrap="square" anchor="t" lIns="0" rIns="0" tIns="0" bIns="0">
            <a:spAutoFit/>
          </a:bodyPr>
          <a:lstStyle/>
          <a:p>
            <a:pPr algn="r">
              <a:lnSpc>
                <a:spcPct val="125000"/>
              </a:lnSpc>
              <a:spcAft>
                <a:spcPts val="0"/>
              </a:spcAft>
            </a:pPr>
            <a:r>
              <a:rPr sz="850" b="0" i="1">
                <a:solidFill>
                  <a:srgbClr val="8C877D"/>
                </a:solidFill>
                <a:latin typeface="Karla"/>
              </a:rPr>
              <a:t>A recreated front page</a:t>
            </a:r>
          </a:p>
        </p:txBody>
      </p:sp>
      <p:sp>
        <p:nvSpPr>
          <p:cNvPr id="5" name="Rectangle 4"/>
          <p:cNvSpPr/>
          <p:nvPr/>
        </p:nvSpPr>
        <p:spPr>
          <a:xfrm>
            <a:off x="685800" y="475488"/>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512064"/>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7" name="Rectangle 6"/>
          <p:cNvSpPr/>
          <p:nvPr/>
        </p:nvSpPr>
        <p:spPr>
          <a:xfrm>
            <a:off x="685800" y="1024128"/>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85800" y="1060704"/>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WASHINGTON, 1926</a:t>
            </a:r>
          </a:p>
        </p:txBody>
      </p:sp>
      <p:sp>
        <p:nvSpPr>
          <p:cNvPr id="9" name="TextBox 8"/>
          <p:cNvSpPr txBox="1"/>
          <p:nvPr/>
        </p:nvSpPr>
        <p:spPr>
          <a:xfrm>
            <a:off x="3108960" y="1060704"/>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10" name="TextBox 9"/>
          <p:cNvSpPr txBox="1"/>
          <p:nvPr/>
        </p:nvSpPr>
        <p:spPr>
          <a:xfrm>
            <a:off x="5532120" y="1060704"/>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LESSON 4 OF 5</a:t>
            </a:r>
          </a:p>
        </p:txBody>
      </p:sp>
      <p:sp>
        <p:nvSpPr>
          <p:cNvPr id="11" name="Rectangle 10"/>
          <p:cNvSpPr/>
          <p:nvPr/>
        </p:nvSpPr>
        <p:spPr>
          <a:xfrm>
            <a:off x="685800" y="1280160"/>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421891"/>
            <a:ext cx="7772400" cy="881888"/>
          </a:xfrm>
          <a:prstGeom prst="rect">
            <a:avLst/>
          </a:prstGeom>
          <a:noFill/>
          <a:effectLst/>
        </p:spPr>
        <p:txBody>
          <a:bodyPr wrap="square" anchor="t" lIns="0" rIns="0" tIns="0" bIns="0">
            <a:spAutoFit/>
          </a:bodyPr>
          <a:lstStyle/>
          <a:p>
            <a:pPr algn="l">
              <a:lnSpc>
                <a:spcPct val="100000"/>
              </a:lnSpc>
              <a:spcAft>
                <a:spcPts val="0"/>
              </a:spcAft>
            </a:pPr>
            <a:r>
              <a:rPr sz="2800" b="1" i="0">
                <a:solidFill>
                  <a:srgbClr val="262422"/>
                </a:solidFill>
                <a:latin typeface="Libre Caslon Display"/>
              </a:rPr>
              <a:t>LEADED PETROL: ‘NO REAL</a:t>
            </a:r>
            <a:br>
              <a:rPr lang="en-GB"/>
            </a:br>
            <a:r>
              <a:rPr sz="2800" b="1" i="0">
                <a:solidFill>
                  <a:srgbClr val="262422"/>
                </a:solidFill>
                <a:latin typeface="Libre Caslon Display"/>
              </a:rPr>
              <a:t>EVIDENCE’ OF DANGER</a:t>
            </a:r>
          </a:p>
        </p:txBody>
      </p:sp>
      <p:sp>
        <p:nvSpPr>
          <p:cNvPr id="13" name="TextBox 12"/>
          <p:cNvSpPr txBox="1"/>
          <p:nvPr/>
        </p:nvSpPr>
        <p:spPr>
          <a:xfrm>
            <a:off x="685800" y="2376931"/>
            <a:ext cx="7772400" cy="409448"/>
          </a:xfrm>
          <a:prstGeom prst="rect">
            <a:avLst/>
          </a:prstGeom>
          <a:noFill/>
          <a:effectLst/>
        </p:spPr>
        <p:txBody>
          <a:bodyPr wrap="square" anchor="t" lIns="0" rIns="0" tIns="0" bIns="0">
            <a:spAutoFit/>
          </a:bodyPr>
          <a:lstStyle/>
          <a:p>
            <a:pPr algn="l">
              <a:lnSpc>
                <a:spcPct val="118000"/>
              </a:lnSpc>
              <a:spcAft>
                <a:spcPts val="0"/>
              </a:spcAft>
            </a:pPr>
            <a:r>
              <a:rPr sz="1300" b="0" i="1">
                <a:solidFill>
                  <a:srgbClr val="56524B"/>
                </a:solidFill>
                <a:latin typeface="Georgia"/>
              </a:rPr>
              <a:t>A government committee clears the new fuel after last year’s pause, and leaded petrol goes back on sale across the country.</a:t>
            </a:r>
          </a:p>
        </p:txBody>
      </p:sp>
      <p:sp>
        <p:nvSpPr>
          <p:cNvPr id="14" name="Rectangle 13"/>
          <p:cNvSpPr/>
          <p:nvPr/>
        </p:nvSpPr>
        <p:spPr>
          <a:xfrm>
            <a:off x="685800" y="2877819"/>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85800" y="2987547"/>
            <a:ext cx="2432304" cy="99060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Adding lead to petrol stops engines knocking and makes cars run better. Sales were paused for a year after workers died at refineries in New Jersey.</a:t>
            </a:r>
          </a:p>
        </p:txBody>
      </p:sp>
      <p:sp>
        <p:nvSpPr>
          <p:cNvPr id="16" name="Rectangle 15"/>
          <p:cNvSpPr/>
          <p:nvPr/>
        </p:nvSpPr>
        <p:spPr>
          <a:xfrm>
            <a:off x="3236976"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355848" y="2987547"/>
            <a:ext cx="2432304" cy="99060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Now a committee called in by the government says it has found no real evidence that the fuel harms the public, and the pumps are open again.</a:t>
            </a:r>
          </a:p>
        </p:txBody>
      </p:sp>
      <p:sp>
        <p:nvSpPr>
          <p:cNvPr id="18" name="Rectangle 17"/>
          <p:cNvSpPr/>
          <p:nvPr/>
        </p:nvSpPr>
        <p:spPr>
          <a:xfrm>
            <a:off x="5907024"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025896" y="2987547"/>
            <a:ext cx="2432304" cy="1505839"/>
          </a:xfrm>
          <a:prstGeom prst="rect">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6025896" y="2987547"/>
            <a:ext cx="45720" cy="1505839"/>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208776" y="3133851"/>
            <a:ext cx="2121408" cy="944880"/>
          </a:xfrm>
          <a:prstGeom prst="rect">
            <a:avLst/>
          </a:prstGeom>
          <a:noFill/>
          <a:effectLst/>
        </p:spPr>
        <p:txBody>
          <a:bodyPr wrap="square" anchor="t" lIns="0" rIns="0" tIns="0" bIns="0">
            <a:spAutoFit/>
          </a:bodyPr>
          <a:lstStyle/>
          <a:p>
            <a:pPr algn="l">
              <a:lnSpc>
                <a:spcPct val="112000"/>
              </a:lnSpc>
              <a:spcAft>
                <a:spcPts val="0"/>
              </a:spcAft>
            </a:pPr>
            <a:r>
              <a:rPr sz="1500" b="1" i="0">
                <a:solidFill>
                  <a:srgbClr val="34322F"/>
                </a:solidFill>
                <a:latin typeface="Libre Caslon Display"/>
              </a:rPr>
              <a:t>There is “no real evidence” that the new fuel harms the public.</a:t>
            </a:r>
          </a:p>
        </p:txBody>
      </p:sp>
      <p:sp>
        <p:nvSpPr>
          <p:cNvPr id="22" name="TextBox 21"/>
          <p:cNvSpPr txBox="1"/>
          <p:nvPr/>
        </p:nvSpPr>
        <p:spPr>
          <a:xfrm>
            <a:off x="6208776" y="4170171"/>
            <a:ext cx="2121408" cy="140335"/>
          </a:xfrm>
          <a:prstGeom prst="rect">
            <a:avLst/>
          </a:prstGeom>
          <a:noFill/>
          <a:effectLst/>
        </p:spPr>
        <p:txBody>
          <a:bodyPr wrap="square" anchor="t" lIns="0" rIns="0" tIns="0" bIns="0">
            <a:spAutoFit/>
          </a:bodyPr>
          <a:lstStyle/>
          <a:p>
            <a:pPr algn="l">
              <a:lnSpc>
                <a:spcPct val="125000"/>
              </a:lnSpc>
              <a:spcAft>
                <a:spcPts val="0"/>
              </a:spcAft>
            </a:pPr>
            <a:r>
              <a:rPr sz="800" b="1" i="0" spc="110">
                <a:solidFill>
                  <a:srgbClr val="56524B"/>
                </a:solidFill>
                <a:latin typeface="Karla"/>
              </a:rPr>
              <a:t>WHAT THE COMMITTEE FOUND, 1926</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398742" y="246888"/>
            <a:ext cx="105945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STAND UP</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How much do you believe it?</a:t>
            </a:r>
          </a:p>
        </p:txBody>
      </p:sp>
      <p:sp>
        <p:nvSpPr>
          <p:cNvPr id="6" name="KEEP_SHADOW"/>
          <p:cNvSpPr/>
          <p:nvPr/>
        </p:nvSpPr>
        <p:spPr>
          <a:xfrm>
            <a:off x="685800" y="1225296"/>
            <a:ext cx="7772400" cy="896112"/>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225296"/>
            <a:ext cx="45720" cy="896112"/>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051560" y="1389888"/>
            <a:ext cx="7040880" cy="566928"/>
          </a:xfrm>
          <a:prstGeom prst="rect">
            <a:avLst/>
          </a:prstGeom>
          <a:noFill/>
          <a:effectLst/>
        </p:spPr>
        <p:txBody>
          <a:bodyPr wrap="square" anchor="t" lIns="0" rIns="0" tIns="0" bIns="0">
            <a:spAutoFit/>
          </a:bodyPr>
          <a:lstStyle/>
          <a:p>
            <a:pPr algn="ctr">
              <a:lnSpc>
                <a:spcPct val="112000"/>
              </a:lnSpc>
              <a:spcAft>
                <a:spcPts val="0"/>
              </a:spcAft>
            </a:pPr>
            <a:r>
              <a:rPr sz="1800" b="1" i="0">
                <a:solidFill>
                  <a:srgbClr val="262422"/>
                </a:solidFill>
                <a:latin typeface="Libre Caslon Display"/>
              </a:rPr>
              <a:t>“If nobody has proved something is harmful, it must be safe.”</a:t>
            </a:r>
          </a:p>
        </p:txBody>
      </p:sp>
      <p:sp>
        <p:nvSpPr>
          <p:cNvPr id="9" name="Rectangle 8"/>
          <p:cNvSpPr/>
          <p:nvPr/>
        </p:nvSpPr>
        <p:spPr>
          <a:xfrm>
            <a:off x="960120" y="2395728"/>
            <a:ext cx="7223759" cy="36576"/>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4914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3152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0</a:t>
            </a:r>
          </a:p>
        </p:txBody>
      </p:sp>
      <p:sp>
        <p:nvSpPr>
          <p:cNvPr id="12" name="Rectangle 11"/>
          <p:cNvSpPr/>
          <p:nvPr/>
        </p:nvSpPr>
        <p:spPr>
          <a:xfrm>
            <a:off x="167152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453895"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1</a:t>
            </a:r>
          </a:p>
        </p:txBody>
      </p:sp>
      <p:sp>
        <p:nvSpPr>
          <p:cNvPr id="14" name="Rectangle 13"/>
          <p:cNvSpPr/>
          <p:nvPr/>
        </p:nvSpPr>
        <p:spPr>
          <a:xfrm>
            <a:off x="239389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76272"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2</a:t>
            </a:r>
          </a:p>
        </p:txBody>
      </p:sp>
      <p:sp>
        <p:nvSpPr>
          <p:cNvPr id="16" name="Rectangle 15"/>
          <p:cNvSpPr/>
          <p:nvPr/>
        </p:nvSpPr>
        <p:spPr>
          <a:xfrm>
            <a:off x="311627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2898648"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3</a:t>
            </a:r>
          </a:p>
        </p:txBody>
      </p:sp>
      <p:sp>
        <p:nvSpPr>
          <p:cNvPr id="18" name="Rectangle 17"/>
          <p:cNvSpPr/>
          <p:nvPr/>
        </p:nvSpPr>
        <p:spPr>
          <a:xfrm>
            <a:off x="383865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62102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4</a:t>
            </a:r>
          </a:p>
        </p:txBody>
      </p:sp>
      <p:sp>
        <p:nvSpPr>
          <p:cNvPr id="20" name="Rectangle 19"/>
          <p:cNvSpPr/>
          <p:nvPr/>
        </p:nvSpPr>
        <p:spPr>
          <a:xfrm>
            <a:off x="456102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34340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5</a:t>
            </a:r>
          </a:p>
        </p:txBody>
      </p:sp>
      <p:sp>
        <p:nvSpPr>
          <p:cNvPr id="22" name="Rectangle 21"/>
          <p:cNvSpPr/>
          <p:nvPr/>
        </p:nvSpPr>
        <p:spPr>
          <a:xfrm>
            <a:off x="528340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065776"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6</a:t>
            </a:r>
          </a:p>
        </p:txBody>
      </p:sp>
      <p:sp>
        <p:nvSpPr>
          <p:cNvPr id="24" name="Rectangle 23"/>
          <p:cNvSpPr/>
          <p:nvPr/>
        </p:nvSpPr>
        <p:spPr>
          <a:xfrm>
            <a:off x="600577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788151"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7</a:t>
            </a:r>
          </a:p>
        </p:txBody>
      </p:sp>
      <p:sp>
        <p:nvSpPr>
          <p:cNvPr id="26" name="Rectangle 25"/>
          <p:cNvSpPr/>
          <p:nvPr/>
        </p:nvSpPr>
        <p:spPr>
          <a:xfrm>
            <a:off x="672815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10527"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8</a:t>
            </a:r>
          </a:p>
        </p:txBody>
      </p:sp>
      <p:sp>
        <p:nvSpPr>
          <p:cNvPr id="28" name="Rectangle 27"/>
          <p:cNvSpPr/>
          <p:nvPr/>
        </p:nvSpPr>
        <p:spPr>
          <a:xfrm>
            <a:off x="745053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23290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9</a:t>
            </a:r>
          </a:p>
        </p:txBody>
      </p:sp>
      <p:sp>
        <p:nvSpPr>
          <p:cNvPr id="30" name="Rectangle 29"/>
          <p:cNvSpPr/>
          <p:nvPr/>
        </p:nvSpPr>
        <p:spPr>
          <a:xfrm>
            <a:off x="817290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5528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10</a:t>
            </a:r>
          </a:p>
        </p:txBody>
      </p:sp>
      <p:sp>
        <p:nvSpPr>
          <p:cNvPr id="32" name="TextBox 31"/>
          <p:cNvSpPr txBox="1"/>
          <p:nvPr/>
        </p:nvSpPr>
        <p:spPr>
          <a:xfrm>
            <a:off x="685800" y="2852928"/>
            <a:ext cx="2194560" cy="237744"/>
          </a:xfrm>
          <a:prstGeom prst="rect">
            <a:avLst/>
          </a:prstGeom>
          <a:noFill/>
          <a:effectLst/>
        </p:spPr>
        <p:txBody>
          <a:bodyPr wrap="square" anchor="t" lIns="0" rIns="0" tIns="0" bIns="0">
            <a:spAutoFit/>
          </a:bodyPr>
          <a:lstStyle/>
          <a:p>
            <a:pPr algn="l">
              <a:lnSpc>
                <a:spcPct val="125000"/>
              </a:lnSpc>
              <a:spcAft>
                <a:spcPts val="0"/>
              </a:spcAft>
            </a:pPr>
            <a:r>
              <a:rPr sz="1100" b="1" i="0">
                <a:solidFill>
                  <a:srgbClr val="34322F"/>
                </a:solidFill>
                <a:latin typeface="Karla"/>
              </a:rPr>
              <a:t>Definitely false</a:t>
            </a:r>
          </a:p>
        </p:txBody>
      </p:sp>
      <p:sp>
        <p:nvSpPr>
          <p:cNvPr id="33" name="TextBox 32"/>
          <p:cNvSpPr txBox="1"/>
          <p:nvPr/>
        </p:nvSpPr>
        <p:spPr>
          <a:xfrm>
            <a:off x="6263640" y="2852928"/>
            <a:ext cx="2194560" cy="237744"/>
          </a:xfrm>
          <a:prstGeom prst="rect">
            <a:avLst/>
          </a:prstGeom>
          <a:noFill/>
          <a:effectLst/>
        </p:spPr>
        <p:txBody>
          <a:bodyPr wrap="square" anchor="t" lIns="0" rIns="0" tIns="0" bIns="0">
            <a:spAutoFit/>
          </a:bodyPr>
          <a:lstStyle/>
          <a:p>
            <a:pPr algn="r">
              <a:lnSpc>
                <a:spcPct val="125000"/>
              </a:lnSpc>
              <a:spcAft>
                <a:spcPts val="0"/>
              </a:spcAft>
            </a:pPr>
            <a:r>
              <a:rPr sz="1100" b="1" i="0">
                <a:solidFill>
                  <a:srgbClr val="34322F"/>
                </a:solidFill>
                <a:latin typeface="Karla"/>
              </a:rPr>
              <a:t>Definitely true</a:t>
            </a:r>
          </a:p>
        </p:txBody>
      </p:sp>
      <p:sp>
        <p:nvSpPr>
          <p:cNvPr id="34" name="TextBox 33"/>
          <p:cNvSpPr txBox="1"/>
          <p:nvPr/>
        </p:nvSpPr>
        <p:spPr>
          <a:xfrm>
            <a:off x="868680" y="3913632"/>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Stand on the line where you are now. Two or three people say why they are standing there.</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658580" y="246888"/>
            <a:ext cx="799619"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TEACH</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Five questions for any headline</a:t>
            </a:r>
          </a:p>
        </p:txBody>
      </p:sp>
      <p:sp>
        <p:nvSpPr>
          <p:cNvPr id="6" name="Rectangle 5"/>
          <p:cNvSpPr/>
          <p:nvPr/>
        </p:nvSpPr>
        <p:spPr>
          <a:xfrm>
            <a:off x="685800" y="1188720"/>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50392" y="124358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megaphone.png"/>
          <p:cNvPicPr>
            <a:picLocks noChangeAspect="1"/>
          </p:cNvPicPr>
          <p:nvPr/>
        </p:nvPicPr>
        <p:blipFill>
          <a:blip r:embed="rId2"/>
          <a:stretch>
            <a:fillRect/>
          </a:stretch>
        </p:blipFill>
        <p:spPr>
          <a:xfrm>
            <a:off x="932688" y="1325880"/>
            <a:ext cx="237744" cy="237744"/>
          </a:xfrm>
          <a:prstGeom prst="rect">
            <a:avLst/>
          </a:prstGeom>
          <a:effectLst/>
        </p:spPr>
      </p:pic>
      <p:sp>
        <p:nvSpPr>
          <p:cNvPr id="9" name="TextBox 8"/>
          <p:cNvSpPr txBox="1"/>
          <p:nvPr/>
        </p:nvSpPr>
        <p:spPr>
          <a:xfrm>
            <a:off x="1417320" y="1325880"/>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is saying it?</a:t>
            </a:r>
          </a:p>
        </p:txBody>
      </p:sp>
      <p:sp>
        <p:nvSpPr>
          <p:cNvPr id="10" name="TextBox 9"/>
          <p:cNvSpPr txBox="1"/>
          <p:nvPr/>
        </p:nvSpPr>
        <p:spPr>
          <a:xfrm>
            <a:off x="4892040" y="1279398"/>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company, a scientist, a newspaper, a government? Check the name.</a:t>
            </a:r>
          </a:p>
        </p:txBody>
      </p:sp>
      <p:sp>
        <p:nvSpPr>
          <p:cNvPr id="11" name="Rectangle 10"/>
          <p:cNvSpPr/>
          <p:nvPr/>
        </p:nvSpPr>
        <p:spPr>
          <a:xfrm>
            <a:off x="685800" y="1792224"/>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0392" y="184708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3"/>
          <a:stretch>
            <a:fillRect/>
          </a:stretch>
        </p:blipFill>
        <p:spPr>
          <a:xfrm>
            <a:off x="932688" y="1929384"/>
            <a:ext cx="237744" cy="237744"/>
          </a:xfrm>
          <a:prstGeom prst="rect">
            <a:avLst/>
          </a:prstGeom>
          <a:effectLst/>
        </p:spPr>
      </p:pic>
      <p:sp>
        <p:nvSpPr>
          <p:cNvPr id="14" name="TextBox 13"/>
          <p:cNvSpPr txBox="1"/>
          <p:nvPr/>
        </p:nvSpPr>
        <p:spPr>
          <a:xfrm>
            <a:off x="1417320" y="1929384"/>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gains if I believe it?</a:t>
            </a:r>
          </a:p>
        </p:txBody>
      </p:sp>
      <p:sp>
        <p:nvSpPr>
          <p:cNvPr id="15" name="TextBox 14"/>
          <p:cNvSpPr txBox="1"/>
          <p:nvPr/>
        </p:nvSpPr>
        <p:spPr>
          <a:xfrm>
            <a:off x="4892040" y="1882902"/>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Somebody always does. Work out who, and what they get.</a:t>
            </a:r>
          </a:p>
        </p:txBody>
      </p:sp>
      <p:sp>
        <p:nvSpPr>
          <p:cNvPr id="16" name="Rectangle 15"/>
          <p:cNvSpPr/>
          <p:nvPr/>
        </p:nvSpPr>
        <p:spPr>
          <a:xfrm>
            <a:off x="685800" y="2395728"/>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50392" y="2450592"/>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purse.png"/>
          <p:cNvPicPr>
            <a:picLocks noChangeAspect="1"/>
          </p:cNvPicPr>
          <p:nvPr/>
        </p:nvPicPr>
        <p:blipFill>
          <a:blip r:embed="rId4"/>
          <a:stretch>
            <a:fillRect/>
          </a:stretch>
        </p:blipFill>
        <p:spPr>
          <a:xfrm>
            <a:off x="932688" y="2532888"/>
            <a:ext cx="237744" cy="237744"/>
          </a:xfrm>
          <a:prstGeom prst="rect">
            <a:avLst/>
          </a:prstGeom>
          <a:effectLst/>
        </p:spPr>
      </p:pic>
      <p:sp>
        <p:nvSpPr>
          <p:cNvPr id="19" name="TextBox 18"/>
          <p:cNvSpPr txBox="1"/>
          <p:nvPr/>
        </p:nvSpPr>
        <p:spPr>
          <a:xfrm>
            <a:off x="1417320" y="2532888"/>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paid for it?</a:t>
            </a:r>
          </a:p>
        </p:txBody>
      </p:sp>
      <p:sp>
        <p:nvSpPr>
          <p:cNvPr id="20" name="TextBox 19"/>
          <p:cNvSpPr txBox="1"/>
          <p:nvPr/>
        </p:nvSpPr>
        <p:spPr>
          <a:xfrm>
            <a:off x="4892040" y="2486406"/>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The research, the advert, the survey. Money does not make it false, but you should know.</a:t>
            </a:r>
          </a:p>
        </p:txBody>
      </p:sp>
      <p:sp>
        <p:nvSpPr>
          <p:cNvPr id="21" name="Rectangle 20"/>
          <p:cNvSpPr/>
          <p:nvPr/>
        </p:nvSpPr>
        <p:spPr>
          <a:xfrm>
            <a:off x="685800" y="2999232"/>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50392" y="305409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3" name="Picture 22" descr="magnifier.png"/>
          <p:cNvPicPr>
            <a:picLocks noChangeAspect="1"/>
          </p:cNvPicPr>
          <p:nvPr/>
        </p:nvPicPr>
        <p:blipFill>
          <a:blip r:embed="rId5"/>
          <a:stretch>
            <a:fillRect/>
          </a:stretch>
        </p:blipFill>
        <p:spPr>
          <a:xfrm>
            <a:off x="932688" y="3136392"/>
            <a:ext cx="237744" cy="237744"/>
          </a:xfrm>
          <a:prstGeom prst="rect">
            <a:avLst/>
          </a:prstGeom>
          <a:effectLst/>
        </p:spPr>
      </p:pic>
      <p:sp>
        <p:nvSpPr>
          <p:cNvPr id="24" name="TextBox 23"/>
          <p:cNvSpPr txBox="1"/>
          <p:nvPr/>
        </p:nvSpPr>
        <p:spPr>
          <a:xfrm>
            <a:off x="1417320" y="3136392"/>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What is the evidence?</a:t>
            </a:r>
          </a:p>
        </p:txBody>
      </p:sp>
      <p:sp>
        <p:nvSpPr>
          <p:cNvPr id="25" name="TextBox 24"/>
          <p:cNvSpPr txBox="1"/>
          <p:nvPr/>
        </p:nvSpPr>
        <p:spPr>
          <a:xfrm>
            <a:off x="4892040" y="3089910"/>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study, a number, a graph? Or only a slogan and a famous face?</a:t>
            </a:r>
          </a:p>
        </p:txBody>
      </p:sp>
      <p:sp>
        <p:nvSpPr>
          <p:cNvPr id="26" name="Rectangle 25"/>
          <p:cNvSpPr/>
          <p:nvPr/>
        </p:nvSpPr>
        <p:spPr>
          <a:xfrm>
            <a:off x="685800" y="3602736"/>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850392" y="365760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8" name="Picture 27" descr="flask.png"/>
          <p:cNvPicPr>
            <a:picLocks noChangeAspect="1"/>
          </p:cNvPicPr>
          <p:nvPr/>
        </p:nvPicPr>
        <p:blipFill>
          <a:blip r:embed="rId6"/>
          <a:stretch>
            <a:fillRect/>
          </a:stretch>
        </p:blipFill>
        <p:spPr>
          <a:xfrm>
            <a:off x="932688" y="3739896"/>
            <a:ext cx="237744" cy="237744"/>
          </a:xfrm>
          <a:prstGeom prst="rect">
            <a:avLst/>
          </a:prstGeom>
          <a:effectLst/>
        </p:spPr>
      </p:pic>
      <p:sp>
        <p:nvSpPr>
          <p:cNvPr id="29" name="TextBox 28"/>
          <p:cNvSpPr txBox="1"/>
          <p:nvPr/>
        </p:nvSpPr>
        <p:spPr>
          <a:xfrm>
            <a:off x="1417320" y="3739896"/>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Has it been tested, and by whom?</a:t>
            </a:r>
          </a:p>
        </p:txBody>
      </p:sp>
      <p:sp>
        <p:nvSpPr>
          <p:cNvPr id="30" name="TextBox 29"/>
          <p:cNvSpPr txBox="1"/>
          <p:nvPr/>
        </p:nvSpPr>
        <p:spPr>
          <a:xfrm>
            <a:off x="4892040" y="3693414"/>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Tested on who, for how long, and by somebody with nothing to gain?</a:t>
            </a:r>
          </a:p>
        </p:txBody>
      </p:sp>
      <p:sp>
        <p:nvSpPr>
          <p:cNvPr id="31" name="TextBox 30"/>
          <p:cNvSpPr txBox="1"/>
          <p:nvPr/>
        </p:nvSpPr>
        <p:spPr>
          <a:xfrm>
            <a:off x="868680" y="4261104"/>
            <a:ext cx="7406640" cy="200025"/>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These five come back in every lesson. The first one is on the front page already.</a:t>
            </a:r>
          </a:p>
        </p:txBody>
      </p:sp>
      <p:pic>
        <p:nvPicPr>
          <p:cNvPr id="32" name="Picture 31" descr="logo-mark.png"/>
          <p:cNvPicPr>
            <a:picLocks noChangeAspect="1"/>
          </p:cNvPicPr>
          <p:nvPr/>
        </p:nvPicPr>
        <p:blipFill>
          <a:blip r:embed="rId7"/>
          <a:stretch>
            <a:fillRect/>
          </a:stretch>
        </p:blipFill>
        <p:spPr>
          <a:xfrm>
            <a:off x="384048" y="4727448"/>
            <a:ext cx="158374" cy="182880"/>
          </a:xfrm>
          <a:prstGeom prst="rect">
            <a:avLst/>
          </a:prstGeom>
          <a:effectLst/>
        </p:spPr>
      </p:pic>
      <p:sp>
        <p:nvSpPr>
          <p:cNvPr id="33" name="TextBox 3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4" name="TextBox 3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624101" y="246888"/>
            <a:ext cx="834098"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MODEL</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Watch the first one</a:t>
            </a:r>
          </a:p>
        </p:txBody>
      </p:sp>
      <p:sp>
        <p:nvSpPr>
          <p:cNvPr id="6" name="TextBox 5"/>
          <p:cNvSpPr txBox="1"/>
          <p:nvPr/>
        </p:nvSpPr>
        <p:spPr>
          <a:xfrm>
            <a:off x="685800" y="1170432"/>
            <a:ext cx="7772400"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34322F"/>
                </a:solidFill>
                <a:latin typeface="Libre Caslon Display"/>
              </a:rPr>
              <a:t>Question 1:  Who is saying it?</a:t>
            </a:r>
          </a:p>
        </p:txBody>
      </p:sp>
      <p:sp>
        <p:nvSpPr>
          <p:cNvPr id="7" name="Rectangle 6"/>
          <p:cNvSpPr/>
          <p:nvPr/>
        </p:nvSpPr>
        <p:spPr>
          <a:xfrm>
            <a:off x="685800" y="1609344"/>
            <a:ext cx="7772400" cy="124968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09344"/>
            <a:ext cx="45720" cy="124968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97280" y="1837943"/>
            <a:ext cx="6949440" cy="792480"/>
          </a:xfrm>
          <a:prstGeom prst="rect">
            <a:avLst/>
          </a:prstGeom>
          <a:noFill/>
          <a:effectLst/>
        </p:spPr>
        <p:txBody>
          <a:bodyPr wrap="square" anchor="t" lIns="0" rIns="0" tIns="0" bIns="0">
            <a:spAutoFit/>
          </a:bodyPr>
          <a:lstStyle/>
          <a:p>
            <a:pPr algn="l">
              <a:lnSpc>
                <a:spcPct val="128000"/>
              </a:lnSpc>
              <a:spcAft>
                <a:spcPts val="0"/>
              </a:spcAft>
            </a:pPr>
            <a:r>
              <a:rPr sz="1600" b="0" i="0">
                <a:solidFill>
                  <a:srgbClr val="262422"/>
                </a:solidFill>
                <a:latin typeface="Karla"/>
              </a:rPr>
              <a:t>A committee called in by the government. It says it found no real evidence of harm. It does not say how hard it looked, or who did the testing.</a:t>
            </a:r>
          </a:p>
        </p:txBody>
      </p:sp>
      <p:sp>
        <p:nvSpPr>
          <p:cNvPr id="10" name="TextBox 9"/>
          <p:cNvSpPr txBox="1"/>
          <p:nvPr/>
        </p:nvSpPr>
        <p:spPr>
          <a:xfrm>
            <a:off x="685800" y="3133344"/>
            <a:ext cx="7772400" cy="548640"/>
          </a:xfrm>
          <a:prstGeom prst="rect">
            <a:avLst/>
          </a:prstGeom>
          <a:noFill/>
          <a:effectLst/>
        </p:spPr>
        <p:txBody>
          <a:bodyPr wrap="square" anchor="t" lIns="0" rIns="0" tIns="0" bIns="0">
            <a:spAutoFit/>
          </a:bodyPr>
          <a:lstStyle/>
          <a:p>
            <a:pPr algn="ctr">
              <a:lnSpc>
                <a:spcPct val="125000"/>
              </a:lnSpc>
              <a:spcAft>
                <a:spcPts val="0"/>
              </a:spcAft>
            </a:pPr>
            <a:r>
              <a:rPr sz="1400" b="0" i="1">
                <a:solidFill>
                  <a:srgbClr val="56524B"/>
                </a:solidFill>
                <a:latin typeface="Karla"/>
              </a:rPr>
              <a:t>Notice the answer is not true or false. It tells you what to look for next.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2" name="TextBox 1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356624" y="246888"/>
            <a:ext cx="110157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TOGETHER</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Now the other four</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400" b="0" i="0">
                <a:solidFill>
                  <a:srgbClr val="56524B"/>
                </a:solidFill>
                <a:latin typeface="Karla"/>
              </a:rPr>
              <a:t>Can the front page answer them? Talk it through in your group.</a:t>
            </a:r>
          </a:p>
        </p:txBody>
      </p:sp>
      <p:sp>
        <p:nvSpPr>
          <p:cNvPr id="7" name="Rectangle 6"/>
          <p:cNvSpPr/>
          <p:nvPr/>
        </p:nvSpPr>
        <p:spPr>
          <a:xfrm>
            <a:off x="685800"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1316736"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coins.png"/>
          <p:cNvPicPr>
            <a:picLocks noChangeAspect="1"/>
          </p:cNvPicPr>
          <p:nvPr/>
        </p:nvPicPr>
        <p:blipFill>
          <a:blip r:embed="rId2"/>
          <a:stretch>
            <a:fillRect/>
          </a:stretch>
        </p:blipFill>
        <p:spPr>
          <a:xfrm>
            <a:off x="1426464" y="1947672"/>
            <a:ext cx="310896" cy="310896"/>
          </a:xfrm>
          <a:prstGeom prst="rect">
            <a:avLst/>
          </a:prstGeom>
          <a:effectLst/>
        </p:spPr>
      </p:pic>
      <p:sp>
        <p:nvSpPr>
          <p:cNvPr id="11" name="TextBox 10"/>
          <p:cNvSpPr txBox="1"/>
          <p:nvPr/>
        </p:nvSpPr>
        <p:spPr>
          <a:xfrm>
            <a:off x="822960"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gains if I believe it?</a:t>
            </a:r>
          </a:p>
        </p:txBody>
      </p:sp>
      <p:sp>
        <p:nvSpPr>
          <p:cNvPr id="12" name="Rectangle 11"/>
          <p:cNvSpPr/>
          <p:nvPr/>
        </p:nvSpPr>
        <p:spPr>
          <a:xfrm>
            <a:off x="2679192"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2679192"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3310128"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purse.png"/>
          <p:cNvPicPr>
            <a:picLocks noChangeAspect="1"/>
          </p:cNvPicPr>
          <p:nvPr/>
        </p:nvPicPr>
        <p:blipFill>
          <a:blip r:embed="rId3"/>
          <a:stretch>
            <a:fillRect/>
          </a:stretch>
        </p:blipFill>
        <p:spPr>
          <a:xfrm>
            <a:off x="3419856" y="1947672"/>
            <a:ext cx="310896" cy="310896"/>
          </a:xfrm>
          <a:prstGeom prst="rect">
            <a:avLst/>
          </a:prstGeom>
          <a:effectLst/>
        </p:spPr>
      </p:pic>
      <p:sp>
        <p:nvSpPr>
          <p:cNvPr id="16" name="TextBox 15"/>
          <p:cNvSpPr txBox="1"/>
          <p:nvPr/>
        </p:nvSpPr>
        <p:spPr>
          <a:xfrm>
            <a:off x="2816352" y="2487168"/>
            <a:ext cx="1517904" cy="204724"/>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paid for it?</a:t>
            </a:r>
          </a:p>
        </p:txBody>
      </p:sp>
      <p:sp>
        <p:nvSpPr>
          <p:cNvPr id="17" name="Rectangle 16"/>
          <p:cNvSpPr/>
          <p:nvPr/>
        </p:nvSpPr>
        <p:spPr>
          <a:xfrm>
            <a:off x="4672584"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4672584"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5303520"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magnifier.png"/>
          <p:cNvPicPr>
            <a:picLocks noChangeAspect="1"/>
          </p:cNvPicPr>
          <p:nvPr/>
        </p:nvPicPr>
        <p:blipFill>
          <a:blip r:embed="rId4"/>
          <a:stretch>
            <a:fillRect/>
          </a:stretch>
        </p:blipFill>
        <p:spPr>
          <a:xfrm>
            <a:off x="5413248" y="1947672"/>
            <a:ext cx="310896" cy="310896"/>
          </a:xfrm>
          <a:prstGeom prst="rect">
            <a:avLst/>
          </a:prstGeom>
          <a:effectLst/>
        </p:spPr>
      </p:pic>
      <p:sp>
        <p:nvSpPr>
          <p:cNvPr id="21" name="TextBox 20"/>
          <p:cNvSpPr txBox="1"/>
          <p:nvPr/>
        </p:nvSpPr>
        <p:spPr>
          <a:xfrm>
            <a:off x="4809744"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What is the evidence?</a:t>
            </a:r>
          </a:p>
        </p:txBody>
      </p:sp>
      <p:sp>
        <p:nvSpPr>
          <p:cNvPr id="22" name="Rectangle 21"/>
          <p:cNvSpPr/>
          <p:nvPr/>
        </p:nvSpPr>
        <p:spPr>
          <a:xfrm>
            <a:off x="6665976"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665976"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7296912"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flask.png"/>
          <p:cNvPicPr>
            <a:picLocks noChangeAspect="1"/>
          </p:cNvPicPr>
          <p:nvPr/>
        </p:nvPicPr>
        <p:blipFill>
          <a:blip r:embed="rId5"/>
          <a:stretch>
            <a:fillRect/>
          </a:stretch>
        </p:blipFill>
        <p:spPr>
          <a:xfrm>
            <a:off x="7406640" y="1947672"/>
            <a:ext cx="310896" cy="310896"/>
          </a:xfrm>
          <a:prstGeom prst="rect">
            <a:avLst/>
          </a:prstGeom>
          <a:effectLst/>
        </p:spPr>
      </p:pic>
      <p:sp>
        <p:nvSpPr>
          <p:cNvPr id="26" name="TextBox 25"/>
          <p:cNvSpPr txBox="1"/>
          <p:nvPr/>
        </p:nvSpPr>
        <p:spPr>
          <a:xfrm>
            <a:off x="6803136" y="2487168"/>
            <a:ext cx="1517904" cy="614172"/>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Has it been tested, and by whom?</a:t>
            </a:r>
          </a:p>
        </p:txBody>
      </p:sp>
      <p:sp>
        <p:nvSpPr>
          <p:cNvPr id="27" name="TextBox 26"/>
          <p:cNvSpPr txBox="1"/>
          <p:nvPr/>
        </p:nvSpPr>
        <p:spPr>
          <a:xfrm>
            <a:off x="868680" y="3474720"/>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Then fill in the top of your evidence sheet: where you stand, and what you would need to know.</a:t>
            </a:r>
          </a:p>
        </p:txBody>
      </p:sp>
      <p:pic>
        <p:nvPicPr>
          <p:cNvPr id="28" name="Picture 27" descr="logo-mark.png"/>
          <p:cNvPicPr>
            <a:picLocks noChangeAspect="1"/>
          </p:cNvPicPr>
          <p:nvPr/>
        </p:nvPicPr>
        <p:blipFill>
          <a:blip r:embed="rId6"/>
          <a:stretch>
            <a:fillRect/>
          </a:stretch>
        </p:blipFill>
        <p:spPr>
          <a:xfrm>
            <a:off x="384048" y="4727448"/>
            <a:ext cx="158374" cy="182880"/>
          </a:xfrm>
          <a:prstGeom prst="rect">
            <a:avLst/>
          </a:prstGeom>
          <a:effectLst/>
        </p:spPr>
      </p:pic>
      <p:sp>
        <p:nvSpPr>
          <p:cNvPr id="29" name="TextBox 2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0" name="TextBox 2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1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A</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deaths</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In 1924, five workers died and many more were badly hurt at Standard Oil refineries in New Jersey, where the lead additive was made. Newspapers called it “loony gas”. Sales stopped for a year. In 1926, a committee said there was “no real evidence” of harm to the public, and sales started again.</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Wikipedia, Tetraethyllead</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A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2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B</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expert</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For forty years the leading expert on lead was Robert Kehoe. He said the lead found in people was normal and that low levels did no harm. From 1925 he was the chief medical adviser to the Ethyl Corporation, which sold the lead additive, and his laboratory was paid for by General Motors, DuPont and Ethyl.</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Wikipedia, Robert A. Kehoe; University of Cincinnati Libraries</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B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3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C</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060704"/>
            <a:ext cx="7132320" cy="365760"/>
          </a:xfrm>
          <a:prstGeom prst="rect">
            <a:avLst/>
          </a:prstGeom>
          <a:noFill/>
          <a:effectLst/>
        </p:spPr>
        <p:txBody>
          <a:bodyPr wrap="square" anchor="t" lIns="0" rIns="0" tIns="0" bIns="0">
            <a:spAutoFit/>
          </a:bodyPr>
          <a:lstStyle/>
          <a:p>
            <a:pPr algn="l">
              <a:lnSpc>
                <a:spcPct val="125000"/>
              </a:lnSpc>
              <a:spcAft>
                <a:spcPts val="0"/>
              </a:spcAft>
            </a:pPr>
            <a:r>
              <a:rPr sz="1800" b="1" i="0">
                <a:solidFill>
                  <a:srgbClr val="262422"/>
                </a:solidFill>
                <a:latin typeface="Libre Caslon Display"/>
              </a:rPr>
              <a:t>The numbers</a:t>
            </a:r>
          </a:p>
        </p:txBody>
      </p:sp>
      <p:sp>
        <p:nvSpPr>
          <p:cNvPr id="10" name="Rectangle 9"/>
          <p:cNvSpPr/>
          <p:nvPr/>
        </p:nvSpPr>
        <p:spPr>
          <a:xfrm>
            <a:off x="960120" y="1444752"/>
            <a:ext cx="4754880" cy="21762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960120" y="1444752"/>
            <a:ext cx="475488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2" name="Chart 11"/>
          <p:cNvGraphicFramePr>
            <a:graphicFrameLocks noGrp="1"/>
          </p:cNvGraphicFramePr>
          <p:nvPr/>
        </p:nvGraphicFramePr>
        <p:xfrm>
          <a:off x="1051560" y="1572768"/>
          <a:ext cx="4572000" cy="1645919"/>
        </p:xfrm>
        <a:graphic>
          <a:graphicData uri="http://schemas.openxmlformats.org/drawingml/2006/chart">
            <c:chart xmlns:c="http://schemas.openxmlformats.org/drawingml/2006/chart" r:id="rId2"/>
          </a:graphicData>
        </a:graphic>
      </p:graphicFrame>
      <p:sp>
        <p:nvSpPr>
          <p:cNvPr id="13" name="TextBox 12"/>
          <p:cNvSpPr txBox="1"/>
          <p:nvPr/>
        </p:nvSpPr>
        <p:spPr>
          <a:xfrm>
            <a:off x="1161288" y="3273552"/>
            <a:ext cx="4352544" cy="237744"/>
          </a:xfrm>
          <a:prstGeom prst="rect">
            <a:avLst/>
          </a:prstGeom>
          <a:noFill/>
          <a:effectLst/>
        </p:spPr>
        <p:txBody>
          <a:bodyPr wrap="square" anchor="t" lIns="0" rIns="0" tIns="0" bIns="0">
            <a:spAutoFit/>
          </a:bodyPr>
          <a:lstStyle/>
          <a:p>
            <a:pPr algn="ctr">
              <a:lnSpc>
                <a:spcPct val="125000"/>
              </a:lnSpc>
              <a:spcAft>
                <a:spcPts val="0"/>
              </a:spcAft>
            </a:pPr>
            <a:r>
              <a:rPr sz="900" b="0" i="1">
                <a:solidFill>
                  <a:srgbClr val="56524B"/>
                </a:solidFill>
                <a:latin typeface="Karla"/>
              </a:rPr>
              <a:t>Micrograms of lead per decilitre of blood, children aged 1 to 5</a:t>
            </a:r>
          </a:p>
        </p:txBody>
      </p:sp>
      <p:sp>
        <p:nvSpPr>
          <p:cNvPr id="14" name="Rectangle 13"/>
          <p:cNvSpPr/>
          <p:nvPr/>
        </p:nvSpPr>
        <p:spPr>
          <a:xfrm>
            <a:off x="5897880" y="1444752"/>
            <a:ext cx="2286000" cy="2176272"/>
          </a:xfrm>
          <a:prstGeom prst="rect">
            <a:avLst/>
          </a:prstGeom>
          <a:solidFill>
            <a:srgbClr val="E9E2D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080760" y="1609344"/>
            <a:ext cx="192024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34322F"/>
                </a:solidFill>
                <a:latin typeface="Karla"/>
              </a:rPr>
              <a:t>ABOUT THIS</a:t>
            </a:r>
          </a:p>
        </p:txBody>
      </p:sp>
      <p:sp>
        <p:nvSpPr>
          <p:cNvPr id="16" name="TextBox 15"/>
          <p:cNvSpPr txBox="1"/>
          <p:nvPr/>
        </p:nvSpPr>
        <p:spPr>
          <a:xfrm>
            <a:off x="6080760" y="1865376"/>
            <a:ext cx="1920240" cy="1452880"/>
          </a:xfrm>
          <a:prstGeom prst="rect">
            <a:avLst/>
          </a:prstGeom>
          <a:noFill/>
          <a:effectLst/>
        </p:spPr>
        <p:txBody>
          <a:bodyPr wrap="square" anchor="t" lIns="0" rIns="0" tIns="0" bIns="0">
            <a:spAutoFit/>
          </a:bodyPr>
          <a:lstStyle/>
          <a:p>
            <a:pPr algn="l">
              <a:lnSpc>
                <a:spcPct val="128000"/>
              </a:lnSpc>
              <a:spcAft>
                <a:spcPts val="0"/>
              </a:spcAft>
            </a:pPr>
            <a:r>
              <a:rPr sz="1100" b="0" i="0">
                <a:solidFill>
                  <a:srgbClr val="262422"/>
                </a:solidFill>
                <a:latin typeface="Karla"/>
              </a:rPr>
              <a:t>The US took lead out of petrol from 1975 and banned it for cars in 1996. Lead paint and lead solder were also banned. Egan and others, 2021; US Environmental Protection Agency.</a:t>
            </a:r>
          </a:p>
        </p:txBody>
      </p:sp>
      <p:sp>
        <p:nvSpPr>
          <p:cNvPr id="17" name="TextBox 16"/>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Egan and others, 2021; US EPA</a:t>
            </a:r>
          </a:p>
        </p:txBody>
      </p:sp>
      <p:sp>
        <p:nvSpPr>
          <p:cNvPr id="18" name="TextBox 17"/>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C row on your evidence sheet, then move on the line.</a:t>
            </a:r>
          </a:p>
        </p:txBody>
      </p:sp>
      <p:pic>
        <p:nvPicPr>
          <p:cNvPr id="19" name="Picture 1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6406362" y="246888"/>
            <a:ext cx="205183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CRUNCH THE NUMBERS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do the numbers say?</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Work them out in your group. Write your working on your evidence sheet.</a:t>
            </a:r>
          </a:p>
        </p:txBody>
      </p:sp>
      <p:sp>
        <p:nvSpPr>
          <p:cNvPr id="7" name="Rectangle 6"/>
          <p:cNvSpPr/>
          <p:nvPr/>
        </p:nvSpPr>
        <p:spPr>
          <a:xfrm>
            <a:off x="685800" y="1481328"/>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By roughly what percentage did the lead in young children’s blood fall from 1976–80 (15.2) to 2017–18 (0.7)?</a:t>
            </a:r>
          </a:p>
        </p:txBody>
      </p:sp>
      <p:sp>
        <p:nvSpPr>
          <p:cNvPr id="11" name="Rectangle 10"/>
          <p:cNvSpPr/>
          <p:nvPr/>
        </p:nvSpPr>
        <p:spPr>
          <a:xfrm>
            <a:off x="685800" y="2345436"/>
            <a:ext cx="7772400" cy="45948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27732"/>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00884"/>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4" name="TextBox 13"/>
          <p:cNvSpPr txBox="1"/>
          <p:nvPr/>
        </p:nvSpPr>
        <p:spPr>
          <a:xfrm>
            <a:off x="1371600" y="2455164"/>
            <a:ext cx="6903720" cy="24003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Between which two surveys on the graph was the biggest fall?</a:t>
            </a:r>
          </a:p>
        </p:txBody>
      </p:sp>
      <p:sp>
        <p:nvSpPr>
          <p:cNvPr id="15" name="Rectangle 14"/>
          <p:cNvSpPr/>
          <p:nvPr/>
        </p:nvSpPr>
        <p:spPr>
          <a:xfrm>
            <a:off x="685800" y="2969514"/>
            <a:ext cx="7772400" cy="45948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868680" y="3051810"/>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68680" y="3124962"/>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18" name="TextBox 17"/>
          <p:cNvSpPr txBox="1"/>
          <p:nvPr/>
        </p:nvSpPr>
        <p:spPr>
          <a:xfrm>
            <a:off x="1371600" y="3079242"/>
            <a:ext cx="6903720" cy="24003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Name one other change that could explain some of the fall.</a:t>
            </a:r>
          </a:p>
        </p:txBody>
      </p:sp>
      <p:pic>
        <p:nvPicPr>
          <p:cNvPr id="19" name="Picture 18"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072528" y="246888"/>
            <a:ext cx="138567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THE ANSWERS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your working</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Mark your own. A different method that gets the same answer is fine.</a:t>
            </a:r>
          </a:p>
        </p:txBody>
      </p:sp>
      <p:sp>
        <p:nvSpPr>
          <p:cNvPr id="7" name="Rectangle 6"/>
          <p:cNvSpPr/>
          <p:nvPr/>
        </p:nvSpPr>
        <p:spPr>
          <a:xfrm>
            <a:off x="685800" y="1481328"/>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By roughly what percentage did the lead in young children’s blood fall from 1976–80 (15.2) to 2017–18 (0.7)?</a:t>
            </a:r>
          </a:p>
        </p:txBody>
      </p:sp>
      <p:sp>
        <p:nvSpPr>
          <p:cNvPr id="11" name="TextBox 10"/>
          <p:cNvSpPr txBox="1"/>
          <p:nvPr/>
        </p:nvSpPr>
        <p:spPr>
          <a:xfrm>
            <a:off x="1371600" y="2029968"/>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About 95 per cent ((15.2 − 0.7) ÷ 15.2 = 0.954).</a:t>
            </a:r>
          </a:p>
        </p:txBody>
      </p:sp>
      <p:sp>
        <p:nvSpPr>
          <p:cNvPr id="12" name="Rectangle 11"/>
          <p:cNvSpPr/>
          <p:nvPr/>
        </p:nvSpPr>
        <p:spPr>
          <a:xfrm>
            <a:off x="685800" y="2423160"/>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05456"/>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78608"/>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5" name="TextBox 14"/>
          <p:cNvSpPr txBox="1"/>
          <p:nvPr/>
        </p:nvSpPr>
        <p:spPr>
          <a:xfrm>
            <a:off x="1371600" y="2532888"/>
            <a:ext cx="6903720" cy="192024"/>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Between which two surveys on the graph was the biggest fall?</a:t>
            </a:r>
          </a:p>
        </p:txBody>
      </p:sp>
      <p:sp>
        <p:nvSpPr>
          <p:cNvPr id="16" name="TextBox 15"/>
          <p:cNvSpPr txBox="1"/>
          <p:nvPr/>
        </p:nvSpPr>
        <p:spPr>
          <a:xfrm>
            <a:off x="1371600" y="2779776"/>
            <a:ext cx="6903720" cy="384048"/>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Between 1976–80 and 1999–2000, from 15.2 to 2.2, which is when lead came out of petrol.</a:t>
            </a:r>
          </a:p>
        </p:txBody>
      </p:sp>
      <p:sp>
        <p:nvSpPr>
          <p:cNvPr id="17" name="Rectangle 16"/>
          <p:cNvSpPr/>
          <p:nvPr/>
        </p:nvSpPr>
        <p:spPr>
          <a:xfrm>
            <a:off x="685800" y="3364992"/>
            <a:ext cx="77724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447288"/>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520440"/>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20" name="TextBox 19"/>
          <p:cNvSpPr txBox="1"/>
          <p:nvPr/>
        </p:nvSpPr>
        <p:spPr>
          <a:xfrm>
            <a:off x="1371600" y="3474720"/>
            <a:ext cx="6903720" cy="192024"/>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Name one other change that could explain some of the fall.</a:t>
            </a:r>
          </a:p>
        </p:txBody>
      </p:sp>
      <p:sp>
        <p:nvSpPr>
          <p:cNvPr id="21" name="TextBox 20"/>
          <p:cNvSpPr txBox="1"/>
          <p:nvPr/>
        </p:nvSpPr>
        <p:spPr>
          <a:xfrm>
            <a:off x="1371600" y="3721608"/>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Lead paint and lead solder were banned in the same years.</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4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D</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scientist</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Clair Patterson set out to measure the age of the Earth and kept finding lead everywhere. He showed that ice laid down before leaded petrol held very little lead, and his team found that modern bones held hundreds of times more lead than bones from centuries ago. He argued that “normal” was not the same as “natural”.</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Wikipedia, Clair Cameron Patterson</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D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280579" y="246888"/>
            <a:ext cx="1177620"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YOUR TURN</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Write the real front page</a:t>
            </a:r>
          </a:p>
        </p:txBody>
      </p:sp>
      <p:sp>
        <p:nvSpPr>
          <p:cNvPr id="6" name="TextBox 5"/>
          <p:cNvSpPr txBox="1"/>
          <p:nvPr/>
        </p:nvSpPr>
        <p:spPr>
          <a:xfrm>
            <a:off x="685800" y="1115568"/>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On your front page sheet, on your own or with one partner.</a:t>
            </a:r>
          </a:p>
        </p:txBody>
      </p:sp>
      <p:sp>
        <p:nvSpPr>
          <p:cNvPr id="7" name="Rectangle 6"/>
          <p:cNvSpPr/>
          <p:nvPr/>
        </p:nvSpPr>
        <p:spPr>
          <a:xfrm>
            <a:off x="685800" y="14996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636775"/>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732787"/>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002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A headline that is true to the evidence</a:t>
            </a:r>
          </a:p>
        </p:txBody>
      </p:sp>
      <p:sp>
        <p:nvSpPr>
          <p:cNvPr id="11" name="TextBox 10"/>
          <p:cNvSpPr txBox="1"/>
          <p:nvPr/>
        </p:nvSpPr>
        <p:spPr>
          <a:xfrm>
            <a:off x="1417320" y="18470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 bigger than the evidence. If you are not sure, the headline can say so.</a:t>
            </a:r>
          </a:p>
        </p:txBody>
      </p:sp>
      <p:sp>
        <p:nvSpPr>
          <p:cNvPr id="12" name="Rectangle 11"/>
          <p:cNvSpPr/>
          <p:nvPr/>
        </p:nvSpPr>
        <p:spPr>
          <a:xfrm>
            <a:off x="685800" y="2304288"/>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44144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37460"/>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404872"/>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One line under it that sums up the story</a:t>
            </a:r>
          </a:p>
        </p:txBody>
      </p:sp>
      <p:sp>
        <p:nvSpPr>
          <p:cNvPr id="16" name="TextBox 15"/>
          <p:cNvSpPr txBox="1"/>
          <p:nvPr/>
        </p:nvSpPr>
        <p:spPr>
          <a:xfrm>
            <a:off x="1417320" y="2651760"/>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Who made the claim, and what they stood to gain.</a:t>
            </a:r>
          </a:p>
        </p:txBody>
      </p:sp>
      <p:sp>
        <p:nvSpPr>
          <p:cNvPr id="17" name="Rectangle 16"/>
          <p:cNvSpPr/>
          <p:nvPr/>
        </p:nvSpPr>
        <p:spPr>
          <a:xfrm>
            <a:off x="685800" y="3108960"/>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24612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342132"/>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209544"/>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The story, in four or five sentences</a:t>
            </a:r>
          </a:p>
        </p:txBody>
      </p:sp>
      <p:sp>
        <p:nvSpPr>
          <p:cNvPr id="21" name="TextBox 20"/>
          <p:cNvSpPr txBox="1"/>
          <p:nvPr/>
        </p:nvSpPr>
        <p:spPr>
          <a:xfrm>
            <a:off x="1417320" y="3456432"/>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Use at least two cards, name each one, and put in one number from your sums.</a:t>
            </a:r>
          </a:p>
        </p:txBody>
      </p:sp>
      <p:sp>
        <p:nvSpPr>
          <p:cNvPr id="22" name="TextBox 21"/>
          <p:cNvSpPr txBox="1"/>
          <p:nvPr/>
        </p:nvSpPr>
        <p:spPr>
          <a:xfrm>
            <a:off x="868680" y="3986784"/>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Your evidence sheet has everything you need. Write it for somebody who has not seen the cards.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714534" y="246888"/>
            <a:ext cx="74366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MARK</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somebody else’s page</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Swap front pages with somebody from another group. Tick each box it passes.</a:t>
            </a:r>
          </a:p>
        </p:txBody>
      </p:sp>
      <p:sp>
        <p:nvSpPr>
          <p:cNvPr id="7" name="Rectangle 6"/>
          <p:cNvSpPr/>
          <p:nvPr/>
        </p:nvSpPr>
        <p:spPr>
          <a:xfrm>
            <a:off x="685800" y="159105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72821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82422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9164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Is the headline true to the evidence?</a:t>
            </a:r>
          </a:p>
        </p:txBody>
      </p:sp>
      <p:sp>
        <p:nvSpPr>
          <p:cNvPr id="11" name="TextBox 10"/>
          <p:cNvSpPr txBox="1"/>
          <p:nvPr/>
        </p:nvSpPr>
        <p:spPr>
          <a:xfrm>
            <a:off x="1417320" y="193852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Not bigger, not smaller, than what the cards show.</a:t>
            </a:r>
          </a:p>
        </p:txBody>
      </p:sp>
      <p:sp>
        <p:nvSpPr>
          <p:cNvPr id="12" name="Rectangle 11"/>
          <p:cNvSpPr/>
          <p:nvPr/>
        </p:nvSpPr>
        <p:spPr>
          <a:xfrm>
            <a:off x="685800" y="24140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5117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64718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5146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Does it say where the evidence came from?</a:t>
            </a:r>
          </a:p>
        </p:txBody>
      </p:sp>
      <p:sp>
        <p:nvSpPr>
          <p:cNvPr id="16" name="TextBox 15"/>
          <p:cNvSpPr txBox="1"/>
          <p:nvPr/>
        </p:nvSpPr>
        <p:spPr>
          <a:xfrm>
            <a:off x="1417320" y="27614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A study, a document, a person with a name.</a:t>
            </a:r>
          </a:p>
        </p:txBody>
      </p:sp>
      <p:sp>
        <p:nvSpPr>
          <p:cNvPr id="17" name="Rectangle 16"/>
          <p:cNvSpPr/>
          <p:nvPr/>
        </p:nvSpPr>
        <p:spPr>
          <a:xfrm>
            <a:off x="685800" y="323697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37413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47014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33756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Would it survive the five questions?</a:t>
            </a:r>
          </a:p>
        </p:txBody>
      </p:sp>
      <p:sp>
        <p:nvSpPr>
          <p:cNvPr id="21" name="TextBox 20"/>
          <p:cNvSpPr txBox="1"/>
          <p:nvPr/>
        </p:nvSpPr>
        <p:spPr>
          <a:xfrm>
            <a:off x="1417320" y="358444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Try one or two of them on it.</a:t>
            </a:r>
          </a:p>
        </p:txBody>
      </p:sp>
      <p:sp>
        <p:nvSpPr>
          <p:cNvPr id="22" name="TextBox 21"/>
          <p:cNvSpPr txBox="1"/>
          <p:nvPr/>
        </p:nvSpPr>
        <p:spPr>
          <a:xfrm>
            <a:off x="868680" y="4023360"/>
            <a:ext cx="7406640" cy="216027"/>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Write one change that would make it better, then hand it back.</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TextBox 3"/>
          <p:cNvSpPr txBox="1"/>
          <p:nvPr/>
        </p:nvSpPr>
        <p:spPr>
          <a:xfrm>
            <a:off x="685800" y="566928"/>
            <a:ext cx="512064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really happened</a:t>
            </a:r>
          </a:p>
        </p:txBody>
      </p:sp>
      <p:sp>
        <p:nvSpPr>
          <p:cNvPr id="5" name="Rounded Rectangle 4"/>
          <p:cNvSpPr/>
          <p:nvPr/>
        </p:nvSpPr>
        <p:spPr>
          <a:xfrm rot="21120000">
            <a:off x="5748829" y="522732"/>
            <a:ext cx="2858421" cy="746760"/>
          </a:xfrm>
          <a:prstGeom prst="roundRect">
            <a:avLst>
              <a:gd name="adj" fmla="val 8000"/>
            </a:avLst>
          </a:prstGeom>
          <a:noFill/>
          <a:ln w="4445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ounded Rectangle 5"/>
          <p:cNvSpPr/>
          <p:nvPr/>
        </p:nvSpPr>
        <p:spPr>
          <a:xfrm rot="21120000">
            <a:off x="5831125" y="605028"/>
            <a:ext cx="2693829" cy="582168"/>
          </a:xfrm>
          <a:prstGeom prst="roundRect">
            <a:avLst>
              <a:gd name="adj" fmla="val 6000"/>
            </a:avLst>
          </a:prstGeom>
          <a:noFill/>
          <a:ln w="1524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wrap="none"/>
          <a:lstStyle/>
          <a:p>
            <a:pPr algn="ctr"/>
            <a:r>
              <a:rPr sz="3000" b="1" spc="600">
                <a:solidFill>
                  <a:srgbClr val="34322F"/>
                </a:solidFill>
                <a:latin typeface="Karla"/>
              </a:rPr>
              <a:t>BUSTED</a:t>
            </a:r>
          </a:p>
        </p:txBody>
      </p:sp>
      <p:sp>
        <p:nvSpPr>
          <p:cNvPr id="7" name="TextBox 6"/>
          <p:cNvSpPr txBox="1"/>
          <p:nvPr/>
        </p:nvSpPr>
        <p:spPr>
          <a:xfrm>
            <a:off x="685800" y="1591056"/>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1922</a:t>
            </a:r>
          </a:p>
        </p:txBody>
      </p:sp>
      <p:sp>
        <p:nvSpPr>
          <p:cNvPr id="8" name="Oval 7"/>
          <p:cNvSpPr/>
          <p:nvPr/>
        </p:nvSpPr>
        <p:spPr>
          <a:xfrm>
            <a:off x="1819656" y="1645919"/>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130552" y="1591056"/>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Lead is first added to petrol.</a:t>
            </a:r>
          </a:p>
        </p:txBody>
      </p:sp>
      <p:sp>
        <p:nvSpPr>
          <p:cNvPr id="10" name="TextBox 9"/>
          <p:cNvSpPr txBox="1"/>
          <p:nvPr/>
        </p:nvSpPr>
        <p:spPr>
          <a:xfrm>
            <a:off x="685800" y="2029967"/>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1926</a:t>
            </a:r>
          </a:p>
        </p:txBody>
      </p:sp>
      <p:sp>
        <p:nvSpPr>
          <p:cNvPr id="11" name="Oval 10"/>
          <p:cNvSpPr/>
          <p:nvPr/>
        </p:nvSpPr>
        <p:spPr>
          <a:xfrm>
            <a:off x="1819656" y="2084831"/>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130552" y="2029967"/>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A committee finds “no real evidence” of harm, and sales restart.</a:t>
            </a:r>
          </a:p>
        </p:txBody>
      </p:sp>
      <p:sp>
        <p:nvSpPr>
          <p:cNvPr id="13" name="TextBox 12"/>
          <p:cNvSpPr txBox="1"/>
          <p:nvPr/>
        </p:nvSpPr>
        <p:spPr>
          <a:xfrm>
            <a:off x="685800" y="2468879"/>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1965</a:t>
            </a:r>
          </a:p>
        </p:txBody>
      </p:sp>
      <p:sp>
        <p:nvSpPr>
          <p:cNvPr id="14" name="Oval 13"/>
          <p:cNvSpPr/>
          <p:nvPr/>
        </p:nvSpPr>
        <p:spPr>
          <a:xfrm>
            <a:off x="1819656" y="2523744"/>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30552" y="2468879"/>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Clair Patterson publishes evidence of lead pollution.</a:t>
            </a:r>
          </a:p>
        </p:txBody>
      </p:sp>
      <p:sp>
        <p:nvSpPr>
          <p:cNvPr id="16" name="TextBox 15"/>
          <p:cNvSpPr txBox="1"/>
          <p:nvPr/>
        </p:nvSpPr>
        <p:spPr>
          <a:xfrm>
            <a:off x="685800" y="2907791"/>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2000</a:t>
            </a:r>
          </a:p>
        </p:txBody>
      </p:sp>
      <p:sp>
        <p:nvSpPr>
          <p:cNvPr id="17" name="Oval 16"/>
          <p:cNvSpPr/>
          <p:nvPr/>
        </p:nvSpPr>
        <p:spPr>
          <a:xfrm>
            <a:off x="1819656" y="2962656"/>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2130552" y="2907791"/>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UK bans leaded petrol. 2021: the last country stops.</a:t>
            </a:r>
          </a:p>
        </p:txBody>
      </p:sp>
      <p:sp>
        <p:nvSpPr>
          <p:cNvPr id="19" name="Rectangle 18"/>
          <p:cNvSpPr/>
          <p:nvPr/>
        </p:nvSpPr>
        <p:spPr>
          <a:xfrm>
            <a:off x="685800" y="3840480"/>
            <a:ext cx="7772400" cy="676656"/>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68680" y="3941063"/>
            <a:ext cx="7406640" cy="182880"/>
          </a:xfrm>
          <a:prstGeom prst="rect">
            <a:avLst/>
          </a:prstGeom>
          <a:noFill/>
          <a:effectLst/>
        </p:spPr>
        <p:txBody>
          <a:bodyPr wrap="square" anchor="t" lIns="0" rIns="0" tIns="0" bIns="0">
            <a:spAutoFit/>
          </a:bodyPr>
          <a:lstStyle/>
          <a:p>
            <a:pPr algn="ctr">
              <a:lnSpc>
                <a:spcPct val="125000"/>
              </a:lnSpc>
              <a:spcAft>
                <a:spcPts val="0"/>
              </a:spcAft>
            </a:pPr>
            <a:r>
              <a:rPr sz="850" b="1" i="0" spc="150">
                <a:solidFill>
                  <a:srgbClr val="D7D2C8"/>
                </a:solidFill>
                <a:latin typeface="Karla"/>
              </a:rPr>
              <a:t>THE QUESTION THAT WOULD HAVE CAUGHT IT</a:t>
            </a:r>
          </a:p>
        </p:txBody>
      </p:sp>
      <p:sp>
        <p:nvSpPr>
          <p:cNvPr id="21" name="TextBox 20"/>
          <p:cNvSpPr txBox="1"/>
          <p:nvPr/>
        </p:nvSpPr>
        <p:spPr>
          <a:xfrm>
            <a:off x="868680" y="4133087"/>
            <a:ext cx="7406640" cy="310896"/>
          </a:xfrm>
          <a:prstGeom prst="rect">
            <a:avLst/>
          </a:prstGeom>
          <a:noFill/>
          <a:effectLst/>
        </p:spPr>
        <p:txBody>
          <a:bodyPr wrap="square" anchor="t" lIns="0" rIns="0" tIns="0" bIns="0">
            <a:spAutoFit/>
          </a:bodyPr>
          <a:lstStyle/>
          <a:p>
            <a:pPr algn="ctr">
              <a:lnSpc>
                <a:spcPct val="125000"/>
              </a:lnSpc>
              <a:spcAft>
                <a:spcPts val="0"/>
              </a:spcAft>
            </a:pPr>
            <a:r>
              <a:rPr sz="1800" b="1" i="0">
                <a:solidFill>
                  <a:srgbClr val="FFFDF7"/>
                </a:solidFill>
                <a:latin typeface="Libre Caslon Display"/>
              </a:rPr>
              <a:t>Has it been tested, and by whom?</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640472" y="246888"/>
            <a:ext cx="81772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ARGUE</a:t>
            </a:r>
          </a:p>
        </p:txBody>
      </p:sp>
      <p:sp>
        <p:nvSpPr>
          <p:cNvPr id="5" name="TextBox 4"/>
          <p:cNvSpPr txBox="1"/>
          <p:nvPr/>
        </p:nvSpPr>
        <p:spPr>
          <a:xfrm>
            <a:off x="685800" y="7315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56524B"/>
                </a:solidFill>
                <a:latin typeface="Karla"/>
              </a:rPr>
              <a:t>NO RIGHT ANSWER</a:t>
            </a:r>
          </a:p>
        </p:txBody>
      </p:sp>
      <p:sp>
        <p:nvSpPr>
          <p:cNvPr id="6" name="KEEP_SHADOW"/>
          <p:cNvSpPr/>
          <p:nvPr/>
        </p:nvSpPr>
        <p:spPr>
          <a:xfrm>
            <a:off x="685800" y="1042415"/>
            <a:ext cx="7772400" cy="1934464"/>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042415"/>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43000" y="1316736"/>
            <a:ext cx="6858000" cy="1385824"/>
          </a:xfrm>
          <a:prstGeom prst="rect">
            <a:avLst/>
          </a:prstGeom>
          <a:noFill/>
          <a:effectLst/>
        </p:spPr>
        <p:txBody>
          <a:bodyPr wrap="square" anchor="t" lIns="0" rIns="0" tIns="0" bIns="0">
            <a:spAutoFit/>
          </a:bodyPr>
          <a:lstStyle/>
          <a:p>
            <a:pPr algn="ctr">
              <a:lnSpc>
                <a:spcPct val="112000"/>
              </a:lnSpc>
              <a:spcAft>
                <a:spcPts val="0"/>
              </a:spcAft>
            </a:pPr>
            <a:r>
              <a:rPr sz="2200" b="1" i="0">
                <a:solidFill>
                  <a:srgbClr val="262422"/>
                </a:solidFill>
                <a:latin typeface="Libre Caslon Display"/>
              </a:rPr>
              <a:t>“No real evidence of harm” and “safe” are not the same thing. Who should have to do the proving: the people selling something, or the people worried about it?</a:t>
            </a:r>
          </a:p>
        </p:txBody>
      </p:sp>
      <p:sp>
        <p:nvSpPr>
          <p:cNvPr id="9" name="TextBox 8"/>
          <p:cNvSpPr txBox="1"/>
          <p:nvPr/>
        </p:nvSpPr>
        <p:spPr>
          <a:xfrm>
            <a:off x="868680" y="3296920"/>
            <a:ext cx="7406640" cy="224028"/>
          </a:xfrm>
          <a:prstGeom prst="rect">
            <a:avLst/>
          </a:prstGeom>
          <a:noFill/>
          <a:effectLst/>
        </p:spPr>
        <p:txBody>
          <a:bodyPr wrap="square" anchor="t" lIns="0" rIns="0" tIns="0" bIns="0">
            <a:spAutoFit/>
          </a:bodyPr>
          <a:lstStyle/>
          <a:p>
            <a:pPr algn="ctr">
              <a:lnSpc>
                <a:spcPct val="120000"/>
              </a:lnSpc>
              <a:spcAft>
                <a:spcPts val="0"/>
              </a:spcAft>
            </a:pPr>
            <a:r>
              <a:rPr sz="1400" b="1" i="0">
                <a:solidFill>
                  <a:srgbClr val="34322F"/>
                </a:solidFill>
                <a:latin typeface="Karla"/>
              </a:rPr>
              <a:t>Two minutes with the person next to you, then we hear from a few.</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4 OF 5</a:t>
            </a:r>
          </a:p>
        </p:txBody>
      </p:sp>
      <p:sp>
        <p:nvSpPr>
          <p:cNvPr id="4" name="Rounded Rectangle 3"/>
          <p:cNvSpPr/>
          <p:nvPr/>
        </p:nvSpPr>
        <p:spPr>
          <a:xfrm>
            <a:off x="7486248" y="246888"/>
            <a:ext cx="97195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FOR YOU</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Two questions, just for you</a:t>
            </a:r>
          </a:p>
        </p:txBody>
      </p:sp>
      <p:sp>
        <p:nvSpPr>
          <p:cNvPr id="6" name="Rectangle 5"/>
          <p:cNvSpPr/>
          <p:nvPr/>
        </p:nvSpPr>
        <p:spPr>
          <a:xfrm>
            <a:off x="685800" y="137160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37160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64363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73507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10" name="TextBox 9"/>
          <p:cNvSpPr txBox="1"/>
          <p:nvPr/>
        </p:nvSpPr>
        <p:spPr>
          <a:xfrm>
            <a:off x="1554480" y="157276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Where did you move on the line, and which card moved you?</a:t>
            </a:r>
          </a:p>
        </p:txBody>
      </p:sp>
      <p:sp>
        <p:nvSpPr>
          <p:cNvPr id="11" name="Rectangle 10"/>
          <p:cNvSpPr/>
          <p:nvPr/>
        </p:nvSpPr>
        <p:spPr>
          <a:xfrm>
            <a:off x="685800" y="253746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53746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80949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90093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554480" y="273862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Next time you see a headline, which of the five questions will you ask first?</a:t>
            </a:r>
          </a:p>
        </p:txBody>
      </p:sp>
      <p:sp>
        <p:nvSpPr>
          <p:cNvPr id="16" name="TextBox 15"/>
          <p:cNvSpPr txBox="1"/>
          <p:nvPr/>
        </p:nvSpPr>
        <p:spPr>
          <a:xfrm>
            <a:off x="868680" y="3886200"/>
            <a:ext cx="7406640" cy="416052"/>
          </a:xfrm>
          <a:prstGeom prst="rect">
            <a:avLst/>
          </a:prstGeom>
          <a:noFill/>
          <a:effectLst/>
        </p:spPr>
        <p:txBody>
          <a:bodyPr wrap="square" anchor="t" lIns="0" rIns="0" tIns="0" bIns="0">
            <a:spAutoFit/>
          </a:bodyPr>
          <a:lstStyle/>
          <a:p>
            <a:pPr algn="ctr">
              <a:lnSpc>
                <a:spcPct val="120000"/>
              </a:lnSpc>
              <a:spcAft>
                <a:spcPts val="0"/>
              </a:spcAft>
            </a:pPr>
            <a:r>
              <a:rPr sz="1300" b="1" i="0">
                <a:solidFill>
                  <a:srgbClr val="34322F"/>
                </a:solidFill>
                <a:latin typeface="Karla"/>
              </a:rPr>
              <a:t>Write your answers in the last box of your evidence sheet. It is yours to keep, and nothing is read out.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8" name="TextBox 17"/>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635689"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FOR THE TEACHER  ·  SOURCES</a:t>
            </a:r>
          </a:p>
        </p:txBody>
      </p:sp>
      <p:sp>
        <p:nvSpPr>
          <p:cNvPr id="4" name="TextBox 3"/>
          <p:cNvSpPr txBox="1"/>
          <p:nvPr/>
        </p:nvSpPr>
        <p:spPr>
          <a:xfrm>
            <a:off x="685800" y="658368"/>
            <a:ext cx="7772400" cy="406400"/>
          </a:xfrm>
          <a:prstGeom prst="rect">
            <a:avLst/>
          </a:prstGeom>
          <a:noFill/>
          <a:effectLst/>
        </p:spPr>
        <p:txBody>
          <a:bodyPr wrap="square" anchor="t" lIns="0" rIns="0" tIns="0" bIns="0">
            <a:spAutoFit/>
          </a:bodyPr>
          <a:lstStyle/>
          <a:p>
            <a:pPr algn="l">
              <a:lnSpc>
                <a:spcPct val="105000"/>
              </a:lnSpc>
              <a:spcAft>
                <a:spcPts val="0"/>
              </a:spcAft>
            </a:pPr>
            <a:r>
              <a:rPr sz="2600" b="1" i="0">
                <a:solidFill>
                  <a:srgbClr val="262422"/>
                </a:solidFill>
                <a:latin typeface="Libre Caslon Display"/>
              </a:rPr>
              <a:t>Where the evidence came from</a:t>
            </a:r>
          </a:p>
        </p:txBody>
      </p:sp>
      <p:sp>
        <p:nvSpPr>
          <p:cNvPr id="5" name="TextBox 4"/>
          <p:cNvSpPr txBox="1"/>
          <p:nvPr/>
        </p:nvSpPr>
        <p:spPr>
          <a:xfrm>
            <a:off x="685800" y="1280160"/>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Egan K. B. and others (2021). Blood lead levels in U.S. children ages 1–11 years, 1976–2016. Environmental Health Perspectives, 129(3).</a:t>
            </a:r>
          </a:p>
        </p:txBody>
      </p:sp>
      <p:sp>
        <p:nvSpPr>
          <p:cNvPr id="6" name="TextBox 5"/>
          <p:cNvSpPr txBox="1"/>
          <p:nvPr/>
        </p:nvSpPr>
        <p:spPr>
          <a:xfrm>
            <a:off x="685800" y="1771396"/>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US Environmental Protection Agency, Report on the Environment: Blood Lead (2023) and America’s Children and the Environment: Lead (2026).</a:t>
            </a:r>
          </a:p>
        </p:txBody>
      </p:sp>
      <p:sp>
        <p:nvSpPr>
          <p:cNvPr id="7" name="TextBox 6"/>
          <p:cNvSpPr txBox="1"/>
          <p:nvPr/>
        </p:nvSpPr>
        <p:spPr>
          <a:xfrm>
            <a:off x="685800" y="2262632"/>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UNEP (2021). Era of leaded petrol over. Press release, 30 August 2021.</a:t>
            </a:r>
          </a:p>
        </p:txBody>
      </p:sp>
      <p:sp>
        <p:nvSpPr>
          <p:cNvPr id="8" name="TextBox 7"/>
          <p:cNvSpPr txBox="1"/>
          <p:nvPr/>
        </p:nvSpPr>
        <p:spPr>
          <a:xfrm>
            <a:off x="685800" y="2572258"/>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Wikipedia, Tetraethyllead, Robert A. Kehoe and Clair Cameron Patterson, accessed September 2026.</a:t>
            </a:r>
          </a:p>
        </p:txBody>
      </p:sp>
      <p:sp>
        <p:nvSpPr>
          <p:cNvPr id="9" name="TextBox 8"/>
          <p:cNvSpPr txBox="1"/>
          <p:nvPr/>
        </p:nvSpPr>
        <p:spPr>
          <a:xfrm>
            <a:off x="685800" y="2881884"/>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Ericson J. E., Shirahata H. and Patterson C. C. (1979). Skeletal concentrations of lead in ancient Peruvians. New England Journal of Medicine, 300, 946–951.</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