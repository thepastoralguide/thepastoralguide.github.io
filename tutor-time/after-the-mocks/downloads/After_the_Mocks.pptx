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5A6428"/>
                </a:solidFill>
                <a:latin typeface="Libre Caslon Display"/>
              </a:rPr>
              <a:t>After the Mocks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Karla"/>
              </a:rPr>
              <a:t>A result is information. The story is optional.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Karla"/>
              </a:rPr>
              <a:t>Tutor Time  ·  a lesson for the week after mock results, Year 10 to 13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Before the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One set of cards per table and one sheet per student. Nothing written today is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75104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93976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8998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756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Cut the cards once, one set per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225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Page 2 of the pack, eight cards. They are sorted on slide 3 before anything is taught.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43784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3979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2549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Print the sheet, one per student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7238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Page 3. Students need their own mock result in front of them, or a rough memory of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74720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9359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96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75303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Read the safeguarding line on page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22191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bad mock lands on top of other things for some students. The exit slip is private.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The pack has the hour minute by minute against these slide numbers.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966841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STARTER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Sort the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Eight things people say in the week after results. On your table, two piles.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Facts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Things you could check. A number, a question, a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Things that feel true. They usually have the word always, never or just in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Disagree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your table cannot agree on a card, that card goes on the 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Four minutes. Then we look at the ones that caused an argument.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744126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WHAT YOU SORTED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two piles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Facts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4 in maths.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ran out of time on paper two.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2908109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53245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lost most of the marks on the last two questions.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topics I revised were not the ones that came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am just not a maths person.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72491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67004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Everyone else found it easy.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There is no point now.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45643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40156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teacher has it in for 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A story is not a lie. It is a feeling written down as if it were a result.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A result says three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11095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What was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paper, on a day, on some topics. Not the subject, and not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11095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What you did on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Where the marks came from and where they went. The useful part.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627632"/>
            <a:ext cx="2395728" cy="213969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773936"/>
            <a:ext cx="658368" cy="658368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11095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542032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Nothing about next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035808"/>
            <a:ext cx="2066544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A mock is a rehearsal. The real paper has not been sat yet.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Everything else you hear yourself saying is the fourth thing.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story adds a fourth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What the result says about you, forever.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turns a paper into a person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“I got a 4” becomes “I am a 4.”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turns a day into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“I ran out of time” becomes “I always mess up exams.”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It leaves you with a feeling and nothing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fact points somewhere. A story only points at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You cannot stop the story arriving. You can decide not to write it down.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834098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One result,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The story</a:t>
            </a:r>
          </a:p>
        </p:txBody>
      </p:sp>
      <p:sp>
        <p:nvSpPr>
          <p:cNvPr id="7" name="Oval 6"/>
          <p:cNvSpPr/>
          <p:nvPr/>
        </p:nvSpPr>
        <p:spPr>
          <a:xfrm>
            <a:off x="1005839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5 in English.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am rubbish at essays. I always have been.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Everyone else is on 7s.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might as well not bother in the real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1627632"/>
            <a:ext cx="3730752" cy="224942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883664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A6428"/>
                </a:solidFill>
                <a:latin typeface="Libre Caslon Display"/>
              </a:rPr>
              <a:t>The fact, and a first move</a:t>
            </a:r>
          </a:p>
        </p:txBody>
      </p:sp>
      <p:sp>
        <p:nvSpPr>
          <p:cNvPr id="17" name="Oval 16"/>
          <p:cNvSpPr/>
          <p:nvPr/>
        </p:nvSpPr>
        <p:spPr>
          <a:xfrm>
            <a:off x="5047488" y="235915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0428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I got a 5 in English.</a:t>
            </a:r>
          </a:p>
        </p:txBody>
      </p:sp>
      <p:sp>
        <p:nvSpPr>
          <p:cNvPr id="19" name="Oval 18"/>
          <p:cNvSpPr/>
          <p:nvPr/>
        </p:nvSpPr>
        <p:spPr>
          <a:xfrm>
            <a:off x="5047488" y="263363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57876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marks came off for the structure of the second essay.</a:t>
            </a:r>
          </a:p>
        </p:txBody>
      </p:sp>
      <p:sp>
        <p:nvSpPr>
          <p:cNvPr id="21" name="Oval 20"/>
          <p:cNvSpPr/>
          <p:nvPr/>
        </p:nvSpPr>
        <p:spPr>
          <a:xfrm>
            <a:off x="5047488" y="3090672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035808"/>
            <a:ext cx="2889504" cy="182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The first essay was fine.</a:t>
            </a:r>
          </a:p>
        </p:txBody>
      </p:sp>
      <p:sp>
        <p:nvSpPr>
          <p:cNvPr id="23" name="Oval 22"/>
          <p:cNvSpPr/>
          <p:nvPr/>
        </p:nvSpPr>
        <p:spPr>
          <a:xfrm>
            <a:off x="5047488" y="3365150"/>
            <a:ext cx="91440" cy="91440"/>
          </a:xfrm>
          <a:prstGeom prst="ellipse">
            <a:avLst/>
          </a:prstGeom>
          <a:solidFill>
            <a:srgbClr val="8F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76088" y="3310286"/>
            <a:ext cx="2889504" cy="365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Karla"/>
              </a:rPr>
              <a:t>First move: two essay plans this week, checked by somebody.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Same result. One version has something to do on Tuesday.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01575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Do one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 made-up result on the board. The room turns it into a fact and a first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3 in science. Ran out of time on paper one, and lost most marks on the first topic.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fact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Say it out loud until it has no always, never or just in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The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Something that takes less than an hour and could happen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If the first move is “revise more”, it is not a move yet. Make it smaller.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77620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Your own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On the sheet. Pick one result, the one that bothers you most.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What it tested, and what you did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Where the marks went, if you know. If you do not know, the first move is to find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One line of fact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No always, never or just. If it has one, cross it out and try again.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One first move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Under an hour, this week, and you could tell someone you had done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Eight minutes. The sheet is yours and it is not collected.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740193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SWAP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Check a fact line that is not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Swap sheets with the person next to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Is the fact line a fact?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Could you check it? If not, it is a story in disguise. Underline the word that gives it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Is the first move small enough?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it would take more than an hour, write “smaller” next to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Would you know when it was done?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 move you cannot tick off is not a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Hand it back. Change anything that got underlined.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955431" cy="237744"/>
          </a:xfrm>
          <a:prstGeom prst="roundRect">
            <a:avLst>
              <a:gd name="adj" fmla="val 50000"/>
            </a:avLst>
          </a:prstGeom>
          <a:solidFill>
            <a:srgbClr val="D6D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96112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D6DBB6"/>
                </a:solidFill>
                <a:latin typeface="Karla"/>
              </a:rPr>
              <a:t>Two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Who is a mock result for?</a:t>
            </a:r>
            <a:br>
              <a:rPr lang="en-GB"/>
            </a:br>
            <a:r>
              <a:rPr sz="2800" b="1" i="0">
                <a:solidFill>
                  <a:srgbClr val="FFFDF7"/>
                </a:solidFill>
                <a:latin typeface="Libre Caslon Display"/>
              </a:rPr>
              <a:t>And what is a mock actually for?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6D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D6DBB6"/>
                </a:solidFill>
                <a:latin typeface="Karla"/>
              </a:rPr>
              <a:t>Take one at a time. The second one has a better answer than most people give it.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6DBB6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6DBB6"/>
                </a:solidFill>
                <a:latin typeface="Karla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1133468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week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Three things to do before the next set of lessons in that subject.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Find out where the marks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Ask for the paper back, or ask which questions cost the most marks.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Make the first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 one on your sheet. Under an hour.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Tell one person what your first move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Not the result. The move. It is much easier to do a thing somebody knows you are doing.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A result you have looked at is worth more than a result you have felt.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48640"/>
            <a:ext cx="646431" cy="237744"/>
          </a:xfrm>
          <a:prstGeom prst="roundRect">
            <a:avLst>
              <a:gd name="adj" fmla="val 50000"/>
            </a:avLst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5A6428"/>
                </a:solidFill>
                <a:latin typeface="Karla"/>
              </a:rPr>
              <a:t>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At the bottom of the sheet. Private, not collected.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56816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66543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6255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A friend got your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0428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Same mark, same paper. Write the one sentence you would say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06624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Read it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5409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It is probably not what you said to yourself on results 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21792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402336" cy="402336"/>
          </a:xfrm>
          <a:prstGeom prst="ellipse">
            <a:avLst/>
          </a:prstGeom>
          <a:solidFill>
            <a:srgbClr val="5A64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621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A6428"/>
                </a:solidFill>
                <a:latin typeface="Libre Caslon Display"/>
              </a:rPr>
              <a:t>Keep the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The first move is on it, and it is due this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C6552"/>
                </a:solidFill>
                <a:latin typeface="Karla"/>
              </a:rPr>
              <a:t>Nothing on the sheet is collected. It is yours.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5A6428"/>
                </a:solidFill>
                <a:latin typeface="Libre Caslon Display"/>
              </a:rPr>
              <a:t>Find out where the marks went.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Then make one move. A mock is a rehearsal, and the story about it is optional.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8B9179"/>
                </a:solidFill>
                <a:latin typeface="Karla"/>
              </a:rPr>
              <a:t>The Pastoral Guide  ·  thepastoralguide.com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