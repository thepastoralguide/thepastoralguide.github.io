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ILXE4XobXKnKAXKRjrf/R50t+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1.png"/><Relationship Id="rId9" Type="http://schemas.openxmlformats.org/officeDocument/2006/relationships/image" Target="../media/image14.png"/><Relationship Id="rId10" Type="http://schemas.openxmlformats.org/officeDocument/2006/relationships/image" Target="../media/image5.png"/><Relationship Id="rId11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9.png"/><Relationship Id="rId9" Type="http://schemas.openxmlformats.org/officeDocument/2006/relationships/image" Target="../media/image5.png"/><Relationship Id="rId10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5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1.png"/><Relationship Id="rId6" Type="http://schemas.openxmlformats.org/officeDocument/2006/relationships/image" Target="../media/image41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Relationship Id="rId9" Type="http://schemas.openxmlformats.org/officeDocument/2006/relationships/image" Target="../media/image5.png"/><Relationship Id="rId10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3.png"/><Relationship Id="rId7" Type="http://schemas.openxmlformats.org/officeDocument/2006/relationships/image" Target="../media/image32.png"/><Relationship Id="rId8" Type="http://schemas.openxmlformats.org/officeDocument/2006/relationships/image" Target="../media/image5.png"/><Relationship Id="rId9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1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3.png"/><Relationship Id="rId9" Type="http://schemas.openxmlformats.org/officeDocument/2006/relationships/image" Target="../media/image8.png"/><Relationship Id="rId10" Type="http://schemas.openxmlformats.org/officeDocument/2006/relationships/image" Target="../media/image5.png"/><Relationship Id="rId11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33.png"/><Relationship Id="rId9" Type="http://schemas.openxmlformats.org/officeDocument/2006/relationships/image" Target="../media/image5.png"/><Relationship Id="rId10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page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8" name="Google Shape;18;p1"/>
          <p:cNvSpPr/>
          <p:nvPr/>
        </p:nvSpPr>
        <p:spPr>
          <a:xfrm>
            <a:off x="548640" y="1965960"/>
            <a:ext cx="80467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5E8B6E"/>
                </a:solidFill>
                <a:latin typeface="Libre Caslon Display"/>
                <a:ea typeface="Cambria"/>
                <a:cs typeface="Cambria"/>
                <a:sym typeface="Cambria"/>
              </a:rPr>
              <a:t>The Planting Project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097280" y="2880360"/>
            <a:ext cx="6949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EF4E7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Ten pairs. Ten herbs. A few weeks of growing and caring</a:t>
            </a:r>
            <a:r>
              <a:rPr lang="en-US" sz="1600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,</a:t>
            </a:r>
            <a:r>
              <a:rPr b="0" i="0" lang="en-US" sz="1600" u="none" cap="none" strike="noStrike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 then a meal </a:t>
            </a:r>
            <a:r>
              <a:rPr lang="en-US" sz="1600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you cook for your </a:t>
            </a:r>
            <a:r>
              <a:rPr lang="en-US" sz="1600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families.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A FORM ROOM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24" name="Picture 23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0268" y="320040"/>
            <a:ext cx="1003465" cy="1158270"/>
          </a:xfrm>
          <a:prstGeom prst="rect">
            <a:avLst/>
          </a:prstGeom>
        </p:spPr>
      </p:pic>
      <p:pic>
        <p:nvPicPr>
          <p:cNvPr id="25" name="Picture 24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 descr="page_text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7" name="Google Shape;27;p2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GETTING STARTED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What is the project?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Each pair will follow the same journey with their own herb: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02920" y="1600200"/>
            <a:ext cx="8138160" cy="365760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12648" y="16002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sers_forest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" y="16596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1124712" y="1600200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Work in pairs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2648" y="20208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earch_forest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" y="20802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124712" y="2020824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Research your assigned herb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2441448"/>
            <a:ext cx="8138160" cy="365760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612648" y="244144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eedling_forest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" y="250088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124712" y="2441448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Plant your seeds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12648" y="286207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tint_forest.png" id="42" name="Google Shape;4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" y="292150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1124712" y="2862072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Care for your plant over the coming weeks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02920" y="3282696"/>
            <a:ext cx="8138160" cy="365760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12648" y="328269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hart_forest.png" id="46" name="Google Shape;4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" y="334213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124712" y="3282696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Monitor its progress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12648" y="37033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ut_forest.png" id="49" name="Google Shape;4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084" y="3762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124712" y="3703320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Harvest some leaves when it is ready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02920" y="4123944"/>
            <a:ext cx="8138160" cy="365760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612648" y="412394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tensils_forest.png" id="53" name="Google Shape;53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084" y="418338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1124712" y="4123944"/>
            <a:ext cx="7360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Use your herb to cook something for your family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58" name="Picture 57" descr="logo-m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93" descr="page_tex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1" name="Google Shape;61;p3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THE BIGGER PICTURE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Why are we doing this?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2920" y="12344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704088" y="143560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eart_forest.png"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68" y="15041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/>
          <p:nvPr/>
        </p:nvSpPr>
        <p:spPr>
          <a:xfrm>
            <a:off x="704088" y="202082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Responsibility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04088" y="231343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Look after something that depends on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91840" y="12344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493008" y="143560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ands_forest.png" id="70" name="Google Shape;7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1588" y="15041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3493008" y="202082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Teamwork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493008" y="231343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Work well with your partner, every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6080760" y="123444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281928" y="143560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prout_forest.png" id="75" name="Google Shape;7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0508" y="150418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3"/>
          <p:cNvSpPr/>
          <p:nvPr/>
        </p:nvSpPr>
        <p:spPr>
          <a:xfrm>
            <a:off x="6281928" y="202082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Patience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281928" y="231343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Learn to care for something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502920" y="310896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704088" y="33101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erbs_forest.png" id="80" name="Google Shape;80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2668" y="33787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704088" y="389534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Where food comes from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04088" y="418795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See how ingredients actually grow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291840" y="310896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493008" y="33101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tensils_forest.png" id="85" name="Google Shape;8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561588" y="33787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3493008" y="389534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Life 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493008" y="418795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Practise useful cooking skills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080760" y="3108960"/>
            <a:ext cx="2560320" cy="1645920"/>
          </a:xfrm>
          <a:prstGeom prst="roundRect">
            <a:avLst>
              <a:gd fmla="val 4444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6281928" y="331012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ome_forest.png" id="90" name="Google Shape;90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0508" y="337870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"/>
          <p:cNvSpPr/>
          <p:nvPr/>
        </p:nvSpPr>
        <p:spPr>
          <a:xfrm>
            <a:off x="6281928" y="3895344"/>
            <a:ext cx="215798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For our families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281928" y="4187952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Do something thoughtful for the people at home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3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96" name="Picture 95" descr="logo-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1" descr="page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9" name="Google Shape;99;p4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TEN HERBS, TEN PAIRS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Meet the herbs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1143000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994867" y="1289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03" name="Google Shape;10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75" y="13533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4"/>
          <p:cNvSpPr/>
          <p:nvPr/>
        </p:nvSpPr>
        <p:spPr>
          <a:xfrm>
            <a:off x="530352" y="1764792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Italian basil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0352" y="2318004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Pesto &amp; pasta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136038" y="1143000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2673706" y="1289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714" y="13533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2209190" y="1764792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Thai basil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2209190" y="2318004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Stir-fries &amp; noodles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814877" y="1143000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352544" y="1289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13" name="Google Shape;11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552" y="13533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3888029" y="1764792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Rosemary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888029" y="2318004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Roast potatoes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493715" y="1143000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031382" y="1289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390" y="13533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5566867" y="1764792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Peppermint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566867" y="2318004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Tea &amp; fresh salads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7172554" y="1143000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7710221" y="1289304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23" name="Google Shape;12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229" y="13533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/>
          <p:nvPr/>
        </p:nvSpPr>
        <p:spPr>
          <a:xfrm>
            <a:off x="7245706" y="1764792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Coriander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245706" y="2318004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Salsas &amp; curries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2985516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994867" y="313182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28" name="Google Shape;1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75" y="31958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530352" y="3607308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Flat-leaf parsley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30352" y="4160520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Garnish &amp; tabbouleh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2136038" y="2985516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2673706" y="313182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7714" y="31958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2209190" y="3607308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Thyme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2209190" y="4160520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Roast chicken &amp; soup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814877" y="2985516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352544" y="313182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6552" y="31958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/>
          <p:nvPr/>
        </p:nvSpPr>
        <p:spPr>
          <a:xfrm>
            <a:off x="3888029" y="3607308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Common chives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888029" y="4160520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Scrambled eggs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493715" y="2985516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031382" y="313182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43" name="Google Shape;1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390" y="31958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4"/>
          <p:cNvSpPr/>
          <p:nvPr/>
        </p:nvSpPr>
        <p:spPr>
          <a:xfrm>
            <a:off x="5566867" y="3607308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Oregano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566867" y="4160520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Pizza &amp; tomato sauce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7172554" y="2985516"/>
            <a:ext cx="1514246" cy="1677924"/>
          </a:xfrm>
          <a:prstGeom prst="roundRect">
            <a:avLst>
              <a:gd fmla="val 4227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7710221" y="3131820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148" name="Google Shape;1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4229" y="31958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7245706" y="3607308"/>
            <a:ext cx="136794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00"/>
              <a:buFont typeface="Cambria"/>
              <a:buNone/>
            </a:pPr>
            <a:r>
              <a:rPr b="1" i="0" lang="en-US" sz="12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Dill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245706" y="4160520"/>
            <a:ext cx="136794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Dill potatoes &amp; fish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4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154" name="Picture 153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164" descr="page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7" name="Google Shape;157;p5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GETTING ORGANISED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Your team and your herb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548640" y="1417320"/>
            <a:ext cx="914400" cy="914400"/>
          </a:xfrm>
          <a:prstGeom prst="ellipse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sers_forest.png" id="160" name="Google Shape;16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55448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5"/>
          <p:cNvSpPr/>
          <p:nvPr/>
        </p:nvSpPr>
        <p:spPr>
          <a:xfrm>
            <a:off x="502920" y="251460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Each pair is allocated one herb to look after for the whole project. You and your partner are responsible for it from seed to harvest.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02920" y="397764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You can even give your plant a name, if you like!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5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3474" y="1227014"/>
            <a:ext cx="4187650" cy="35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TextBox 165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167" name="Picture 166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AF8F3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247" descr="page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70" name="Google Shape;170;p6"/>
          <p:cNvGrpSpPr/>
          <p:nvPr/>
        </p:nvGrpSpPr>
        <p:grpSpPr>
          <a:xfrm>
            <a:off x="281450" y="195250"/>
            <a:ext cx="2590800" cy="2234100"/>
            <a:chOff x="281450" y="195250"/>
            <a:chExt cx="2590800" cy="2234100"/>
          </a:xfrm>
        </p:grpSpPr>
        <p:sp>
          <p:nvSpPr>
            <p:cNvPr id="171" name="Google Shape;171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172" name="Google Shape;172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173" name="Google Shape;173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" name="Google Shape;174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" name="Google Shape;176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" name="Google Shape;177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8" name="Google Shape;178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9" name="Google Shape;179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0" name="Google Shape;180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1" name="Google Shape;181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2" name="Google Shape;182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83" name="Google Shape;183;p6"/>
          <p:cNvGrpSpPr/>
          <p:nvPr/>
        </p:nvGrpSpPr>
        <p:grpSpPr>
          <a:xfrm>
            <a:off x="3276600" y="195250"/>
            <a:ext cx="2590800" cy="2234100"/>
            <a:chOff x="281450" y="195250"/>
            <a:chExt cx="2590800" cy="2234100"/>
          </a:xfrm>
        </p:grpSpPr>
        <p:sp>
          <p:nvSpPr>
            <p:cNvPr id="184" name="Google Shape;184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186" name="Google Shape;186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9" name="Google Shape;189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" name="Google Shape;190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1" name="Google Shape;191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" name="Google Shape;192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3" name="Google Shape;193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4" name="Google Shape;194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6" name="Google Shape;196;p6"/>
          <p:cNvGrpSpPr/>
          <p:nvPr/>
        </p:nvGrpSpPr>
        <p:grpSpPr>
          <a:xfrm>
            <a:off x="6271750" y="195250"/>
            <a:ext cx="2590800" cy="2234100"/>
            <a:chOff x="281450" y="195250"/>
            <a:chExt cx="2590800" cy="2234100"/>
          </a:xfrm>
        </p:grpSpPr>
        <p:sp>
          <p:nvSpPr>
            <p:cNvPr id="197" name="Google Shape;197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198" name="Google Shape;198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199" name="Google Shape;19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2" name="Google Shape;202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4" name="Google Shape;204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5" name="Google Shape;205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7" name="Google Shape;207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" name="Google Shape;208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09" name="Google Shape;209;p6"/>
          <p:cNvGrpSpPr/>
          <p:nvPr/>
        </p:nvGrpSpPr>
        <p:grpSpPr>
          <a:xfrm>
            <a:off x="6271750" y="2560320"/>
            <a:ext cx="2590800" cy="2234100"/>
            <a:chOff x="281450" y="195250"/>
            <a:chExt cx="2590800" cy="2234100"/>
          </a:xfrm>
        </p:grpSpPr>
        <p:sp>
          <p:nvSpPr>
            <p:cNvPr id="210" name="Google Shape;210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11" name="Google Shape;211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212" name="Google Shape;212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5" name="Google Shape;215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7" name="Google Shape;217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8" name="Google Shape;218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19" name="Google Shape;219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0" name="Google Shape;220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1" name="Google Shape;221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2" name="Google Shape;222;p6"/>
          <p:cNvGrpSpPr/>
          <p:nvPr/>
        </p:nvGrpSpPr>
        <p:grpSpPr>
          <a:xfrm>
            <a:off x="3276600" y="2560320"/>
            <a:ext cx="2590800" cy="2234100"/>
            <a:chOff x="281450" y="195250"/>
            <a:chExt cx="2590800" cy="2234100"/>
          </a:xfrm>
        </p:grpSpPr>
        <p:sp>
          <p:nvSpPr>
            <p:cNvPr id="223" name="Google Shape;223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24" name="Google Shape;224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225" name="Google Shape;22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28" name="Google Shape;228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9" name="Google Shape;229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0" name="Google Shape;230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1" name="Google Shape;231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2" name="Google Shape;232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3" name="Google Shape;233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4" name="Google Shape;234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5" name="Google Shape;235;p6"/>
          <p:cNvGrpSpPr/>
          <p:nvPr/>
        </p:nvGrpSpPr>
        <p:grpSpPr>
          <a:xfrm>
            <a:off x="281450" y="2560320"/>
            <a:ext cx="2590800" cy="2234100"/>
            <a:chOff x="281450" y="195250"/>
            <a:chExt cx="2590800" cy="2234100"/>
          </a:xfrm>
        </p:grpSpPr>
        <p:sp>
          <p:nvSpPr>
            <p:cNvPr id="236" name="Google Shape;236;p6"/>
            <p:cNvSpPr/>
            <p:nvPr/>
          </p:nvSpPr>
          <p:spPr>
            <a:xfrm>
              <a:off x="281450" y="195250"/>
              <a:ext cx="2590800" cy="2234100"/>
            </a:xfrm>
            <a:prstGeom prst="roundRect">
              <a:avLst>
                <a:gd fmla="val 3077" name="adj"/>
              </a:avLst>
            </a:prstGeom>
            <a:solidFill>
              <a:srgbClr val="FFFFFF"/>
            </a:solidFill>
            <a:ln cap="flat" cmpd="sng" w="15875">
              <a:solidFill>
                <a:srgbClr val="B1C69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sp>
          <p:nvSpPr>
            <p:cNvPr id="237" name="Google Shape;237;p6"/>
            <p:cNvSpPr/>
            <p:nvPr/>
          </p:nvSpPr>
          <p:spPr>
            <a:xfrm>
              <a:off x="382029" y="274857"/>
              <a:ext cx="310800" cy="310800"/>
            </a:xfrm>
            <a:prstGeom prst="ellipse">
              <a:avLst/>
            </a:prstGeom>
            <a:solidFill>
              <a:srgbClr val="F3F7E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/>
                <a:t/>
              </a:r>
              <a:endParaRPr/>
            </a:p>
          </p:txBody>
        </p:sp>
        <p:pic>
          <p:nvPicPr>
            <p:cNvPr descr="/home/claude/planting-project/icons/leaf_forest.png" id="238" name="Google Shape;238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7749" y="311427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6"/>
            <p:cNvSpPr/>
            <p:nvPr/>
          </p:nvSpPr>
          <p:spPr>
            <a:xfrm>
              <a:off x="1559225" y="293158"/>
              <a:ext cx="1206900" cy="23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Clr>
                  <a:srgbClr val="C9723F"/>
                </a:buClr>
                <a:buSzPts val="850"/>
                <a:buFont typeface="Calibri"/>
                <a:buNone/>
              </a:pPr>
              <a:r>
                <a:rPr b="1" i="0" lang="en-US" sz="850" u="none" cap="none" strike="noStrike">
                  <a:solidFill>
                    <a:srgbClr val="C9723F"/>
                  </a:solidFill>
                  <a:latin typeface="Karla"/>
                  <a:ea typeface="Calibri"/>
                  <a:cs typeface="Calibri"/>
                  <a:sym typeface="Calibri"/>
                </a:rPr>
                <a:t>MY POT</a:t>
              </a:r>
              <a:endParaRPr b="0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>
              <a:off x="446017" y="1091133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Herb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1" name="Google Shape;241;p6"/>
            <p:cNvCxnSpPr/>
            <p:nvPr/>
          </p:nvCxnSpPr>
          <p:spPr>
            <a:xfrm>
              <a:off x="446017" y="140699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2" name="Google Shape;242;p6"/>
            <p:cNvSpPr/>
            <p:nvPr/>
          </p:nvSpPr>
          <p:spPr>
            <a:xfrm>
              <a:off x="445967" y="1508919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i="0" lang="en-US" sz="950" u="none" cap="none" strike="noStrike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Grown by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3" name="Google Shape;243;p6"/>
            <p:cNvCxnSpPr/>
            <p:nvPr/>
          </p:nvCxnSpPr>
          <p:spPr>
            <a:xfrm>
              <a:off x="445967" y="1839552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4" name="Google Shape;244;p6"/>
            <p:cNvSpPr/>
            <p:nvPr/>
          </p:nvSpPr>
          <p:spPr>
            <a:xfrm>
              <a:off x="446017" y="1930705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Date planted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5" name="Google Shape;245;p6"/>
            <p:cNvCxnSpPr/>
            <p:nvPr/>
          </p:nvCxnSpPr>
          <p:spPr>
            <a:xfrm>
              <a:off x="445967" y="2247013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46" name="Google Shape;246;p6"/>
            <p:cNvSpPr/>
            <p:nvPr/>
          </p:nvSpPr>
          <p:spPr>
            <a:xfrm>
              <a:off x="446017" y="686470"/>
              <a:ext cx="2261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41A45D"/>
                </a:buClr>
                <a:buSzPts val="950"/>
                <a:buFont typeface="Calibri"/>
                <a:buNone/>
              </a:pPr>
              <a:r>
                <a:rPr b="1" lang="en-US" sz="950">
                  <a:solidFill>
                    <a:srgbClr val="41A45D"/>
                  </a:solidFill>
                  <a:latin typeface="Karla"/>
                  <a:ea typeface="Calibri"/>
                  <a:cs typeface="Calibri"/>
                  <a:sym typeface="Calibri"/>
                </a:rPr>
                <a:t>Plant name</a:t>
              </a:r>
              <a:endParaRPr b="0" i="0" sz="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" name="Google Shape;247;p6"/>
            <p:cNvCxnSpPr/>
            <p:nvPr/>
          </p:nvCxnSpPr>
          <p:spPr>
            <a:xfrm>
              <a:off x="446017" y="1002041"/>
              <a:ext cx="2261700" cy="0"/>
            </a:xfrm>
            <a:prstGeom prst="straightConnector1">
              <a:avLst/>
            </a:prstGeom>
            <a:noFill/>
            <a:ln cap="flat" cmpd="sng" w="12700">
              <a:solidFill>
                <a:srgbClr val="E4EED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9" name="TextBox 248"/>
          <p:cNvSpPr txBox="1"/>
          <p:nvPr/>
        </p:nvSpPr>
        <p:spPr>
          <a:xfrm>
            <a:off x="420624" y="4841748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250" name="Picture 249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5" y="4850892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Picture 278" descr="page_tex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53" name="Google Shape;253;p7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BEFORE YOU PLANT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Research your herb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02920" y="1170432"/>
            <a:ext cx="8138160" cy="402336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612648" y="11887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ruler_forest.png" id="257" name="Google Shape;2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" y="12481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7"/>
          <p:cNvSpPr/>
          <p:nvPr/>
        </p:nvSpPr>
        <p:spPr>
          <a:xfrm>
            <a:off x="1124712" y="11704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deep should the seeds be planted?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12648" y="1645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un_forest.png" id="260" name="Google Shape;26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" y="17053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1124712" y="16276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much light does the plant need?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02920" y="2084832"/>
            <a:ext cx="8138160" cy="402336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12648" y="21031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tint_forest.png" id="264" name="Google Shape;2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" y="21625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/>
          <p:nvPr/>
        </p:nvSpPr>
        <p:spPr>
          <a:xfrm>
            <a:off x="1124712" y="20848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often should it be watered?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612648" y="25603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alendar_forest.png" id="267" name="Google Shape;26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" y="26197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7"/>
          <p:cNvSpPr/>
          <p:nvPr/>
        </p:nvSpPr>
        <p:spPr>
          <a:xfrm>
            <a:off x="1124712" y="25420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About how long will the seeds take to germinate?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02920" y="2999232"/>
            <a:ext cx="8138160" cy="402336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612648" y="30175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271" name="Google Shape;27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" y="30769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7"/>
          <p:cNvSpPr/>
          <p:nvPr/>
        </p:nvSpPr>
        <p:spPr>
          <a:xfrm>
            <a:off x="1124712" y="29992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Are there any special care requirements?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12648" y="34747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tensils_forest.png" id="274" name="Google Shape;274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084" y="353415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7"/>
          <p:cNvSpPr/>
          <p:nvPr/>
        </p:nvSpPr>
        <p:spPr>
          <a:xfrm>
            <a:off x="1124712" y="3456432"/>
            <a:ext cx="73609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What kinds of meals is this herb commonly used in?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02920" y="4023360"/>
            <a:ext cx="8138160" cy="566928"/>
          </a:xfrm>
          <a:prstGeom prst="roundRect">
            <a:avLst>
              <a:gd fmla="val 12903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777240" y="4023360"/>
            <a:ext cx="7589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200"/>
              <a:buFont typeface="Calibri"/>
              <a:buNone/>
            </a:pPr>
            <a:r>
              <a:rPr b="1" i="1" lang="en-US" sz="12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Different herbs have different needs, so research your own plant. Don’t assume they all grow the same way!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6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TextBox 279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281" name="Picture 280" descr="logo-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305" descr="page_textur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84" name="Google Shape;284;p8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PLAN BEFORE YOU PLANT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Make your planting plan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With your partner, agree on: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02920" y="1673352"/>
            <a:ext cx="8138160" cy="512064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612648" y="174650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lipboard_forest.png" id="289" name="Google Shape;28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" y="180594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8"/>
          <p:cNvSpPr/>
          <p:nvPr/>
        </p:nvSpPr>
        <p:spPr>
          <a:xfrm>
            <a:off x="1124712" y="1673352"/>
            <a:ext cx="7360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What you need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612648" y="231343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eedling_forest.png" id="292" name="Google Shape;29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" y="237286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8"/>
          <p:cNvSpPr/>
          <p:nvPr/>
        </p:nvSpPr>
        <p:spPr>
          <a:xfrm>
            <a:off x="1124712" y="2240280"/>
            <a:ext cx="7360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you will plant the seeds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02920" y="2807208"/>
            <a:ext cx="8138160" cy="512064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612648" y="28803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un_forest.png" id="296" name="Google Shape;29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" y="293979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8"/>
          <p:cNvSpPr/>
          <p:nvPr/>
        </p:nvSpPr>
        <p:spPr>
          <a:xfrm>
            <a:off x="1124712" y="2807208"/>
            <a:ext cx="7360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Where your pot should be kept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12648" y="34472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ands_forest.png" id="299" name="Google Shape;29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" y="350672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8"/>
          <p:cNvSpPr/>
          <p:nvPr/>
        </p:nvSpPr>
        <p:spPr>
          <a:xfrm>
            <a:off x="1124712" y="3374136"/>
            <a:ext cx="7360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you will share responsibility for watering and checking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02920" y="3941064"/>
            <a:ext cx="8138160" cy="512064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12648" y="401421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heck_forest.png" id="303" name="Google Shape;303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" y="407365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8"/>
          <p:cNvSpPr/>
          <p:nvPr/>
        </p:nvSpPr>
        <p:spPr>
          <a:xfrm>
            <a:off x="1124712" y="3941064"/>
            <a:ext cx="7360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you will know whether your plant is healthy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7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TextBox 306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308" name="Picture 307" descr="logo-mar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Picture 342" descr="page_tex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11" name="Google Shape;311;p9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STEP BY STEP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Planting instructions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457200" y="1078992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1191006" y="1225296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191006" y="1225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566928" y="1737360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Fill a labelled pot with compost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2564892" y="1078992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3298698" y="1225296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3298698" y="1225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674620" y="1737360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Moisten the compost lightly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672584" y="1078992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406390" y="1225296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5406390" y="1225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782312" y="1737360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Plant several seeds at the right depth for your herb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6780276" y="1078992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7514082" y="1225296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7514082" y="1225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890004" y="1737360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Cover the seeds, if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57200" y="2711196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1191006" y="2857500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1191006" y="28575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66928" y="3369564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Place the pot in a suitable location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2564892" y="2711196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3298698" y="2857500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3298698" y="28575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2674620" y="3369564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Keep the compost gently moist, and don’t overwater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672584" y="2711196"/>
            <a:ext cx="1906524" cy="1431036"/>
          </a:xfrm>
          <a:prstGeom prst="roundRect">
            <a:avLst>
              <a:gd fmla="val 5112" name="adj"/>
            </a:avLst>
          </a:prstGeom>
          <a:solidFill>
            <a:srgbClr val="E4EE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5406390" y="2857500"/>
            <a:ext cx="438912" cy="438912"/>
          </a:xfrm>
          <a:prstGeom prst="ellipse">
            <a:avLst/>
          </a:prstGeom>
          <a:solidFill>
            <a:srgbClr val="C972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5406390" y="285750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Libre Caslon Display"/>
                <a:ea typeface="Cambria"/>
                <a:cs typeface="Cambria"/>
                <a:sym typeface="Cambria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4782312" y="3369564"/>
            <a:ext cx="1687068" cy="681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Record the planting 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502920" y="425196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Tiny seeds? Sow them on or close to the surface, not buried deep.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8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TextBox 343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345" name="Picture 344" descr="logo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Picture 375" descr="page_textu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48" name="Google Shape;348;p10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EVERY WEEK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Caring for your herb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02920" y="1170432"/>
            <a:ext cx="8138160" cy="384048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612648" y="117957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earch_forest.png" id="352" name="Google Shape;3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" y="123901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10"/>
          <p:cNvSpPr/>
          <p:nvPr/>
        </p:nvSpPr>
        <p:spPr>
          <a:xfrm>
            <a:off x="1124712" y="1170432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Check whether the compost feels dry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612648" y="161848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tint_forest.png" id="355" name="Google Shape;3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084" y="167792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1124712" y="1609344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Water carefully when needed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02920" y="2048256"/>
            <a:ext cx="8138160" cy="384048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612648" y="20574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un_forest.png" id="359" name="Google Shape;3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2084" y="2116836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/>
          <p:nvPr/>
        </p:nvSpPr>
        <p:spPr>
          <a:xfrm>
            <a:off x="1124712" y="2048256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Make sure the plant gets suitable light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612648" y="2496312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sprout_forest.png" id="362" name="Google Shape;36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084" y="2555748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0"/>
          <p:cNvSpPr/>
          <p:nvPr/>
        </p:nvSpPr>
        <p:spPr>
          <a:xfrm>
            <a:off x="1124712" y="2487168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Look out for new shoots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02920" y="2926080"/>
            <a:ext cx="8138160" cy="384048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612648" y="29352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ut_forest.png" id="366" name="Google Shape;36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084" y="2994660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0"/>
          <p:cNvSpPr/>
          <p:nvPr/>
        </p:nvSpPr>
        <p:spPr>
          <a:xfrm>
            <a:off x="1124712" y="2926080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Remove weaker seedlings if the pot gets overcrowded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612648" y="3374136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ands_forest.png" id="369" name="Google Shape;369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084" y="3433572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0"/>
          <p:cNvSpPr/>
          <p:nvPr/>
        </p:nvSpPr>
        <p:spPr>
          <a:xfrm>
            <a:off x="1124712" y="3364992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Share responsibilities fairly with your partner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02920" y="3803904"/>
            <a:ext cx="8138160" cy="384048"/>
          </a:xfrm>
          <a:prstGeom prst="rect">
            <a:avLst/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612648" y="3813048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hart_forest.png" id="373" name="Google Shape;373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2084" y="3872484"/>
            <a:ext cx="246888" cy="246888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0"/>
          <p:cNvSpPr/>
          <p:nvPr/>
        </p:nvSpPr>
        <p:spPr>
          <a:xfrm>
            <a:off x="1124712" y="3803904"/>
            <a:ext cx="7360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Remember, some herbs grow much faster than others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9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TextBox 376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378" name="Picture 377" descr="logo-m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Picture 418" descr="page_te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81" name="Google Shape;381;p11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KEEP A RECORD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Track its progress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502920" y="1234440"/>
            <a:ext cx="8138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Each week, log: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502920" y="1600200"/>
            <a:ext cx="91440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502920" y="16002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1417320" y="1600200"/>
            <a:ext cx="123444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1417320" y="1600200"/>
            <a:ext cx="1234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Germinated?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2651760" y="1600200"/>
            <a:ext cx="91440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2651760" y="160020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Height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566160" y="1600200"/>
            <a:ext cx="105156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3566160" y="1600200"/>
            <a:ext cx="1051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Leaves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617720" y="1600200"/>
            <a:ext cx="192024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4617720" y="1600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Problems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6537960" y="1600200"/>
            <a:ext cx="2194560" cy="502920"/>
          </a:xfrm>
          <a:prstGeom prst="rect">
            <a:avLst/>
          </a:prstGeom>
          <a:solidFill>
            <a:srgbClr val="41A45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6537960" y="160020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Karla"/>
                <a:ea typeface="Calibri"/>
                <a:cs typeface="Calibri"/>
                <a:sym typeface="Calibri"/>
              </a:rPr>
              <a:t>What we did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502920" y="2103120"/>
            <a:ext cx="914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1417320" y="2103120"/>
            <a:ext cx="12344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2651760" y="2103120"/>
            <a:ext cx="914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3566160" y="2103120"/>
            <a:ext cx="10515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4617720" y="2103120"/>
            <a:ext cx="19202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6537960" y="2103120"/>
            <a:ext cx="21945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2" name="Google Shape;402;p11"/>
          <p:cNvSpPr/>
          <p:nvPr/>
        </p:nvSpPr>
        <p:spPr>
          <a:xfrm>
            <a:off x="502920" y="2606040"/>
            <a:ext cx="91440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1417320" y="2606040"/>
            <a:ext cx="123444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2651760" y="2606040"/>
            <a:ext cx="91440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3566160" y="2606040"/>
            <a:ext cx="105156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4617720" y="2606040"/>
            <a:ext cx="192024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6537960" y="2606040"/>
            <a:ext cx="2194560" cy="502920"/>
          </a:xfrm>
          <a:prstGeom prst="rect">
            <a:avLst/>
          </a:prstGeom>
          <a:solidFill>
            <a:srgbClr val="F3F7EE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502920" y="3108960"/>
            <a:ext cx="914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1417320" y="3108960"/>
            <a:ext cx="12344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0" name="Google Shape;410;p11"/>
          <p:cNvSpPr/>
          <p:nvPr/>
        </p:nvSpPr>
        <p:spPr>
          <a:xfrm>
            <a:off x="2651760" y="3108960"/>
            <a:ext cx="91440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3566160" y="3108960"/>
            <a:ext cx="10515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4617720" y="3108960"/>
            <a:ext cx="192024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3" name="Google Shape;413;p11"/>
          <p:cNvSpPr/>
          <p:nvPr/>
        </p:nvSpPr>
        <p:spPr>
          <a:xfrm>
            <a:off x="6537960" y="3108960"/>
            <a:ext cx="2194560" cy="502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4EE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4" name="Google Shape;414;p11"/>
          <p:cNvSpPr/>
          <p:nvPr/>
        </p:nvSpPr>
        <p:spPr>
          <a:xfrm>
            <a:off x="502920" y="3886200"/>
            <a:ext cx="8138160" cy="777240"/>
          </a:xfrm>
          <a:prstGeom prst="roundRect">
            <a:avLst>
              <a:gd fmla="val 9412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685800" y="4032504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amera_forest.png" id="416" name="Google Shape;4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" y="4105656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11"/>
          <p:cNvSpPr/>
          <p:nvPr/>
        </p:nvSpPr>
        <p:spPr>
          <a:xfrm>
            <a:off x="1417320" y="3886200"/>
            <a:ext cx="70408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Take a photo each week and build a gallery of your herb’s journey from seed to harvest!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10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421" name="Picture 420" descr="logo-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Picture 469" descr="page_tex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24" name="Google Shape;424;p12"/>
          <p:cNvSpPr/>
          <p:nvPr/>
        </p:nvSpPr>
        <p:spPr>
          <a:xfrm>
            <a:off x="502920" y="29260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THE BEST PART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2"/>
          <p:cNvSpPr/>
          <p:nvPr/>
        </p:nvSpPr>
        <p:spPr>
          <a:xfrm>
            <a:off x="457200" y="53035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The family cooking challenge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457200" y="1188735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27" name="Google Shape;427;p12"/>
          <p:cNvSpPr/>
          <p:nvPr/>
        </p:nvSpPr>
        <p:spPr>
          <a:xfrm>
            <a:off x="621792" y="1353327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utensils_forest.png" id="428" name="Google Shape;4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28" y="1412763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12"/>
          <p:cNvSpPr/>
          <p:nvPr/>
        </p:nvSpPr>
        <p:spPr>
          <a:xfrm>
            <a:off x="1097280" y="1335039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Cook for your family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621792" y="1755663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Use your herb in a meal you prepare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3267456" y="1188735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3432048" y="1353327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forest.png" id="433" name="Google Shape;43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91484" y="1412763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12"/>
          <p:cNvSpPr/>
          <p:nvPr/>
        </p:nvSpPr>
        <p:spPr>
          <a:xfrm>
            <a:off x="3907536" y="1335039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Choose wisely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3432048" y="1755663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Pick a dish that suits your herb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6077712" y="1188735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37" name="Google Shape;437;p12"/>
          <p:cNvSpPr/>
          <p:nvPr/>
        </p:nvSpPr>
        <p:spPr>
          <a:xfrm>
            <a:off x="6242304" y="1353327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tint_forest.png" id="438" name="Google Shape;43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1740" y="1412763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2"/>
          <p:cNvSpPr/>
          <p:nvPr/>
        </p:nvSpPr>
        <p:spPr>
          <a:xfrm>
            <a:off x="6717792" y="1335039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Wash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6242304" y="1755663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Rinse the herb before using 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457200" y="2455179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621792" y="2619771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ut_forest.png" id="443" name="Google Shape;44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" y="267920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2"/>
          <p:cNvSpPr/>
          <p:nvPr/>
        </p:nvSpPr>
        <p:spPr>
          <a:xfrm>
            <a:off x="1097280" y="2601483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Harvest sensibly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621792" y="3022107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Take only enough so the plant keeps growing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267456" y="2455179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47" name="Google Shape;447;p12"/>
          <p:cNvSpPr/>
          <p:nvPr/>
        </p:nvSpPr>
        <p:spPr>
          <a:xfrm>
            <a:off x="3432048" y="2619771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hands_forest.png" id="448" name="Google Shape;448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91484" y="267920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12"/>
          <p:cNvSpPr/>
          <p:nvPr/>
        </p:nvSpPr>
        <p:spPr>
          <a:xfrm>
            <a:off x="3907536" y="2601483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Get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3432048" y="3022107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Ask an adult to help or supervise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6077712" y="2455179"/>
            <a:ext cx="2609100" cy="1065300"/>
          </a:xfrm>
          <a:prstGeom prst="roundRect">
            <a:avLst>
              <a:gd fmla="val 6867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52" name="Google Shape;452;p12"/>
          <p:cNvSpPr/>
          <p:nvPr/>
        </p:nvSpPr>
        <p:spPr>
          <a:xfrm>
            <a:off x="6242304" y="2619771"/>
            <a:ext cx="384000" cy="38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camera_forest.png" id="453" name="Google Shape;453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1740" y="2679207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12"/>
          <p:cNvSpPr/>
          <p:nvPr/>
        </p:nvSpPr>
        <p:spPr>
          <a:xfrm>
            <a:off x="6717792" y="2601483"/>
            <a:ext cx="180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1A45D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Capture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6242304" y="3022107"/>
            <a:ext cx="2280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F7B4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Photograph the finished dish as your evidence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02920" y="3584448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1C69A"/>
                </a:solidFill>
                <a:latin typeface="Karla"/>
                <a:ea typeface="Calibri"/>
                <a:cs typeface="Calibri"/>
                <a:sym typeface="Calibri"/>
              </a:rPr>
              <a:t>A FEW IDEAS TO GET YOU STARTED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02920" y="3877056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502920" y="3877056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Basil pasta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3261360" y="3877056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3261360" y="3877056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Dill potatoes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6019800" y="3877056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62" name="Google Shape;462;p12"/>
          <p:cNvSpPr/>
          <p:nvPr/>
        </p:nvSpPr>
        <p:spPr>
          <a:xfrm>
            <a:off x="6019800" y="3877056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Coriander noodles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02920" y="4370832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502920" y="4370832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Rosemary roast potatoes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3261360" y="4370832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3261360" y="4370832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Chive scrambled eggs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6019800" y="4370832"/>
            <a:ext cx="2621280" cy="384048"/>
          </a:xfrm>
          <a:prstGeom prst="roundRect">
            <a:avLst>
              <a:gd fmla="val 50000" name="adj"/>
            </a:avLst>
          </a:prstGeom>
          <a:solidFill>
            <a:srgbClr val="F0DC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6019800" y="4370832"/>
            <a:ext cx="262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353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3532A"/>
                </a:solidFill>
                <a:latin typeface="Karla"/>
                <a:ea typeface="Calibri"/>
                <a:cs typeface="Calibri"/>
                <a:sym typeface="Calibri"/>
              </a:rPr>
              <a:t>Thai basil stir-fry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11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TextBox 470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472" name="Picture 471" descr="logo-m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3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Picture 496" descr="page_tex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75" name="Google Shape;475;p13"/>
          <p:cNvSpPr/>
          <p:nvPr/>
        </p:nvSpPr>
        <p:spPr>
          <a:xfrm>
            <a:off x="457200" y="365760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5E8B6E"/>
                </a:solidFill>
                <a:latin typeface="Libre Caslon Display"/>
                <a:ea typeface="Cambria"/>
                <a:cs typeface="Cambria"/>
                <a:sym typeface="Cambria"/>
              </a:rPr>
              <a:t>Share &amp; reflect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502920" y="960120"/>
            <a:ext cx="8138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4E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552"/>
                </a:solidFill>
                <a:latin typeface="Karla"/>
                <a:ea typeface="Calibri"/>
                <a:cs typeface="Calibri"/>
                <a:sym typeface="Calibri"/>
              </a:rPr>
              <a:t>When you’ve cooked your dish, share your photo and tell us: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502920" y="1435608"/>
            <a:ext cx="292608" cy="292608"/>
          </a:xfrm>
          <a:prstGeom prst="ellipse">
            <a:avLst/>
          </a:prstGeom>
          <a:solidFill>
            <a:srgbClr val="3998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white.png" id="480" name="Google Shape;48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4813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3"/>
          <p:cNvSpPr/>
          <p:nvPr/>
        </p:nvSpPr>
        <p:spPr>
          <a:xfrm>
            <a:off x="960120" y="141732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What dish did you make?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502920" y="1892808"/>
            <a:ext cx="292608" cy="292608"/>
          </a:xfrm>
          <a:prstGeom prst="ellipse">
            <a:avLst/>
          </a:prstGeom>
          <a:solidFill>
            <a:srgbClr val="3998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white.png" id="483" name="Google Shape;4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19385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13"/>
          <p:cNvSpPr/>
          <p:nvPr/>
        </p:nvSpPr>
        <p:spPr>
          <a:xfrm>
            <a:off x="960120" y="187452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How did you use your herb?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502920" y="2350008"/>
            <a:ext cx="292608" cy="292608"/>
          </a:xfrm>
          <a:prstGeom prst="ellipse">
            <a:avLst/>
          </a:prstGeom>
          <a:solidFill>
            <a:srgbClr val="3998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white.png" id="486" name="Google Shape;4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3957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13"/>
          <p:cNvSpPr/>
          <p:nvPr/>
        </p:nvSpPr>
        <p:spPr>
          <a:xfrm>
            <a:off x="960120" y="233172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Who did you cook for?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502920" y="2807208"/>
            <a:ext cx="292608" cy="292608"/>
          </a:xfrm>
          <a:prstGeom prst="ellipse">
            <a:avLst/>
          </a:prstGeom>
          <a:solidFill>
            <a:srgbClr val="3998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white.png" id="489" name="Google Shape;4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28529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3"/>
          <p:cNvSpPr/>
          <p:nvPr/>
        </p:nvSpPr>
        <p:spPr>
          <a:xfrm>
            <a:off x="960120" y="278892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What went well?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02920" y="3264408"/>
            <a:ext cx="292608" cy="292608"/>
          </a:xfrm>
          <a:prstGeom prst="ellipse">
            <a:avLst/>
          </a:prstGeom>
          <a:solidFill>
            <a:srgbClr val="3998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pic>
        <p:nvPicPr>
          <p:cNvPr descr="/home/claude/planting-project/icons/leaf_white.png" id="492" name="Google Shape;4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" y="3310128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3"/>
          <p:cNvSpPr/>
          <p:nvPr/>
        </p:nvSpPr>
        <p:spPr>
          <a:xfrm>
            <a:off x="960120" y="3246120"/>
            <a:ext cx="7589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F7B4F"/>
                </a:solidFill>
                <a:latin typeface="Karla"/>
                <a:ea typeface="Calibri"/>
                <a:cs typeface="Calibri"/>
                <a:sym typeface="Calibri"/>
              </a:rPr>
              <a:t>What did you learn about growing plants or cooking for others?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502920" y="3840480"/>
            <a:ext cx="8138160" cy="621792"/>
          </a:xfrm>
          <a:prstGeom prst="roundRect">
            <a:avLst>
              <a:gd fmla="val 14706" name="adj"/>
            </a:avLst>
          </a:prstGeom>
          <a:solidFill>
            <a:srgbClr val="F3F7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777240" y="3840480"/>
            <a:ext cx="75895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1C69A"/>
              </a:buClr>
              <a:buSzPts val="1400"/>
              <a:buFont typeface="Cambria"/>
              <a:buNone/>
            </a:pPr>
            <a:r>
              <a:rPr b="1" i="1" lang="en-US" sz="1400" u="none" cap="none" strike="noStrike">
                <a:solidFill>
                  <a:srgbClr val="41A45D"/>
                </a:solidFill>
                <a:latin typeface="Libre Caslon Display"/>
                <a:ea typeface="Cambria"/>
                <a:cs typeface="Cambria"/>
                <a:sym typeface="Cambria"/>
              </a:rPr>
              <a:t>Great teamwork, real responsibility, and something thoughtful for the people at home. Well done!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8229600" y="4864608"/>
            <a:ext cx="731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99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99B86"/>
                </a:solidFill>
                <a:latin typeface="Karla"/>
                <a:ea typeface="Calibri"/>
                <a:cs typeface="Calibri"/>
                <a:sym typeface="Calibri"/>
              </a:rPr>
              <a:t>12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TextBox 497"/>
          <p:cNvSpPr txBox="1"/>
          <p:nvPr/>
        </p:nvSpPr>
        <p:spPr>
          <a:xfrm>
            <a:off x="420624" y="4759452"/>
            <a:ext cx="23774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i="1">
                <a:solidFill>
                  <a:srgbClr val="8B9179"/>
                </a:solidFill>
                <a:latin typeface="Karla"/>
              </a:rPr>
              <a:t>The Pastoral Guide</a:t>
            </a:r>
          </a:p>
        </p:txBody>
      </p:sp>
      <p:pic>
        <p:nvPicPr>
          <p:cNvPr id="499" name="Picture 498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8445" y="274320"/>
            <a:ext cx="633751" cy="731520"/>
          </a:xfrm>
          <a:prstGeom prst="rect">
            <a:avLst/>
          </a:prstGeom>
        </p:spPr>
      </p:pic>
      <p:pic>
        <p:nvPicPr>
          <p:cNvPr id="500" name="Picture 499" descr="logo-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505" y="4768596"/>
            <a:ext cx="116214" cy="1341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Planting Project: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