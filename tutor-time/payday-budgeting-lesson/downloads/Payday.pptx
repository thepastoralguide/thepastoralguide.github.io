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ster.png"/>
          <p:cNvPicPr>
            <a:picLocks noChangeAspect="1"/>
          </p:cNvPicPr>
          <p:nvPr/>
        </p:nvPicPr>
        <p:blipFill>
          <a:blip r:embed="rId2"/>
          <a:stretch>
            <a:fillRect/>
          </a:stretch>
        </p:blipFill>
        <p:spPr>
          <a:xfrm>
            <a:off x="4168146" y="640080"/>
            <a:ext cx="807707" cy="932688"/>
          </a:xfrm>
          <a:prstGeom prst="rect">
            <a:avLst/>
          </a:prstGeom>
        </p:spPr>
      </p:pic>
      <p:sp>
        <p:nvSpPr>
          <p:cNvPr id="4" name="TextBox 3"/>
          <p:cNvSpPr txBox="1"/>
          <p:nvPr/>
        </p:nvSpPr>
        <p:spPr>
          <a:xfrm>
            <a:off x="548640" y="1810512"/>
            <a:ext cx="8046720" cy="822960"/>
          </a:xfrm>
          <a:prstGeom prst="rect">
            <a:avLst/>
          </a:prstGeom>
          <a:noFill/>
        </p:spPr>
        <p:txBody>
          <a:bodyPr wrap="square" lIns="0" rIns="0" tIns="0" bIns="0" anchor="t">
            <a:spAutoFit/>
          </a:bodyPr>
          <a:lstStyle/>
          <a:p>
            <a:pPr algn="ctr">
              <a:lnSpc>
                <a:spcPct val="100000"/>
              </a:lnSpc>
              <a:spcAft>
                <a:spcPts val="0"/>
              </a:spcAft>
            </a:pPr>
            <a:r>
              <a:rPr sz="5200" b="1" i="0">
                <a:solidFill>
                  <a:srgbClr val="2F5470"/>
                </a:solidFill>
                <a:latin typeface="Libre Caslon Display"/>
              </a:rPr>
              <a:t>Payday</a:t>
            </a:r>
          </a:p>
        </p:txBody>
      </p:sp>
      <p:sp>
        <p:nvSpPr>
          <p:cNvPr id="5" name="Rectangle 4"/>
          <p:cNvSpPr/>
          <p:nvPr/>
        </p:nvSpPr>
        <p:spPr>
          <a:xfrm>
            <a:off x="4069080" y="2798064"/>
            <a:ext cx="1005840" cy="18288"/>
          </a:xfrm>
          <a:prstGeom prst="rect">
            <a:avLst/>
          </a:prstGeom>
          <a:solidFill>
            <a:srgbClr val="7EA6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99232"/>
            <a:ext cx="7680960" cy="365760"/>
          </a:xfrm>
          <a:prstGeom prst="rect">
            <a:avLst/>
          </a:prstGeom>
          <a:noFill/>
        </p:spPr>
        <p:txBody>
          <a:bodyPr wrap="square" lIns="0" rIns="0" tIns="0" bIns="0" anchor="t">
            <a:spAutoFit/>
          </a:bodyPr>
          <a:lstStyle/>
          <a:p>
            <a:pPr algn="ctr">
              <a:lnSpc>
                <a:spcPct val="125000"/>
              </a:lnSpc>
              <a:spcAft>
                <a:spcPts val="0"/>
              </a:spcAft>
            </a:pPr>
            <a:r>
              <a:rPr sz="1700" b="0" i="0">
                <a:solidFill>
                  <a:srgbClr val="6B7681"/>
                </a:solidFill>
                <a:latin typeface="Karla"/>
              </a:rPr>
              <a:t>One month. One wage. Everything it has to cover.</a:t>
            </a:r>
          </a:p>
        </p:txBody>
      </p:sp>
      <p:sp>
        <p:nvSpPr>
          <p:cNvPr id="7" name="TextBox 6"/>
          <p:cNvSpPr txBox="1"/>
          <p:nvPr/>
        </p:nvSpPr>
        <p:spPr>
          <a:xfrm>
            <a:off x="731520" y="3529584"/>
            <a:ext cx="7680960" cy="365760"/>
          </a:xfrm>
          <a:prstGeom prst="rect">
            <a:avLst/>
          </a:prstGeom>
          <a:noFill/>
        </p:spPr>
        <p:txBody>
          <a:bodyPr wrap="square" lIns="0" rIns="0" tIns="0" bIns="0" anchor="t">
            <a:spAutoFit/>
          </a:bodyPr>
          <a:lstStyle/>
          <a:p>
            <a:pPr algn="ctr">
              <a:lnSpc>
                <a:spcPct val="125000"/>
              </a:lnSpc>
              <a:spcAft>
                <a:spcPts val="0"/>
              </a:spcAft>
            </a:pPr>
            <a:r>
              <a:rPr sz="1250" b="0" i="1">
                <a:solidFill>
                  <a:srgbClr val="A2ACB5"/>
                </a:solidFill>
                <a:latin typeface="Karla"/>
              </a:rPr>
              <a:t>A budgeting lesson</a:t>
            </a:r>
          </a:p>
        </p:txBody>
      </p:sp>
      <p:pic>
        <p:nvPicPr>
          <p:cNvPr id="8" name="Picture 7" descr="logo-master.png"/>
          <p:cNvPicPr>
            <a:picLocks noChangeAspect="1"/>
          </p:cNvPicPr>
          <p:nvPr/>
        </p:nvPicPr>
        <p:blipFill>
          <a:blip r:embed="rId2"/>
          <a:stretch>
            <a:fillRect/>
          </a:stretch>
        </p:blipFill>
        <p:spPr>
          <a:xfrm>
            <a:off x="384048" y="4722876"/>
            <a:ext cx="158374" cy="182880"/>
          </a:xfrm>
          <a:prstGeom prst="rect">
            <a:avLst/>
          </a:prstGeom>
        </p:spPr>
      </p:pic>
      <p:sp>
        <p:nvSpPr>
          <p:cNvPr id="9" name="TextBox 8"/>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10" name="TextBox 9"/>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1 /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769864" y="530352"/>
            <a:ext cx="2688336" cy="347472"/>
          </a:xfrm>
          <a:prstGeom prst="roundRect">
            <a:avLst>
              <a:gd name="adj" fmla="val 50000"/>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9864" y="589788"/>
            <a:ext cx="2688336"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TEACHER SLIDE  ·  SKIP IT</a:t>
            </a:r>
          </a:p>
        </p:txBody>
      </p:sp>
      <p:sp>
        <p:nvSpPr>
          <p:cNvPr id="5" name="TextBox 4"/>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BEFORE YOU START</a:t>
            </a:r>
          </a:p>
        </p:txBody>
      </p:sp>
      <p:sp>
        <p:nvSpPr>
          <p:cNvPr id="6" name="TextBox 5"/>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100" b="1" i="0">
                <a:solidFill>
                  <a:srgbClr val="39424A"/>
                </a:solidFill>
                <a:latin typeface="Libre Caslon Display"/>
              </a:rPr>
              <a:t>Two ways to run this</a:t>
            </a:r>
          </a:p>
        </p:txBody>
      </p:sp>
      <p:sp>
        <p:nvSpPr>
          <p:cNvPr id="7" name="Rounded Rectangle 6"/>
          <p:cNvSpPr/>
          <p:nvPr/>
        </p:nvSpPr>
        <p:spPr>
          <a:xfrm>
            <a:off x="685800" y="1645920"/>
            <a:ext cx="3749039" cy="261518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47088"/>
            <a:ext cx="3200400" cy="310896"/>
          </a:xfrm>
          <a:prstGeom prst="rect">
            <a:avLst/>
          </a:prstGeom>
          <a:noFill/>
        </p:spPr>
        <p:txBody>
          <a:bodyPr wrap="square" lIns="0" rIns="0" tIns="0" bIns="0" anchor="t">
            <a:spAutoFit/>
          </a:bodyPr>
          <a:lstStyle/>
          <a:p>
            <a:pPr algn="l">
              <a:lnSpc>
                <a:spcPct val="125000"/>
              </a:lnSpc>
              <a:spcAft>
                <a:spcPts val="0"/>
              </a:spcAft>
            </a:pPr>
            <a:r>
              <a:rPr sz="1100" b="1" i="0" spc="140">
                <a:solidFill>
                  <a:srgbClr val="7EA6BD"/>
                </a:solidFill>
                <a:latin typeface="Karla"/>
              </a:rPr>
              <a:t>BASIC</a:t>
            </a:r>
          </a:p>
        </p:txBody>
      </p:sp>
      <p:sp>
        <p:nvSpPr>
          <p:cNvPr id="9" name="TextBox 8"/>
          <p:cNvSpPr txBox="1"/>
          <p:nvPr/>
        </p:nvSpPr>
        <p:spPr>
          <a:xfrm>
            <a:off x="960120" y="2139696"/>
            <a:ext cx="3200400" cy="329184"/>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Pen and paper</a:t>
            </a:r>
          </a:p>
        </p:txBody>
      </p:sp>
      <p:sp>
        <p:nvSpPr>
          <p:cNvPr id="10" name="TextBox 9"/>
          <p:cNvSpPr txBox="1"/>
          <p:nvPr/>
        </p:nvSpPr>
        <p:spPr>
          <a:xfrm>
            <a:off x="960120" y="256032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11" name="TextBox 10"/>
          <p:cNvSpPr txBox="1"/>
          <p:nvPr/>
        </p:nvSpPr>
        <p:spPr>
          <a:xfrm>
            <a:off x="1161288" y="254203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Print the job cards and one budget sheet per group.</a:t>
            </a:r>
          </a:p>
        </p:txBody>
      </p:sp>
      <p:sp>
        <p:nvSpPr>
          <p:cNvPr id="12" name="TextBox 11"/>
          <p:cNvSpPr txBox="1"/>
          <p:nvPr/>
        </p:nvSpPr>
        <p:spPr>
          <a:xfrm>
            <a:off x="960120" y="310896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13" name="TextBox 12"/>
          <p:cNvSpPr txBox="1"/>
          <p:nvPr/>
        </p:nvSpPr>
        <p:spPr>
          <a:xfrm>
            <a:off x="1161288" y="309067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Groups write their choices and subtract as they go.</a:t>
            </a:r>
          </a:p>
        </p:txBody>
      </p:sp>
      <p:sp>
        <p:nvSpPr>
          <p:cNvPr id="14" name="TextBox 13"/>
          <p:cNvSpPr txBox="1"/>
          <p:nvPr/>
        </p:nvSpPr>
        <p:spPr>
          <a:xfrm>
            <a:off x="960120" y="365760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15" name="TextBox 14"/>
          <p:cNvSpPr txBox="1"/>
          <p:nvPr/>
        </p:nvSpPr>
        <p:spPr>
          <a:xfrm>
            <a:off x="1161288" y="363931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Use three of the ten events. Skip the shop.</a:t>
            </a:r>
          </a:p>
        </p:txBody>
      </p:sp>
      <p:sp>
        <p:nvSpPr>
          <p:cNvPr id="16" name="Rounded Rectangle 15"/>
          <p:cNvSpPr/>
          <p:nvPr/>
        </p:nvSpPr>
        <p:spPr>
          <a:xfrm>
            <a:off x="4709160" y="1645920"/>
            <a:ext cx="3749039" cy="261518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80" y="1847088"/>
            <a:ext cx="3200400" cy="310896"/>
          </a:xfrm>
          <a:prstGeom prst="rect">
            <a:avLst/>
          </a:prstGeom>
          <a:noFill/>
        </p:spPr>
        <p:txBody>
          <a:bodyPr wrap="square" lIns="0" rIns="0" tIns="0" bIns="0" anchor="t">
            <a:spAutoFit/>
          </a:bodyPr>
          <a:lstStyle/>
          <a:p>
            <a:pPr algn="l">
              <a:lnSpc>
                <a:spcPct val="125000"/>
              </a:lnSpc>
              <a:spcAft>
                <a:spcPts val="0"/>
              </a:spcAft>
            </a:pPr>
            <a:r>
              <a:rPr sz="1100" b="1" i="0" spc="140">
                <a:solidFill>
                  <a:srgbClr val="7EA6BD"/>
                </a:solidFill>
                <a:latin typeface="Karla"/>
              </a:rPr>
              <a:t>FULL</a:t>
            </a:r>
          </a:p>
        </p:txBody>
      </p:sp>
      <p:sp>
        <p:nvSpPr>
          <p:cNvPr id="18" name="TextBox 17"/>
          <p:cNvSpPr txBox="1"/>
          <p:nvPr/>
        </p:nvSpPr>
        <p:spPr>
          <a:xfrm>
            <a:off x="4983480" y="2139696"/>
            <a:ext cx="3200400" cy="329184"/>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Cash and a shop</a:t>
            </a:r>
          </a:p>
        </p:txBody>
      </p:sp>
      <p:sp>
        <p:nvSpPr>
          <p:cNvPr id="19" name="TextBox 18"/>
          <p:cNvSpPr txBox="1"/>
          <p:nvPr/>
        </p:nvSpPr>
        <p:spPr>
          <a:xfrm>
            <a:off x="4983480" y="256032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20" name="TextBox 19"/>
          <p:cNvSpPr txBox="1"/>
          <p:nvPr/>
        </p:nvSpPr>
        <p:spPr>
          <a:xfrm>
            <a:off x="5184648" y="254203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Also print the cash sheets and the shop cards.</a:t>
            </a:r>
          </a:p>
        </p:txBody>
      </p:sp>
      <p:sp>
        <p:nvSpPr>
          <p:cNvPr id="21" name="TextBox 20"/>
          <p:cNvSpPr txBox="1"/>
          <p:nvPr/>
        </p:nvSpPr>
        <p:spPr>
          <a:xfrm>
            <a:off x="4983480" y="310896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22" name="TextBox 21"/>
          <p:cNvSpPr txBox="1"/>
          <p:nvPr/>
        </p:nvSpPr>
        <p:spPr>
          <a:xfrm>
            <a:off x="5184648" y="309067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Groups pay with notes and buy from the shop.</a:t>
            </a:r>
          </a:p>
        </p:txBody>
      </p:sp>
      <p:sp>
        <p:nvSpPr>
          <p:cNvPr id="23" name="TextBox 22"/>
          <p:cNvSpPr txBox="1"/>
          <p:nvPr/>
        </p:nvSpPr>
        <p:spPr>
          <a:xfrm>
            <a:off x="4983480" y="365760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24" name="TextBox 23"/>
          <p:cNvSpPr txBox="1"/>
          <p:nvPr/>
        </p:nvSpPr>
        <p:spPr>
          <a:xfrm>
            <a:off x="5184648" y="363931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Use six or more events. Needs the full hour.</a:t>
            </a:r>
          </a:p>
        </p:txBody>
      </p:sp>
      <p:sp>
        <p:nvSpPr>
          <p:cNvPr id="25" name="TextBox 24"/>
          <p:cNvSpPr txBox="1"/>
          <p:nvPr/>
        </p:nvSpPr>
        <p:spPr>
          <a:xfrm>
            <a:off x="685800" y="4352544"/>
            <a:ext cx="7772400" cy="274320"/>
          </a:xfrm>
          <a:prstGeom prst="rect">
            <a:avLst/>
          </a:prstGeom>
          <a:noFill/>
        </p:spPr>
        <p:txBody>
          <a:bodyPr wrap="square" lIns="0" rIns="0" tIns="0" bIns="0" anchor="t">
            <a:spAutoFit/>
          </a:bodyPr>
          <a:lstStyle/>
          <a:p>
            <a:pPr algn="l">
              <a:lnSpc>
                <a:spcPct val="125000"/>
              </a:lnSpc>
              <a:spcAft>
                <a:spcPts val="0"/>
              </a:spcAft>
            </a:pPr>
            <a:r>
              <a:rPr sz="1200" b="0" i="1">
                <a:solidFill>
                  <a:srgbClr val="6B7681"/>
                </a:solidFill>
                <a:latin typeface="Karla"/>
              </a:rPr>
              <a:t>Everything else in this deck works either way.</a:t>
            </a:r>
          </a:p>
        </p:txBody>
      </p:sp>
      <p:pic>
        <p:nvPicPr>
          <p:cNvPr id="26" name="Picture 25" descr="logo-master.png"/>
          <p:cNvPicPr>
            <a:picLocks noChangeAspect="1"/>
          </p:cNvPicPr>
          <p:nvPr/>
        </p:nvPicPr>
        <p:blipFill>
          <a:blip r:embed="rId2"/>
          <a:stretch>
            <a:fillRect/>
          </a:stretch>
        </p:blipFill>
        <p:spPr>
          <a:xfrm>
            <a:off x="384048" y="4722876"/>
            <a:ext cx="158374" cy="182880"/>
          </a:xfrm>
          <a:prstGeom prst="rect">
            <a:avLst/>
          </a:prstGeom>
        </p:spPr>
      </p:pic>
      <p:sp>
        <p:nvSpPr>
          <p:cNvPr id="27" name="TextBox 26"/>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28" name="TextBox 27"/>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TWENTY-EIGHTH</a:t>
            </a:r>
          </a:p>
        </p:txBody>
      </p:sp>
      <p:sp>
        <p:nvSpPr>
          <p:cNvPr id="4" name="TextBox 3"/>
          <p:cNvSpPr txBox="1"/>
          <p:nvPr/>
        </p:nvSpPr>
        <p:spPr>
          <a:xfrm>
            <a:off x="731520" y="896112"/>
            <a:ext cx="7680960" cy="2011680"/>
          </a:xfrm>
          <a:prstGeom prst="rect">
            <a:avLst/>
          </a:prstGeom>
          <a:noFill/>
        </p:spPr>
        <p:txBody>
          <a:bodyPr wrap="square" lIns="0" rIns="0" tIns="0" bIns="0" anchor="t">
            <a:spAutoFit/>
          </a:bodyPr>
          <a:lstStyle/>
          <a:p>
            <a:pPr algn="ctr">
              <a:lnSpc>
                <a:spcPct val="142000"/>
              </a:lnSpc>
              <a:spcAft>
                <a:spcPts val="0"/>
              </a:spcAft>
            </a:pPr>
            <a:r>
              <a:rPr sz="2500" b="1" i="0">
                <a:solidFill>
                  <a:srgbClr val="FFFDF7"/>
                </a:solidFill>
                <a:latin typeface="Libre Caslon Display"/>
              </a:rPr>
              <a:t>It is 7.04 in the morning and your phone buzzes on the pillow next to you.</a:t>
            </a:r>
            <a:br/>
            <a:r>
              <a:rPr sz="2500" b="1" i="0">
                <a:solidFill>
                  <a:srgbClr val="FFFDF7"/>
                </a:solidFill>
                <a:latin typeface="Libre Caslon Display"/>
              </a:rPr>
              <a:t>Your wages have landed.</a:t>
            </a:r>
            <a:br/>
            <a:r>
              <a:rPr sz="2500" b="1" i="0">
                <a:solidFill>
                  <a:srgbClr val="FFFDF7"/>
                </a:solidFill>
                <a:latin typeface="Libre Caslon Display"/>
              </a:rPr>
              <a:t>First proper month. First proper pay.</a:t>
            </a:r>
          </a:p>
        </p:txBody>
      </p:sp>
      <p:sp>
        <p:nvSpPr>
          <p:cNvPr id="5" name="Rectangle 4"/>
          <p:cNvSpPr/>
          <p:nvPr/>
        </p:nvSpPr>
        <p:spPr>
          <a:xfrm>
            <a:off x="4114800" y="3145536"/>
            <a:ext cx="914400" cy="18288"/>
          </a:xfrm>
          <a:prstGeom prst="rect">
            <a:avLst/>
          </a:prstGeom>
          <a:solidFill>
            <a:srgbClr val="C3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3401568"/>
            <a:ext cx="6583680" cy="822960"/>
          </a:xfrm>
          <a:prstGeom prst="rect">
            <a:avLst/>
          </a:prstGeom>
          <a:noFill/>
        </p:spPr>
        <p:txBody>
          <a:bodyPr wrap="square" lIns="0" rIns="0" tIns="0" bIns="0" anchor="t">
            <a:spAutoFit/>
          </a:bodyPr>
          <a:lstStyle/>
          <a:p>
            <a:pPr algn="ctr">
              <a:lnSpc>
                <a:spcPct val="142000"/>
              </a:lnSpc>
              <a:spcAft>
                <a:spcPts val="0"/>
              </a:spcAft>
            </a:pPr>
            <a:r>
              <a:rPr sz="1450" b="0" i="1">
                <a:solidFill>
                  <a:srgbClr val="C3D6E2"/>
                </a:solidFill>
                <a:latin typeface="Karla"/>
              </a:rPr>
              <a:t>You already know what you are going to spend some of it on. You have known for about a fortnight.</a:t>
            </a:r>
          </a:p>
        </p:txBody>
      </p:sp>
      <p:pic>
        <p:nvPicPr>
          <p:cNvPr id="7" name="Picture 6" descr="logo-master.png"/>
          <p:cNvPicPr>
            <a:picLocks noChangeAspect="1"/>
          </p:cNvPicPr>
          <p:nvPr/>
        </p:nvPicPr>
        <p:blipFill>
          <a:blip r:embed="rId2"/>
          <a:stretch>
            <a:fillRect/>
          </a:stretch>
        </p:blipFill>
        <p:spPr>
          <a:xfrm>
            <a:off x="384048" y="4722876"/>
            <a:ext cx="158374" cy="182880"/>
          </a:xfrm>
          <a:prstGeom prst="rect">
            <a:avLst/>
          </a:prstGeom>
        </p:spPr>
      </p:pic>
      <p:sp>
        <p:nvSpPr>
          <p:cNvPr id="8" name="TextBox 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9" name="TextBox 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7EA6BD"/>
                </a:solidFill>
                <a:latin typeface="Karla"/>
              </a:rPr>
              <a:t>THEN YOU OPEN IT</a:t>
            </a:r>
          </a:p>
        </p:txBody>
      </p:sp>
      <p:sp>
        <p:nvSpPr>
          <p:cNvPr id="4" name="TextBox 3"/>
          <p:cNvSpPr txBox="1"/>
          <p:nvPr/>
        </p:nvSpPr>
        <p:spPr>
          <a:xfrm>
            <a:off x="685800" y="841248"/>
            <a:ext cx="7772400" cy="585216"/>
          </a:xfrm>
          <a:prstGeom prst="rect">
            <a:avLst/>
          </a:prstGeom>
          <a:noFill/>
        </p:spPr>
        <p:txBody>
          <a:bodyPr wrap="square" lIns="0" rIns="0" tIns="0" bIns="0" anchor="t">
            <a:spAutoFit/>
          </a:bodyPr>
          <a:lstStyle/>
          <a:p>
            <a:pPr algn="ctr">
              <a:lnSpc>
                <a:spcPct val="105000"/>
              </a:lnSpc>
              <a:spcAft>
                <a:spcPts val="0"/>
              </a:spcAft>
            </a:pPr>
            <a:r>
              <a:rPr sz="3100" b="1" i="0">
                <a:solidFill>
                  <a:srgbClr val="39424A"/>
                </a:solidFill>
                <a:latin typeface="Libre Caslon Display"/>
              </a:rPr>
              <a:t>Told one number. Paid another.</a:t>
            </a:r>
          </a:p>
        </p:txBody>
      </p:sp>
      <p:sp>
        <p:nvSpPr>
          <p:cNvPr id="5" name="Rounded Rectangle 4"/>
          <p:cNvSpPr/>
          <p:nvPr/>
        </p:nvSpPr>
        <p:spPr>
          <a:xfrm>
            <a:off x="1234440" y="1700784"/>
            <a:ext cx="6675120" cy="6949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200" y="1792224"/>
            <a:ext cx="3383280" cy="512064"/>
          </a:xfrm>
          <a:prstGeom prst="rect">
            <a:avLst/>
          </a:prstGeom>
          <a:noFill/>
        </p:spPr>
        <p:txBody>
          <a:bodyPr wrap="square" lIns="0" rIns="0" tIns="0" bIns="0" anchor="ctr">
            <a:spAutoFit/>
          </a:bodyPr>
          <a:lstStyle/>
          <a:p>
            <a:pPr algn="l">
              <a:lnSpc>
                <a:spcPct val="120000"/>
              </a:lnSpc>
              <a:spcAft>
                <a:spcPts val="0"/>
              </a:spcAft>
            </a:pPr>
            <a:r>
              <a:rPr sz="1400" b="0" i="0">
                <a:solidFill>
                  <a:srgbClr val="39424A"/>
                </a:solidFill>
                <a:latin typeface="Karla"/>
              </a:rPr>
              <a:t>The salary in the advert</a:t>
            </a:r>
          </a:p>
        </p:txBody>
      </p:sp>
      <p:sp>
        <p:nvSpPr>
          <p:cNvPr id="7" name="TextBox 6"/>
          <p:cNvSpPr txBox="1"/>
          <p:nvPr/>
        </p:nvSpPr>
        <p:spPr>
          <a:xfrm>
            <a:off x="4937760" y="1792224"/>
            <a:ext cx="2651760" cy="512064"/>
          </a:xfrm>
          <a:prstGeom prst="rect">
            <a:avLst/>
          </a:prstGeom>
          <a:noFill/>
        </p:spPr>
        <p:txBody>
          <a:bodyPr wrap="square" lIns="0" rIns="0" tIns="0" bIns="0" anchor="ctr">
            <a:spAutoFit/>
          </a:bodyPr>
          <a:lstStyle/>
          <a:p>
            <a:pPr algn="r">
              <a:lnSpc>
                <a:spcPct val="120000"/>
              </a:lnSpc>
              <a:spcAft>
                <a:spcPts val="0"/>
              </a:spcAft>
            </a:pPr>
            <a:r>
              <a:rPr sz="1700" b="1" i="0">
                <a:solidFill>
                  <a:srgbClr val="2F5470"/>
                </a:solidFill>
                <a:latin typeface="Libre Caslon Display"/>
              </a:rPr>
              <a:t>£24,000 a year</a:t>
            </a:r>
          </a:p>
        </p:txBody>
      </p:sp>
      <p:sp>
        <p:nvSpPr>
          <p:cNvPr id="8" name="Rounded Rectangle 7"/>
          <p:cNvSpPr/>
          <p:nvPr/>
        </p:nvSpPr>
        <p:spPr>
          <a:xfrm>
            <a:off x="1234440" y="2542032"/>
            <a:ext cx="6675120" cy="6949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633472"/>
            <a:ext cx="3383280" cy="512064"/>
          </a:xfrm>
          <a:prstGeom prst="rect">
            <a:avLst/>
          </a:prstGeom>
          <a:noFill/>
        </p:spPr>
        <p:txBody>
          <a:bodyPr wrap="square" lIns="0" rIns="0" tIns="0" bIns="0" anchor="ctr">
            <a:spAutoFit/>
          </a:bodyPr>
          <a:lstStyle/>
          <a:p>
            <a:pPr algn="l">
              <a:lnSpc>
                <a:spcPct val="120000"/>
              </a:lnSpc>
              <a:spcAft>
                <a:spcPts val="0"/>
              </a:spcAft>
            </a:pPr>
            <a:r>
              <a:rPr sz="1400" b="0" i="0">
                <a:solidFill>
                  <a:srgbClr val="39424A"/>
                </a:solidFill>
                <a:latin typeface="Karla"/>
              </a:rPr>
              <a:t>Which sounds like</a:t>
            </a:r>
          </a:p>
        </p:txBody>
      </p:sp>
      <p:sp>
        <p:nvSpPr>
          <p:cNvPr id="10" name="TextBox 9"/>
          <p:cNvSpPr txBox="1"/>
          <p:nvPr/>
        </p:nvSpPr>
        <p:spPr>
          <a:xfrm>
            <a:off x="4937760" y="2633472"/>
            <a:ext cx="2651760" cy="512064"/>
          </a:xfrm>
          <a:prstGeom prst="rect">
            <a:avLst/>
          </a:prstGeom>
          <a:noFill/>
        </p:spPr>
        <p:txBody>
          <a:bodyPr wrap="square" lIns="0" rIns="0" tIns="0" bIns="0" anchor="ctr">
            <a:spAutoFit/>
          </a:bodyPr>
          <a:lstStyle/>
          <a:p>
            <a:pPr algn="r">
              <a:lnSpc>
                <a:spcPct val="120000"/>
              </a:lnSpc>
              <a:spcAft>
                <a:spcPts val="0"/>
              </a:spcAft>
            </a:pPr>
            <a:r>
              <a:rPr sz="1700" b="1" i="0">
                <a:solidFill>
                  <a:srgbClr val="2F5470"/>
                </a:solidFill>
                <a:latin typeface="Libre Caslon Display"/>
              </a:rPr>
              <a:t>£2,000 a month</a:t>
            </a:r>
          </a:p>
        </p:txBody>
      </p:sp>
      <p:sp>
        <p:nvSpPr>
          <p:cNvPr id="11" name="Rounded Rectangle 10"/>
          <p:cNvSpPr/>
          <p:nvPr/>
        </p:nvSpPr>
        <p:spPr>
          <a:xfrm>
            <a:off x="1234440" y="3383280"/>
            <a:ext cx="6675120" cy="69494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3474720"/>
            <a:ext cx="3383280" cy="512064"/>
          </a:xfrm>
          <a:prstGeom prst="rect">
            <a:avLst/>
          </a:prstGeom>
          <a:noFill/>
        </p:spPr>
        <p:txBody>
          <a:bodyPr wrap="square" lIns="0" rIns="0" tIns="0" bIns="0" anchor="ctr">
            <a:spAutoFit/>
          </a:bodyPr>
          <a:lstStyle/>
          <a:p>
            <a:pPr algn="l">
              <a:lnSpc>
                <a:spcPct val="120000"/>
              </a:lnSpc>
              <a:spcAft>
                <a:spcPts val="0"/>
              </a:spcAft>
            </a:pPr>
            <a:r>
              <a:rPr sz="1400" b="0" i="0">
                <a:solidFill>
                  <a:srgbClr val="39424A"/>
                </a:solidFill>
                <a:latin typeface="Karla"/>
              </a:rPr>
              <a:t>What actually lands</a:t>
            </a:r>
          </a:p>
        </p:txBody>
      </p:sp>
      <p:sp>
        <p:nvSpPr>
          <p:cNvPr id="13" name="TextBox 12"/>
          <p:cNvSpPr txBox="1"/>
          <p:nvPr/>
        </p:nvSpPr>
        <p:spPr>
          <a:xfrm>
            <a:off x="4937760" y="3474720"/>
            <a:ext cx="2651760" cy="512064"/>
          </a:xfrm>
          <a:prstGeom prst="rect">
            <a:avLst/>
          </a:prstGeom>
          <a:noFill/>
        </p:spPr>
        <p:txBody>
          <a:bodyPr wrap="square" lIns="0" rIns="0" tIns="0" bIns="0" anchor="ctr">
            <a:spAutoFit/>
          </a:bodyPr>
          <a:lstStyle/>
          <a:p>
            <a:pPr algn="r">
              <a:lnSpc>
                <a:spcPct val="120000"/>
              </a:lnSpc>
              <a:spcAft>
                <a:spcPts val="0"/>
              </a:spcAft>
            </a:pPr>
            <a:r>
              <a:rPr sz="1700" b="1" i="0">
                <a:solidFill>
                  <a:srgbClr val="2F5470"/>
                </a:solidFill>
                <a:latin typeface="Libre Caslon Display"/>
              </a:rPr>
              <a:t>£1,730</a:t>
            </a:r>
          </a:p>
        </p:txBody>
      </p:sp>
      <p:sp>
        <p:nvSpPr>
          <p:cNvPr id="14" name="TextBox 13"/>
          <p:cNvSpPr txBox="1"/>
          <p:nvPr/>
        </p:nvSpPr>
        <p:spPr>
          <a:xfrm>
            <a:off x="685800" y="4315968"/>
            <a:ext cx="7772400" cy="310896"/>
          </a:xfrm>
          <a:prstGeom prst="rect">
            <a:avLst/>
          </a:prstGeom>
          <a:noFill/>
        </p:spPr>
        <p:txBody>
          <a:bodyPr wrap="square" lIns="0" rIns="0" tIns="0" bIns="0" anchor="t">
            <a:spAutoFit/>
          </a:bodyPr>
          <a:lstStyle/>
          <a:p>
            <a:pPr algn="ctr">
              <a:lnSpc>
                <a:spcPct val="125000"/>
              </a:lnSpc>
              <a:spcAft>
                <a:spcPts val="0"/>
              </a:spcAft>
            </a:pPr>
            <a:r>
              <a:rPr sz="1250" b="0" i="1">
                <a:solidFill>
                  <a:srgbClr val="6B7681"/>
                </a:solidFill>
                <a:latin typeface="Karla"/>
              </a:rPr>
              <a:t>Tax and deductions. Two hundred and seventy pounds you never see.</a:t>
            </a:r>
          </a:p>
        </p:txBody>
      </p:sp>
      <p:pic>
        <p:nvPicPr>
          <p:cNvPr id="15" name="Picture 14" descr="logo-master.png"/>
          <p:cNvPicPr>
            <a:picLocks noChangeAspect="1"/>
          </p:cNvPicPr>
          <p:nvPr/>
        </p:nvPicPr>
        <p:blipFill>
          <a:blip r:embed="rId2"/>
          <a:stretch>
            <a:fillRect/>
          </a:stretch>
        </p:blipFill>
        <p:spPr>
          <a:xfrm>
            <a:off x="384048" y="4722876"/>
            <a:ext cx="158374" cy="182880"/>
          </a:xfrm>
          <a:prstGeom prst="rect">
            <a:avLst/>
          </a:prstGeom>
        </p:spPr>
      </p:pic>
      <p:sp>
        <p:nvSpPr>
          <p:cNvPr id="16" name="TextBox 15"/>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17" name="TextBox 16"/>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YOUR GROUP</a:t>
            </a:r>
          </a:p>
        </p:txBody>
      </p:sp>
      <p:sp>
        <p:nvSpPr>
          <p:cNvPr id="4" name="TextBox 3"/>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200" b="1" i="0">
                <a:solidFill>
                  <a:srgbClr val="39424A"/>
                </a:solidFill>
                <a:latin typeface="Libre Caslon Display"/>
              </a:rPr>
              <a:t>Take a job card</a:t>
            </a:r>
          </a:p>
        </p:txBody>
      </p:sp>
      <p:sp>
        <p:nvSpPr>
          <p:cNvPr id="5" name="TextBox 4"/>
          <p:cNvSpPr txBox="1"/>
          <p:nvPr/>
        </p:nvSpPr>
        <p:spPr>
          <a:xfrm>
            <a:off x="685800" y="1499616"/>
            <a:ext cx="7772400" cy="310896"/>
          </a:xfrm>
          <a:prstGeom prst="rect">
            <a:avLst/>
          </a:prstGeom>
          <a:noFill/>
        </p:spPr>
        <p:txBody>
          <a:bodyPr wrap="square" lIns="0" rIns="0" tIns="0" bIns="0" anchor="t">
            <a:spAutoFit/>
          </a:bodyPr>
          <a:lstStyle/>
          <a:p>
            <a:pPr algn="l">
              <a:lnSpc>
                <a:spcPct val="125000"/>
              </a:lnSpc>
              <a:spcAft>
                <a:spcPts val="0"/>
              </a:spcAft>
            </a:pPr>
            <a:r>
              <a:rPr sz="1350" b="0" i="1">
                <a:solidFill>
                  <a:srgbClr val="6B7681"/>
                </a:solidFill>
                <a:latin typeface="Karla"/>
              </a:rPr>
              <a:t>Six jobs. Different wages, and each one comes with something to deal with.</a:t>
            </a:r>
          </a:p>
        </p:txBody>
      </p:sp>
      <p:sp>
        <p:nvSpPr>
          <p:cNvPr id="6" name="Rounded Rectangle 5"/>
          <p:cNvSpPr/>
          <p:nvPr/>
        </p:nvSpPr>
        <p:spPr>
          <a:xfrm>
            <a:off x="685800" y="1920240"/>
            <a:ext cx="2444496" cy="100584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066544"/>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Apprentice mechanic</a:t>
            </a:r>
          </a:p>
        </p:txBody>
      </p:sp>
      <p:sp>
        <p:nvSpPr>
          <p:cNvPr id="8" name="TextBox 7"/>
          <p:cNvSpPr txBox="1"/>
          <p:nvPr/>
        </p:nvSpPr>
        <p:spPr>
          <a:xfrm>
            <a:off x="886968" y="2468880"/>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£1,280 a month</a:t>
            </a:r>
          </a:p>
        </p:txBody>
      </p:sp>
      <p:sp>
        <p:nvSpPr>
          <p:cNvPr id="9" name="Rounded Rectangle 8"/>
          <p:cNvSpPr/>
          <p:nvPr/>
        </p:nvSpPr>
        <p:spPr>
          <a:xfrm>
            <a:off x="3349752" y="1920240"/>
            <a:ext cx="2444496" cy="100584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50920" y="2066544"/>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Trainee nurse</a:t>
            </a:r>
          </a:p>
        </p:txBody>
      </p:sp>
      <p:sp>
        <p:nvSpPr>
          <p:cNvPr id="11" name="TextBox 10"/>
          <p:cNvSpPr txBox="1"/>
          <p:nvPr/>
        </p:nvSpPr>
        <p:spPr>
          <a:xfrm>
            <a:off x="3550920" y="2468880"/>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£1,450 a month</a:t>
            </a:r>
          </a:p>
        </p:txBody>
      </p:sp>
      <p:sp>
        <p:nvSpPr>
          <p:cNvPr id="12" name="Rounded Rectangle 11"/>
          <p:cNvSpPr/>
          <p:nvPr/>
        </p:nvSpPr>
        <p:spPr>
          <a:xfrm>
            <a:off x="6013704" y="1920240"/>
            <a:ext cx="2444496" cy="100584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4871" y="2066544"/>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Retail assistant</a:t>
            </a:r>
          </a:p>
        </p:txBody>
      </p:sp>
      <p:sp>
        <p:nvSpPr>
          <p:cNvPr id="14" name="TextBox 13"/>
          <p:cNvSpPr txBox="1"/>
          <p:nvPr/>
        </p:nvSpPr>
        <p:spPr>
          <a:xfrm>
            <a:off x="6214871" y="2468880"/>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£1,380 a month</a:t>
            </a:r>
          </a:p>
        </p:txBody>
      </p:sp>
      <p:sp>
        <p:nvSpPr>
          <p:cNvPr id="15" name="Rounded Rectangle 14"/>
          <p:cNvSpPr/>
          <p:nvPr/>
        </p:nvSpPr>
        <p:spPr>
          <a:xfrm>
            <a:off x="685800" y="3090672"/>
            <a:ext cx="2444496" cy="100584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3236976"/>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Office assistant</a:t>
            </a:r>
          </a:p>
        </p:txBody>
      </p:sp>
      <p:sp>
        <p:nvSpPr>
          <p:cNvPr id="17" name="TextBox 16"/>
          <p:cNvSpPr txBox="1"/>
          <p:nvPr/>
        </p:nvSpPr>
        <p:spPr>
          <a:xfrm>
            <a:off x="886968" y="3639312"/>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£1,730 a month</a:t>
            </a:r>
          </a:p>
        </p:txBody>
      </p:sp>
      <p:sp>
        <p:nvSpPr>
          <p:cNvPr id="18" name="Rounded Rectangle 17"/>
          <p:cNvSpPr/>
          <p:nvPr/>
        </p:nvSpPr>
        <p:spPr>
          <a:xfrm>
            <a:off x="3349752" y="3090672"/>
            <a:ext cx="2444496" cy="100584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0920" y="3236976"/>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Site supervisor</a:t>
            </a:r>
          </a:p>
        </p:txBody>
      </p:sp>
      <p:sp>
        <p:nvSpPr>
          <p:cNvPr id="20" name="TextBox 19"/>
          <p:cNvSpPr txBox="1"/>
          <p:nvPr/>
        </p:nvSpPr>
        <p:spPr>
          <a:xfrm>
            <a:off x="3550920" y="3639312"/>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£2,050 a month</a:t>
            </a:r>
          </a:p>
        </p:txBody>
      </p:sp>
      <p:sp>
        <p:nvSpPr>
          <p:cNvPr id="21" name="Rounded Rectangle 20"/>
          <p:cNvSpPr/>
          <p:nvPr/>
        </p:nvSpPr>
        <p:spPr>
          <a:xfrm>
            <a:off x="6013704" y="3090672"/>
            <a:ext cx="2444496" cy="100584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4871" y="3236976"/>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Junior developer</a:t>
            </a:r>
          </a:p>
        </p:txBody>
      </p:sp>
      <p:sp>
        <p:nvSpPr>
          <p:cNvPr id="23" name="TextBox 22"/>
          <p:cNvSpPr txBox="1"/>
          <p:nvPr/>
        </p:nvSpPr>
        <p:spPr>
          <a:xfrm>
            <a:off x="6214871" y="3639312"/>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£2,400 a month</a:t>
            </a:r>
          </a:p>
        </p:txBody>
      </p:sp>
      <p:sp>
        <p:nvSpPr>
          <p:cNvPr id="24" name="TextBox 23"/>
          <p:cNvSpPr txBox="1"/>
          <p:nvPr/>
        </p:nvSpPr>
        <p:spPr>
          <a:xfrm>
            <a:off x="685800" y="4315968"/>
            <a:ext cx="7772400" cy="274320"/>
          </a:xfrm>
          <a:prstGeom prst="rect">
            <a:avLst/>
          </a:prstGeom>
          <a:noFill/>
        </p:spPr>
        <p:txBody>
          <a:bodyPr wrap="square" lIns="0" rIns="0" tIns="0" bIns="0" anchor="t">
            <a:spAutoFit/>
          </a:bodyPr>
          <a:lstStyle/>
          <a:p>
            <a:pPr algn="l">
              <a:lnSpc>
                <a:spcPct val="125000"/>
              </a:lnSpc>
              <a:spcAft>
                <a:spcPts val="0"/>
              </a:spcAft>
            </a:pPr>
            <a:r>
              <a:rPr sz="1250" b="1" i="0">
                <a:solidFill>
                  <a:srgbClr val="2F5470"/>
                </a:solidFill>
                <a:latin typeface="Karla"/>
              </a:rPr>
              <a:t>The best-paid job is not the easiest month. You will see why.</a:t>
            </a:r>
          </a:p>
        </p:txBody>
      </p:sp>
      <p:pic>
        <p:nvPicPr>
          <p:cNvPr id="25" name="Picture 24" descr="logo-master.png"/>
          <p:cNvPicPr>
            <a:picLocks noChangeAspect="1"/>
          </p:cNvPicPr>
          <p:nvPr/>
        </p:nvPicPr>
        <p:blipFill>
          <a:blip r:embed="rId2"/>
          <a:stretch>
            <a:fillRect/>
          </a:stretch>
        </p:blipFill>
        <p:spPr>
          <a:xfrm>
            <a:off x="384048" y="4722876"/>
            <a:ext cx="158374" cy="182880"/>
          </a:xfrm>
          <a:prstGeom prst="rect">
            <a:avLst/>
          </a:prstGeom>
        </p:spPr>
      </p:pic>
      <p:sp>
        <p:nvSpPr>
          <p:cNvPr id="26" name="TextBox 25"/>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27" name="TextBox 26"/>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WHAT IT HAS TO COVER</a:t>
            </a:r>
          </a:p>
        </p:txBody>
      </p:sp>
      <p:sp>
        <p:nvSpPr>
          <p:cNvPr id="4" name="TextBox 3"/>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200" b="1" i="0">
                <a:solidFill>
                  <a:srgbClr val="39424A"/>
                </a:solidFill>
                <a:latin typeface="Libre Caslon Display"/>
              </a:rPr>
              <a:t>Six things, every month</a:t>
            </a:r>
          </a:p>
        </p:txBody>
      </p:sp>
      <p:sp>
        <p:nvSpPr>
          <p:cNvPr id="5" name="Rounded Rectangle 4"/>
          <p:cNvSpPr/>
          <p:nvPr/>
        </p:nvSpPr>
        <p:spPr>
          <a:xfrm>
            <a:off x="685800" y="1700784"/>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3544" y="1947672"/>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ouse.png"/>
          <p:cNvPicPr>
            <a:picLocks noChangeAspect="1"/>
          </p:cNvPicPr>
          <p:nvPr/>
        </p:nvPicPr>
        <p:blipFill>
          <a:blip r:embed="rId2"/>
          <a:stretch>
            <a:fillRect/>
          </a:stretch>
        </p:blipFill>
        <p:spPr>
          <a:xfrm>
            <a:off x="1069848" y="2093976"/>
            <a:ext cx="365760" cy="365760"/>
          </a:xfrm>
          <a:prstGeom prst="rect">
            <a:avLst/>
          </a:prstGeom>
        </p:spPr>
      </p:pic>
      <p:sp>
        <p:nvSpPr>
          <p:cNvPr id="8" name="TextBox 7"/>
          <p:cNvSpPr txBox="1"/>
          <p:nvPr/>
        </p:nvSpPr>
        <p:spPr>
          <a:xfrm>
            <a:off x="1691640" y="1956816"/>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Somewhere to live</a:t>
            </a:r>
          </a:p>
        </p:txBody>
      </p:sp>
      <p:sp>
        <p:nvSpPr>
          <p:cNvPr id="9" name="Rounded Rectangle 8"/>
          <p:cNvSpPr/>
          <p:nvPr/>
        </p:nvSpPr>
        <p:spPr>
          <a:xfrm>
            <a:off x="3349752" y="1700784"/>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87496" y="1947672"/>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eipt.png"/>
          <p:cNvPicPr>
            <a:picLocks noChangeAspect="1"/>
          </p:cNvPicPr>
          <p:nvPr/>
        </p:nvPicPr>
        <p:blipFill>
          <a:blip r:embed="rId3"/>
          <a:stretch>
            <a:fillRect/>
          </a:stretch>
        </p:blipFill>
        <p:spPr>
          <a:xfrm>
            <a:off x="3733799" y="2093976"/>
            <a:ext cx="365760" cy="365760"/>
          </a:xfrm>
          <a:prstGeom prst="rect">
            <a:avLst/>
          </a:prstGeom>
        </p:spPr>
      </p:pic>
      <p:sp>
        <p:nvSpPr>
          <p:cNvPr id="12" name="TextBox 11"/>
          <p:cNvSpPr txBox="1"/>
          <p:nvPr/>
        </p:nvSpPr>
        <p:spPr>
          <a:xfrm>
            <a:off x="4355592" y="1956816"/>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Bills</a:t>
            </a:r>
          </a:p>
        </p:txBody>
      </p:sp>
      <p:sp>
        <p:nvSpPr>
          <p:cNvPr id="13" name="Rounded Rectangle 12"/>
          <p:cNvSpPr/>
          <p:nvPr/>
        </p:nvSpPr>
        <p:spPr>
          <a:xfrm>
            <a:off x="6013704" y="1700784"/>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51447" y="1947672"/>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asket.png"/>
          <p:cNvPicPr>
            <a:picLocks noChangeAspect="1"/>
          </p:cNvPicPr>
          <p:nvPr/>
        </p:nvPicPr>
        <p:blipFill>
          <a:blip r:embed="rId4"/>
          <a:stretch>
            <a:fillRect/>
          </a:stretch>
        </p:blipFill>
        <p:spPr>
          <a:xfrm>
            <a:off x="6397751" y="2093976"/>
            <a:ext cx="365760" cy="365760"/>
          </a:xfrm>
          <a:prstGeom prst="rect">
            <a:avLst/>
          </a:prstGeom>
        </p:spPr>
      </p:pic>
      <p:sp>
        <p:nvSpPr>
          <p:cNvPr id="16" name="TextBox 15"/>
          <p:cNvSpPr txBox="1"/>
          <p:nvPr/>
        </p:nvSpPr>
        <p:spPr>
          <a:xfrm>
            <a:off x="7019543" y="1956816"/>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Food</a:t>
            </a:r>
          </a:p>
        </p:txBody>
      </p:sp>
      <p:sp>
        <p:nvSpPr>
          <p:cNvPr id="17" name="Rounded Rectangle 16"/>
          <p:cNvSpPr/>
          <p:nvPr/>
        </p:nvSpPr>
        <p:spPr>
          <a:xfrm>
            <a:off x="685800" y="3035808"/>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23544" y="3282696"/>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us.png"/>
          <p:cNvPicPr>
            <a:picLocks noChangeAspect="1"/>
          </p:cNvPicPr>
          <p:nvPr/>
        </p:nvPicPr>
        <p:blipFill>
          <a:blip r:embed="rId5"/>
          <a:stretch>
            <a:fillRect/>
          </a:stretch>
        </p:blipFill>
        <p:spPr>
          <a:xfrm>
            <a:off x="1069848" y="3429000"/>
            <a:ext cx="365760" cy="365760"/>
          </a:xfrm>
          <a:prstGeom prst="rect">
            <a:avLst/>
          </a:prstGeom>
        </p:spPr>
      </p:pic>
      <p:sp>
        <p:nvSpPr>
          <p:cNvPr id="20" name="TextBox 19"/>
          <p:cNvSpPr txBox="1"/>
          <p:nvPr/>
        </p:nvSpPr>
        <p:spPr>
          <a:xfrm>
            <a:off x="1691640" y="3291840"/>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Getting around</a:t>
            </a:r>
          </a:p>
        </p:txBody>
      </p:sp>
      <p:sp>
        <p:nvSpPr>
          <p:cNvPr id="21" name="Rounded Rectangle 20"/>
          <p:cNvSpPr/>
          <p:nvPr/>
        </p:nvSpPr>
        <p:spPr>
          <a:xfrm>
            <a:off x="3349752" y="3035808"/>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587496" y="3282696"/>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hone.png"/>
          <p:cNvPicPr>
            <a:picLocks noChangeAspect="1"/>
          </p:cNvPicPr>
          <p:nvPr/>
        </p:nvPicPr>
        <p:blipFill>
          <a:blip r:embed="rId6"/>
          <a:stretch>
            <a:fillRect/>
          </a:stretch>
        </p:blipFill>
        <p:spPr>
          <a:xfrm>
            <a:off x="3733799" y="3429000"/>
            <a:ext cx="365760" cy="365760"/>
          </a:xfrm>
          <a:prstGeom prst="rect">
            <a:avLst/>
          </a:prstGeom>
        </p:spPr>
      </p:pic>
      <p:sp>
        <p:nvSpPr>
          <p:cNvPr id="24" name="TextBox 23"/>
          <p:cNvSpPr txBox="1"/>
          <p:nvPr/>
        </p:nvSpPr>
        <p:spPr>
          <a:xfrm>
            <a:off x="4355592" y="3291840"/>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Phone and data</a:t>
            </a:r>
          </a:p>
        </p:txBody>
      </p:sp>
      <p:sp>
        <p:nvSpPr>
          <p:cNvPr id="25" name="Rounded Rectangle 24"/>
          <p:cNvSpPr/>
          <p:nvPr/>
        </p:nvSpPr>
        <p:spPr>
          <a:xfrm>
            <a:off x="6013704" y="3035808"/>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51447" y="3282696"/>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ins.png"/>
          <p:cNvPicPr>
            <a:picLocks noChangeAspect="1"/>
          </p:cNvPicPr>
          <p:nvPr/>
        </p:nvPicPr>
        <p:blipFill>
          <a:blip r:embed="rId7"/>
          <a:stretch>
            <a:fillRect/>
          </a:stretch>
        </p:blipFill>
        <p:spPr>
          <a:xfrm>
            <a:off x="6397751" y="3429000"/>
            <a:ext cx="365760" cy="365760"/>
          </a:xfrm>
          <a:prstGeom prst="rect">
            <a:avLst/>
          </a:prstGeom>
        </p:spPr>
      </p:pic>
      <p:sp>
        <p:nvSpPr>
          <p:cNvPr id="28" name="TextBox 27"/>
          <p:cNvSpPr txBox="1"/>
          <p:nvPr/>
        </p:nvSpPr>
        <p:spPr>
          <a:xfrm>
            <a:off x="7019543" y="3291840"/>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Something saved</a:t>
            </a:r>
          </a:p>
        </p:txBody>
      </p:sp>
      <p:sp>
        <p:nvSpPr>
          <p:cNvPr id="29" name="TextBox 28"/>
          <p:cNvSpPr txBox="1"/>
          <p:nvPr/>
        </p:nvSpPr>
        <p:spPr>
          <a:xfrm>
            <a:off x="685800" y="4334256"/>
            <a:ext cx="7772400" cy="292608"/>
          </a:xfrm>
          <a:prstGeom prst="rect">
            <a:avLst/>
          </a:prstGeom>
          <a:noFill/>
        </p:spPr>
        <p:txBody>
          <a:bodyPr wrap="square" lIns="0" rIns="0" tIns="0" bIns="0" anchor="t">
            <a:spAutoFit/>
          </a:bodyPr>
          <a:lstStyle/>
          <a:p>
            <a:pPr algn="l">
              <a:lnSpc>
                <a:spcPct val="125000"/>
              </a:lnSpc>
              <a:spcAft>
                <a:spcPts val="0"/>
              </a:spcAft>
            </a:pPr>
            <a:r>
              <a:rPr sz="1250" b="0" i="1">
                <a:solidFill>
                  <a:srgbClr val="6B7681"/>
                </a:solidFill>
                <a:latin typeface="Karla"/>
              </a:rPr>
              <a:t>And one thing that is not a bill. Nobody sticks to a month with nothing good in it.</a:t>
            </a:r>
          </a:p>
        </p:txBody>
      </p:sp>
      <p:pic>
        <p:nvPicPr>
          <p:cNvPr id="30" name="Picture 29" descr="logo-master.png"/>
          <p:cNvPicPr>
            <a:picLocks noChangeAspect="1"/>
          </p:cNvPicPr>
          <p:nvPr/>
        </p:nvPicPr>
        <p:blipFill>
          <a:blip r:embed="rId8"/>
          <a:stretch>
            <a:fillRect/>
          </a:stretch>
        </p:blipFill>
        <p:spPr>
          <a:xfrm>
            <a:off x="384048" y="4722876"/>
            <a:ext cx="158374" cy="182880"/>
          </a:xfrm>
          <a:prstGeom prst="rect">
            <a:avLst/>
          </a:prstGeom>
        </p:spPr>
      </p:pic>
      <p:sp>
        <p:nvSpPr>
          <p:cNvPr id="31" name="TextBox 30"/>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32" name="TextBox 31"/>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FIRST OF THE MONTH</a:t>
            </a:r>
          </a:p>
        </p:txBody>
      </p:sp>
      <p:sp>
        <p:nvSpPr>
          <p:cNvPr id="4" name="Rounded Rectangle 3"/>
          <p:cNvSpPr/>
          <p:nvPr/>
        </p:nvSpPr>
        <p:spPr>
          <a:xfrm>
            <a:off x="6967728" y="530352"/>
            <a:ext cx="149047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67728" y="589788"/>
            <a:ext cx="149047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YOUR TURN</a:t>
            </a:r>
          </a:p>
        </p:txBody>
      </p:sp>
      <p:sp>
        <p:nvSpPr>
          <p:cNvPr id="6" name="TextBox 5"/>
          <p:cNvSpPr txBox="1"/>
          <p:nvPr/>
        </p:nvSpPr>
        <p:spPr>
          <a:xfrm>
            <a:off x="685800" y="859536"/>
            <a:ext cx="7772400" cy="914400"/>
          </a:xfrm>
          <a:prstGeom prst="rect">
            <a:avLst/>
          </a:prstGeom>
          <a:noFill/>
        </p:spPr>
        <p:txBody>
          <a:bodyPr wrap="square" lIns="0" rIns="0" tIns="0" bIns="0" anchor="t">
            <a:spAutoFit/>
          </a:bodyPr>
          <a:lstStyle/>
          <a:p>
            <a:pPr algn="ctr">
              <a:lnSpc>
                <a:spcPct val="110000"/>
              </a:lnSpc>
              <a:spcAft>
                <a:spcPts val="0"/>
              </a:spcAft>
            </a:pPr>
            <a:r>
              <a:rPr sz="4200" b="1" i="0">
                <a:solidFill>
                  <a:srgbClr val="FFFDF7"/>
                </a:solidFill>
                <a:latin typeface="Libre Caslon Display"/>
              </a:rPr>
              <a:t>Spend it</a:t>
            </a:r>
          </a:p>
        </p:txBody>
      </p:sp>
      <p:sp>
        <p:nvSpPr>
          <p:cNvPr id="7" name="Rounded Rectangle 6"/>
          <p:cNvSpPr/>
          <p:nvPr/>
        </p:nvSpPr>
        <p:spPr>
          <a:xfrm>
            <a:off x="1554480" y="1956816"/>
            <a:ext cx="6035040" cy="548640"/>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74519" y="2039112"/>
            <a:ext cx="5394960" cy="384048"/>
          </a:xfrm>
          <a:prstGeom prst="rect">
            <a:avLst/>
          </a:prstGeom>
          <a:noFill/>
        </p:spPr>
        <p:txBody>
          <a:bodyPr wrap="square" lIns="0" rIns="0" tIns="0" bIns="0" anchor="ctr">
            <a:spAutoFit/>
          </a:bodyPr>
          <a:lstStyle/>
          <a:p>
            <a:pPr algn="l">
              <a:lnSpc>
                <a:spcPct val="120000"/>
              </a:lnSpc>
              <a:spcAft>
                <a:spcPts val="0"/>
              </a:spcAft>
            </a:pPr>
            <a:r>
              <a:rPr sz="1400" b="0" i="0">
                <a:solidFill>
                  <a:srgbClr val="2F5470"/>
                </a:solidFill>
                <a:latin typeface="Karla"/>
              </a:rPr>
              <a:t>Every category covered. Nothing left blank.</a:t>
            </a:r>
          </a:p>
        </p:txBody>
      </p:sp>
      <p:sp>
        <p:nvSpPr>
          <p:cNvPr id="9" name="Rounded Rectangle 8"/>
          <p:cNvSpPr/>
          <p:nvPr/>
        </p:nvSpPr>
        <p:spPr>
          <a:xfrm>
            <a:off x="1554480" y="2615184"/>
            <a:ext cx="6035040" cy="548640"/>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2697480"/>
            <a:ext cx="5394960" cy="384048"/>
          </a:xfrm>
          <a:prstGeom prst="rect">
            <a:avLst/>
          </a:prstGeom>
          <a:noFill/>
        </p:spPr>
        <p:txBody>
          <a:bodyPr wrap="square" lIns="0" rIns="0" tIns="0" bIns="0" anchor="ctr">
            <a:spAutoFit/>
          </a:bodyPr>
          <a:lstStyle/>
          <a:p>
            <a:pPr algn="l">
              <a:lnSpc>
                <a:spcPct val="120000"/>
              </a:lnSpc>
              <a:spcAft>
                <a:spcPts val="0"/>
              </a:spcAft>
            </a:pPr>
            <a:r>
              <a:rPr sz="1400" b="0" i="0">
                <a:solidFill>
                  <a:srgbClr val="2F5470"/>
                </a:solidFill>
                <a:latin typeface="Karla"/>
              </a:rPr>
              <a:t>At least £50 put away, or an honest reason why not.</a:t>
            </a:r>
          </a:p>
        </p:txBody>
      </p:sp>
      <p:sp>
        <p:nvSpPr>
          <p:cNvPr id="11" name="Rounded Rectangle 10"/>
          <p:cNvSpPr/>
          <p:nvPr/>
        </p:nvSpPr>
        <p:spPr>
          <a:xfrm>
            <a:off x="1554480" y="3273552"/>
            <a:ext cx="6035040" cy="548640"/>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74519" y="3355848"/>
            <a:ext cx="5394960" cy="384048"/>
          </a:xfrm>
          <a:prstGeom prst="rect">
            <a:avLst/>
          </a:prstGeom>
          <a:noFill/>
        </p:spPr>
        <p:txBody>
          <a:bodyPr wrap="square" lIns="0" rIns="0" tIns="0" bIns="0" anchor="ctr">
            <a:spAutoFit/>
          </a:bodyPr>
          <a:lstStyle/>
          <a:p>
            <a:pPr algn="l">
              <a:lnSpc>
                <a:spcPct val="120000"/>
              </a:lnSpc>
              <a:spcAft>
                <a:spcPts val="0"/>
              </a:spcAft>
            </a:pPr>
            <a:r>
              <a:rPr sz="1400" b="0" i="0">
                <a:solidFill>
                  <a:srgbClr val="2F5470"/>
                </a:solidFill>
                <a:latin typeface="Karla"/>
              </a:rPr>
              <a:t>One thing in there that is not a bill.</a:t>
            </a:r>
          </a:p>
        </p:txBody>
      </p:sp>
      <p:sp>
        <p:nvSpPr>
          <p:cNvPr id="13" name="TextBox 12"/>
          <p:cNvSpPr txBox="1"/>
          <p:nvPr/>
        </p:nvSpPr>
        <p:spPr>
          <a:xfrm>
            <a:off x="1280160" y="4059936"/>
            <a:ext cx="6583680" cy="310896"/>
          </a:xfrm>
          <a:prstGeom prst="rect">
            <a:avLst/>
          </a:prstGeom>
          <a:noFill/>
        </p:spPr>
        <p:txBody>
          <a:bodyPr wrap="square" lIns="0" rIns="0" tIns="0" bIns="0" anchor="t">
            <a:spAutoFit/>
          </a:bodyPr>
          <a:lstStyle/>
          <a:p>
            <a:pPr algn="ctr">
              <a:lnSpc>
                <a:spcPct val="125000"/>
              </a:lnSpc>
              <a:spcAft>
                <a:spcPts val="0"/>
              </a:spcAft>
            </a:pPr>
            <a:r>
              <a:rPr sz="1300" b="0" i="1">
                <a:solidFill>
                  <a:srgbClr val="C3D6E2"/>
                </a:solidFill>
                <a:latin typeface="Karla"/>
              </a:rPr>
              <a:t>Keep whatever is left. You are going to need it.</a:t>
            </a:r>
          </a:p>
        </p:txBody>
      </p:sp>
      <p:pic>
        <p:nvPicPr>
          <p:cNvPr id="14" name="Picture 13" descr="logo-master.png"/>
          <p:cNvPicPr>
            <a:picLocks noChangeAspect="1"/>
          </p:cNvPicPr>
          <p:nvPr/>
        </p:nvPicPr>
        <p:blipFill>
          <a:blip r:embed="rId2"/>
          <a:stretch>
            <a:fillRect/>
          </a:stretch>
        </p:blipFill>
        <p:spPr>
          <a:xfrm>
            <a:off x="384048" y="4722876"/>
            <a:ext cx="158374" cy="182880"/>
          </a:xfrm>
          <a:prstGeom prst="rect">
            <a:avLst/>
          </a:prstGeom>
        </p:spPr>
      </p:pic>
      <p:sp>
        <p:nvSpPr>
          <p:cNvPr id="15" name="TextBox 14"/>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6" name="TextBox 15"/>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077456" y="530352"/>
            <a:ext cx="1380744" cy="347472"/>
          </a:xfrm>
          <a:prstGeom prst="roundRect">
            <a:avLst>
              <a:gd name="adj" fmla="val 50000"/>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77456" y="589788"/>
            <a:ext cx="1380744"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OPTIONAL</a:t>
            </a:r>
          </a:p>
        </p:txBody>
      </p:sp>
      <p:sp>
        <p:nvSpPr>
          <p:cNvPr id="5" name="TextBox 4"/>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IF YOUR TEACHER HAS SET IT UP</a:t>
            </a:r>
          </a:p>
        </p:txBody>
      </p:sp>
      <p:sp>
        <p:nvSpPr>
          <p:cNvPr id="6" name="TextBox 5"/>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200" b="1" i="0">
                <a:solidFill>
                  <a:srgbClr val="39424A"/>
                </a:solidFill>
                <a:latin typeface="Libre Caslon Display"/>
              </a:rPr>
              <a:t>The shop is open</a:t>
            </a:r>
          </a:p>
        </p:txBody>
      </p:sp>
      <p:sp>
        <p:nvSpPr>
          <p:cNvPr id="7" name="TextBox 6"/>
          <p:cNvSpPr txBox="1"/>
          <p:nvPr/>
        </p:nvSpPr>
        <p:spPr>
          <a:xfrm>
            <a:off x="685800" y="1517904"/>
            <a:ext cx="7772400" cy="292608"/>
          </a:xfrm>
          <a:prstGeom prst="rect">
            <a:avLst/>
          </a:prstGeom>
          <a:noFill/>
        </p:spPr>
        <p:txBody>
          <a:bodyPr wrap="square" lIns="0" rIns="0" tIns="0" bIns="0" anchor="t">
            <a:spAutoFit/>
          </a:bodyPr>
          <a:lstStyle/>
          <a:p>
            <a:pPr algn="l">
              <a:lnSpc>
                <a:spcPct val="125000"/>
              </a:lnSpc>
              <a:spcAft>
                <a:spcPts val="0"/>
              </a:spcAft>
            </a:pPr>
            <a:r>
              <a:rPr sz="1300" b="0" i="1">
                <a:solidFill>
                  <a:srgbClr val="6B7681"/>
                </a:solidFill>
                <a:latin typeface="Karla"/>
              </a:rPr>
              <a:t>Twelve things you might want. Some are one payment, some every month.</a:t>
            </a:r>
          </a:p>
        </p:txBody>
      </p:sp>
      <p:sp>
        <p:nvSpPr>
          <p:cNvPr id="8" name="Rounded Rectangle 7"/>
          <p:cNvSpPr/>
          <p:nvPr/>
        </p:nvSpPr>
        <p:spPr>
          <a:xfrm>
            <a:off x="685800" y="1956816"/>
            <a:ext cx="2444496" cy="96926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103120"/>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Trainers</a:t>
            </a:r>
          </a:p>
        </p:txBody>
      </p:sp>
      <p:sp>
        <p:nvSpPr>
          <p:cNvPr id="10" name="TextBox 9"/>
          <p:cNvSpPr txBox="1"/>
          <p:nvPr/>
        </p:nvSpPr>
        <p:spPr>
          <a:xfrm>
            <a:off x="868680" y="2487168"/>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£85</a:t>
            </a:r>
          </a:p>
        </p:txBody>
      </p:sp>
      <p:sp>
        <p:nvSpPr>
          <p:cNvPr id="11" name="Rounded Rectangle 10"/>
          <p:cNvSpPr/>
          <p:nvPr/>
        </p:nvSpPr>
        <p:spPr>
          <a:xfrm>
            <a:off x="3349752" y="1956816"/>
            <a:ext cx="2444496" cy="96926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32632" y="2103120"/>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Smart watch</a:t>
            </a:r>
          </a:p>
        </p:txBody>
      </p:sp>
      <p:sp>
        <p:nvSpPr>
          <p:cNvPr id="13" name="TextBox 12"/>
          <p:cNvSpPr txBox="1"/>
          <p:nvPr/>
        </p:nvSpPr>
        <p:spPr>
          <a:xfrm>
            <a:off x="3532632" y="2487168"/>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£190</a:t>
            </a:r>
          </a:p>
        </p:txBody>
      </p:sp>
      <p:sp>
        <p:nvSpPr>
          <p:cNvPr id="14" name="Rounded Rectangle 13"/>
          <p:cNvSpPr/>
          <p:nvPr/>
        </p:nvSpPr>
        <p:spPr>
          <a:xfrm>
            <a:off x="6013704" y="1956816"/>
            <a:ext cx="2444496" cy="96926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96584" y="2103120"/>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Concert ticket</a:t>
            </a:r>
          </a:p>
        </p:txBody>
      </p:sp>
      <p:sp>
        <p:nvSpPr>
          <p:cNvPr id="16" name="TextBox 15"/>
          <p:cNvSpPr txBox="1"/>
          <p:nvPr/>
        </p:nvSpPr>
        <p:spPr>
          <a:xfrm>
            <a:off x="6196584" y="2487168"/>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£65</a:t>
            </a:r>
          </a:p>
        </p:txBody>
      </p:sp>
      <p:sp>
        <p:nvSpPr>
          <p:cNvPr id="17" name="Rounded Rectangle 16"/>
          <p:cNvSpPr/>
          <p:nvPr/>
        </p:nvSpPr>
        <p:spPr>
          <a:xfrm>
            <a:off x="685800" y="3090672"/>
            <a:ext cx="2444496" cy="96926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236976"/>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Gaming subscription</a:t>
            </a:r>
          </a:p>
        </p:txBody>
      </p:sp>
      <p:sp>
        <p:nvSpPr>
          <p:cNvPr id="19" name="TextBox 18"/>
          <p:cNvSpPr txBox="1"/>
          <p:nvPr/>
        </p:nvSpPr>
        <p:spPr>
          <a:xfrm>
            <a:off x="868680" y="3621024"/>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£11 a month</a:t>
            </a:r>
          </a:p>
        </p:txBody>
      </p:sp>
      <p:sp>
        <p:nvSpPr>
          <p:cNvPr id="20" name="Rounded Rectangle 19"/>
          <p:cNvSpPr/>
          <p:nvPr/>
        </p:nvSpPr>
        <p:spPr>
          <a:xfrm>
            <a:off x="3349752" y="3090672"/>
            <a:ext cx="2444496" cy="96926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32632" y="3236976"/>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Coffee before work</a:t>
            </a:r>
          </a:p>
        </p:txBody>
      </p:sp>
      <p:sp>
        <p:nvSpPr>
          <p:cNvPr id="22" name="TextBox 21"/>
          <p:cNvSpPr txBox="1"/>
          <p:nvPr/>
        </p:nvSpPr>
        <p:spPr>
          <a:xfrm>
            <a:off x="3532632" y="3621024"/>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£48 a month</a:t>
            </a:r>
          </a:p>
        </p:txBody>
      </p:sp>
      <p:sp>
        <p:nvSpPr>
          <p:cNvPr id="23" name="Rounded Rectangle 22"/>
          <p:cNvSpPr/>
          <p:nvPr/>
        </p:nvSpPr>
        <p:spPr>
          <a:xfrm>
            <a:off x="6013704" y="3090672"/>
            <a:ext cx="2444496" cy="96926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6584" y="3236976"/>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Weekend away</a:t>
            </a:r>
          </a:p>
        </p:txBody>
      </p:sp>
      <p:sp>
        <p:nvSpPr>
          <p:cNvPr id="25" name="TextBox 24"/>
          <p:cNvSpPr txBox="1"/>
          <p:nvPr/>
        </p:nvSpPr>
        <p:spPr>
          <a:xfrm>
            <a:off x="6196584" y="3621024"/>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£160</a:t>
            </a:r>
          </a:p>
        </p:txBody>
      </p:sp>
      <p:sp>
        <p:nvSpPr>
          <p:cNvPr id="26" name="TextBox 25"/>
          <p:cNvSpPr txBox="1"/>
          <p:nvPr/>
        </p:nvSpPr>
        <p:spPr>
          <a:xfrm>
            <a:off x="685800" y="4224528"/>
            <a:ext cx="7772400" cy="292608"/>
          </a:xfrm>
          <a:prstGeom prst="rect">
            <a:avLst/>
          </a:prstGeom>
          <a:noFill/>
        </p:spPr>
        <p:txBody>
          <a:bodyPr wrap="square" lIns="0" rIns="0" tIns="0" bIns="0" anchor="t">
            <a:spAutoFit/>
          </a:bodyPr>
          <a:lstStyle/>
          <a:p>
            <a:pPr algn="l">
              <a:lnSpc>
                <a:spcPct val="125000"/>
              </a:lnSpc>
              <a:spcAft>
                <a:spcPts val="0"/>
              </a:spcAft>
            </a:pPr>
            <a:r>
              <a:rPr sz="1250" b="1" i="0">
                <a:solidFill>
                  <a:srgbClr val="2F5470"/>
                </a:solidFill>
                <a:latin typeface="Karla"/>
              </a:rPr>
              <a:t>Six more on the cards. Everything you buy now is money you will not have later.</a:t>
            </a:r>
          </a:p>
        </p:txBody>
      </p:sp>
      <p:pic>
        <p:nvPicPr>
          <p:cNvPr id="27" name="Picture 26" descr="logo-master.png"/>
          <p:cNvPicPr>
            <a:picLocks noChangeAspect="1"/>
          </p:cNvPicPr>
          <p:nvPr/>
        </p:nvPicPr>
        <p:blipFill>
          <a:blip r:embed="rId2"/>
          <a:stretch>
            <a:fillRect/>
          </a:stretch>
        </p:blipFill>
        <p:spPr>
          <a:xfrm>
            <a:off x="384048" y="4722876"/>
            <a:ext cx="158374" cy="182880"/>
          </a:xfrm>
          <a:prstGeom prst="rect">
            <a:avLst/>
          </a:prstGeom>
        </p:spPr>
      </p:pic>
      <p:sp>
        <p:nvSpPr>
          <p:cNvPr id="28" name="TextBox 2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29" name="TextBox 2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SECOND</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1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Your landlord renews the contract.</a:t>
            </a:r>
            <a:br/>
            <a:r>
              <a:rPr sz="2500" b="1" i="0">
                <a:solidFill>
                  <a:srgbClr val="FFFDF7"/>
                </a:solidFill>
                <a:latin typeface="Libre Caslon Display"/>
              </a:rPr>
              <a:t>The rent is going up.</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Not by much, they say. Sixty pounds. From this month, and every month after it.</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Rent up £60, from now on</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FIFTH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2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 drop your phone on the way out</a:t>
            </a:r>
            <a:br/>
            <a:r>
              <a:rPr sz="2500" b="1" i="0">
                <a:solidFill>
                  <a:srgbClr val="FFFDF7"/>
                </a:solidFill>
                <a:latin typeface="Libre Caslon Display"/>
              </a:rPr>
              <a:t>and the screen goes.</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It still works. You can live with a cracked screen for a while. People do.</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£120, or live with it</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SEVENTH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3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Your card gets declined at the till.</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There is a subscription you forgot you signed up to, and it has been going out since August. Nobody reminded you because nobody had to.</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£14 a month, and £42 already gone</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NINTH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4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 wake up and you can see</a:t>
            </a:r>
            <a:br/>
            <a:r>
              <a:rPr sz="2500" b="1" i="0">
                <a:solidFill>
                  <a:srgbClr val="FFFDF7"/>
                </a:solidFill>
                <a:latin typeface="Libre Caslon Display"/>
              </a:rPr>
              <a:t>your own breath. The hot water has gone.</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The landlord will fix it. Eventually. Meanwhile there is a plug-in heater that eats electricity, and a launderette three streets away.</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Hand back £150</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TWELFTH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5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The bus route changes.</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The one you relied on no longer runs that way, and the only thing that does is more expensive and leaves earlier.</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Getting around costs £55 more</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FOURTEENTH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6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Your manager catches you on the way out.</a:t>
            </a:r>
            <a:br/>
            <a:r>
              <a:rPr sz="2500" b="1" i="0">
                <a:solidFill>
                  <a:srgbClr val="FFFDF7"/>
                </a:solidFill>
                <a:latin typeface="Libre Caslon Display"/>
              </a:rPr>
              <a:t>“Can we have a quick word?”</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Nothing personal. It is quiet, everyone is losing hours this month, it will pick up. Your rent has not heard about any of this.</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Hand back £200</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SIXTEENTH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7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The car will not pass its next check</a:t>
            </a:r>
            <a:br/>
            <a:r>
              <a:rPr sz="2500" b="1" i="0">
                <a:solidFill>
                  <a:srgbClr val="FFFDF7"/>
                </a:solidFill>
                <a:latin typeface="Libre Caslon Display"/>
              </a:rPr>
              <a:t>without work.</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Two tyres and a repair. If you do not do it you cannot drive it, and for some of you that is how you get to work.</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£280, or no car</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NINETEENTH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8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The thing you bought on finance</a:t>
            </a:r>
            <a:br/>
            <a:r>
              <a:rPr sz="2500" b="1" i="0">
                <a:solidFill>
                  <a:srgbClr val="FFFDF7"/>
                </a:solidFill>
                <a:latin typeface="Libre Caslon Display"/>
              </a:rPr>
              <a:t>costs more than it said on the label.</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That is interest. You are paying for the privilege of having had it early, and you still owe most of it.</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£45 this month. £320 still owed</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TWENTY-FIRST</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9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A message at eleven at night.</a:t>
            </a:r>
            <a:br/>
            <a:r>
              <a:rPr sz="2500" b="1" i="0">
                <a:solidFill>
                  <a:srgbClr val="FFFDF7"/>
                </a:solidFill>
                <a:latin typeface="Libre Caslon Display"/>
              </a:rPr>
              <a:t>Your best friend turns eighteen,</a:t>
            </a:r>
            <a:br/>
            <a:r>
              <a:rPr sz="2500" b="1" i="0">
                <a:solidFill>
                  <a:srgbClr val="FFFDF7"/>
                </a:solidFill>
                <a:latin typeface="Libre Caslon Display"/>
              </a:rPr>
              <a:t>and it is abroad.</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Everyone is going. They asked you first, before anybody else, and they are waiting for you to reply. You can say no. People do say no.</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£240, or an awkward conversation</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TWENTY-FOURTH</a:t>
            </a:r>
          </a:p>
        </p:txBody>
      </p:sp>
      <p:sp>
        <p:nvSpPr>
          <p:cNvPr id="4" name="Rounded Rectangle 3"/>
          <p:cNvSpPr/>
          <p:nvPr/>
        </p:nvSpPr>
        <p:spPr>
          <a:xfrm>
            <a:off x="6592824" y="530352"/>
            <a:ext cx="1865376"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92824" y="589788"/>
            <a:ext cx="1865376"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10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 are offered overtime.</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Two of your weekends, gone. The money is real and so are the weekends. Nobody else can decide this one for you.</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Take £180, lose two weekends</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7EA6BD"/>
                </a:solidFill>
                <a:latin typeface="Karla"/>
              </a:rPr>
              <a:t>THE TWENTY-SEVENTH</a:t>
            </a:r>
          </a:p>
        </p:txBody>
      </p:sp>
      <p:sp>
        <p:nvSpPr>
          <p:cNvPr id="4" name="TextBox 3"/>
          <p:cNvSpPr txBox="1"/>
          <p:nvPr/>
        </p:nvSpPr>
        <p:spPr>
          <a:xfrm>
            <a:off x="685800" y="841248"/>
            <a:ext cx="7772400" cy="640080"/>
          </a:xfrm>
          <a:prstGeom prst="rect">
            <a:avLst/>
          </a:prstGeom>
          <a:noFill/>
        </p:spPr>
        <p:txBody>
          <a:bodyPr wrap="square" lIns="0" rIns="0" tIns="0" bIns="0" anchor="t">
            <a:spAutoFit/>
          </a:bodyPr>
          <a:lstStyle/>
          <a:p>
            <a:pPr algn="ctr">
              <a:lnSpc>
                <a:spcPct val="105000"/>
              </a:lnSpc>
              <a:spcAft>
                <a:spcPts val="0"/>
              </a:spcAft>
            </a:pPr>
            <a:r>
              <a:rPr sz="3200" b="1" i="0">
                <a:solidFill>
                  <a:srgbClr val="39424A"/>
                </a:solidFill>
                <a:latin typeface="Libre Caslon Display"/>
              </a:rPr>
              <a:t>Count what is left</a:t>
            </a:r>
          </a:p>
        </p:txBody>
      </p:sp>
      <p:sp>
        <p:nvSpPr>
          <p:cNvPr id="5" name="TextBox 4"/>
          <p:cNvSpPr txBox="1"/>
          <p:nvPr/>
        </p:nvSpPr>
        <p:spPr>
          <a:xfrm>
            <a:off x="1097280" y="1591056"/>
            <a:ext cx="6949440" cy="640080"/>
          </a:xfrm>
          <a:prstGeom prst="rect">
            <a:avLst/>
          </a:prstGeom>
          <a:noFill/>
        </p:spPr>
        <p:txBody>
          <a:bodyPr wrap="square" lIns="0" rIns="0" tIns="0" bIns="0" anchor="t">
            <a:spAutoFit/>
          </a:bodyPr>
          <a:lstStyle/>
          <a:p>
            <a:pPr algn="ctr">
              <a:lnSpc>
                <a:spcPct val="138000"/>
              </a:lnSpc>
              <a:spcAft>
                <a:spcPts val="0"/>
              </a:spcAft>
            </a:pPr>
            <a:r>
              <a:rPr sz="1500" b="0" i="0">
                <a:solidFill>
                  <a:srgbClr val="6B7681"/>
                </a:solidFill>
                <a:latin typeface="Karla"/>
              </a:rPr>
              <a:t>One day to go. Put what you have left in the middle of the table where everybody can see it.</a:t>
            </a:r>
          </a:p>
        </p:txBody>
      </p:sp>
      <p:sp>
        <p:nvSpPr>
          <p:cNvPr id="6" name="Rounded Rectangle 5"/>
          <p:cNvSpPr/>
          <p:nvPr/>
        </p:nvSpPr>
        <p:spPr>
          <a:xfrm>
            <a:off x="1051560" y="2377440"/>
            <a:ext cx="7040880" cy="566928"/>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44168" y="2468880"/>
            <a:ext cx="384048" cy="38404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44168" y="2468880"/>
            <a:ext cx="384048" cy="384048"/>
          </a:xfrm>
          <a:prstGeom prst="rect">
            <a:avLst/>
          </a:prstGeom>
          <a:noFill/>
        </p:spPr>
        <p:txBody>
          <a:bodyPr wrap="square" lIns="0" rIns="0" tIns="0" bIns="0" anchor="ctr">
            <a:spAutoFit/>
          </a:bodyPr>
          <a:lstStyle/>
          <a:p>
            <a:pPr algn="ctr">
              <a:lnSpc>
                <a:spcPct val="125000"/>
              </a:lnSpc>
              <a:spcAft>
                <a:spcPts val="0"/>
              </a:spcAft>
            </a:pPr>
            <a:r>
              <a:rPr sz="1300" b="1" i="0">
                <a:solidFill>
                  <a:srgbClr val="FFFDF7"/>
                </a:solidFill>
                <a:latin typeface="Libre Caslon Display"/>
              </a:rPr>
              <a:t>1</a:t>
            </a:r>
          </a:p>
        </p:txBody>
      </p:sp>
      <p:sp>
        <p:nvSpPr>
          <p:cNvPr id="9" name="TextBox 8"/>
          <p:cNvSpPr txBox="1"/>
          <p:nvPr/>
        </p:nvSpPr>
        <p:spPr>
          <a:xfrm>
            <a:off x="1920240" y="2432304"/>
            <a:ext cx="5852160" cy="457200"/>
          </a:xfrm>
          <a:prstGeom prst="rect">
            <a:avLst/>
          </a:prstGeom>
          <a:noFill/>
        </p:spPr>
        <p:txBody>
          <a:bodyPr wrap="square" lIns="0" rIns="0" tIns="0" bIns="0" anchor="ctr">
            <a:spAutoFit/>
          </a:bodyPr>
          <a:lstStyle/>
          <a:p>
            <a:pPr algn="l">
              <a:lnSpc>
                <a:spcPct val="124000"/>
              </a:lnSpc>
              <a:spcAft>
                <a:spcPts val="0"/>
              </a:spcAft>
            </a:pPr>
            <a:r>
              <a:rPr sz="1400" b="0" i="0">
                <a:solidFill>
                  <a:srgbClr val="39424A"/>
                </a:solidFill>
                <a:latin typeface="Karla"/>
              </a:rPr>
              <a:t>What did you cut first, and why that?</a:t>
            </a:r>
          </a:p>
        </p:txBody>
      </p:sp>
      <p:sp>
        <p:nvSpPr>
          <p:cNvPr id="10" name="Rounded Rectangle 9"/>
          <p:cNvSpPr/>
          <p:nvPr/>
        </p:nvSpPr>
        <p:spPr>
          <a:xfrm>
            <a:off x="1051560" y="3035808"/>
            <a:ext cx="7040880" cy="566928"/>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44168" y="3127248"/>
            <a:ext cx="384048" cy="38404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44168" y="3127248"/>
            <a:ext cx="384048" cy="384048"/>
          </a:xfrm>
          <a:prstGeom prst="rect">
            <a:avLst/>
          </a:prstGeom>
          <a:noFill/>
        </p:spPr>
        <p:txBody>
          <a:bodyPr wrap="square" lIns="0" rIns="0" tIns="0" bIns="0" anchor="ctr">
            <a:spAutoFit/>
          </a:bodyPr>
          <a:lstStyle/>
          <a:p>
            <a:pPr algn="ctr">
              <a:lnSpc>
                <a:spcPct val="125000"/>
              </a:lnSpc>
              <a:spcAft>
                <a:spcPts val="0"/>
              </a:spcAft>
            </a:pPr>
            <a:r>
              <a:rPr sz="1300" b="1" i="0">
                <a:solidFill>
                  <a:srgbClr val="FFFDF7"/>
                </a:solidFill>
                <a:latin typeface="Libre Caslon Display"/>
              </a:rPr>
              <a:t>2</a:t>
            </a:r>
          </a:p>
        </p:txBody>
      </p:sp>
      <p:sp>
        <p:nvSpPr>
          <p:cNvPr id="13" name="TextBox 12"/>
          <p:cNvSpPr txBox="1"/>
          <p:nvPr/>
        </p:nvSpPr>
        <p:spPr>
          <a:xfrm>
            <a:off x="1920240" y="3090672"/>
            <a:ext cx="5852160" cy="457200"/>
          </a:xfrm>
          <a:prstGeom prst="rect">
            <a:avLst/>
          </a:prstGeom>
          <a:noFill/>
        </p:spPr>
        <p:txBody>
          <a:bodyPr wrap="square" lIns="0" rIns="0" tIns="0" bIns="0" anchor="ctr">
            <a:spAutoFit/>
          </a:bodyPr>
          <a:lstStyle/>
          <a:p>
            <a:pPr algn="l">
              <a:lnSpc>
                <a:spcPct val="124000"/>
              </a:lnSpc>
              <a:spcAft>
                <a:spcPts val="0"/>
              </a:spcAft>
            </a:pPr>
            <a:r>
              <a:rPr sz="1400" b="0" i="0">
                <a:solidFill>
                  <a:srgbClr val="39424A"/>
                </a:solidFill>
                <a:latin typeface="Karla"/>
              </a:rPr>
              <a:t>What did you refuse to cut, even when it got tight?</a:t>
            </a:r>
          </a:p>
        </p:txBody>
      </p:sp>
      <p:sp>
        <p:nvSpPr>
          <p:cNvPr id="14" name="Rounded Rectangle 13"/>
          <p:cNvSpPr/>
          <p:nvPr/>
        </p:nvSpPr>
        <p:spPr>
          <a:xfrm>
            <a:off x="1051560" y="3694176"/>
            <a:ext cx="7040880" cy="566928"/>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44168" y="3785615"/>
            <a:ext cx="384048" cy="38404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44168" y="3785615"/>
            <a:ext cx="384048" cy="384048"/>
          </a:xfrm>
          <a:prstGeom prst="rect">
            <a:avLst/>
          </a:prstGeom>
          <a:noFill/>
        </p:spPr>
        <p:txBody>
          <a:bodyPr wrap="square" lIns="0" rIns="0" tIns="0" bIns="0" anchor="ctr">
            <a:spAutoFit/>
          </a:bodyPr>
          <a:lstStyle/>
          <a:p>
            <a:pPr algn="ctr">
              <a:lnSpc>
                <a:spcPct val="125000"/>
              </a:lnSpc>
              <a:spcAft>
                <a:spcPts val="0"/>
              </a:spcAft>
            </a:pPr>
            <a:r>
              <a:rPr sz="1300" b="1" i="0">
                <a:solidFill>
                  <a:srgbClr val="FFFDF7"/>
                </a:solidFill>
                <a:latin typeface="Libre Caslon Display"/>
              </a:rPr>
              <a:t>3</a:t>
            </a:r>
          </a:p>
        </p:txBody>
      </p:sp>
      <p:sp>
        <p:nvSpPr>
          <p:cNvPr id="17" name="TextBox 16"/>
          <p:cNvSpPr txBox="1"/>
          <p:nvPr/>
        </p:nvSpPr>
        <p:spPr>
          <a:xfrm>
            <a:off x="1920240" y="3749039"/>
            <a:ext cx="5852160" cy="457200"/>
          </a:xfrm>
          <a:prstGeom prst="rect">
            <a:avLst/>
          </a:prstGeom>
          <a:noFill/>
        </p:spPr>
        <p:txBody>
          <a:bodyPr wrap="square" lIns="0" rIns="0" tIns="0" bIns="0" anchor="ctr">
            <a:spAutoFit/>
          </a:bodyPr>
          <a:lstStyle/>
          <a:p>
            <a:pPr algn="l">
              <a:lnSpc>
                <a:spcPct val="124000"/>
              </a:lnSpc>
              <a:spcAft>
                <a:spcPts val="0"/>
              </a:spcAft>
            </a:pPr>
            <a:r>
              <a:rPr sz="1400" b="0" i="0">
                <a:solidFill>
                  <a:srgbClr val="39424A"/>
                </a:solidFill>
                <a:latin typeface="Karla"/>
              </a:rPr>
              <a:t>Did you keep the money you said you would save? Honestly?</a:t>
            </a:r>
          </a:p>
        </p:txBody>
      </p:sp>
      <p:sp>
        <p:nvSpPr>
          <p:cNvPr id="18" name="TextBox 17"/>
          <p:cNvSpPr txBox="1"/>
          <p:nvPr/>
        </p:nvSpPr>
        <p:spPr>
          <a:xfrm>
            <a:off x="685800" y="4389120"/>
            <a:ext cx="7772400" cy="274320"/>
          </a:xfrm>
          <a:prstGeom prst="rect">
            <a:avLst/>
          </a:prstGeom>
          <a:noFill/>
        </p:spPr>
        <p:txBody>
          <a:bodyPr wrap="square" lIns="0" rIns="0" tIns="0" bIns="0" anchor="t">
            <a:spAutoFit/>
          </a:bodyPr>
          <a:lstStyle/>
          <a:p>
            <a:pPr algn="ctr">
              <a:lnSpc>
                <a:spcPct val="125000"/>
              </a:lnSpc>
              <a:spcAft>
                <a:spcPts val="0"/>
              </a:spcAft>
            </a:pPr>
            <a:r>
              <a:rPr sz="1250" b="0" i="1">
                <a:solidFill>
                  <a:srgbClr val="6B7681"/>
                </a:solidFill>
                <a:latin typeface="Karla"/>
              </a:rPr>
              <a:t>The second question is the interesting one.</a:t>
            </a:r>
          </a:p>
        </p:txBody>
      </p:sp>
      <p:pic>
        <p:nvPicPr>
          <p:cNvPr id="19" name="Picture 18" descr="logo-master.png"/>
          <p:cNvPicPr>
            <a:picLocks noChangeAspect="1"/>
          </p:cNvPicPr>
          <p:nvPr/>
        </p:nvPicPr>
        <p:blipFill>
          <a:blip r:embed="rId2"/>
          <a:stretch>
            <a:fillRect/>
          </a:stretch>
        </p:blipFill>
        <p:spPr>
          <a:xfrm>
            <a:off x="384048" y="4722876"/>
            <a:ext cx="158374" cy="182880"/>
          </a:xfrm>
          <a:prstGeom prst="rect">
            <a:avLst/>
          </a:prstGeom>
        </p:spPr>
      </p:pic>
      <p:sp>
        <p:nvSpPr>
          <p:cNvPr id="20" name="TextBox 19"/>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21" name="TextBox 20"/>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THE THING NOBODY TELLS YOU</a:t>
            </a:r>
          </a:p>
        </p:txBody>
      </p:sp>
      <p:sp>
        <p:nvSpPr>
          <p:cNvPr id="4" name="TextBox 3"/>
          <p:cNvSpPr txBox="1"/>
          <p:nvPr/>
        </p:nvSpPr>
        <p:spPr>
          <a:xfrm>
            <a:off x="685800" y="841248"/>
            <a:ext cx="7772400" cy="585216"/>
          </a:xfrm>
          <a:prstGeom prst="rect">
            <a:avLst/>
          </a:prstGeom>
          <a:noFill/>
        </p:spPr>
        <p:txBody>
          <a:bodyPr wrap="square" lIns="0" rIns="0" tIns="0" bIns="0" anchor="t">
            <a:spAutoFit/>
          </a:bodyPr>
          <a:lstStyle/>
          <a:p>
            <a:pPr algn="l">
              <a:lnSpc>
                <a:spcPct val="106000"/>
              </a:lnSpc>
              <a:spcAft>
                <a:spcPts val="0"/>
              </a:spcAft>
            </a:pPr>
            <a:r>
              <a:rPr sz="2700" b="1" i="0">
                <a:solidFill>
                  <a:srgbClr val="39424A"/>
                </a:solidFill>
                <a:latin typeface="Libre Caslon Display"/>
              </a:rPr>
              <a:t>It is not about being bad with money</a:t>
            </a:r>
          </a:p>
        </p:txBody>
      </p:sp>
      <p:sp>
        <p:nvSpPr>
          <p:cNvPr id="5" name="Rounded Rectangle 4"/>
          <p:cNvSpPr/>
          <p:nvPr/>
        </p:nvSpPr>
        <p:spPr>
          <a:xfrm>
            <a:off x="685800" y="1700784"/>
            <a:ext cx="3749039" cy="246888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1920240"/>
            <a:ext cx="3163824" cy="822960"/>
          </a:xfrm>
          <a:prstGeom prst="rect">
            <a:avLst/>
          </a:prstGeom>
          <a:noFill/>
        </p:spPr>
        <p:txBody>
          <a:bodyPr wrap="square" lIns="0" rIns="0" tIns="0" bIns="0" anchor="t">
            <a:spAutoFit/>
          </a:bodyPr>
          <a:lstStyle/>
          <a:p>
            <a:pPr algn="l">
              <a:lnSpc>
                <a:spcPct val="120000"/>
              </a:lnSpc>
              <a:spcAft>
                <a:spcPts val="0"/>
              </a:spcAft>
            </a:pPr>
            <a:r>
              <a:rPr sz="1550" b="1" i="0">
                <a:solidFill>
                  <a:srgbClr val="2F5470"/>
                </a:solidFill>
                <a:latin typeface="Libre Caslon Display"/>
              </a:rPr>
              <a:t>Most of it is decided before you get a choice.</a:t>
            </a:r>
          </a:p>
        </p:txBody>
      </p:sp>
      <p:sp>
        <p:nvSpPr>
          <p:cNvPr id="7" name="TextBox 6"/>
          <p:cNvSpPr txBox="1"/>
          <p:nvPr/>
        </p:nvSpPr>
        <p:spPr>
          <a:xfrm>
            <a:off x="978408" y="2779776"/>
            <a:ext cx="3163824" cy="1280160"/>
          </a:xfrm>
          <a:prstGeom prst="rect">
            <a:avLst/>
          </a:prstGeom>
          <a:noFill/>
        </p:spPr>
        <p:txBody>
          <a:bodyPr wrap="square" lIns="0" rIns="0" tIns="0" bIns="0" anchor="t">
            <a:spAutoFit/>
          </a:bodyPr>
          <a:lstStyle/>
          <a:p>
            <a:pPr algn="l">
              <a:lnSpc>
                <a:spcPct val="138000"/>
              </a:lnSpc>
              <a:spcAft>
                <a:spcPts val="0"/>
              </a:spcAft>
            </a:pPr>
            <a:r>
              <a:rPr sz="1200" b="0" i="0">
                <a:solidFill>
                  <a:srgbClr val="6B7681"/>
                </a:solidFill>
                <a:latin typeface="Karla"/>
              </a:rPr>
              <a:t>Somewhere to live, bills and getting to work are gone before you have bought anything at all. What is left is the part everybody argues about, and it is the smallest part.</a:t>
            </a:r>
          </a:p>
        </p:txBody>
      </p:sp>
      <p:sp>
        <p:nvSpPr>
          <p:cNvPr id="8" name="Rounded Rectangle 7"/>
          <p:cNvSpPr/>
          <p:nvPr/>
        </p:nvSpPr>
        <p:spPr>
          <a:xfrm>
            <a:off x="4709160" y="1700784"/>
            <a:ext cx="3749039" cy="246888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01768" y="1920240"/>
            <a:ext cx="3163824" cy="822960"/>
          </a:xfrm>
          <a:prstGeom prst="rect">
            <a:avLst/>
          </a:prstGeom>
          <a:noFill/>
        </p:spPr>
        <p:txBody>
          <a:bodyPr wrap="square" lIns="0" rIns="0" tIns="0" bIns="0" anchor="t">
            <a:spAutoFit/>
          </a:bodyPr>
          <a:lstStyle/>
          <a:p>
            <a:pPr algn="l">
              <a:lnSpc>
                <a:spcPct val="120000"/>
              </a:lnSpc>
              <a:spcAft>
                <a:spcPts val="0"/>
              </a:spcAft>
            </a:pPr>
            <a:r>
              <a:rPr sz="1550" b="1" i="0">
                <a:solidFill>
                  <a:srgbClr val="2F5470"/>
                </a:solidFill>
                <a:latin typeface="Libre Caslon Display"/>
              </a:rPr>
              <a:t>Every choice removes another one.</a:t>
            </a:r>
          </a:p>
        </p:txBody>
      </p:sp>
      <p:sp>
        <p:nvSpPr>
          <p:cNvPr id="10" name="TextBox 9"/>
          <p:cNvSpPr txBox="1"/>
          <p:nvPr/>
        </p:nvSpPr>
        <p:spPr>
          <a:xfrm>
            <a:off x="5001768" y="2779776"/>
            <a:ext cx="3163824" cy="1280160"/>
          </a:xfrm>
          <a:prstGeom prst="rect">
            <a:avLst/>
          </a:prstGeom>
          <a:noFill/>
        </p:spPr>
        <p:txBody>
          <a:bodyPr wrap="square" lIns="0" rIns="0" tIns="0" bIns="0" anchor="t">
            <a:spAutoFit/>
          </a:bodyPr>
          <a:lstStyle/>
          <a:p>
            <a:pPr algn="l">
              <a:lnSpc>
                <a:spcPct val="138000"/>
              </a:lnSpc>
              <a:spcAft>
                <a:spcPts val="0"/>
              </a:spcAft>
            </a:pPr>
            <a:r>
              <a:rPr sz="1200" b="0" i="0">
                <a:solidFill>
                  <a:srgbClr val="6B7681"/>
                </a:solidFill>
                <a:latin typeface="Karla"/>
              </a:rPr>
              <a:t>The car makes the flat further out possible and the savings impossible. Nothing here is wrong. You only get to pick some of it.</a:t>
            </a:r>
          </a:p>
        </p:txBody>
      </p:sp>
      <p:pic>
        <p:nvPicPr>
          <p:cNvPr id="11" name="Picture 10" descr="logo-master.png"/>
          <p:cNvPicPr>
            <a:picLocks noChangeAspect="1"/>
          </p:cNvPicPr>
          <p:nvPr/>
        </p:nvPicPr>
        <p:blipFill>
          <a:blip r:embed="rId2"/>
          <a:stretch>
            <a:fillRect/>
          </a:stretch>
        </p:blipFill>
        <p:spPr>
          <a:xfrm>
            <a:off x="384048" y="4722876"/>
            <a:ext cx="158374" cy="182880"/>
          </a:xfrm>
          <a:prstGeom prst="rect">
            <a:avLst/>
          </a:prstGeom>
        </p:spPr>
      </p:pic>
      <p:sp>
        <p:nvSpPr>
          <p:cNvPr id="12" name="TextBox 11"/>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13" name="TextBox 12"/>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IF YOU REMEMBER ONE THING</a:t>
            </a:r>
          </a:p>
        </p:txBody>
      </p:sp>
      <p:sp>
        <p:nvSpPr>
          <p:cNvPr id="4" name="TextBox 3"/>
          <p:cNvSpPr txBox="1"/>
          <p:nvPr/>
        </p:nvSpPr>
        <p:spPr>
          <a:xfrm>
            <a:off x="640080" y="1005840"/>
            <a:ext cx="7863840" cy="1463040"/>
          </a:xfrm>
          <a:prstGeom prst="rect">
            <a:avLst/>
          </a:prstGeom>
          <a:noFill/>
        </p:spPr>
        <p:txBody>
          <a:bodyPr wrap="square" lIns="0" rIns="0" tIns="0" bIns="0" anchor="t">
            <a:spAutoFit/>
          </a:bodyPr>
          <a:lstStyle/>
          <a:p>
            <a:pPr algn="ctr">
              <a:lnSpc>
                <a:spcPct val="126000"/>
              </a:lnSpc>
              <a:spcAft>
                <a:spcPts val="0"/>
              </a:spcAft>
            </a:pPr>
            <a:r>
              <a:rPr sz="3000" b="1" i="0">
                <a:solidFill>
                  <a:srgbClr val="FFFDF7"/>
                </a:solidFill>
                <a:latin typeface="Libre Caslon Display"/>
              </a:rPr>
              <a:t>Work out what has to leave</a:t>
            </a:r>
            <a:br/>
            <a:r>
              <a:rPr sz="3000" b="1" i="0">
                <a:solidFill>
                  <a:srgbClr val="FFFDF7"/>
                </a:solidFill>
                <a:latin typeface="Libre Caslon Display"/>
              </a:rPr>
              <a:t>your account before you</a:t>
            </a:r>
            <a:br/>
            <a:r>
              <a:rPr sz="3000" b="1" i="0">
                <a:solidFill>
                  <a:srgbClr val="FFFDF7"/>
                </a:solidFill>
                <a:latin typeface="Libre Caslon Display"/>
              </a:rPr>
              <a:t>decide what you can afford.</a:t>
            </a:r>
          </a:p>
        </p:txBody>
      </p:sp>
      <p:sp>
        <p:nvSpPr>
          <p:cNvPr id="5" name="Rectangle 4"/>
          <p:cNvSpPr/>
          <p:nvPr/>
        </p:nvSpPr>
        <p:spPr>
          <a:xfrm>
            <a:off x="4114800" y="3017520"/>
            <a:ext cx="914400" cy="18288"/>
          </a:xfrm>
          <a:prstGeom prst="rect">
            <a:avLst/>
          </a:prstGeom>
          <a:solidFill>
            <a:srgbClr val="C3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3273552"/>
            <a:ext cx="6766560" cy="822960"/>
          </a:xfrm>
          <a:prstGeom prst="rect">
            <a:avLst/>
          </a:prstGeom>
          <a:noFill/>
        </p:spPr>
        <p:txBody>
          <a:bodyPr wrap="square" lIns="0" rIns="0" tIns="0" bIns="0" anchor="t">
            <a:spAutoFit/>
          </a:bodyPr>
          <a:lstStyle/>
          <a:p>
            <a:pPr algn="ctr">
              <a:lnSpc>
                <a:spcPct val="140000"/>
              </a:lnSpc>
              <a:spcAft>
                <a:spcPts val="0"/>
              </a:spcAft>
            </a:pPr>
            <a:r>
              <a:rPr sz="1500" b="0" i="1">
                <a:solidFill>
                  <a:srgbClr val="C3D6E2"/>
                </a:solidFill>
                <a:latin typeface="Karla"/>
              </a:rPr>
              <a:t>Everyone who is good with money does this. It is not willpower and it is not spreadsheets.</a:t>
            </a:r>
          </a:p>
        </p:txBody>
      </p:sp>
      <p:pic>
        <p:nvPicPr>
          <p:cNvPr id="7" name="Picture 6" descr="logo-master.png"/>
          <p:cNvPicPr>
            <a:picLocks noChangeAspect="1"/>
          </p:cNvPicPr>
          <p:nvPr/>
        </p:nvPicPr>
        <p:blipFill>
          <a:blip r:embed="rId2"/>
          <a:stretch>
            <a:fillRect/>
          </a:stretch>
        </p:blipFill>
        <p:spPr>
          <a:xfrm>
            <a:off x="384048" y="4722876"/>
            <a:ext cx="158374" cy="182880"/>
          </a:xfrm>
          <a:prstGeom prst="rect">
            <a:avLst/>
          </a:prstGeom>
        </p:spPr>
      </p:pic>
      <p:sp>
        <p:nvSpPr>
          <p:cNvPr id="8" name="TextBox 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9" name="TextBox 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ster.png"/>
          <p:cNvPicPr>
            <a:picLocks noChangeAspect="1"/>
          </p:cNvPicPr>
          <p:nvPr/>
        </p:nvPicPr>
        <p:blipFill>
          <a:blip r:embed="rId2"/>
          <a:stretch>
            <a:fillRect/>
          </a:stretch>
        </p:blipFill>
        <p:spPr>
          <a:xfrm>
            <a:off x="4263170" y="932688"/>
            <a:ext cx="617658" cy="713232"/>
          </a:xfrm>
          <a:prstGeom prst="rect">
            <a:avLst/>
          </a:prstGeom>
        </p:spPr>
      </p:pic>
      <p:sp>
        <p:nvSpPr>
          <p:cNvPr id="4" name="TextBox 3"/>
          <p:cNvSpPr txBox="1"/>
          <p:nvPr/>
        </p:nvSpPr>
        <p:spPr>
          <a:xfrm>
            <a:off x="548640" y="1938528"/>
            <a:ext cx="8046720" cy="822960"/>
          </a:xfrm>
          <a:prstGeom prst="rect">
            <a:avLst/>
          </a:prstGeom>
          <a:noFill/>
        </p:spPr>
        <p:txBody>
          <a:bodyPr wrap="square" lIns="0" rIns="0" tIns="0" bIns="0" anchor="t">
            <a:spAutoFit/>
          </a:bodyPr>
          <a:lstStyle/>
          <a:p>
            <a:pPr algn="ctr">
              <a:lnSpc>
                <a:spcPct val="110000"/>
              </a:lnSpc>
              <a:spcAft>
                <a:spcPts val="0"/>
              </a:spcAft>
            </a:pPr>
            <a:r>
              <a:rPr sz="3400" b="1" i="0">
                <a:solidFill>
                  <a:srgbClr val="2F5470"/>
                </a:solidFill>
                <a:latin typeface="Libre Caslon Display"/>
              </a:rPr>
              <a:t>Nobody gets taught this.</a:t>
            </a:r>
          </a:p>
        </p:txBody>
      </p:sp>
      <p:sp>
        <p:nvSpPr>
          <p:cNvPr id="5" name="TextBox 4"/>
          <p:cNvSpPr txBox="1"/>
          <p:nvPr/>
        </p:nvSpPr>
        <p:spPr>
          <a:xfrm>
            <a:off x="1097280" y="2852928"/>
            <a:ext cx="6949440" cy="822960"/>
          </a:xfrm>
          <a:prstGeom prst="rect">
            <a:avLst/>
          </a:prstGeom>
          <a:noFill/>
        </p:spPr>
        <p:txBody>
          <a:bodyPr wrap="square" lIns="0" rIns="0" tIns="0" bIns="0" anchor="t">
            <a:spAutoFit/>
          </a:bodyPr>
          <a:lstStyle/>
          <a:p>
            <a:pPr algn="ctr">
              <a:lnSpc>
                <a:spcPct val="140000"/>
              </a:lnSpc>
              <a:spcAft>
                <a:spcPts val="0"/>
              </a:spcAft>
            </a:pPr>
            <a:r>
              <a:rPr sz="1500" b="0" i="0">
                <a:solidFill>
                  <a:srgbClr val="6B7681"/>
                </a:solidFill>
                <a:latin typeface="Karla"/>
              </a:rPr>
              <a:t>Most people work it out in their first year of doing it for real, usually the hard way. You have just had an hour of practice that did not cost you anything.</a:t>
            </a:r>
          </a:p>
        </p:txBody>
      </p:sp>
      <p:sp>
        <p:nvSpPr>
          <p:cNvPr id="6" name="TextBox 5"/>
          <p:cNvSpPr txBox="1"/>
          <p:nvPr/>
        </p:nvSpPr>
        <p:spPr>
          <a:xfrm>
            <a:off x="731520" y="3877056"/>
            <a:ext cx="7680960" cy="310896"/>
          </a:xfrm>
          <a:prstGeom prst="rect">
            <a:avLst/>
          </a:prstGeom>
          <a:noFill/>
        </p:spPr>
        <p:txBody>
          <a:bodyPr wrap="square" lIns="0" rIns="0" tIns="0" bIns="0" anchor="t">
            <a:spAutoFit/>
          </a:bodyPr>
          <a:lstStyle/>
          <a:p>
            <a:pPr algn="ctr">
              <a:lnSpc>
                <a:spcPct val="125000"/>
              </a:lnSpc>
              <a:spcAft>
                <a:spcPts val="0"/>
              </a:spcAft>
            </a:pPr>
            <a:r>
              <a:rPr sz="1200" b="0" i="1">
                <a:solidFill>
                  <a:srgbClr val="A2ACB5"/>
                </a:solidFill>
                <a:latin typeface="Karla"/>
              </a:rPr>
              <a:t>Payday  ·  A budgeting lesson</a:t>
            </a:r>
          </a:p>
        </p:txBody>
      </p:sp>
      <p:pic>
        <p:nvPicPr>
          <p:cNvPr id="7" name="Picture 6" descr="logo-master.png"/>
          <p:cNvPicPr>
            <a:picLocks noChangeAspect="1"/>
          </p:cNvPicPr>
          <p:nvPr/>
        </p:nvPicPr>
        <p:blipFill>
          <a:blip r:embed="rId2"/>
          <a:stretch>
            <a:fillRect/>
          </a:stretch>
        </p:blipFill>
        <p:spPr>
          <a:xfrm>
            <a:off x="384048" y="4722876"/>
            <a:ext cx="158374" cy="182880"/>
          </a:xfrm>
          <a:prstGeom prst="rect">
            <a:avLst/>
          </a:prstGeom>
        </p:spPr>
      </p:pic>
      <p:sp>
        <p:nvSpPr>
          <p:cNvPr id="8" name="TextBox 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9" name="TextBox 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22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The Pastoral Guide</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Payday: the slides</dc:title>
  <dc:subject>A free pastoral resource for form tutors, from The Pastoral Guide, thepastoralguide.com</dc:subject>
  <dc:creator>The Pastoral Guide</dc:creator>
  <cp:keywords>form time, tutor time, pastoral, PSHE, secondary, free</cp:keywords>
  <dc:description>A free pastoral resource for form tutors, from The Pastoral Guide, thepastoralguide.com</dc:description>
  <cp:lastModifiedBy>The Pastoral Guide</cp:lastModifiedBy>
  <cp:revision>1</cp:revision>
  <dcterms:created xsi:type="dcterms:W3CDTF">2026-09-14T05:55:02Z</dcterms:created>
  <dcterms:modified xsi:type="dcterms:W3CDTF">2026-09-14T05:55:02Z</dcterms:modified>
  <cp:category>Pastoral resources</cp:category>
</cp:coreProperties>
</file>