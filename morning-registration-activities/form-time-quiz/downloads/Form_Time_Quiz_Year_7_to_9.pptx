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MORNING REGISTRATION ACTIVITIES</a:t>
            </a:r>
          </a:p>
        </p:txBody>
      </p:sp>
      <p:sp>
        <p:nvSpPr>
          <p:cNvPr id="4" name="TextBox 3"/>
          <p:cNvSpPr txBox="1"/>
          <p:nvPr/>
        </p:nvSpPr>
        <p:spPr>
          <a:xfrm>
            <a:off x="685800" y="621792"/>
            <a:ext cx="7772400" cy="548640"/>
          </a:xfrm>
          <a:prstGeom prst="rect">
            <a:avLst/>
          </a:prstGeom>
          <a:noFill/>
        </p:spPr>
        <p:txBody>
          <a:bodyPr wrap="square" anchor="t" lIns="0" rIns="0" tIns="0" bIns="0">
            <a:spAutoFit/>
          </a:bodyPr>
          <a:lstStyle/>
          <a:p>
            <a:pPr algn="ctr">
              <a:lnSpc>
                <a:spcPct val="105000"/>
              </a:lnSpc>
              <a:spcAft>
                <a:spcPts val="0"/>
              </a:spcAft>
            </a:pPr>
            <a:r>
              <a:rPr sz="3000" b="1" i="0">
                <a:solidFill>
                  <a:srgbClr val="974F16"/>
                </a:solidFill>
                <a:latin typeface="Libre Caslon Display"/>
              </a:rPr>
              <a:t>The Form Time Quiz</a:t>
            </a:r>
          </a:p>
        </p:txBody>
      </p:sp>
      <p:sp>
        <p:nvSpPr>
          <p:cNvPr id="5" name="Rounded Rectangle 4"/>
          <p:cNvSpPr/>
          <p:nvPr/>
        </p:nvSpPr>
        <p:spPr>
          <a:xfrm>
            <a:off x="3337843" y="1243584"/>
            <a:ext cx="2468312" cy="237744"/>
          </a:xfrm>
          <a:prstGeom prst="roundRect">
            <a:avLst>
              <a:gd name="adj" fmla="val 50000"/>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  ·  YEAR 7 TO 9</a:t>
            </a:r>
          </a:p>
        </p:txBody>
      </p:sp>
      <p:sp>
        <p:nvSpPr>
          <p:cNvPr id="6" name="TextBox 5"/>
          <p:cNvSpPr txBox="1"/>
          <p:nvPr/>
        </p:nvSpPr>
        <p:spPr>
          <a:xfrm>
            <a:off x="914400" y="1572768"/>
            <a:ext cx="7315200" cy="310896"/>
          </a:xfrm>
          <a:prstGeom prst="rect">
            <a:avLst/>
          </a:prstGeom>
          <a:noFill/>
        </p:spPr>
        <p:txBody>
          <a:bodyPr wrap="square" anchor="t" lIns="0" rIns="0" tIns="0" bIns="0">
            <a:spAutoFit/>
          </a:bodyPr>
          <a:lstStyle/>
          <a:p>
            <a:pPr algn="ctr">
              <a:lnSpc>
                <a:spcPct val="125000"/>
              </a:lnSpc>
              <a:spcAft>
                <a:spcPts val="0"/>
              </a:spcAft>
            </a:pPr>
            <a:r>
              <a:rPr sz="1300" b="0" i="0">
                <a:solidFill>
                  <a:srgbClr val="5C6552"/>
                </a:solidFill>
                <a:latin typeface="Karla"/>
              </a:rPr>
              <a:t>Ten questions: six on healthy habits, then four of general knowledge.</a:t>
            </a:r>
          </a:p>
        </p:txBody>
      </p:sp>
      <p:sp>
        <p:nvSpPr>
          <p:cNvPr id="7" name="Rectangle 6"/>
          <p:cNvSpPr/>
          <p:nvPr/>
        </p:nvSpPr>
        <p:spPr>
          <a:xfrm>
            <a:off x="685800"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54480"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221992"/>
            <a:ext cx="384048" cy="384048"/>
          </a:xfrm>
          <a:prstGeom prst="rect">
            <a:avLst/>
          </a:prstGeom>
        </p:spPr>
      </p:pic>
      <p:sp>
        <p:nvSpPr>
          <p:cNvPr id="10" name="TextBox 9"/>
          <p:cNvSpPr txBox="1"/>
          <p:nvPr/>
        </p:nvSpPr>
        <p:spPr>
          <a:xfrm>
            <a:off x="813816"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Get into teams</a:t>
            </a:r>
          </a:p>
        </p:txBody>
      </p:sp>
      <p:sp>
        <p:nvSpPr>
          <p:cNvPr id="11" name="TextBox 10"/>
          <p:cNvSpPr txBox="1"/>
          <p:nvPr/>
        </p:nvSpPr>
        <p:spPr>
          <a:xfrm>
            <a:off x="850392"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Three or four to a team, with one answer sheet between you.</a:t>
            </a:r>
          </a:p>
        </p:txBody>
      </p:sp>
      <p:sp>
        <p:nvSpPr>
          <p:cNvPr id="12" name="Rectangle 11"/>
          <p:cNvSpPr/>
          <p:nvPr/>
        </p:nvSpPr>
        <p:spPr>
          <a:xfrm>
            <a:off x="3374136"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png"/>
          <p:cNvPicPr>
            <a:picLocks noChangeAspect="1"/>
          </p:cNvPicPr>
          <p:nvPr/>
        </p:nvPicPr>
        <p:blipFill>
          <a:blip r:embed="rId3"/>
          <a:stretch>
            <a:fillRect/>
          </a:stretch>
        </p:blipFill>
        <p:spPr>
          <a:xfrm>
            <a:off x="4379976" y="2221992"/>
            <a:ext cx="384048" cy="384048"/>
          </a:xfrm>
          <a:prstGeom prst="rect">
            <a:avLst/>
          </a:prstGeom>
        </p:spPr>
      </p:pic>
      <p:sp>
        <p:nvSpPr>
          <p:cNvPr id="15" name="TextBox 14"/>
          <p:cNvSpPr txBox="1"/>
          <p:nvPr/>
        </p:nvSpPr>
        <p:spPr>
          <a:xfrm>
            <a:off x="3502152"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Answer together</a:t>
            </a:r>
          </a:p>
        </p:txBody>
      </p:sp>
      <p:sp>
        <p:nvSpPr>
          <p:cNvPr id="16" name="TextBox 15"/>
          <p:cNvSpPr txBox="1"/>
          <p:nvPr/>
        </p:nvSpPr>
        <p:spPr>
          <a:xfrm>
            <a:off x="3538728"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Each question goes up on the board. Agree an answer, then write it down.</a:t>
            </a:r>
          </a:p>
        </p:txBody>
      </p:sp>
      <p:sp>
        <p:nvSpPr>
          <p:cNvPr id="17" name="Rectangle 16"/>
          <p:cNvSpPr/>
          <p:nvPr/>
        </p:nvSpPr>
        <p:spPr>
          <a:xfrm>
            <a:off x="6062472"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31151"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wap.png"/>
          <p:cNvPicPr>
            <a:picLocks noChangeAspect="1"/>
          </p:cNvPicPr>
          <p:nvPr/>
        </p:nvPicPr>
        <p:blipFill>
          <a:blip r:embed="rId4"/>
          <a:stretch>
            <a:fillRect/>
          </a:stretch>
        </p:blipFill>
        <p:spPr>
          <a:xfrm>
            <a:off x="7068312" y="2221992"/>
            <a:ext cx="384048" cy="384048"/>
          </a:xfrm>
          <a:prstGeom prst="rect">
            <a:avLst/>
          </a:prstGeom>
        </p:spPr>
      </p:pic>
      <p:sp>
        <p:nvSpPr>
          <p:cNvPr id="20" name="TextBox 19"/>
          <p:cNvSpPr txBox="1"/>
          <p:nvPr/>
        </p:nvSpPr>
        <p:spPr>
          <a:xfrm>
            <a:off x="6190488"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Swap and mark</a:t>
            </a:r>
          </a:p>
        </p:txBody>
      </p:sp>
      <p:sp>
        <p:nvSpPr>
          <p:cNvPr id="21" name="TextBox 20"/>
          <p:cNvSpPr txBox="1"/>
          <p:nvPr/>
        </p:nvSpPr>
        <p:spPr>
          <a:xfrm>
            <a:off x="6227064"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Swap sheets with the team next to you, then the answers go up one at a time.</a:t>
            </a:r>
          </a:p>
        </p:txBody>
      </p:sp>
      <p:sp>
        <p:nvSpPr>
          <p:cNvPr id="22" name="TextBox 21"/>
          <p:cNvSpPr txBox="1"/>
          <p:nvPr/>
        </p:nvSpPr>
        <p:spPr>
          <a:xfrm>
            <a:off x="685800" y="4078224"/>
            <a:ext cx="7772400" cy="310896"/>
          </a:xfrm>
          <a:prstGeom prst="rect">
            <a:avLst/>
          </a:prstGeom>
          <a:noFill/>
        </p:spPr>
        <p:txBody>
          <a:bodyPr wrap="square" anchor="t" lIns="0" rIns="0" tIns="0" bIns="0">
            <a:spAutoFit/>
          </a:bodyPr>
          <a:lstStyle/>
          <a:p>
            <a:pPr algn="ctr">
              <a:lnSpc>
                <a:spcPct val="125000"/>
              </a:lnSpc>
              <a:spcAft>
                <a:spcPts val="0"/>
              </a:spcAft>
            </a:pPr>
            <a:r>
              <a:rPr sz="1050" b="0" i="0">
                <a:solidFill>
                  <a:srgbClr val="8B9179"/>
                </a:solidFill>
                <a:latin typeface="Karla"/>
              </a:rPr>
              <a:t>Needs: one answer sheet per team, from the resource pack.</a:t>
            </a:r>
          </a:p>
        </p:txBody>
      </p:sp>
      <p:pic>
        <p:nvPicPr>
          <p:cNvPr id="23" name="Picture 22" descr="logo-mark.png"/>
          <p:cNvPicPr>
            <a:picLocks noChangeAspect="1"/>
          </p:cNvPicPr>
          <p:nvPr/>
        </p:nvPicPr>
        <p:blipFill>
          <a:blip r:embed="rId5"/>
          <a:stretch>
            <a:fillRect/>
          </a:stretch>
        </p:blipFill>
        <p:spPr>
          <a:xfrm>
            <a:off x="384048" y="4727448"/>
            <a:ext cx="158374" cy="182880"/>
          </a:xfrm>
          <a:prstGeom prst="rect">
            <a:avLst/>
          </a:prstGeom>
        </p:spPr>
      </p:pic>
      <p:sp>
        <p:nvSpPr>
          <p:cNvPr id="24" name="TextBox 23"/>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68281" y="914400"/>
            <a:ext cx="1207436"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ONE</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Healthy habits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Six questions. Some are fact or myth, and some give you three options to choose from.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1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much sleep do most teenagers need a night?</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6 to 7 hours</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8 to 10 hours</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11 to 12 hours</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2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2</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Your body clock shifts later when you are a teenager, so feeling wide awake late at night is normal.</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3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3</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Cracking your knuckles gives you arthritis.</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4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4</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long should you brush your teeth for?</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30 seconds</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Two minutes</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Five minutes</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5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5</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Eating carrots lets you see in the dark.</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6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6</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Your brain keeps working on what you learned that day while you sleep.</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52258" y="914400"/>
            <a:ext cx="1239483"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TWO</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General knowledge</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Four questions to finish. Some have options, and some you will have to write out in full.</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7 OF 10</a:t>
            </a:r>
          </a:p>
        </p:txBody>
      </p:sp>
      <p:sp>
        <p:nvSpPr>
          <p:cNvPr id="4" name="Rounded Rectangle 3"/>
          <p:cNvSpPr/>
          <p:nvPr/>
        </p:nvSpPr>
        <p:spPr>
          <a:xfrm>
            <a:off x="685800" y="1170432"/>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1704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7</a:t>
            </a:r>
          </a:p>
        </p:txBody>
      </p:sp>
      <p:sp>
        <p:nvSpPr>
          <p:cNvPr id="8" name="TextBox 7"/>
          <p:cNvSpPr txBox="1"/>
          <p:nvPr/>
        </p:nvSpPr>
        <p:spPr>
          <a:xfrm>
            <a:off x="1783080" y="1575816"/>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What is the largest ocean on Earth?</a:t>
            </a:r>
          </a:p>
        </p:txBody>
      </p:sp>
      <p:sp>
        <p:nvSpPr>
          <p:cNvPr id="9" name="Rectangle 8"/>
          <p:cNvSpPr/>
          <p:nvPr/>
        </p:nvSpPr>
        <p:spPr>
          <a:xfrm>
            <a:off x="1965960" y="32918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381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8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8</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many sides does a hexagon have?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Five</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Six</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Eight</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9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9</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country’s flag is a red circle on a white background?</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10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10</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planet is known as the Red Planet?</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049462" y="914400"/>
            <a:ext cx="1045075"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ANSWERS</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Swap sheets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Swap with the team next to you. Give one mark for each right answer, then add up the score out of ten.</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much sleep do most teenagers need a night?</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8 to 10 hours</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Most health services put it at eight to ten hours. Most teenagers get less than that on a school night.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2</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Your body clock shifts later when you are a teenager, so feeling wide awake late at night is normal.</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806954"/>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hormone that makes you sleepy arrives later in the evening during the teenage years. It is biology, not laziness.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3</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Cracking your knuckles gives you arthritis.</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Studies comparing people who crack their knuckles with people who never do have found no link. The pop is a bubble of gas in the fluid around the joint.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4</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long should you brush your teeth for?</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Two minutes</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Dentists recommend about two minutes, twice a day. Most people stop well before that.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5</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Eating carrots lets you see in the dark.</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story was spread in the Second World War to hide the fact that British pilots were using radar. Carrots are good for your eyes, but they will not give you night vision.</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6</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Your brain keeps working on what you learned that day while you sleep.</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Sleep is when the brain sorts and stores the day’s memories, which is why a good night’s sleep matters so much before a test.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7</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What is the largest ocean on Earth?</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The Pacific</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covers about a third of the planet, more than all the land put together.</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8</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many sides does a hexagon have?</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Six</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Hex means six. Bees build their honeycomb out of hexagons.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9</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country’s flag is a red circle on a white background?</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Japan</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red circle stands for the sun. Japan’s name in Japanese means where the sun comes from.</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10</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planet is known as the Red Planet?</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Mars</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red comes from iron in its soil, which has rusted.</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THE FORM TIME QUIZ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p:spPr>
      </p:pic>
      <p:sp>
        <p:nvSpPr>
          <p:cNvPr id="5" name="TextBox 4"/>
          <p:cNvSpPr txBox="1"/>
          <p:nvPr/>
        </p:nvSpPr>
        <p:spPr>
          <a:xfrm>
            <a:off x="548640" y="1755648"/>
            <a:ext cx="8046720" cy="640080"/>
          </a:xfrm>
          <a:prstGeom prst="rect">
            <a:avLst/>
          </a:prstGeom>
          <a:noFill/>
        </p:spPr>
        <p:txBody>
          <a:bodyPr wrap="square" anchor="t" lIns="0" rIns="0" tIns="0" bIns="0">
            <a:spAutoFit/>
          </a:bodyPr>
          <a:lstStyle/>
          <a:p>
            <a:pPr algn="ctr">
              <a:lnSpc>
                <a:spcPct val="105000"/>
              </a:lnSpc>
              <a:spcAft>
                <a:spcPts val="0"/>
              </a:spcAft>
            </a:pPr>
            <a:r>
              <a:rPr sz="3200" b="1" i="0">
                <a:solidFill>
                  <a:srgbClr val="974F16"/>
                </a:solidFill>
                <a:latin typeface="Libre Caslon Display"/>
              </a:rPr>
              <a:t>Scores back to their owners</a:t>
            </a:r>
          </a:p>
        </p:txBody>
      </p:sp>
      <p:sp>
        <p:nvSpPr>
          <p:cNvPr id="6" name="TextBox 5"/>
          <p:cNvSpPr txBox="1"/>
          <p:nvPr/>
        </p:nvSpPr>
        <p:spPr>
          <a:xfrm>
            <a:off x="1188720" y="2560320"/>
            <a:ext cx="6766560" cy="822960"/>
          </a:xfrm>
          <a:prstGeom prst="rect">
            <a:avLst/>
          </a:prstGeom>
          <a:noFill/>
        </p:spPr>
        <p:txBody>
          <a:bodyPr wrap="square" anchor="t" lIns="0" rIns="0" tIns="0" bIns="0">
            <a:spAutoFit/>
          </a:bodyPr>
          <a:lstStyle/>
          <a:p>
            <a:pPr algn="ctr">
              <a:lnSpc>
                <a:spcPct val="130000"/>
              </a:lnSpc>
              <a:spcAft>
                <a:spcPts val="0"/>
              </a:spcAft>
            </a:pPr>
            <a:r>
              <a:rPr sz="1500" b="0" i="0">
                <a:solidFill>
                  <a:srgbClr val="5C6552"/>
                </a:solidFill>
                <a:latin typeface="Karla"/>
              </a:rPr>
              <a:t>Hands up if you got ten. Then hands up if one of the answers surprised you, and tell us which.</a:t>
            </a:r>
          </a:p>
        </p:txBody>
      </p:sp>
      <p:sp>
        <p:nvSpPr>
          <p:cNvPr id="7" name="TextBox 6"/>
          <p:cNvSpPr txBox="1"/>
          <p:nvPr/>
        </p:nvSpPr>
        <p:spPr>
          <a:xfrm>
            <a:off x="731520" y="3639312"/>
            <a:ext cx="7680960" cy="36576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Volume Two is available now at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Rounded Rectangle 3"/>
          <p:cNvSpPr/>
          <p:nvPr/>
        </p:nvSpPr>
        <p:spPr>
          <a:xfrm>
            <a:off x="685800" y="841248"/>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133856"/>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261872"/>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a:t>
            </a:r>
          </a:p>
        </p:txBody>
      </p:sp>
      <p:sp>
        <p:nvSpPr>
          <p:cNvPr id="8" name="TextBox 7"/>
          <p:cNvSpPr txBox="1"/>
          <p:nvPr/>
        </p:nvSpPr>
        <p:spPr>
          <a:xfrm>
            <a:off x="1783080" y="1246632"/>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 Type your own question here ]</a:t>
            </a:r>
          </a:p>
        </p:txBody>
      </p:sp>
      <p:sp>
        <p:nvSpPr>
          <p:cNvPr id="9" name="TextBox 8"/>
          <p:cNvSpPr txBox="1"/>
          <p:nvPr/>
        </p:nvSpPr>
        <p:spPr>
          <a:xfrm>
            <a:off x="685800" y="2432304"/>
            <a:ext cx="7772400" cy="128016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Add your own questions here: something from assembly, a date coming up, or a question about your own school.</a:t>
            </a:r>
          </a:p>
          <a:p>
            <a:pPr algn="l">
              <a:lnSpc>
                <a:spcPct val="130000"/>
              </a:lnSpc>
              <a:spcBef>
                <a:spcPts val="800"/>
              </a:spcBef>
              <a:spcAft>
                <a:spcPts val="0"/>
              </a:spcAft>
            </a:pPr>
            <a:r>
              <a:rPr sz="1250" b="0" i="0">
                <a:solidFill>
                  <a:srgbClr val="5C6552"/>
                </a:solidFill>
                <a:latin typeface="Karla"/>
              </a:rPr>
              <a:t>Duplicate this slide for each one and drag it in after question 10. There are two spare rows on the answer sheet for them.</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TextBox 3"/>
          <p:cNvSpPr txBox="1"/>
          <p:nvPr/>
        </p:nvSpPr>
        <p:spPr>
          <a:xfrm>
            <a:off x="685800" y="731520"/>
            <a:ext cx="7772400" cy="310896"/>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 Your question again, so the room remembers it ]</a:t>
            </a:r>
          </a:p>
        </p:txBody>
      </p:sp>
      <p:sp>
        <p:nvSpPr>
          <p:cNvPr id="5" name="TextBox 4"/>
          <p:cNvSpPr txBox="1"/>
          <p:nvPr/>
        </p:nvSpPr>
        <p:spPr>
          <a:xfrm>
            <a:off x="685800" y="1225296"/>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 The answer ]</a:t>
            </a:r>
          </a:p>
        </p:txBody>
      </p:sp>
      <p:sp>
        <p:nvSpPr>
          <p:cNvPr id="6" name="Rounded Rectangle 5"/>
          <p:cNvSpPr/>
          <p:nvPr/>
        </p:nvSpPr>
        <p:spPr>
          <a:xfrm>
            <a:off x="685800" y="2011680"/>
            <a:ext cx="7772400" cy="932688"/>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64008" cy="932688"/>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9424"/>
            <a:ext cx="7040880" cy="457200"/>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 One line on why, if there is something worth knowing ]</a:t>
            </a:r>
          </a:p>
        </p:txBody>
      </p:sp>
      <p:sp>
        <p:nvSpPr>
          <p:cNvPr id="9" name="TextBox 8"/>
          <p:cNvSpPr txBox="1"/>
          <p:nvPr/>
        </p:nvSpPr>
        <p:spPr>
          <a:xfrm>
            <a:off x="685800" y="3218688"/>
            <a:ext cx="7772400" cy="73152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Duplicate this slide for each of your own questions and drag it in after the answer to question 10.</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