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146" y="640080"/>
            <a:ext cx="807707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10512"/>
            <a:ext cx="8046720" cy="7533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2C6D5B"/>
                </a:solidFill>
                <a:latin typeface="Libre Caslon Display"/>
              </a:rPr>
              <a:t>World Mental Health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16352"/>
            <a:ext cx="1005840" cy="18288"/>
          </a:xfrm>
          <a:prstGeom prst="rect">
            <a:avLst/>
          </a:prstGeom>
          <a:solidFill>
            <a:srgbClr val="68B1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0" i="0">
                <a:solidFill>
                  <a:srgbClr val="677974"/>
                </a:solidFill>
                <a:latin typeface="Karla"/>
              </a:rPr>
              <a:t>An Assembly, a Week and a Lesson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A1AFAC"/>
                </a:solidFill>
                <a:latin typeface="Karla"/>
              </a:rPr>
              <a:t>[ DATE ]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30352"/>
            <a:ext cx="2269682" cy="237744"/>
          </a:xfrm>
          <a:prstGeom prst="roundRect">
            <a:avLst>
              <a:gd name="adj" fmla="val 50000"/>
            </a:avLst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C6D5B"/>
                </a:solidFill>
                <a:latin typeface="Karla"/>
              </a:rPr>
              <a:t>TEACHER SLIDE  ·  SKIP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3C4945"/>
                </a:solidFill>
                <a:latin typeface="Libre Caslon Display"/>
              </a:rPr>
              <a:t>Two ways to run the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677974"/>
                </a:solidFill>
                <a:latin typeface="Karla"/>
              </a:rPr>
              <a:t>Pick one before the assembly. Everything else in this deck is the same whichever you choose.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7772400" cy="65836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048255"/>
            <a:ext cx="402336" cy="402336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44268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020824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Option one: Five Ways to Wellbeing. Show slides 6 and 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267712"/>
            <a:ext cx="6821424" cy="237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A different activity every lunchtime. More to organise, and it gets more students involved.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88336"/>
            <a:ext cx="7772400" cy="65836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816351"/>
            <a:ext cx="402336" cy="402336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2363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788920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Option two: the Wall of Words. Show slides 8 and 9.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035808"/>
            <a:ext cx="6821424" cy="237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One wall that fills up all week. Hardly anything to set up, and it stays up after Friday.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56432"/>
            <a:ext cx="7772400" cy="65836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584448"/>
            <a:ext cx="402336" cy="402336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8046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Both, if you have the staff for it. Show all four.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03904"/>
            <a:ext cx="6821424" cy="2377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The wall goes up on Monday morning and the five lunchtimes run alongside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611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677974"/>
                </a:solidFill>
                <a:latin typeface="Karla"/>
              </a:rPr>
              <a:t>Hide the slides you are not using, and fill in everything in square brackets before you start.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89888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Most people here have had a week</a:t>
            </a:r>
          </a:p>
          <a:p>
            <a:pPr algn="ctr">
              <a:lnSpc>
                <a:spcPct val="114000"/>
              </a:lnSpc>
              <a:spcBef>
                <a:spcPts val="800"/>
              </a:spcBef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they never told anybody about.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914400" cy="18288"/>
          </a:xfrm>
          <a:prstGeom prst="rect">
            <a:avLst/>
          </a:prstGeom>
          <a:solidFill>
            <a:srgbClr val="BEDA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346704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BEDAD3"/>
                </a:solidFill>
                <a:latin typeface="Karla"/>
              </a:rPr>
              <a:t>Nothing dramatic. You were fine in lessons and less fine at home, and it was easier not to say anything about it.</a:t>
            </a:r>
          </a:p>
        </p:txBody>
      </p:sp>
      <p:pic>
        <p:nvPicPr>
          <p:cNvPr id="6" name="Picture 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BEDAD3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BEDAD3"/>
                </a:solidFill>
                <a:latin typeface="Karla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C6D5B"/>
                </a:solidFill>
                <a:latin typeface="Karla"/>
              </a:rPr>
              <a:t>WHAT THE DAY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C4945"/>
                </a:solidFill>
                <a:latin typeface="Libre Caslon Display"/>
              </a:rPr>
              <a:t>World Mental Health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6464"/>
            <a:ext cx="77724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677974"/>
                </a:solidFill>
                <a:latin typeface="Karla"/>
              </a:rPr>
              <a:t>The tenth of October, every year, in about a hundred and fifty countries. This year it falls on a Saturday, so we are marking it today and then all of next week.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84831"/>
            <a:ext cx="7772400" cy="1389888"/>
          </a:xfrm>
          <a:prstGeom prst="rect">
            <a:avLst/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04288"/>
            <a:ext cx="7132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200" b="1" i="0">
                <a:solidFill>
                  <a:srgbClr val="2C6D5B"/>
                </a:solidFill>
                <a:latin typeface="Libre Caslon Display"/>
              </a:rPr>
              <a:t>“Lived experiences heard:</a:t>
            </a:r>
            <a:br>
              <a:rPr lang="en-GB"/>
            </a:br>
            <a:r>
              <a:rPr sz="2200" b="1" i="0">
                <a:solidFill>
                  <a:srgbClr val="2C6D5B"/>
                </a:solidFill>
                <a:latin typeface="Libre Caslon Display"/>
              </a:rPr>
              <a:t>real voices, real change.”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12724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327B68"/>
                </a:solidFill>
                <a:latin typeface="Karla"/>
              </a:rPr>
              <a:t>This year’s theme, set by the World Federation for Mental Health.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22191"/>
            <a:ext cx="7772400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677974"/>
                </a:solidFill>
                <a:latin typeface="Karla"/>
              </a:rPr>
              <a:t>It means listening to people properly, instead of trying to fix them or handing them advice they did not ask for.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C6D5B"/>
                </a:solidFill>
                <a:latin typeface="Karla"/>
              </a:rPr>
              <a:t>WHAT LISTENING ACTUALLY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C4945"/>
                </a:solidFill>
                <a:latin typeface="Libre Caslon Display"/>
              </a:rPr>
              <a:t>What helps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2395728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1883664"/>
            <a:ext cx="658368" cy="658368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020824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" y="265176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Notice out loud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2066544" cy="5852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77974"/>
                </a:solidFill>
                <a:latin typeface="Karla"/>
              </a:rPr>
              <a:t>“You have been quiet this week” gets a real answer. “You alright?” gets “yeah”.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737360"/>
            <a:ext cx="2395728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42816" y="1883664"/>
            <a:ext cx="658368" cy="658368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sktw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020824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2152" y="265176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Ask twice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145536"/>
            <a:ext cx="2066544" cy="5852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77974"/>
                </a:solidFill>
                <a:latin typeface="Karla"/>
              </a:rPr>
              <a:t>The first answer is nearly always “I’m fine”. Ask again, and ask it differently.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62472" y="1737360"/>
            <a:ext cx="2395728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31151" y="1883664"/>
            <a:ext cx="658368" cy="658368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020824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90488" y="265176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Listen without fixing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3145536"/>
            <a:ext cx="2066544" cy="5852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77974"/>
                </a:solidFill>
                <a:latin typeface="Karla"/>
              </a:rPr>
              <a:t>You do not have to solve anything. Most people just want somebody to hear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4164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677974"/>
                </a:solidFill>
                <a:latin typeface="Karla"/>
              </a:rPr>
              <a:t>None of that needs training. It just needs one person to go first.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30352"/>
            <a:ext cx="1242752" cy="237744"/>
          </a:xfrm>
          <a:prstGeom prst="roundRect">
            <a:avLst>
              <a:gd name="adj" fmla="val 50000"/>
            </a:avLst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C6D5B"/>
                </a:solidFill>
                <a:latin typeface="Karla"/>
              </a:rPr>
              <a:t>OPTION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3C4945"/>
                </a:solidFill>
                <a:latin typeface="Libre Caslon Display"/>
              </a:rPr>
              <a:t>Next week, day by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1364284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327B68"/>
                </a:solidFill>
                <a:latin typeface="Karla"/>
              </a:rPr>
              <a:t>MONDAY</a:t>
            </a:r>
          </a:p>
        </p:txBody>
      </p:sp>
      <p:sp>
        <p:nvSpPr>
          <p:cNvPr id="7" name="Oval 6"/>
          <p:cNvSpPr/>
          <p:nvPr/>
        </p:nvSpPr>
        <p:spPr>
          <a:xfrm>
            <a:off x="956462" y="2203704"/>
            <a:ext cx="822960" cy="822960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8" y="2377440"/>
            <a:ext cx="475488" cy="475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318211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Tea and Talk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7828" y="1627632"/>
            <a:ext cx="1364284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7828" y="184708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327B68"/>
                </a:solidFill>
                <a:latin typeface="Karla"/>
              </a:rPr>
              <a:t>TUESDAY</a:t>
            </a:r>
          </a:p>
        </p:txBody>
      </p:sp>
      <p:sp>
        <p:nvSpPr>
          <p:cNvPr id="12" name="Oval 11"/>
          <p:cNvSpPr/>
          <p:nvPr/>
        </p:nvSpPr>
        <p:spPr>
          <a:xfrm>
            <a:off x="2558491" y="2203704"/>
            <a:ext cx="822960" cy="822960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227" y="2377440"/>
            <a:ext cx="475488" cy="475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15844" y="318211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Laps at Lunch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9857" y="1627632"/>
            <a:ext cx="1364284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9857" y="184708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327B68"/>
                </a:solidFill>
                <a:latin typeface="Karla"/>
              </a:rPr>
              <a:t>WEDNESDAY</a:t>
            </a:r>
          </a:p>
        </p:txBody>
      </p:sp>
      <p:sp>
        <p:nvSpPr>
          <p:cNvPr id="17" name="Oval 16"/>
          <p:cNvSpPr/>
          <p:nvPr/>
        </p:nvSpPr>
        <p:spPr>
          <a:xfrm>
            <a:off x="4160520" y="2203704"/>
            <a:ext cx="822960" cy="822960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igsa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4256" y="2377440"/>
            <a:ext cx="475488" cy="4754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17873" y="318211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The Quiet Room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1886" y="1627632"/>
            <a:ext cx="1364284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91886" y="184708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327B68"/>
                </a:solidFill>
                <a:latin typeface="Karla"/>
              </a:rPr>
              <a:t>THURSDAY</a:t>
            </a:r>
          </a:p>
        </p:txBody>
      </p:sp>
      <p:sp>
        <p:nvSpPr>
          <p:cNvPr id="22" name="Oval 21"/>
          <p:cNvSpPr/>
          <p:nvPr/>
        </p:nvSpPr>
        <p:spPr>
          <a:xfrm>
            <a:off x="5762548" y="2203704"/>
            <a:ext cx="822960" cy="822960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skbubb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6284" y="2377440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19902" y="318211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Ask Me Anything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93915" y="1627632"/>
            <a:ext cx="1364284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3915" y="184708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327B68"/>
                </a:solidFill>
                <a:latin typeface="Karla"/>
              </a:rPr>
              <a:t>FRIDAY</a:t>
            </a:r>
          </a:p>
        </p:txBody>
      </p:sp>
      <p:sp>
        <p:nvSpPr>
          <p:cNvPr id="27" name="Oval 26"/>
          <p:cNvSpPr/>
          <p:nvPr/>
        </p:nvSpPr>
        <p:spPr>
          <a:xfrm>
            <a:off x="7364577" y="2203704"/>
            <a:ext cx="822960" cy="822960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ribb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8313" y="2377440"/>
            <a:ext cx="475488" cy="4754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221931" y="318211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Green Ribbons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677974"/>
                </a:solidFill>
                <a:latin typeface="Karla"/>
              </a:rPr>
              <a:t>One every lunchtime, all next week. Come to all five, come to one, or just walk past and look.</a:t>
            </a:r>
          </a:p>
        </p:txBody>
      </p:sp>
      <p:pic>
        <p:nvPicPr>
          <p:cNvPr id="31" name="Picture 30" descr="logo-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30352"/>
            <a:ext cx="1242752" cy="237744"/>
          </a:xfrm>
          <a:prstGeom prst="roundRect">
            <a:avLst>
              <a:gd name="adj" fmla="val 50000"/>
            </a:avLst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C6D5B"/>
                </a:solidFill>
                <a:latin typeface="Karla"/>
              </a:rPr>
              <a:t>OPTION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3C4945"/>
                </a:solidFill>
                <a:latin typeface="Libre Caslon Display"/>
              </a:rPr>
              <a:t>Where to find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83664"/>
            <a:ext cx="7772400" cy="69494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029967"/>
            <a:ext cx="402336" cy="402336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25979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8424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[ PLACE ], every lunchtime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231136"/>
            <a:ext cx="68214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The same room all week, so you only have to remember it once.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706624"/>
            <a:ext cx="7772400" cy="69494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852927"/>
            <a:ext cx="402336" cy="402336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48939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80720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Run by [ WHO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054096"/>
            <a:ext cx="68214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Ask any of them if you would rather help run one than just turn up.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529584"/>
            <a:ext cx="7772400" cy="69494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675888"/>
            <a:ext cx="402336" cy="402336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71900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63016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The question box opens on Monday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877056"/>
            <a:ext cx="68214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Write a question, put it in the box, and the answers go up on a board on Thursday.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611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677974"/>
                </a:solidFill>
                <a:latin typeface="Karla"/>
              </a:rPr>
              <a:t>You do not have to sign in and you do not have to stay.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30352"/>
            <a:ext cx="1274800" cy="237744"/>
          </a:xfrm>
          <a:prstGeom prst="roundRect">
            <a:avLst>
              <a:gd name="adj" fmla="val 50000"/>
            </a:avLst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C6D5B"/>
                </a:solidFill>
                <a:latin typeface="Karla"/>
              </a:rPr>
              <a:t>OPTION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C4945"/>
                </a:solidFill>
                <a:latin typeface="Libre Caslon Display"/>
              </a:rPr>
              <a:t>The Wall of Words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700784"/>
            <a:ext cx="4892040" cy="2395728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75104"/>
            <a:ext cx="42062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C6D5B"/>
                </a:solidFill>
                <a:latin typeface="Karla"/>
              </a:rPr>
              <a:t>What is happening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32304"/>
            <a:ext cx="422452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3C4945"/>
                </a:solidFill>
                <a:latin typeface="Karla"/>
              </a:rPr>
              <a:t>There will be a blank wall in [ PLACE ] all next week, with cards and pens next to it. Write the thing you would want somebody to say to you on a bad day, and pin it up. You do not put your name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09928"/>
            <a:ext cx="1371600" cy="1371600"/>
          </a:xfrm>
          <a:prstGeom prst="rect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inno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3" y="1993392"/>
            <a:ext cx="804672" cy="80467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70448" y="3401568"/>
            <a:ext cx="2615184" cy="694944"/>
          </a:xfrm>
          <a:prstGeom prst="rect">
            <a:avLst/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3511296"/>
            <a:ext cx="228600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2C6D5B"/>
                </a:solidFill>
                <a:latin typeface="Karla"/>
              </a:rPr>
              <a:t>[ PLACE ]</a:t>
            </a:r>
            <a:br>
              <a:rPr lang="en-GB"/>
            </a:br>
            <a:r>
              <a:rPr sz="1150" b="0" i="0">
                <a:solidFill>
                  <a:srgbClr val="2C6D5B"/>
                </a:solidFill>
                <a:latin typeface="Karla"/>
              </a:rPr>
              <a:t>Every break and lunchtime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33087"/>
            <a:ext cx="7772400" cy="380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677974"/>
                </a:solidFill>
                <a:latin typeface="Karla"/>
              </a:rPr>
              <a:t>By Friday it should be covered. Staff read what goes up, so write something you would be happy for anybody here to read.</a:t>
            </a:r>
          </a:p>
        </p:txBody>
      </p:sp>
      <p:pic>
        <p:nvPicPr>
          <p:cNvPr id="13" name="Picture 12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530352"/>
            <a:ext cx="1274800" cy="237744"/>
          </a:xfrm>
          <a:prstGeom prst="roundRect">
            <a:avLst>
              <a:gd name="adj" fmla="val 50000"/>
            </a:avLst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C6D5B"/>
                </a:solidFill>
                <a:latin typeface="Karla"/>
              </a:rPr>
              <a:t>OPTION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7772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C4945"/>
                </a:solidFill>
                <a:latin typeface="Libre Caslon Display"/>
              </a:rPr>
              <a:t>What to write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47088"/>
            <a:ext cx="7772400" cy="69494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47672"/>
            <a:ext cx="72786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“You are not being dramatic.”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72786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Somebody in this year group needed to hear that this week.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688336"/>
            <a:ext cx="7772400" cy="69494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88920"/>
            <a:ext cx="72786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“I am not going anywhere.”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035808"/>
            <a:ext cx="72786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Short, and people remember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29584"/>
            <a:ext cx="7772400" cy="69494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30168"/>
            <a:ext cx="727862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C6D5B"/>
                </a:solidFill>
                <a:latin typeface="Libre Caslon Display"/>
              </a:rPr>
              <a:t>“Tell me properly. I have got time.”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877056"/>
            <a:ext cx="72786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77974"/>
                </a:solidFill>
                <a:latin typeface="Karla"/>
              </a:rPr>
              <a:t>Hard to answer with “I’m fine”.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6110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677974"/>
                </a:solidFill>
                <a:latin typeface="Karla"/>
              </a:rPr>
              <a:t>Somebody is going to read yours on a bad day, so write it properly.</a:t>
            </a:r>
          </a:p>
        </p:txBody>
      </p:sp>
      <p:pic>
        <p:nvPicPr>
          <p:cNvPr id="15" name="Picture 1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C6D5B"/>
                </a:solidFill>
                <a:latin typeface="Karla"/>
              </a:rPr>
              <a:t>ONE MORE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3C4945"/>
                </a:solidFill>
                <a:latin typeface="Libre Caslon Display"/>
              </a:rPr>
              <a:t>If this week is about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677974"/>
                </a:solidFill>
                <a:latin typeface="Karla"/>
              </a:rPr>
              <a:t>You do not need a reason ready, and you do not have to know what to call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54480" y="2066544"/>
            <a:ext cx="658368" cy="658368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03704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283464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Your form tutor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328416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77974"/>
                </a:solidFill>
                <a:latin typeface="Karla"/>
              </a:rPr>
              <a:t>Any morning, before anything else starts.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4136" y="1920240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42816" y="2066544"/>
            <a:ext cx="658368" cy="658368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wo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203704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02152" y="283464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[ NAMED STAFF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3328416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77974"/>
                </a:solidFill>
                <a:latin typeface="Karla"/>
              </a:rPr>
              <a:t>Ask at reception and they will find them for you.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62472" y="1920240"/>
            <a:ext cx="2395728" cy="1883664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31151" y="2066544"/>
            <a:ext cx="658368" cy="658368"/>
          </a:xfrm>
          <a:prstGeom prst="ellipse">
            <a:avLst/>
          </a:prstGeom>
          <a:solidFill>
            <a:srgbClr val="2C6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203704"/>
            <a:ext cx="384048" cy="38404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90488" y="2834640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C6D5B"/>
                </a:solidFill>
                <a:latin typeface="Libre Caslon Display"/>
              </a:rPr>
              <a:t>[ REPORTING ROUTE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328416"/>
            <a:ext cx="206654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677974"/>
                </a:solidFill>
                <a:latin typeface="Karla"/>
              </a:rPr>
              <a:t>If you would rather not say it out loud.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59936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1">
                <a:solidFill>
                  <a:srgbClr val="2C6D5B"/>
                </a:solidFill>
                <a:latin typeface="Karla"/>
              </a:rPr>
              <a:t>Nothing happens without talking to you first. You will not be marched into anything.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950976"/>
            <a:ext cx="633496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93392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6D5B"/>
                </a:solidFill>
                <a:latin typeface="Libre Caslon Display"/>
              </a:rPr>
              <a:t>Ask somebody how they 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871216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677974"/>
                </a:solidFill>
                <a:latin typeface="Karla"/>
              </a:rPr>
              <a:t>You do not need the right words and you do not need a reason. Next week just makes it easier to start.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A1AFAC"/>
                </a:solidFill>
                <a:latin typeface="Karla"/>
              </a:rPr>
              <a:t>World Mental Health Day  ·  An Assembly, a Week and a Lesson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1AFAC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1AFAC"/>
                </a:solidFill>
                <a:latin typeface="Karla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