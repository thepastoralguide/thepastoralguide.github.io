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663" y="640080"/>
            <a:ext cx="804672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47088"/>
            <a:ext cx="80467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B03E72"/>
                </a:solidFill>
                <a:latin typeface="Libre Caslon Display"/>
              </a:rPr>
              <a:t>It Was Just a Joke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768096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6B6167"/>
                </a:solidFill>
                <a:latin typeface="Karla"/>
              </a:rPr>
              <a:t>The words are the same in each pair. Something else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75887"/>
            <a:ext cx="7680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A79EA2"/>
                </a:solidFill>
                <a:latin typeface="Karla"/>
              </a:rPr>
              <a:t>One lesson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spc="160">
                <a:solidFill>
                  <a:srgbClr val="B1517B"/>
                </a:solidFill>
                <a:latin typeface="Karla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100" b="1">
                <a:solidFill>
                  <a:srgbClr val="33292E"/>
                </a:solidFill>
                <a:latin typeface="Libre Caslon Display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8758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Six moments, and whether each one is a joke.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0787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7828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980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Find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7556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The four questions you were already using.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9857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3009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Learn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9585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What those five words are actually doing.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44844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886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5038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Practise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1614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The words you would actually say instead.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46873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3915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7067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3643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thing you will say differently.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Nothing you write today gets read out or handed in.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SIX MOMENTS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Is this a joke?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2487168"/>
          </a:xfrm>
          <a:prstGeom prst="roundRect">
            <a:avLst>
              <a:gd name="adj" fmla="val 3308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6420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68249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says your jumper looks like a bin bag. You say something 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66544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084832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does an impression of the way you run, to a group, in the changing rooms.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87168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group uses a nickname that the person made up for themselves.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71216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889504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says your jumper looks like a bin bag every morning for a week.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291840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friend does an impression of the way you run, and you are both laughing.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69417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group uses a nickname that somebody else gave them in Year 7.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In pairs, four minutes: put each letter under joke, not a joke, or cannot tell.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They were three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07592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7592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A AND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Whether it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of them went both ways and ended there. The other one carried on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B AND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Who was laughing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of them has the person laughing too. The other has an audience, and they are not.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47688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C AND 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Whose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A nickname you made up for yourself is yours. One somebody else gave you three years ago is not.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877056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The words hardly change inside a pair. Everything you sorted them by was somewhere else.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The line is almost never in the words.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SO HERE IS THE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Four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563624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64208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572768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Is the person it is about laughing?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39696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2219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225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231136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Would you say it to them with nobody else there?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98064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880360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809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2889504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Could they say the same thing back to you?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56432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5387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6393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547872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Did it stop the first time they asked?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A joke passes all four. Anything that fails one is worth looking at again.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SENTENCE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jobs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I did not mean to hurt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Most of the time this half is true.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79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Now stop talking about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79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This half tells the other person that the subject is closed.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“It was just a joke” says both of these at once, and the second one is the one people hear.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On its own, the first half would be an apology.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BEFORE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is always off limits?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877824"/>
          </a:xfrm>
          <a:prstGeom prst="roundRect">
            <a:avLst>
              <a:gd name="adj" fmla="val 937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82496"/>
            <a:ext cx="70408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Researchers asked 28 students aged eleven to fifteen where their own line was. Every group answered the same way first: it depends on the person.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42032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60903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761487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33472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Write down three subjects that are off limits whoever is saying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3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41071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51129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383279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Then one subject that depends on who is saying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Two minutes, in pairs.</a:t>
            </a:r>
          </a:p>
        </p:txBody>
      </p:sp>
      <p:pic>
        <p:nvPicPr>
          <p:cNvPr id="18" name="Picture 1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they named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1975104"/>
          </a:xfrm>
          <a:prstGeom prst="roundRect">
            <a:avLst>
              <a:gd name="adj" fmla="val 416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69494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5000"/>
              </a:lnSpc>
            </a:pPr>
            <a:r>
              <a:rPr sz="1900" b="0">
                <a:solidFill>
                  <a:srgbClr val="33292E"/>
                </a:solidFill>
                <a:latin typeface="Libre Caslon Display"/>
              </a:rPr>
              <a:t>Somebody’s family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The way somebody looks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Somebody who has died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Anything racist or homophobic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Your list is probably close. Everybody says the line is personal, then draws it in the same 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9651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Steer and others, 2020, two secondary schools in the Midlands. Worth arguing with if your list was different.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WATCH THIS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ways of answering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03E72"/>
                </a:solidFill>
                <a:latin typeface="Libre Caslon Display"/>
              </a:rPr>
              <a:t>This one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Libre Caslon Display"/>
              </a:rPr>
              <a:t>“That came out worse than I meant it to. Sorry.”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The other person can accept it and put it down. Nothing is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2861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03E72"/>
                </a:solidFill>
                <a:latin typeface="Libre Caslon Display"/>
              </a:rPr>
              <a:t>This one backfires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Libre Caslon Display"/>
              </a:rPr>
              <a:t>“It was just a joke.”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The other person has to agree it was funny or make a scene.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Both of them mean the same thing. Only one of them lets the other person put it down.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8795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You are not admitting you meant it. You are saying you would rather not have said it.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IF YOU SAID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Three that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“That came out worse than I meant it to. Sorry.”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keeps the true half of the sentence and drops the half that ends the conversation.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“Fair enough, I will leave it.”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Nobody has to admit anything, which is why it usually works in front of other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“You are right. I will stop.”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answers the only question that matters at the time, which is whether it carries 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None of them is a speech, and none of them needs anybody else to be listening.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OTHER SIDE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When it is about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“I know you did not mean it, but I do not like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gives them the true half back, and it is the sentence that makes question four 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“Leave it, yeah?”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Short, no scene, and most people stop.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Say it later, on their own.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Away from the audience it is a different conversation, and it usually goes better.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Question four only works if somebody asks, and these are the ways of asking.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NOW ONE OUT LOUD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603504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70408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292E"/>
                </a:solidFill>
                <a:latin typeface="Libre Caslon Display"/>
              </a:rPr>
              <a:t>Somebody reads a mistake out of a classmate’s book to the table, and the table laughs.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368296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46887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34086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Which of the four questions does it fail?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96265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0815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1821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05409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should the person who read it out say?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75887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79475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953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3767327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could the person it was about say?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0740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Say it out loud. Two or three go on the board.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TWELVE MINUTES, IN PAIRS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530352"/>
            <a:ext cx="960119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594360"/>
            <a:ext cx="960119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would you say?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Take one moment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Write which question it fails, and the words for both people.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Say them to each other. If you would not say it out loud, change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Real words, not the ones that sound good. Nobody is marking you on being nice.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SWAP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Mark somebody else’s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Could somebody actually say it out loud in this school?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Does it avoid putting anybody on trial?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Does it let both people out of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Move your sheet two tables along. Tick what it passes, then write one change that would get it said.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NO RIGHT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A joke, and still wrong?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64592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75104"/>
            <a:ext cx="67665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They meant it kindly.</a:t>
            </a:r>
            <a:br/>
            <a:r>
              <a:rPr sz="1700" b="0">
                <a:solidFill>
                  <a:srgbClr val="33292E"/>
                </a:solidFill>
                <a:latin typeface="Libre Caslon Display"/>
              </a:rPr>
              <a:t>Everybody laughed, including the person it was about.</a:t>
            </a:r>
            <a:br/>
            <a:r>
              <a:rPr sz="1700" b="0">
                <a:solidFill>
                  <a:srgbClr val="33292E"/>
                </a:solidFill>
                <a:latin typeface="Libre Caslon Display"/>
              </a:rPr>
              <a:t>They went home and it stayed with them all evening.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Was it a joke? Both answers can be argued. Four minutes, and see where your form lands.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LAST THREE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questions, for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9933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939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Which of the four questions do you forget most often?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60903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9775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88035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75234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will you say this week instead of that sentence?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This is not collected and it is not read out. Fold it, keep it, or bin it on the way out.</a:t>
            </a:r>
          </a:p>
        </p:txBody>
      </p:sp>
      <p:pic>
        <p:nvPicPr>
          <p:cNvPr id="16" name="Picture 1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77724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B03E72"/>
                </a:solidFill>
                <a:latin typeface="Libre Caslon Display"/>
              </a:rPr>
              <a:t>Everybody gets one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2788920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6B6167"/>
                </a:solidFill>
                <a:latin typeface="Karla"/>
              </a:rPr>
              <a:t>What people remember is the sentence you said afterwards.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FOR THE TEACHER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Where these came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Karla"/>
              </a:rPr>
              <a:t>Steer, O., Betts, L. R., Baguley, T. and Binder, J. F. (2020).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“I feel like everyone does it”: adolescents’ perceptions and awareness of the association between humour, banter, and cyberbullying. Computers in Human Behavior, 108, 106297.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Focus groups with 28 students aged eleven to fifteen at two secondary schools in the English Midlands. They described a line of acceptability that depends on friendship, trust and who is watching rather than on the words used, and they named much the same subjects as being over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80944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Karla"/>
              </a:rPr>
              <a:t>Anti-Bullying Alliance and Nottingham Trent University (2023).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18687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Banter or Bullying? Navigating the line of acceptability.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57600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A toolkit for schools, built on a survey of 884 teachers. Nineteen per cent said they felt equipped to deal with banter, against thirty-seven per cent for bullying, and eighty-four per cent had had no training on it at all.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Was Just a Joke: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