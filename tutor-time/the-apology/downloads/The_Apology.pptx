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0" i="0">
                <a:solidFill>
                  <a:srgbClr val="9A4030"/>
                </a:solidFill>
                <a:latin typeface="Georgia"/>
              </a:rPr>
              <a:t>The Apology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779776"/>
            <a:ext cx="1005840" cy="18288"/>
          </a:xfrm>
          <a:prstGeom prst="rect">
            <a:avLst/>
          </a:prstGeom>
          <a:solidFill>
            <a:srgbClr val="CD8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8094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7A6862"/>
                </a:solidFill>
                <a:latin typeface="Calibri"/>
              </a:rPr>
              <a:t>How to say sorry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1129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AD9C96"/>
                </a:solidFill>
                <a:latin typeface="Calibri"/>
              </a:rPr>
              <a:t>One lesson</a:t>
            </a:r>
          </a:p>
        </p:txBody>
      </p:sp>
      <p:pic>
        <p:nvPicPr>
          <p:cNvPr id="8" name="Picture 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Five things, in this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393545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3388" y="1883664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02536"/>
            <a:ext cx="13935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121066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035808"/>
            <a:ext cx="113751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Which of these are real apologies?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0513" y="1737360"/>
            <a:ext cx="1393545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48102" y="1883664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0513" y="2002536"/>
            <a:ext cx="13935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953" y="2670048"/>
            <a:ext cx="121066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8529" y="3035808"/>
            <a:ext cx="113751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The four parts of one that 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75227" y="1737360"/>
            <a:ext cx="1393545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42816" y="1883664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5227" y="2002536"/>
            <a:ext cx="13935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6667" y="2670048"/>
            <a:ext cx="121066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3243" y="3035808"/>
            <a:ext cx="113751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Rewrite a bad one, in pairs.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9940" y="1737360"/>
            <a:ext cx="1393545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37529" y="1883664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9940" y="2002536"/>
            <a:ext cx="13935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1380" y="2670048"/>
            <a:ext cx="121066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7956" y="3035808"/>
            <a:ext cx="113751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Check somebody else’s against the four.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4654" y="1737360"/>
            <a:ext cx="1393545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2243" y="1883664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4654" y="2002536"/>
            <a:ext cx="13935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6094" y="2670048"/>
            <a:ext cx="121066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2670" y="3035808"/>
            <a:ext cx="113751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One you actually owe. Nobody reads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9A4030"/>
                </a:solidFill>
                <a:latin typeface="Calibri"/>
              </a:rPr>
              <a:t>Nothing you write today gets read out or handed in.</a:t>
            </a:r>
          </a:p>
        </p:txBody>
      </p:sp>
      <p:pic>
        <p:nvPicPr>
          <p:cNvPr id="31" name="Picture 3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EBC4B6"/>
                </a:solidFill>
                <a:latin typeface="Calibri"/>
              </a:rPr>
              <a:t>FIRST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77724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Sort them into two piles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10512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5064" y="1911095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4" y="191109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883664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Eight cards on your table. Real apology, or not?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505456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55064" y="2606040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2606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57860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Two piles. You will not agree on all eight.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200400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55064" y="3300984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33009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327355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Be ready to say why.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4B6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4B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Only three were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7772400" cy="640080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002536"/>
            <a:ext cx="402336" cy="402336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659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Georgia"/>
              </a:rPr>
              <a:t>“I shouldn’t have said it in front of everyone. That was embarrassing for you.”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7772400" cy="640080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734056"/>
            <a:ext cx="402336" cy="402336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157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6974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Georgia"/>
              </a:rPr>
              <a:t>“I was wrong, and I am not going to do it again.”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46704"/>
            <a:ext cx="7772400" cy="640080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3465575"/>
            <a:ext cx="402336" cy="402336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4472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4290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Georgia"/>
              </a:rPr>
              <a:t>“I know saying sorry doesn’t undo it. I’ll walk in with you tomorrow.”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611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A6862"/>
                </a:solidFill>
                <a:latin typeface="Calibri"/>
              </a:rPr>
              <a:t>The other five are all doing one of three things instead.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The three moves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2420112" cy="252374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6672" y="1828800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bbl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76" y="1975103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" y="2578608"/>
            <a:ext cx="2127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00" b="0" i="0">
                <a:solidFill>
                  <a:srgbClr val="9A4030"/>
                </a:solidFill>
                <a:latin typeface="Georgia"/>
              </a:rPr>
              <a:t>“I’m sorry you took it that way.”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163824"/>
            <a:ext cx="2127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463A36"/>
                </a:solidFill>
                <a:latin typeface="Calibri"/>
              </a:rPr>
              <a:t>Blames the person who was hurt.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602736"/>
            <a:ext cx="20909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7A6862"/>
                </a:solidFill>
                <a:latin typeface="Calibri"/>
              </a:rPr>
              <a:t>The sentence is about their reaction, not your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1944" y="1700784"/>
            <a:ext cx="2420112" cy="252374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42816" y="1828800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bbl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75103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08248" y="2578608"/>
            <a:ext cx="2127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00" b="0" i="0">
                <a:solidFill>
                  <a:srgbClr val="9A4030"/>
                </a:solidFill>
                <a:latin typeface="Georgia"/>
              </a:rPr>
              <a:t>“Mistakes were made.”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8248" y="3163824"/>
            <a:ext cx="2127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463A36"/>
                </a:solidFill>
                <a:latin typeface="Calibri"/>
              </a:rPr>
              <a:t>Leaves out who did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6536" y="3602736"/>
            <a:ext cx="20909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7A6862"/>
                </a:solidFill>
                <a:latin typeface="Calibri"/>
              </a:rPr>
              <a:t>If you cannot say who did it, you have not admitted anything.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8088" y="1700784"/>
            <a:ext cx="2420112" cy="252374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18960" y="1828800"/>
            <a:ext cx="658368" cy="65836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bbl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264" y="1975103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4392" y="2578608"/>
            <a:ext cx="2127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00" b="0" i="0">
                <a:solidFill>
                  <a:srgbClr val="9A4030"/>
                </a:solidFill>
                <a:latin typeface="Georgia"/>
              </a:rPr>
              <a:t>“Sorry, but you started it.”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4392" y="3163824"/>
            <a:ext cx="2127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463A36"/>
                </a:solidFill>
                <a:latin typeface="Calibri"/>
              </a:rPr>
              <a:t>Cancels itself 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2680" y="3602736"/>
            <a:ext cx="20909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7A6862"/>
                </a:solidFill>
                <a:latin typeface="Calibri"/>
              </a:rPr>
              <a:t>Everything after but is what you actually meant.</a:t>
            </a:r>
          </a:p>
        </p:txBody>
      </p:sp>
      <p:pic>
        <p:nvPicPr>
          <p:cNvPr id="25" name="Picture 24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SO WHAT DOES A REAL ONE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Four parts, in this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1764792" cy="2395728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0724" y="1883664"/>
            <a:ext cx="694944" cy="69494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688336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50" b="0" i="0">
                <a:solidFill>
                  <a:srgbClr val="9A4030"/>
                </a:solidFill>
                <a:latin typeface="Georgia"/>
              </a:rPr>
              <a:t>Name what you did.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28416"/>
            <a:ext cx="1435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Not what happened: what you did.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88336" y="1755648"/>
            <a:ext cx="1764792" cy="2395728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3260" y="1883664"/>
            <a:ext cx="694944" cy="69494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201168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688336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50" b="0" i="0">
                <a:solidFill>
                  <a:srgbClr val="9A4030"/>
                </a:solidFill>
                <a:latin typeface="Georgia"/>
              </a:rPr>
              <a:t>Say why it landed.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328416"/>
            <a:ext cx="1435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Show you understand the effect on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1755648"/>
            <a:ext cx="1764792" cy="2395728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25796" y="1883664"/>
            <a:ext cx="694944" cy="69494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01168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688336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50" b="0" i="0">
                <a:solidFill>
                  <a:srgbClr val="9A4030"/>
                </a:solidFill>
                <a:latin typeface="Georgia"/>
              </a:rPr>
              <a:t>Stop.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328416"/>
            <a:ext cx="1435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No “but”, no explaining, no asking to be let 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1755648"/>
            <a:ext cx="1764792" cy="2395728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8332" y="1883664"/>
            <a:ext cx="694944" cy="69494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01168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688336"/>
            <a:ext cx="1508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350" b="0" i="0">
                <a:solidFill>
                  <a:srgbClr val="9A4030"/>
                </a:solidFill>
                <a:latin typeface="Georgia"/>
              </a:rPr>
              <a:t>Say what changes.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28416"/>
            <a:ext cx="1435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7A6862"/>
                </a:solidFill>
                <a:latin typeface="Calibri"/>
              </a:rPr>
              <a:t>One specific thing you will do differently.</a:t>
            </a:r>
          </a:p>
        </p:txBody>
      </p:sp>
      <p:pic>
        <p:nvPicPr>
          <p:cNvPr id="27" name="Picture 2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WATCH ONE GET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Before and 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3749039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38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20">
                <a:solidFill>
                  <a:srgbClr val="CD8878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26771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500" b="0" i="1">
                <a:solidFill>
                  <a:srgbClr val="7A6862"/>
                </a:solidFill>
                <a:latin typeface="Calibri"/>
              </a:rPr>
              <a:t>“Sorry if you got upset about the group chat thing, but you know what you’re like.”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55648"/>
            <a:ext cx="3749039" cy="2286000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1938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20">
                <a:solidFill>
                  <a:srgbClr val="9A4030"/>
                </a:solidFill>
                <a:latin typeface="Calibri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4" y="2267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350" b="0" i="0">
                <a:solidFill>
                  <a:srgbClr val="463A36"/>
                </a:solidFill>
                <a:latin typeface="Calibri"/>
              </a:rPr>
              <a:t>“I left you out of the group chat and then laughed when you asked about it. That was humiliating. I am not doing it again, and I will say so to the others.”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9A4030"/>
                </a:solidFill>
                <a:latin typeface="Calibri"/>
              </a:rPr>
              <a:t>Point at each of the four parts on the right, in order.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ALL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Now fix this one out 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7772400" cy="73152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65376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0" i="0">
                <a:solidFill>
                  <a:srgbClr val="463A36"/>
                </a:solidFill>
                <a:latin typeface="Calibri"/>
              </a:rPr>
              <a:t>You promised to cover your friend’s shift, then did not turn up. They got in trouble for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33472"/>
            <a:ext cx="7772400" cy="85953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0" i="0">
                <a:solidFill>
                  <a:srgbClr val="9A4030"/>
                </a:solidFill>
                <a:latin typeface="Georgia"/>
              </a:rPr>
              <a:t>“Sorry about the shift thing, I completely forgot, I’ve had so much on. But you know I’d normally do it.”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3075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7A6862"/>
                </a:solidFill>
                <a:latin typeface="Calibri"/>
              </a:rPr>
              <a:t>Which parts are missing? Rebuild it one part at a time and write the finished version on the board.</a:t>
            </a:r>
          </a:p>
        </p:txBody>
      </p:sp>
      <p:pic>
        <p:nvPicPr>
          <p:cNvPr id="12" name="Picture 11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EBC4B6"/>
                </a:solidFill>
                <a:latin typeface="Calibri"/>
              </a:rPr>
              <a:t>MAIN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77724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Fix a real one, in pairs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10512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5064" y="1911095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4" y="191109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883664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Take one scenario card between two.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505456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55064" y="2606040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2606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57860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Rewrite the apology on the sheet. All four parts,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200400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55064" y="3300984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33009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327355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No names on it. Another pair is going to mark it.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4B6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4B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Mark somebody else’s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7A6862"/>
                </a:solidFill>
                <a:latin typeface="Calibri"/>
              </a:rPr>
              <a:t>Pass your sheet two tables along. Mark it against the four parts.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56816"/>
            <a:ext cx="6858000" cy="49377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9888" y="2039112"/>
            <a:ext cx="329184" cy="32918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bble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12" y="2116836"/>
            <a:ext cx="173736" cy="173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01952" y="2002536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463A36"/>
                </a:solidFill>
                <a:latin typeface="Calibri"/>
              </a:rPr>
              <a:t>Does it say what they did, in their own words?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560320"/>
            <a:ext cx="6858000" cy="49377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89888" y="2642616"/>
            <a:ext cx="329184" cy="32918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bble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12" y="2720340"/>
            <a:ext cx="173736" cy="1737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01952" y="2606040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463A36"/>
                </a:solidFill>
                <a:latin typeface="Calibri"/>
              </a:rPr>
              <a:t>Does it show they understand why it mattered?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163824"/>
            <a:ext cx="6858000" cy="49377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89888" y="3246120"/>
            <a:ext cx="329184" cy="32918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ubble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12" y="3323844"/>
            <a:ext cx="173736" cy="1737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01952" y="3209544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463A36"/>
                </a:solidFill>
                <a:latin typeface="Calibri"/>
              </a:rPr>
              <a:t>Is there a but anywhere? Circle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767328"/>
            <a:ext cx="6858000" cy="49377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89888" y="3849624"/>
            <a:ext cx="329184" cy="329184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ubble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12" y="3927348"/>
            <a:ext cx="173736" cy="173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01952" y="3813048"/>
            <a:ext cx="5852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463A36"/>
                </a:solidFill>
                <a:latin typeface="Calibri"/>
              </a:rPr>
              <a:t>Is there one specific thing they will do differently?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9A4030"/>
                </a:solidFill>
                <a:latin typeface="Calibri"/>
              </a:rPr>
              <a:t>Then one sentence at the bottom: which part is weakest, and why.</a:t>
            </a:r>
          </a:p>
        </p:txBody>
      </p:sp>
      <p:pic>
        <p:nvPicPr>
          <p:cNvPr id="25" name="Picture 24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THE HARDER 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Three hard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7772400" cy="69494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" y="1993391"/>
            <a:ext cx="438912" cy="438912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01168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975104"/>
            <a:ext cx="6492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463A36"/>
                </a:solidFill>
                <a:latin typeface="Calibri"/>
              </a:rPr>
              <a:t>Does an apology have to be accepted?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7772400" cy="69494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4" y="2779776"/>
            <a:ext cx="438912" cy="438912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798064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761488"/>
            <a:ext cx="6492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463A36"/>
                </a:solidFill>
                <a:latin typeface="Calibri"/>
              </a:rPr>
              <a:t>Can you apologise for something you still think you were right about?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56432"/>
            <a:ext cx="7772400" cy="694944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" y="3566160"/>
            <a:ext cx="438912" cy="438912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358444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547872"/>
            <a:ext cx="6492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463A36"/>
                </a:solidFill>
                <a:latin typeface="Calibri"/>
              </a:rPr>
              <a:t>Is there a point where it is too late to say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A6862"/>
                </a:solidFill>
                <a:latin typeface="Calibri"/>
              </a:rPr>
              <a:t>Talk to the person next to you, then take a few answers.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D8878"/>
                </a:solidFill>
                <a:latin typeface="Calibri"/>
              </a:rPr>
              <a:t>TWO THINGS WORTH KNOWING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 i="0">
                <a:solidFill>
                  <a:srgbClr val="463A36"/>
                </a:solidFill>
                <a:latin typeface="Georgia"/>
              </a:rPr>
              <a:t>An apology is not a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73936"/>
            <a:ext cx="3749039" cy="2286000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9A4030"/>
                </a:solidFill>
                <a:latin typeface="Georgia"/>
              </a:rPr>
              <a:t>It does not come with forgiveness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79776"/>
            <a:ext cx="31638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00" b="0" i="0">
                <a:solidFill>
                  <a:srgbClr val="7A6862"/>
                </a:solidFill>
                <a:latin typeface="Calibri"/>
              </a:rPr>
              <a:t>You are not owed anything back. Apologising so somebody will say it is fine is a favour you are asking for, not an apology you are giving.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73936"/>
            <a:ext cx="3749039" cy="2286000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EB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993392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9A4030"/>
                </a:solidFill>
                <a:latin typeface="Georgia"/>
              </a:rPr>
              <a:t>You do not have to send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779776"/>
            <a:ext cx="31638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00" b="0" i="0">
                <a:solidFill>
                  <a:srgbClr val="7A6862"/>
                </a:solidFill>
                <a:latin typeface="Calibri"/>
              </a:rPr>
              <a:t>Some of the things people most need to say are to somebody who is not around any more. Writing it still does something.</a:t>
            </a:r>
          </a:p>
        </p:txBody>
      </p:sp>
      <p:pic>
        <p:nvPicPr>
          <p:cNvPr id="13" name="Picture 1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EBC4B6"/>
                </a:solidFill>
                <a:latin typeface="Calibri"/>
              </a:rPr>
              <a:t>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77724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One you actually owe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10512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5064" y="1911095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4" y="191109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883664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Take a slip. Small is fine. It does not have to be recent.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505456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55064" y="2606040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2606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57860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Nobody reads it. Nobody collects it. Fold it and keep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200400"/>
            <a:ext cx="6309360" cy="585216"/>
          </a:xfrm>
          <a:prstGeom prst="roundRect">
            <a:avLst>
              <a:gd name="adj" fmla="val 5500"/>
            </a:avLst>
          </a:prstGeom>
          <a:solidFill>
            <a:srgbClr val="FAEEE9"/>
          </a:solidFill>
          <a:ln w="12700">
            <a:solidFill>
              <a:srgbClr val="FA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55064" y="3300984"/>
            <a:ext cx="384048" cy="384048"/>
          </a:xfrm>
          <a:prstGeom prst="ellipse">
            <a:avLst/>
          </a:prstGeom>
          <a:solidFill>
            <a:srgbClr val="9A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33009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327355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4030"/>
                </a:solidFill>
                <a:latin typeface="Calibri"/>
              </a:rPr>
              <a:t>You do not have to send it.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4B6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4B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32688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56816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9A4030"/>
                </a:solidFill>
                <a:latin typeface="Georgia"/>
              </a:rPr>
              <a:t>Sorry is the easy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9504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7A6862"/>
                </a:solidFill>
                <a:latin typeface="Calibri"/>
              </a:rPr>
              <a:t>Saying what you did, and what you will do instead, is the bit that costs something. That is the bit people remember.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D9C96"/>
                </a:solidFill>
                <a:latin typeface="Calibri"/>
              </a:rPr>
              <a:t>The Apology  ·  A tutor time lesson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D9C96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D9C96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Apology: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