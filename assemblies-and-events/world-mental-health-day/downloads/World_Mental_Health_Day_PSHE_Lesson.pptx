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4168146" y="640080"/>
            <a:ext cx="807707" cy="932688"/>
          </a:xfrm>
          <a:prstGeom prst="rect">
            <a:avLst/>
          </a:prstGeom>
        </p:spPr>
      </p:pic>
      <p:sp>
        <p:nvSpPr>
          <p:cNvPr id="4" name="TextBox 3"/>
          <p:cNvSpPr txBox="1"/>
          <p:nvPr/>
        </p:nvSpPr>
        <p:spPr>
          <a:xfrm>
            <a:off x="548640" y="1591056"/>
            <a:ext cx="8046720" cy="1197864"/>
          </a:xfrm>
          <a:prstGeom prst="rect">
            <a:avLst/>
          </a:prstGeom>
          <a:noFill/>
        </p:spPr>
        <p:txBody>
          <a:bodyPr wrap="square" anchor="t" lIns="0" rIns="0" tIns="0" bIns="0">
            <a:spAutoFit/>
          </a:bodyPr>
          <a:lstStyle/>
          <a:p>
            <a:pPr algn="ctr">
              <a:lnSpc>
                <a:spcPct val="105000"/>
              </a:lnSpc>
              <a:spcAft>
                <a:spcPts val="0"/>
              </a:spcAft>
            </a:pPr>
            <a:r>
              <a:rPr sz="3090" b="0" i="0">
                <a:solidFill>
                  <a:srgbClr val="2C6D5B"/>
                </a:solidFill>
                <a:latin typeface="Georgia"/>
              </a:rPr>
              <a:t>When a Friend Tells You</a:t>
            </a:r>
            <a:br>
              <a:rPr lang="en-GB"/>
            </a:br>
            <a:r>
              <a:rPr sz="3090" b="0" i="0">
                <a:solidFill>
                  <a:srgbClr val="2C6D5B"/>
                </a:solidFill>
                <a:latin typeface="Georgia"/>
              </a:rPr>
              <a:t>They Are Struggling</a:t>
            </a:r>
          </a:p>
        </p:txBody>
      </p:sp>
      <p:sp>
        <p:nvSpPr>
          <p:cNvPr id="5" name="Rectangle 4"/>
          <p:cNvSpPr/>
          <p:nvPr/>
        </p:nvSpPr>
        <p:spPr>
          <a:xfrm>
            <a:off x="4069080" y="2816352"/>
            <a:ext cx="1005840" cy="18288"/>
          </a:xfrm>
          <a:prstGeom prst="rect">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017520"/>
            <a:ext cx="7680960" cy="365760"/>
          </a:xfrm>
          <a:prstGeom prst="rect">
            <a:avLst/>
          </a:prstGeom>
          <a:noFill/>
        </p:spPr>
        <p:txBody>
          <a:bodyPr wrap="square" anchor="t" lIns="0" rIns="0" tIns="0" bIns="0">
            <a:spAutoFit/>
          </a:bodyPr>
          <a:lstStyle/>
          <a:p>
            <a:pPr algn="ctr">
              <a:lnSpc>
                <a:spcPct val="125000"/>
              </a:lnSpc>
              <a:spcAft>
                <a:spcPts val="0"/>
              </a:spcAft>
            </a:pPr>
            <a:r>
              <a:rPr sz="1800" b="0" i="0">
                <a:solidFill>
                  <a:srgbClr val="677974"/>
                </a:solidFill>
                <a:latin typeface="Calibri"/>
              </a:rPr>
              <a:t>World Mental Health Day  ·  PSHE lesson</a:t>
            </a:r>
          </a:p>
        </p:txBody>
      </p:sp>
      <p:sp>
        <p:nvSpPr>
          <p:cNvPr id="7" name="TextBox 6"/>
          <p:cNvSpPr txBox="1"/>
          <p:nvPr/>
        </p:nvSpPr>
        <p:spPr>
          <a:xfrm>
            <a:off x="731520" y="3547872"/>
            <a:ext cx="7680960" cy="365760"/>
          </a:xfrm>
          <a:prstGeom prst="rect">
            <a:avLst/>
          </a:prstGeom>
          <a:noFill/>
        </p:spPr>
        <p:txBody>
          <a:bodyPr wrap="square" anchor="t" lIns="0" rIns="0" tIns="0" bIns="0">
            <a:spAutoFit/>
          </a:bodyPr>
          <a:lstStyle/>
          <a:p>
            <a:pPr algn="ctr">
              <a:lnSpc>
                <a:spcPct val="125000"/>
              </a:lnSpc>
              <a:spcAft>
                <a:spcPts val="0"/>
              </a:spcAft>
            </a:pPr>
            <a:r>
              <a:rPr sz="1300" b="0" i="0">
                <a:solidFill>
                  <a:srgbClr val="A1AFAC"/>
                </a:solidFill>
                <a:latin typeface="Calibri"/>
              </a:rPr>
              <a:t>[ DATE ]</a:t>
            </a:r>
          </a:p>
        </p:txBody>
      </p:sp>
      <p:pic>
        <p:nvPicPr>
          <p:cNvPr id="8" name="Picture 7" descr="logo-mark.png"/>
          <p:cNvPicPr>
            <a:picLocks noChangeAspect="1"/>
          </p:cNvPicPr>
          <p:nvPr/>
        </p:nvPicPr>
        <p:blipFill>
          <a:blip r:embed="rId2"/>
          <a:stretch>
            <a:fillRect/>
          </a:stretch>
        </p:blipFill>
        <p:spPr>
          <a:xfrm>
            <a:off x="384048" y="4727448"/>
            <a:ext cx="158374" cy="182880"/>
          </a:xfrm>
          <a:prstGeom prst="rect">
            <a:avLst/>
          </a:prstGeom>
        </p:spPr>
      </p:pic>
      <p:sp>
        <p:nvSpPr>
          <p:cNvPr id="9" name="TextBox 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0" name="TextBox 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2269682"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TEACHER SLIDE  ·  SKIP IT</a:t>
            </a: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Before they come in</a:t>
            </a:r>
          </a:p>
        </p:txBody>
      </p:sp>
      <p:sp>
        <p:nvSpPr>
          <p:cNvPr id="5" name="Rectangle 4"/>
          <p:cNvSpPr/>
          <p:nvPr/>
        </p:nvSpPr>
        <p:spPr>
          <a:xfrm>
            <a:off x="685800" y="1920240"/>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2048255"/>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44268"/>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8" name="TextBox 7"/>
          <p:cNvSpPr txBox="1"/>
          <p:nvPr/>
        </p:nvSpPr>
        <p:spPr>
          <a:xfrm>
            <a:off x="1417320" y="2020824"/>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Eight response cards, one set per table.</a:t>
            </a:r>
          </a:p>
        </p:txBody>
      </p:sp>
      <p:sp>
        <p:nvSpPr>
          <p:cNvPr id="9" name="TextBox 8"/>
          <p:cNvSpPr txBox="1"/>
          <p:nvPr/>
        </p:nvSpPr>
        <p:spPr>
          <a:xfrm>
            <a:off x="1417320" y="2267712"/>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Page 8 of the pack. Cut them up once and they last for years.</a:t>
            </a:r>
          </a:p>
        </p:txBody>
      </p:sp>
      <p:sp>
        <p:nvSpPr>
          <p:cNvPr id="10" name="Rectangle 9"/>
          <p:cNvSpPr/>
          <p:nvPr/>
        </p:nvSpPr>
        <p:spPr>
          <a:xfrm>
            <a:off x="685800" y="2688336"/>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68680" y="2816351"/>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12363"/>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3" name="TextBox 12"/>
          <p:cNvSpPr txBox="1"/>
          <p:nvPr/>
        </p:nvSpPr>
        <p:spPr>
          <a:xfrm>
            <a:off x="1417320" y="278892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Eight station cards, up on the walls.</a:t>
            </a:r>
          </a:p>
        </p:txBody>
      </p:sp>
      <p:sp>
        <p:nvSpPr>
          <p:cNvPr id="14" name="TextBox 13"/>
          <p:cNvSpPr txBox="1"/>
          <p:nvPr/>
        </p:nvSpPr>
        <p:spPr>
          <a:xfrm>
            <a:off x="1417320" y="3035808"/>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Page 9. Spread them round the room so pairs do not bunch up at one card.</a:t>
            </a:r>
          </a:p>
        </p:txBody>
      </p:sp>
      <p:sp>
        <p:nvSpPr>
          <p:cNvPr id="15" name="Rectangle 14"/>
          <p:cNvSpPr/>
          <p:nvPr/>
        </p:nvSpPr>
        <p:spPr>
          <a:xfrm>
            <a:off x="685800" y="3456432"/>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584448"/>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680460"/>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8" name="TextBox 17"/>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A pile of rewrite strips beside each card.</a:t>
            </a:r>
          </a:p>
        </p:txBody>
      </p:sp>
      <p:sp>
        <p:nvSpPr>
          <p:cNvPr id="19" name="TextBox 18"/>
          <p:cNvSpPr txBox="1"/>
          <p:nvPr/>
        </p:nvSpPr>
        <p:spPr>
          <a:xfrm>
            <a:off x="1417320" y="3803904"/>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Page 10, cut into strips. About six per station is plenty.</a:t>
            </a:r>
          </a:p>
        </p:txBody>
      </p:sp>
      <p:sp>
        <p:nvSpPr>
          <p:cNvPr id="20" name="TextBox 19"/>
          <p:cNvSpPr txBox="1"/>
          <p:nvPr/>
        </p:nvSpPr>
        <p:spPr>
          <a:xfrm>
            <a:off x="685800" y="4133087"/>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Tell your safeguarding lead the lesson is running. Students do come and talk to you after this one.</a:t>
            </a:r>
          </a:p>
        </p:txBody>
      </p:sp>
      <p:pic>
        <p:nvPicPr>
          <p:cNvPr id="21" name="Picture 20" descr="logo-mark.png"/>
          <p:cNvPicPr>
            <a:picLocks noChangeAspect="1"/>
          </p:cNvPicPr>
          <p:nvPr/>
        </p:nvPicPr>
        <p:blipFill>
          <a:blip r:embed="rId2"/>
          <a:stretch>
            <a:fillRect/>
          </a:stretch>
        </p:blipFill>
        <p:spPr>
          <a:xfrm>
            <a:off x="384048" y="4727448"/>
            <a:ext cx="158374" cy="182880"/>
          </a:xfrm>
          <a:prstGeom prst="rect">
            <a:avLst/>
          </a:prstGeom>
        </p:spPr>
      </p:pic>
      <p:sp>
        <p:nvSpPr>
          <p:cNvPr id="22" name="TextBox 21"/>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3" name="TextBox 22"/>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Eight things people actually say</a:t>
            </a:r>
          </a:p>
        </p:txBody>
      </p:sp>
      <p:sp>
        <p:nvSpPr>
          <p:cNvPr id="5" name="TextBox 4"/>
          <p:cNvSpPr txBox="1"/>
          <p:nvPr/>
        </p:nvSpPr>
        <p:spPr>
          <a:xfrm>
            <a:off x="685800" y="1572768"/>
            <a:ext cx="7772400" cy="420624"/>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There are eight cards on your table. Somebody has just told a friend that they are struggling, and these are the replies they got.</a:t>
            </a:r>
          </a:p>
        </p:txBody>
      </p:sp>
      <p:sp>
        <p:nvSpPr>
          <p:cNvPr id="6" name="Rectangle 5"/>
          <p:cNvSpPr/>
          <p:nvPr/>
        </p:nvSpPr>
        <p:spPr>
          <a:xfrm>
            <a:off x="685800" y="2139696"/>
            <a:ext cx="7772400" cy="60350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40279"/>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Helped</a:t>
            </a:r>
          </a:p>
        </p:txBody>
      </p:sp>
      <p:sp>
        <p:nvSpPr>
          <p:cNvPr id="8" name="TextBox 7"/>
          <p:cNvSpPr txBox="1"/>
          <p:nvPr/>
        </p:nvSpPr>
        <p:spPr>
          <a:xfrm>
            <a:off x="960120" y="2487168"/>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You would be glad somebody said this to you.</a:t>
            </a:r>
          </a:p>
        </p:txBody>
      </p:sp>
      <p:sp>
        <p:nvSpPr>
          <p:cNvPr id="9" name="Rectangle 8"/>
          <p:cNvSpPr/>
          <p:nvPr/>
        </p:nvSpPr>
        <p:spPr>
          <a:xfrm>
            <a:off x="685800" y="2852928"/>
            <a:ext cx="7772400" cy="60350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953512"/>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Did not help</a:t>
            </a:r>
          </a:p>
        </p:txBody>
      </p:sp>
      <p:sp>
        <p:nvSpPr>
          <p:cNvPr id="11" name="TextBox 10"/>
          <p:cNvSpPr txBox="1"/>
          <p:nvPr/>
        </p:nvSpPr>
        <p:spPr>
          <a:xfrm>
            <a:off x="960120" y="3200400"/>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Nothing cruel about it. It just ended the conversation.</a:t>
            </a:r>
          </a:p>
        </p:txBody>
      </p:sp>
      <p:sp>
        <p:nvSpPr>
          <p:cNvPr id="12" name="Rectangle 11"/>
          <p:cNvSpPr/>
          <p:nvPr/>
        </p:nvSpPr>
        <p:spPr>
          <a:xfrm>
            <a:off x="685800" y="3566160"/>
            <a:ext cx="7772400" cy="60350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666744"/>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It depends</a:t>
            </a:r>
          </a:p>
        </p:txBody>
      </p:sp>
      <p:sp>
        <p:nvSpPr>
          <p:cNvPr id="14" name="TextBox 13"/>
          <p:cNvSpPr txBox="1"/>
          <p:nvPr/>
        </p:nvSpPr>
        <p:spPr>
          <a:xfrm>
            <a:off x="960120" y="3913632"/>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It could go either way, and you have to say what it depends on.</a:t>
            </a:r>
          </a:p>
        </p:txBody>
      </p:sp>
      <p:sp>
        <p:nvSpPr>
          <p:cNvPr id="15" name="TextBox 1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This hour is about what you say to somebody else, not about your own week.</a:t>
            </a:r>
          </a:p>
        </p:txBody>
      </p:sp>
      <p:pic>
        <p:nvPicPr>
          <p:cNvPr id="16" name="Picture 15" descr="logo-mark.png"/>
          <p:cNvPicPr>
            <a:picLocks noChangeAspect="1"/>
          </p:cNvPicPr>
          <p:nvPr/>
        </p:nvPicPr>
        <p:blipFill>
          <a:blip r:embed="rId2"/>
          <a:stretch>
            <a:fillRect/>
          </a:stretch>
        </p:blipFill>
        <p:spPr>
          <a:xfrm>
            <a:off x="384048" y="4727448"/>
            <a:ext cx="158374" cy="182880"/>
          </a:xfrm>
          <a:prstGeom prst="rect">
            <a:avLst/>
          </a:prstGeom>
        </p:spPr>
      </p:pic>
      <p:sp>
        <p:nvSpPr>
          <p:cNvPr id="17" name="TextBox 1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8" name="TextBox 1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The pile that starts the argument</a:t>
            </a:r>
          </a:p>
        </p:txBody>
      </p:sp>
      <p:sp>
        <p:nvSpPr>
          <p:cNvPr id="5" name="TextBox 4"/>
          <p:cNvSpPr txBox="1"/>
          <p:nvPr/>
        </p:nvSpPr>
        <p:spPr>
          <a:xfrm>
            <a:off x="685800" y="1554480"/>
            <a:ext cx="7772400" cy="412750"/>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Most classes agree the top three and bottom two quickly. The middle pile takes the time.</a:t>
            </a:r>
          </a:p>
        </p:txBody>
      </p:sp>
      <p:sp>
        <p:nvSpPr>
          <p:cNvPr id="6" name="Rectangle 5"/>
          <p:cNvSpPr/>
          <p:nvPr/>
        </p:nvSpPr>
        <p:spPr>
          <a:xfrm>
            <a:off x="685800" y="2066543"/>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67127"/>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“You should tell someone.”</a:t>
            </a:r>
          </a:p>
        </p:txBody>
      </p:sp>
      <p:sp>
        <p:nvSpPr>
          <p:cNvPr id="8" name="TextBox 7"/>
          <p:cNvSpPr txBox="1"/>
          <p:nvPr/>
        </p:nvSpPr>
        <p:spPr>
          <a:xfrm>
            <a:off x="960120" y="2414015"/>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True, but it does nothing on its own. It puts the whole thing back on them.</a:t>
            </a:r>
          </a:p>
        </p:txBody>
      </p:sp>
      <p:sp>
        <p:nvSpPr>
          <p:cNvPr id="9" name="Rectangle 8"/>
          <p:cNvSpPr/>
          <p:nvPr/>
        </p:nvSpPr>
        <p:spPr>
          <a:xfrm>
            <a:off x="685800" y="2798063"/>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898647"/>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“Same though. I get like that too.”</a:t>
            </a:r>
          </a:p>
        </p:txBody>
      </p:sp>
      <p:sp>
        <p:nvSpPr>
          <p:cNvPr id="11" name="TextBox 10"/>
          <p:cNvSpPr txBox="1"/>
          <p:nvPr/>
        </p:nvSpPr>
        <p:spPr>
          <a:xfrm>
            <a:off x="960120" y="3145535"/>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It can make somebody feel less odd. It can also turn the conversation round to you.</a:t>
            </a:r>
          </a:p>
        </p:txBody>
      </p:sp>
      <p:sp>
        <p:nvSpPr>
          <p:cNvPr id="12" name="Rectangle 11"/>
          <p:cNvSpPr/>
          <p:nvPr/>
        </p:nvSpPr>
        <p:spPr>
          <a:xfrm>
            <a:off x="685800" y="3529583"/>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630167"/>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“Are you okay?”</a:t>
            </a:r>
          </a:p>
        </p:txBody>
      </p:sp>
      <p:sp>
        <p:nvSpPr>
          <p:cNvPr id="14" name="TextBox 13"/>
          <p:cNvSpPr txBox="1"/>
          <p:nvPr/>
        </p:nvSpPr>
        <p:spPr>
          <a:xfrm>
            <a:off x="960120" y="3877055"/>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The most common thing anybody says, and the easiest to answer with a lie.</a:t>
            </a:r>
          </a:p>
        </p:txBody>
      </p:sp>
      <p:sp>
        <p:nvSpPr>
          <p:cNvPr id="15" name="TextBox 1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None of these is cruel. They just do not get you very far.</a:t>
            </a:r>
          </a:p>
        </p:txBody>
      </p:sp>
      <p:pic>
        <p:nvPicPr>
          <p:cNvPr id="16" name="Picture 15" descr="logo-mark.png"/>
          <p:cNvPicPr>
            <a:picLocks noChangeAspect="1"/>
          </p:cNvPicPr>
          <p:nvPr/>
        </p:nvPicPr>
        <p:blipFill>
          <a:blip r:embed="rId2"/>
          <a:stretch>
            <a:fillRect/>
          </a:stretch>
        </p:blipFill>
        <p:spPr>
          <a:xfrm>
            <a:off x="384048" y="4727448"/>
            <a:ext cx="158374" cy="182880"/>
          </a:xfrm>
          <a:prstGeom prst="rect">
            <a:avLst/>
          </a:prstGeom>
        </p:spPr>
      </p:pic>
      <p:sp>
        <p:nvSpPr>
          <p:cNvPr id="17" name="TextBox 1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8" name="TextBox 1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89888"/>
            <a:ext cx="8046720" cy="1463040"/>
          </a:xfrm>
          <a:prstGeom prst="rect">
            <a:avLst/>
          </a:prstGeom>
          <a:noFill/>
        </p:spPr>
        <p:txBody>
          <a:bodyPr wrap="square" anchor="t" lIns="0" rIns="0" tIns="0" bIns="0">
            <a:spAutoFit/>
          </a:bodyPr>
          <a:lstStyle/>
          <a:p>
            <a:pPr algn="ctr">
              <a:lnSpc>
                <a:spcPct val="114000"/>
              </a:lnSpc>
              <a:spcAft>
                <a:spcPts val="0"/>
              </a:spcAft>
            </a:pPr>
            <a:r>
              <a:rPr sz="2800" b="0" i="0">
                <a:solidFill>
                  <a:srgbClr val="FFFDF7"/>
                </a:solidFill>
                <a:latin typeface="Georgia"/>
              </a:rPr>
              <a:t>Somebody has told you something,</a:t>
            </a:r>
          </a:p>
          <a:p>
            <a:pPr algn="ctr">
              <a:lnSpc>
                <a:spcPct val="114000"/>
              </a:lnSpc>
              <a:spcBef>
                <a:spcPts val="800"/>
              </a:spcBef>
              <a:spcAft>
                <a:spcPts val="0"/>
              </a:spcAft>
            </a:pPr>
            <a:r>
              <a:rPr sz="2800" b="0" i="0">
                <a:solidFill>
                  <a:srgbClr val="FFFDF7"/>
                </a:solidFill>
                <a:latin typeface="Georgia"/>
              </a:rPr>
              <a:t>and you have no idea what to say next.</a:t>
            </a:r>
          </a:p>
        </p:txBody>
      </p:sp>
      <p:sp>
        <p:nvSpPr>
          <p:cNvPr id="4" name="Rectangle 3"/>
          <p:cNvSpPr/>
          <p:nvPr/>
        </p:nvSpPr>
        <p:spPr>
          <a:xfrm>
            <a:off x="4114800" y="3108960"/>
            <a:ext cx="914400" cy="18288"/>
          </a:xfrm>
          <a:prstGeom prst="rect">
            <a:avLst/>
          </a:prstGeom>
          <a:solidFill>
            <a:srgbClr val="BEDA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3346704"/>
            <a:ext cx="6400800" cy="731520"/>
          </a:xfrm>
          <a:prstGeom prst="rect">
            <a:avLst/>
          </a:prstGeom>
          <a:noFill/>
        </p:spPr>
        <p:txBody>
          <a:bodyPr wrap="square" anchor="t" lIns="0" rIns="0" tIns="0" bIns="0">
            <a:spAutoFit/>
          </a:bodyPr>
          <a:lstStyle/>
          <a:p>
            <a:pPr algn="ctr">
              <a:lnSpc>
                <a:spcPct val="125000"/>
              </a:lnSpc>
              <a:spcAft>
                <a:spcPts val="0"/>
              </a:spcAft>
            </a:pPr>
            <a:r>
              <a:rPr sz="1350" b="0" i="0">
                <a:solidFill>
                  <a:srgbClr val="BEDAD3"/>
                </a:solidFill>
                <a:latin typeface="Calibri"/>
              </a:rPr>
              <a:t>So you say the first thing that comes out, and then you think about it for the rest of the day. Almost everybody does that, and it is why we are doing this.</a:t>
            </a:r>
          </a:p>
        </p:txBody>
      </p:sp>
      <p:pic>
        <p:nvPicPr>
          <p:cNvPr id="6" name="Picture 5" descr="logo-mark.png"/>
          <p:cNvPicPr>
            <a:picLocks noChangeAspect="1"/>
          </p:cNvPicPr>
          <p:nvPr/>
        </p:nvPicPr>
        <p:blipFill>
          <a:blip r:embed="rId2"/>
          <a:stretch>
            <a:fillRect/>
          </a:stretch>
        </p:blipFill>
        <p:spPr>
          <a:xfrm>
            <a:off x="384048" y="4727448"/>
            <a:ext cx="158374" cy="182880"/>
          </a:xfrm>
          <a:prstGeom prst="rect">
            <a:avLst/>
          </a:prstGeom>
        </p:spPr>
      </p:pic>
      <p:sp>
        <p:nvSpPr>
          <p:cNvPr id="7" name="TextBox 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BEDAD3"/>
                </a:solidFill>
                <a:latin typeface="Calibri"/>
              </a:rPr>
              <a:t>The Pastoral Guide</a:t>
            </a:r>
          </a:p>
        </p:txBody>
      </p:sp>
      <p:sp>
        <p:nvSpPr>
          <p:cNvPr id="8" name="TextBox 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BEDAD3"/>
                </a:solidFill>
                <a:latin typeface="Calibri"/>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The four moves</a:t>
            </a:r>
          </a:p>
        </p:txBody>
      </p:sp>
      <p:sp>
        <p:nvSpPr>
          <p:cNvPr id="5" name="Rectangle 4"/>
          <p:cNvSpPr/>
          <p:nvPr/>
        </p:nvSpPr>
        <p:spPr>
          <a:xfrm>
            <a:off x="685800" y="1609344"/>
            <a:ext cx="3749039" cy="120700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68680" y="188366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ye.png"/>
          <p:cNvPicPr>
            <a:picLocks noChangeAspect="1"/>
          </p:cNvPicPr>
          <p:nvPr/>
        </p:nvPicPr>
        <p:blipFill>
          <a:blip r:embed="rId2"/>
          <a:stretch>
            <a:fillRect/>
          </a:stretch>
        </p:blipFill>
        <p:spPr>
          <a:xfrm>
            <a:off x="1005840" y="2020824"/>
            <a:ext cx="384048" cy="384048"/>
          </a:xfrm>
          <a:prstGeom prst="rect">
            <a:avLst/>
          </a:prstGeom>
        </p:spPr>
      </p:pic>
      <p:sp>
        <p:nvSpPr>
          <p:cNvPr id="8" name="TextBox 7"/>
          <p:cNvSpPr txBox="1"/>
          <p:nvPr/>
        </p:nvSpPr>
        <p:spPr>
          <a:xfrm>
            <a:off x="1655064" y="1883664"/>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C6D5B"/>
                </a:solidFill>
                <a:latin typeface="Georgia"/>
              </a:rPr>
              <a:t>Notice</a:t>
            </a:r>
          </a:p>
        </p:txBody>
      </p:sp>
      <p:sp>
        <p:nvSpPr>
          <p:cNvPr id="9" name="TextBox 8"/>
          <p:cNvSpPr txBox="1"/>
          <p:nvPr/>
        </p:nvSpPr>
        <p:spPr>
          <a:xfrm>
            <a:off x="1655064" y="2231136"/>
            <a:ext cx="2596896" cy="512064"/>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Say what you have actually seen, not a general question.</a:t>
            </a:r>
          </a:p>
        </p:txBody>
      </p:sp>
      <p:sp>
        <p:nvSpPr>
          <p:cNvPr id="10" name="Rectangle 9"/>
          <p:cNvSpPr/>
          <p:nvPr/>
        </p:nvSpPr>
        <p:spPr>
          <a:xfrm>
            <a:off x="4709159" y="1609344"/>
            <a:ext cx="3749039" cy="120700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892039" y="188366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sktwice.png"/>
          <p:cNvPicPr>
            <a:picLocks noChangeAspect="1"/>
          </p:cNvPicPr>
          <p:nvPr/>
        </p:nvPicPr>
        <p:blipFill>
          <a:blip r:embed="rId3"/>
          <a:stretch>
            <a:fillRect/>
          </a:stretch>
        </p:blipFill>
        <p:spPr>
          <a:xfrm>
            <a:off x="5029199" y="2020824"/>
            <a:ext cx="384048" cy="384048"/>
          </a:xfrm>
          <a:prstGeom prst="rect">
            <a:avLst/>
          </a:prstGeom>
        </p:spPr>
      </p:pic>
      <p:sp>
        <p:nvSpPr>
          <p:cNvPr id="13" name="TextBox 12"/>
          <p:cNvSpPr txBox="1"/>
          <p:nvPr/>
        </p:nvSpPr>
        <p:spPr>
          <a:xfrm>
            <a:off x="5678423" y="1883664"/>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C6D5B"/>
                </a:solidFill>
                <a:latin typeface="Georgia"/>
              </a:rPr>
              <a:t>Ask twice</a:t>
            </a:r>
          </a:p>
        </p:txBody>
      </p:sp>
      <p:sp>
        <p:nvSpPr>
          <p:cNvPr id="14" name="TextBox 13"/>
          <p:cNvSpPr txBox="1"/>
          <p:nvPr/>
        </p:nvSpPr>
        <p:spPr>
          <a:xfrm>
            <a:off x="5678423" y="2231136"/>
            <a:ext cx="2596896" cy="512064"/>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The first answer is nearly always the polite one. Go back once.</a:t>
            </a:r>
          </a:p>
        </p:txBody>
      </p:sp>
      <p:sp>
        <p:nvSpPr>
          <p:cNvPr id="15" name="Rectangle 14"/>
          <p:cNvSpPr/>
          <p:nvPr/>
        </p:nvSpPr>
        <p:spPr>
          <a:xfrm>
            <a:off x="685800" y="2980944"/>
            <a:ext cx="3749039" cy="120700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68680" y="325526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ear.png"/>
          <p:cNvPicPr>
            <a:picLocks noChangeAspect="1"/>
          </p:cNvPicPr>
          <p:nvPr/>
        </p:nvPicPr>
        <p:blipFill>
          <a:blip r:embed="rId4"/>
          <a:stretch>
            <a:fillRect/>
          </a:stretch>
        </p:blipFill>
        <p:spPr>
          <a:xfrm>
            <a:off x="1005840" y="3392424"/>
            <a:ext cx="384048" cy="384048"/>
          </a:xfrm>
          <a:prstGeom prst="rect">
            <a:avLst/>
          </a:prstGeom>
        </p:spPr>
      </p:pic>
      <p:sp>
        <p:nvSpPr>
          <p:cNvPr id="18" name="TextBox 17"/>
          <p:cNvSpPr txBox="1"/>
          <p:nvPr/>
        </p:nvSpPr>
        <p:spPr>
          <a:xfrm>
            <a:off x="1655064" y="3255263"/>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C6D5B"/>
                </a:solidFill>
                <a:latin typeface="Georgia"/>
              </a:rPr>
              <a:t>Listen</a:t>
            </a:r>
          </a:p>
        </p:txBody>
      </p:sp>
      <p:sp>
        <p:nvSpPr>
          <p:cNvPr id="19" name="TextBox 18"/>
          <p:cNvSpPr txBox="1"/>
          <p:nvPr/>
        </p:nvSpPr>
        <p:spPr>
          <a:xfrm>
            <a:off x="1655064" y="3602736"/>
            <a:ext cx="2596896" cy="512064"/>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Say it back to them instead of trying to solve it.</a:t>
            </a:r>
          </a:p>
        </p:txBody>
      </p:sp>
      <p:sp>
        <p:nvSpPr>
          <p:cNvPr id="20" name="Rectangle 19"/>
          <p:cNvSpPr/>
          <p:nvPr/>
        </p:nvSpPr>
        <p:spPr>
          <a:xfrm>
            <a:off x="4709159" y="2980944"/>
            <a:ext cx="3749039" cy="120700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4892039" y="325526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stay.png"/>
          <p:cNvPicPr>
            <a:picLocks noChangeAspect="1"/>
          </p:cNvPicPr>
          <p:nvPr/>
        </p:nvPicPr>
        <p:blipFill>
          <a:blip r:embed="rId5"/>
          <a:stretch>
            <a:fillRect/>
          </a:stretch>
        </p:blipFill>
        <p:spPr>
          <a:xfrm>
            <a:off x="5029199" y="3392424"/>
            <a:ext cx="384048" cy="384048"/>
          </a:xfrm>
          <a:prstGeom prst="rect">
            <a:avLst/>
          </a:prstGeom>
        </p:spPr>
      </p:pic>
      <p:sp>
        <p:nvSpPr>
          <p:cNvPr id="23" name="TextBox 22"/>
          <p:cNvSpPr txBox="1"/>
          <p:nvPr/>
        </p:nvSpPr>
        <p:spPr>
          <a:xfrm>
            <a:off x="5678423" y="3255263"/>
            <a:ext cx="2596896" cy="310896"/>
          </a:xfrm>
          <a:prstGeom prst="rect">
            <a:avLst/>
          </a:prstGeom>
          <a:noFill/>
        </p:spPr>
        <p:txBody>
          <a:bodyPr wrap="square" anchor="t" lIns="0" rIns="0" tIns="0" bIns="0">
            <a:spAutoFit/>
          </a:bodyPr>
          <a:lstStyle/>
          <a:p>
            <a:pPr algn="l">
              <a:lnSpc>
                <a:spcPct val="125000"/>
              </a:lnSpc>
              <a:spcAft>
                <a:spcPts val="0"/>
              </a:spcAft>
            </a:pPr>
            <a:r>
              <a:rPr sz="1400" b="0" i="0">
                <a:solidFill>
                  <a:srgbClr val="2C6D5B"/>
                </a:solidFill>
                <a:latin typeface="Georgia"/>
              </a:rPr>
              <a:t>Stay</a:t>
            </a:r>
          </a:p>
        </p:txBody>
      </p:sp>
      <p:sp>
        <p:nvSpPr>
          <p:cNvPr id="24" name="TextBox 23"/>
          <p:cNvSpPr txBox="1"/>
          <p:nvPr/>
        </p:nvSpPr>
        <p:spPr>
          <a:xfrm>
            <a:off x="5678423" y="3602736"/>
            <a:ext cx="2596896" cy="512064"/>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Do not disappear afterwards, and do not carry it on your own.</a:t>
            </a:r>
          </a:p>
        </p:txBody>
      </p:sp>
      <p:sp>
        <p:nvSpPr>
          <p:cNvPr id="25" name="TextBox 24"/>
          <p:cNvSpPr txBox="1"/>
          <p:nvPr/>
        </p:nvSpPr>
        <p:spPr>
          <a:xfrm>
            <a:off x="685800" y="4279392"/>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All four of those fit inside one conversation, and it takes about two minutes.</a:t>
            </a:r>
          </a:p>
        </p:txBody>
      </p:sp>
      <p:pic>
        <p:nvPicPr>
          <p:cNvPr id="26" name="Picture 25" descr="logo-mark.png"/>
          <p:cNvPicPr>
            <a:picLocks noChangeAspect="1"/>
          </p:cNvPicPr>
          <p:nvPr/>
        </p:nvPicPr>
        <p:blipFill>
          <a:blip r:embed="rId6"/>
          <a:stretch>
            <a:fillRect/>
          </a:stretch>
        </p:blipFill>
        <p:spPr>
          <a:xfrm>
            <a:off x="384048" y="4727448"/>
            <a:ext cx="158374" cy="182880"/>
          </a:xfrm>
          <a:prstGeom prst="rect">
            <a:avLst/>
          </a:prstGeom>
        </p:spPr>
      </p:pic>
      <p:sp>
        <p:nvSpPr>
          <p:cNvPr id="27" name="TextBox 2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8" name="TextBox 2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099789"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MOVE ONE</a:t>
            </a:r>
          </a:p>
        </p:txBody>
      </p:sp>
      <p:sp>
        <p:nvSpPr>
          <p:cNvPr id="4" name="TextBox 3"/>
          <p:cNvSpPr txBox="1"/>
          <p:nvPr/>
        </p:nvSpPr>
        <p:spPr>
          <a:xfrm>
            <a:off x="685800" y="914400"/>
            <a:ext cx="7772400" cy="603504"/>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Notice out loud</a:t>
            </a:r>
          </a:p>
        </p:txBody>
      </p:sp>
      <p:sp>
        <p:nvSpPr>
          <p:cNvPr id="5" name="Rectangle 4"/>
          <p:cNvSpPr/>
          <p:nvPr/>
        </p:nvSpPr>
        <p:spPr>
          <a:xfrm>
            <a:off x="685800" y="1700784"/>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56816"/>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C6D5B"/>
                </a:solidFill>
                <a:latin typeface="Georgia"/>
              </a:rPr>
              <a:t>Gets you “yeah, fine”</a:t>
            </a:r>
          </a:p>
        </p:txBody>
      </p:sp>
      <p:sp>
        <p:nvSpPr>
          <p:cNvPr id="7" name="Oval 6"/>
          <p:cNvSpPr/>
          <p:nvPr/>
        </p:nvSpPr>
        <p:spPr>
          <a:xfrm>
            <a:off x="1005839" y="243230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37744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“You alright?”</a:t>
            </a:r>
          </a:p>
        </p:txBody>
      </p:sp>
      <p:sp>
        <p:nvSpPr>
          <p:cNvPr id="9" name="Oval 8"/>
          <p:cNvSpPr/>
          <p:nvPr/>
        </p:nvSpPr>
        <p:spPr>
          <a:xfrm>
            <a:off x="1005839" y="291998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86512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“You good?”</a:t>
            </a:r>
          </a:p>
        </p:txBody>
      </p:sp>
      <p:sp>
        <p:nvSpPr>
          <p:cNvPr id="11" name="Oval 10"/>
          <p:cNvSpPr/>
          <p:nvPr/>
        </p:nvSpPr>
        <p:spPr>
          <a:xfrm>
            <a:off x="1005839" y="340766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35280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“What is up with you lately?”</a:t>
            </a:r>
          </a:p>
        </p:txBody>
      </p:sp>
      <p:sp>
        <p:nvSpPr>
          <p:cNvPr id="13" name="Rectangle 12"/>
          <p:cNvSpPr/>
          <p:nvPr/>
        </p:nvSpPr>
        <p:spPr>
          <a:xfrm>
            <a:off x="4727448" y="1700784"/>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1768" y="1956816"/>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C6D5B"/>
                </a:solidFill>
                <a:latin typeface="Georgia"/>
              </a:rPr>
              <a:t>Gets you a real answer</a:t>
            </a:r>
          </a:p>
        </p:txBody>
      </p:sp>
      <p:sp>
        <p:nvSpPr>
          <p:cNvPr id="15" name="Oval 14"/>
          <p:cNvSpPr/>
          <p:nvPr/>
        </p:nvSpPr>
        <p:spPr>
          <a:xfrm>
            <a:off x="5047488" y="243230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76088" y="237744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“You have been quiet all week.”</a:t>
            </a:r>
          </a:p>
        </p:txBody>
      </p:sp>
      <p:sp>
        <p:nvSpPr>
          <p:cNvPr id="17" name="Oval 16"/>
          <p:cNvSpPr/>
          <p:nvPr/>
        </p:nvSpPr>
        <p:spPr>
          <a:xfrm>
            <a:off x="5047488" y="2798275"/>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76088" y="2743411"/>
            <a:ext cx="2889504" cy="365125"/>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“You did not come to training. That is not like you.”</a:t>
            </a:r>
          </a:p>
        </p:txBody>
      </p:sp>
      <p:sp>
        <p:nvSpPr>
          <p:cNvPr id="19" name="Oval 18"/>
          <p:cNvSpPr/>
          <p:nvPr/>
        </p:nvSpPr>
        <p:spPr>
          <a:xfrm>
            <a:off x="5047488" y="3346809"/>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3291945"/>
            <a:ext cx="2889504" cy="365125"/>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“You have not sat with us at lunch since Monday.”</a:t>
            </a:r>
          </a:p>
        </p:txBody>
      </p:sp>
      <p:sp>
        <p:nvSpPr>
          <p:cNvPr id="21" name="TextBox 20"/>
          <p:cNvSpPr txBox="1"/>
          <p:nvPr/>
        </p:nvSpPr>
        <p:spPr>
          <a:xfrm>
            <a:off x="685800" y="4023360"/>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The second set shows you had already noticed, which is a lot harder to shrug off.</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131837"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MOVE TWO</a:t>
            </a:r>
          </a:p>
        </p:txBody>
      </p:sp>
      <p:sp>
        <p:nvSpPr>
          <p:cNvPr id="4" name="TextBox 3"/>
          <p:cNvSpPr txBox="1"/>
          <p:nvPr/>
        </p:nvSpPr>
        <p:spPr>
          <a:xfrm>
            <a:off x="685800" y="914400"/>
            <a:ext cx="7772400" cy="603504"/>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Ask twice</a:t>
            </a:r>
          </a:p>
        </p:txBody>
      </p:sp>
      <p:sp>
        <p:nvSpPr>
          <p:cNvPr id="5" name="TextBox 4"/>
          <p:cNvSpPr txBox="1"/>
          <p:nvPr/>
        </p:nvSpPr>
        <p:spPr>
          <a:xfrm>
            <a:off x="685800" y="1591056"/>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Almost nobody tells the truth first time, and very few mind being asked again.</a:t>
            </a:r>
          </a:p>
        </p:txBody>
      </p:sp>
      <p:sp>
        <p:nvSpPr>
          <p:cNvPr id="6" name="Rectangle 5"/>
          <p:cNvSpPr/>
          <p:nvPr/>
        </p:nvSpPr>
        <p:spPr>
          <a:xfrm>
            <a:off x="685800" y="1956816"/>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84831"/>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80844"/>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5740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“How are you doing?”</a:t>
            </a:r>
          </a:p>
        </p:txBody>
      </p:sp>
      <p:sp>
        <p:nvSpPr>
          <p:cNvPr id="10" name="TextBox 9"/>
          <p:cNvSpPr txBox="1"/>
          <p:nvPr/>
        </p:nvSpPr>
        <p:spPr>
          <a:xfrm>
            <a:off x="1417320" y="2304288"/>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“Yeah, fine.” That is the polite answer and it costs nothing to give.</a:t>
            </a:r>
          </a:p>
        </p:txBody>
      </p:sp>
      <p:sp>
        <p:nvSpPr>
          <p:cNvPr id="11" name="Rectangle 10"/>
          <p:cNvSpPr/>
          <p:nvPr/>
        </p:nvSpPr>
        <p:spPr>
          <a:xfrm>
            <a:off x="685800" y="2706624"/>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34639"/>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30651"/>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80720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Then wait. Do not fill the gap.</a:t>
            </a:r>
          </a:p>
        </p:txBody>
      </p:sp>
      <p:sp>
        <p:nvSpPr>
          <p:cNvPr id="15" name="TextBox 14"/>
          <p:cNvSpPr txBox="1"/>
          <p:nvPr/>
        </p:nvSpPr>
        <p:spPr>
          <a:xfrm>
            <a:off x="1417320" y="3054096"/>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A few seconds of silence does more work than another question does.</a:t>
            </a:r>
          </a:p>
        </p:txBody>
      </p:sp>
      <p:sp>
        <p:nvSpPr>
          <p:cNvPr id="16" name="Rectangle 15"/>
          <p:cNvSpPr/>
          <p:nvPr/>
        </p:nvSpPr>
        <p:spPr>
          <a:xfrm>
            <a:off x="685800" y="3456432"/>
            <a:ext cx="7772400" cy="65836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84448"/>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80460"/>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5701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“No, really. How are you doing?”</a:t>
            </a:r>
          </a:p>
        </p:txBody>
      </p:sp>
      <p:sp>
        <p:nvSpPr>
          <p:cNvPr id="20" name="TextBox 19"/>
          <p:cNvSpPr txBox="1"/>
          <p:nvPr/>
        </p:nvSpPr>
        <p:spPr>
          <a:xfrm>
            <a:off x="1417320" y="3803904"/>
            <a:ext cx="6821424" cy="237743"/>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Different words, same question, and it says you meant the first one.</a:t>
            </a:r>
          </a:p>
        </p:txBody>
      </p:sp>
      <p:sp>
        <p:nvSpPr>
          <p:cNvPr id="21" name="TextBox 20"/>
          <p:cNvSpPr txBox="1"/>
          <p:nvPr/>
        </p:nvSpPr>
        <p:spPr>
          <a:xfrm>
            <a:off x="685800" y="4151376"/>
            <a:ext cx="7772400" cy="380999"/>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If the answer is still fine, leave it and come back another day. Asking twice is not the same as pushing.</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271327"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MOVE THREE</a:t>
            </a:r>
          </a:p>
        </p:txBody>
      </p:sp>
      <p:sp>
        <p:nvSpPr>
          <p:cNvPr id="4" name="TextBox 3"/>
          <p:cNvSpPr txBox="1"/>
          <p:nvPr/>
        </p:nvSpPr>
        <p:spPr>
          <a:xfrm>
            <a:off x="685800" y="914400"/>
            <a:ext cx="7772400" cy="603504"/>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Listen without fixing</a:t>
            </a:r>
          </a:p>
        </p:txBody>
      </p:sp>
      <p:sp>
        <p:nvSpPr>
          <p:cNvPr id="5" name="Rectangle 4"/>
          <p:cNvSpPr/>
          <p:nvPr/>
        </p:nvSpPr>
        <p:spPr>
          <a:xfrm>
            <a:off x="685800" y="1700784"/>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56816"/>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C6D5B"/>
                </a:solidFill>
                <a:latin typeface="Georgia"/>
              </a:rPr>
              <a:t>What we reach for</a:t>
            </a:r>
          </a:p>
        </p:txBody>
      </p:sp>
      <p:sp>
        <p:nvSpPr>
          <p:cNvPr id="7" name="Oval 6"/>
          <p:cNvSpPr/>
          <p:nvPr/>
        </p:nvSpPr>
        <p:spPr>
          <a:xfrm>
            <a:off x="1005839" y="243230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34440" y="237744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Advice they did not ask for</a:t>
            </a:r>
          </a:p>
        </p:txBody>
      </p:sp>
      <p:sp>
        <p:nvSpPr>
          <p:cNvPr id="9" name="Oval 8"/>
          <p:cNvSpPr/>
          <p:nvPr/>
        </p:nvSpPr>
        <p:spPr>
          <a:xfrm>
            <a:off x="1005839" y="291998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286512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“At least it is not as bad as...”</a:t>
            </a:r>
          </a:p>
        </p:txBody>
      </p:sp>
      <p:sp>
        <p:nvSpPr>
          <p:cNvPr id="11" name="Oval 10"/>
          <p:cNvSpPr/>
          <p:nvPr/>
        </p:nvSpPr>
        <p:spPr>
          <a:xfrm>
            <a:off x="1005839" y="340766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34440" y="3352800"/>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A story about yourself</a:t>
            </a:r>
          </a:p>
        </p:txBody>
      </p:sp>
      <p:sp>
        <p:nvSpPr>
          <p:cNvPr id="13" name="Rectangle 12"/>
          <p:cNvSpPr/>
          <p:nvPr/>
        </p:nvSpPr>
        <p:spPr>
          <a:xfrm>
            <a:off x="4727448" y="1700784"/>
            <a:ext cx="3730752" cy="2249424"/>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1768" y="1956816"/>
            <a:ext cx="3182112" cy="274320"/>
          </a:xfrm>
          <a:prstGeom prst="rect">
            <a:avLst/>
          </a:prstGeom>
          <a:noFill/>
        </p:spPr>
        <p:txBody>
          <a:bodyPr wrap="square" anchor="t" lIns="0" rIns="0" tIns="0" bIns="0">
            <a:spAutoFit/>
          </a:bodyPr>
          <a:lstStyle/>
          <a:p>
            <a:pPr algn="l">
              <a:lnSpc>
                <a:spcPct val="125000"/>
              </a:lnSpc>
              <a:spcAft>
                <a:spcPts val="0"/>
              </a:spcAft>
            </a:pPr>
            <a:r>
              <a:rPr sz="1350" b="0" i="0">
                <a:solidFill>
                  <a:srgbClr val="2C6D5B"/>
                </a:solidFill>
                <a:latin typeface="Georgia"/>
              </a:rPr>
              <a:t>What actually helps</a:t>
            </a:r>
          </a:p>
        </p:txBody>
      </p:sp>
      <p:sp>
        <p:nvSpPr>
          <p:cNvPr id="15" name="Oval 14"/>
          <p:cNvSpPr/>
          <p:nvPr/>
        </p:nvSpPr>
        <p:spPr>
          <a:xfrm>
            <a:off x="5047488" y="2432304"/>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76088" y="2377440"/>
            <a:ext cx="2889504" cy="365125"/>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“So it is mostly when you are at home.”</a:t>
            </a:r>
          </a:p>
        </p:txBody>
      </p:sp>
      <p:sp>
        <p:nvSpPr>
          <p:cNvPr id="17" name="Oval 16"/>
          <p:cNvSpPr/>
          <p:nvPr/>
        </p:nvSpPr>
        <p:spPr>
          <a:xfrm>
            <a:off x="5047488" y="3041692"/>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76088" y="2986828"/>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“That sounds exhausting.”</a:t>
            </a:r>
          </a:p>
        </p:txBody>
      </p:sp>
      <p:sp>
        <p:nvSpPr>
          <p:cNvPr id="19" name="Oval 18"/>
          <p:cNvSpPr/>
          <p:nvPr/>
        </p:nvSpPr>
        <p:spPr>
          <a:xfrm>
            <a:off x="5047488" y="3468518"/>
            <a:ext cx="91440" cy="91440"/>
          </a:xfrm>
          <a:prstGeom prst="ellipse">
            <a:avLst/>
          </a:prstGeom>
          <a:solidFill>
            <a:srgbClr val="68B19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76088" y="3413654"/>
            <a:ext cx="2889504" cy="182562"/>
          </a:xfrm>
          <a:prstGeom prst="rect">
            <a:avLst/>
          </a:prstGeom>
          <a:noFill/>
        </p:spPr>
        <p:txBody>
          <a:bodyPr wrap="square" anchor="t" lIns="0" rIns="0" tIns="0" bIns="0">
            <a:spAutoFit/>
          </a:bodyPr>
          <a:lstStyle/>
          <a:p>
            <a:pPr algn="l">
              <a:lnSpc>
                <a:spcPct val="125000"/>
              </a:lnSpc>
              <a:spcAft>
                <a:spcPts val="0"/>
              </a:spcAft>
            </a:pPr>
            <a:r>
              <a:rPr sz="1150" b="0" i="0">
                <a:solidFill>
                  <a:srgbClr val="3C4945"/>
                </a:solidFill>
                <a:latin typeface="Calibri"/>
              </a:rPr>
              <a:t>“How long has it been like this?”</a:t>
            </a:r>
          </a:p>
        </p:txBody>
      </p:sp>
      <p:sp>
        <p:nvSpPr>
          <p:cNvPr id="21" name="TextBox 20"/>
          <p:cNvSpPr txBox="1"/>
          <p:nvPr/>
        </p:nvSpPr>
        <p:spPr>
          <a:xfrm>
            <a:off x="685800" y="4023360"/>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Repeating somebody’s own words back to them feels odd the first time you do it. Do it anyway.</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197960"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MOVE FOUR</a:t>
            </a: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Stay, and do not carry it alone</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This is the part that usually gets left out.</a:t>
            </a:r>
          </a:p>
        </p:txBody>
      </p:sp>
      <p:sp>
        <p:nvSpPr>
          <p:cNvPr id="6" name="Rectangle 5"/>
          <p:cNvSpPr/>
          <p:nvPr/>
        </p:nvSpPr>
        <p:spPr>
          <a:xfrm>
            <a:off x="685800" y="1901952"/>
            <a:ext cx="7772400" cy="6766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039112"/>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135124"/>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002536"/>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Do not promise to keep it secret.</a:t>
            </a:r>
          </a:p>
        </p:txBody>
      </p:sp>
      <p:sp>
        <p:nvSpPr>
          <p:cNvPr id="10" name="TextBox 9"/>
          <p:cNvSpPr txBox="1"/>
          <p:nvPr/>
        </p:nvSpPr>
        <p:spPr>
          <a:xfrm>
            <a:off x="1417320" y="2249424"/>
            <a:ext cx="6821424" cy="256031"/>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Say this instead: “I am not going to tell people. If you are in danger I will get help.”</a:t>
            </a:r>
          </a:p>
        </p:txBody>
      </p:sp>
      <p:sp>
        <p:nvSpPr>
          <p:cNvPr id="11" name="Rectangle 10"/>
          <p:cNvSpPr/>
          <p:nvPr/>
        </p:nvSpPr>
        <p:spPr>
          <a:xfrm>
            <a:off x="685800" y="2670048"/>
            <a:ext cx="7772400" cy="6766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807208"/>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903220"/>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770632"/>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Tell one adult, and tell your friend you are telling them.</a:t>
            </a:r>
          </a:p>
        </p:txBody>
      </p:sp>
      <p:sp>
        <p:nvSpPr>
          <p:cNvPr id="15" name="TextBox 14"/>
          <p:cNvSpPr txBox="1"/>
          <p:nvPr/>
        </p:nvSpPr>
        <p:spPr>
          <a:xfrm>
            <a:off x="1417320" y="3017520"/>
            <a:ext cx="6821424" cy="256031"/>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NAMED STAFF ], your form tutor, or any teacher you would actually talk to.</a:t>
            </a:r>
          </a:p>
        </p:txBody>
      </p:sp>
      <p:sp>
        <p:nvSpPr>
          <p:cNvPr id="16" name="Rectangle 15"/>
          <p:cNvSpPr/>
          <p:nvPr/>
        </p:nvSpPr>
        <p:spPr>
          <a:xfrm>
            <a:off x="685800" y="3438144"/>
            <a:ext cx="7772400" cy="67665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575303"/>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671315"/>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538727"/>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Go back to them a couple of days later.</a:t>
            </a:r>
          </a:p>
        </p:txBody>
      </p:sp>
      <p:sp>
        <p:nvSpPr>
          <p:cNvPr id="20" name="TextBox 19"/>
          <p:cNvSpPr txBox="1"/>
          <p:nvPr/>
        </p:nvSpPr>
        <p:spPr>
          <a:xfrm>
            <a:off x="1417320" y="3785615"/>
            <a:ext cx="6821424" cy="256031"/>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“How has this week been?” is the whole message. It does not have to be a big conversation.</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1" i="1">
                <a:solidFill>
                  <a:srgbClr val="2C6D5B"/>
                </a:solidFill>
                <a:latin typeface="Calibri"/>
              </a:rPr>
              <a:t>You are their friend, not their counsellor. Nobody expects you to be.</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Nobody in this is being unkind</a:t>
            </a:r>
          </a:p>
        </p:txBody>
      </p:sp>
      <p:sp>
        <p:nvSpPr>
          <p:cNvPr id="5" name="TextBox 4"/>
          <p:cNvSpPr txBox="1"/>
          <p:nvPr/>
        </p:nvSpPr>
        <p:spPr>
          <a:xfrm>
            <a:off x="685800" y="1664208"/>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6" name="TextBox 5"/>
          <p:cNvSpPr txBox="1"/>
          <p:nvPr/>
        </p:nvSpPr>
        <p:spPr>
          <a:xfrm>
            <a:off x="1737360" y="1664208"/>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“I have been feeling rubbish for a few weeks now.”</a:t>
            </a:r>
          </a:p>
        </p:txBody>
      </p:sp>
      <p:sp>
        <p:nvSpPr>
          <p:cNvPr id="7" name="TextBox 6"/>
          <p:cNvSpPr txBox="1"/>
          <p:nvPr/>
        </p:nvSpPr>
        <p:spPr>
          <a:xfrm>
            <a:off x="685800" y="2060448"/>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8" name="TextBox 7"/>
          <p:cNvSpPr txBox="1"/>
          <p:nvPr/>
        </p:nvSpPr>
        <p:spPr>
          <a:xfrm>
            <a:off x="1737360" y="2060448"/>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“Ah, you will be fine. Everyone gets like that.”</a:t>
            </a:r>
          </a:p>
        </p:txBody>
      </p:sp>
      <p:sp>
        <p:nvSpPr>
          <p:cNvPr id="9" name="TextBox 8"/>
          <p:cNvSpPr txBox="1"/>
          <p:nvPr/>
        </p:nvSpPr>
        <p:spPr>
          <a:xfrm>
            <a:off x="685800" y="2456688"/>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10" name="TextBox 9"/>
          <p:cNvSpPr txBox="1"/>
          <p:nvPr/>
        </p:nvSpPr>
        <p:spPr>
          <a:xfrm>
            <a:off x="1737360" y="2456688"/>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“Yeah. Probably.”</a:t>
            </a:r>
          </a:p>
        </p:txBody>
      </p:sp>
      <p:sp>
        <p:nvSpPr>
          <p:cNvPr id="11" name="TextBox 10"/>
          <p:cNvSpPr txBox="1"/>
          <p:nvPr/>
        </p:nvSpPr>
        <p:spPr>
          <a:xfrm>
            <a:off x="685800" y="2852928"/>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12" name="TextBox 11"/>
          <p:cNvSpPr txBox="1"/>
          <p:nvPr/>
        </p:nvSpPr>
        <p:spPr>
          <a:xfrm>
            <a:off x="1737360" y="2852928"/>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“Have you tried getting out more? That sorted me right out.”</a:t>
            </a:r>
          </a:p>
        </p:txBody>
      </p:sp>
      <p:sp>
        <p:nvSpPr>
          <p:cNvPr id="13" name="TextBox 12"/>
          <p:cNvSpPr txBox="1"/>
          <p:nvPr/>
        </p:nvSpPr>
        <p:spPr>
          <a:xfrm>
            <a:off x="685800" y="3249168"/>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14" name="TextBox 13"/>
          <p:cNvSpPr txBox="1"/>
          <p:nvPr/>
        </p:nvSpPr>
        <p:spPr>
          <a:xfrm>
            <a:off x="1737360" y="3249168"/>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“Maybe.”</a:t>
            </a:r>
          </a:p>
        </p:txBody>
      </p:sp>
      <p:sp>
        <p:nvSpPr>
          <p:cNvPr id="15" name="TextBox 14"/>
          <p:cNvSpPr txBox="1"/>
          <p:nvPr/>
        </p:nvSpPr>
        <p:spPr>
          <a:xfrm>
            <a:off x="685800" y="3645407"/>
            <a:ext cx="1005840" cy="359664"/>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16" name="TextBox 15"/>
          <p:cNvSpPr txBox="1"/>
          <p:nvPr/>
        </p:nvSpPr>
        <p:spPr>
          <a:xfrm>
            <a:off x="1737360" y="3645407"/>
            <a:ext cx="6720840" cy="359664"/>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“Anyway. Are you coming on Saturday?”</a:t>
            </a:r>
          </a:p>
        </p:txBody>
      </p:sp>
      <p:sp>
        <p:nvSpPr>
          <p:cNvPr id="17" name="TextBox 16"/>
          <p:cNvSpPr txBox="1"/>
          <p:nvPr/>
        </p:nvSpPr>
        <p:spPr>
          <a:xfrm>
            <a:off x="685800" y="4187952"/>
            <a:ext cx="7772400" cy="380999"/>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Find the line where Sam stops telling the truth, and say which of the four moves would have kept it going.</a:t>
            </a:r>
          </a:p>
        </p:txBody>
      </p:sp>
      <p:pic>
        <p:nvPicPr>
          <p:cNvPr id="18" name="Picture 17" descr="logo-mark.png"/>
          <p:cNvPicPr>
            <a:picLocks noChangeAspect="1"/>
          </p:cNvPicPr>
          <p:nvPr/>
        </p:nvPicPr>
        <p:blipFill>
          <a:blip r:embed="rId2"/>
          <a:stretch>
            <a:fillRect/>
          </a:stretch>
        </p:blipFill>
        <p:spPr>
          <a:xfrm>
            <a:off x="384048" y="4727448"/>
            <a:ext cx="158374" cy="182880"/>
          </a:xfrm>
          <a:prstGeom prst="rect">
            <a:avLst/>
          </a:prstGeom>
        </p:spPr>
      </p:pic>
      <p:sp>
        <p:nvSpPr>
          <p:cNvPr id="19" name="TextBox 18"/>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0" name="TextBox 19"/>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The same conversation again</a:t>
            </a:r>
          </a:p>
        </p:txBody>
      </p:sp>
      <p:sp>
        <p:nvSpPr>
          <p:cNvPr id="5" name="TextBox 4"/>
          <p:cNvSpPr txBox="1"/>
          <p:nvPr/>
        </p:nvSpPr>
        <p:spPr>
          <a:xfrm>
            <a:off x="685800" y="1627632"/>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6" name="TextBox 5"/>
          <p:cNvSpPr txBox="1"/>
          <p:nvPr/>
        </p:nvSpPr>
        <p:spPr>
          <a:xfrm>
            <a:off x="1737360" y="1627632"/>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“You have been quiet for a couple of weeks. That is not like you.”</a:t>
            </a:r>
          </a:p>
        </p:txBody>
      </p:sp>
      <p:sp>
        <p:nvSpPr>
          <p:cNvPr id="7" name="TextBox 6"/>
          <p:cNvSpPr txBox="1"/>
          <p:nvPr/>
        </p:nvSpPr>
        <p:spPr>
          <a:xfrm>
            <a:off x="685800" y="1972491"/>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8" name="TextBox 7"/>
          <p:cNvSpPr txBox="1"/>
          <p:nvPr/>
        </p:nvSpPr>
        <p:spPr>
          <a:xfrm>
            <a:off x="1737360" y="1972491"/>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“I am fine.”</a:t>
            </a:r>
          </a:p>
        </p:txBody>
      </p:sp>
      <p:sp>
        <p:nvSpPr>
          <p:cNvPr id="9" name="TextBox 8"/>
          <p:cNvSpPr txBox="1"/>
          <p:nvPr/>
        </p:nvSpPr>
        <p:spPr>
          <a:xfrm>
            <a:off x="685800" y="2317350"/>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10" name="TextBox 9"/>
          <p:cNvSpPr txBox="1"/>
          <p:nvPr/>
        </p:nvSpPr>
        <p:spPr>
          <a:xfrm>
            <a:off x="1737360" y="2317350"/>
            <a:ext cx="6720840" cy="308283"/>
          </a:xfrm>
          <a:prstGeom prst="rect">
            <a:avLst/>
          </a:prstGeom>
          <a:noFill/>
        </p:spPr>
        <p:txBody>
          <a:bodyPr wrap="square" anchor="t" lIns="0" rIns="0" tIns="0" bIns="0">
            <a:spAutoFit/>
          </a:bodyPr>
          <a:lstStyle/>
          <a:p>
            <a:pPr algn="l">
              <a:lnSpc>
                <a:spcPct val="125000"/>
              </a:lnSpc>
              <a:spcAft>
                <a:spcPts val="0"/>
              </a:spcAft>
            </a:pPr>
            <a:r>
              <a:rPr sz="1200" b="0" i="1">
                <a:solidFill>
                  <a:srgbClr val="A1AFAC"/>
                </a:solidFill>
                <a:latin typeface="Calibri"/>
              </a:rPr>
              <a:t>(says nothing, and waits)</a:t>
            </a:r>
          </a:p>
        </p:txBody>
      </p:sp>
      <p:sp>
        <p:nvSpPr>
          <p:cNvPr id="11" name="TextBox 10"/>
          <p:cNvSpPr txBox="1"/>
          <p:nvPr/>
        </p:nvSpPr>
        <p:spPr>
          <a:xfrm>
            <a:off x="685800" y="2662210"/>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12" name="TextBox 11"/>
          <p:cNvSpPr txBox="1"/>
          <p:nvPr/>
        </p:nvSpPr>
        <p:spPr>
          <a:xfrm>
            <a:off x="1737360" y="2662210"/>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“I have been feeling rubbish, honestly.”</a:t>
            </a:r>
          </a:p>
        </p:txBody>
      </p:sp>
      <p:sp>
        <p:nvSpPr>
          <p:cNvPr id="13" name="TextBox 12"/>
          <p:cNvSpPr txBox="1"/>
          <p:nvPr/>
        </p:nvSpPr>
        <p:spPr>
          <a:xfrm>
            <a:off x="685800" y="3007069"/>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14" name="TextBox 13"/>
          <p:cNvSpPr txBox="1"/>
          <p:nvPr/>
        </p:nvSpPr>
        <p:spPr>
          <a:xfrm>
            <a:off x="1737360" y="3007069"/>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“Rubbish how? Is it most days, or some days?”</a:t>
            </a:r>
          </a:p>
        </p:txBody>
      </p:sp>
      <p:sp>
        <p:nvSpPr>
          <p:cNvPr id="15" name="TextBox 14"/>
          <p:cNvSpPr txBox="1"/>
          <p:nvPr/>
        </p:nvSpPr>
        <p:spPr>
          <a:xfrm>
            <a:off x="685800" y="3351929"/>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SAM</a:t>
            </a:r>
          </a:p>
        </p:txBody>
      </p:sp>
      <p:sp>
        <p:nvSpPr>
          <p:cNvPr id="16" name="TextBox 15"/>
          <p:cNvSpPr txBox="1"/>
          <p:nvPr/>
        </p:nvSpPr>
        <p:spPr>
          <a:xfrm>
            <a:off x="1737360" y="3351929"/>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“Most days. Since about the summer.”</a:t>
            </a:r>
          </a:p>
        </p:txBody>
      </p:sp>
      <p:sp>
        <p:nvSpPr>
          <p:cNvPr id="17" name="TextBox 16"/>
          <p:cNvSpPr txBox="1"/>
          <p:nvPr/>
        </p:nvSpPr>
        <p:spPr>
          <a:xfrm>
            <a:off x="685800" y="3696788"/>
            <a:ext cx="1005840" cy="308283"/>
          </a:xfrm>
          <a:prstGeom prst="rect">
            <a:avLst/>
          </a:prstGeom>
          <a:noFill/>
        </p:spPr>
        <p:txBody>
          <a:bodyPr wrap="square" anchor="t" lIns="0" rIns="0" tIns="0" bIns="0">
            <a:spAutoFit/>
          </a:bodyPr>
          <a:lstStyle/>
          <a:p>
            <a:pPr algn="l">
              <a:lnSpc>
                <a:spcPct val="125000"/>
              </a:lnSpc>
              <a:spcAft>
                <a:spcPts val="0"/>
              </a:spcAft>
            </a:pPr>
            <a:r>
              <a:rPr sz="1000" b="1" i="0" spc="120">
                <a:solidFill>
                  <a:srgbClr val="327B68"/>
                </a:solidFill>
                <a:latin typeface="Calibri"/>
              </a:rPr>
              <a:t>JAY</a:t>
            </a:r>
          </a:p>
        </p:txBody>
      </p:sp>
      <p:sp>
        <p:nvSpPr>
          <p:cNvPr id="18" name="TextBox 17"/>
          <p:cNvSpPr txBox="1"/>
          <p:nvPr/>
        </p:nvSpPr>
        <p:spPr>
          <a:xfrm>
            <a:off x="1737360" y="3696788"/>
            <a:ext cx="6720840" cy="308283"/>
          </a:xfrm>
          <a:prstGeom prst="rect">
            <a:avLst/>
          </a:prstGeom>
          <a:noFill/>
        </p:spPr>
        <p:txBody>
          <a:bodyPr wrap="square" anchor="t" lIns="0" rIns="0" tIns="0" bIns="0">
            <a:spAutoFit/>
          </a:bodyPr>
          <a:lstStyle/>
          <a:p>
            <a:pPr algn="l">
              <a:lnSpc>
                <a:spcPct val="125000"/>
              </a:lnSpc>
              <a:spcAft>
                <a:spcPts val="0"/>
              </a:spcAft>
            </a:pPr>
            <a:r>
              <a:rPr sz="1300" b="0" i="0">
                <a:solidFill>
                  <a:srgbClr val="3C4945"/>
                </a:solidFill>
                <a:latin typeface="Calibri"/>
              </a:rPr>
              <a:t>“Since the summer. That is a long time to carry on your own.”</a:t>
            </a:r>
          </a:p>
        </p:txBody>
      </p:sp>
      <p:sp>
        <p:nvSpPr>
          <p:cNvPr id="19" name="TextBox 18"/>
          <p:cNvSpPr txBox="1"/>
          <p:nvPr/>
        </p:nvSpPr>
        <p:spPr>
          <a:xfrm>
            <a:off x="685800" y="4187952"/>
            <a:ext cx="7772400" cy="380999"/>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Jay has not given any advice or fixed anything, and Sam still says far more here than in the first version.</a:t>
            </a:r>
          </a:p>
        </p:txBody>
      </p:sp>
      <p:pic>
        <p:nvPicPr>
          <p:cNvPr id="20" name="Picture 19" descr="logo-mark.png"/>
          <p:cNvPicPr>
            <a:picLocks noChangeAspect="1"/>
          </p:cNvPicPr>
          <p:nvPr/>
        </p:nvPicPr>
        <p:blipFill>
          <a:blip r:embed="rId2"/>
          <a:stretch>
            <a:fillRect/>
          </a:stretch>
        </p:blipFill>
        <p:spPr>
          <a:xfrm>
            <a:off x="384048" y="4727448"/>
            <a:ext cx="158374" cy="182880"/>
          </a:xfrm>
          <a:prstGeom prst="rect">
            <a:avLst/>
          </a:prstGeom>
        </p:spPr>
      </p:pic>
      <p:sp>
        <p:nvSpPr>
          <p:cNvPr id="21" name="TextBox 20"/>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2" name="TextBox 21"/>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Try one out loud</a:t>
            </a:r>
          </a:p>
        </p:txBody>
      </p:sp>
      <p:sp>
        <p:nvSpPr>
          <p:cNvPr id="5" name="TextBox 4"/>
          <p:cNvSpPr txBox="1"/>
          <p:nvPr/>
        </p:nvSpPr>
        <p:spPr>
          <a:xfrm>
            <a:off x="685800" y="1591056"/>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I will read one out. In pairs, agree what you would say next.</a:t>
            </a:r>
          </a:p>
        </p:txBody>
      </p:sp>
      <p:sp>
        <p:nvSpPr>
          <p:cNvPr id="6" name="Rectangle 5"/>
          <p:cNvSpPr/>
          <p:nvPr/>
        </p:nvSpPr>
        <p:spPr>
          <a:xfrm>
            <a:off x="685800" y="2048256"/>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48840"/>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 did not sleep again last night. Third time this week.”</a:t>
            </a:r>
          </a:p>
        </p:txBody>
      </p:sp>
      <p:sp>
        <p:nvSpPr>
          <p:cNvPr id="8" name="TextBox 7"/>
          <p:cNvSpPr txBox="1"/>
          <p:nvPr/>
        </p:nvSpPr>
        <p:spPr>
          <a:xfrm>
            <a:off x="960120" y="2395728"/>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9" name="Rectangle 8"/>
          <p:cNvSpPr/>
          <p:nvPr/>
        </p:nvSpPr>
        <p:spPr>
          <a:xfrm>
            <a:off x="685800" y="2761488"/>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862072"/>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 have stopped going round to my sister’s. Long story.”</a:t>
            </a:r>
          </a:p>
        </p:txBody>
      </p:sp>
      <p:sp>
        <p:nvSpPr>
          <p:cNvPr id="11" name="TextBox 10"/>
          <p:cNvSpPr txBox="1"/>
          <p:nvPr/>
        </p:nvSpPr>
        <p:spPr>
          <a:xfrm>
            <a:off x="960120" y="3108960"/>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12" name="Rectangle 11"/>
          <p:cNvSpPr/>
          <p:nvPr/>
        </p:nvSpPr>
        <p:spPr>
          <a:xfrm>
            <a:off x="685800" y="3474720"/>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75304"/>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 am fine. Just tired. Always tired.”</a:t>
            </a:r>
          </a:p>
        </p:txBody>
      </p:sp>
      <p:sp>
        <p:nvSpPr>
          <p:cNvPr id="14" name="TextBox 13"/>
          <p:cNvSpPr txBox="1"/>
          <p:nvPr/>
        </p:nvSpPr>
        <p:spPr>
          <a:xfrm>
            <a:off x="960120" y="3822192"/>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15" name="TextBox 14"/>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Tell me your line, and which of the four moves it uses.</a:t>
            </a:r>
          </a:p>
        </p:txBody>
      </p:sp>
      <p:pic>
        <p:nvPicPr>
          <p:cNvPr id="16" name="Picture 15" descr="logo-mark.png"/>
          <p:cNvPicPr>
            <a:picLocks noChangeAspect="1"/>
          </p:cNvPicPr>
          <p:nvPr/>
        </p:nvPicPr>
        <p:blipFill>
          <a:blip r:embed="rId2"/>
          <a:stretch>
            <a:fillRect/>
          </a:stretch>
        </p:blipFill>
        <p:spPr>
          <a:xfrm>
            <a:off x="384048" y="4727448"/>
            <a:ext cx="158374" cy="182880"/>
          </a:xfrm>
          <a:prstGeom prst="rect">
            <a:avLst/>
          </a:prstGeom>
        </p:spPr>
      </p:pic>
      <p:sp>
        <p:nvSpPr>
          <p:cNvPr id="17" name="TextBox 1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8" name="TextBox 1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85800" y="530352"/>
            <a:ext cx="1469109" cy="237744"/>
          </a:xfrm>
          <a:prstGeom prst="roundRect">
            <a:avLst>
              <a:gd name="adj" fmla="val 50000"/>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950" b="1" spc="90">
                <a:solidFill>
                  <a:srgbClr val="2C6D5B"/>
                </a:solidFill>
                <a:latin typeface="Calibri"/>
              </a:rPr>
              <a:t>UP AND ROUND</a:t>
            </a:r>
          </a:p>
        </p:txBody>
      </p:sp>
      <p:sp>
        <p:nvSpPr>
          <p:cNvPr id="4" name="TextBox 3"/>
          <p:cNvSpPr txBox="1"/>
          <p:nvPr/>
        </p:nvSpPr>
        <p:spPr>
          <a:xfrm>
            <a:off x="685800" y="914400"/>
            <a:ext cx="7772400" cy="603504"/>
          </a:xfrm>
          <a:prstGeom prst="rect">
            <a:avLst/>
          </a:prstGeom>
          <a:noFill/>
        </p:spPr>
        <p:txBody>
          <a:bodyPr wrap="square" anchor="t" lIns="0" rIns="0" tIns="0" bIns="0">
            <a:spAutoFit/>
          </a:bodyPr>
          <a:lstStyle/>
          <a:p>
            <a:pPr algn="l">
              <a:lnSpc>
                <a:spcPct val="105000"/>
              </a:lnSpc>
              <a:spcAft>
                <a:spcPts val="0"/>
              </a:spcAft>
            </a:pPr>
            <a:r>
              <a:rPr sz="3200" b="0" i="0">
                <a:solidFill>
                  <a:srgbClr val="3C4945"/>
                </a:solidFill>
                <a:latin typeface="Georgia"/>
              </a:rPr>
              <a:t>The Rewrite</a:t>
            </a:r>
          </a:p>
        </p:txBody>
      </p:sp>
      <p:sp>
        <p:nvSpPr>
          <p:cNvPr id="5" name="TextBox 4"/>
          <p:cNvSpPr txBox="1"/>
          <p:nvPr/>
        </p:nvSpPr>
        <p:spPr>
          <a:xfrm>
            <a:off x="685800" y="1591056"/>
            <a:ext cx="7772400" cy="420624"/>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Eight cards are up around the room. Every one of them is something somebody really said when a friend opened up.</a:t>
            </a:r>
          </a:p>
        </p:txBody>
      </p:sp>
      <p:sp>
        <p:nvSpPr>
          <p:cNvPr id="6" name="Rectangle 5"/>
          <p:cNvSpPr/>
          <p:nvPr/>
        </p:nvSpPr>
        <p:spPr>
          <a:xfrm>
            <a:off x="685800" y="2139696"/>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258568"/>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54579"/>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240279"/>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Go to any card with the person next to you.</a:t>
            </a:r>
          </a:p>
        </p:txBody>
      </p:sp>
      <p:sp>
        <p:nvSpPr>
          <p:cNvPr id="10" name="TextBox 9"/>
          <p:cNvSpPr txBox="1"/>
          <p:nvPr/>
        </p:nvSpPr>
        <p:spPr>
          <a:xfrm>
            <a:off x="1417320" y="2487168"/>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Read it, and work out which of the four moves it misses.</a:t>
            </a:r>
          </a:p>
        </p:txBody>
      </p:sp>
      <p:sp>
        <p:nvSpPr>
          <p:cNvPr id="11" name="Rectangle 10"/>
          <p:cNvSpPr/>
          <p:nvPr/>
        </p:nvSpPr>
        <p:spPr>
          <a:xfrm>
            <a:off x="685800" y="2871215"/>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2990087"/>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086099"/>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2971799"/>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Write the better version on a strip and leave it under the card.</a:t>
            </a:r>
          </a:p>
        </p:txBody>
      </p:sp>
      <p:sp>
        <p:nvSpPr>
          <p:cNvPr id="15" name="TextBox 14"/>
          <p:cNvSpPr txBox="1"/>
          <p:nvPr/>
        </p:nvSpPr>
        <p:spPr>
          <a:xfrm>
            <a:off x="1417320" y="3218687"/>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One sentence. Initials on the back, not the front.</a:t>
            </a:r>
          </a:p>
        </p:txBody>
      </p:sp>
      <p:sp>
        <p:nvSpPr>
          <p:cNvPr id="16" name="Rectangle 15"/>
          <p:cNvSpPr/>
          <p:nvPr/>
        </p:nvSpPr>
        <p:spPr>
          <a:xfrm>
            <a:off x="685800" y="3602735"/>
            <a:ext cx="7772400" cy="640080"/>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68680" y="3721607"/>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3817619"/>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3</a:t>
            </a:r>
          </a:p>
        </p:txBody>
      </p:sp>
      <p:sp>
        <p:nvSpPr>
          <p:cNvPr id="19" name="TextBox 18"/>
          <p:cNvSpPr txBox="1"/>
          <p:nvPr/>
        </p:nvSpPr>
        <p:spPr>
          <a:xfrm>
            <a:off x="1417320" y="370332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Move along when I say, and do four cards in all.</a:t>
            </a:r>
          </a:p>
        </p:txBody>
      </p:sp>
      <p:sp>
        <p:nvSpPr>
          <p:cNvPr id="20" name="TextBox 19"/>
          <p:cNvSpPr txBox="1"/>
          <p:nvPr/>
        </p:nvSpPr>
        <p:spPr>
          <a:xfrm>
            <a:off x="1417320" y="3950207"/>
            <a:ext cx="6821424"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Read the strips other people have left while you are there.</a:t>
            </a:r>
          </a:p>
        </p:txBody>
      </p:sp>
      <p:sp>
        <p:nvSpPr>
          <p:cNvPr id="21" name="TextBox 20"/>
          <p:cNvSpPr txBox="1"/>
          <p:nvPr/>
        </p:nvSpPr>
        <p:spPr>
          <a:xfrm>
            <a:off x="685800" y="4261104"/>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Nobody is allowed to write “are you okay?” on any of them.</a:t>
            </a:r>
          </a:p>
        </p:txBody>
      </p:sp>
      <p:pic>
        <p:nvPicPr>
          <p:cNvPr id="22" name="Picture 21" descr="logo-mark.png"/>
          <p:cNvPicPr>
            <a:picLocks noChangeAspect="1"/>
          </p:cNvPicPr>
          <p:nvPr/>
        </p:nvPicPr>
        <p:blipFill>
          <a:blip r:embed="rId2"/>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Back to the card you started on</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Read every strip underneath it, and tick the ones that do all three of these.</a:t>
            </a:r>
          </a:p>
        </p:txBody>
      </p:sp>
      <p:sp>
        <p:nvSpPr>
          <p:cNvPr id="6" name="Rectangle 5"/>
          <p:cNvSpPr/>
          <p:nvPr/>
        </p:nvSpPr>
        <p:spPr>
          <a:xfrm>
            <a:off x="685800" y="1920240"/>
            <a:ext cx="2395728" cy="213969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54480" y="206654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ye.png"/>
          <p:cNvPicPr>
            <a:picLocks noChangeAspect="1"/>
          </p:cNvPicPr>
          <p:nvPr/>
        </p:nvPicPr>
        <p:blipFill>
          <a:blip r:embed="rId2"/>
          <a:stretch>
            <a:fillRect/>
          </a:stretch>
        </p:blipFill>
        <p:spPr>
          <a:xfrm>
            <a:off x="1691640" y="2203704"/>
            <a:ext cx="384048" cy="384048"/>
          </a:xfrm>
          <a:prstGeom prst="rect">
            <a:avLst/>
          </a:prstGeom>
        </p:spPr>
      </p:pic>
      <p:sp>
        <p:nvSpPr>
          <p:cNvPr id="9" name="TextBox 8"/>
          <p:cNvSpPr txBox="1"/>
          <p:nvPr/>
        </p:nvSpPr>
        <p:spPr>
          <a:xfrm>
            <a:off x="813816" y="2834640"/>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C6D5B"/>
                </a:solidFill>
                <a:latin typeface="Georgia"/>
              </a:rPr>
              <a:t>It says what you noticed</a:t>
            </a:r>
          </a:p>
        </p:txBody>
      </p:sp>
      <p:sp>
        <p:nvSpPr>
          <p:cNvPr id="10" name="TextBox 9"/>
          <p:cNvSpPr txBox="1"/>
          <p:nvPr/>
        </p:nvSpPr>
        <p:spPr>
          <a:xfrm>
            <a:off x="850392" y="3328416"/>
            <a:ext cx="2066544" cy="621792"/>
          </a:xfrm>
          <a:prstGeom prst="rect">
            <a:avLst/>
          </a:prstGeom>
          <a:noFill/>
        </p:spPr>
        <p:txBody>
          <a:bodyPr wrap="square" anchor="t" lIns="0" rIns="0" tIns="0" bIns="0">
            <a:spAutoFit/>
          </a:bodyPr>
          <a:lstStyle/>
          <a:p>
            <a:pPr algn="ctr">
              <a:lnSpc>
                <a:spcPct val="125000"/>
              </a:lnSpc>
              <a:spcAft>
                <a:spcPts val="0"/>
              </a:spcAft>
            </a:pPr>
            <a:r>
              <a:rPr sz="1050" b="0" i="0">
                <a:solidFill>
                  <a:srgbClr val="677974"/>
                </a:solidFill>
                <a:latin typeface="Calibri"/>
              </a:rPr>
              <a:t>Something specific, rather than a general question.</a:t>
            </a:r>
          </a:p>
        </p:txBody>
      </p:sp>
      <p:sp>
        <p:nvSpPr>
          <p:cNvPr id="11" name="Rectangle 10"/>
          <p:cNvSpPr/>
          <p:nvPr/>
        </p:nvSpPr>
        <p:spPr>
          <a:xfrm>
            <a:off x="3374136" y="1920240"/>
            <a:ext cx="2395728" cy="213969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242816" y="206654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ar.png"/>
          <p:cNvPicPr>
            <a:picLocks noChangeAspect="1"/>
          </p:cNvPicPr>
          <p:nvPr/>
        </p:nvPicPr>
        <p:blipFill>
          <a:blip r:embed="rId3"/>
          <a:stretch>
            <a:fillRect/>
          </a:stretch>
        </p:blipFill>
        <p:spPr>
          <a:xfrm>
            <a:off x="4379976" y="2203704"/>
            <a:ext cx="384048" cy="384048"/>
          </a:xfrm>
          <a:prstGeom prst="rect">
            <a:avLst/>
          </a:prstGeom>
        </p:spPr>
      </p:pic>
      <p:sp>
        <p:nvSpPr>
          <p:cNvPr id="14" name="TextBox 13"/>
          <p:cNvSpPr txBox="1"/>
          <p:nvPr/>
        </p:nvSpPr>
        <p:spPr>
          <a:xfrm>
            <a:off x="3502152" y="2834640"/>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C6D5B"/>
                </a:solidFill>
                <a:latin typeface="Georgia"/>
              </a:rPr>
              <a:t>It does not fix it</a:t>
            </a:r>
          </a:p>
        </p:txBody>
      </p:sp>
      <p:sp>
        <p:nvSpPr>
          <p:cNvPr id="15" name="TextBox 14"/>
          <p:cNvSpPr txBox="1"/>
          <p:nvPr/>
        </p:nvSpPr>
        <p:spPr>
          <a:xfrm>
            <a:off x="3538728" y="3328416"/>
            <a:ext cx="2066544" cy="621792"/>
          </a:xfrm>
          <a:prstGeom prst="rect">
            <a:avLst/>
          </a:prstGeom>
          <a:noFill/>
        </p:spPr>
        <p:txBody>
          <a:bodyPr wrap="square" anchor="t" lIns="0" rIns="0" tIns="0" bIns="0">
            <a:spAutoFit/>
          </a:bodyPr>
          <a:lstStyle/>
          <a:p>
            <a:pPr algn="ctr">
              <a:lnSpc>
                <a:spcPct val="125000"/>
              </a:lnSpc>
              <a:spcAft>
                <a:spcPts val="0"/>
              </a:spcAft>
            </a:pPr>
            <a:r>
              <a:rPr sz="1050" b="0" i="0">
                <a:solidFill>
                  <a:srgbClr val="677974"/>
                </a:solidFill>
                <a:latin typeface="Calibri"/>
              </a:rPr>
              <a:t>No advice, no silver lining, no story about the writer.</a:t>
            </a:r>
          </a:p>
        </p:txBody>
      </p:sp>
      <p:sp>
        <p:nvSpPr>
          <p:cNvPr id="16" name="Rectangle 15"/>
          <p:cNvSpPr/>
          <p:nvPr/>
        </p:nvSpPr>
        <p:spPr>
          <a:xfrm>
            <a:off x="6062472" y="1920240"/>
            <a:ext cx="2395728" cy="213969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931151" y="2066544"/>
            <a:ext cx="658368" cy="658368"/>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tay.png"/>
          <p:cNvPicPr>
            <a:picLocks noChangeAspect="1"/>
          </p:cNvPicPr>
          <p:nvPr/>
        </p:nvPicPr>
        <p:blipFill>
          <a:blip r:embed="rId4"/>
          <a:stretch>
            <a:fillRect/>
          </a:stretch>
        </p:blipFill>
        <p:spPr>
          <a:xfrm>
            <a:off x="7068312" y="2203704"/>
            <a:ext cx="384048" cy="384048"/>
          </a:xfrm>
          <a:prstGeom prst="rect">
            <a:avLst/>
          </a:prstGeom>
        </p:spPr>
      </p:pic>
      <p:sp>
        <p:nvSpPr>
          <p:cNvPr id="19" name="TextBox 18"/>
          <p:cNvSpPr txBox="1"/>
          <p:nvPr/>
        </p:nvSpPr>
        <p:spPr>
          <a:xfrm>
            <a:off x="6190488" y="2834640"/>
            <a:ext cx="2139696" cy="475488"/>
          </a:xfrm>
          <a:prstGeom prst="rect">
            <a:avLst/>
          </a:prstGeom>
          <a:noFill/>
        </p:spPr>
        <p:txBody>
          <a:bodyPr wrap="square" anchor="t" lIns="0" rIns="0" tIns="0" bIns="0">
            <a:spAutoFit/>
          </a:bodyPr>
          <a:lstStyle/>
          <a:p>
            <a:pPr algn="ctr">
              <a:lnSpc>
                <a:spcPct val="125000"/>
              </a:lnSpc>
              <a:spcAft>
                <a:spcPts val="0"/>
              </a:spcAft>
            </a:pPr>
            <a:r>
              <a:rPr sz="1350" b="0" i="0">
                <a:solidFill>
                  <a:srgbClr val="2C6D5B"/>
                </a:solidFill>
                <a:latin typeface="Georgia"/>
              </a:rPr>
              <a:t>It leaves the door open</a:t>
            </a:r>
          </a:p>
        </p:txBody>
      </p:sp>
      <p:sp>
        <p:nvSpPr>
          <p:cNvPr id="20" name="TextBox 19"/>
          <p:cNvSpPr txBox="1"/>
          <p:nvPr/>
        </p:nvSpPr>
        <p:spPr>
          <a:xfrm>
            <a:off x="6227064" y="3328416"/>
            <a:ext cx="2066544" cy="621792"/>
          </a:xfrm>
          <a:prstGeom prst="rect">
            <a:avLst/>
          </a:prstGeom>
          <a:noFill/>
        </p:spPr>
        <p:txBody>
          <a:bodyPr wrap="square" anchor="t" lIns="0" rIns="0" tIns="0" bIns="0">
            <a:spAutoFit/>
          </a:bodyPr>
          <a:lstStyle/>
          <a:p>
            <a:pPr algn="ctr">
              <a:lnSpc>
                <a:spcPct val="125000"/>
              </a:lnSpc>
              <a:spcAft>
                <a:spcPts val="0"/>
              </a:spcAft>
            </a:pPr>
            <a:r>
              <a:rPr sz="1050" b="0" i="0">
                <a:solidFill>
                  <a:srgbClr val="677974"/>
                </a:solidFill>
                <a:latin typeface="Calibri"/>
              </a:rPr>
              <a:t>It makes the next conversation easy instead of final.</a:t>
            </a:r>
          </a:p>
        </p:txBody>
      </p:sp>
      <p:sp>
        <p:nvSpPr>
          <p:cNvPr id="21" name="TextBox 20"/>
          <p:cNvSpPr txBox="1"/>
          <p:nvPr/>
        </p:nvSpPr>
        <p:spPr>
          <a:xfrm>
            <a:off x="685800" y="4224528"/>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Then read the best one out to the rest of the room.</a:t>
            </a:r>
          </a:p>
        </p:txBody>
      </p:sp>
      <p:pic>
        <p:nvPicPr>
          <p:cNvPr id="22" name="Picture 21" descr="logo-mark.png"/>
          <p:cNvPicPr>
            <a:picLocks noChangeAspect="1"/>
          </p:cNvPicPr>
          <p:nvPr/>
        </p:nvPicPr>
        <p:blipFill>
          <a:blip r:embed="rId5"/>
          <a:stretch>
            <a:fillRect/>
          </a:stretch>
        </p:blipFill>
        <p:spPr>
          <a:xfrm>
            <a:off x="384048" y="4727448"/>
            <a:ext cx="158374" cy="182880"/>
          </a:xfrm>
          <a:prstGeom prst="rect">
            <a:avLst/>
          </a:prstGeom>
        </p:spPr>
      </p:pic>
      <p:sp>
        <p:nvSpPr>
          <p:cNvPr id="23" name="TextBox 22"/>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24" name="TextBox 23"/>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They asked you not to tell anyone</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There is no clean answer to this one, so take your time over it.</a:t>
            </a:r>
          </a:p>
        </p:txBody>
      </p:sp>
      <p:sp>
        <p:nvSpPr>
          <p:cNvPr id="6" name="Rectangle 5"/>
          <p:cNvSpPr/>
          <p:nvPr/>
        </p:nvSpPr>
        <p:spPr>
          <a:xfrm>
            <a:off x="685800" y="2011680"/>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112264"/>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“If I tell someone, they will never trust me again.”</a:t>
            </a:r>
          </a:p>
        </p:txBody>
      </p:sp>
      <p:sp>
        <p:nvSpPr>
          <p:cNvPr id="8" name="TextBox 7"/>
          <p:cNvSpPr txBox="1"/>
          <p:nvPr/>
        </p:nvSpPr>
        <p:spPr>
          <a:xfrm>
            <a:off x="960120" y="2359152"/>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9" name="Rectangle 8"/>
          <p:cNvSpPr/>
          <p:nvPr/>
        </p:nvSpPr>
        <p:spPr>
          <a:xfrm>
            <a:off x="685800" y="2724912"/>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825496"/>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“If I say nothing and something happens, that is on me.”</a:t>
            </a:r>
          </a:p>
        </p:txBody>
      </p:sp>
      <p:sp>
        <p:nvSpPr>
          <p:cNvPr id="11" name="TextBox 10"/>
          <p:cNvSpPr txBox="1"/>
          <p:nvPr/>
        </p:nvSpPr>
        <p:spPr>
          <a:xfrm>
            <a:off x="960120" y="3072384"/>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12" name="Rectangle 11"/>
          <p:cNvSpPr/>
          <p:nvPr/>
        </p:nvSpPr>
        <p:spPr>
          <a:xfrm>
            <a:off x="685800" y="3438144"/>
            <a:ext cx="7772400" cy="566928"/>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38728"/>
            <a:ext cx="7278623"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“It is their business. It is not mine to hand over.”</a:t>
            </a:r>
          </a:p>
        </p:txBody>
      </p:sp>
      <p:sp>
        <p:nvSpPr>
          <p:cNvPr id="14" name="TextBox 13"/>
          <p:cNvSpPr txBox="1"/>
          <p:nvPr/>
        </p:nvSpPr>
        <p:spPr>
          <a:xfrm>
            <a:off x="960120" y="3785616"/>
            <a:ext cx="7278623" cy="219456"/>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
            </a:r>
          </a:p>
        </p:txBody>
      </p:sp>
      <p:sp>
        <p:nvSpPr>
          <p:cNvPr id="15" name="TextBox 14"/>
          <p:cNvSpPr txBox="1"/>
          <p:nvPr/>
        </p:nvSpPr>
        <p:spPr>
          <a:xfrm>
            <a:off x="685800" y="4206240"/>
            <a:ext cx="7772400" cy="380999"/>
          </a:xfrm>
          <a:prstGeom prst="rect">
            <a:avLst/>
          </a:prstGeom>
          <a:noFill/>
        </p:spPr>
        <p:txBody>
          <a:bodyPr wrap="square" anchor="t" lIns="0" rIns="0" tIns="0" bIns="0">
            <a:spAutoFit/>
          </a:bodyPr>
          <a:lstStyle/>
          <a:p>
            <a:pPr algn="l">
              <a:lnSpc>
                <a:spcPct val="125000"/>
              </a:lnSpc>
              <a:spcAft>
                <a:spcPts val="0"/>
              </a:spcAft>
            </a:pPr>
            <a:r>
              <a:rPr sz="1200" b="1" i="1">
                <a:solidFill>
                  <a:srgbClr val="2C6D5B"/>
                </a:solidFill>
                <a:latin typeface="Calibri"/>
              </a:rPr>
              <a:t>All three of those are true at once, and move four is the way out of it. You do not decide this on your own.</a:t>
            </a:r>
          </a:p>
        </p:txBody>
      </p:sp>
      <p:pic>
        <p:nvPicPr>
          <p:cNvPr id="16" name="Picture 15" descr="logo-mark.png"/>
          <p:cNvPicPr>
            <a:picLocks noChangeAspect="1"/>
          </p:cNvPicPr>
          <p:nvPr/>
        </p:nvPicPr>
        <p:blipFill>
          <a:blip r:embed="rId2"/>
          <a:stretch>
            <a:fillRect/>
          </a:stretch>
        </p:blipFill>
        <p:spPr>
          <a:xfrm>
            <a:off x="384048" y="4727448"/>
            <a:ext cx="158374" cy="182880"/>
          </a:xfrm>
          <a:prstGeom prst="rect">
            <a:avLst/>
          </a:prstGeom>
        </p:spPr>
      </p:pic>
      <p:sp>
        <p:nvSpPr>
          <p:cNvPr id="17" name="TextBox 16"/>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8" name="TextBox 17"/>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914400"/>
            <a:ext cx="7772400" cy="566928"/>
          </a:xfrm>
          <a:prstGeom prst="rect">
            <a:avLst/>
          </a:prstGeom>
          <a:noFill/>
        </p:spPr>
        <p:txBody>
          <a:bodyPr wrap="square" anchor="t" lIns="0" rIns="0" tIns="0" bIns="0">
            <a:spAutoFit/>
          </a:bodyPr>
          <a:lstStyle/>
          <a:p>
            <a:pPr algn="l">
              <a:lnSpc>
                <a:spcPct val="105000"/>
              </a:lnSpc>
              <a:spcAft>
                <a:spcPts val="0"/>
              </a:spcAft>
            </a:pPr>
            <a:r>
              <a:rPr sz="3000" b="0" i="0">
                <a:solidFill>
                  <a:srgbClr val="3C4945"/>
                </a:solidFill>
                <a:latin typeface="Georgia"/>
              </a:rPr>
              <a:t>Two names, and nobody reads it</a:t>
            </a:r>
          </a:p>
        </p:txBody>
      </p:sp>
      <p:sp>
        <p:nvSpPr>
          <p:cNvPr id="5" name="TextBox 4"/>
          <p:cNvSpPr txBox="1"/>
          <p:nvPr/>
        </p:nvSpPr>
        <p:spPr>
          <a:xfrm>
            <a:off x="685800" y="1554480"/>
            <a:ext cx="7772400" cy="310896"/>
          </a:xfrm>
          <a:prstGeom prst="rect">
            <a:avLst/>
          </a:prstGeom>
          <a:noFill/>
        </p:spPr>
        <p:txBody>
          <a:bodyPr wrap="square" anchor="t" lIns="0" rIns="0" tIns="0" bIns="0">
            <a:spAutoFit/>
          </a:bodyPr>
          <a:lstStyle/>
          <a:p>
            <a:pPr algn="l">
              <a:lnSpc>
                <a:spcPct val="125000"/>
              </a:lnSpc>
              <a:spcAft>
                <a:spcPts val="0"/>
              </a:spcAft>
            </a:pPr>
            <a:r>
              <a:rPr sz="1300" b="0" i="0">
                <a:solidFill>
                  <a:srgbClr val="677974"/>
                </a:solidFill>
                <a:latin typeface="Calibri"/>
              </a:rPr>
              <a:t>This one is not collected, not marked and not read out. Write it, fold it and take it with you.</a:t>
            </a:r>
          </a:p>
        </p:txBody>
      </p:sp>
      <p:sp>
        <p:nvSpPr>
          <p:cNvPr id="6" name="Rectangle 5"/>
          <p:cNvSpPr/>
          <p:nvPr/>
        </p:nvSpPr>
        <p:spPr>
          <a:xfrm>
            <a:off x="685800" y="2048256"/>
            <a:ext cx="7772400" cy="76809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68680" y="2231136"/>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27148"/>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1</a:t>
            </a:r>
          </a:p>
        </p:txBody>
      </p:sp>
      <p:sp>
        <p:nvSpPr>
          <p:cNvPr id="9" name="TextBox 8"/>
          <p:cNvSpPr txBox="1"/>
          <p:nvPr/>
        </p:nvSpPr>
        <p:spPr>
          <a:xfrm>
            <a:off x="1417320" y="2148840"/>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One person you would go to.</a:t>
            </a:r>
          </a:p>
        </p:txBody>
      </p:sp>
      <p:sp>
        <p:nvSpPr>
          <p:cNvPr id="10" name="TextBox 9"/>
          <p:cNvSpPr txBox="1"/>
          <p:nvPr/>
        </p:nvSpPr>
        <p:spPr>
          <a:xfrm>
            <a:off x="1417320" y="2395728"/>
            <a:ext cx="6821424" cy="347471"/>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It does not have to be a teacher, and it does not have to be family.</a:t>
            </a:r>
          </a:p>
        </p:txBody>
      </p:sp>
      <p:sp>
        <p:nvSpPr>
          <p:cNvPr id="11" name="Rectangle 10"/>
          <p:cNvSpPr/>
          <p:nvPr/>
        </p:nvSpPr>
        <p:spPr>
          <a:xfrm>
            <a:off x="685800" y="2980944"/>
            <a:ext cx="7772400" cy="768096"/>
          </a:xfrm>
          <a:prstGeom prst="rect">
            <a:avLst/>
          </a:prstGeom>
          <a:solidFill>
            <a:srgbClr val="FFFD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68680" y="3163824"/>
            <a:ext cx="402336" cy="402336"/>
          </a:xfrm>
          <a:prstGeom prst="ellipse">
            <a:avLst/>
          </a:prstGeom>
          <a:solidFill>
            <a:srgbClr val="2C6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59836"/>
            <a:ext cx="402336" cy="219456"/>
          </a:xfrm>
          <a:prstGeom prst="rect">
            <a:avLst/>
          </a:prstGeom>
          <a:noFill/>
        </p:spPr>
        <p:txBody>
          <a:bodyPr wrap="square" anchor="t" lIns="0" rIns="0" tIns="0" bIns="0">
            <a:spAutoFit/>
          </a:bodyPr>
          <a:lstStyle/>
          <a:p>
            <a:pPr algn="ctr">
              <a:lnSpc>
                <a:spcPct val="125000"/>
              </a:lnSpc>
              <a:spcAft>
                <a:spcPts val="0"/>
              </a:spcAft>
            </a:pPr>
            <a:r>
              <a:rPr sz="1150" b="1" i="0">
                <a:solidFill>
                  <a:srgbClr val="FFFDF7"/>
                </a:solidFill>
                <a:latin typeface="Calibri"/>
              </a:rPr>
              <a:t>2</a:t>
            </a:r>
          </a:p>
        </p:txBody>
      </p:sp>
      <p:sp>
        <p:nvSpPr>
          <p:cNvPr id="14" name="TextBox 13"/>
          <p:cNvSpPr txBox="1"/>
          <p:nvPr/>
        </p:nvSpPr>
        <p:spPr>
          <a:xfrm>
            <a:off x="1417320" y="3081528"/>
            <a:ext cx="6821424" cy="237744"/>
          </a:xfrm>
          <a:prstGeom prst="rect">
            <a:avLst/>
          </a:prstGeom>
          <a:noFill/>
        </p:spPr>
        <p:txBody>
          <a:bodyPr wrap="square" anchor="t" lIns="0" rIns="0" tIns="0" bIns="0">
            <a:spAutoFit/>
          </a:bodyPr>
          <a:lstStyle/>
          <a:p>
            <a:pPr algn="l">
              <a:lnSpc>
                <a:spcPct val="125000"/>
              </a:lnSpc>
              <a:spcAft>
                <a:spcPts val="0"/>
              </a:spcAft>
            </a:pPr>
            <a:r>
              <a:rPr sz="1300" b="0" i="0">
                <a:solidFill>
                  <a:srgbClr val="2C6D5B"/>
                </a:solidFill>
                <a:latin typeface="Georgia"/>
              </a:rPr>
              <a:t>One person who might come to you.</a:t>
            </a:r>
          </a:p>
        </p:txBody>
      </p:sp>
      <p:sp>
        <p:nvSpPr>
          <p:cNvPr id="15" name="TextBox 14"/>
          <p:cNvSpPr txBox="1"/>
          <p:nvPr/>
        </p:nvSpPr>
        <p:spPr>
          <a:xfrm>
            <a:off x="1417320" y="3328416"/>
            <a:ext cx="6821424" cy="347471"/>
          </a:xfrm>
          <a:prstGeom prst="rect">
            <a:avLst/>
          </a:prstGeom>
          <a:noFill/>
        </p:spPr>
        <p:txBody>
          <a:bodyPr wrap="square" anchor="t" lIns="0" rIns="0" tIns="0" bIns="0">
            <a:spAutoFit/>
          </a:bodyPr>
          <a:lstStyle/>
          <a:p>
            <a:pPr algn="l">
              <a:lnSpc>
                <a:spcPct val="125000"/>
              </a:lnSpc>
              <a:spcAft>
                <a:spcPts val="0"/>
              </a:spcAft>
            </a:pPr>
            <a:r>
              <a:rPr sz="1100" b="0" i="0">
                <a:solidFill>
                  <a:srgbClr val="677974"/>
                </a:solidFill>
                <a:latin typeface="Calibri"/>
              </a:rPr>
              <a:t>You do not have to do anything about it. Just notice that somebody came to mind.</a:t>
            </a:r>
          </a:p>
        </p:txBody>
      </p:sp>
      <p:sp>
        <p:nvSpPr>
          <p:cNvPr id="16" name="TextBox 15"/>
          <p:cNvSpPr txBox="1"/>
          <p:nvPr/>
        </p:nvSpPr>
        <p:spPr>
          <a:xfrm>
            <a:off x="685800" y="4206240"/>
            <a:ext cx="7772400" cy="310896"/>
          </a:xfrm>
          <a:prstGeom prst="rect">
            <a:avLst/>
          </a:prstGeom>
          <a:noFill/>
        </p:spPr>
        <p:txBody>
          <a:bodyPr wrap="square" anchor="t" lIns="0" rIns="0" tIns="0" bIns="0">
            <a:spAutoFit/>
          </a:bodyPr>
          <a:lstStyle/>
          <a:p>
            <a:pPr algn="l">
              <a:lnSpc>
                <a:spcPct val="125000"/>
              </a:lnSpc>
              <a:spcAft>
                <a:spcPts val="0"/>
              </a:spcAft>
            </a:pPr>
            <a:r>
              <a:rPr sz="1200" b="0" i="1">
                <a:solidFill>
                  <a:srgbClr val="677974"/>
                </a:solidFill>
                <a:latin typeface="Calibri"/>
              </a:rPr>
              <a:t>If you could not think of anybody for the first one, come and find me today.</a:t>
            </a:r>
          </a:p>
        </p:txBody>
      </p:sp>
      <p:pic>
        <p:nvPicPr>
          <p:cNvPr id="17" name="Picture 16" descr="logo-mark.png"/>
          <p:cNvPicPr>
            <a:picLocks noChangeAspect="1"/>
          </p:cNvPicPr>
          <p:nvPr/>
        </p:nvPicPr>
        <p:blipFill>
          <a:blip r:embed="rId2"/>
          <a:stretch>
            <a:fillRect/>
          </a:stretch>
        </p:blipFill>
        <p:spPr>
          <a:xfrm>
            <a:off x="384048" y="4727448"/>
            <a:ext cx="158374" cy="182880"/>
          </a:xfrm>
          <a:prstGeom prst="rect">
            <a:avLst/>
          </a:prstGeom>
        </p:spPr>
      </p:pic>
      <p:sp>
        <p:nvSpPr>
          <p:cNvPr id="18" name="TextBox 1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19" name="TextBox 1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ECF4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mark.png"/>
          <p:cNvPicPr>
            <a:picLocks noChangeAspect="1"/>
          </p:cNvPicPr>
          <p:nvPr/>
        </p:nvPicPr>
        <p:blipFill>
          <a:blip r:embed="rId2"/>
          <a:stretch>
            <a:fillRect/>
          </a:stretch>
        </p:blipFill>
        <p:spPr>
          <a:xfrm>
            <a:off x="4255251" y="950976"/>
            <a:ext cx="633496" cy="731520"/>
          </a:xfrm>
          <a:prstGeom prst="rect">
            <a:avLst/>
          </a:prstGeom>
        </p:spPr>
      </p:pic>
      <p:sp>
        <p:nvSpPr>
          <p:cNvPr id="4" name="TextBox 3"/>
          <p:cNvSpPr txBox="1"/>
          <p:nvPr/>
        </p:nvSpPr>
        <p:spPr>
          <a:xfrm>
            <a:off x="548640" y="1993392"/>
            <a:ext cx="8046720" cy="822960"/>
          </a:xfrm>
          <a:prstGeom prst="rect">
            <a:avLst/>
          </a:prstGeom>
          <a:noFill/>
        </p:spPr>
        <p:txBody>
          <a:bodyPr wrap="square" anchor="t" lIns="0" rIns="0" tIns="0" bIns="0">
            <a:spAutoFit/>
          </a:bodyPr>
          <a:lstStyle/>
          <a:p>
            <a:pPr algn="ctr">
              <a:lnSpc>
                <a:spcPct val="105000"/>
              </a:lnSpc>
              <a:spcAft>
                <a:spcPts val="0"/>
              </a:spcAft>
            </a:pPr>
            <a:r>
              <a:rPr sz="3200" b="0" i="0">
                <a:solidFill>
                  <a:srgbClr val="2C6D5B"/>
                </a:solidFill>
                <a:latin typeface="Georgia"/>
              </a:rPr>
              <a:t>You are not meant to fix it.</a:t>
            </a:r>
          </a:p>
        </p:txBody>
      </p:sp>
      <p:sp>
        <p:nvSpPr>
          <p:cNvPr id="5" name="TextBox 4"/>
          <p:cNvSpPr txBox="1"/>
          <p:nvPr/>
        </p:nvSpPr>
        <p:spPr>
          <a:xfrm>
            <a:off x="1188720" y="2871216"/>
            <a:ext cx="6766560" cy="731520"/>
          </a:xfrm>
          <a:prstGeom prst="rect">
            <a:avLst/>
          </a:prstGeom>
          <a:noFill/>
        </p:spPr>
        <p:txBody>
          <a:bodyPr wrap="square" anchor="t" lIns="0" rIns="0" tIns="0" bIns="0">
            <a:spAutoFit/>
          </a:bodyPr>
          <a:lstStyle/>
          <a:p>
            <a:pPr algn="ctr">
              <a:lnSpc>
                <a:spcPct val="125000"/>
              </a:lnSpc>
              <a:spcAft>
                <a:spcPts val="0"/>
              </a:spcAft>
            </a:pPr>
            <a:r>
              <a:rPr sz="1500" b="0" i="0">
                <a:solidFill>
                  <a:srgbClr val="677974"/>
                </a:solidFill>
                <a:latin typeface="Calibri"/>
              </a:rPr>
              <a:t>Notice, ask a second time, and do not disappear afterwards. You have just spent an hour on those three, and none of them are complicated.</a:t>
            </a:r>
          </a:p>
        </p:txBody>
      </p:sp>
      <p:sp>
        <p:nvSpPr>
          <p:cNvPr id="6" name="TextBox 5"/>
          <p:cNvSpPr txBox="1"/>
          <p:nvPr/>
        </p:nvSpPr>
        <p:spPr>
          <a:xfrm>
            <a:off x="731520" y="3803904"/>
            <a:ext cx="7680960" cy="310896"/>
          </a:xfrm>
          <a:prstGeom prst="rect">
            <a:avLst/>
          </a:prstGeom>
          <a:noFill/>
        </p:spPr>
        <p:txBody>
          <a:bodyPr wrap="square" anchor="t" lIns="0" rIns="0" tIns="0" bIns="0">
            <a:spAutoFit/>
          </a:bodyPr>
          <a:lstStyle/>
          <a:p>
            <a:pPr algn="ctr">
              <a:lnSpc>
                <a:spcPct val="125000"/>
              </a:lnSpc>
              <a:spcAft>
                <a:spcPts val="0"/>
              </a:spcAft>
            </a:pPr>
            <a:r>
              <a:rPr sz="1200" b="0" i="0">
                <a:solidFill>
                  <a:srgbClr val="A1AFAC"/>
                </a:solidFill>
                <a:latin typeface="Calibri"/>
              </a:rPr>
              <a:t>World Mental Health Day  ·  When a Friend Tells You They Are Struggling</a:t>
            </a:r>
          </a:p>
        </p:txBody>
      </p:sp>
      <p:pic>
        <p:nvPicPr>
          <p:cNvPr id="7" name="Picture 6" descr="logo-mark.png"/>
          <p:cNvPicPr>
            <a:picLocks noChangeAspect="1"/>
          </p:cNvPicPr>
          <p:nvPr/>
        </p:nvPicPr>
        <p:blipFill>
          <a:blip r:embed="rId2"/>
          <a:stretch>
            <a:fillRect/>
          </a:stretch>
        </p:blipFill>
        <p:spPr>
          <a:xfrm>
            <a:off x="384048" y="4727448"/>
            <a:ext cx="158374" cy="182880"/>
          </a:xfrm>
          <a:prstGeom prst="rect">
            <a:avLst/>
          </a:prstGeom>
        </p:spPr>
      </p:pic>
      <p:sp>
        <p:nvSpPr>
          <p:cNvPr id="8" name="TextBox 7"/>
          <p:cNvSpPr txBox="1"/>
          <p:nvPr/>
        </p:nvSpPr>
        <p:spPr>
          <a:xfrm>
            <a:off x="603504" y="4709160"/>
            <a:ext cx="2194560" cy="210312"/>
          </a:xfrm>
          <a:prstGeom prst="rect">
            <a:avLst/>
          </a:prstGeom>
          <a:noFill/>
        </p:spPr>
        <p:txBody>
          <a:bodyPr wrap="square" anchor="t" lIns="0" rIns="0" tIns="0" bIns="0">
            <a:spAutoFit/>
          </a:bodyPr>
          <a:lstStyle/>
          <a:p>
            <a:pPr algn="l">
              <a:lnSpc>
                <a:spcPct val="125000"/>
              </a:lnSpc>
              <a:spcAft>
                <a:spcPts val="0"/>
              </a:spcAft>
            </a:pPr>
            <a:r>
              <a:rPr sz="850" b="0" i="1">
                <a:solidFill>
                  <a:srgbClr val="A1AFAC"/>
                </a:solidFill>
                <a:latin typeface="Calibri"/>
              </a:rPr>
              <a:t>The Pastoral Guide</a:t>
            </a:r>
          </a:p>
        </p:txBody>
      </p:sp>
      <p:sp>
        <p:nvSpPr>
          <p:cNvPr id="9" name="TextBox 8"/>
          <p:cNvSpPr txBox="1"/>
          <p:nvPr/>
        </p:nvSpPr>
        <p:spPr>
          <a:xfrm>
            <a:off x="7680960" y="4727448"/>
            <a:ext cx="1078992" cy="219456"/>
          </a:xfrm>
          <a:prstGeom prst="rect">
            <a:avLst/>
          </a:prstGeom>
          <a:noFill/>
        </p:spPr>
        <p:txBody>
          <a:bodyPr wrap="square" anchor="t" lIns="0" rIns="0" tIns="0" bIns="0">
            <a:spAutoFit/>
          </a:bodyPr>
          <a:lstStyle/>
          <a:p>
            <a:pPr algn="r">
              <a:lnSpc>
                <a:spcPct val="125000"/>
              </a:lnSpc>
              <a:spcAft>
                <a:spcPts val="0"/>
              </a:spcAft>
            </a:pPr>
            <a:r>
              <a:rPr sz="850" b="0" i="0">
                <a:solidFill>
                  <a:srgbClr val="A1AFAC"/>
                </a:solidFill>
                <a:latin typeface="Calibri"/>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