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39" y="566928"/>
            <a:ext cx="72852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72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220">
                <a:solidFill>
                  <a:srgbClr val="502961"/>
                </a:solidFill>
                <a:latin typeface="Calibri"/>
              </a:rPr>
              <a:t>MOVEMENT AND MENTAL HEALTH  ·  LESSON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56816"/>
            <a:ext cx="8412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3400" b="0" i="0">
                <a:solidFill>
                  <a:srgbClr val="502961"/>
                </a:solidFill>
                <a:latin typeface="Georgia"/>
              </a:rPr>
              <a:t>The one you would actually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2962656"/>
            <a:ext cx="1005840" cy="18288"/>
          </a:xfrm>
          <a:prstGeom prst="rect">
            <a:avLst/>
          </a:prstGeom>
          <a:solidFill>
            <a:srgbClr val="A9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6382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635C6B"/>
                </a:solidFill>
                <a:latin typeface="Calibri"/>
              </a:rPr>
              <a:t>Anyone can write a plan that would work.</a:t>
            </a:r>
            <a:br/>
            <a:r>
              <a:rPr sz="1500" b="0" i="0">
                <a:solidFill>
                  <a:srgbClr val="635C6B"/>
                </a:solidFill>
                <a:latin typeface="Calibri"/>
              </a:rPr>
              <a:t>The hard part is writing one you are still doing in four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9C95A3"/>
                </a:solidFill>
                <a:latin typeface="Calibri"/>
              </a:rPr>
              <a:t>Healthy Body, Healthy Mind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502961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TWO THINGS TO KNOW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F2A36"/>
                </a:solidFill>
                <a:latin typeface="Georgia"/>
              </a:rPr>
              <a:t>Before they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7772400" cy="106070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975104"/>
            <a:ext cx="512064" cy="51206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6654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865376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Plans get marked by somebody 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221284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Cards pass two tables along. Nobody marks their own, and nobody is marked on whether they can already do any of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7772400" cy="106070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200400"/>
            <a:ext cx="512064" cy="51206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91840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3090672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Some plans will not involve moving much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343814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A student with an injury, a condition or a difficult home can still write a plan that passes all four tests. Seated plans count. Say so before they start writing.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Have spare cards ready. Nobody leaves without a plan.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WHAT THIS ROOM FOUND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778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FFFDF7"/>
                </a:solidFill>
                <a:latin typeface="Georgia"/>
              </a:rPr>
              <a:t>You have already proved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7315200" cy="67665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Five minutes moved the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39696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Almost everybody’s pulse went up and most people’s focus did too.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42032"/>
            <a:ext cx="7315200" cy="67665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15184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Ten minutes later it was still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79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The heart went back. The head took longer, which is the useful part.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28415"/>
            <a:ext cx="7315200" cy="67665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0156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And then the lesson ended.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12463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35C6B"/>
                </a:solidFill>
                <a:latin typeface="Calibri"/>
              </a:rPr>
              <a:t>Nobody has done it since, and that is the problem this lesson is about.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24528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Knowing that it works has never been the hard part.</a:t>
            </a:r>
          </a:p>
        </p:txBody>
      </p:sp>
      <p:pic>
        <p:nvPicPr>
          <p:cNvPr id="17" name="Picture 1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WHY THIS LESSON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F2A36"/>
                </a:solidFill>
                <a:latin typeface="Georgia"/>
              </a:rPr>
              <a:t>Why four weeks?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9961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502961"/>
                </a:solidFill>
                <a:latin typeface="Calibri"/>
              </a:rPr>
              <a:t>21 trials of movement programmes, 2,441 young people, average age fourteen.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66543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121408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854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13969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While the programmes ran, low mood came down against the groups doing nothing.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33472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2688336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75234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706624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The effect was larger for the students aged thirteen and over than for younger children.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" y="3255264"/>
            <a:ext cx="384048" cy="38404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3192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273552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F2A36"/>
                </a:solidFill>
                <a:latin typeface="Calibri"/>
              </a:rPr>
              <a:t>Months after the programmes stopped, the difference between the groups had gone.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877055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It helps while you are doing it, so you need a plan, not one good week.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9C95A3"/>
                </a:solidFill>
                <a:latin typeface="Calibri"/>
              </a:rPr>
              <a:t>Recchia, F., Bernal, J. D. K., Fong, D. Y. et al. (2023). JAMA Pediatrics, 177(2), 132–140.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WRITE THESE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FFFDF7"/>
                </a:solidFill>
                <a:latin typeface="Georgia"/>
              </a:rPr>
              <a:t>Four tests for a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91056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755648"/>
            <a:ext cx="475488" cy="47548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84708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1810512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Small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49424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635C6B"/>
                </a:solidFill>
                <a:latin typeface="Calibri"/>
              </a:rPr>
              <a:t>Under ten minutes. If it needs more, it will not happen on a bad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1591056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0328" y="1755648"/>
            <a:ext cx="475488" cy="47548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84708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1810512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Attached to something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249424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635C6B"/>
                </a:solidFill>
                <a:latin typeface="Calibri"/>
              </a:rPr>
              <a:t>It follows something you already do, so you do not have to remember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443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" y="3108959"/>
            <a:ext cx="475488" cy="47548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2004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1638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Nothing to 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602735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635C6B"/>
                </a:solidFill>
                <a:latin typeface="Calibri"/>
              </a:rPr>
              <a:t>No kit to buy, nowhere to travel to, nobody else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0872" y="29443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0328" y="3108959"/>
            <a:ext cx="475488" cy="475488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32004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1638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Works on a bad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602735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635C6B"/>
                </a:solidFill>
                <a:latin typeface="Calibri"/>
              </a:rPr>
              <a:t>You would still do it when you feel like doing nothing at 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42816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A plan that fails one of these tends to stop in week two.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MARK ONE TOGETHER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Try it on this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91056"/>
            <a:ext cx="7772400" cy="60350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00784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02961"/>
                </a:solidFill>
                <a:latin typeface="Georgia"/>
              </a:rPr>
              <a:t>“Run five kilometres every morning before school.”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40864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6829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Small enough?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682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Forty minutes, on a school morning. 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98064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82549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Attached to something?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254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It is attached to getting up an hour earlier.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55264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28269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Nothing to get?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826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Trainers, a safe route, and daylight when you get 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12464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73989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02961"/>
                </a:solidFill>
                <a:latin typeface="Georgia"/>
              </a:rPr>
              <a:t>Works on a bad day?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398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This is the first thing to go, and it never comes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One change passes all four: wall press-ups, right after you brush your teeth.</a:t>
            </a:r>
          </a:p>
        </p:txBody>
      </p:sp>
      <p:pic>
        <p:nvPicPr>
          <p:cNvPr id="22" name="Picture 21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BEFORE YOU WRITE ANYTHING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F2A36"/>
                </a:solidFill>
                <a:latin typeface="Georgia"/>
              </a:rPr>
              <a:t>What growing slowly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Four weeks, and week four is still not impressive. That is deliberate.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84831"/>
            <a:ext cx="1805940" cy="10058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 spc="120">
                <a:solidFill>
                  <a:srgbClr val="635C6B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60320"/>
            <a:ext cx="16596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400" b="0" i="0">
                <a:solidFill>
                  <a:srgbClr val="502961"/>
                </a:solidFill>
                <a:latin typeface="Georgia"/>
              </a:rPr>
              <a:t>Two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4620" y="2084831"/>
            <a:ext cx="1805940" cy="10058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6060" y="2231136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 spc="120">
                <a:solidFill>
                  <a:srgbClr val="635C6B"/>
                </a:solidFill>
                <a:latin typeface="Calibri"/>
              </a:rP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7772" y="2560320"/>
            <a:ext cx="16596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400" b="0" i="0">
                <a:solidFill>
                  <a:srgbClr val="502961"/>
                </a:solidFill>
                <a:latin typeface="Georgia"/>
              </a:rPr>
              <a:t>Three minutes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084831"/>
            <a:ext cx="1805940" cy="10058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31136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 spc="120">
                <a:solidFill>
                  <a:srgbClr val="635C6B"/>
                </a:solidFill>
                <a:latin typeface="Calibri"/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560320"/>
            <a:ext cx="16596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400" b="0" i="0">
                <a:solidFill>
                  <a:srgbClr val="502961"/>
                </a:solidFill>
                <a:latin typeface="Georgia"/>
              </a:rPr>
              <a:t>Four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2260" y="2084831"/>
            <a:ext cx="1805940" cy="10058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3700" y="2231136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 spc="120">
                <a:solidFill>
                  <a:srgbClr val="635C6B"/>
                </a:solidFill>
                <a:latin typeface="Calibri"/>
              </a:rP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5412" y="2560320"/>
            <a:ext cx="16596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400" b="0" i="0">
                <a:solidFill>
                  <a:srgbClr val="502961"/>
                </a:solidFill>
                <a:latin typeface="Georgia"/>
              </a:rPr>
              <a:t>Five minutes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9184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A97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401568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Doubling it every week is how plans fall apart. Add a minute, or one more 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59936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If week one already feels like an effort, it is too big. Halve it and start again.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ON THE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Write your four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Name on it. Somebody who has never seen it is going to mark it shortly.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579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5798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One thing. Press-ups, a walk, stretching, dancing in your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70662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When exactly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0662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Not “in the evening”. After what, on which days?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5526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Week 1 to 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5526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How it grows. Four numbers, and week one is tiny.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39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803903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What would stop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803903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35C6B"/>
                </a:solidFill>
                <a:latin typeface="Calibri"/>
              </a:rPr>
              <a:t>Name the real obstacle. You need it for the if-then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Check it against all four tests yourself before you hand it over.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PASS IT TWO TABLES ALONG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 i="0">
                <a:solidFill>
                  <a:srgbClr val="FFFDF7"/>
                </a:solidFill>
                <a:latin typeface="Georgia"/>
              </a:rPr>
              <a:t>Mark it against the four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99339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06654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082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Tick each test the plan actually passes. Four ticks is rare.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651760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724912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79192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Write the one change that would get it past the test it failed.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36976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310128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38328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3756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Then the honest question: would you do this plan?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2336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Marking a plan is not judging the person. Say what you would change.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CARDS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What did they spot?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90195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97510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938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Which test did most plans fail? There is almost always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54203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61518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6946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Did anybody pass all four without making it trivial? What was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18211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25526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0954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Whose change are you actually going to take?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It is nearly always the first test. Almost everybody writes a week one that is too big.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THE BIT THAT MAKES IT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2A36"/>
                </a:solidFill>
                <a:latin typeface="Georgia"/>
              </a:rPr>
              <a:t>If, 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Deciding in advance what you will do when it goes wrong beats deciding on the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94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If I get home late,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then I do the two-minute version, not none of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8163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If I cannot face it,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163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then I do the first thirty seconds and stop if I want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43814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Georgia"/>
              </a:rPr>
              <a:t>If I miss a day,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381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then I start again the next day, not the next month.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Write one of these on your card. One sentence, and it has to name a real obstacle.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THE BIT THAT LEAVES THIS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The class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Every plan that passes all four goes in. You each get a copy to take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Smallest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The one with the least in it that still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8163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Easiest to 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163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The one attached to something you already do every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4381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02961"/>
                </a:solidFill>
                <a:latin typeface="Georgia"/>
              </a:rPr>
              <a:t>The one you would steal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3814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Not the most impressive. The one you would copy.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Vote on the last one. It is the best guide to who will still be going in two months.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TO BE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900" b="0" i="0">
                <a:solidFill>
                  <a:srgbClr val="FFFDF7"/>
                </a:solidFill>
                <a:latin typeface="Georgia"/>
              </a:rPr>
              <a:t>Most plans stop, and that is fine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83664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5681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Almost everybody who starts something like this stops at some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05456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7860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Stopping is not failing. It is a normal part of doing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27248"/>
            <a:ext cx="7315200" cy="512064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F0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02961"/>
                </a:solidFill>
                <a:latin typeface="Calibri"/>
              </a:rPr>
              <a:t>If it stops, you start again at week one. Never at week four.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86784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Nobody keeps a streak. People keep coming back to it.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FIND YOUR SHEET FROM LESSON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Your very first guess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The prediction you wrote before you had measured anything. Look at the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2167127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240279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9456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How far out were you, and in which direction?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2788920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62072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16352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Which of the three numbers surprised you most on the day?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410712"/>
            <a:ext cx="420624" cy="420624"/>
          </a:xfrm>
          <a:prstGeom prst="ellipse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48386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3814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F2A36"/>
                </a:solidFill>
                <a:latin typeface="Calibri"/>
              </a:rPr>
              <a:t>What do you know now that would have changed the guess?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In lesson one you guessed. Then you measured. Now you have a plan.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502961"/>
                </a:solidFill>
                <a:latin typeface="Calibri"/>
              </a:rPr>
              <a:t>ON THE BACK OF YOUR LESSON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2A36"/>
                </a:solidFill>
                <a:latin typeface="Georgia"/>
              </a:rPr>
              <a:t>The first one. When?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35C6B"/>
                </a:solidFill>
                <a:latin typeface="Calibri"/>
              </a:rPr>
              <a:t>Not collected. Put it somewhere you will see it before the day you have written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945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What I am doing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945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The week one version. The small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0E4F5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816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Which day, after 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81635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A day and a thing it follows. Both, or it will not happen.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4670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8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43814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02961"/>
                </a:solidFill>
                <a:latin typeface="Georgia"/>
              </a:rPr>
              <a:t>If that fails, 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4381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635C6B"/>
                </a:solidFill>
                <a:latin typeface="Calibri"/>
              </a:rPr>
              <a:t>Your one sentence from the if-then slide.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502961"/>
                </a:solidFill>
                <a:latin typeface="Calibri"/>
              </a:rPr>
              <a:t>A day with nothing attached is a wish, not a plan. Write down the thing it comes after.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2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D8BCE4"/>
                </a:solidFill>
                <a:latin typeface="Calibri"/>
              </a:rPr>
              <a:t>IF YOU REMEMBER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Week one is meant to feel</a:t>
            </a:r>
            <a:br/>
            <a:r>
              <a:rPr sz="3400" b="0" i="0">
                <a:solidFill>
                  <a:srgbClr val="FFFDF7"/>
                </a:solidFill>
                <a:latin typeface="Georgia"/>
              </a:rPr>
              <a:t>like almost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3127248"/>
            <a:ext cx="1005840" cy="18288"/>
          </a:xfrm>
          <a:prstGeom prst="rect">
            <a:avLst/>
          </a:prstGeom>
          <a:solidFill>
            <a:srgbClr val="A9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198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450" b="0" i="1">
                <a:solidFill>
                  <a:srgbClr val="D8BCE4"/>
                </a:solidFill>
                <a:latin typeface="Calibri"/>
              </a:rPr>
              <a:t>The plans that survive are the ones</a:t>
            </a:r>
            <a:br/>
            <a:r>
              <a:rPr sz="1450" b="0" i="1">
                <a:solidFill>
                  <a:srgbClr val="D8BCE4"/>
                </a:solidFill>
                <a:latin typeface="Calibri"/>
              </a:rPr>
              <a:t>that looked too small to bother writing down.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8BCE4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8BCE4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95" y="1170432"/>
            <a:ext cx="681008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0428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502961"/>
                </a:solidFill>
                <a:latin typeface="Georgia"/>
              </a:rPr>
              <a:t>That is the series.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7238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635C6B"/>
                </a:solidFill>
                <a:latin typeface="Calibri"/>
              </a:rPr>
              <a:t>A prediction, three numbers you measured yourselves,</a:t>
            </a:r>
            <a:br/>
            <a:r>
              <a:rPr sz="1300" b="0" i="0">
                <a:solidFill>
                  <a:srgbClr val="635C6B"/>
                </a:solidFill>
                <a:latin typeface="Calibri"/>
              </a:rPr>
              <a:t>and four weeks small enough to survive.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02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9C95A3"/>
                </a:solidFill>
                <a:latin typeface="Calibri"/>
              </a:rPr>
              <a:t>Movement and Mental Health  ·  Lesson 3 of 3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C95A3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C95A3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Movement and Mental Health: lesson 3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