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502961"/>
                </a:solidFill>
                <a:latin typeface="Karla"/>
              </a:rPr>
              <a:t>MOVEMENT AND MENTAL HEALTH  ·  LESSON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502961"/>
                </a:solidFill>
                <a:latin typeface="Libre Caslon Display"/>
              </a:rPr>
              <a:t>The one you would actually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635C6B"/>
                </a:solidFill>
                <a:latin typeface="Karla"/>
              </a:rPr>
              <a:t>Anyone can write a plan that would work.</a:t>
            </a:r>
            <a:br/>
            <a:r>
              <a:rPr sz="1500" b="0" i="0">
                <a:solidFill>
                  <a:srgbClr val="635C6B"/>
                </a:solidFill>
                <a:latin typeface="Karla"/>
              </a:rPr>
              <a:t>The hard part is writing one you are still doing in four weeks.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C95A3"/>
                </a:solidFill>
                <a:latin typeface="Karla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TWO THINGS TO KNOW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Read this one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7772400" cy="106070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975104"/>
            <a:ext cx="512064" cy="51206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66544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784" y="1865376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Plans get marked by somebody else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22128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Cards pass two tables along. Nobody marks their own, and nobody is marked on whether they can already do any of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26080"/>
            <a:ext cx="7772400" cy="106070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3200400"/>
            <a:ext cx="512064" cy="51206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291840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0784" y="3090672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Some plans will not involve moving much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0784" y="343814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A student with an injury, a condition or a difficult home can still write a plan that passes all four tests. Seated plans count. Say so before they start writing.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976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Spare cards cover almost every version of this. Nobody leaves without a plan.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WHAT THIS ROOM FOUND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You have already proved it works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55648"/>
            <a:ext cx="7315200" cy="67665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828800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Five minutes moved the numbers.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9696"/>
            <a:ext cx="6766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Almost everybody's pulse went up and most people's focus did too.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542032"/>
            <a:ext cx="7315200" cy="67665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615184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Ten minutes later it was still there.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926079"/>
            <a:ext cx="6766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The heart went back. The head took longer, which is the useful part.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328415"/>
            <a:ext cx="7315200" cy="67665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401568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And then the lesson ended.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12463"/>
            <a:ext cx="6766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Nobody has done it since, and that is the problem this lesson is about.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24528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Knowing that it works has never been the hard part.</a:t>
            </a:r>
          </a:p>
        </p:txBody>
      </p:sp>
      <p:pic>
        <p:nvPicPr>
          <p:cNvPr id="17" name="Picture 1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WHY THIS LESSON EXISTS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F2A36"/>
                </a:solidFill>
                <a:latin typeface="Libre Caslon Display"/>
              </a:rPr>
              <a:t>Why four weeks?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475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9961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502961"/>
                </a:solidFill>
                <a:latin typeface="Karla"/>
              </a:rPr>
              <a:t>21 trials of movement programmes, 2,441 young people, average age fourteen.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66543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121408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8541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139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While the programmes ran, low mood came down against the groups doing nothing.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63347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2688336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752344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2706624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The effect was larger for the students aged thirteen and over than for younger children.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3255264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319272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273552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Months after the programmes stopped, the difference between the groups had gone.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877055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It helps while you are doing it, so you need a plan, not one good week.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79392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9C95A3"/>
                </a:solidFill>
                <a:latin typeface="Karla"/>
              </a:rPr>
              <a:t>Recchia, F., Bernal, J. D. K., Fong, D. Y. et al. (2023). JAMA Pediatrics, 177(2), 132–140.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WRITE THESE DOWN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FFFDF7"/>
                </a:solidFill>
                <a:latin typeface="Libre Caslon Display"/>
              </a:rPr>
              <a:t>Four tests for a plan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91056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755648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847088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810512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Small enough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249424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635C6B"/>
                </a:solidFill>
                <a:latin typeface="Karla"/>
              </a:rPr>
              <a:t>Under ten minutes. If it needs more, it will not happen on a bad 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872" y="1591056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10328" y="1755648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0328" y="1847088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8" y="1810512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Attached to something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8616" y="2249424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635C6B"/>
                </a:solidFill>
                <a:latin typeface="Karla"/>
              </a:rPr>
              <a:t>It follows something you already do, so you do not have to remember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443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5256" y="3108959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32004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5336" y="31638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Nothing to 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3602735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635C6B"/>
                </a:solidFill>
                <a:latin typeface="Karla"/>
              </a:rPr>
              <a:t>No kit to buy, nowhere to travel to, nobody else needed.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0872" y="29443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0328" y="3108959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0328" y="32004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0408" y="31638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Works on a bad day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602735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635C6B"/>
                </a:solidFill>
                <a:latin typeface="Karla"/>
              </a:rPr>
              <a:t>You would still do it when you feel like doing nothing at all.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24281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A plan that fails one of these tends to stop in week two.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MARK ONE TOGETHER FIRST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Try it on this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91056"/>
            <a:ext cx="7772400" cy="60350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70078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“Run five kilometres every morning before school.”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40864"/>
            <a:ext cx="7772400" cy="3840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6829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Small enough?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3682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Forty minutes, on a school morning. 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98064"/>
            <a:ext cx="7772400" cy="38404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82549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Attached to something?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8254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It is attached to getting up an hour earlier.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55264"/>
            <a:ext cx="7772400" cy="3840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28269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Nothing to get?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2826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Trainers, a safe route, and daylight when you get up.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12464"/>
            <a:ext cx="7772400" cy="38404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373989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Works on a bad day?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7398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This is the first thing to go, and it never comes back.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9768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One change passes all four: wall press-ups, right after you brush your teeth.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BEFORE YOU WRITE ANYTHING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F2A36"/>
                </a:solidFill>
                <a:latin typeface="Libre Caslon Display"/>
              </a:rPr>
              <a:t>What growing slowly means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Four weeks, and week four is still not impressive. That is deliberate.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84831"/>
            <a:ext cx="1805940" cy="10058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0" spc="120">
                <a:solidFill>
                  <a:srgbClr val="635C6B"/>
                </a:solidFill>
                <a:latin typeface="Karla"/>
              </a:rPr>
              <a:t>Week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60320"/>
            <a:ext cx="16596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02961"/>
                </a:solidFill>
                <a:latin typeface="Libre Caslon Display"/>
              </a:rPr>
              <a:t>Two minutes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74620" y="2084831"/>
            <a:ext cx="1805940" cy="10058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6060" y="2231136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0" spc="120">
                <a:solidFill>
                  <a:srgbClr val="635C6B"/>
                </a:solidFill>
                <a:latin typeface="Karla"/>
              </a:rPr>
              <a:t>Week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7772" y="2560320"/>
            <a:ext cx="16596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02961"/>
                </a:solidFill>
                <a:latin typeface="Libre Caslon Display"/>
              </a:rPr>
              <a:t>Three minutes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084831"/>
            <a:ext cx="1805940" cy="10058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231136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0" spc="120">
                <a:solidFill>
                  <a:srgbClr val="635C6B"/>
                </a:solidFill>
                <a:latin typeface="Karla"/>
              </a:rPr>
              <a:t>Week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2560320"/>
            <a:ext cx="16596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02961"/>
                </a:solidFill>
                <a:latin typeface="Libre Caslon Display"/>
              </a:rPr>
              <a:t>Four minutes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2260" y="2084831"/>
            <a:ext cx="1805940" cy="10058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3700" y="2231136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0" spc="120">
                <a:solidFill>
                  <a:srgbClr val="635C6B"/>
                </a:solidFill>
                <a:latin typeface="Karla"/>
              </a:rPr>
              <a:t>Week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5412" y="2560320"/>
            <a:ext cx="16596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02961"/>
                </a:solidFill>
                <a:latin typeface="Libre Caslon Display"/>
              </a:rPr>
              <a:t>Five minutes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29184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" y="3401568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Doubling it every week is how plans fall apart. Add a minute, or one more day.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59936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If week one already feels like an effort, it is too big. Halve it and start again.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ON THE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67728" y="530352"/>
            <a:ext cx="1490472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67728" y="589788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Write your four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Name on it. Somebody who has never seen it is going to mark it shortly.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15798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What it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15798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One thing. Press-ups, a walk, stretching, dancing in your room.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51760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70662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When exactly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70662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Not “in the evening”. After what, on which days?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00400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5526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Week 1 to week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25526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How it grows. Four numbers, and week one is tiny.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49039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3803903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What would stop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803903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Name the real obstacle. You need it for the next slide.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3708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Check it against all four tests yourself before you hand it over.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PASS IT TWO TABLES ALONG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SWAP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 i="0">
                <a:solidFill>
                  <a:srgbClr val="FFFDF7"/>
                </a:solidFill>
                <a:latin typeface="Libre Caslon Display"/>
              </a:rPr>
              <a:t>Mark it against the four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99339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06654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2082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Tick each test the plan actually passes. Four ticks is rare.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78608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651760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724912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679192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Write the one change that would get it past the test it failed.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36976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310128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38328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3756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Then the honest question: would you do this plan?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02336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Marking a plan is not judging the person. Say what you would change.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CARDS BACK TO THEIR OWNERS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READ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What did they spot?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90195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97510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92938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Which test did most plans fail? There is almost always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6888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54203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1518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6946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Did anybody pass all four without making it trivial? What was it?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0896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18211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2552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0954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Whose change are you actually going to take?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136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It is nearly always the first test. Almost everybody writes a week one that is too big.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THE BIT THAT ACTUALLY PREDICTS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2A36"/>
                </a:solidFill>
                <a:latin typeface="Libre Caslon Display"/>
              </a:rPr>
              <a:t>If, then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Deciding in advance what you will do when it goes wrong beats deciding on the day.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194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If I get home late,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then I do the two-minute version, not none of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81635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If I cannot face it,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8163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then I do the first thirty seconds and stop if I want 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43814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If I miss a day,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3814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then I start again the next day, not the next month.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Write one of these on your card. One sentence, and it has to name a real obstacle.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THE BIT THAT LEAVES THIS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CHOOSE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The class collection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Every plan that passes all four goes in. You each get a copy to take home.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Smallest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19456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The one with the least in it that still counts.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81635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Easiest to remember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81635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The one attached to something you already do every day.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4381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The one you would steal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438144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Not the most impressive. The one you would copy.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Vote on the last one. It is the best guide to who will still be going in two months.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TO BE CLEAR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STRAIGHT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Most plans stop, and that is fine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83664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56816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Almost everybody who starts something like this stops at some 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505456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78608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Stopping is not failing. It is a normal part of doing anything.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127248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0040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If it stops, you start again at week one. Never at week four.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Nobody keeps a streak. People keep coming back to it.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FIND YOUR SHEET FROM THREE WEEKS AGO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6872" y="530352"/>
            <a:ext cx="1481328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76872" y="589788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LOOK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Your very first guess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The prediction you wrote before you had measured anything. Look at the numbers.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2167127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240279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19456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How far out were you, and in which direction?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788920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862072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816352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Which of the three numbers surprised you most on the day?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41071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4838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3814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What do you know now that would have changed the guess?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Three weeks ago you guessed. Then you measured. Now you have a plan.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ON THE SLIP, THEN KEEP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EXIT SLIP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The first one. When?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Not collected. Put it somewhere you will see it before the day you have written down.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1945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What I am doing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The week one version. The small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81635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Which day, after what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81635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A day and a thing it follows. Both, or it will not happen.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4381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If that fails, then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4381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Your one sentence from the if-then slide.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A day with no time attached is a wish, not a plan. Write down the thing it comes after.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Week one is meant to feel</a:t>
            </a:r>
            <a:br/>
            <a:r>
              <a:rPr sz="3400" b="1" i="0">
                <a:solidFill>
                  <a:srgbClr val="FFFDF7"/>
                </a:solidFill>
                <a:latin typeface="Libre Caslon Display"/>
              </a:rPr>
              <a:t>like almost nothing.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D8BCE4"/>
                </a:solidFill>
                <a:latin typeface="Karla"/>
              </a:rPr>
              <a:t>The plans that survive are the ones</a:t>
            </a:r>
            <a:br/>
            <a:r>
              <a:rPr sz="1450" b="0" i="1">
                <a:solidFill>
                  <a:srgbClr val="D8BCE4"/>
                </a:solidFill>
                <a:latin typeface="Karla"/>
              </a:rPr>
              <a:t>that looked too small to bother writing down.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170432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502961"/>
                </a:solidFill>
                <a:latin typeface="Libre Caslon Display"/>
              </a:rPr>
              <a:t>That is the series.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635C6B"/>
                </a:solidFill>
                <a:latin typeface="Karla"/>
              </a:rPr>
              <a:t>A prediction, three numbers you measured yourselves,</a:t>
            </a:r>
            <a:br/>
            <a:r>
              <a:rPr sz="1300" b="0" i="0">
                <a:solidFill>
                  <a:srgbClr val="635C6B"/>
                </a:solidFill>
                <a:latin typeface="Karla"/>
              </a:rPr>
              <a:t>and four weeks small enough to survive.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C95A3"/>
                </a:solidFill>
                <a:latin typeface="Karla"/>
              </a:rPr>
              <a:t>Movement and Mental Health  ·  Lesson 3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Movement and Mental Health: lesson 3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