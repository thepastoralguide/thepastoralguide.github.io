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1792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F5A44"/>
                </a:solidFill>
                <a:latin typeface="Libre Caslon Display"/>
              </a:rPr>
              <a:t>The Form Time Quiz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57867" y="1243584"/>
            <a:ext cx="3028264" cy="237744"/>
          </a:xfrm>
          <a:prstGeom prst="roundRect">
            <a:avLst>
              <a:gd name="adj" fmla="val 50000"/>
            </a:avLst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CHRISTMAS EDITION  ·  YEAR 7 TO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7276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C6552"/>
                </a:solidFill>
                <a:latin typeface="Karla"/>
              </a:rPr>
              <a:t>Ten questions: four fact or myth, then three with options and three to write.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38528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54480" y="2084832"/>
            <a:ext cx="658368" cy="658368"/>
          </a:xfrm>
          <a:prstGeom prst="ellipse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wopeo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2221992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3816" y="2852928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F5A44"/>
                </a:solidFill>
                <a:latin typeface="Libre Caslon Display"/>
              </a:rPr>
              <a:t>Get into teams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346704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Three or four to a team, with one answer sheet between you.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4136" y="1938528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42816" y="2084832"/>
            <a:ext cx="658368" cy="658368"/>
          </a:xfrm>
          <a:prstGeom prst="ellipse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221992"/>
            <a:ext cx="384048" cy="3840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02152" y="2852928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F5A44"/>
                </a:solidFill>
                <a:latin typeface="Libre Caslon Display"/>
              </a:rPr>
              <a:t>Answer together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3346704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Each question goes up on the board. Agree an answer, then write it down.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62472" y="1938528"/>
            <a:ext cx="2395728" cy="201168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31151" y="2084832"/>
            <a:ext cx="658368" cy="658368"/>
          </a:xfrm>
          <a:prstGeom prst="ellipse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w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312" y="2221992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90488" y="2852928"/>
            <a:ext cx="2139696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F5A44"/>
                </a:solidFill>
                <a:latin typeface="Libre Caslon Display"/>
              </a:rPr>
              <a:t>Swap and mark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7064" y="3346704"/>
            <a:ext cx="206654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C6552"/>
                </a:solidFill>
                <a:latin typeface="Karla"/>
              </a:rPr>
              <a:t>Swap sheets with the team next to you, then the answers go up one at a time.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78224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8B9179"/>
                </a:solidFill>
                <a:latin typeface="Karla"/>
              </a:rPr>
              <a:t>Needs: one answer sheet per team, from the resource pack.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 / 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68281" y="914400"/>
            <a:ext cx="1207436" cy="237744"/>
          </a:xfrm>
          <a:prstGeom prst="roundRect">
            <a:avLst>
              <a:gd name="adj" fmla="val 50000"/>
            </a:avLst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F5A44"/>
                </a:solidFill>
                <a:latin typeface="Karla"/>
              </a:rPr>
              <a:t>ROUND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8046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DF7"/>
                </a:solidFill>
                <a:latin typeface="Libre Caslon Display"/>
              </a:rPr>
              <a:t>Fact or myth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487168"/>
            <a:ext cx="914400" cy="18288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24912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C6D5CA"/>
                </a:solidFill>
                <a:latin typeface="Karla"/>
              </a:rPr>
              <a:t>Four statements about Christmas. As a team, decide whether each one is a fact or a myth.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6D5CA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6D5CA"/>
                </a:solidFill>
                <a:latin typeface="Karla"/>
              </a:rPr>
              <a:t>2 /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ROUND ONE  ·  QUESTION 1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1719072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133856"/>
            <a:ext cx="63093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2F5A44"/>
                </a:solidFill>
                <a:latin typeface="Libre Caslon Display"/>
              </a:rPr>
              <a:t>In Catalonia, children hit a log with sticks on Christmas Eve until it poos out sweets.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88336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80944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803904"/>
            <a:ext cx="341985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74060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2F5A44"/>
                </a:solidFill>
                <a:latin typeface="Libre Caslon Display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980944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803904"/>
            <a:ext cx="341985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274060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2F5A44"/>
                </a:solidFill>
                <a:latin typeface="Libre Caslon Display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3 /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ROUND ONE  ·  QUESTION 2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30224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30224"/>
            <a:ext cx="7772400" cy="54864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22832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2F5A44"/>
                </a:solidFill>
                <a:latin typeface="Libre Caslon Display"/>
              </a:rPr>
              <a:t>In Japan, fried chicken from KFC is a popular Christmas dinner.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93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9196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614928"/>
            <a:ext cx="341985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08508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2F5A44"/>
                </a:solidFill>
                <a:latin typeface="Libre Caslon Display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79196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614928"/>
            <a:ext cx="341985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08508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2F5A44"/>
                </a:solidFill>
                <a:latin typeface="Libre Caslon Display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4 /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ROUND ONE  ·  QUESTION 3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30224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30224"/>
            <a:ext cx="7772400" cy="54864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22832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2F5A44"/>
                </a:solidFill>
                <a:latin typeface="Libre Caslon Display"/>
              </a:rPr>
              <a:t>Santa’s reindeer, with their big antlers, are probably all boys.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93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9196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614928"/>
            <a:ext cx="341985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08508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2F5A44"/>
                </a:solidFill>
                <a:latin typeface="Libre Caslon Display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791968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614928"/>
            <a:ext cx="341985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085084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2F5A44"/>
                </a:solidFill>
                <a:latin typeface="Libre Caslon Display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5 /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ROUND ONE  ·  QUESTION 4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1719072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133856"/>
            <a:ext cx="63093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2F5A44"/>
                </a:solidFill>
                <a:latin typeface="Libre Caslon Display"/>
              </a:rPr>
              <a:t>Hiding a glass pickle in the Christmas tree is an old German tradition.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88336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FACT OR MYTH?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80944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803904"/>
            <a:ext cx="341985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74060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2F5A44"/>
                </a:solidFill>
                <a:latin typeface="Libre Caslon Display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980944"/>
            <a:ext cx="374903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73751" y="3803904"/>
            <a:ext cx="341985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3274060"/>
            <a:ext cx="3383279" cy="309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000" b="1" i="0">
                <a:solidFill>
                  <a:srgbClr val="2F5A44"/>
                </a:solidFill>
                <a:latin typeface="Libre Caslon Display"/>
              </a:rPr>
              <a:t>Myth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6 /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952258" y="914400"/>
            <a:ext cx="1239483" cy="237744"/>
          </a:xfrm>
          <a:prstGeom prst="roundRect">
            <a:avLst>
              <a:gd name="adj" fmla="val 50000"/>
            </a:avLst>
          </a:prstGeom>
          <a:solidFill>
            <a:srgbClr val="E8C8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963A36"/>
                </a:solidFill>
                <a:latin typeface="Karla"/>
              </a:rPr>
              <a:t>ROUND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8046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DF7"/>
                </a:solidFill>
                <a:latin typeface="Libre Caslon Display"/>
              </a:rPr>
              <a:t>Choose or write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487168"/>
            <a:ext cx="914400" cy="18288"/>
          </a:xfrm>
          <a:prstGeom prst="rect">
            <a:avLst/>
          </a:prstGeom>
          <a:solidFill>
            <a:srgbClr val="E8C8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24912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E8C8C3"/>
                </a:solidFill>
                <a:latin typeface="Karla"/>
              </a:rPr>
              <a:t>Six questions. The first three give you options, and the last three you write out in full.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8C8C3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8C8C3"/>
                </a:solidFill>
                <a:latin typeface="Karla"/>
              </a:rPr>
              <a:t>7 /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ROUND TWO  ·  QUESTION 5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30224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30224"/>
            <a:ext cx="7772400" cy="54864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22832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2F5A44"/>
                </a:solidFill>
                <a:latin typeface="Libre Caslon Display"/>
              </a:rPr>
              <a:t>In Australia, which season is it at Christmas?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93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614928"/>
            <a:ext cx="207873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3038856"/>
            <a:ext cx="402336" cy="402336"/>
          </a:xfrm>
          <a:prstGeom prst="ellipse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31160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Winter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614928"/>
            <a:ext cx="207873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3038856"/>
            <a:ext cx="402336" cy="402336"/>
          </a:xfrm>
          <a:prstGeom prst="ellipse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31160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Summer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614928"/>
            <a:ext cx="207873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3038856"/>
            <a:ext cx="402336" cy="402336"/>
          </a:xfrm>
          <a:prstGeom prst="ellipse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31160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Autumn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ROUND TWO  ·  QUESTION 6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30224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30224"/>
            <a:ext cx="7772400" cy="54864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22832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2F5A44"/>
                </a:solidFill>
                <a:latin typeface="Libre Caslon Display"/>
              </a:rPr>
              <a:t>In Italy, who fills children’s stockings on the night of 5 January?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9360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614928"/>
            <a:ext cx="207873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3038856"/>
            <a:ext cx="402336" cy="402336"/>
          </a:xfrm>
          <a:prstGeom prst="ellipse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2992120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A talking donkey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614928"/>
            <a:ext cx="207873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3038856"/>
            <a:ext cx="402336" cy="402336"/>
          </a:xfrm>
          <a:prstGeom prst="ellipse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2992120"/>
            <a:ext cx="1584960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A witch on a broomstick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2791968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614928"/>
            <a:ext cx="207873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3038856"/>
            <a:ext cx="402336" cy="402336"/>
          </a:xfrm>
          <a:prstGeom prst="ellipse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121152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3116072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A snowman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ROUND TWO  ·  QUESTION 7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1719072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399032"/>
            <a:ext cx="603504" cy="603504"/>
          </a:xfrm>
          <a:prstGeom prst="ellipse">
            <a:avLst/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27048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133856"/>
            <a:ext cx="63093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2F5A44"/>
                </a:solidFill>
                <a:latin typeface="Libre Caslon Display"/>
              </a:rPr>
              <a:t>Every year on Christmas Island, millions of which animal march to the sea?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88336"/>
            <a:ext cx="7772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40">
                <a:solidFill>
                  <a:srgbClr val="8B9179"/>
                </a:solidFill>
                <a:latin typeface="Karla"/>
              </a:rPr>
              <a:t>ONE OF THESE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80944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" y="3803904"/>
            <a:ext cx="207873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3227832"/>
            <a:ext cx="402336" cy="402336"/>
          </a:xfrm>
          <a:prstGeom prst="ellipse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310128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62456" y="3305048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Penguins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8040" y="2980944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32632" y="3803904"/>
            <a:ext cx="207873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2631" y="3227832"/>
            <a:ext cx="402336" cy="402336"/>
          </a:xfrm>
          <a:prstGeom prst="ellipse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2632" y="3310128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44695" y="3305048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Reindeer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0280" y="2980944"/>
            <a:ext cx="2407920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4871" y="3803904"/>
            <a:ext cx="2078736" cy="27432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4872" y="3227832"/>
            <a:ext cx="402336" cy="402336"/>
          </a:xfrm>
          <a:prstGeom prst="ellipse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871" y="3310128"/>
            <a:ext cx="402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Karla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6936" y="3305048"/>
            <a:ext cx="1584960" cy="2479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Red crabs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169663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C6552"/>
                </a:solidFill>
                <a:latin typeface="Karla"/>
              </a:rPr>
              <a:t>Agree it as a team, then tick it on the sheet.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10 /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ROUND TWO  ·  QUESTION 8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94232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94232"/>
            <a:ext cx="7772400" cy="54864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86840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2F5A44"/>
                </a:solidFill>
                <a:latin typeface="Libre Caslon Display"/>
              </a:rPr>
              <a:t>In China, which fruit is a popular present on Christmas Eve?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368040"/>
            <a:ext cx="5212080" cy="27432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514344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11 /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ROUND TWO  ·  QUESTION 9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94232"/>
            <a:ext cx="7772400" cy="134112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094232"/>
            <a:ext cx="7772400" cy="54864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386840"/>
            <a:ext cx="6309360" cy="755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2F5A44"/>
                </a:solidFill>
                <a:latin typeface="Libre Caslon Display"/>
              </a:rPr>
              <a:t>Which country gives Santa his own postcode, H0H 0H0?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368040"/>
            <a:ext cx="5212080" cy="27432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514344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12 /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ROUND TWO  ·  QUESTION 10 OF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905256"/>
            <a:ext cx="7772400" cy="1719072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905256"/>
            <a:ext cx="7772400" cy="54864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463040"/>
            <a:ext cx="603504" cy="603504"/>
          </a:xfrm>
          <a:prstGeom prst="ellipse">
            <a:avLst/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91056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197864"/>
            <a:ext cx="63093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2F5A44"/>
                </a:solidFill>
                <a:latin typeface="Libre Caslon Display"/>
              </a:rPr>
              <a:t>In which country does Sinterklaas arrive every November on a steamboat from Spain?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557016"/>
            <a:ext cx="5212080" cy="27432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Agree it as a team, then write it on the sheet.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F5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049462" y="914400"/>
            <a:ext cx="1045075" cy="237744"/>
          </a:xfrm>
          <a:prstGeom prst="roundRect">
            <a:avLst>
              <a:gd name="adj" fmla="val 50000"/>
            </a:avLst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2F5A44"/>
                </a:solidFill>
                <a:latin typeface="Karl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81328"/>
            <a:ext cx="8046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4000" b="1" i="0">
                <a:solidFill>
                  <a:srgbClr val="FFFDF7"/>
                </a:solidFill>
                <a:latin typeface="Libre Caslon Display"/>
              </a:rPr>
              <a:t>Swap sheets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487168"/>
            <a:ext cx="914400" cy="18288"/>
          </a:xfrm>
          <a:prstGeom prst="rect">
            <a:avLst/>
          </a:prstGeom>
          <a:solidFill>
            <a:srgbClr val="C6D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724912"/>
            <a:ext cx="6583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C6D5CA"/>
                </a:solidFill>
                <a:latin typeface="Karla"/>
              </a:rPr>
              <a:t>Swap with the team next to you. Give one mark for each right answer, then add up the score out of ten.</a:t>
            </a:r>
          </a:p>
        </p:txBody>
      </p:sp>
      <p:pic>
        <p:nvPicPr>
          <p:cNvPr id="7" name="Picture 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6D5CA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6D5CA"/>
                </a:solidFill>
                <a:latin typeface="Karla"/>
              </a:rPr>
              <a:t>14 /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ANSWERS  ·  QUESTION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0203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In Catalonia, children hit a log with sticks on Christmas Eve until it poos out sweets.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75333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2F5A44"/>
                </a:solidFill>
                <a:latin typeface="Libre Caslon Display"/>
              </a:rPr>
              <a:t>Fact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561717"/>
            <a:ext cx="7772400" cy="128016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61717"/>
            <a:ext cx="64008" cy="1280160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799461"/>
            <a:ext cx="704088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The log is called the Tió de Nadal. Families look after it from early December, keep it warm under a blanket, then hit it while singing a song on Christmas Eve.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15 /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ANSWERS  ·  QUESTION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In Japan, fried chicken from KFC is a popular Christmas dinner.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2F5A44"/>
                </a:solidFill>
                <a:latin typeface="Libre Caslon Display"/>
              </a:rPr>
              <a:t>Fact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It started with an advert in 1974 called “Kentucky for Christmas”. Christmas Eve is now KFC Japan’s busiest day of the year.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16 /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ANSWERS  ·  QUESTION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0203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Santa’s reindeer, with their big antlers, are probably all boys.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75333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2F5A44"/>
                </a:solidFill>
                <a:latin typeface="Libre Caslon Display"/>
              </a:rPr>
              <a:t>Myth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561717"/>
            <a:ext cx="7772400" cy="128016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61717"/>
            <a:ext cx="64008" cy="1280160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799461"/>
            <a:ext cx="704088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Male reindeer usually drop their antlers in early winter, but females keep theirs until spring. So a reindeer with antlers at Christmas is most likely a girl.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17 /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ANSWERS  ·  QUESTION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Hiding a glass pickle in the Christmas tree is an old German tradition.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2F5A44"/>
                </a:solidFill>
                <a:latin typeface="Libre Caslon Display"/>
              </a:rPr>
              <a:t>Myth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In a survey, 91 per cent of Germans had never heard of it. It most likely started in the USA in the late 1800s.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18 /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ANSWERS  ·  QUESTION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0203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In Australia, which season is it at Christmas?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75333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2F5A44"/>
                </a:solidFill>
                <a:latin typeface="Libre Caslon Display"/>
              </a:rPr>
              <a:t>B.  Summer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561717"/>
            <a:ext cx="7772400" cy="128016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61717"/>
            <a:ext cx="64008" cy="1280160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799461"/>
            <a:ext cx="704088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Australia is in the southern hemisphere, so December is the middle of summer. Lots of families have Christmas lunch outside, at a barbecue or on the beach.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19 /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ANSWERS  ·  QUESTION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In Italy, who fills children’s stockings on the night of 5 January?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2F5A44"/>
                </a:solidFill>
                <a:latin typeface="Libre Caslon Display"/>
              </a:rPr>
              <a:t>B.  A witch on a broomstick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She is called La Befana. She brings sweets to children who have been good and a lump of coal to those who have not.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20 /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ANSWERS  ·  QUESTION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0203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Every year on Christmas Island, millions of which animal march to the sea?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75333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2F5A44"/>
                </a:solidFill>
                <a:latin typeface="Libre Caslon Display"/>
              </a:rPr>
              <a:t>C.  Red crabs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561717"/>
            <a:ext cx="7772400" cy="128016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61717"/>
            <a:ext cx="64008" cy="1280160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799461"/>
            <a:ext cx="704088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The island was named on Christmas Day in 1643. Every year its red crabs leave the forest and cross roads and gardens to lay their eggs in the sea.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21 /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ANSWERS  ·  QUESTION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0203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In China, which fruit is a popular present on Christmas Eve?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75333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2F5A44"/>
                </a:solidFill>
                <a:latin typeface="Libre Caslon Display"/>
              </a:rPr>
              <a:t>An apple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561717"/>
            <a:ext cx="7772400" cy="128016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61717"/>
            <a:ext cx="64008" cy="1280160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799461"/>
            <a:ext cx="704088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In Chinese, Christmas Eve is “ping’an ye”, the peaceful night, and the word for apple is “pingguo”. The two sound alike, so apples are sold wrapped as gifts.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22 /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ANSWERS  ·  QUESTION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0203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Which country gives Santa his own postcode, H0H 0H0?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75333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2F5A44"/>
                </a:solidFill>
                <a:latin typeface="Libre Caslon Display"/>
              </a:rPr>
              <a:t>Canada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561717"/>
            <a:ext cx="7772400" cy="128016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61717"/>
            <a:ext cx="64008" cy="1280160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799461"/>
            <a:ext cx="704088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Canada Post gets more than a million letters to Santa every year. Volunteers reply in the language each child wrote in, including braille.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23 /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CHRISTMAS QUIZ  ·  ANSWERS  ·  QUESTION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4315"/>
            <a:ext cx="7772400" cy="222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In which country does Sinterklaas arrive every November on a steamboat from Spain?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09445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2F5A44"/>
                </a:solidFill>
                <a:latin typeface="Libre Caslon Display"/>
              </a:rPr>
              <a:t>The Netherlands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95829"/>
            <a:ext cx="7772400" cy="1011936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95829"/>
            <a:ext cx="64008" cy="1011936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933573"/>
            <a:ext cx="70408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Children leave out a shoe with a carrot for his horse. The main night for presents there is 5 December, not Christmas Day.</a:t>
            </a:r>
          </a:p>
        </p:txBody>
      </p:sp>
      <p:pic>
        <p:nvPicPr>
          <p:cNvPr id="9" name="Picture 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24 /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7772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60">
                <a:solidFill>
                  <a:srgbClr val="2F5A44"/>
                </a:solidFill>
                <a:latin typeface="Karla"/>
              </a:rPr>
              <a:t>THE FORM TIME QUIZ  ·  CHRISTMAS EDITION</a:t>
            </a:r>
          </a:p>
        </p:txBody>
      </p:sp>
      <p:pic>
        <p:nvPicPr>
          <p:cNvPr id="4" name="Picture 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251" y="822960"/>
            <a:ext cx="633496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75564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5A44"/>
                </a:solidFill>
                <a:latin typeface="Libre Caslon Display"/>
              </a:rPr>
              <a:t>Scores back to their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6766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5C6552"/>
                </a:solidFill>
                <a:latin typeface="Karla"/>
              </a:rPr>
              <a:t>Hands up if you got ten. Then hands up if one of the answers surprised you, and tell us which.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39312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B9179"/>
                </a:solidFill>
                <a:latin typeface="Karla"/>
              </a:rPr>
              <a:t>More free quizzes and form time activities at thepastoralguide.com.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3129423" cy="237744"/>
          </a:xfrm>
          <a:prstGeom prst="roundRect">
            <a:avLst>
              <a:gd name="adj" fmla="val 50000"/>
            </a:avLst>
          </a:prstGeom>
          <a:solidFill>
            <a:srgbClr val="F8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963A36"/>
                </a:solidFill>
                <a:latin typeface="Karla"/>
              </a:rPr>
              <a:t>FOR THE TEACHER  ·  ADD YOUR OWN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841248"/>
            <a:ext cx="7772400" cy="1188720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7772400" cy="54864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0976" y="1133856"/>
            <a:ext cx="603504" cy="603504"/>
          </a:xfrm>
          <a:prstGeom prst="ellipse">
            <a:avLst/>
          </a:prstGeom>
          <a:solidFill>
            <a:srgbClr val="963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261872"/>
            <a:ext cx="60350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FFFDF7"/>
                </a:solidFill>
                <a:latin typeface="Karla"/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246632"/>
            <a:ext cx="6309360" cy="377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 i="0">
                <a:solidFill>
                  <a:srgbClr val="2F5A44"/>
                </a:solidFill>
                <a:latin typeface="Libre Caslon Display"/>
              </a:rPr>
              <a:t>[ Type your own question here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32304"/>
            <a:ext cx="7772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Add your own questions here: something from assembly, a date coming up, or a question about your own school.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Duplicate this slide for each one and drag it in after question 10. There are two spare rows on the answer sheet for them.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26 /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329184"/>
            <a:ext cx="3129423" cy="237744"/>
          </a:xfrm>
          <a:prstGeom prst="roundRect">
            <a:avLst>
              <a:gd name="adj" fmla="val 50000"/>
            </a:avLst>
          </a:prstGeom>
          <a:solidFill>
            <a:srgbClr val="F8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963A36"/>
                </a:solidFill>
                <a:latin typeface="Karla"/>
              </a:rPr>
              <a:t>FOR THE TEACHER  ·  ADD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31520"/>
            <a:ext cx="7772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C6552"/>
                </a:solidFill>
                <a:latin typeface="Karla"/>
              </a:rPr>
              <a:t>[ Your question again, so the room remembers it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6"/>
            <a:ext cx="777240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2F5A44"/>
                </a:solidFill>
                <a:latin typeface="Libre Caslon Display"/>
              </a:rPr>
              <a:t>[ The answer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11680"/>
            <a:ext cx="7772400" cy="932688"/>
          </a:xfrm>
          <a:prstGeom prst="roundRect">
            <a:avLst>
              <a:gd name="adj" fmla="val 6000"/>
            </a:avLst>
          </a:prstGeom>
          <a:solidFill>
            <a:srgbClr val="EE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11680"/>
            <a:ext cx="64008" cy="932688"/>
          </a:xfrm>
          <a:prstGeom prst="rect">
            <a:avLst/>
          </a:prstGeom>
          <a:solidFill>
            <a:srgbClr val="B958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9424"/>
            <a:ext cx="7040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2E3436"/>
                </a:solidFill>
                <a:latin typeface="Karla"/>
              </a:rPr>
              <a:t>[ One line on why, if there is something worth knowing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8688"/>
            <a:ext cx="777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5C6552"/>
                </a:solidFill>
                <a:latin typeface="Karla"/>
              </a:rPr>
              <a:t>Duplicate this slide for each of your own questions and drag it in after the answer to question 10.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B9179"/>
                </a:solidFill>
                <a:latin typeface="Karla"/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