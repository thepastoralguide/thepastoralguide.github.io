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.png"/><Relationship Id="rId4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6268" y="658368"/>
            <a:ext cx="831463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847088"/>
            <a:ext cx="7680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2825496"/>
            <a:ext cx="1005840" cy="18288"/>
          </a:xfrm>
          <a:prstGeom prst="rect">
            <a:avLst/>
          </a:prstGeom>
          <a:solidFill>
            <a:srgbClr val="C88E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700" b="0" i="0">
                <a:solidFill>
                  <a:srgbClr val="7C6C69"/>
                </a:solidFill>
                <a:latin typeface="Karla"/>
              </a:rPr>
              <a:t>A Valentine’s Event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9584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A99B97"/>
                </a:solidFill>
                <a:latin typeface="Karla"/>
              </a:rPr>
              <a:t>A hot chocolate and a handwritten note, delivered to someone who is not expecting one.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TO START WITH</a:t>
            </a:r>
          </a:p>
        </p:txBody>
      </p:sp>
      <p:sp>
        <p:nvSpPr>
          <p:cNvPr id="4" name="Oval 3"/>
          <p:cNvSpPr/>
          <p:nvPr/>
        </p:nvSpPr>
        <p:spPr>
          <a:xfrm>
            <a:off x="4114800" y="1024128"/>
            <a:ext cx="914400" cy="914400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pe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6824" y="1216152"/>
            <a:ext cx="530352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2212848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6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When did someone last tell you something good about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56432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Have a think. Not a compliment about your shoes. Something about you.</a:t>
            </a:r>
          </a:p>
        </p:txBody>
      </p:sp>
      <p:pic>
        <p:nvPicPr>
          <p:cNvPr id="8" name="Picture 7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THE THING ABOUT KINDNESS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It is worth more than it costs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84376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093976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costs almost nothing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A few words and a minute of your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0232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78808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093976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3112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lasts far longer than you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People remember a kind thing said to them long after the person who said it has forgotten.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4664" y="1773936"/>
            <a:ext cx="2383536" cy="263347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73240" y="1929384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eo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093976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57544" y="2798064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It comes back to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5832" y="3364991"/>
            <a:ext cx="198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Being the one who said it feels almost as good as being the one who heard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25296"/>
            <a:ext cx="7406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The people who need it most</a:t>
            </a:r>
          </a:p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are the ones least likely to ask.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2798064"/>
            <a:ext cx="914400" cy="18288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54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300" b="0" i="1">
                <a:solidFill>
                  <a:srgbClr val="E8CBD2"/>
                </a:solidFill>
                <a:latin typeface="Karla"/>
              </a:rPr>
              <a:t>You cannot always tell who is having a hard week. Most people are quite good at hiding it.</a:t>
            </a:r>
          </a:p>
        </p:txBody>
      </p:sp>
      <p:pic>
        <p:nvPicPr>
          <p:cNvPr id="6" name="Picture 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E8CBD2"/>
                </a:solidFill>
                <a:latin typeface="Karla"/>
              </a:rPr>
              <a:t>The Pastoral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E8CBD2"/>
                </a:solidFill>
                <a:latin typeface="Karla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SO, THIS VALENTINE’S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32688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94505F"/>
                </a:solidFill>
                <a:latin typeface="Libre Caslon Display"/>
              </a:rPr>
              <a:t>Sweet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883664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700" b="0" i="0">
                <a:solidFill>
                  <a:srgbClr val="453B3A"/>
                </a:solidFill>
                <a:latin typeface="Karla"/>
              </a:rPr>
              <a:t>Send someone a hot chocolate and a note. They will not know it came from you.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2743200"/>
            <a:ext cx="5212080" cy="1554480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0864" y="3163824"/>
            <a:ext cx="713232" cy="713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10128" y="2944368"/>
            <a:ext cx="3566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350" b="1" i="0">
                <a:solidFill>
                  <a:srgbClr val="94505F"/>
                </a:solidFill>
                <a:latin typeface="Libre Caslon Display"/>
              </a:rPr>
              <a:t>Run by students, for students</a:t>
            </a:r>
          </a:p>
          <a:p>
            <a:pPr algn="l">
              <a:lnSpc>
                <a:spcPct val="132000"/>
              </a:lnSpc>
              <a:spcAft>
                <a:spcPts val="500"/>
              </a:spcAft>
            </a:pPr>
            <a:r>
              <a:rPr sz="1150" b="0" i="0">
                <a:solidFill>
                  <a:srgbClr val="7C6C69"/>
                </a:solidFill>
                <a:latin typeface="Karla"/>
              </a:rPr>
              <a:t>Come to the stall, write your note, and we do the rest. The money raised goes to [ CHARITY ].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WHAT THEY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One small bag, three small parts</a:t>
            </a:r>
          </a:p>
        </p:txBody>
      </p:sp>
      <p:pic>
        <p:nvPicPr>
          <p:cNvPr id="24" name="Sweet Notes bag photo" descr="deck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8166" y="1664208"/>
            <a:ext cx="2572275" cy="279806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60520" y="1645920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16552" y="1874519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1874519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1773936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Hot chocolate and marshmallows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2084832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Enough for one proper mug, tied up in a little bag.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615184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16552" y="2843784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6552" y="284378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432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A note you write yourself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3054096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Your own words, in your own handwriting. That is the part they keep.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3584448"/>
            <a:ext cx="4297680" cy="85953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16552" y="3813048"/>
            <a:ext cx="402336" cy="402336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381304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74336" y="3712463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94505F"/>
                </a:solidFill>
                <a:latin typeface="Libre Caslon Display"/>
              </a:rPr>
              <a:t>Handed to them on the 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4336" y="4023360"/>
            <a:ext cx="3310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Sorted by form the night before and delivered before registration.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ONE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453B3A"/>
                </a:solidFill>
                <a:latin typeface="Libre Caslon Display"/>
              </a:rPr>
              <a:t>You do not sign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700784"/>
            <a:ext cx="4617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500" b="0" i="0">
                <a:solidFill>
                  <a:srgbClr val="453B3A"/>
                </a:solidFill>
                <a:latin typeface="Karla"/>
              </a:rPr>
              <a:t>Every note is signed the same way: 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900" b="1" i="0">
                <a:solidFill>
                  <a:srgbClr val="94505F"/>
                </a:solidFill>
                <a:latin typeface="Libre Caslon Display"/>
              </a:rPr>
              <a:t>From: Anonymous</a:t>
            </a:r>
          </a:p>
          <a:p>
            <a:pPr algn="l">
              <a:lnSpc>
                <a:spcPct val="140000"/>
              </a:lnSpc>
              <a:spcAft>
                <a:spcPts val="1100"/>
              </a:spcAft>
            </a:pPr>
            <a:r>
              <a:rPr sz="1350" b="0" i="0">
                <a:solidFill>
                  <a:srgbClr val="7C6C69"/>
                </a:solidFill>
                <a:latin typeface="Karla"/>
              </a:rPr>
              <a:t>So the person reading it thinks about what it says, not who sent it. An adult reads every note before it goes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15000" y="1060704"/>
            <a:ext cx="2743200" cy="2999232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1380744"/>
            <a:ext cx="566928" cy="56692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53328" y="2139696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53328" y="2432304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53328" y="2761488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53328" y="3090672"/>
            <a:ext cx="2066543" cy="10972"/>
          </a:xfrm>
          <a:prstGeom prst="rect">
            <a:avLst/>
          </a:prstGeom>
          <a:solidFill>
            <a:srgbClr val="E8C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53328" y="336499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4505F"/>
                </a:solidFill>
                <a:latin typeface="Karla"/>
              </a:rPr>
              <a:t>From: Anonymous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3712463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A99B97"/>
                </a:solidFill>
                <a:latin typeface="Karla"/>
              </a:rPr>
              <a:t>the note on every bag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BEFORE YOU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Who will you send one 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7C6C69"/>
                </a:solidFill>
                <a:latin typeface="Karla"/>
              </a:rPr>
              <a:t>Your best friend already knows. Have a think about someone who does not.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32688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joined this year and is still finding their feet.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8304" y="1920240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965192" y="2240280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224028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20848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has had a harder term than they have let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who is kind to everyone and never gets told.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18304" y="3163824"/>
            <a:ext cx="3739896" cy="106070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65192" y="3483864"/>
            <a:ext cx="420624" cy="42062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3483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1264" y="332841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00" b="0" i="0">
                <a:solidFill>
                  <a:srgbClr val="453B3A"/>
                </a:solidFill>
                <a:latin typeface="Karla"/>
              </a:rPr>
              <a:t>Someone you have sat near all year and never spoken to.</a:t>
            </a:r>
          </a:p>
        </p:txBody>
      </p:sp>
      <p:pic>
        <p:nvPicPr>
          <p:cNvPr id="22" name="Picture 21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HOW TO SEND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Come to the 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A99B97"/>
                </a:solidFill>
                <a:latin typeface="Karla"/>
              </a:rPr>
              <a:t>Replace anything in [ brackets ] with your own dates, place and price before you show this.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4376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968" y="2221992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Find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The Sweet Notes stall is in [ PLACE ], at [ TIME ], from [ DATE ] to [ DATE ].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0232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78808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219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63112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Write it there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1400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Bring [ PRICE ]. You write your note at the stall, fold it, and hand it back.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74664" y="1901952"/>
            <a:ext cx="2383536" cy="2505456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73240" y="2057400"/>
            <a:ext cx="786384" cy="786384"/>
          </a:xfrm>
          <a:prstGeom prst="ellipse">
            <a:avLst/>
          </a:prstGeom>
          <a:solidFill>
            <a:srgbClr val="9450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7832" y="22219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257544" y="2926080"/>
            <a:ext cx="201777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94505F"/>
                </a:solidFill>
                <a:latin typeface="Libre Caslon Display"/>
              </a:rPr>
              <a:t>We do the rest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5832" y="3493008"/>
            <a:ext cx="19812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4000"/>
              </a:lnSpc>
              <a:spcAft>
                <a:spcPts val="0"/>
              </a:spcAft>
            </a:pPr>
            <a:r>
              <a:rPr sz="1050" b="0" i="0">
                <a:solidFill>
                  <a:srgbClr val="7C6C69"/>
                </a:solidFill>
                <a:latin typeface="Karla"/>
              </a:rPr>
              <a:t>We tie it to a bag and deliver it on the morning of [ 14 FEBRUARY ].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94505F"/>
                </a:solidFill>
                <a:latin typeface="Karla"/>
              </a:rPr>
              <a:t>DO NOT LEAVE IT TOO LATE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59536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453B3A"/>
                </a:solidFill>
                <a:latin typeface="Libre Caslon Display"/>
              </a:rPr>
              <a:t>Three dates to remember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63040" y="1773936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836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The stall opens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92040" y="1883664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15768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FFDF7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82549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Last chance to send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2825496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DATE 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3657600"/>
            <a:ext cx="6217920" cy="786384"/>
          </a:xfrm>
          <a:prstGeom prst="roundRect">
            <a:avLst>
              <a:gd name="adj" fmla="val 5500"/>
            </a:avLst>
          </a:prstGeom>
          <a:solidFill>
            <a:srgbClr val="F8EEF0"/>
          </a:solidFill>
          <a:ln w="12700">
            <a:solidFill>
              <a:srgbClr val="E8CB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37673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453B3A"/>
                </a:solidFill>
                <a:latin typeface="Karla"/>
              </a:rPr>
              <a:t>Delivered to your form, first 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767328"/>
            <a:ext cx="24231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94505F"/>
                </a:solidFill>
                <a:latin typeface="Libre Caslon Display"/>
              </a:rPr>
              <a:t>[ 14 FEBRUARY ]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7333" y="932688"/>
            <a:ext cx="649333" cy="7498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975104"/>
            <a:ext cx="8138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 i="0">
                <a:solidFill>
                  <a:srgbClr val="94505F"/>
                </a:solidFill>
                <a:latin typeface="Libre Caslon Display"/>
              </a:rPr>
              <a:t>One bag. One note. One morning.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62656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7C6C69"/>
                </a:solidFill>
                <a:latin typeface="Karla"/>
              </a:rPr>
              <a:t>Someone in this room is going to have a much better day because of a minute of your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03904"/>
            <a:ext cx="7680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A99B97"/>
                </a:solidFill>
                <a:latin typeface="Karla"/>
              </a:rPr>
              <a:t>A Valentine’s Event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A99B97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A99B97"/>
                </a:solidFill>
                <a:latin typeface="Karla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Sweet Notes: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