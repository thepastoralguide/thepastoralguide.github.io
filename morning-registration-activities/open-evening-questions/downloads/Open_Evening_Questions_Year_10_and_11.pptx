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700" b="0" i="0">
                <a:solidFill>
                  <a:srgbClr val="4A7331"/>
                </a:solidFill>
                <a:latin typeface="Georgia"/>
              </a:rPr>
              <a:t>Questions to Ask at an Open Evening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2774" y="1188720"/>
            <a:ext cx="1538451" cy="237744"/>
          </a:xfrm>
          <a:prstGeom prst="roundRect">
            <a:avLst>
              <a:gd name="adj" fmla="val 50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YEAR 10 AND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A week of practice, and a list of questions to take with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MON</a:t>
            </a:r>
          </a:p>
        </p:txBody>
      </p:sp>
      <p:sp>
        <p:nvSpPr>
          <p:cNvPr id="9" name="Oval 8"/>
          <p:cNvSpPr/>
          <p:nvPr/>
        </p:nvSpPr>
        <p:spPr>
          <a:xfrm>
            <a:off x="956462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651760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Rank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7828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7828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TUE</a:t>
            </a:r>
          </a:p>
        </p:txBody>
      </p:sp>
      <p:sp>
        <p:nvSpPr>
          <p:cNvPr id="14" name="Oval 13"/>
          <p:cNvSpPr/>
          <p:nvPr/>
        </p:nvSpPr>
        <p:spPr>
          <a:xfrm>
            <a:off x="2558491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27" y="2651760"/>
            <a:ext cx="475488" cy="475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15844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Rank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9857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9857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WED</a:t>
            </a:r>
          </a:p>
        </p:txBody>
      </p:sp>
      <p:sp>
        <p:nvSpPr>
          <p:cNvPr id="19" name="Oval 18"/>
          <p:cNvSpPr/>
          <p:nvPr/>
        </p:nvSpPr>
        <p:spPr>
          <a:xfrm>
            <a:off x="4160520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sktw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651760"/>
            <a:ext cx="475488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17873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Ask it for 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91886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1886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THU</a:t>
            </a:r>
          </a:p>
        </p:txBody>
      </p:sp>
      <p:sp>
        <p:nvSpPr>
          <p:cNvPr id="24" name="Oval 23"/>
          <p:cNvSpPr/>
          <p:nvPr/>
        </p:nvSpPr>
        <p:spPr>
          <a:xfrm>
            <a:off x="5762548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284" y="2651760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19902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Set 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3915" y="1901952"/>
            <a:ext cx="1364284" cy="210312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3915" y="2121408"/>
            <a:ext cx="13642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7BA060"/>
                </a:solidFill>
                <a:latin typeface="Calibri"/>
              </a:rPr>
              <a:t>FRI</a:t>
            </a:r>
          </a:p>
        </p:txBody>
      </p:sp>
      <p:sp>
        <p:nvSpPr>
          <p:cNvPr id="29" name="Oval 28"/>
          <p:cNvSpPr/>
          <p:nvPr/>
        </p:nvSpPr>
        <p:spPr>
          <a:xfrm>
            <a:off x="7364577" y="2478024"/>
            <a:ext cx="822960" cy="822960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wo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313" y="2651760"/>
            <a:ext cx="475488" cy="47548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21931" y="3456432"/>
            <a:ext cx="1108252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The open evening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Calibri"/>
              </a:rPr>
              <a:t>Needs: the question sheet, one per student, and the answer cards and stall cards from the pack.</a:t>
            </a:r>
          </a:p>
        </p:txBody>
      </p:sp>
      <p:pic>
        <p:nvPicPr>
          <p:cNvPr id="33" name="Picture 32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EVENING  · 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Rank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The course, the day and the people.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777240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182880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869948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837943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How is it assessed: exams, coursework, or both?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" y="218541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22656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1945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What did last year’s students go on to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" y="254203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58318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551176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How many hours a week am I in lessons, and what happens in the gaps?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2898648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9397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290779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Who would I go to if I was struggling?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" y="325526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29641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644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Do students who did not come from this school settle in?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Rank them on your sheet, 1 for must ask</a:t>
            </a:r>
          </a:p>
        </p:txBody>
      </p:sp>
      <p:sp>
        <p:nvSpPr>
          <p:cNvPr id="26" name="Oval 25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Add one question of your own</a:t>
            </a:r>
          </a:p>
        </p:txBody>
      </p:sp>
      <p:sp>
        <p:nvSpPr>
          <p:cNvPr id="29" name="Oval 28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Compare with the person next to you</a:t>
            </a:r>
          </a:p>
        </p:txBody>
      </p:sp>
      <p:pic>
        <p:nvPicPr>
          <p:cNvPr id="32" name="Picture 3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EVENING  · 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Rank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Money, getting there, and if it goes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777240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" y="1828800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869948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837943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Is there any cost for trips, books or equipment?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" y="2185416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22656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1945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Is there a bursary or any help with costs, and how do I apply?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" y="2542032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58318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551176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How do most students get here in the morning?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2898648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9397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290779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Can I change courses, and until when?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" y="3255264"/>
            <a:ext cx="274320" cy="274320"/>
          </a:xfrm>
          <a:prstGeom prst="roundRect">
            <a:avLst>
              <a:gd name="adj" fmla="val 15000"/>
            </a:avLst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29641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7BA060"/>
                </a:solidFill>
                <a:latin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644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E3436"/>
                </a:solidFill>
                <a:latin typeface="Calibri"/>
              </a:rPr>
              <a:t>What support is there if my grades are not what I hoped?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Rank them on your sheet, 1 for must ask</a:t>
            </a:r>
          </a:p>
        </p:txBody>
      </p:sp>
      <p:sp>
        <p:nvSpPr>
          <p:cNvPr id="26" name="Oval 25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Add one question of your own</a:t>
            </a:r>
          </a:p>
        </p:txBody>
      </p:sp>
      <p:sp>
        <p:nvSpPr>
          <p:cNvPr id="29" name="Oval 28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Copy your top five from the week onto the back</a:t>
            </a:r>
          </a:p>
        </p:txBody>
      </p:sp>
      <p:pic>
        <p:nvPicPr>
          <p:cNvPr id="32" name="Picture 31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EVENING  · 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Ask it for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A vague answer is not an answer. Follow it up until you could write it 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434340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74519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20">
                <a:solidFill>
                  <a:srgbClr val="7BA060"/>
                </a:solidFill>
                <a:latin typeface="Calibri"/>
              </a:rPr>
              <a:t>THEY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9656" y="1847088"/>
            <a:ext cx="2971800" cy="198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“There’s loads of support here.”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95144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20">
                <a:solidFill>
                  <a:srgbClr val="4A7331"/>
                </a:solidFill>
                <a:latin typeface="Calibri"/>
              </a:rPr>
              <a:t>YOU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2267712"/>
            <a:ext cx="2971800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2E3436"/>
                </a:solidFill>
                <a:latin typeface="Calibri"/>
              </a:rPr>
              <a:t>“Who exactly would I go to, and how?”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37687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20">
                <a:solidFill>
                  <a:srgbClr val="7BA060"/>
                </a:solidFill>
                <a:latin typeface="Calibri"/>
              </a:rPr>
              <a:t>THEY 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9656" y="2810256"/>
            <a:ext cx="2971800" cy="396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“Your tutor first. You see them every week.”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682496"/>
            <a:ext cx="3154680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41264" y="1828800"/>
            <a:ext cx="26791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7331"/>
                </a:solidFill>
                <a:latin typeface="Georgia"/>
              </a:rPr>
              <a:t>Follow-ups that work</a:t>
            </a:r>
          </a:p>
        </p:txBody>
      </p:sp>
      <p:sp>
        <p:nvSpPr>
          <p:cNvPr id="15" name="Oval 14"/>
          <p:cNvSpPr/>
          <p:nvPr/>
        </p:nvSpPr>
        <p:spPr>
          <a:xfrm>
            <a:off x="5568696" y="2276856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2212848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Who, exactly?</a:t>
            </a:r>
          </a:p>
        </p:txBody>
      </p:sp>
      <p:sp>
        <p:nvSpPr>
          <p:cNvPr id="17" name="Oval 16"/>
          <p:cNvSpPr/>
          <p:nvPr/>
        </p:nvSpPr>
        <p:spPr>
          <a:xfrm>
            <a:off x="5568696" y="2615184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9008" y="2551176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How much?</a:t>
            </a:r>
          </a:p>
        </p:txBody>
      </p:sp>
      <p:sp>
        <p:nvSpPr>
          <p:cNvPr id="19" name="Oval 18"/>
          <p:cNvSpPr/>
          <p:nvPr/>
        </p:nvSpPr>
        <p:spPr>
          <a:xfrm>
            <a:off x="5568696" y="2953512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2889504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By when?</a:t>
            </a:r>
          </a:p>
        </p:txBody>
      </p:sp>
      <p:sp>
        <p:nvSpPr>
          <p:cNvPr id="21" name="Oval 20"/>
          <p:cNvSpPr/>
          <p:nvPr/>
        </p:nvSpPr>
        <p:spPr>
          <a:xfrm>
            <a:off x="5568696" y="3291840"/>
            <a:ext cx="91440" cy="91440"/>
          </a:xfrm>
          <a:prstGeom prst="ellipse">
            <a:avLst/>
          </a:prstGeom>
          <a:solidFill>
            <a:srgbClr val="7BA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8" y="3227832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2E3436"/>
                </a:solidFill>
                <a:latin typeface="Calibri"/>
              </a:rPr>
              <a:t>Can you give me an example?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In pairs, one reads a vague answer card</a:t>
            </a:r>
          </a:p>
        </p:txBody>
      </p:sp>
      <p:sp>
        <p:nvSpPr>
          <p:cNvPr id="27" name="Oval 26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The other follows it up until it means something</a:t>
            </a:r>
          </a:p>
        </p:txBody>
      </p:sp>
      <p:sp>
        <p:nvSpPr>
          <p:cNvPr id="30" name="Oval 29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Swap, and write your best follow-up on your sheet</a:t>
            </a:r>
          </a:p>
        </p:txBody>
      </p:sp>
      <p:pic>
        <p:nvPicPr>
          <p:cNvPr id="33" name="Picture 3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EVENING  · 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Set up the open evening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7BA060"/>
                </a:solidFill>
                <a:latin typeface="Calibri"/>
              </a:rPr>
              <a:t>Four made-up places, and two people to run each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73302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74" y="1956815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Fernbrook 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School sixth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3764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71266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138" y="1956815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11780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Kestrel Vale College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1780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Further education college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1728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9230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102" y="1956815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09744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Hillmarsh Sixth Form College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Sixth form college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9692" y="1682496"/>
            <a:ext cx="1778508" cy="1993392"/>
          </a:xfrm>
          <a:prstGeom prst="roundRect">
            <a:avLst>
              <a:gd name="adj" fmla="val 5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7194" y="1837943"/>
            <a:ext cx="603504" cy="603504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066" y="1956815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07707" y="2596896"/>
            <a:ext cx="15224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Brackwell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7707" y="3127248"/>
            <a:ext cx="15224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1">
                <a:solidFill>
                  <a:srgbClr val="5C6552"/>
                </a:solidFill>
                <a:latin typeface="Calibri"/>
              </a:rPr>
              <a:t>Apprenticeship provider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22191"/>
            <a:ext cx="7772400" cy="603504"/>
          </a:xfrm>
          <a:prstGeom prst="roundRect">
            <a:avLst>
              <a:gd name="adj" fmla="val 12000"/>
            </a:avLst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3544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Staff: read your stall card and the rule at the bottom</a:t>
            </a:r>
          </a:p>
        </p:txBody>
      </p:sp>
      <p:sp>
        <p:nvSpPr>
          <p:cNvPr id="30" name="Oval 29"/>
          <p:cNvSpPr/>
          <p:nvPr/>
        </p:nvSpPr>
        <p:spPr>
          <a:xfrm>
            <a:off x="3355848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8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Visitors: star the three questions you will ask</a:t>
            </a:r>
          </a:p>
        </p:txBody>
      </p:sp>
      <p:sp>
        <p:nvSpPr>
          <p:cNvPr id="33" name="Oval 32"/>
          <p:cNvSpPr/>
          <p:nvPr/>
        </p:nvSpPr>
        <p:spPr>
          <a:xfrm>
            <a:off x="5788152" y="3986783"/>
            <a:ext cx="274320" cy="274320"/>
          </a:xfrm>
          <a:prstGeom prst="ellipse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88152" y="4032504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4A7331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3948684"/>
            <a:ext cx="2011680" cy="350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DF7"/>
                </a:solidFill>
                <a:latin typeface="Calibri"/>
              </a:rPr>
              <a:t>Tomorrow the desks become stalls</a:t>
            </a:r>
          </a:p>
        </p:txBody>
      </p:sp>
      <p:pic>
        <p:nvPicPr>
          <p:cNvPr id="36" name="Picture 35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EVENING  · 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77724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E3436"/>
                </a:solidFill>
                <a:latin typeface="Georgia"/>
              </a:rPr>
              <a:t>The open evening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89888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508760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4772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90472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Staff to your stalls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Two at each desk, with your card. Answer from the card, and give one vague answer on purpose.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39696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258568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4579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40279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Visitors, go and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87168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Take your sheet to a stall and ask your three starred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89504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008376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04388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90088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Push for a real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36976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If an answer is vague, follow it up. Write down what you find out.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39312"/>
            <a:ext cx="7772400" cy="6400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758184"/>
            <a:ext cx="402336" cy="402336"/>
          </a:xfrm>
          <a:prstGeom prst="ellipse">
            <a:avLst/>
          </a:prstGeom>
          <a:solidFill>
            <a:srgbClr val="4A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54196"/>
            <a:ext cx="402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739896"/>
            <a:ext cx="6821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4A7331"/>
                </a:solidFill>
                <a:latin typeface="Georgia"/>
              </a:rPr>
              <a:t>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86784"/>
            <a:ext cx="6821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C6552"/>
                </a:solidFill>
                <a:latin typeface="Calibri"/>
              </a:rPr>
              <a:t>Staff become visitors, now or next time, so everybody gets to ask.</a:t>
            </a:r>
          </a:p>
        </p:txBody>
      </p:sp>
      <p:pic>
        <p:nvPicPr>
          <p:cNvPr id="25" name="Picture 24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4A7331"/>
                </a:solidFill>
                <a:latin typeface="Calibri"/>
              </a:rPr>
              <a:t>QUESTIONS TO ASK AT AN OPEN EVENING  ·  THE WEEK AFTER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4A7331"/>
                </a:solidFill>
                <a:latin typeface="Georgia"/>
              </a:rPr>
              <a:t>What did you find 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Calibri"/>
              </a:rPr>
              <a:t>Bring your sheet back. Which question got the most useful answer, and which one did nobody answer properly?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An unanswered question is worth asking somewhere else.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