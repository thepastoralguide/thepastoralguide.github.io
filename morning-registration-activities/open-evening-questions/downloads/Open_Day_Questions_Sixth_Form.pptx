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4A7331"/>
                </a:solidFill>
                <a:latin typeface="Calibri"/>
              </a:rPr>
              <a:t>MORNING REGISTRATION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77724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700" b="0" i="0">
                <a:solidFill>
                  <a:srgbClr val="4A7331"/>
                </a:solidFill>
                <a:latin typeface="Georgia"/>
              </a:rPr>
              <a:t>Questions to Ask at an Open 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2774" y="1188720"/>
            <a:ext cx="1538451" cy="237744"/>
          </a:xfrm>
          <a:prstGeom prst="roundRect">
            <a:avLst>
              <a:gd name="adj" fmla="val 50000"/>
            </a:avLst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FFFDF7"/>
                </a:solidFill>
                <a:latin typeface="Calibri"/>
              </a:rPr>
              <a:t>YEAR 12 AND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17904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Calibri"/>
              </a:rPr>
              <a:t>A week of practice, and a list of questions to take with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01952"/>
            <a:ext cx="1364284" cy="210312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21408"/>
            <a:ext cx="13642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140">
                <a:solidFill>
                  <a:srgbClr val="7BA060"/>
                </a:solidFill>
                <a:latin typeface="Calibri"/>
              </a:rPr>
              <a:t>MON</a:t>
            </a:r>
          </a:p>
        </p:txBody>
      </p:sp>
      <p:sp>
        <p:nvSpPr>
          <p:cNvPr id="9" name="Oval 8"/>
          <p:cNvSpPr/>
          <p:nvPr/>
        </p:nvSpPr>
        <p:spPr>
          <a:xfrm>
            <a:off x="956462" y="2478024"/>
            <a:ext cx="822960" cy="822960"/>
          </a:xfrm>
          <a:prstGeom prst="ellipse">
            <a:avLst/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98" y="2651760"/>
            <a:ext cx="475488" cy="4754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3816" y="3456432"/>
            <a:ext cx="110825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4A7331"/>
                </a:solidFill>
                <a:latin typeface="Georgia"/>
              </a:rPr>
              <a:t>Rank them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7828" y="1901952"/>
            <a:ext cx="1364284" cy="210312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7828" y="2121408"/>
            <a:ext cx="13642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140">
                <a:solidFill>
                  <a:srgbClr val="7BA060"/>
                </a:solidFill>
                <a:latin typeface="Calibri"/>
              </a:rPr>
              <a:t>TUE</a:t>
            </a:r>
          </a:p>
        </p:txBody>
      </p:sp>
      <p:sp>
        <p:nvSpPr>
          <p:cNvPr id="14" name="Oval 13"/>
          <p:cNvSpPr/>
          <p:nvPr/>
        </p:nvSpPr>
        <p:spPr>
          <a:xfrm>
            <a:off x="2558491" y="2478024"/>
            <a:ext cx="822960" cy="822960"/>
          </a:xfrm>
          <a:prstGeom prst="ellipse">
            <a:avLst/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227" y="2651760"/>
            <a:ext cx="475488" cy="4754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415844" y="3456432"/>
            <a:ext cx="110825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4A7331"/>
                </a:solidFill>
                <a:latin typeface="Georgia"/>
              </a:rPr>
              <a:t>Rank them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9857" y="1901952"/>
            <a:ext cx="1364284" cy="210312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9857" y="2121408"/>
            <a:ext cx="13642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140">
                <a:solidFill>
                  <a:srgbClr val="7BA060"/>
                </a:solidFill>
                <a:latin typeface="Calibri"/>
              </a:rPr>
              <a:t>WED</a:t>
            </a:r>
          </a:p>
        </p:txBody>
      </p:sp>
      <p:sp>
        <p:nvSpPr>
          <p:cNvPr id="19" name="Oval 18"/>
          <p:cNvSpPr/>
          <p:nvPr/>
        </p:nvSpPr>
        <p:spPr>
          <a:xfrm>
            <a:off x="4160520" y="2478024"/>
            <a:ext cx="822960" cy="822960"/>
          </a:xfrm>
          <a:prstGeom prst="ellipse">
            <a:avLst/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asktw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2651760"/>
            <a:ext cx="475488" cy="4754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017873" y="3456432"/>
            <a:ext cx="110825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4A7331"/>
                </a:solidFill>
                <a:latin typeface="Georgia"/>
              </a:rPr>
              <a:t>Ask it for real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91886" y="1901952"/>
            <a:ext cx="1364284" cy="210312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91886" y="2121408"/>
            <a:ext cx="13642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140">
                <a:solidFill>
                  <a:srgbClr val="7BA060"/>
                </a:solidFill>
                <a:latin typeface="Calibri"/>
              </a:rPr>
              <a:t>THU</a:t>
            </a:r>
          </a:p>
        </p:txBody>
      </p:sp>
      <p:sp>
        <p:nvSpPr>
          <p:cNvPr id="24" name="Oval 23"/>
          <p:cNvSpPr/>
          <p:nvPr/>
        </p:nvSpPr>
        <p:spPr>
          <a:xfrm>
            <a:off x="5762548" y="2478024"/>
            <a:ext cx="822960" cy="822960"/>
          </a:xfrm>
          <a:prstGeom prst="ellipse">
            <a:avLst/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t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284" y="2651760"/>
            <a:ext cx="475488" cy="47548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619902" y="3456432"/>
            <a:ext cx="110825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4A7331"/>
                </a:solidFill>
                <a:latin typeface="Georgia"/>
              </a:rPr>
              <a:t>Set up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93915" y="1901952"/>
            <a:ext cx="1364284" cy="210312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93915" y="2121408"/>
            <a:ext cx="13642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140">
                <a:solidFill>
                  <a:srgbClr val="7BA060"/>
                </a:solidFill>
                <a:latin typeface="Calibri"/>
              </a:rPr>
              <a:t>FRI</a:t>
            </a:r>
          </a:p>
        </p:txBody>
      </p:sp>
      <p:sp>
        <p:nvSpPr>
          <p:cNvPr id="29" name="Oval 28"/>
          <p:cNvSpPr/>
          <p:nvPr/>
        </p:nvSpPr>
        <p:spPr>
          <a:xfrm>
            <a:off x="7364577" y="2478024"/>
            <a:ext cx="822960" cy="822960"/>
          </a:xfrm>
          <a:prstGeom prst="ellipse">
            <a:avLst/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twopeo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8313" y="2651760"/>
            <a:ext cx="475488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221931" y="3456432"/>
            <a:ext cx="110825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4A7331"/>
                </a:solidFill>
                <a:latin typeface="Georgia"/>
              </a:rPr>
              <a:t>The open day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8B9179"/>
                </a:solidFill>
                <a:latin typeface="Calibri"/>
              </a:rPr>
              <a:t>Needs: the question sheet, one per student, and the answer cards and stall cards from the pack.</a:t>
            </a:r>
          </a:p>
        </p:txBody>
      </p:sp>
      <p:pic>
        <p:nvPicPr>
          <p:cNvPr id="33" name="Picture 32" descr="logo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4A7331"/>
                </a:solidFill>
                <a:latin typeface="Calibri"/>
              </a:rPr>
              <a:t>QUESTIONS TO ASK AT AN OPEN DAY  ·  MONDAY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77724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E3436"/>
                </a:solidFill>
                <a:latin typeface="Georgia"/>
              </a:rPr>
              <a:t>Rank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7BA060"/>
                </a:solidFill>
                <a:latin typeface="Calibri"/>
              </a:rPr>
              <a:t>The course, the teaching and the people.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82496"/>
            <a:ext cx="7772400" cy="1993392"/>
          </a:xfrm>
          <a:prstGeom prst="roundRect">
            <a:avLst>
              <a:gd name="adj" fmla="val 5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544" y="1828800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869948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7BA060"/>
                </a:solidFill>
                <a:latin typeface="Calibri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837943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E3436"/>
                </a:solidFill>
                <a:latin typeface="Calibri"/>
              </a:rPr>
              <a:t>How is it assessed, and how much of that is exams?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" y="2185416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222656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7BA060"/>
                </a:solidFill>
                <a:latin typeface="Calibri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219456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E3436"/>
                </a:solidFill>
                <a:latin typeface="Calibri"/>
              </a:rPr>
              <a:t>Who teaches first years: lecturers, or postgraduate students?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" y="2542032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258318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7BA060"/>
                </a:solidFill>
                <a:latin typeface="Calibri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551176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E3436"/>
                </a:solidFill>
                <a:latin typeface="Calibri"/>
              </a:rPr>
              <a:t>What would I actually be doing in week three of the first term?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" y="2898648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2939796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7BA060"/>
                </a:solidFill>
                <a:latin typeface="Calibri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2" y="2907792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E3436"/>
                </a:solidFill>
                <a:latin typeface="Calibri"/>
              </a:rPr>
              <a:t>Who do I go to if I am struggling, with the work or with anything else?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" y="3255264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3296412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7BA060"/>
                </a:solidFill>
                <a:latin typeface="Calibri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2644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E3436"/>
                </a:solidFill>
                <a:latin typeface="Calibri"/>
              </a:rPr>
              <a:t>What do students do here who are not into the nightlife?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822191"/>
            <a:ext cx="7772400" cy="603504"/>
          </a:xfrm>
          <a:prstGeom prst="roundRect">
            <a:avLst>
              <a:gd name="adj" fmla="val 12000"/>
            </a:avLst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3544" y="3986783"/>
            <a:ext cx="274320" cy="274320"/>
          </a:xfrm>
          <a:prstGeom prst="ellipse">
            <a:avLst/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" y="403250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4A7331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9304" y="3948684"/>
            <a:ext cx="2011680" cy="350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Calibri"/>
              </a:rPr>
              <a:t>Rank them on your sheet, 1 for must ask</a:t>
            </a:r>
          </a:p>
        </p:txBody>
      </p:sp>
      <p:sp>
        <p:nvSpPr>
          <p:cNvPr id="26" name="Oval 25"/>
          <p:cNvSpPr/>
          <p:nvPr/>
        </p:nvSpPr>
        <p:spPr>
          <a:xfrm>
            <a:off x="3355848" y="3986783"/>
            <a:ext cx="274320" cy="274320"/>
          </a:xfrm>
          <a:prstGeom prst="ellipse">
            <a:avLst/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55848" y="403250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4A7331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21608" y="3948684"/>
            <a:ext cx="2011680" cy="350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Calibri"/>
              </a:rPr>
              <a:t>Add one question of your own</a:t>
            </a:r>
          </a:p>
        </p:txBody>
      </p:sp>
      <p:sp>
        <p:nvSpPr>
          <p:cNvPr id="29" name="Oval 28"/>
          <p:cNvSpPr/>
          <p:nvPr/>
        </p:nvSpPr>
        <p:spPr>
          <a:xfrm>
            <a:off x="5788152" y="3986783"/>
            <a:ext cx="274320" cy="274320"/>
          </a:xfrm>
          <a:prstGeom prst="ellipse">
            <a:avLst/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88152" y="403250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4A7331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3912" y="3948684"/>
            <a:ext cx="2011680" cy="350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Calibri"/>
              </a:rPr>
              <a:t>Compare with the person next to you</a:t>
            </a:r>
          </a:p>
        </p:txBody>
      </p:sp>
      <p:pic>
        <p:nvPicPr>
          <p:cNvPr id="32" name="Picture 31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4A7331"/>
                </a:solidFill>
                <a:latin typeface="Calibri"/>
              </a:rPr>
              <a:t>QUESTIONS TO ASK AT AN OPEN DAY  ·  TUESDAY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77724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E3436"/>
                </a:solidFill>
                <a:latin typeface="Georgia"/>
              </a:rPr>
              <a:t>Rank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7BA060"/>
                </a:solidFill>
                <a:latin typeface="Calibri"/>
              </a:rPr>
              <a:t>Money, living, and if it goes wrong.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82496"/>
            <a:ext cx="7772400" cy="1993392"/>
          </a:xfrm>
          <a:prstGeom prst="roundRect">
            <a:avLst>
              <a:gd name="adj" fmla="val 5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544" y="1828800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869948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7BA060"/>
                </a:solidFill>
                <a:latin typeface="Calibri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837943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E3436"/>
                </a:solidFill>
                <a:latin typeface="Calibri"/>
              </a:rPr>
              <a:t>What does accommodation cost, and is a first-year place guaranteed?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" y="2185416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222656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7BA060"/>
                </a:solidFill>
                <a:latin typeface="Calibri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219456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E3436"/>
                </a:solidFill>
                <a:latin typeface="Calibri"/>
              </a:rPr>
              <a:t>What bursaries or scholarships are there, and how do I apply?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" y="2542032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258318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7BA060"/>
                </a:solidFill>
                <a:latin typeface="Calibri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551176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E3436"/>
                </a:solidFill>
                <a:latin typeface="Calibri"/>
              </a:rPr>
              <a:t>Do students work part-time alongside the course, and does it fit?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" y="2898648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2939796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7BA060"/>
                </a:solidFill>
                <a:latin typeface="Calibri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2" y="2907792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E3436"/>
                </a:solidFill>
                <a:latin typeface="Calibri"/>
              </a:rPr>
              <a:t>Can I change course, and until when?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" y="3255264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3296412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7BA060"/>
                </a:solidFill>
                <a:latin typeface="Calibri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2644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E3436"/>
                </a:solidFill>
                <a:latin typeface="Calibri"/>
              </a:rPr>
              <a:t>What happens if I miss the grades in my offer?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822191"/>
            <a:ext cx="7772400" cy="603504"/>
          </a:xfrm>
          <a:prstGeom prst="roundRect">
            <a:avLst>
              <a:gd name="adj" fmla="val 12000"/>
            </a:avLst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3544" y="3986783"/>
            <a:ext cx="274320" cy="274320"/>
          </a:xfrm>
          <a:prstGeom prst="ellipse">
            <a:avLst/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" y="403250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4A7331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9304" y="3948684"/>
            <a:ext cx="2011680" cy="350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Calibri"/>
              </a:rPr>
              <a:t>Rank them on your sheet, 1 for must ask</a:t>
            </a:r>
          </a:p>
        </p:txBody>
      </p:sp>
      <p:sp>
        <p:nvSpPr>
          <p:cNvPr id="26" name="Oval 25"/>
          <p:cNvSpPr/>
          <p:nvPr/>
        </p:nvSpPr>
        <p:spPr>
          <a:xfrm>
            <a:off x="3355848" y="3986783"/>
            <a:ext cx="274320" cy="274320"/>
          </a:xfrm>
          <a:prstGeom prst="ellipse">
            <a:avLst/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55848" y="403250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4A7331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21608" y="3948684"/>
            <a:ext cx="2011680" cy="350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Calibri"/>
              </a:rPr>
              <a:t>Add one question of your own</a:t>
            </a:r>
          </a:p>
        </p:txBody>
      </p:sp>
      <p:sp>
        <p:nvSpPr>
          <p:cNvPr id="29" name="Oval 28"/>
          <p:cNvSpPr/>
          <p:nvPr/>
        </p:nvSpPr>
        <p:spPr>
          <a:xfrm>
            <a:off x="5788152" y="3986783"/>
            <a:ext cx="274320" cy="274320"/>
          </a:xfrm>
          <a:prstGeom prst="ellipse">
            <a:avLst/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88152" y="403250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4A7331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3912" y="3948684"/>
            <a:ext cx="2011680" cy="350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Calibri"/>
              </a:rPr>
              <a:t>Copy your top five from the week onto the back</a:t>
            </a:r>
          </a:p>
        </p:txBody>
      </p:sp>
      <p:pic>
        <p:nvPicPr>
          <p:cNvPr id="32" name="Picture 31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4A7331"/>
                </a:solidFill>
                <a:latin typeface="Calibri"/>
              </a:rPr>
              <a:t>QUESTIONS TO ASK AT AN OPEN DAY  ·  WEDNESDAY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77724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E3436"/>
                </a:solidFill>
                <a:latin typeface="Georgia"/>
              </a:rPr>
              <a:t>Ask it for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7BA060"/>
                </a:solidFill>
                <a:latin typeface="Calibri"/>
              </a:rPr>
              <a:t>A vague answer is not an answer. Follow it up until you could write it down.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82496"/>
            <a:ext cx="4343400" cy="1993392"/>
          </a:xfrm>
          <a:prstGeom prst="roundRect">
            <a:avLst>
              <a:gd name="adj" fmla="val 5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874519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20">
                <a:solidFill>
                  <a:srgbClr val="7BA060"/>
                </a:solidFill>
                <a:latin typeface="Calibri"/>
              </a:rPr>
              <a:t>THEY SAY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9656" y="1847088"/>
            <a:ext cx="2971800" cy="396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Calibri"/>
              </a:rPr>
              <a:t>“We have a strong support network.”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417064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20">
                <a:solidFill>
                  <a:srgbClr val="4A7331"/>
                </a:solidFill>
                <a:latin typeface="Calibri"/>
              </a:rPr>
              <a:t>YOU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9656" y="2389632"/>
            <a:ext cx="2971800" cy="396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2E3436"/>
                </a:solidFill>
                <a:latin typeface="Calibri"/>
              </a:rPr>
              <a:t>“Who do I go to, and how quickly can I see them?”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959607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20">
                <a:solidFill>
                  <a:srgbClr val="7BA060"/>
                </a:solidFill>
                <a:latin typeface="Calibri"/>
              </a:rPr>
              <a:t>THEY SAY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9656" y="2932176"/>
            <a:ext cx="297180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Calibri"/>
              </a:rPr>
              <a:t>“Your personal tutor, or the wellbeing service, which sees people that week.”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682496"/>
            <a:ext cx="3154680" cy="1993392"/>
          </a:xfrm>
          <a:prstGeom prst="roundRect">
            <a:avLst>
              <a:gd name="adj" fmla="val 5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41264" y="1828800"/>
            <a:ext cx="26791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4A7331"/>
                </a:solidFill>
                <a:latin typeface="Georgia"/>
              </a:rPr>
              <a:t>Follow-ups that work</a:t>
            </a:r>
          </a:p>
        </p:txBody>
      </p:sp>
      <p:sp>
        <p:nvSpPr>
          <p:cNvPr id="15" name="Oval 14"/>
          <p:cNvSpPr/>
          <p:nvPr/>
        </p:nvSpPr>
        <p:spPr>
          <a:xfrm>
            <a:off x="5568696" y="2276856"/>
            <a:ext cx="91440" cy="91440"/>
          </a:xfrm>
          <a:prstGeom prst="ellipse">
            <a:avLst/>
          </a:prstGeom>
          <a:solidFill>
            <a:srgbClr val="7B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79008" y="2212848"/>
            <a:ext cx="2551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2E3436"/>
                </a:solidFill>
                <a:latin typeface="Calibri"/>
              </a:rPr>
              <a:t>Who, exactly?</a:t>
            </a:r>
          </a:p>
        </p:txBody>
      </p:sp>
      <p:sp>
        <p:nvSpPr>
          <p:cNvPr id="17" name="Oval 16"/>
          <p:cNvSpPr/>
          <p:nvPr/>
        </p:nvSpPr>
        <p:spPr>
          <a:xfrm>
            <a:off x="5568696" y="2615184"/>
            <a:ext cx="91440" cy="91440"/>
          </a:xfrm>
          <a:prstGeom prst="ellipse">
            <a:avLst/>
          </a:prstGeom>
          <a:solidFill>
            <a:srgbClr val="7B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79008" y="2551176"/>
            <a:ext cx="2551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2E3436"/>
                </a:solidFill>
                <a:latin typeface="Calibri"/>
              </a:rPr>
              <a:t>How much?</a:t>
            </a:r>
          </a:p>
        </p:txBody>
      </p:sp>
      <p:sp>
        <p:nvSpPr>
          <p:cNvPr id="19" name="Oval 18"/>
          <p:cNvSpPr/>
          <p:nvPr/>
        </p:nvSpPr>
        <p:spPr>
          <a:xfrm>
            <a:off x="5568696" y="2953512"/>
            <a:ext cx="91440" cy="91440"/>
          </a:xfrm>
          <a:prstGeom prst="ellipse">
            <a:avLst/>
          </a:prstGeom>
          <a:solidFill>
            <a:srgbClr val="7B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9008" y="2889504"/>
            <a:ext cx="2551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2E3436"/>
                </a:solidFill>
                <a:latin typeface="Calibri"/>
              </a:rPr>
              <a:t>By when?</a:t>
            </a:r>
          </a:p>
        </p:txBody>
      </p:sp>
      <p:sp>
        <p:nvSpPr>
          <p:cNvPr id="21" name="Oval 20"/>
          <p:cNvSpPr/>
          <p:nvPr/>
        </p:nvSpPr>
        <p:spPr>
          <a:xfrm>
            <a:off x="5568696" y="3291840"/>
            <a:ext cx="91440" cy="91440"/>
          </a:xfrm>
          <a:prstGeom prst="ellipse">
            <a:avLst/>
          </a:prstGeom>
          <a:solidFill>
            <a:srgbClr val="7B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79008" y="3227832"/>
            <a:ext cx="2551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2E3436"/>
                </a:solidFill>
                <a:latin typeface="Calibri"/>
              </a:rPr>
              <a:t>Can you give me an example?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822191"/>
            <a:ext cx="7772400" cy="603504"/>
          </a:xfrm>
          <a:prstGeom prst="roundRect">
            <a:avLst>
              <a:gd name="adj" fmla="val 12000"/>
            </a:avLst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3544" y="3986783"/>
            <a:ext cx="274320" cy="274320"/>
          </a:xfrm>
          <a:prstGeom prst="ellipse">
            <a:avLst/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" y="403250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4A7331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9304" y="3948684"/>
            <a:ext cx="2011680" cy="350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Calibri"/>
              </a:rPr>
              <a:t>In pairs, one reads a vague answer card</a:t>
            </a:r>
          </a:p>
        </p:txBody>
      </p:sp>
      <p:sp>
        <p:nvSpPr>
          <p:cNvPr id="27" name="Oval 26"/>
          <p:cNvSpPr/>
          <p:nvPr/>
        </p:nvSpPr>
        <p:spPr>
          <a:xfrm>
            <a:off x="3355848" y="3986783"/>
            <a:ext cx="274320" cy="274320"/>
          </a:xfrm>
          <a:prstGeom prst="ellipse">
            <a:avLst/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55848" y="403250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4A7331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21608" y="3948684"/>
            <a:ext cx="2011680" cy="350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Calibri"/>
              </a:rPr>
              <a:t>The other follows it up until it means something</a:t>
            </a:r>
          </a:p>
        </p:txBody>
      </p:sp>
      <p:sp>
        <p:nvSpPr>
          <p:cNvPr id="30" name="Oval 29"/>
          <p:cNvSpPr/>
          <p:nvPr/>
        </p:nvSpPr>
        <p:spPr>
          <a:xfrm>
            <a:off x="5788152" y="3986783"/>
            <a:ext cx="274320" cy="274320"/>
          </a:xfrm>
          <a:prstGeom prst="ellipse">
            <a:avLst/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88152" y="403250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4A7331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53912" y="3948684"/>
            <a:ext cx="2011680" cy="350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Calibri"/>
              </a:rPr>
              <a:t>Swap, and write your best follow-up on your sheet</a:t>
            </a:r>
          </a:p>
        </p:txBody>
      </p:sp>
      <p:pic>
        <p:nvPicPr>
          <p:cNvPr id="33" name="Picture 3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4A7331"/>
                </a:solidFill>
                <a:latin typeface="Calibri"/>
              </a:rPr>
              <a:t>QUESTIONS TO ASK AT AN OPEN DAY  ·  THURSDAY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77724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E3436"/>
                </a:solidFill>
                <a:latin typeface="Georgia"/>
              </a:rPr>
              <a:t>Set up the open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7BA060"/>
                </a:solidFill>
                <a:latin typeface="Calibri"/>
              </a:rPr>
              <a:t>Four made-up places, and two people to run each 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82496"/>
            <a:ext cx="1778508" cy="1993392"/>
          </a:xfrm>
          <a:prstGeom prst="roundRect">
            <a:avLst>
              <a:gd name="adj" fmla="val 5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73302" y="1837943"/>
            <a:ext cx="603504" cy="603504"/>
          </a:xfrm>
          <a:prstGeom prst="ellipse">
            <a:avLst/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t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174" y="1956815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" y="2596896"/>
            <a:ext cx="15224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4A7331"/>
                </a:solidFill>
                <a:latin typeface="Georgia"/>
              </a:rPr>
              <a:t>University of Aldermoor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3127248"/>
            <a:ext cx="15224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1">
                <a:solidFill>
                  <a:srgbClr val="5C6552"/>
                </a:solidFill>
                <a:latin typeface="Calibri"/>
              </a:rPr>
              <a:t>History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83764" y="1682496"/>
            <a:ext cx="1778508" cy="1993392"/>
          </a:xfrm>
          <a:prstGeom prst="roundRect">
            <a:avLst>
              <a:gd name="adj" fmla="val 5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71266" y="1837943"/>
            <a:ext cx="603504" cy="603504"/>
          </a:xfrm>
          <a:prstGeom prst="ellipse">
            <a:avLst/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t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138" y="1956815"/>
            <a:ext cx="365760" cy="365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811780" y="2596896"/>
            <a:ext cx="15224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4A7331"/>
                </a:solidFill>
                <a:latin typeface="Georgia"/>
              </a:rPr>
              <a:t>Kellingford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1780" y="3127248"/>
            <a:ext cx="15224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1">
                <a:solidFill>
                  <a:srgbClr val="5C6552"/>
                </a:solidFill>
                <a:latin typeface="Calibri"/>
              </a:rPr>
              <a:t>Computer Science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81728" y="1682496"/>
            <a:ext cx="1778508" cy="1993392"/>
          </a:xfrm>
          <a:prstGeom prst="roundRect">
            <a:avLst>
              <a:gd name="adj" fmla="val 5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69230" y="1837943"/>
            <a:ext cx="603504" cy="603504"/>
          </a:xfrm>
          <a:prstGeom prst="ellipse">
            <a:avLst/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t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8102" y="1956815"/>
            <a:ext cx="365760" cy="365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09744" y="2596896"/>
            <a:ext cx="15224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4A7331"/>
                </a:solidFill>
                <a:latin typeface="Georgia"/>
              </a:rPr>
              <a:t>Saltmere University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9744" y="3127248"/>
            <a:ext cx="15224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1">
                <a:solidFill>
                  <a:srgbClr val="5C6552"/>
                </a:solidFill>
                <a:latin typeface="Calibri"/>
              </a:rPr>
              <a:t>Nursing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9692" y="1682496"/>
            <a:ext cx="1778508" cy="1993392"/>
          </a:xfrm>
          <a:prstGeom prst="roundRect">
            <a:avLst>
              <a:gd name="adj" fmla="val 5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67194" y="1837943"/>
            <a:ext cx="603504" cy="603504"/>
          </a:xfrm>
          <a:prstGeom prst="ellipse">
            <a:avLst/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t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066" y="1956815"/>
            <a:ext cx="365760" cy="3657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807707" y="2596896"/>
            <a:ext cx="15224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4A7331"/>
                </a:solidFill>
                <a:latin typeface="Georgia"/>
              </a:rPr>
              <a:t>Pennant 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07707" y="3127248"/>
            <a:ext cx="15224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1">
                <a:solidFill>
                  <a:srgbClr val="5C6552"/>
                </a:solidFill>
                <a:latin typeface="Calibri"/>
              </a:rPr>
              <a:t>Degree apprenticeship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822191"/>
            <a:ext cx="7772400" cy="603504"/>
          </a:xfrm>
          <a:prstGeom prst="roundRect">
            <a:avLst>
              <a:gd name="adj" fmla="val 12000"/>
            </a:avLst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3544" y="3986783"/>
            <a:ext cx="274320" cy="274320"/>
          </a:xfrm>
          <a:prstGeom prst="ellipse">
            <a:avLst/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" y="403250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4A7331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9304" y="3948684"/>
            <a:ext cx="2011680" cy="350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Calibri"/>
              </a:rPr>
              <a:t>Staff: read your stall card and the rule at the bottom</a:t>
            </a:r>
          </a:p>
        </p:txBody>
      </p:sp>
      <p:sp>
        <p:nvSpPr>
          <p:cNvPr id="30" name="Oval 29"/>
          <p:cNvSpPr/>
          <p:nvPr/>
        </p:nvSpPr>
        <p:spPr>
          <a:xfrm>
            <a:off x="3355848" y="3986783"/>
            <a:ext cx="274320" cy="274320"/>
          </a:xfrm>
          <a:prstGeom prst="ellipse">
            <a:avLst/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55848" y="403250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4A7331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21608" y="3948684"/>
            <a:ext cx="2011680" cy="350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Calibri"/>
              </a:rPr>
              <a:t>Visitors: star the three questions you will ask</a:t>
            </a:r>
          </a:p>
        </p:txBody>
      </p:sp>
      <p:sp>
        <p:nvSpPr>
          <p:cNvPr id="33" name="Oval 32"/>
          <p:cNvSpPr/>
          <p:nvPr/>
        </p:nvSpPr>
        <p:spPr>
          <a:xfrm>
            <a:off x="5788152" y="3986783"/>
            <a:ext cx="274320" cy="274320"/>
          </a:xfrm>
          <a:prstGeom prst="ellipse">
            <a:avLst/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88152" y="403250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4A7331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53912" y="3948684"/>
            <a:ext cx="2011680" cy="350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Calibri"/>
              </a:rPr>
              <a:t>Tomorrow the desks become stalls</a:t>
            </a:r>
          </a:p>
        </p:txBody>
      </p:sp>
      <p:pic>
        <p:nvPicPr>
          <p:cNvPr id="36" name="Picture 35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4A7331"/>
                </a:solidFill>
                <a:latin typeface="Calibri"/>
              </a:rPr>
              <a:t>QUESTIONS TO ASK AT AN OPEN DAY  ·  FRIDAY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77724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E3436"/>
                </a:solidFill>
                <a:latin typeface="Georgia"/>
              </a:rPr>
              <a:t>The open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89888"/>
            <a:ext cx="7772400" cy="6400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508760"/>
            <a:ext cx="402336" cy="402336"/>
          </a:xfrm>
          <a:prstGeom prst="ellipse">
            <a:avLst/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4772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490472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4A7331"/>
                </a:solidFill>
                <a:latin typeface="Georgia"/>
              </a:rPr>
              <a:t>Staff to your stalls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37360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Two at each desk, with your card. Answer from the card, and give one vague answer on purpose.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39696"/>
            <a:ext cx="7772400" cy="6400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258568"/>
            <a:ext cx="402336" cy="402336"/>
          </a:xfrm>
          <a:prstGeom prst="ellipse">
            <a:avLst/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54579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240279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4A7331"/>
                </a:solidFill>
                <a:latin typeface="Georgia"/>
              </a:rPr>
              <a:t>Visitors, go and 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487168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Take your sheet to a stall and ask your three starred questions.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889504"/>
            <a:ext cx="7772400" cy="6400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3008376"/>
            <a:ext cx="402336" cy="402336"/>
          </a:xfrm>
          <a:prstGeom prst="ellipse">
            <a:avLst/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04388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990088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4A7331"/>
                </a:solidFill>
                <a:latin typeface="Georgia"/>
              </a:rPr>
              <a:t>Push for a real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236976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If an answer is vague, follow it up. Write down what you find out.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639312"/>
            <a:ext cx="7772400" cy="6400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3758184"/>
            <a:ext cx="402336" cy="402336"/>
          </a:xfrm>
          <a:prstGeom prst="ellipse">
            <a:avLst/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854196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739896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4A7331"/>
                </a:solidFill>
                <a:latin typeface="Georgia"/>
              </a:rPr>
              <a:t>Swap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986784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Staff become visitors, now or next time, so everybody gets to ask.</a:t>
            </a:r>
          </a:p>
        </p:txBody>
      </p:sp>
      <p:pic>
        <p:nvPicPr>
          <p:cNvPr id="25" name="Picture 24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4A7331"/>
                </a:solidFill>
                <a:latin typeface="Calibri"/>
              </a:rPr>
              <a:t>QUESTIONS TO ASK AT AN OPEN DAY  ·  THE WEEK AFTER</a:t>
            </a:r>
          </a:p>
        </p:txBody>
      </p:sp>
      <p:pic>
        <p:nvPicPr>
          <p:cNvPr id="4" name="Picture 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251" y="822960"/>
            <a:ext cx="633496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755648"/>
            <a:ext cx="8046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4A7331"/>
                </a:solidFill>
                <a:latin typeface="Georgia"/>
              </a:rPr>
              <a:t>What did you find out?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5C6552"/>
                </a:solidFill>
                <a:latin typeface="Calibri"/>
              </a:rPr>
              <a:t>Bring your sheet back. Which answer changed your mind about a place, and which question did nobody answer properly?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3931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B9179"/>
                </a:solidFill>
                <a:latin typeface="Calibri"/>
              </a:rPr>
              <a:t>An unanswered question is worth asking somewhere else, or of a different university.</a:t>
            </a:r>
          </a:p>
        </p:txBody>
      </p:sp>
      <p:pic>
        <p:nvPicPr>
          <p:cNvPr id="8" name="Picture 7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