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29184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B85B3C"/>
                </a:solidFill>
                <a:latin typeface="Calibri"/>
              </a:rPr>
              <a:t>MORNING REGISTRATION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03504"/>
            <a:ext cx="12191695" cy="7315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0">
                <a:solidFill>
                  <a:srgbClr val="B5502F"/>
                </a:solidFill>
                <a:latin typeface="Georgia"/>
              </a:rPr>
              <a:t>The Opinion 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35727" y="1408176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35727" y="1490472"/>
            <a:ext cx="192024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spc="100">
                <a:solidFill>
                  <a:srgbClr val="FFFDF7"/>
                </a:solidFill>
                <a:latin typeface="Calibri"/>
              </a:rPr>
              <a:t>SIXTH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56816"/>
            <a:ext cx="9966960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>
                <a:solidFill>
                  <a:srgbClr val="8F3F24"/>
                </a:solidFill>
                <a:latin typeface="Calibri"/>
              </a:rPr>
              <a:t>Where you stand is your answer, and you can move if you change your mind.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523744"/>
            <a:ext cx="3246120" cy="2240280"/>
          </a:xfrm>
          <a:prstGeom prst="roundRect">
            <a:avLst>
              <a:gd name="adj" fmla="val 571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ol-sig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132" y="2743200"/>
            <a:ext cx="713232" cy="713232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2702052" y="3246120"/>
            <a:ext cx="310896" cy="310896"/>
          </a:xfrm>
          <a:prstGeom prst="ellipse">
            <a:avLst/>
          </a:prstGeom>
          <a:solidFill>
            <a:srgbClr val="B55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2052" y="3287268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566159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5502F"/>
                </a:solidFill>
                <a:latin typeface="Calibri"/>
              </a:rPr>
              <a:t>Two signs go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005072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F3F24"/>
                </a:solidFill>
                <a:latin typeface="Calibri"/>
              </a:rPr>
              <a:t>Agree at one end of the room and disagree at the other.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1416" y="2523744"/>
            <a:ext cx="3246120" cy="2240280"/>
          </a:xfrm>
          <a:prstGeom prst="roundRect">
            <a:avLst>
              <a:gd name="adj" fmla="val 571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ol-stat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859" y="2743200"/>
            <a:ext cx="713232" cy="713232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240779" y="3246120"/>
            <a:ext cx="310896" cy="310896"/>
          </a:xfrm>
          <a:prstGeom prst="ellipse">
            <a:avLst/>
          </a:prstGeom>
          <a:solidFill>
            <a:srgbClr val="B55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0779" y="3287268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3566159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5502F"/>
                </a:solidFill>
                <a:latin typeface="Calibri"/>
              </a:rPr>
              <a:t>A statement goes 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4005072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F3F24"/>
                </a:solidFill>
                <a:latin typeface="Calibri"/>
              </a:rPr>
              <a:t>One statement on the board, and there is no right answer to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2523744"/>
            <a:ext cx="3246120" cy="2240280"/>
          </a:xfrm>
          <a:prstGeom prst="roundRect">
            <a:avLst>
              <a:gd name="adj" fmla="val 571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-ol-st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6588" y="2743200"/>
            <a:ext cx="713232" cy="713232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9779508" y="3246120"/>
            <a:ext cx="310896" cy="310896"/>
          </a:xfrm>
          <a:prstGeom prst="ellipse">
            <a:avLst/>
          </a:prstGeom>
          <a:solidFill>
            <a:srgbClr val="B55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79508" y="3287268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3566159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5502F"/>
                </a:solidFill>
                <a:latin typeface="Calibri"/>
              </a:rPr>
              <a:t>Everyone picks a spot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3" y="4005072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F3F24"/>
                </a:solidFill>
                <a:latin typeface="Calibri"/>
              </a:rPr>
              <a:t>Stand anywhere between the two signs, then two or three people say why.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10128" y="4956048"/>
            <a:ext cx="5568696" cy="1005840"/>
          </a:xfrm>
          <a:prstGeom prst="roundRect">
            <a:avLst>
              <a:gd name="adj" fmla="val 10909"/>
            </a:avLst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38728" y="5029200"/>
            <a:ext cx="5111496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FFFDF7"/>
                </a:solidFill>
                <a:latin typeface="Georgia"/>
              </a:rPr>
              <a:t>“Loyalty to a friend matters more than telling the truth about them.”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8728" y="5559552"/>
            <a:ext cx="5111496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ECCFC4"/>
                </a:solidFill>
                <a:latin typeface="Calibri"/>
              </a:rPr>
              <a:t>The first of five statements in these slides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089904"/>
            <a:ext cx="103327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C0876C"/>
                </a:solidFill>
                <a:latin typeface="Calibri"/>
              </a:rPr>
              <a:t>Needs: the two signs from the resource pack, on walls at opposite ends of the room.</a:t>
            </a:r>
          </a:p>
        </p:txBody>
      </p:sp>
      <p:pic>
        <p:nvPicPr>
          <p:cNvPr id="30" name="Picture 29" descr="logo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0876C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B85B3C"/>
                </a:solidFill>
                <a:latin typeface="Calibri"/>
              </a:rPr>
              <a:t>THE OPINION LINE  ·  SIXTH FORM  ·  STATEMENT 1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60152" cy="4069080"/>
          </a:xfrm>
          <a:prstGeom prst="roundRect">
            <a:avLst>
              <a:gd name="adj" fmla="val 404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463040"/>
            <a:ext cx="9354312" cy="23774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B5502F"/>
                </a:solidFill>
                <a:latin typeface="Georgia"/>
              </a:rPr>
              <a:t>Loyalty to a friend matters more than telling the truth about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4069080"/>
            <a:ext cx="7982712" cy="32004"/>
          </a:xfrm>
          <a:prstGeom prst="roundRect">
            <a:avLst>
              <a:gd name="adj" fmla="val 48571"/>
            </a:avLst>
          </a:prstGeom>
          <a:solidFill>
            <a:srgbClr val="EC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57400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40111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140">
                <a:solidFill>
                  <a:srgbClr val="B85B3C"/>
                </a:solidFill>
                <a:latin typeface="Calibri"/>
              </a:rPr>
              <a:t>AGREE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8351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spc="140">
                <a:solidFill>
                  <a:srgbClr val="B85B3C"/>
                </a:solidFill>
                <a:latin typeface="Calibri"/>
              </a:rPr>
              <a:t>DISAGREE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8F3F24"/>
                </a:solidFill>
                <a:latin typeface="Calibri"/>
              </a:rPr>
              <a:t>Stand anywhere between the two signs. The middle counts.</a:t>
            </a:r>
          </a:p>
        </p:txBody>
      </p:sp>
      <p:pic>
        <p:nvPicPr>
          <p:cNvPr id="12" name="Picture 11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0876C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B85B3C"/>
                </a:solidFill>
                <a:latin typeface="Calibri"/>
              </a:rPr>
              <a:t>THE OPINION LINE  ·  SIXTH FORM  ·  STATEMENT 2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60152" cy="4069080"/>
          </a:xfrm>
          <a:prstGeom prst="roundRect">
            <a:avLst>
              <a:gd name="adj" fmla="val 404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463040"/>
            <a:ext cx="9354312" cy="23774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B5502F"/>
                </a:solidFill>
                <a:latin typeface="Georgia"/>
              </a:rPr>
              <a:t>You cannot be sure what you think until you have argued for the opposite.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4069080"/>
            <a:ext cx="7982712" cy="32004"/>
          </a:xfrm>
          <a:prstGeom prst="roundRect">
            <a:avLst>
              <a:gd name="adj" fmla="val 48571"/>
            </a:avLst>
          </a:prstGeom>
          <a:solidFill>
            <a:srgbClr val="EC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57400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40111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140">
                <a:solidFill>
                  <a:srgbClr val="B85B3C"/>
                </a:solidFill>
                <a:latin typeface="Calibri"/>
              </a:rPr>
              <a:t>AGREE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8351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spc="140">
                <a:solidFill>
                  <a:srgbClr val="B85B3C"/>
                </a:solidFill>
                <a:latin typeface="Calibri"/>
              </a:rPr>
              <a:t>DISAGREE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8F3F24"/>
                </a:solidFill>
                <a:latin typeface="Calibri"/>
              </a:rPr>
              <a:t>Stand anywhere between the two signs. The middle counts.</a:t>
            </a:r>
          </a:p>
        </p:txBody>
      </p:sp>
      <p:pic>
        <p:nvPicPr>
          <p:cNvPr id="12" name="Picture 11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0876C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B85B3C"/>
                </a:solidFill>
                <a:latin typeface="Calibri"/>
              </a:rPr>
              <a:t>THE OPINION LINE  ·  SIXTH FORM  ·  STATEMENT 3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60152" cy="4069080"/>
          </a:xfrm>
          <a:prstGeom prst="roundRect">
            <a:avLst>
              <a:gd name="adj" fmla="val 404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463040"/>
            <a:ext cx="9354312" cy="23774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B5502F"/>
                </a:solidFill>
                <a:latin typeface="Georgia"/>
              </a:rPr>
              <a:t>The best year of your life should not be the one you are 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4069080"/>
            <a:ext cx="7982712" cy="32004"/>
          </a:xfrm>
          <a:prstGeom prst="roundRect">
            <a:avLst>
              <a:gd name="adj" fmla="val 48571"/>
            </a:avLst>
          </a:prstGeom>
          <a:solidFill>
            <a:srgbClr val="EC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57400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40111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140">
                <a:solidFill>
                  <a:srgbClr val="B85B3C"/>
                </a:solidFill>
                <a:latin typeface="Calibri"/>
              </a:rPr>
              <a:t>AGREE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8351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spc="140">
                <a:solidFill>
                  <a:srgbClr val="B85B3C"/>
                </a:solidFill>
                <a:latin typeface="Calibri"/>
              </a:rPr>
              <a:t>DISAGREE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8F3F24"/>
                </a:solidFill>
                <a:latin typeface="Calibri"/>
              </a:rPr>
              <a:t>Stand anywhere between the two signs. The middle counts.</a:t>
            </a:r>
          </a:p>
        </p:txBody>
      </p:sp>
      <p:pic>
        <p:nvPicPr>
          <p:cNvPr id="12" name="Picture 11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0876C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B85B3C"/>
                </a:solidFill>
                <a:latin typeface="Calibri"/>
              </a:rPr>
              <a:t>THE OPINION LINE  ·  SIXTH FORM  ·  STATEMENT 4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60152" cy="4069080"/>
          </a:xfrm>
          <a:prstGeom prst="roundRect">
            <a:avLst>
              <a:gd name="adj" fmla="val 404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463040"/>
            <a:ext cx="9354312" cy="23774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B5502F"/>
                </a:solidFill>
                <a:latin typeface="Georgia"/>
              </a:rPr>
              <a:t>It is possible to be too honest.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4069080"/>
            <a:ext cx="7982712" cy="32004"/>
          </a:xfrm>
          <a:prstGeom prst="roundRect">
            <a:avLst>
              <a:gd name="adj" fmla="val 48571"/>
            </a:avLst>
          </a:prstGeom>
          <a:solidFill>
            <a:srgbClr val="EC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57400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40111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140">
                <a:solidFill>
                  <a:srgbClr val="B85B3C"/>
                </a:solidFill>
                <a:latin typeface="Calibri"/>
              </a:rPr>
              <a:t>AGREE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8351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spc="140">
                <a:solidFill>
                  <a:srgbClr val="B85B3C"/>
                </a:solidFill>
                <a:latin typeface="Calibri"/>
              </a:rPr>
              <a:t>DISAGREE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8F3F24"/>
                </a:solidFill>
                <a:latin typeface="Calibri"/>
              </a:rPr>
              <a:t>Stand anywhere between the two signs. The middle counts.</a:t>
            </a:r>
          </a:p>
        </p:txBody>
      </p:sp>
      <p:pic>
        <p:nvPicPr>
          <p:cNvPr id="12" name="Picture 11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0876C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B85B3C"/>
                </a:solidFill>
                <a:latin typeface="Calibri"/>
              </a:rPr>
              <a:t>THE OPINION LINE  ·  SIXTH FORM  ·  STATEMENT 5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60152" cy="4069080"/>
          </a:xfrm>
          <a:prstGeom prst="roundRect">
            <a:avLst>
              <a:gd name="adj" fmla="val 404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463040"/>
            <a:ext cx="9354312" cy="23774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B5502F"/>
                </a:solidFill>
                <a:latin typeface="Georgia"/>
              </a:rPr>
              <a:t>Most people choose their opinions to fit their friends.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4069080"/>
            <a:ext cx="7982712" cy="32004"/>
          </a:xfrm>
          <a:prstGeom prst="roundRect">
            <a:avLst>
              <a:gd name="adj" fmla="val 48571"/>
            </a:avLst>
          </a:prstGeom>
          <a:solidFill>
            <a:srgbClr val="EC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57400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40111" y="4027932"/>
            <a:ext cx="118872" cy="118872"/>
          </a:xfrm>
          <a:prstGeom prst="ellipse">
            <a:avLst/>
          </a:prstGeom>
          <a:solidFill>
            <a:srgbClr val="B85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140">
                <a:solidFill>
                  <a:srgbClr val="B85B3C"/>
                </a:solidFill>
                <a:latin typeface="Calibri"/>
              </a:rPr>
              <a:t>AGREE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8351" y="4251960"/>
            <a:ext cx="27432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50" b="1" spc="140">
                <a:solidFill>
                  <a:srgbClr val="B85B3C"/>
                </a:solidFill>
                <a:latin typeface="Calibri"/>
              </a:rPr>
              <a:t>DISAGREE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8F3F24"/>
                </a:solidFill>
                <a:latin typeface="Calibri"/>
              </a:rPr>
              <a:t>Stand anywhere between the two signs. The middle counts.</a:t>
            </a:r>
          </a:p>
        </p:txBody>
      </p:sp>
      <p:pic>
        <p:nvPicPr>
          <p:cNvPr id="12" name="Picture 11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0876C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B85B3C"/>
                </a:solidFill>
                <a:latin typeface="Calibri"/>
              </a:rPr>
              <a:t>THE OPINION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58368"/>
            <a:ext cx="12191695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0">
                <a:solidFill>
                  <a:srgbClr val="B5502F"/>
                </a:solidFill>
                <a:latin typeface="Georgia"/>
              </a:rPr>
              <a:t>Your statement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17904"/>
            <a:ext cx="9966960" cy="6583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8F3F24"/>
                </a:solidFill>
                <a:latin typeface="Calibri"/>
              </a:rPr>
              <a:t>Five statements in these slides, and five more on page 2 of the resource pack.</a:t>
            </a:r>
            <a:br/>
            <a:r>
              <a:rPr sz="1700" b="0">
                <a:solidFill>
                  <a:srgbClr val="8F3F24"/>
                </a:solidFill>
                <a:latin typeface="Calibri"/>
              </a:rPr>
              <a:t>After those, they come from you.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2212848"/>
            <a:ext cx="3246120" cy="2468880"/>
          </a:xfrm>
          <a:prstGeom prst="roundRect">
            <a:avLst>
              <a:gd name="adj" fmla="val 5185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-ol-id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132" y="2432304"/>
            <a:ext cx="713232" cy="713232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2702052" y="2935224"/>
            <a:ext cx="310896" cy="310896"/>
          </a:xfrm>
          <a:prstGeom prst="ellipse">
            <a:avLst/>
          </a:prstGeom>
          <a:solidFill>
            <a:srgbClr val="B55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02052" y="2976372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255263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5502F"/>
                </a:solidFill>
                <a:latin typeface="Calibri"/>
              </a:rPr>
              <a:t>Think of a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694176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F3F24"/>
                </a:solidFill>
                <a:latin typeface="Calibri"/>
              </a:rPr>
              <a:t>Something this form would really disagree about.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2212848"/>
            <a:ext cx="3246120" cy="2468880"/>
          </a:xfrm>
          <a:prstGeom prst="roundRect">
            <a:avLst>
              <a:gd name="adj" fmla="val 5185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-ol-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859" y="2432304"/>
            <a:ext cx="713232" cy="713232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6240779" y="2935224"/>
            <a:ext cx="310896" cy="310896"/>
          </a:xfrm>
          <a:prstGeom prst="ellipse">
            <a:avLst/>
          </a:prstGeom>
          <a:solidFill>
            <a:srgbClr val="B55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0779" y="2976372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3255263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5502F"/>
                </a:solidFill>
                <a:latin typeface="Calibri"/>
              </a:rPr>
              <a:t>Check both ends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4296" y="3694176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F3F24"/>
                </a:solidFill>
                <a:latin typeface="Calibri"/>
              </a:rPr>
              <a:t>If everybody would agree, it will not split the room.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2212848"/>
            <a:ext cx="3246120" cy="2468880"/>
          </a:xfrm>
          <a:prstGeom prst="roundRect">
            <a:avLst>
              <a:gd name="adj" fmla="val 5185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B5502F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ol-s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6588" y="2432304"/>
            <a:ext cx="713232" cy="713232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9779508" y="2935224"/>
            <a:ext cx="310896" cy="310896"/>
          </a:xfrm>
          <a:prstGeom prst="ellipse">
            <a:avLst/>
          </a:prstGeom>
          <a:solidFill>
            <a:srgbClr val="B55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79508" y="2976372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7304" y="3255263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B5502F"/>
                </a:solidFill>
                <a:latin typeface="Calibri"/>
              </a:rPr>
              <a:t>Bring it to your tutor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3" y="3694176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8F3F24"/>
                </a:solidFill>
                <a:latin typeface="Calibri"/>
              </a:rPr>
              <a:t>One of them goes up on the board the next morning.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0">
                <a:solidFill>
                  <a:srgbClr val="B5502F"/>
                </a:solidFill>
                <a:latin typeface="Georgia"/>
              </a:rPr>
              <a:t>The best statements are the ones you are not sure about yourself.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053328"/>
            <a:ext cx="103327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C0876C"/>
                </a:solidFill>
                <a:latin typeface="Calibri"/>
              </a:rPr>
              <a:t>Needs: nothing new.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0876C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The Pastoral Guide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Opinion Line: the slides</dc:title>
  <dc:subject>A free pastoral resource for form tutors, from The Pastoral Guide, thepastoralguide.com</dc:subject>
  <dc:creator>The Pastoral Guide</dc:creator>
  <cp:keywords>form time, tutor time, pastoral, PSHE, secondary, free</cp:keywords>
  <dc:description>A free pastoral resource for form tutors, from The Pastoral Guide, thepastoralguide.com</dc:description>
  <cp:lastModifiedBy>The Pastoral Guide</cp:lastModifiedBy>
  <cp:revision>1</cp:revision>
  <dcterms:created xsi:type="dcterms:W3CDTF">2026-09-14T05:55:02Z</dcterms:created>
  <dcterms:modified xsi:type="dcterms:W3CDTF">2026-09-14T05:55:02Z</dcterms:modified>
  <cp:category>Pastoral resources</cp:category>
</cp:coreProperties>
</file>