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F5A44"/>
                </a:solidFill>
                <a:latin typeface="Calibri"/>
              </a:rPr>
              <a:t>MORNING REGISTRATION ACTIVITIES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7772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2F5A44"/>
                </a:solidFill>
                <a:latin typeface="Georgia"/>
              </a:rPr>
              <a:t>The Form Time Quiz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55384" y="1243584"/>
            <a:ext cx="3033231" cy="237744"/>
          </a:xfrm>
          <a:prstGeom prst="roundRect">
            <a:avLst>
              <a:gd name="adj" fmla="val 50000"/>
            </a:avLst>
          </a:prstGeom>
          <a:solidFill>
            <a:srgbClr val="963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FFFDF7"/>
                </a:solidFill>
                <a:latin typeface="Calibri"/>
              </a:rPr>
              <a:t>CHRISTMAS EDITION  ·  SIXTH 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727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C6552"/>
                </a:solidFill>
                <a:latin typeface="Calibri"/>
              </a:rPr>
              <a:t>Ten questions: four fact or myth, then three with options and three to write.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938528"/>
            <a:ext cx="2395728" cy="201168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54480" y="2084832"/>
            <a:ext cx="658368" cy="658368"/>
          </a:xfrm>
          <a:prstGeom prst="ellipse">
            <a:avLst/>
          </a:prstGeom>
          <a:solidFill>
            <a:srgbClr val="2F5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wopeo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2221992"/>
            <a:ext cx="384048" cy="384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3816" y="2852928"/>
            <a:ext cx="21396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2F5A44"/>
                </a:solidFill>
                <a:latin typeface="Georgia"/>
              </a:rPr>
              <a:t>Get into teams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346704"/>
            <a:ext cx="206654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C6552"/>
                </a:solidFill>
                <a:latin typeface="Calibri"/>
              </a:rPr>
              <a:t>Three or four to a team, with one answer sheet between you.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4136" y="1938528"/>
            <a:ext cx="2395728" cy="201168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42816" y="2084832"/>
            <a:ext cx="658368" cy="658368"/>
          </a:xfrm>
          <a:prstGeom prst="ellipse">
            <a:avLst/>
          </a:prstGeom>
          <a:solidFill>
            <a:srgbClr val="2F5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976" y="2221992"/>
            <a:ext cx="384048" cy="3840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02152" y="2852928"/>
            <a:ext cx="21396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2F5A44"/>
                </a:solidFill>
                <a:latin typeface="Georgia"/>
              </a:rPr>
              <a:t>Answer together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3346704"/>
            <a:ext cx="206654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C6552"/>
                </a:solidFill>
                <a:latin typeface="Calibri"/>
              </a:rPr>
              <a:t>Each question goes up on the board. Agree an answer, then write it down.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62472" y="1938528"/>
            <a:ext cx="2395728" cy="201168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931151" y="2084832"/>
            <a:ext cx="658368" cy="658368"/>
          </a:xfrm>
          <a:prstGeom prst="ellipse">
            <a:avLst/>
          </a:prstGeom>
          <a:solidFill>
            <a:srgbClr val="2F5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w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312" y="2221992"/>
            <a:ext cx="384048" cy="38404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190488" y="2852928"/>
            <a:ext cx="21396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2F5A44"/>
                </a:solidFill>
                <a:latin typeface="Georgia"/>
              </a:rPr>
              <a:t>Swap and mark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27064" y="3346704"/>
            <a:ext cx="206654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C6552"/>
                </a:solidFill>
                <a:latin typeface="Calibri"/>
              </a:rPr>
              <a:t>Swap sheets with the team next to you, then the answers go up one at a time.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078224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8B9179"/>
                </a:solidFill>
                <a:latin typeface="Calibri"/>
              </a:rPr>
              <a:t>Needs: one answer sheet per team, from the resource pack.</a:t>
            </a:r>
          </a:p>
        </p:txBody>
      </p:sp>
      <p:pic>
        <p:nvPicPr>
          <p:cNvPr id="23" name="Picture 22" descr="logo-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1 / 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F5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68281" y="914400"/>
            <a:ext cx="1207436" cy="237744"/>
          </a:xfrm>
          <a:prstGeom prst="roundRect">
            <a:avLst>
              <a:gd name="adj" fmla="val 50000"/>
            </a:avLst>
          </a:prstGeom>
          <a:solidFill>
            <a:srgbClr val="C6D5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2F5A44"/>
                </a:solidFill>
                <a:latin typeface="Calibri"/>
              </a:rPr>
              <a:t>ROUND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8046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4000" b="0" i="0">
                <a:solidFill>
                  <a:srgbClr val="FFFDF7"/>
                </a:solidFill>
                <a:latin typeface="Georgia"/>
              </a:rPr>
              <a:t>Fact or myth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2487168"/>
            <a:ext cx="914400" cy="18288"/>
          </a:xfrm>
          <a:prstGeom prst="rect">
            <a:avLst/>
          </a:prstGeom>
          <a:solidFill>
            <a:srgbClr val="C6D5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724912"/>
            <a:ext cx="6583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C6D5CA"/>
                </a:solidFill>
                <a:latin typeface="Calibri"/>
              </a:rPr>
              <a:t>Four statements about Christmas. As a team, decide whether each one is a fact or a myth.</a:t>
            </a:r>
          </a:p>
        </p:txBody>
      </p:sp>
      <p:pic>
        <p:nvPicPr>
          <p:cNvPr id="7" name="Picture 6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C6D5CA"/>
                </a:solidFill>
                <a:latin typeface="Calibri"/>
              </a:rPr>
              <a:t>The Pastoral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C6D5CA"/>
                </a:solidFill>
                <a:latin typeface="Calibri"/>
              </a:rPr>
              <a:t>2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F5A44"/>
                </a:solidFill>
                <a:latin typeface="Calibri"/>
              </a:rPr>
              <a:t>CHRISTMAS QUIZ  ·  ROUND ONE  ·  QUESTION 1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841248"/>
            <a:ext cx="7772400" cy="1719072"/>
          </a:xfrm>
          <a:prstGeom prst="roundRect">
            <a:avLst>
              <a:gd name="adj" fmla="val 6000"/>
            </a:avLst>
          </a:prstGeom>
          <a:solidFill>
            <a:srgbClr val="EE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841248"/>
            <a:ext cx="7772400" cy="54864"/>
          </a:xfrm>
          <a:prstGeom prst="rect">
            <a:avLst/>
          </a:prstGeom>
          <a:solidFill>
            <a:srgbClr val="B95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1399032"/>
            <a:ext cx="603504" cy="603504"/>
          </a:xfrm>
          <a:prstGeom prst="ellipse">
            <a:avLst/>
          </a:prstGeom>
          <a:solidFill>
            <a:srgbClr val="963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27048"/>
            <a:ext cx="6035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DF7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133856"/>
            <a:ext cx="6309360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 i="0">
                <a:solidFill>
                  <a:srgbClr val="2F5A44"/>
                </a:solidFill>
                <a:latin typeface="Georgia"/>
              </a:rPr>
              <a:t>Thanks to Oliver Cromwell, it is still illegal to eat a mince pie on Christmas Day in England.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88336"/>
            <a:ext cx="7772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40">
                <a:solidFill>
                  <a:srgbClr val="8B9179"/>
                </a:solidFill>
                <a:latin typeface="Calibri"/>
              </a:rPr>
              <a:t>FACT OR MYTH?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980944"/>
            <a:ext cx="3749039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0392" y="3803904"/>
            <a:ext cx="3419856" cy="27432"/>
          </a:xfrm>
          <a:prstGeom prst="rect">
            <a:avLst/>
          </a:prstGeom>
          <a:solidFill>
            <a:srgbClr val="C6D5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74060"/>
            <a:ext cx="3383279" cy="309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2F5A44"/>
                </a:solidFill>
                <a:latin typeface="Georgia"/>
              </a:rPr>
              <a:t>Fact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59" y="2980944"/>
            <a:ext cx="3749039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73751" y="3803904"/>
            <a:ext cx="3419856" cy="27432"/>
          </a:xfrm>
          <a:prstGeom prst="rect">
            <a:avLst/>
          </a:prstGeom>
          <a:solidFill>
            <a:srgbClr val="C6D5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3274060"/>
            <a:ext cx="3383279" cy="309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2F5A44"/>
                </a:solidFill>
                <a:latin typeface="Georgia"/>
              </a:rPr>
              <a:t>Myth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169663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5C6552"/>
                </a:solidFill>
                <a:latin typeface="Calibri"/>
              </a:rPr>
              <a:t>Agree it as a team, then tick it on the sheet.</a:t>
            </a:r>
          </a:p>
        </p:txBody>
      </p:sp>
      <p:pic>
        <p:nvPicPr>
          <p:cNvPr id="17" name="Picture 16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3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F5A44"/>
                </a:solidFill>
                <a:latin typeface="Calibri"/>
              </a:rPr>
              <a:t>CHRISTMAS QUIZ  ·  ROUND ONE  ·  QUESTION 2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30224"/>
            <a:ext cx="7772400" cy="1341120"/>
          </a:xfrm>
          <a:prstGeom prst="roundRect">
            <a:avLst>
              <a:gd name="adj" fmla="val 6000"/>
            </a:avLst>
          </a:prstGeom>
          <a:solidFill>
            <a:srgbClr val="EE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030224"/>
            <a:ext cx="7772400" cy="54864"/>
          </a:xfrm>
          <a:prstGeom prst="rect">
            <a:avLst/>
          </a:prstGeom>
          <a:solidFill>
            <a:srgbClr val="B95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1399032"/>
            <a:ext cx="603504" cy="603504"/>
          </a:xfrm>
          <a:prstGeom prst="ellipse">
            <a:avLst/>
          </a:prstGeom>
          <a:solidFill>
            <a:srgbClr val="963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27048"/>
            <a:ext cx="6035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DF7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322832"/>
            <a:ext cx="6309360" cy="755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 i="0">
                <a:solidFill>
                  <a:srgbClr val="2F5A44"/>
                </a:solidFill>
                <a:latin typeface="Georgia"/>
              </a:rPr>
              <a:t>Martin Luther invented the Christmas tree.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99360"/>
            <a:ext cx="7772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40">
                <a:solidFill>
                  <a:srgbClr val="8B9179"/>
                </a:solidFill>
                <a:latin typeface="Calibri"/>
              </a:rPr>
              <a:t>FACT OR MYTH?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791968"/>
            <a:ext cx="3749039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0392" y="3614928"/>
            <a:ext cx="3419856" cy="27432"/>
          </a:xfrm>
          <a:prstGeom prst="rect">
            <a:avLst/>
          </a:prstGeom>
          <a:solidFill>
            <a:srgbClr val="C6D5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085084"/>
            <a:ext cx="3383279" cy="309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2F5A44"/>
                </a:solidFill>
                <a:latin typeface="Georgia"/>
              </a:rPr>
              <a:t>Fact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59" y="2791968"/>
            <a:ext cx="3749039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73751" y="3614928"/>
            <a:ext cx="3419856" cy="27432"/>
          </a:xfrm>
          <a:prstGeom prst="rect">
            <a:avLst/>
          </a:prstGeom>
          <a:solidFill>
            <a:srgbClr val="C6D5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3085084"/>
            <a:ext cx="3383279" cy="309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2F5A44"/>
                </a:solidFill>
                <a:latin typeface="Georgia"/>
              </a:rPr>
              <a:t>Myth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169663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5C6552"/>
                </a:solidFill>
                <a:latin typeface="Calibri"/>
              </a:rPr>
              <a:t>Agree it as a team, then tick it on the sheet.</a:t>
            </a:r>
          </a:p>
        </p:txBody>
      </p:sp>
      <p:pic>
        <p:nvPicPr>
          <p:cNvPr id="17" name="Picture 16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4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F5A44"/>
                </a:solidFill>
                <a:latin typeface="Calibri"/>
              </a:rPr>
              <a:t>CHRISTMAS QUIZ  ·  ROUND ONE  ·  QUESTION 3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30224"/>
            <a:ext cx="7772400" cy="1341120"/>
          </a:xfrm>
          <a:prstGeom prst="roundRect">
            <a:avLst>
              <a:gd name="adj" fmla="val 6000"/>
            </a:avLst>
          </a:prstGeom>
          <a:solidFill>
            <a:srgbClr val="EE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030224"/>
            <a:ext cx="7772400" cy="54864"/>
          </a:xfrm>
          <a:prstGeom prst="rect">
            <a:avLst/>
          </a:prstGeom>
          <a:solidFill>
            <a:srgbClr val="B95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1399032"/>
            <a:ext cx="603504" cy="603504"/>
          </a:xfrm>
          <a:prstGeom prst="ellipse">
            <a:avLst/>
          </a:prstGeom>
          <a:solidFill>
            <a:srgbClr val="963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27048"/>
            <a:ext cx="6035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DF7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322832"/>
            <a:ext cx="6309360" cy="755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 i="0">
                <a:solidFill>
                  <a:srgbClr val="2F5A44"/>
                </a:solidFill>
                <a:latin typeface="Georgia"/>
              </a:rPr>
              <a:t>Armenian Christians in Jerusalem celebrate Christmas on 19 January.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99360"/>
            <a:ext cx="7772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40">
                <a:solidFill>
                  <a:srgbClr val="8B9179"/>
                </a:solidFill>
                <a:latin typeface="Calibri"/>
              </a:rPr>
              <a:t>FACT OR MYTH?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791968"/>
            <a:ext cx="3749039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0392" y="3614928"/>
            <a:ext cx="3419856" cy="27432"/>
          </a:xfrm>
          <a:prstGeom prst="rect">
            <a:avLst/>
          </a:prstGeom>
          <a:solidFill>
            <a:srgbClr val="C6D5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085084"/>
            <a:ext cx="3383279" cy="309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2F5A44"/>
                </a:solidFill>
                <a:latin typeface="Georgia"/>
              </a:rPr>
              <a:t>Fact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59" y="2791968"/>
            <a:ext cx="3749039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73751" y="3614928"/>
            <a:ext cx="3419856" cy="27432"/>
          </a:xfrm>
          <a:prstGeom prst="rect">
            <a:avLst/>
          </a:prstGeom>
          <a:solidFill>
            <a:srgbClr val="C6D5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3085084"/>
            <a:ext cx="3383279" cy="309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2F5A44"/>
                </a:solidFill>
                <a:latin typeface="Georgia"/>
              </a:rPr>
              <a:t>Myth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169663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5C6552"/>
                </a:solidFill>
                <a:latin typeface="Calibri"/>
              </a:rPr>
              <a:t>Agree it as a team, then tick it on the sheet.</a:t>
            </a:r>
          </a:p>
        </p:txBody>
      </p:sp>
      <p:pic>
        <p:nvPicPr>
          <p:cNvPr id="17" name="Picture 16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5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F5A44"/>
                </a:solidFill>
                <a:latin typeface="Calibri"/>
              </a:rPr>
              <a:t>CHRISTMAS QUIZ  ·  ROUND ONE  ·  QUESTION 4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841248"/>
            <a:ext cx="7772400" cy="1719072"/>
          </a:xfrm>
          <a:prstGeom prst="roundRect">
            <a:avLst>
              <a:gd name="adj" fmla="val 6000"/>
            </a:avLst>
          </a:prstGeom>
          <a:solidFill>
            <a:srgbClr val="EE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841248"/>
            <a:ext cx="7772400" cy="54864"/>
          </a:xfrm>
          <a:prstGeom prst="rect">
            <a:avLst/>
          </a:prstGeom>
          <a:solidFill>
            <a:srgbClr val="B95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1399032"/>
            <a:ext cx="603504" cy="603504"/>
          </a:xfrm>
          <a:prstGeom prst="ellipse">
            <a:avLst/>
          </a:prstGeom>
          <a:solidFill>
            <a:srgbClr val="963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27048"/>
            <a:ext cx="6035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DF7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133856"/>
            <a:ext cx="6309360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 i="0">
                <a:solidFill>
                  <a:srgbClr val="2F5A44"/>
                </a:solidFill>
                <a:latin typeface="Georgia"/>
              </a:rPr>
              <a:t>The first Christmas card, printed in 1843, caused a row because it showed a child drinking wine.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88336"/>
            <a:ext cx="7772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40">
                <a:solidFill>
                  <a:srgbClr val="8B9179"/>
                </a:solidFill>
                <a:latin typeface="Calibri"/>
              </a:rPr>
              <a:t>FACT OR MYTH?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980944"/>
            <a:ext cx="3749039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0392" y="3803904"/>
            <a:ext cx="3419856" cy="27432"/>
          </a:xfrm>
          <a:prstGeom prst="rect">
            <a:avLst/>
          </a:prstGeom>
          <a:solidFill>
            <a:srgbClr val="C6D5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74060"/>
            <a:ext cx="3383279" cy="309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2F5A44"/>
                </a:solidFill>
                <a:latin typeface="Georgia"/>
              </a:rPr>
              <a:t>Fact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59" y="2980944"/>
            <a:ext cx="3749039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73751" y="3803904"/>
            <a:ext cx="3419856" cy="27432"/>
          </a:xfrm>
          <a:prstGeom prst="rect">
            <a:avLst/>
          </a:prstGeom>
          <a:solidFill>
            <a:srgbClr val="C6D5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3274060"/>
            <a:ext cx="3383279" cy="309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2F5A44"/>
                </a:solidFill>
                <a:latin typeface="Georgia"/>
              </a:rPr>
              <a:t>Myth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169663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5C6552"/>
                </a:solidFill>
                <a:latin typeface="Calibri"/>
              </a:rPr>
              <a:t>Agree it as a team, then tick it on the sheet.</a:t>
            </a:r>
          </a:p>
        </p:txBody>
      </p:sp>
      <p:pic>
        <p:nvPicPr>
          <p:cNvPr id="17" name="Picture 16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6 /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963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52258" y="914400"/>
            <a:ext cx="1239483" cy="237744"/>
          </a:xfrm>
          <a:prstGeom prst="roundRect">
            <a:avLst>
              <a:gd name="adj" fmla="val 50000"/>
            </a:avLst>
          </a:prstGeom>
          <a:solidFill>
            <a:srgbClr val="E8C8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963A36"/>
                </a:solidFill>
                <a:latin typeface="Calibri"/>
              </a:rPr>
              <a:t>ROUND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8046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4000" b="0" i="0">
                <a:solidFill>
                  <a:srgbClr val="FFFDF7"/>
                </a:solidFill>
                <a:latin typeface="Georgia"/>
              </a:rPr>
              <a:t>Choose or write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2487168"/>
            <a:ext cx="914400" cy="18288"/>
          </a:xfrm>
          <a:prstGeom prst="rect">
            <a:avLst/>
          </a:prstGeom>
          <a:solidFill>
            <a:srgbClr val="E8C8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724912"/>
            <a:ext cx="6583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E8C8C3"/>
                </a:solidFill>
                <a:latin typeface="Calibri"/>
              </a:rPr>
              <a:t>Six questions. The first three give you options, and the last three you write out in full.</a:t>
            </a:r>
          </a:p>
        </p:txBody>
      </p:sp>
      <p:pic>
        <p:nvPicPr>
          <p:cNvPr id="7" name="Picture 6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E8C8C3"/>
                </a:solidFill>
                <a:latin typeface="Calibri"/>
              </a:rPr>
              <a:t>The Pastoral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E8C8C3"/>
                </a:solidFill>
                <a:latin typeface="Calibri"/>
              </a:rPr>
              <a:t>7 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F5A44"/>
                </a:solidFill>
                <a:latin typeface="Calibri"/>
              </a:rPr>
              <a:t>CHRISTMAS QUIZ  ·  ROUND TWO  ·  QUESTION 5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746760"/>
            <a:ext cx="7772400" cy="1908048"/>
          </a:xfrm>
          <a:prstGeom prst="roundRect">
            <a:avLst>
              <a:gd name="adj" fmla="val 6000"/>
            </a:avLst>
          </a:prstGeom>
          <a:solidFill>
            <a:srgbClr val="EE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746760"/>
            <a:ext cx="7772400" cy="54864"/>
          </a:xfrm>
          <a:prstGeom prst="rect">
            <a:avLst/>
          </a:prstGeom>
          <a:solidFill>
            <a:srgbClr val="B95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1399032"/>
            <a:ext cx="603504" cy="603504"/>
          </a:xfrm>
          <a:prstGeom prst="ellipse">
            <a:avLst/>
          </a:prstGeom>
          <a:solidFill>
            <a:srgbClr val="963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27048"/>
            <a:ext cx="6035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DF7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039368"/>
            <a:ext cx="6309360" cy="1322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0" i="0">
                <a:solidFill>
                  <a:srgbClr val="2F5A44"/>
                </a:solidFill>
                <a:latin typeface="Georgia"/>
              </a:rPr>
              <a:t>An economist found that people value the presents they get at less than they cost. Roughly how much of the value is lost?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82824"/>
            <a:ext cx="7772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40">
                <a:solidFill>
                  <a:srgbClr val="8B9179"/>
                </a:solidFill>
                <a:latin typeface="Calibri"/>
              </a:rPr>
              <a:t>ONE OF THESE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75432"/>
            <a:ext cx="24079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0392" y="3898392"/>
            <a:ext cx="2078736" cy="27432"/>
          </a:xfrm>
          <a:prstGeom prst="rect">
            <a:avLst/>
          </a:prstGeom>
          <a:solidFill>
            <a:srgbClr val="C6D5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0392" y="3322320"/>
            <a:ext cx="402336" cy="402336"/>
          </a:xfrm>
          <a:prstGeom prst="ellipse">
            <a:avLst/>
          </a:prstGeom>
          <a:solidFill>
            <a:srgbClr val="2F5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404616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DF7"/>
                </a:solidFill>
                <a:latin typeface="Calibri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62456" y="3275584"/>
            <a:ext cx="1584960" cy="4958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Calibri"/>
              </a:rPr>
              <a:t>About 1 per cent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8040" y="3075432"/>
            <a:ext cx="24079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32632" y="3898392"/>
            <a:ext cx="2078736" cy="27432"/>
          </a:xfrm>
          <a:prstGeom prst="rect">
            <a:avLst/>
          </a:prstGeom>
          <a:solidFill>
            <a:srgbClr val="C6D5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32631" y="3322320"/>
            <a:ext cx="402336" cy="402336"/>
          </a:xfrm>
          <a:prstGeom prst="ellipse">
            <a:avLst/>
          </a:prstGeom>
          <a:solidFill>
            <a:srgbClr val="2F5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32632" y="3404616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DF7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44695" y="3275584"/>
            <a:ext cx="1584960" cy="4958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Calibri"/>
              </a:rPr>
              <a:t>A tenth to a third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50280" y="3075432"/>
            <a:ext cx="24079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4871" y="3898392"/>
            <a:ext cx="2078736" cy="27432"/>
          </a:xfrm>
          <a:prstGeom prst="rect">
            <a:avLst/>
          </a:prstGeom>
          <a:solidFill>
            <a:srgbClr val="C6D5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14872" y="3322320"/>
            <a:ext cx="402336" cy="402336"/>
          </a:xfrm>
          <a:prstGeom prst="ellipse">
            <a:avLst/>
          </a:prstGeom>
          <a:solidFill>
            <a:srgbClr val="2F5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4871" y="3404616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DF7"/>
                </a:solidFill>
                <a:latin typeface="Calibri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6936" y="3399536"/>
            <a:ext cx="1584960" cy="2479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Calibri"/>
              </a:rPr>
              <a:t>More than half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169663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5C6552"/>
                </a:solidFill>
                <a:latin typeface="Calibri"/>
              </a:rPr>
              <a:t>Agree it as a team, then tick it on the sheet.</a:t>
            </a:r>
          </a:p>
        </p:txBody>
      </p:sp>
      <p:pic>
        <p:nvPicPr>
          <p:cNvPr id="26" name="Picture 25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8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F5A44"/>
                </a:solidFill>
                <a:latin typeface="Calibri"/>
              </a:rPr>
              <a:t>CHRISTMAS QUIZ  ·  ROUND TWO  ·  QUESTION 6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30224"/>
            <a:ext cx="7772400" cy="1341120"/>
          </a:xfrm>
          <a:prstGeom prst="roundRect">
            <a:avLst>
              <a:gd name="adj" fmla="val 6000"/>
            </a:avLst>
          </a:prstGeom>
          <a:solidFill>
            <a:srgbClr val="EE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030224"/>
            <a:ext cx="7772400" cy="54864"/>
          </a:xfrm>
          <a:prstGeom prst="rect">
            <a:avLst/>
          </a:prstGeom>
          <a:solidFill>
            <a:srgbClr val="B95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1399032"/>
            <a:ext cx="603504" cy="603504"/>
          </a:xfrm>
          <a:prstGeom prst="ellipse">
            <a:avLst/>
          </a:prstGeom>
          <a:solidFill>
            <a:srgbClr val="963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27048"/>
            <a:ext cx="6035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DF7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322832"/>
            <a:ext cx="6309360" cy="755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 i="0">
                <a:solidFill>
                  <a:srgbClr val="2F5A44"/>
                </a:solidFill>
                <a:latin typeface="Georgia"/>
              </a:rPr>
              <a:t>How many candles were on the first Advent wreath, in 1839?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99360"/>
            <a:ext cx="7772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40">
                <a:solidFill>
                  <a:srgbClr val="8B9179"/>
                </a:solidFill>
                <a:latin typeface="Calibri"/>
              </a:rPr>
              <a:t>ONE OF THESE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791968"/>
            <a:ext cx="24079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0392" y="3614928"/>
            <a:ext cx="2078736" cy="27432"/>
          </a:xfrm>
          <a:prstGeom prst="rect">
            <a:avLst/>
          </a:prstGeom>
          <a:solidFill>
            <a:srgbClr val="C6D5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0392" y="3038856"/>
            <a:ext cx="402336" cy="402336"/>
          </a:xfrm>
          <a:prstGeom prst="ellipse">
            <a:avLst/>
          </a:prstGeom>
          <a:solidFill>
            <a:srgbClr val="2F5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121152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DF7"/>
                </a:solidFill>
                <a:latin typeface="Calibri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62456" y="3116072"/>
            <a:ext cx="1584960" cy="2479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Calibri"/>
              </a:rP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8040" y="2791968"/>
            <a:ext cx="24079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32632" y="3614928"/>
            <a:ext cx="2078736" cy="27432"/>
          </a:xfrm>
          <a:prstGeom prst="rect">
            <a:avLst/>
          </a:prstGeom>
          <a:solidFill>
            <a:srgbClr val="C6D5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32631" y="3038856"/>
            <a:ext cx="402336" cy="402336"/>
          </a:xfrm>
          <a:prstGeom prst="ellipse">
            <a:avLst/>
          </a:prstGeom>
          <a:solidFill>
            <a:srgbClr val="2F5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32632" y="3121152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DF7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44695" y="3116072"/>
            <a:ext cx="1584960" cy="2479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Calibri"/>
              </a:rPr>
              <a:t>12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50280" y="2791968"/>
            <a:ext cx="24079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4871" y="3614928"/>
            <a:ext cx="2078736" cy="27432"/>
          </a:xfrm>
          <a:prstGeom prst="rect">
            <a:avLst/>
          </a:prstGeom>
          <a:solidFill>
            <a:srgbClr val="C6D5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14872" y="3038856"/>
            <a:ext cx="402336" cy="402336"/>
          </a:xfrm>
          <a:prstGeom prst="ellipse">
            <a:avLst/>
          </a:prstGeom>
          <a:solidFill>
            <a:srgbClr val="2F5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4871" y="3121152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DF7"/>
                </a:solidFill>
                <a:latin typeface="Calibri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6936" y="3116072"/>
            <a:ext cx="1584960" cy="2479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Calibri"/>
              </a:rPr>
              <a:t>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169663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5C6552"/>
                </a:solidFill>
                <a:latin typeface="Calibri"/>
              </a:rPr>
              <a:t>Agree it as a team, then tick it on the sheet.</a:t>
            </a:r>
          </a:p>
        </p:txBody>
      </p:sp>
      <p:pic>
        <p:nvPicPr>
          <p:cNvPr id="26" name="Picture 25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F5A44"/>
                </a:solidFill>
                <a:latin typeface="Calibri"/>
              </a:rPr>
              <a:t>CHRISTMAS QUIZ  ·  ROUND TWO  ·  QUESTION 7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841248"/>
            <a:ext cx="7772400" cy="1719072"/>
          </a:xfrm>
          <a:prstGeom prst="roundRect">
            <a:avLst>
              <a:gd name="adj" fmla="val 6000"/>
            </a:avLst>
          </a:prstGeom>
          <a:solidFill>
            <a:srgbClr val="EE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841248"/>
            <a:ext cx="7772400" cy="54864"/>
          </a:xfrm>
          <a:prstGeom prst="rect">
            <a:avLst/>
          </a:prstGeom>
          <a:solidFill>
            <a:srgbClr val="B95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1399032"/>
            <a:ext cx="603504" cy="603504"/>
          </a:xfrm>
          <a:prstGeom prst="ellipse">
            <a:avLst/>
          </a:prstGeom>
          <a:solidFill>
            <a:srgbClr val="963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27048"/>
            <a:ext cx="6035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DF7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133856"/>
            <a:ext cx="6309360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 i="0">
                <a:solidFill>
                  <a:srgbClr val="2F5A44"/>
                </a:solidFill>
                <a:latin typeface="Georgia"/>
              </a:rPr>
              <a:t>The oldest known record of Christmas on 25 December comes from which year?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88336"/>
            <a:ext cx="7772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40">
                <a:solidFill>
                  <a:srgbClr val="8B9179"/>
                </a:solidFill>
                <a:latin typeface="Calibri"/>
              </a:rPr>
              <a:t>ONE OF THESE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980944"/>
            <a:ext cx="24079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0392" y="3803904"/>
            <a:ext cx="2078736" cy="27432"/>
          </a:xfrm>
          <a:prstGeom prst="rect">
            <a:avLst/>
          </a:prstGeom>
          <a:solidFill>
            <a:srgbClr val="C6D5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0392" y="3227832"/>
            <a:ext cx="402336" cy="402336"/>
          </a:xfrm>
          <a:prstGeom prst="ellipse">
            <a:avLst/>
          </a:prstGeom>
          <a:solidFill>
            <a:srgbClr val="2F5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310128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DF7"/>
                </a:solidFill>
                <a:latin typeface="Calibri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62456" y="3305048"/>
            <a:ext cx="1584960" cy="2479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Calibri"/>
              </a:rPr>
              <a:t>AD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8040" y="2980944"/>
            <a:ext cx="24079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32632" y="3803904"/>
            <a:ext cx="2078736" cy="27432"/>
          </a:xfrm>
          <a:prstGeom prst="rect">
            <a:avLst/>
          </a:prstGeom>
          <a:solidFill>
            <a:srgbClr val="C6D5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32631" y="3227832"/>
            <a:ext cx="402336" cy="402336"/>
          </a:xfrm>
          <a:prstGeom prst="ellipse">
            <a:avLst/>
          </a:prstGeom>
          <a:solidFill>
            <a:srgbClr val="2F5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32632" y="3310128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DF7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44695" y="3305048"/>
            <a:ext cx="1584960" cy="2479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Calibri"/>
              </a:rPr>
              <a:t>AD 354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50280" y="2980944"/>
            <a:ext cx="24079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4871" y="3803904"/>
            <a:ext cx="2078736" cy="27432"/>
          </a:xfrm>
          <a:prstGeom prst="rect">
            <a:avLst/>
          </a:prstGeom>
          <a:solidFill>
            <a:srgbClr val="C6D5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14872" y="3227832"/>
            <a:ext cx="402336" cy="402336"/>
          </a:xfrm>
          <a:prstGeom prst="ellipse">
            <a:avLst/>
          </a:prstGeom>
          <a:solidFill>
            <a:srgbClr val="2F5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4871" y="3310128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DF7"/>
                </a:solidFill>
                <a:latin typeface="Calibri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6936" y="3305048"/>
            <a:ext cx="1584960" cy="2479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Calibri"/>
              </a:rPr>
              <a:t>AD 1066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169663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5C6552"/>
                </a:solidFill>
                <a:latin typeface="Calibri"/>
              </a:rPr>
              <a:t>Agree it as a team, then tick it on the sheet.</a:t>
            </a:r>
          </a:p>
        </p:txBody>
      </p:sp>
      <p:pic>
        <p:nvPicPr>
          <p:cNvPr id="26" name="Picture 25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10 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F5A44"/>
                </a:solidFill>
                <a:latin typeface="Calibri"/>
              </a:rPr>
              <a:t>CHRISTMAS QUIZ  ·  ROUND TWO  ·  QUESTION 8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905256"/>
            <a:ext cx="7772400" cy="1719072"/>
          </a:xfrm>
          <a:prstGeom prst="roundRect">
            <a:avLst>
              <a:gd name="adj" fmla="val 6000"/>
            </a:avLst>
          </a:prstGeom>
          <a:solidFill>
            <a:srgbClr val="EE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905256"/>
            <a:ext cx="7772400" cy="54864"/>
          </a:xfrm>
          <a:prstGeom prst="rect">
            <a:avLst/>
          </a:prstGeom>
          <a:solidFill>
            <a:srgbClr val="B95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1463040"/>
            <a:ext cx="603504" cy="603504"/>
          </a:xfrm>
          <a:prstGeom prst="ellipse">
            <a:avLst/>
          </a:prstGeom>
          <a:solidFill>
            <a:srgbClr val="963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91056"/>
            <a:ext cx="6035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DF7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197864"/>
            <a:ext cx="6309360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 i="0">
                <a:solidFill>
                  <a:srgbClr val="2F5A44"/>
                </a:solidFill>
                <a:latin typeface="Georgia"/>
              </a:rPr>
              <a:t>In 2023, which country moved its official Christmas Day from 7 January to 25 December?</a:t>
            </a:r>
          </a:p>
        </p:txBody>
      </p:sp>
      <p:sp>
        <p:nvSpPr>
          <p:cNvPr id="9" name="Rectangle 8"/>
          <p:cNvSpPr/>
          <p:nvPr/>
        </p:nvSpPr>
        <p:spPr>
          <a:xfrm>
            <a:off x="1965960" y="3557016"/>
            <a:ext cx="5212080" cy="27432"/>
          </a:xfrm>
          <a:prstGeom prst="rect">
            <a:avLst/>
          </a:prstGeom>
          <a:solidFill>
            <a:srgbClr val="B95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7033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8B9179"/>
                </a:solidFill>
                <a:latin typeface="Calibri"/>
              </a:rPr>
              <a:t>Agree it as a team, then write it on the sheet.</a:t>
            </a:r>
          </a:p>
        </p:txBody>
      </p:sp>
      <p:pic>
        <p:nvPicPr>
          <p:cNvPr id="11" name="Picture 10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11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F5A44"/>
                </a:solidFill>
                <a:latin typeface="Calibri"/>
              </a:rPr>
              <a:t>CHRISTMAS QUIZ  ·  ROUND TWO  ·  QUESTION 9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94232"/>
            <a:ext cx="7772400" cy="1341120"/>
          </a:xfrm>
          <a:prstGeom prst="roundRect">
            <a:avLst>
              <a:gd name="adj" fmla="val 6000"/>
            </a:avLst>
          </a:prstGeom>
          <a:solidFill>
            <a:srgbClr val="EE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094232"/>
            <a:ext cx="7772400" cy="54864"/>
          </a:xfrm>
          <a:prstGeom prst="rect">
            <a:avLst/>
          </a:prstGeom>
          <a:solidFill>
            <a:srgbClr val="B95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1463040"/>
            <a:ext cx="603504" cy="603504"/>
          </a:xfrm>
          <a:prstGeom prst="ellipse">
            <a:avLst/>
          </a:prstGeom>
          <a:solidFill>
            <a:srgbClr val="963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91056"/>
            <a:ext cx="6035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DF7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386840"/>
            <a:ext cx="6309360" cy="755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 i="0">
                <a:solidFill>
                  <a:srgbClr val="2F5A44"/>
                </a:solidFill>
                <a:latin typeface="Georgia"/>
              </a:rPr>
              <a:t>The French word “Noël” comes from a Latin word meaning what?</a:t>
            </a:r>
          </a:p>
        </p:txBody>
      </p:sp>
      <p:sp>
        <p:nvSpPr>
          <p:cNvPr id="9" name="Rectangle 8"/>
          <p:cNvSpPr/>
          <p:nvPr/>
        </p:nvSpPr>
        <p:spPr>
          <a:xfrm>
            <a:off x="1965960" y="3368040"/>
            <a:ext cx="5212080" cy="27432"/>
          </a:xfrm>
          <a:prstGeom prst="rect">
            <a:avLst/>
          </a:prstGeom>
          <a:solidFill>
            <a:srgbClr val="B95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51434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8B9179"/>
                </a:solidFill>
                <a:latin typeface="Calibri"/>
              </a:rPr>
              <a:t>Agree it as a team, then write it on the sheet.</a:t>
            </a:r>
          </a:p>
        </p:txBody>
      </p:sp>
      <p:pic>
        <p:nvPicPr>
          <p:cNvPr id="11" name="Picture 10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12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F5A44"/>
                </a:solidFill>
                <a:latin typeface="Calibri"/>
              </a:rPr>
              <a:t>CHRISTMAS QUIZ  ·  ROUND TWO  ·  QUESTION 10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905256"/>
            <a:ext cx="7772400" cy="1719072"/>
          </a:xfrm>
          <a:prstGeom prst="roundRect">
            <a:avLst>
              <a:gd name="adj" fmla="val 6000"/>
            </a:avLst>
          </a:prstGeom>
          <a:solidFill>
            <a:srgbClr val="EE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905256"/>
            <a:ext cx="7772400" cy="54864"/>
          </a:xfrm>
          <a:prstGeom prst="rect">
            <a:avLst/>
          </a:prstGeom>
          <a:solidFill>
            <a:srgbClr val="B95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1463040"/>
            <a:ext cx="603504" cy="603504"/>
          </a:xfrm>
          <a:prstGeom prst="ellipse">
            <a:avLst/>
          </a:prstGeom>
          <a:solidFill>
            <a:srgbClr val="963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91056"/>
            <a:ext cx="6035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DF7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197864"/>
            <a:ext cx="6309360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 i="0">
                <a:solidFill>
                  <a:srgbClr val="2F5A44"/>
                </a:solidFill>
                <a:latin typeface="Georgia"/>
              </a:rPr>
              <a:t>Many Orthodox churches celebrate Christmas on 7 January. Which calendar are they following?</a:t>
            </a:r>
          </a:p>
        </p:txBody>
      </p:sp>
      <p:sp>
        <p:nvSpPr>
          <p:cNvPr id="9" name="Rectangle 8"/>
          <p:cNvSpPr/>
          <p:nvPr/>
        </p:nvSpPr>
        <p:spPr>
          <a:xfrm>
            <a:off x="1965960" y="3557016"/>
            <a:ext cx="5212080" cy="27432"/>
          </a:xfrm>
          <a:prstGeom prst="rect">
            <a:avLst/>
          </a:prstGeom>
          <a:solidFill>
            <a:srgbClr val="B95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7033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8B9179"/>
                </a:solidFill>
                <a:latin typeface="Calibri"/>
              </a:rPr>
              <a:t>Agree it as a team, then write it on the sheet.</a:t>
            </a:r>
          </a:p>
        </p:txBody>
      </p:sp>
      <p:pic>
        <p:nvPicPr>
          <p:cNvPr id="11" name="Picture 10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13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F5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049462" y="914400"/>
            <a:ext cx="1045075" cy="237744"/>
          </a:xfrm>
          <a:prstGeom prst="roundRect">
            <a:avLst>
              <a:gd name="adj" fmla="val 50000"/>
            </a:avLst>
          </a:prstGeom>
          <a:solidFill>
            <a:srgbClr val="C6D5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2F5A44"/>
                </a:solidFill>
                <a:latin typeface="Calibri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8046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4000" b="0" i="0">
                <a:solidFill>
                  <a:srgbClr val="FFFDF7"/>
                </a:solidFill>
                <a:latin typeface="Georgia"/>
              </a:rPr>
              <a:t>Swap sheets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2487168"/>
            <a:ext cx="914400" cy="18288"/>
          </a:xfrm>
          <a:prstGeom prst="rect">
            <a:avLst/>
          </a:prstGeom>
          <a:solidFill>
            <a:srgbClr val="C6D5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724912"/>
            <a:ext cx="6583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C6D5CA"/>
                </a:solidFill>
                <a:latin typeface="Calibri"/>
              </a:rPr>
              <a:t>Swap with the team next to you. Give one mark for each right answer, then add up the score out of ten.</a:t>
            </a:r>
          </a:p>
        </p:txBody>
      </p:sp>
      <p:pic>
        <p:nvPicPr>
          <p:cNvPr id="7" name="Picture 6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C6D5CA"/>
                </a:solidFill>
                <a:latin typeface="Calibri"/>
              </a:rPr>
              <a:t>The Pastoral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C6D5CA"/>
                </a:solidFill>
                <a:latin typeface="Calibri"/>
              </a:rPr>
              <a:t>14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F5A44"/>
                </a:solidFill>
                <a:latin typeface="Calibri"/>
              </a:rPr>
              <a:t>CHRISTMAS QUIZ  ·  ANSWERS  ·  QUESTION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59078"/>
            <a:ext cx="77724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5C6552"/>
                </a:solidFill>
                <a:latin typeface="Calibri"/>
              </a:rPr>
              <a:t>Thanks to Oliver Cromwell, it is still illegal to eat a mince pie on Christmas Day in England.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86458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0" i="0">
                <a:solidFill>
                  <a:srgbClr val="2F5A44"/>
                </a:solidFill>
                <a:latin typeface="Georgia"/>
              </a:rPr>
              <a:t>Myth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72842"/>
            <a:ext cx="7772400" cy="1280160"/>
          </a:xfrm>
          <a:prstGeom prst="roundRect">
            <a:avLst>
              <a:gd name="adj" fmla="val 6000"/>
            </a:avLst>
          </a:prstGeom>
          <a:solidFill>
            <a:srgbClr val="EE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672842"/>
            <a:ext cx="64008" cy="1280160"/>
          </a:xfrm>
          <a:prstGeom prst="rect">
            <a:avLst/>
          </a:prstGeom>
          <a:solidFill>
            <a:srgbClr val="B95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910586"/>
            <a:ext cx="7040880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Calibri"/>
              </a:rPr>
              <a:t>Parliament banned Christmas celebrations in 1647, not Cromwell himself, and no law ever named mince pies. The bans ended when the monarchy returned in 1660.</a:t>
            </a:r>
          </a:p>
        </p:txBody>
      </p:sp>
      <p:pic>
        <p:nvPicPr>
          <p:cNvPr id="9" name="Picture 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15 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F5A44"/>
                </a:solidFill>
                <a:latin typeface="Calibri"/>
              </a:rPr>
              <a:t>CHRISTMAS QUIZ  ·  ANSWERS  ·  QUESTION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0203"/>
            <a:ext cx="7772400" cy="222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5C6552"/>
                </a:solidFill>
                <a:latin typeface="Calibri"/>
              </a:rPr>
              <a:t>Martin Luther invented the Christmas tree.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75333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0" i="0">
                <a:solidFill>
                  <a:srgbClr val="2F5A44"/>
                </a:solidFill>
                <a:latin typeface="Georgia"/>
              </a:rPr>
              <a:t>Myth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561717"/>
            <a:ext cx="7772400" cy="1280160"/>
          </a:xfrm>
          <a:prstGeom prst="roundRect">
            <a:avLst>
              <a:gd name="adj" fmla="val 6000"/>
            </a:avLst>
          </a:prstGeom>
          <a:solidFill>
            <a:srgbClr val="EE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561717"/>
            <a:ext cx="64008" cy="1280160"/>
          </a:xfrm>
          <a:prstGeom prst="rect">
            <a:avLst/>
          </a:prstGeom>
          <a:solidFill>
            <a:srgbClr val="B95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799461"/>
            <a:ext cx="7040880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Calibri"/>
              </a:rPr>
              <a:t>The Luther story is a later legend. One of the earliest reliable records is from Sélestat, in Alsace, in 1521, when the town paid guards to protect its fir trees.</a:t>
            </a:r>
          </a:p>
        </p:txBody>
      </p:sp>
      <p:pic>
        <p:nvPicPr>
          <p:cNvPr id="9" name="Picture 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16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F5A44"/>
                </a:solidFill>
                <a:latin typeface="Calibri"/>
              </a:rPr>
              <a:t>CHRISTMAS QUIZ  ·  ANSWERS  ·  QUESTION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0203"/>
            <a:ext cx="7772400" cy="222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5C6552"/>
                </a:solidFill>
                <a:latin typeface="Calibri"/>
              </a:rPr>
              <a:t>Armenian Christians in Jerusalem celebrate Christmas on 19 January.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75333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0" i="0">
                <a:solidFill>
                  <a:srgbClr val="2F5A44"/>
                </a:solidFill>
                <a:latin typeface="Georgia"/>
              </a:rPr>
              <a:t>Fact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561717"/>
            <a:ext cx="7772400" cy="1280160"/>
          </a:xfrm>
          <a:prstGeom prst="roundRect">
            <a:avLst>
              <a:gd name="adj" fmla="val 6000"/>
            </a:avLst>
          </a:prstGeom>
          <a:solidFill>
            <a:srgbClr val="EE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561717"/>
            <a:ext cx="64008" cy="1280160"/>
          </a:xfrm>
          <a:prstGeom prst="rect">
            <a:avLst/>
          </a:prstGeom>
          <a:solidFill>
            <a:srgbClr val="B95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799461"/>
            <a:ext cx="7040880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Calibri"/>
              </a:rPr>
              <a:t>The Armenian Church keeps Christmas on 6 January, and in Jerusalem it still follows the old Julian calendar. That moves the date to 19 January.</a:t>
            </a:r>
          </a:p>
        </p:txBody>
      </p:sp>
      <p:pic>
        <p:nvPicPr>
          <p:cNvPr id="9" name="Picture 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17 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F5A44"/>
                </a:solidFill>
                <a:latin typeface="Calibri"/>
              </a:rPr>
              <a:t>CHRISTMAS QUIZ  ·  ANSWERS  ·  QUESTION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93190"/>
            <a:ext cx="77724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5C6552"/>
                </a:solidFill>
                <a:latin typeface="Calibri"/>
              </a:rPr>
              <a:t>The first Christmas card, printed in 1843, caused a row because it showed a child drinking wine.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20570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0" i="0">
                <a:solidFill>
                  <a:srgbClr val="2F5A44"/>
                </a:solidFill>
                <a:latin typeface="Georgia"/>
              </a:rPr>
              <a:t>Fact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806954"/>
            <a:ext cx="7772400" cy="1011936"/>
          </a:xfrm>
          <a:prstGeom prst="roundRect">
            <a:avLst>
              <a:gd name="adj" fmla="val 6000"/>
            </a:avLst>
          </a:prstGeom>
          <a:solidFill>
            <a:srgbClr val="EE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806954"/>
            <a:ext cx="64008" cy="1011936"/>
          </a:xfrm>
          <a:prstGeom prst="rect">
            <a:avLst/>
          </a:prstGeom>
          <a:solidFill>
            <a:srgbClr val="B95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044698"/>
            <a:ext cx="7040880" cy="536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Calibri"/>
              </a:rPr>
              <a:t>Henry Cole had 1,000 printed and sold them for a shilling each. Campaigners against alcohol objected to the picture.</a:t>
            </a:r>
          </a:p>
        </p:txBody>
      </p:sp>
      <p:pic>
        <p:nvPicPr>
          <p:cNvPr id="9" name="Picture 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18 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F5A44"/>
                </a:solidFill>
                <a:latin typeface="Calibri"/>
              </a:rPr>
              <a:t>CHRISTMAS QUIZ  ·  ANSWERS  ·  QUESTION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59078"/>
            <a:ext cx="77724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5C6552"/>
                </a:solidFill>
                <a:latin typeface="Calibri"/>
              </a:rPr>
              <a:t>An economist found that people value the presents they get at less than they cost. Roughly how much of the value is lost?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86458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0" i="0">
                <a:solidFill>
                  <a:srgbClr val="2F5A44"/>
                </a:solidFill>
                <a:latin typeface="Georgia"/>
              </a:rPr>
              <a:t>B.  A tenth to a third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72842"/>
            <a:ext cx="7772400" cy="1280160"/>
          </a:xfrm>
          <a:prstGeom prst="roundRect">
            <a:avLst>
              <a:gd name="adj" fmla="val 6000"/>
            </a:avLst>
          </a:prstGeom>
          <a:solidFill>
            <a:srgbClr val="EE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672842"/>
            <a:ext cx="64008" cy="1280160"/>
          </a:xfrm>
          <a:prstGeom prst="rect">
            <a:avLst/>
          </a:prstGeom>
          <a:solidFill>
            <a:srgbClr val="B95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910586"/>
            <a:ext cx="7040880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Calibri"/>
              </a:rPr>
              <a:t>Joel Waldfogel called it the deadweight loss of Christmas, in a study from 1993. Cash avoids the loss, because nobody values it at less than it is worth.</a:t>
            </a:r>
          </a:p>
        </p:txBody>
      </p:sp>
      <p:pic>
        <p:nvPicPr>
          <p:cNvPr id="9" name="Picture 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19 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F5A44"/>
                </a:solidFill>
                <a:latin typeface="Calibri"/>
              </a:rPr>
              <a:t>CHRISTMAS QUIZ  ·  ANSWERS  ·  QUESTION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0203"/>
            <a:ext cx="7772400" cy="222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5C6552"/>
                </a:solidFill>
                <a:latin typeface="Calibri"/>
              </a:rPr>
              <a:t>How many candles were on the first Advent wreath, in 1839?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75333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0" i="0">
                <a:solidFill>
                  <a:srgbClr val="2F5A44"/>
                </a:solidFill>
                <a:latin typeface="Georgia"/>
              </a:rPr>
              <a:t>C.  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561717"/>
            <a:ext cx="7772400" cy="1280160"/>
          </a:xfrm>
          <a:prstGeom prst="roundRect">
            <a:avLst>
              <a:gd name="adj" fmla="val 6000"/>
            </a:avLst>
          </a:prstGeom>
          <a:solidFill>
            <a:srgbClr val="EE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561717"/>
            <a:ext cx="64008" cy="1280160"/>
          </a:xfrm>
          <a:prstGeom prst="rect">
            <a:avLst/>
          </a:prstGeom>
          <a:solidFill>
            <a:srgbClr val="B95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799461"/>
            <a:ext cx="7040880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Calibri"/>
              </a:rPr>
              <a:t>A pastor in Hamburg put 24 small and 4 large candles on a cartwheel, because the children at his school kept asking how long it was until Christmas.</a:t>
            </a:r>
          </a:p>
        </p:txBody>
      </p:sp>
      <p:pic>
        <p:nvPicPr>
          <p:cNvPr id="9" name="Picture 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20 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F5A44"/>
                </a:solidFill>
                <a:latin typeface="Calibri"/>
              </a:rPr>
              <a:t>CHRISTMAS QUIZ  ·  ANSWERS  ·  QUESTION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4315"/>
            <a:ext cx="7772400" cy="222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5C6552"/>
                </a:solidFill>
                <a:latin typeface="Calibri"/>
              </a:rPr>
              <a:t>The oldest known record of Christmas on 25 December comes from which year?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09445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0" i="0">
                <a:solidFill>
                  <a:srgbClr val="2F5A44"/>
                </a:solidFill>
                <a:latin typeface="Georgia"/>
              </a:rPr>
              <a:t>B.  AD 354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95829"/>
            <a:ext cx="7772400" cy="1011936"/>
          </a:xfrm>
          <a:prstGeom prst="roundRect">
            <a:avLst>
              <a:gd name="adj" fmla="val 6000"/>
            </a:avLst>
          </a:prstGeom>
          <a:solidFill>
            <a:srgbClr val="EE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695829"/>
            <a:ext cx="64008" cy="1011936"/>
          </a:xfrm>
          <a:prstGeom prst="rect">
            <a:avLst/>
          </a:prstGeom>
          <a:solidFill>
            <a:srgbClr val="B95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933573"/>
            <a:ext cx="7040880" cy="536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Calibri"/>
              </a:rPr>
              <a:t>It is in a Roman calendar called the Chronograph of 354. Nobody knows the actual date Jesus was born.</a:t>
            </a:r>
          </a:p>
        </p:txBody>
      </p:sp>
      <p:pic>
        <p:nvPicPr>
          <p:cNvPr id="9" name="Picture 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21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F5A44"/>
                </a:solidFill>
                <a:latin typeface="Calibri"/>
              </a:rPr>
              <a:t>CHRISTMAS QUIZ  ·  ANSWERS  ·  QUESTION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93190"/>
            <a:ext cx="77724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5C6552"/>
                </a:solidFill>
                <a:latin typeface="Calibri"/>
              </a:rPr>
              <a:t>In 2023, which country moved its official Christmas Day from 7 January to 25 December?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20570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0" i="0">
                <a:solidFill>
                  <a:srgbClr val="2F5A44"/>
                </a:solidFill>
                <a:latin typeface="Georgia"/>
              </a:rPr>
              <a:t>Ukraine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806954"/>
            <a:ext cx="7772400" cy="1011936"/>
          </a:xfrm>
          <a:prstGeom prst="roundRect">
            <a:avLst>
              <a:gd name="adj" fmla="val 6000"/>
            </a:avLst>
          </a:prstGeom>
          <a:solidFill>
            <a:srgbClr val="EE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806954"/>
            <a:ext cx="64008" cy="1011936"/>
          </a:xfrm>
          <a:prstGeom prst="rect">
            <a:avLst/>
          </a:prstGeom>
          <a:solidFill>
            <a:srgbClr val="B95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044698"/>
            <a:ext cx="7040880" cy="536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Calibri"/>
              </a:rPr>
              <a:t>The law was signed in July 2023. The government said it was to move away from the Russian tradition.</a:t>
            </a:r>
          </a:p>
        </p:txBody>
      </p:sp>
      <p:pic>
        <p:nvPicPr>
          <p:cNvPr id="9" name="Picture 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22 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F5A44"/>
                </a:solidFill>
                <a:latin typeface="Calibri"/>
              </a:rPr>
              <a:t>CHRISTMAS QUIZ  ·  ANSWERS  ·  QUESTION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4315"/>
            <a:ext cx="7772400" cy="222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5C6552"/>
                </a:solidFill>
                <a:latin typeface="Calibri"/>
              </a:rPr>
              <a:t>The French word “Noël” comes from a Latin word meaning what?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09445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0" i="0">
                <a:solidFill>
                  <a:srgbClr val="2F5A44"/>
                </a:solidFill>
                <a:latin typeface="Georgia"/>
              </a:rPr>
              <a:t>Birth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95829"/>
            <a:ext cx="7772400" cy="1011936"/>
          </a:xfrm>
          <a:prstGeom prst="roundRect">
            <a:avLst>
              <a:gd name="adj" fmla="val 6000"/>
            </a:avLst>
          </a:prstGeom>
          <a:solidFill>
            <a:srgbClr val="EE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695829"/>
            <a:ext cx="64008" cy="1011936"/>
          </a:xfrm>
          <a:prstGeom prst="rect">
            <a:avLst/>
          </a:prstGeom>
          <a:solidFill>
            <a:srgbClr val="B95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933573"/>
            <a:ext cx="7040880" cy="536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Calibri"/>
              </a:rPr>
              <a:t>The Latin word is “natalis”. It shares a root with English words like “natal” and “native”.</a:t>
            </a:r>
          </a:p>
        </p:txBody>
      </p:sp>
      <p:pic>
        <p:nvPicPr>
          <p:cNvPr id="9" name="Picture 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23 /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F5A44"/>
                </a:solidFill>
                <a:latin typeface="Calibri"/>
              </a:rPr>
              <a:t>CHRISTMAS QUIZ  ·  ANSWERS  ·  QUESTION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59078"/>
            <a:ext cx="77724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5C6552"/>
                </a:solidFill>
                <a:latin typeface="Calibri"/>
              </a:rPr>
              <a:t>Many Orthodox churches celebrate Christmas on 7 January. Which calendar are they following?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86458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0" i="0">
                <a:solidFill>
                  <a:srgbClr val="2F5A44"/>
                </a:solidFill>
                <a:latin typeface="Georgia"/>
              </a:rPr>
              <a:t>The Julian calendar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72842"/>
            <a:ext cx="7772400" cy="1280160"/>
          </a:xfrm>
          <a:prstGeom prst="roundRect">
            <a:avLst>
              <a:gd name="adj" fmla="val 6000"/>
            </a:avLst>
          </a:prstGeom>
          <a:solidFill>
            <a:srgbClr val="EE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672842"/>
            <a:ext cx="64008" cy="1280160"/>
          </a:xfrm>
          <a:prstGeom prst="rect">
            <a:avLst/>
          </a:prstGeom>
          <a:solidFill>
            <a:srgbClr val="B95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910586"/>
            <a:ext cx="7040880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Calibri"/>
              </a:rPr>
              <a:t>On the Julian calendar, 7 January is still 25 December. It is 13 days behind the calendar most of the world uses now, and the gap grows to 14 days in 2100.</a:t>
            </a:r>
          </a:p>
        </p:txBody>
      </p:sp>
      <p:pic>
        <p:nvPicPr>
          <p:cNvPr id="9" name="Picture 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24 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F5A44"/>
                </a:solidFill>
                <a:latin typeface="Calibri"/>
              </a:rPr>
              <a:t>THE FORM TIME QUIZ  ·  CHRISTMAS EDITION</a:t>
            </a:r>
          </a:p>
        </p:txBody>
      </p:sp>
      <p:pic>
        <p:nvPicPr>
          <p:cNvPr id="4" name="Picture 3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5251" y="822960"/>
            <a:ext cx="633496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755648"/>
            <a:ext cx="8046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2F5A44"/>
                </a:solidFill>
                <a:latin typeface="Georgia"/>
              </a:rPr>
              <a:t>Scores back to their owners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560320"/>
            <a:ext cx="6766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5C6552"/>
                </a:solidFill>
                <a:latin typeface="Calibri"/>
              </a:rPr>
              <a:t>Hands up if you got ten. Then hands up if one of the answers surprised you, and tell us which.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39312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8B9179"/>
                </a:solidFill>
                <a:latin typeface="Calibri"/>
              </a:rPr>
              <a:t>More free quizzes and form time activities at thepastoralguide.com.</a:t>
            </a:r>
          </a:p>
        </p:txBody>
      </p:sp>
      <p:pic>
        <p:nvPicPr>
          <p:cNvPr id="8" name="Picture 7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25 /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29184"/>
            <a:ext cx="3129423" cy="237744"/>
          </a:xfrm>
          <a:prstGeom prst="roundRect">
            <a:avLst>
              <a:gd name="adj" fmla="val 50000"/>
            </a:avLst>
          </a:prstGeom>
          <a:solidFill>
            <a:srgbClr val="F8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963A36"/>
                </a:solidFill>
                <a:latin typeface="Calibri"/>
              </a:rPr>
              <a:t>FOR THE TEACHER  ·  ADD YOUR OWN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841248"/>
            <a:ext cx="7772400" cy="1188720"/>
          </a:xfrm>
          <a:prstGeom prst="roundRect">
            <a:avLst>
              <a:gd name="adj" fmla="val 6000"/>
            </a:avLst>
          </a:prstGeom>
          <a:solidFill>
            <a:srgbClr val="EE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841248"/>
            <a:ext cx="7772400" cy="54864"/>
          </a:xfrm>
          <a:prstGeom prst="rect">
            <a:avLst/>
          </a:prstGeom>
          <a:solidFill>
            <a:srgbClr val="B95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1133856"/>
            <a:ext cx="603504" cy="603504"/>
          </a:xfrm>
          <a:prstGeom prst="ellipse">
            <a:avLst/>
          </a:prstGeom>
          <a:solidFill>
            <a:srgbClr val="963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261872"/>
            <a:ext cx="6035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DF7"/>
                </a:solidFill>
                <a:latin typeface="Calibri"/>
              </a:rP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246632"/>
            <a:ext cx="6309360" cy="377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 i="0">
                <a:solidFill>
                  <a:srgbClr val="2F5A44"/>
                </a:solidFill>
                <a:latin typeface="Georgia"/>
              </a:rPr>
              <a:t>[ Type your own question here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32304"/>
            <a:ext cx="7772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5C6552"/>
                </a:solidFill>
                <a:latin typeface="Calibri"/>
              </a:rPr>
              <a:t>Add your own questions here: something from assembly, a date coming up, or a question about your own school.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 i="0">
                <a:solidFill>
                  <a:srgbClr val="5C6552"/>
                </a:solidFill>
                <a:latin typeface="Calibri"/>
              </a:rPr>
              <a:t>Duplicate this slide for each one and drag it in after question 10. There are two spare rows on the answer sheet for them.</a:t>
            </a:r>
          </a:p>
        </p:txBody>
      </p:sp>
      <p:pic>
        <p:nvPicPr>
          <p:cNvPr id="10" name="Picture 9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26 /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29184"/>
            <a:ext cx="3129423" cy="237744"/>
          </a:xfrm>
          <a:prstGeom prst="roundRect">
            <a:avLst>
              <a:gd name="adj" fmla="val 50000"/>
            </a:avLst>
          </a:prstGeom>
          <a:solidFill>
            <a:srgbClr val="F8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963A36"/>
                </a:solidFill>
                <a:latin typeface="Calibri"/>
              </a:rPr>
              <a:t>FOR THE TEACHER  ·  ADD YOUR 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5C6552"/>
                </a:solidFill>
                <a:latin typeface="Calibri"/>
              </a:rPr>
              <a:t>[ Your question again, so the room remembers it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25296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0" i="0">
                <a:solidFill>
                  <a:srgbClr val="2F5A44"/>
                </a:solidFill>
                <a:latin typeface="Georgia"/>
              </a:rPr>
              <a:t>[ The answer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11680"/>
            <a:ext cx="7772400" cy="932688"/>
          </a:xfrm>
          <a:prstGeom prst="roundRect">
            <a:avLst>
              <a:gd name="adj" fmla="val 6000"/>
            </a:avLst>
          </a:prstGeom>
          <a:solidFill>
            <a:srgbClr val="EE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011680"/>
            <a:ext cx="64008" cy="932688"/>
          </a:xfrm>
          <a:prstGeom prst="rect">
            <a:avLst/>
          </a:prstGeom>
          <a:solidFill>
            <a:srgbClr val="B95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49424"/>
            <a:ext cx="7040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Calibri"/>
              </a:rPr>
              <a:t>[ One line on why, if there is something worth knowing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18688"/>
            <a:ext cx="7772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5C6552"/>
                </a:solidFill>
                <a:latin typeface="Calibri"/>
              </a:rPr>
              <a:t>Duplicate this slide for each of your own questions and drag it in after the answer to question 10.</a:t>
            </a:r>
          </a:p>
        </p:txBody>
      </p:sp>
      <p:pic>
        <p:nvPicPr>
          <p:cNvPr id="10" name="Picture 9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27 / 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