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03504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55648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3A3320"/>
                </a:solidFill>
                <a:latin typeface="Georgia"/>
              </a:rPr>
              <a:t>Motivation Comes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68833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950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4A4028"/>
                </a:solidFill>
                <a:latin typeface="Calibri"/>
              </a:rPr>
              <a:t>You do not start because you feel like it. You feel like it because you started.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1246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Calibri"/>
              </a:rPr>
              <a:t>A procrastination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8A6512"/>
                </a:solidFill>
                <a:latin typeface="Calibri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3F3826"/>
                </a:solidFill>
                <a:latin typeface="Georgia"/>
              </a:rPr>
              <a:t>Six things,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A time you felt motivated, and what set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530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Every trigger the room named had already happened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609344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2784" y="1783080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18653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184708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267712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Action comes first. Motivation follows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Shrink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Cut one task down until it is too small to avoid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7530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530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966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273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Five minutes, in silence,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962656"/>
            <a:ext cx="2487168" cy="115214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2784" y="3136392"/>
            <a:ext cx="457200" cy="45720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2784" y="321868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4" y="320040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Weigh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621024"/>
            <a:ext cx="2048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 i="0">
                <a:solidFill>
                  <a:srgbClr val="706750"/>
                </a:solidFill>
                <a:latin typeface="Calibri"/>
              </a:rPr>
              <a:t>Busy is not the same as moving forward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8A6512"/>
                </a:solidFill>
                <a:latin typeface="Calibri"/>
              </a:rPr>
              <a:t>Nothing written down in this lesson is collected, read out or marked.</a:t>
            </a:r>
          </a:p>
        </p:txBody>
      </p:sp>
      <p:pic>
        <p:nvPicPr>
          <p:cNvPr id="38" name="Picture 3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START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3800" b="0" i="0">
                <a:solidFill>
                  <a:srgbClr val="3A3320"/>
                </a:solidFill>
                <a:latin typeface="Georgia"/>
              </a:rPr>
              <a:t>When did you last really</a:t>
            </a:r>
            <a:br/>
            <a:r>
              <a:rPr sz="3800" b="0" i="0">
                <a:solidFill>
                  <a:srgbClr val="3A3320"/>
                </a:solidFill>
                <a:latin typeface="Georgia"/>
              </a:rPr>
              <a:t>want to do something?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4A4028"/>
                </a:solidFill>
                <a:latin typeface="Calibri"/>
              </a:rPr>
              <a:t>Anything at all. It does not have to be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17520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081527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What was it,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3529584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593591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What were you doing in the hour before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041648"/>
            <a:ext cx="603504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105656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What set it off?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THIRD QUESTION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What set it off?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Say them out loud. Every one goes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121408"/>
            <a:ext cx="6400800" cy="138988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39572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87" b="0" i="0">
                <a:solidFill>
                  <a:srgbClr val="8A6512"/>
                </a:solidFill>
                <a:latin typeface="Georgia"/>
              </a:rPr>
              <a:t>There are no wrong answers here,</a:t>
            </a:r>
            <a:br/>
            <a:r>
              <a:rPr sz="1787" b="0" i="0">
                <a:solidFill>
                  <a:srgbClr val="8A6512"/>
                </a:solidFill>
                <a:latin typeface="Georgia"/>
              </a:rPr>
              <a:t>and we need a lot of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706750"/>
                </a:solidFill>
                <a:latin typeface="Calibri"/>
              </a:rPr>
              <a:t>Nothing on the board gets judged. We are looking for a pattern.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NOW LOOK AT THE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0" i="0">
                <a:solidFill>
                  <a:srgbClr val="3F3826"/>
                </a:solidFill>
                <a:latin typeface="Georgia"/>
              </a:rPr>
              <a:t>What have they got in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Most classes end up with some of these.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A deadline got close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9752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4344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Somebody else started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13704" y="2011680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8295" y="2139696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A mark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I had already done a bit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9752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4344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Something finally worked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3704" y="2944368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295" y="3072384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F3826"/>
                </a:solidFill>
                <a:latin typeface="Georgia"/>
              </a:rPr>
              <a:t>Someone needed me 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A6512"/>
                </a:solidFill>
                <a:latin typeface="Calibri"/>
              </a:rPr>
              <a:t>Every single one had already happened before the motivation arrived.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WHICH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200" b="0" i="0">
                <a:solidFill>
                  <a:srgbClr val="3A3320"/>
                </a:solidFill>
                <a:latin typeface="Georgia"/>
              </a:rPr>
              <a:t>Nobody said: “I was sitting doing</a:t>
            </a:r>
            <a:br/>
            <a:r>
              <a:rPr sz="3200" b="0" i="0">
                <a:solidFill>
                  <a:srgbClr val="3A3320"/>
                </a:solidFill>
                <a:latin typeface="Georgia"/>
              </a:rPr>
              <a:t>nothing, and it turned up.”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552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600" b="0" i="1">
                <a:solidFill>
                  <a:srgbClr val="4A4028"/>
                </a:solidFill>
                <a:latin typeface="Calibri"/>
              </a:rPr>
              <a:t>It turns up after you have started, not before.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THE THING ALMOST EVERYONE HAS BACKWARDS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Which way round is 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3911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17904" y="179222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Calibri"/>
              </a:rPr>
              <a:t>HOW YOU THINK IT 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17904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1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Feel like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2194560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121408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21945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Keep going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ubble_t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429000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17904" y="31821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30">
                <a:solidFill>
                  <a:srgbClr val="8A6512"/>
                </a:solidFill>
                <a:latin typeface="Calibri"/>
              </a:rPr>
              <a:t>HOW IT ACTUALLY WORKS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7904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7631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22191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Something moves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35844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511296"/>
            <a:ext cx="1975104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3584448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3F3826"/>
                </a:solidFill>
                <a:latin typeface="Georgia"/>
              </a:rPr>
              <a:t>Feel like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A6512"/>
                </a:solidFill>
                <a:latin typeface="Calibri"/>
              </a:rPr>
              <a:t>You are waiting at the wrong end of the arrow.</a:t>
            </a:r>
          </a:p>
        </p:txBody>
      </p:sp>
      <p:pic>
        <p:nvPicPr>
          <p:cNvPr id="30" name="Picture 29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NOBODY IS MARKING THIS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A3320"/>
                </a:solidFill>
                <a:latin typeface="Georgia"/>
              </a:rPr>
              <a:t>You already know this feeling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792224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74519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Calibri"/>
              </a:rPr>
              <a:t>You have been about to start for two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487168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69463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Calibri"/>
              </a:rPr>
              <a:t>You are not even enjoying not doing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64408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Calibri"/>
              </a:rPr>
              <a:t>The thing you are avoiding would take about eleven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A3320"/>
                </a:solidFill>
                <a:latin typeface="Calibri"/>
              </a:rPr>
              <a:t>Avoiding something is nearly always more work than doing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WATCH ME DO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Shrink it until it is silly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Keep cutting the task in half out loud until nobody in the room could refuse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F3826"/>
                </a:solidFill>
                <a:latin typeface="Georgia"/>
              </a:rPr>
              <a:t>Revise for the geography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02996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Calibri"/>
              </a:rPr>
              <a:t>Too big. You will not start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88336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F3826"/>
                </a:solidFill>
                <a:latin typeface="Georgia"/>
              </a:rPr>
              <a:t>Do one page of 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688336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Calibri"/>
              </a:rPr>
              <a:t>Still big enough to put 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5526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46704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F3826"/>
                </a:solidFill>
                <a:latin typeface="Georgia"/>
              </a:rPr>
              <a:t>Read one page of the booklet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4670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Calibri"/>
              </a:rPr>
              <a:t>Getting there.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1363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005072"/>
            <a:ext cx="4114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Georgia"/>
              </a:rPr>
              <a:t>Open the booklet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00507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706750"/>
                </a:solidFill>
                <a:latin typeface="Calibri"/>
              </a:rPr>
              <a:t>This one you will actually do.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NOW THE ROOM DOES THREE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Shrink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What is the smallest first move? It has to be doable sitting where you 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2121408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94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3969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3F3826"/>
                </a:solidFill>
                <a:latin typeface="Georgia"/>
              </a:rPr>
              <a:t>Tidy my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96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→         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9806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907792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809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926080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3F3826"/>
                </a:solidFill>
                <a:latin typeface="Georgia"/>
              </a:rPr>
              <a:t>Get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2608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→         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8444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694175"/>
            <a:ext cx="420624" cy="42062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76732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37124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3F3826"/>
                </a:solidFill>
                <a:latin typeface="Georgia"/>
              </a:rPr>
              <a:t>Reply to the message from Tuesday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12463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→         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Calibri"/>
              </a:rPr>
              <a:t>If it takes longer than two minutes to start, it is still too big.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YOUR TURN, ON THE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0" i="0">
                <a:solidFill>
                  <a:srgbClr val="3F3826"/>
                </a:solidFill>
                <a:latin typeface="Georgia"/>
              </a:rPr>
              <a:t>Three things you are avoiding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One for school, one at home, one that is only for you. Nobody reads this.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31720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8A6512"/>
                </a:solidFill>
                <a:latin typeface="Georgia"/>
              </a:rPr>
              <a:t>One from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2331720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8A6512"/>
                </a:solidFill>
                <a:latin typeface="Georgia"/>
              </a:rPr>
              <a:t>One from 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2066543"/>
            <a:ext cx="2432304" cy="12984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58584" y="2203704"/>
            <a:ext cx="566928" cy="566928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331720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2200" y="2926080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250" b="0" i="0">
                <a:solidFill>
                  <a:srgbClr val="8A6512"/>
                </a:solidFill>
                <a:latin typeface="Georgia"/>
              </a:rPr>
              <a:t>One just for you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844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675887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Calibri"/>
              </a:rPr>
              <a:t>Then score each one out of ten: how much do you want to do it right now?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THE 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0" i="0">
                <a:solidFill>
                  <a:srgbClr val="3A3320"/>
                </a:solidFill>
                <a:latin typeface="Georgia"/>
              </a:rPr>
              <a:t>Five minutes. Starting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956816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029968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Take the one you scored lowest.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78608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651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Shrink it to something you can do at this desk.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0040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2735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8A6512"/>
                </a:solidFill>
                <a:latin typeface="Calibri"/>
              </a:rPr>
              <a:t>No talking. Just the five minutes.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STOP. GO BACK TO YOUR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Score it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Same question. How much do you want to carry on with it, right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Went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Hands up. Usually most of the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9752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2632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Stayed the 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2632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Also useful. What stopped it moving?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3704" y="2011680"/>
            <a:ext cx="2444496" cy="13167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6584" y="2231136"/>
            <a:ext cx="20787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8A6512"/>
                </a:solidFill>
                <a:latin typeface="Georgia"/>
              </a:rPr>
              <a:t>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6584" y="2688336"/>
            <a:ext cx="2078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The most interesting one in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844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Calibri"/>
              </a:rPr>
              <a:t>Count the hands and put the numbers on the board.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6849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1">
                <a:solidFill>
                  <a:srgbClr val="706750"/>
                </a:solidFill>
                <a:latin typeface="Calibri"/>
              </a:rPr>
              <a:t>That is your evidence, not mine. Five minutes ago, most of you did not want to start what you have just been doing.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WHY THAT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3F3826"/>
                </a:solidFill>
                <a:latin typeface="Georgia"/>
              </a:rPr>
              <a:t>Starting is the expensive 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810512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" y="1924812"/>
            <a:ext cx="28346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00784" y="1783080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0" i="0">
                <a:solidFill>
                  <a:srgbClr val="8A6512"/>
                </a:solidFill>
                <a:latin typeface="Georgia"/>
              </a:rPr>
              <a:t>The first move costs the most.</a:t>
            </a:r>
            <a:br/>
            <a:r>
              <a:rPr sz="1450" b="0" i="0">
                <a:solidFill>
                  <a:srgbClr val="8A6512"/>
                </a:solidFill>
                <a:latin typeface="Georgia"/>
              </a:rPr>
              <a:t>Everything after it is cheaper.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743200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857500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2715768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50" b="0" i="0">
                <a:solidFill>
                  <a:srgbClr val="8A6512"/>
                </a:solidFill>
                <a:latin typeface="Georgia"/>
              </a:rPr>
              <a:t>Half-done things nag at you.</a:t>
            </a:r>
            <a:br/>
            <a:r>
              <a:rPr sz="1450" b="0" i="0">
                <a:solidFill>
                  <a:srgbClr val="8A6512"/>
                </a:solidFill>
                <a:latin typeface="Georgia"/>
              </a:rPr>
              <a:t>Finished ones go quiet.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7772400" cy="8046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3675888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" y="3790188"/>
            <a:ext cx="283464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00784" y="3648456"/>
            <a:ext cx="6400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63" b="0" i="0">
                <a:solidFill>
                  <a:srgbClr val="8A6512"/>
                </a:solidFill>
                <a:latin typeface="Georgia"/>
              </a:rPr>
              <a:t>Five minutes in, it stops being scary</a:t>
            </a:r>
            <a:br>
              <a:rPr sz="1450" b="0" i="0">
                <a:solidFill>
                  <a:srgbClr val="8A6512"/>
                </a:solidFill>
                <a:latin typeface="Georgia"/>
              </a:rPr>
            </a:br>
            <a:r>
              <a:rPr sz="1363" b="0" i="0">
                <a:solidFill>
                  <a:srgbClr val="8A6512"/>
                </a:solidFill>
                <a:latin typeface="Georgia"/>
              </a:rPr>
              <a:t>and starts being something you can measure.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Calibri"/>
              </a:rPr>
              <a:t>Psychologists call it behavioural activation. Action first, feeling second.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TALK ABOUT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3A3320"/>
                </a:solidFill>
                <a:latin typeface="Georgia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956815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2082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47672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Whose score went down, and what does that tell you about the task?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96896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706623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97479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If starting is the hard bit, why do we keep waiting to feel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346704"/>
            <a:ext cx="7040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0160" y="3456432"/>
            <a:ext cx="402336" cy="402336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447288"/>
            <a:ext cx="59436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300" b="0" i="0">
                <a:solidFill>
                  <a:srgbClr val="8A6512"/>
                </a:solidFill>
                <a:latin typeface="Calibri"/>
              </a:rPr>
              <a:t>Is there anything on your list that you should just cross off instead?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61104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4A4028"/>
                </a:solidFill>
                <a:latin typeface="Calibri"/>
              </a:rPr>
              <a:t>The third question matters most. Not everything on a list deserves to be there.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THERE IS A SAYING ABOUT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“Busy people stay busy”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06750"/>
                </a:solidFill>
                <a:latin typeface="Calibri"/>
              </a:rPr>
              <a:t>It is half right, and the wrong half does harm.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8860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82012"/>
            <a:ext cx="28346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Calibri"/>
              </a:rPr>
              <a:t>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Georgia"/>
              </a:rPr>
              <a:t>Momentum is real.</a:t>
            </a:r>
            <a:br/>
            <a:r>
              <a:rPr sz="1400" b="0" i="0">
                <a:solidFill>
                  <a:srgbClr val="8A6512"/>
                </a:solidFill>
                <a:latin typeface="Georgia"/>
              </a:rPr>
              <a:t>You just proved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084831"/>
            <a:ext cx="3758184" cy="181051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E0A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23076" y="2267711"/>
            <a:ext cx="512064" cy="512064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82012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82896" y="2926080"/>
            <a:ext cx="3392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706750"/>
                </a:solidFill>
                <a:latin typeface="Calibri"/>
              </a:rPr>
              <a:t>NOT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36976"/>
            <a:ext cx="32826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Georgia"/>
              </a:rPr>
              <a:t>That being busy is the point.</a:t>
            </a:r>
            <a:br/>
            <a:r>
              <a:rPr sz="1400" b="0" i="0">
                <a:solidFill>
                  <a:srgbClr val="8A6512"/>
                </a:solidFill>
                <a:latin typeface="Georgia"/>
              </a:rPr>
              <a:t>A full day can hold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A6512"/>
                </a:solidFill>
                <a:latin typeface="Calibri"/>
              </a:rPr>
              <a:t>What the saying really means is started, not busy.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SORT THE CARDS ON YOUR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F3826"/>
                </a:solidFill>
                <a:latin typeface="Georgia"/>
              </a:rPr>
              <a:t>Three piles, not two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2048255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8A6512"/>
                </a:solidFill>
                <a:latin typeface="Georgia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It moved the thing forward, even slightly.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48255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8A6512"/>
                </a:solidFill>
                <a:latin typeface="Georgia"/>
              </a:rP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It felt like work and moved nothing. Be honest.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82496"/>
            <a:ext cx="2432304" cy="213969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22008" y="1911095"/>
            <a:ext cx="640080" cy="640080"/>
          </a:xfrm>
          <a:prstGeom prst="ellipse">
            <a:avLst/>
          </a:prstGeom>
          <a:solidFill>
            <a:srgbClr val="8A6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48255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2200" y="2761488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8A6512"/>
                </a:solidFill>
                <a:latin typeface="Georgia"/>
              </a:rPr>
              <a:t>Real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200400"/>
            <a:ext cx="19933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706750"/>
                </a:solidFill>
                <a:latin typeface="Calibri"/>
              </a:rPr>
              <a:t>Chosen on purpose, and it put something 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Calibri"/>
              </a:rPr>
              <a:t>Rest is not the opposite of action. Avoidance is, and it is the pile in the middle.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8A6512"/>
                </a:solidFill>
                <a:latin typeface="Calibri"/>
              </a:rPr>
              <a:t>ON THE SLIP, THEN KEEP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3F3826"/>
                </a:solidFill>
                <a:latin typeface="Georgia"/>
              </a:rPr>
              <a:t>One thing. One first move.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06750"/>
                </a:solidFill>
                <a:latin typeface="Calibri"/>
              </a:rPr>
              <a:t>This one is yours. It is not collected and nobody is going to ask you about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75104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665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Georgia"/>
              </a:rPr>
              <a:t>The 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66544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Calibri"/>
              </a:rPr>
              <a:t>The one you have been avoiding longest.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AF1DE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81635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Georgia"/>
              </a:rPr>
              <a:t>The first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16352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Calibri"/>
              </a:rPr>
              <a:t>Small enough that you cannot talk yourself out of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F3D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56616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8A6512"/>
                </a:solidFill>
                <a:latin typeface="Georgia"/>
              </a:rPr>
              <a:t>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66160"/>
            <a:ext cx="4846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706750"/>
                </a:solidFill>
                <a:latin typeface="Calibri"/>
              </a:rPr>
              <a:t>A time today or tomorrow. Not “soon”.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8A6512"/>
                </a:solidFill>
                <a:latin typeface="Calibri"/>
              </a:rPr>
              <a:t>Put it somewhere you will see it before the time you have written down.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29A80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29A8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4A4028"/>
                </a:solidFill>
                <a:latin typeface="Calibri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0" i="0">
                <a:solidFill>
                  <a:srgbClr val="3A3320"/>
                </a:solidFill>
                <a:latin typeface="Georgia"/>
              </a:rPr>
              <a:t>You are not going to feel like it.</a:t>
            </a:r>
            <a:br/>
            <a:r>
              <a:rPr sz="3400" b="0" i="0">
                <a:solidFill>
                  <a:srgbClr val="3A3320"/>
                </a:solidFill>
                <a:latin typeface="Georgia"/>
              </a:rPr>
              <a:t>Start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4A4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4A4028"/>
                </a:solidFill>
                <a:latin typeface="Calibri"/>
              </a:rPr>
              <a:t>Nobody feels like it first.</a:t>
            </a:r>
            <a:br/>
            <a:r>
              <a:rPr sz="1450" b="0" i="1">
                <a:solidFill>
                  <a:srgbClr val="4A4028"/>
                </a:solidFill>
                <a:latin typeface="Calibri"/>
              </a:rPr>
              <a:t>The wanting to turns up afterwards, once you have moved.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0" i="0">
                <a:solidFill>
                  <a:srgbClr val="3A3320"/>
                </a:solidFill>
                <a:latin typeface="Georgia"/>
              </a:rPr>
              <a:t>Go and do the five-minute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4A4028"/>
                </a:solidFill>
                <a:latin typeface="Calibri"/>
              </a:rPr>
              <a:t>Not the whole thing. Nobody does the whole thing first.</a:t>
            </a:r>
            <a:br/>
            <a:r>
              <a:rPr sz="1300" b="0" i="0">
                <a:solidFill>
                  <a:srgbClr val="4A4028"/>
                </a:solidFill>
                <a:latin typeface="Calibri"/>
              </a:rPr>
              <a:t>Just the bit that gets you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4A4028"/>
                </a:solidFill>
                <a:latin typeface="Calibri"/>
              </a:rPr>
              <a:t>Motivation Comes Second  ·  A procrastination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4A4028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4A4028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Motivation Comes Second: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