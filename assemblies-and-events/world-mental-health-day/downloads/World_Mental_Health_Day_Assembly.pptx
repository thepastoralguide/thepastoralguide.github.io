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146" y="640080"/>
            <a:ext cx="807707" cy="9326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810512"/>
            <a:ext cx="8046720" cy="7533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400" b="0" i="0">
                <a:solidFill>
                  <a:srgbClr val="2C6D5B"/>
                </a:solidFill>
                <a:latin typeface="Georgia"/>
              </a:rPr>
              <a:t>World Mental Health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069080" y="2816352"/>
            <a:ext cx="1005840" cy="18288"/>
          </a:xfrm>
          <a:prstGeom prst="rect">
            <a:avLst/>
          </a:prstGeom>
          <a:solidFill>
            <a:srgbClr val="68B1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800" b="0" i="0">
                <a:solidFill>
                  <a:srgbClr val="677974"/>
                </a:solidFill>
                <a:latin typeface="Calibri"/>
              </a:rPr>
              <a:t>An Assembly, a Week and a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47872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1AFAC"/>
                </a:solidFill>
                <a:latin typeface="Calibri"/>
              </a:rPr>
              <a:t>[ DATE ]</a:t>
            </a:r>
          </a:p>
        </p:txBody>
      </p:sp>
      <p:pic>
        <p:nvPicPr>
          <p:cNvPr id="8" name="Picture 7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1AFAC"/>
                </a:solidFill>
                <a:latin typeface="Calibri"/>
              </a:rPr>
              <a:t>The Pastoral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1AFAC"/>
                </a:solidFill>
                <a:latin typeface="Calibri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30352"/>
            <a:ext cx="2269682" cy="237744"/>
          </a:xfrm>
          <a:prstGeom prst="roundRect">
            <a:avLst>
              <a:gd name="adj" fmla="val 50000"/>
            </a:avLst>
          </a:prstGeom>
          <a:solidFill>
            <a:srgbClr val="EC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2C6D5B"/>
                </a:solidFill>
                <a:latin typeface="Calibri"/>
              </a:rPr>
              <a:t>TEACHER SLIDE  ·  SKIP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7772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3C4945"/>
                </a:solidFill>
                <a:latin typeface="Georgia"/>
              </a:rPr>
              <a:t>Two ways to run the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17904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77974"/>
                </a:solidFill>
                <a:latin typeface="Calibri"/>
              </a:rPr>
              <a:t>Pick one before the assembly. Everything else in this deck is the same whichever you choose.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20240"/>
            <a:ext cx="7772400" cy="65836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048255"/>
            <a:ext cx="402336" cy="402336"/>
          </a:xfrm>
          <a:prstGeom prst="ellipse">
            <a:avLst/>
          </a:prstGeom>
          <a:solidFill>
            <a:srgbClr val="2C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44268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020824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2C6D5B"/>
                </a:solidFill>
                <a:latin typeface="Georgia"/>
              </a:rPr>
              <a:t>Option one: Five Ways to Wellbeing. Show slides 6 and 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267712"/>
            <a:ext cx="6821424" cy="237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77974"/>
                </a:solidFill>
                <a:latin typeface="Calibri"/>
              </a:rPr>
              <a:t>A different activity every lunchtime. More to organise, and it gets more students involved.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88336"/>
            <a:ext cx="7772400" cy="65836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816351"/>
            <a:ext cx="402336" cy="402336"/>
          </a:xfrm>
          <a:prstGeom prst="ellipse">
            <a:avLst/>
          </a:prstGeom>
          <a:solidFill>
            <a:srgbClr val="2C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12363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788920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2C6D5B"/>
                </a:solidFill>
                <a:latin typeface="Georgia"/>
              </a:rPr>
              <a:t>Option two: the Wall of Words. Show slides 8 and 9.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035808"/>
            <a:ext cx="6821424" cy="237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77974"/>
                </a:solidFill>
                <a:latin typeface="Calibri"/>
              </a:rPr>
              <a:t>One wall that fills up all week. Hardly anything to set up, and it stays up after Friday.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456432"/>
            <a:ext cx="7772400" cy="65836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584448"/>
            <a:ext cx="402336" cy="402336"/>
          </a:xfrm>
          <a:prstGeom prst="ellipse">
            <a:avLst/>
          </a:prstGeom>
          <a:solidFill>
            <a:srgbClr val="2C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680460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557016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2C6D5B"/>
                </a:solidFill>
                <a:latin typeface="Georgia"/>
              </a:rPr>
              <a:t>Both, if you have the staff for it. Show all four.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803904"/>
            <a:ext cx="6821424" cy="237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77974"/>
                </a:solidFill>
                <a:latin typeface="Calibri"/>
              </a:rPr>
              <a:t>The wall goes up on Monday morning and the five lunchtimes run alongside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261104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677974"/>
                </a:solidFill>
                <a:latin typeface="Calibri"/>
              </a:rPr>
              <a:t>Hide the slides you are not using, and fill in everything in square brackets before you start.</a:t>
            </a:r>
          </a:p>
        </p:txBody>
      </p:sp>
      <p:pic>
        <p:nvPicPr>
          <p:cNvPr id="22" name="Picture 21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1AFAC"/>
                </a:solidFill>
                <a:latin typeface="Calibri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1AFAC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89888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2800" b="0" i="0">
                <a:solidFill>
                  <a:srgbClr val="FFFDF7"/>
                </a:solidFill>
                <a:latin typeface="Georgia"/>
              </a:rPr>
              <a:t>Most people here have had a week</a:t>
            </a:r>
          </a:p>
          <a:p>
            <a:pPr algn="ctr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2800" b="0" i="0">
                <a:solidFill>
                  <a:srgbClr val="FFFDF7"/>
                </a:solidFill>
                <a:latin typeface="Georgia"/>
              </a:rPr>
              <a:t>they never told anybody about.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108960"/>
            <a:ext cx="914400" cy="18288"/>
          </a:xfrm>
          <a:prstGeom prst="rect">
            <a:avLst/>
          </a:prstGeom>
          <a:solidFill>
            <a:srgbClr val="BE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346704"/>
            <a:ext cx="6400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BEDAD3"/>
                </a:solidFill>
                <a:latin typeface="Calibri"/>
              </a:rPr>
              <a:t>Nothing dramatic. You were fine in lessons and less fine at home, and it was easier not to say anything about it.</a:t>
            </a:r>
          </a:p>
        </p:txBody>
      </p:sp>
      <p:pic>
        <p:nvPicPr>
          <p:cNvPr id="6" name="Picture 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BEDAD3"/>
                </a:solidFill>
                <a:latin typeface="Calibri"/>
              </a:rPr>
              <a:t>The Pastoral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BEDAD3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2C6D5B"/>
                </a:solidFill>
                <a:latin typeface="Calibri"/>
              </a:rPr>
              <a:t>WHAT THE DAY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59536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3C4945"/>
                </a:solidFill>
                <a:latin typeface="Georgia"/>
              </a:rPr>
              <a:t>World Mental Health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26464"/>
            <a:ext cx="77724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77974"/>
                </a:solidFill>
                <a:latin typeface="Calibri"/>
              </a:rPr>
              <a:t>The tenth of October, every year, in about a hundred and fifty countries. This year it falls on a Saturday, so we are marking it today and then all of next week.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084831"/>
            <a:ext cx="7772400" cy="1389888"/>
          </a:xfrm>
          <a:prstGeom prst="rect">
            <a:avLst/>
          </a:prstGeom>
          <a:solidFill>
            <a:srgbClr val="EC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04288"/>
            <a:ext cx="7132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200" b="0" i="0">
                <a:solidFill>
                  <a:srgbClr val="2C6D5B"/>
                </a:solidFill>
                <a:latin typeface="Georgia"/>
              </a:rPr>
              <a:t>“Lived experiences heard:</a:t>
            </a:r>
            <a:br>
              <a:rPr lang="en-GB"/>
            </a:br>
            <a:r>
              <a:rPr sz="2200" b="0" i="0">
                <a:solidFill>
                  <a:srgbClr val="2C6D5B"/>
                </a:solidFill>
                <a:latin typeface="Georgia"/>
              </a:rPr>
              <a:t>real voices, real change.”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12724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327B68"/>
                </a:solidFill>
                <a:latin typeface="Calibri"/>
              </a:rPr>
              <a:t>This year’s theme, set by the World Federation for Mental Health.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22191"/>
            <a:ext cx="7772400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677974"/>
                </a:solidFill>
                <a:latin typeface="Calibri"/>
              </a:rPr>
              <a:t>It means listening to people properly, instead of trying to fix them or handing them advice they did not ask for.</a:t>
            </a:r>
          </a:p>
        </p:txBody>
      </p:sp>
      <p:pic>
        <p:nvPicPr>
          <p:cNvPr id="10" name="Picture 9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1AFAC"/>
                </a:solidFill>
                <a:latin typeface="Calibri"/>
              </a:rPr>
              <a:t>The Pastoral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1AFAC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2C6D5B"/>
                </a:solidFill>
                <a:latin typeface="Calibri"/>
              </a:rPr>
              <a:t>WHAT LISTENING ACTUALLY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59536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3C4945"/>
                </a:solidFill>
                <a:latin typeface="Georgia"/>
              </a:rPr>
              <a:t>What helps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37360"/>
            <a:ext cx="2395728" cy="210312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1883664"/>
            <a:ext cx="658368" cy="658368"/>
          </a:xfrm>
          <a:prstGeom prst="ellipse">
            <a:avLst/>
          </a:prstGeom>
          <a:solidFill>
            <a:srgbClr val="2C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020824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3816" y="2651760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C6D5B"/>
                </a:solidFill>
                <a:latin typeface="Georgia"/>
              </a:rPr>
              <a:t>Notice out 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145536"/>
            <a:ext cx="2066544" cy="5852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677974"/>
                </a:solidFill>
                <a:latin typeface="Calibri"/>
              </a:rPr>
              <a:t>“You have been quiet this week” gets a real answer. “You alright?” gets “yeah”.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74136" y="1737360"/>
            <a:ext cx="2395728" cy="210312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42816" y="1883664"/>
            <a:ext cx="658368" cy="658368"/>
          </a:xfrm>
          <a:prstGeom prst="ellipse">
            <a:avLst/>
          </a:prstGeom>
          <a:solidFill>
            <a:srgbClr val="2C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sktw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2020824"/>
            <a:ext cx="384048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02152" y="2651760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C6D5B"/>
                </a:solidFill>
                <a:latin typeface="Georgia"/>
              </a:rPr>
              <a:t>Ask twice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3145536"/>
            <a:ext cx="2066544" cy="5852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677974"/>
                </a:solidFill>
                <a:latin typeface="Calibri"/>
              </a:rPr>
              <a:t>The first answer is nearly always “I’m fine”. Ask again, and ask it differently.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2472" y="1737360"/>
            <a:ext cx="2395728" cy="210312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31151" y="1883664"/>
            <a:ext cx="658368" cy="658368"/>
          </a:xfrm>
          <a:prstGeom prst="ellipse">
            <a:avLst/>
          </a:prstGeom>
          <a:solidFill>
            <a:srgbClr val="2C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2020824"/>
            <a:ext cx="384048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90488" y="2651760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C6D5B"/>
                </a:solidFill>
                <a:latin typeface="Georgia"/>
              </a:rPr>
              <a:t>Listen without fixing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3145536"/>
            <a:ext cx="2066544" cy="5852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677974"/>
                </a:solidFill>
                <a:latin typeface="Calibri"/>
              </a:rPr>
              <a:t>You do not have to solve anything. Most people just want somebody to hear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041648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677974"/>
                </a:solidFill>
                <a:latin typeface="Calibri"/>
              </a:rPr>
              <a:t>None of that needs training. It just needs one person to go first.</a:t>
            </a:r>
          </a:p>
        </p:txBody>
      </p:sp>
      <p:pic>
        <p:nvPicPr>
          <p:cNvPr id="21" name="Picture 20" descr="logo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1AFAC"/>
                </a:solidFill>
                <a:latin typeface="Calibri"/>
              </a:rPr>
              <a:t>The Pastoral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1AFAC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30352"/>
            <a:ext cx="1242752" cy="237744"/>
          </a:xfrm>
          <a:prstGeom prst="roundRect">
            <a:avLst>
              <a:gd name="adj" fmla="val 50000"/>
            </a:avLst>
          </a:prstGeom>
          <a:solidFill>
            <a:srgbClr val="EC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2C6D5B"/>
                </a:solidFill>
                <a:latin typeface="Calibri"/>
              </a:rPr>
              <a:t>OPTION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7772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3C4945"/>
                </a:solidFill>
                <a:latin typeface="Georgia"/>
              </a:rPr>
              <a:t>Next week, day by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27632"/>
            <a:ext cx="1364284" cy="23957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13642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 spc="140">
                <a:solidFill>
                  <a:srgbClr val="327B68"/>
                </a:solidFill>
                <a:latin typeface="Calibri"/>
              </a:rPr>
              <a:t>MONDAY</a:t>
            </a:r>
          </a:p>
        </p:txBody>
      </p:sp>
      <p:sp>
        <p:nvSpPr>
          <p:cNvPr id="7" name="Oval 6"/>
          <p:cNvSpPr/>
          <p:nvPr/>
        </p:nvSpPr>
        <p:spPr>
          <a:xfrm>
            <a:off x="956462" y="2203704"/>
            <a:ext cx="822960" cy="822960"/>
          </a:xfrm>
          <a:prstGeom prst="ellipse">
            <a:avLst/>
          </a:prstGeom>
          <a:solidFill>
            <a:srgbClr val="2C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98" y="2377440"/>
            <a:ext cx="475488" cy="4754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3816" y="3182112"/>
            <a:ext cx="110825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C6D5B"/>
                </a:solidFill>
                <a:latin typeface="Georgia"/>
              </a:rPr>
              <a:t>Tea and Talk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7828" y="1627632"/>
            <a:ext cx="1364284" cy="23957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7828" y="1847088"/>
            <a:ext cx="13642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 spc="140">
                <a:solidFill>
                  <a:srgbClr val="327B68"/>
                </a:solidFill>
                <a:latin typeface="Calibri"/>
              </a:rPr>
              <a:t>TUESDAY</a:t>
            </a:r>
          </a:p>
        </p:txBody>
      </p:sp>
      <p:sp>
        <p:nvSpPr>
          <p:cNvPr id="12" name="Oval 11"/>
          <p:cNvSpPr/>
          <p:nvPr/>
        </p:nvSpPr>
        <p:spPr>
          <a:xfrm>
            <a:off x="2558491" y="2203704"/>
            <a:ext cx="822960" cy="822960"/>
          </a:xfrm>
          <a:prstGeom prst="ellipse">
            <a:avLst/>
          </a:prstGeom>
          <a:solidFill>
            <a:srgbClr val="2C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2227" y="2377440"/>
            <a:ext cx="475488" cy="4754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415844" y="3182112"/>
            <a:ext cx="110825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C6D5B"/>
                </a:solidFill>
                <a:latin typeface="Georgia"/>
              </a:rPr>
              <a:t>Laps at Lunch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9857" y="1627632"/>
            <a:ext cx="1364284" cy="23957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9857" y="1847088"/>
            <a:ext cx="13642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 spc="140">
                <a:solidFill>
                  <a:srgbClr val="327B68"/>
                </a:solidFill>
                <a:latin typeface="Calibri"/>
              </a:rPr>
              <a:t>WEDNESDAY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2203704"/>
            <a:ext cx="822960" cy="822960"/>
          </a:xfrm>
          <a:prstGeom prst="ellipse">
            <a:avLst/>
          </a:prstGeom>
          <a:solidFill>
            <a:srgbClr val="2C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jigsa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256" y="2377440"/>
            <a:ext cx="475488" cy="47548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017873" y="3182112"/>
            <a:ext cx="110825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C6D5B"/>
                </a:solidFill>
                <a:latin typeface="Georgia"/>
              </a:rPr>
              <a:t>The Quiet Room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91886" y="1627632"/>
            <a:ext cx="1364284" cy="23957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91886" y="1847088"/>
            <a:ext cx="13642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 spc="140">
                <a:solidFill>
                  <a:srgbClr val="327B68"/>
                </a:solidFill>
                <a:latin typeface="Calibri"/>
              </a:rPr>
              <a:t>THURSDAY</a:t>
            </a:r>
          </a:p>
        </p:txBody>
      </p:sp>
      <p:sp>
        <p:nvSpPr>
          <p:cNvPr id="22" name="Oval 21"/>
          <p:cNvSpPr/>
          <p:nvPr/>
        </p:nvSpPr>
        <p:spPr>
          <a:xfrm>
            <a:off x="5762548" y="2203704"/>
            <a:ext cx="822960" cy="822960"/>
          </a:xfrm>
          <a:prstGeom prst="ellipse">
            <a:avLst/>
          </a:prstGeom>
          <a:solidFill>
            <a:srgbClr val="2C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askbubb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6284" y="2377440"/>
            <a:ext cx="475488" cy="47548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19902" y="3182112"/>
            <a:ext cx="110825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C6D5B"/>
                </a:solidFill>
                <a:latin typeface="Georgia"/>
              </a:rPr>
              <a:t>Ask Me Anything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93915" y="1627632"/>
            <a:ext cx="1364284" cy="23957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93915" y="1847088"/>
            <a:ext cx="13642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 spc="140">
                <a:solidFill>
                  <a:srgbClr val="327B68"/>
                </a:solidFill>
                <a:latin typeface="Calibri"/>
              </a:rPr>
              <a:t>FRIDAY</a:t>
            </a:r>
          </a:p>
        </p:txBody>
      </p:sp>
      <p:sp>
        <p:nvSpPr>
          <p:cNvPr id="27" name="Oval 26"/>
          <p:cNvSpPr/>
          <p:nvPr/>
        </p:nvSpPr>
        <p:spPr>
          <a:xfrm>
            <a:off x="7364577" y="2203704"/>
            <a:ext cx="822960" cy="822960"/>
          </a:xfrm>
          <a:prstGeom prst="ellipse">
            <a:avLst/>
          </a:prstGeom>
          <a:solidFill>
            <a:srgbClr val="2C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ribb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8313" y="2377440"/>
            <a:ext cx="475488" cy="47548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221931" y="3182112"/>
            <a:ext cx="110825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C6D5B"/>
                </a:solidFill>
                <a:latin typeface="Georgia"/>
              </a:rPr>
              <a:t>Green Ribbons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224528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677974"/>
                </a:solidFill>
                <a:latin typeface="Calibri"/>
              </a:rPr>
              <a:t>One every lunchtime, all next week. Come to all five, come to one, or just walk past and look.</a:t>
            </a:r>
          </a:p>
        </p:txBody>
      </p:sp>
      <p:pic>
        <p:nvPicPr>
          <p:cNvPr id="31" name="Picture 30" descr="logo-m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1AFAC"/>
                </a:solidFill>
                <a:latin typeface="Calibri"/>
              </a:rPr>
              <a:t>The Pastoral Guide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1AFAC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30352"/>
            <a:ext cx="1242752" cy="237744"/>
          </a:xfrm>
          <a:prstGeom prst="roundRect">
            <a:avLst>
              <a:gd name="adj" fmla="val 50000"/>
            </a:avLst>
          </a:prstGeom>
          <a:solidFill>
            <a:srgbClr val="EC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2C6D5B"/>
                </a:solidFill>
                <a:latin typeface="Calibri"/>
              </a:rPr>
              <a:t>OPTION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7772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3C4945"/>
                </a:solidFill>
                <a:latin typeface="Georgia"/>
              </a:rPr>
              <a:t>Where to find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83664"/>
            <a:ext cx="7772400" cy="694944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029967"/>
            <a:ext cx="402336" cy="402336"/>
          </a:xfrm>
          <a:prstGeom prst="ellipse">
            <a:avLst/>
          </a:prstGeom>
          <a:solidFill>
            <a:srgbClr val="2C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25979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84248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2C6D5B"/>
                </a:solidFill>
                <a:latin typeface="Georgia"/>
              </a:rPr>
              <a:t>[ PLACE ], every lunchtime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31136"/>
            <a:ext cx="6821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77974"/>
                </a:solidFill>
                <a:latin typeface="Calibri"/>
              </a:rPr>
              <a:t>The same room all week, so you only have to remember it once.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706624"/>
            <a:ext cx="7772400" cy="694944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852927"/>
            <a:ext cx="402336" cy="402336"/>
          </a:xfrm>
          <a:prstGeom prst="ellipse">
            <a:avLst/>
          </a:prstGeom>
          <a:solidFill>
            <a:srgbClr val="2C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48939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807208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2C6D5B"/>
                </a:solidFill>
                <a:latin typeface="Georgia"/>
              </a:rPr>
              <a:t>Run by [ WHO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054096"/>
            <a:ext cx="6821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77974"/>
                </a:solidFill>
                <a:latin typeface="Calibri"/>
              </a:rPr>
              <a:t>Ask any of them if you would rather help run one than just turn up.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529584"/>
            <a:ext cx="7772400" cy="694944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3675888"/>
            <a:ext cx="402336" cy="402336"/>
          </a:xfrm>
          <a:prstGeom prst="ellipse">
            <a:avLst/>
          </a:prstGeom>
          <a:solidFill>
            <a:srgbClr val="2C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771900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630168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2C6D5B"/>
                </a:solidFill>
                <a:latin typeface="Georgia"/>
              </a:rPr>
              <a:t>The question box opens on Monday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877056"/>
            <a:ext cx="6821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77974"/>
                </a:solidFill>
                <a:latin typeface="Calibri"/>
              </a:rPr>
              <a:t>Write a question, put it in the box, and the answers go up on a board on Thursday.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61104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677974"/>
                </a:solidFill>
                <a:latin typeface="Calibri"/>
              </a:rPr>
              <a:t>You do not have to sign in and you do not have to stay.</a:t>
            </a:r>
          </a:p>
        </p:txBody>
      </p:sp>
      <p:pic>
        <p:nvPicPr>
          <p:cNvPr id="21" name="Picture 20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1AFAC"/>
                </a:solidFill>
                <a:latin typeface="Calibri"/>
              </a:rPr>
              <a:t>The Pastoral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1AFAC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30352"/>
            <a:ext cx="1274800" cy="237744"/>
          </a:xfrm>
          <a:prstGeom prst="roundRect">
            <a:avLst>
              <a:gd name="adj" fmla="val 50000"/>
            </a:avLst>
          </a:prstGeom>
          <a:solidFill>
            <a:srgbClr val="EC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2C6D5B"/>
                </a:solidFill>
                <a:latin typeface="Calibri"/>
              </a:rPr>
              <a:t>OPTION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3C4945"/>
                </a:solidFill>
                <a:latin typeface="Georgia"/>
              </a:rPr>
              <a:t>The Wall of Words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00784"/>
            <a:ext cx="4892040" cy="23957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75104"/>
            <a:ext cx="42062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2C6D5B"/>
                </a:solidFill>
                <a:latin typeface="Calibri"/>
              </a:rPr>
              <a:t>What is happening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32304"/>
            <a:ext cx="422452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3C4945"/>
                </a:solidFill>
                <a:latin typeface="Calibri"/>
              </a:rPr>
              <a:t>There will be a blank wall in [ PLACE ] all next week, with cards and pens next to it. Write the thing you would want somebody to say to you on a bad day, and pin it up. You do not put your name on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09928"/>
            <a:ext cx="1371600" cy="1371600"/>
          </a:xfrm>
          <a:prstGeom prst="rect">
            <a:avLst/>
          </a:prstGeom>
          <a:solidFill>
            <a:srgbClr val="2C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inn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3" y="1993392"/>
            <a:ext cx="804672" cy="80467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870448" y="3401568"/>
            <a:ext cx="2615184" cy="694944"/>
          </a:xfrm>
          <a:prstGeom prst="rect">
            <a:avLst/>
          </a:prstGeom>
          <a:solidFill>
            <a:srgbClr val="EC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3511296"/>
            <a:ext cx="22860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C6D5B"/>
                </a:solidFill>
                <a:latin typeface="Calibri"/>
              </a:rPr>
              <a:t>[ PLACE ]</a:t>
            </a:r>
            <a:br>
              <a:rPr lang="en-GB"/>
            </a:br>
            <a:r>
              <a:rPr sz="1150" b="0" i="0">
                <a:solidFill>
                  <a:srgbClr val="2C6D5B"/>
                </a:solidFill>
                <a:latin typeface="Calibri"/>
              </a:rPr>
              <a:t>Every break and lunchtime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133087"/>
            <a:ext cx="7772400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677974"/>
                </a:solidFill>
                <a:latin typeface="Calibri"/>
              </a:rPr>
              <a:t>By Friday it should be covered. Staff read what goes up, so write something you would be happy for anybody here to read.</a:t>
            </a:r>
          </a:p>
        </p:txBody>
      </p:sp>
      <p:pic>
        <p:nvPicPr>
          <p:cNvPr id="13" name="Picture 12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1AFAC"/>
                </a:solidFill>
                <a:latin typeface="Calibri"/>
              </a:rPr>
              <a:t>The Pastoral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1AFAC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30352"/>
            <a:ext cx="1274800" cy="237744"/>
          </a:xfrm>
          <a:prstGeom prst="roundRect">
            <a:avLst>
              <a:gd name="adj" fmla="val 50000"/>
            </a:avLst>
          </a:prstGeom>
          <a:solidFill>
            <a:srgbClr val="EC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2C6D5B"/>
                </a:solidFill>
                <a:latin typeface="Calibri"/>
              </a:rPr>
              <a:t>OPTION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7772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3C4945"/>
                </a:solidFill>
                <a:latin typeface="Georgia"/>
              </a:rPr>
              <a:t>What to write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47088"/>
            <a:ext cx="7772400" cy="694944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47672"/>
            <a:ext cx="727862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2C6D5B"/>
                </a:solidFill>
                <a:latin typeface="Georgia"/>
              </a:rPr>
              <a:t>“You are not being dramatic.”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72786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77974"/>
                </a:solidFill>
                <a:latin typeface="Calibri"/>
              </a:rPr>
              <a:t>Somebody in this year group needed to hear that this week.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688336"/>
            <a:ext cx="7772400" cy="694944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788920"/>
            <a:ext cx="727862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2C6D5B"/>
                </a:solidFill>
                <a:latin typeface="Georgia"/>
              </a:rPr>
              <a:t>“I am not going anywhere.”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35808"/>
            <a:ext cx="72786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77974"/>
                </a:solidFill>
                <a:latin typeface="Calibri"/>
              </a:rPr>
              <a:t>Short, and people remember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529584"/>
            <a:ext cx="7772400" cy="694944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630168"/>
            <a:ext cx="727862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2C6D5B"/>
                </a:solidFill>
                <a:latin typeface="Georgia"/>
              </a:rPr>
              <a:t>“Tell me properly. I have got time.”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877056"/>
            <a:ext cx="72786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77974"/>
                </a:solidFill>
                <a:latin typeface="Calibri"/>
              </a:rPr>
              <a:t>Hard to answer with “I’m fine”.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61104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677974"/>
                </a:solidFill>
                <a:latin typeface="Calibri"/>
              </a:rPr>
              <a:t>Somebody is going to read yours on a bad day, so write it properly.</a:t>
            </a:r>
          </a:p>
        </p:txBody>
      </p:sp>
      <p:pic>
        <p:nvPicPr>
          <p:cNvPr id="15" name="Picture 14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1AFAC"/>
                </a:solidFill>
                <a:latin typeface="Calibri"/>
              </a:rPr>
              <a:t>The Pastoral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1AFAC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2C6D5B"/>
                </a:solidFill>
                <a:latin typeface="Calibri"/>
              </a:rPr>
              <a:t>ONE MORE 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59536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3C4945"/>
                </a:solidFill>
                <a:latin typeface="Georgia"/>
              </a:rPr>
              <a:t>If this week is about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77974"/>
                </a:solidFill>
                <a:latin typeface="Calibri"/>
              </a:rPr>
              <a:t>You do not need a reason ready, and you do not have to know what to call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20240"/>
            <a:ext cx="2395728" cy="1883664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54480" y="2066544"/>
            <a:ext cx="658368" cy="658368"/>
          </a:xfrm>
          <a:prstGeom prst="ellipse">
            <a:avLst/>
          </a:prstGeom>
          <a:solidFill>
            <a:srgbClr val="2C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203704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3816" y="2834640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C6D5B"/>
                </a:solidFill>
                <a:latin typeface="Georgia"/>
              </a:rPr>
              <a:t>Your form tutor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328416"/>
            <a:ext cx="206654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677974"/>
                </a:solidFill>
                <a:latin typeface="Calibri"/>
              </a:rPr>
              <a:t>Any morning, before anything else starts.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74136" y="1920240"/>
            <a:ext cx="2395728" cy="1883664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42816" y="2066544"/>
            <a:ext cx="658368" cy="658368"/>
          </a:xfrm>
          <a:prstGeom prst="ellipse">
            <a:avLst/>
          </a:prstGeom>
          <a:solidFill>
            <a:srgbClr val="2C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wopeo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2203704"/>
            <a:ext cx="384048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02152" y="2834640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C6D5B"/>
                </a:solidFill>
                <a:latin typeface="Georgia"/>
              </a:rPr>
              <a:t>[ NAMED STAFF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3328416"/>
            <a:ext cx="206654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677974"/>
                </a:solidFill>
                <a:latin typeface="Calibri"/>
              </a:rPr>
              <a:t>Ask at reception and they will find them for you.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2472" y="1920240"/>
            <a:ext cx="2395728" cy="1883664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31151" y="2066544"/>
            <a:ext cx="658368" cy="658368"/>
          </a:xfrm>
          <a:prstGeom prst="ellipse">
            <a:avLst/>
          </a:prstGeom>
          <a:solidFill>
            <a:srgbClr val="2C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2203704"/>
            <a:ext cx="384048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190488" y="2834640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C6D5B"/>
                </a:solidFill>
                <a:latin typeface="Georgia"/>
              </a:rPr>
              <a:t>[ REPORTING ROUTE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7064" y="3328416"/>
            <a:ext cx="206654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677974"/>
                </a:solidFill>
                <a:latin typeface="Calibri"/>
              </a:rPr>
              <a:t>If you would rather not say it out loud.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059936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1" i="1">
                <a:solidFill>
                  <a:srgbClr val="2C6D5B"/>
                </a:solidFill>
                <a:latin typeface="Calibri"/>
              </a:rPr>
              <a:t>We will always tell you what happens next. You will not be marched into anything.</a:t>
            </a:r>
          </a:p>
        </p:txBody>
      </p:sp>
      <p:pic>
        <p:nvPicPr>
          <p:cNvPr id="22" name="Picture 21" descr="logo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1AFAC"/>
                </a:solidFill>
                <a:latin typeface="Calibri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1AFAC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251" y="950976"/>
            <a:ext cx="633496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993392"/>
            <a:ext cx="8046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C6D5B"/>
                </a:solidFill>
                <a:latin typeface="Georgia"/>
              </a:rPr>
              <a:t>Ask somebody how they 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871216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677974"/>
                </a:solidFill>
                <a:latin typeface="Calibri"/>
              </a:rPr>
              <a:t>You do not need the right words and you do not need a reason. Next week just makes it easier to start.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03904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A1AFAC"/>
                </a:solidFill>
                <a:latin typeface="Calibri"/>
              </a:rPr>
              <a:t>World Mental Health Day  ·  An Assembly, a Week and a Lesson</a:t>
            </a:r>
          </a:p>
        </p:txBody>
      </p:sp>
      <p:pic>
        <p:nvPicPr>
          <p:cNvPr id="7" name="Picture 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1AFAC"/>
                </a:solidFill>
                <a:latin typeface="Calibri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1AFAC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