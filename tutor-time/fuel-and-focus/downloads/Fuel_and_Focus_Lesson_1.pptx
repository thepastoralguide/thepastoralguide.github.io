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739" y="566928"/>
            <a:ext cx="728520" cy="841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572768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220">
                <a:solidFill>
                  <a:srgbClr val="256B4A"/>
                </a:solidFill>
                <a:latin typeface="Calibri"/>
              </a:rPr>
              <a:t>FUEL AND FOCUS  ·  LESSON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56816"/>
            <a:ext cx="84124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3400" b="0" i="0">
                <a:solidFill>
                  <a:srgbClr val="256B4A"/>
                </a:solidFill>
                <a:latin typeface="Georgia"/>
              </a:rPr>
              <a:t>Why you crash at two o’clock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2962656"/>
            <a:ext cx="1005840" cy="18288"/>
          </a:xfrm>
          <a:prstGeom prst="rect">
            <a:avLst/>
          </a:prstGeom>
          <a:solidFill>
            <a:srgbClr val="69B9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63824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500" b="0" i="0">
                <a:solidFill>
                  <a:srgbClr val="5F6B64"/>
                </a:solidFill>
                <a:latin typeface="Calibri"/>
              </a:rPr>
              <a:t>Your brain is two per cent of you and burns a fifth of your energy.</a:t>
            </a:r>
            <a:br/>
            <a:r>
              <a:rPr sz="1500" b="0" i="0">
                <a:solidFill>
                  <a:srgbClr val="5F6B64"/>
                </a:solidFill>
                <a:latin typeface="Calibri"/>
              </a:rPr>
              <a:t>What you eat at break decides how your afternoon goes.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13632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98A29B"/>
                </a:solidFill>
                <a:latin typeface="Calibri"/>
              </a:rPr>
              <a:t>Healthy Body, Healthy Mind</a:t>
            </a:r>
          </a:p>
        </p:txBody>
      </p:sp>
      <p:pic>
        <p:nvPicPr>
          <p:cNvPr id="9" name="Picture 8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52160" y="530352"/>
            <a:ext cx="2606040" cy="347472"/>
          </a:xfrm>
          <a:prstGeom prst="roundRect">
            <a:avLst>
              <a:gd name="adj" fmla="val 50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0" y="589788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00">
                <a:solidFill>
                  <a:srgbClr val="256B4A"/>
                </a:solidFill>
                <a:latin typeface="Calibri"/>
              </a:rPr>
              <a:t>TEACHER SLIDE  ·  SKIP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WHERE THIS LESSON SITS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2C3A33"/>
                </a:solidFill>
                <a:latin typeface="Georgia"/>
              </a:rPr>
              <a:t>Three lessons, one idea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7772400" cy="84124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69B9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746504"/>
            <a:ext cx="493776" cy="493776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828800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00784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256B4A"/>
                </a:solidFill>
                <a:latin typeface="Georgia"/>
              </a:rPr>
              <a:t>The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029967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F6B64"/>
                </a:solidFill>
                <a:latin typeface="Calibri"/>
              </a:rPr>
              <a:t>Work out what makes a snack last. Write the four criteria.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05456"/>
            <a:ext cx="7772400" cy="841248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544" y="2679192"/>
            <a:ext cx="493776" cy="493776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761488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63347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256B4A"/>
                </a:solidFill>
                <a:latin typeface="Georgia"/>
              </a:rPr>
              <a:t>Make 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962656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F6B64"/>
                </a:solidFill>
                <a:latin typeface="Calibri"/>
              </a:rPr>
              <a:t>Build a snack that meets them, then check that it does.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38144"/>
            <a:ext cx="7772400" cy="841248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" y="3611879"/>
            <a:ext cx="493776" cy="493776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3694176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56616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256B4A"/>
                </a:solidFill>
                <a:latin typeface="Georgia"/>
              </a:rPr>
              <a:t>Your 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895344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F6B64"/>
                </a:solidFill>
                <a:latin typeface="Calibri"/>
              </a:rPr>
              <a:t>Design a recipe, bring it in, test it against the criteria.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7083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256B4A"/>
                </a:solidFill>
                <a:latin typeface="Calibri"/>
              </a:rPr>
              <a:t>This one ends with the four criteria written down. Lesson two needs them.</a:t>
            </a:r>
          </a:p>
        </p:txBody>
      </p:sp>
      <p:pic>
        <p:nvPicPr>
          <p:cNvPr id="23" name="Picture 2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BDFD6"/>
                </a:solidFill>
                <a:latin typeface="Calibri"/>
              </a:rPr>
              <a:t>ON YOUR TABLE, RIGHT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32688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900" b="0" i="0">
                <a:solidFill>
                  <a:srgbClr val="FFFDF7"/>
                </a:solidFill>
                <a:latin typeface="Georgia"/>
              </a:rPr>
              <a:t>Which one keeps you going longest?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56816"/>
            <a:ext cx="2444496" cy="786384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84832"/>
            <a:ext cx="2115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56B4A"/>
                </a:solidFill>
                <a:latin typeface="Georgia"/>
              </a:rPr>
              <a:t>A chocolate biscuit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9752" y="1956816"/>
            <a:ext cx="2444496" cy="786384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4344" y="2084832"/>
            <a:ext cx="2115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56B4A"/>
                </a:solidFill>
                <a:latin typeface="Georgia"/>
              </a:rPr>
              <a:t>Toast and peanut butter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3704" y="1956816"/>
            <a:ext cx="2444496" cy="786384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8295" y="2084832"/>
            <a:ext cx="2115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56B4A"/>
                </a:solidFill>
                <a:latin typeface="Georgia"/>
              </a:rPr>
              <a:t>A fizzy drink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89504"/>
            <a:ext cx="2444496" cy="786384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017520"/>
            <a:ext cx="2115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56B4A"/>
                </a:solidFill>
                <a:latin typeface="Georgia"/>
              </a:rPr>
              <a:t>A banana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9752" y="2889504"/>
            <a:ext cx="2444496" cy="786384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4344" y="3017520"/>
            <a:ext cx="2115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56B4A"/>
                </a:solidFill>
                <a:latin typeface="Georgia"/>
              </a:rPr>
              <a:t>A packet of crisps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3704" y="2889504"/>
            <a:ext cx="2444496" cy="786384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8295" y="3017520"/>
            <a:ext cx="2115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56B4A"/>
                </a:solidFill>
                <a:latin typeface="Georgia"/>
              </a:rPr>
              <a:t>Yoghurt and berries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005072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CBDFD6"/>
                </a:solidFill>
                <a:latin typeface="Calibri"/>
              </a:rPr>
              <a:t>In pairs. Order all six, best at the top. You will not all agree, and that is fine.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BDFD6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BDFD6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BEFORE ANYBODY IS TOLD ANYTHING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2C3A33"/>
                </a:solidFill>
                <a:latin typeface="Georgia"/>
              </a:rPr>
              <a:t>Who put what at the top?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5F6B64"/>
                </a:solidFill>
                <a:latin typeface="Calibri"/>
              </a:rPr>
              <a:t>Two pairs who disagree. Both explain. Do not settle it yet.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103120"/>
            <a:ext cx="6583680" cy="1298448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69B9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377440"/>
            <a:ext cx="58521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256B4A"/>
                </a:solidFill>
                <a:latin typeface="Georgia"/>
              </a:rPr>
              <a:t>The banana and the biscuit have</a:t>
            </a:r>
            <a:br/>
            <a:r>
              <a:rPr sz="1800" b="0" i="0">
                <a:solidFill>
                  <a:srgbClr val="256B4A"/>
                </a:solidFill>
                <a:latin typeface="Georgia"/>
              </a:rPr>
              <a:t>almost the same amount of sugar in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0390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256B4A"/>
                </a:solidFill>
                <a:latin typeface="Calibri"/>
              </a:rPr>
              <a:t>So why does one of them run out an hour later?</a:t>
            </a:r>
          </a:p>
        </p:txBody>
      </p:sp>
      <p:pic>
        <p:nvPicPr>
          <p:cNvPr id="11" name="Picture 10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BDFD6"/>
                </a:solidFill>
                <a:latin typeface="Calibri"/>
              </a:rPr>
              <a:t>WHAT YOUR BRAIN RUNS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9264"/>
            <a:ext cx="7772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000"/>
              </a:lnSpc>
              <a:spcAft>
                <a:spcPts val="0"/>
              </a:spcAft>
            </a:pPr>
            <a:r>
              <a:rPr sz="2900" b="0" i="0">
                <a:solidFill>
                  <a:srgbClr val="FFFDF7"/>
                </a:solidFill>
                <a:latin typeface="Georgia"/>
              </a:rPr>
              <a:t>Your brain is about 2% of you.</a:t>
            </a:r>
            <a:br/>
            <a:r>
              <a:rPr sz="2900" b="0" i="0">
                <a:solidFill>
                  <a:srgbClr val="FFFDF7"/>
                </a:solidFill>
                <a:latin typeface="Georgia"/>
              </a:rPr>
              <a:t>It uses about 20% of your energy.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2798064"/>
            <a:ext cx="1005840" cy="18288"/>
          </a:xfrm>
          <a:prstGeom prst="rect">
            <a:avLst/>
          </a:prstGeom>
          <a:solidFill>
            <a:srgbClr val="69B9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54096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00" b="0" i="1">
                <a:solidFill>
                  <a:srgbClr val="CBDFD6"/>
                </a:solidFill>
                <a:latin typeface="Calibri"/>
              </a:rPr>
              <a:t>It runs on glucose, it cannot store much of its own, and it depends on a steady supply arriving in your blood.</a:t>
            </a:r>
          </a:p>
        </p:txBody>
      </p:sp>
      <p:pic>
        <p:nvPicPr>
          <p:cNvPr id="9" name="Picture 8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BDFD6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BDFD6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THE WHOLE LESSON IS THIS SHAPE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C3A33"/>
                </a:solidFill>
                <a:latin typeface="Georgia"/>
              </a:rPr>
              <a:t>Fast up, fast 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64208"/>
            <a:ext cx="7772400" cy="1261872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69B9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The fast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39696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5F6B64"/>
                </a:solidFill>
                <a:latin typeface="Calibri"/>
              </a:rPr>
              <a:t>Sugar and white carbs on their 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7223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2C3A33"/>
                </a:solidFill>
                <a:latin typeface="Calibri"/>
              </a:rPr>
              <a:t>Glucose rises fast, your body releases a lot of insulin to bring it down, and a couple of hours later you are lower than when you started. That is the two o’clock feeling.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72384"/>
            <a:ext cx="7772400" cy="126187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18688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The slow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47872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5F6B64"/>
                </a:solidFill>
                <a:latin typeface="Calibri"/>
              </a:rPr>
              <a:t>The same food with protein, fibre and fat alongside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40480"/>
            <a:ext cx="7223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2C3A33"/>
                </a:solidFill>
                <a:latin typeface="Calibri"/>
              </a:rPr>
              <a:t>The same glucose arrives, just spread over hours instead of minutes. No spike, so no crash.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891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256B4A"/>
                </a:solidFill>
                <a:latin typeface="Calibri"/>
              </a:rPr>
              <a:t>Same sugar, delivered differently. That is the only difference.</a:t>
            </a:r>
          </a:p>
        </p:txBody>
      </p:sp>
      <p:pic>
        <p:nvPicPr>
          <p:cNvPr id="16" name="Picture 15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WATCH ME DO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C3A33"/>
                </a:solidFill>
                <a:latin typeface="Georgia"/>
              </a:rPr>
              <a:t>Trace the biscuit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3068726"/>
            <a:ext cx="6309360" cy="10972"/>
          </a:xfrm>
          <a:prstGeom prst="rect">
            <a:avLst/>
          </a:prstGeom>
          <a:solidFill>
            <a:srgbClr val="98A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63256" y="294985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Normal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1700784"/>
            <a:ext cx="18288" cy="2011680"/>
          </a:xfrm>
          <a:prstGeom prst="rect">
            <a:avLst/>
          </a:prstGeom>
          <a:solidFill>
            <a:srgbClr val="5F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17320" y="3712464"/>
            <a:ext cx="6309360" cy="18288"/>
          </a:xfrm>
          <a:prstGeom prst="rect">
            <a:avLst/>
          </a:prstGeom>
          <a:solidFill>
            <a:srgbClr val="5F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8988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40">
                <a:solidFill>
                  <a:srgbClr val="5F6B64"/>
                </a:solidFill>
                <a:latin typeface="Calibri"/>
              </a:rPr>
              <a:t>BLOOD SUGAR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822192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 i="0" spc="140">
                <a:solidFill>
                  <a:srgbClr val="5F6B64"/>
                </a:solidFill>
                <a:latin typeface="Calibri"/>
              </a:rPr>
              <a:t>TIME</a:t>
            </a:r>
          </a:p>
        </p:txBody>
      </p:sp>
      <p:sp>
        <p:nvSpPr>
          <p:cNvPr id="13" name="Freeform 12"/>
          <p:cNvSpPr/>
          <p:nvPr/>
        </p:nvSpPr>
        <p:spPr>
          <a:xfrm>
            <a:off x="1417320" y="1700986"/>
            <a:ext cx="6309360" cy="1850357"/>
          </a:xfrm>
          <a:custGeom>
            <a:avLst/>
            <a:gdLst/>
            <a:ahLst/>
            <a:cxnLst/>
            <a:rect l="l" t="t" r="r" b="b"/>
            <a:pathLst>
              <a:path w="6309360" h="1850357">
                <a:moveTo>
                  <a:pt x="0" y="1367740"/>
                </a:moveTo>
                <a:lnTo>
                  <a:pt x="45066" y="1366954"/>
                </a:lnTo>
                <a:lnTo>
                  <a:pt x="90133" y="1364656"/>
                </a:lnTo>
                <a:lnTo>
                  <a:pt x="135200" y="1361028"/>
                </a:lnTo>
                <a:lnTo>
                  <a:pt x="180267" y="1356351"/>
                </a:lnTo>
                <a:lnTo>
                  <a:pt x="225334" y="1350993"/>
                </a:lnTo>
                <a:lnTo>
                  <a:pt x="270401" y="1345371"/>
                </a:lnTo>
                <a:lnTo>
                  <a:pt x="315468" y="1339925"/>
                </a:lnTo>
                <a:lnTo>
                  <a:pt x="360534" y="1335080"/>
                </a:lnTo>
                <a:lnTo>
                  <a:pt x="405601" y="1331217"/>
                </a:lnTo>
                <a:lnTo>
                  <a:pt x="450668" y="1328635"/>
                </a:lnTo>
                <a:lnTo>
                  <a:pt x="495735" y="1327538"/>
                </a:lnTo>
                <a:lnTo>
                  <a:pt x="540802" y="1322056"/>
                </a:lnTo>
                <a:lnTo>
                  <a:pt x="585869" y="1300068"/>
                </a:lnTo>
                <a:lnTo>
                  <a:pt x="630936" y="1261764"/>
                </a:lnTo>
                <a:lnTo>
                  <a:pt x="676002" y="1208127"/>
                </a:lnTo>
                <a:lnTo>
                  <a:pt x="721069" y="1140531"/>
                </a:lnTo>
                <a:lnTo>
                  <a:pt x="766136" y="1060710"/>
                </a:lnTo>
                <a:lnTo>
                  <a:pt x="811203" y="970710"/>
                </a:lnTo>
                <a:lnTo>
                  <a:pt x="856270" y="872838"/>
                </a:lnTo>
                <a:lnTo>
                  <a:pt x="901337" y="769603"/>
                </a:lnTo>
                <a:lnTo>
                  <a:pt x="946404" y="663652"/>
                </a:lnTo>
                <a:lnTo>
                  <a:pt x="991470" y="557701"/>
                </a:lnTo>
                <a:lnTo>
                  <a:pt x="1036537" y="454466"/>
                </a:lnTo>
                <a:lnTo>
                  <a:pt x="1081604" y="356594"/>
                </a:lnTo>
                <a:lnTo>
                  <a:pt x="1126671" y="266594"/>
                </a:lnTo>
                <a:lnTo>
                  <a:pt x="1171738" y="186773"/>
                </a:lnTo>
                <a:lnTo>
                  <a:pt x="1216805" y="119177"/>
                </a:lnTo>
                <a:lnTo>
                  <a:pt x="1261872" y="65540"/>
                </a:lnTo>
                <a:lnTo>
                  <a:pt x="1306938" y="27236"/>
                </a:lnTo>
                <a:lnTo>
                  <a:pt x="1352005" y="5248"/>
                </a:lnTo>
                <a:lnTo>
                  <a:pt x="1397072" y="0"/>
                </a:lnTo>
                <a:lnTo>
                  <a:pt x="1442139" y="7047"/>
                </a:lnTo>
                <a:lnTo>
                  <a:pt x="1487206" y="23818"/>
                </a:lnTo>
                <a:lnTo>
                  <a:pt x="1532273" y="49472"/>
                </a:lnTo>
                <a:lnTo>
                  <a:pt x="1577340" y="82722"/>
                </a:lnTo>
                <a:lnTo>
                  <a:pt x="1622406" y="121901"/>
                </a:lnTo>
                <a:lnTo>
                  <a:pt x="1667473" y="165046"/>
                </a:lnTo>
                <a:lnTo>
                  <a:pt x="1712540" y="209991"/>
                </a:lnTo>
                <a:lnTo>
                  <a:pt x="1757607" y="254484"/>
                </a:lnTo>
                <a:lnTo>
                  <a:pt x="1802674" y="296293"/>
                </a:lnTo>
                <a:lnTo>
                  <a:pt x="1847741" y="333322"/>
                </a:lnTo>
                <a:lnTo>
                  <a:pt x="1892808" y="363714"/>
                </a:lnTo>
                <a:lnTo>
                  <a:pt x="1937874" y="385945"/>
                </a:lnTo>
                <a:lnTo>
                  <a:pt x="1982941" y="398901"/>
                </a:lnTo>
                <a:lnTo>
                  <a:pt x="2028008" y="402506"/>
                </a:lnTo>
                <a:lnTo>
                  <a:pt x="2073075" y="415488"/>
                </a:lnTo>
                <a:lnTo>
                  <a:pt x="2118142" y="446695"/>
                </a:lnTo>
                <a:lnTo>
                  <a:pt x="2163209" y="495325"/>
                </a:lnTo>
                <a:lnTo>
                  <a:pt x="2208276" y="560132"/>
                </a:lnTo>
                <a:lnTo>
                  <a:pt x="2253342" y="639455"/>
                </a:lnTo>
                <a:lnTo>
                  <a:pt x="2298409" y="731259"/>
                </a:lnTo>
                <a:lnTo>
                  <a:pt x="2343476" y="833192"/>
                </a:lnTo>
                <a:lnTo>
                  <a:pt x="2388543" y="942640"/>
                </a:lnTo>
                <a:lnTo>
                  <a:pt x="2433610" y="1056798"/>
                </a:lnTo>
                <a:lnTo>
                  <a:pt x="2478677" y="1172738"/>
                </a:lnTo>
                <a:lnTo>
                  <a:pt x="2523744" y="1287489"/>
                </a:lnTo>
                <a:lnTo>
                  <a:pt x="2568810" y="1398108"/>
                </a:lnTo>
                <a:lnTo>
                  <a:pt x="2613877" y="1501761"/>
                </a:lnTo>
                <a:lnTo>
                  <a:pt x="2658944" y="1595788"/>
                </a:lnTo>
                <a:lnTo>
                  <a:pt x="2704011" y="1677781"/>
                </a:lnTo>
                <a:lnTo>
                  <a:pt x="2749078" y="1745637"/>
                </a:lnTo>
                <a:lnTo>
                  <a:pt x="2794145" y="1797616"/>
                </a:lnTo>
                <a:lnTo>
                  <a:pt x="2839212" y="1832386"/>
                </a:lnTo>
                <a:lnTo>
                  <a:pt x="2884278" y="1849055"/>
                </a:lnTo>
                <a:lnTo>
                  <a:pt x="2929345" y="1850357"/>
                </a:lnTo>
                <a:lnTo>
                  <a:pt x="2974412" y="1849227"/>
                </a:lnTo>
                <a:lnTo>
                  <a:pt x="3019479" y="1847100"/>
                </a:lnTo>
                <a:lnTo>
                  <a:pt x="3064546" y="1844029"/>
                </a:lnTo>
                <a:lnTo>
                  <a:pt x="3109613" y="1840094"/>
                </a:lnTo>
                <a:lnTo>
                  <a:pt x="3154680" y="1835395"/>
                </a:lnTo>
                <a:lnTo>
                  <a:pt x="3199746" y="1830053"/>
                </a:lnTo>
                <a:lnTo>
                  <a:pt x="3244813" y="1824205"/>
                </a:lnTo>
                <a:lnTo>
                  <a:pt x="3289880" y="1818000"/>
                </a:lnTo>
                <a:lnTo>
                  <a:pt x="3334947" y="1811599"/>
                </a:lnTo>
                <a:lnTo>
                  <a:pt x="3380014" y="1805165"/>
                </a:lnTo>
                <a:lnTo>
                  <a:pt x="3425081" y="1798862"/>
                </a:lnTo>
                <a:lnTo>
                  <a:pt x="3470148" y="1792853"/>
                </a:lnTo>
                <a:lnTo>
                  <a:pt x="3515214" y="1787291"/>
                </a:lnTo>
                <a:lnTo>
                  <a:pt x="3560281" y="1782320"/>
                </a:lnTo>
                <a:lnTo>
                  <a:pt x="3605348" y="1778066"/>
                </a:lnTo>
                <a:lnTo>
                  <a:pt x="3650415" y="1774638"/>
                </a:lnTo>
                <a:lnTo>
                  <a:pt x="3695482" y="1772126"/>
                </a:lnTo>
                <a:lnTo>
                  <a:pt x="3740549" y="1770592"/>
                </a:lnTo>
                <a:lnTo>
                  <a:pt x="3785616" y="1770076"/>
                </a:lnTo>
                <a:lnTo>
                  <a:pt x="3830682" y="1769443"/>
                </a:lnTo>
                <a:lnTo>
                  <a:pt x="3875749" y="1767554"/>
                </a:lnTo>
                <a:lnTo>
                  <a:pt x="3920816" y="1764431"/>
                </a:lnTo>
                <a:lnTo>
                  <a:pt x="3965883" y="1760115"/>
                </a:lnTo>
                <a:lnTo>
                  <a:pt x="4010950" y="1754659"/>
                </a:lnTo>
                <a:lnTo>
                  <a:pt x="4056017" y="1748132"/>
                </a:lnTo>
                <a:lnTo>
                  <a:pt x="4101084" y="1740616"/>
                </a:lnTo>
                <a:lnTo>
                  <a:pt x="4146150" y="1732205"/>
                </a:lnTo>
                <a:lnTo>
                  <a:pt x="4191217" y="1723006"/>
                </a:lnTo>
                <a:lnTo>
                  <a:pt x="4236284" y="1713134"/>
                </a:lnTo>
                <a:lnTo>
                  <a:pt x="4281351" y="1702713"/>
                </a:lnTo>
                <a:lnTo>
                  <a:pt x="4326418" y="1691874"/>
                </a:lnTo>
                <a:lnTo>
                  <a:pt x="4371485" y="1680754"/>
                </a:lnTo>
                <a:lnTo>
                  <a:pt x="4416552" y="1669492"/>
                </a:lnTo>
                <a:lnTo>
                  <a:pt x="4461618" y="1658230"/>
                </a:lnTo>
                <a:lnTo>
                  <a:pt x="4506685" y="1647110"/>
                </a:lnTo>
                <a:lnTo>
                  <a:pt x="4551752" y="1636271"/>
                </a:lnTo>
                <a:lnTo>
                  <a:pt x="4596819" y="1625850"/>
                </a:lnTo>
                <a:lnTo>
                  <a:pt x="4641886" y="1615978"/>
                </a:lnTo>
                <a:lnTo>
                  <a:pt x="4686953" y="1606779"/>
                </a:lnTo>
                <a:lnTo>
                  <a:pt x="4732020" y="1598368"/>
                </a:lnTo>
                <a:lnTo>
                  <a:pt x="4777086" y="1590852"/>
                </a:lnTo>
                <a:lnTo>
                  <a:pt x="4822153" y="1584325"/>
                </a:lnTo>
                <a:lnTo>
                  <a:pt x="4867220" y="1578869"/>
                </a:lnTo>
                <a:lnTo>
                  <a:pt x="4912287" y="1574552"/>
                </a:lnTo>
                <a:lnTo>
                  <a:pt x="4957354" y="1571430"/>
                </a:lnTo>
                <a:lnTo>
                  <a:pt x="5002421" y="1569540"/>
                </a:lnTo>
                <a:lnTo>
                  <a:pt x="5047488" y="1568908"/>
                </a:lnTo>
                <a:lnTo>
                  <a:pt x="5092554" y="1568592"/>
                </a:lnTo>
                <a:lnTo>
                  <a:pt x="5137621" y="1567647"/>
                </a:lnTo>
                <a:lnTo>
                  <a:pt x="5182688" y="1566086"/>
                </a:lnTo>
                <a:lnTo>
                  <a:pt x="5227755" y="1563927"/>
                </a:lnTo>
                <a:lnTo>
                  <a:pt x="5272822" y="1561199"/>
                </a:lnTo>
                <a:lnTo>
                  <a:pt x="5317889" y="1557936"/>
                </a:lnTo>
                <a:lnTo>
                  <a:pt x="5362956" y="1554178"/>
                </a:lnTo>
                <a:lnTo>
                  <a:pt x="5408022" y="1549972"/>
                </a:lnTo>
                <a:lnTo>
                  <a:pt x="5453089" y="1545373"/>
                </a:lnTo>
                <a:lnTo>
                  <a:pt x="5498156" y="1540437"/>
                </a:lnTo>
                <a:lnTo>
                  <a:pt x="5543223" y="1535226"/>
                </a:lnTo>
                <a:lnTo>
                  <a:pt x="5588290" y="1529807"/>
                </a:lnTo>
                <a:lnTo>
                  <a:pt x="5633357" y="1524247"/>
                </a:lnTo>
                <a:lnTo>
                  <a:pt x="5678424" y="1518616"/>
                </a:lnTo>
                <a:lnTo>
                  <a:pt x="5723490" y="1512985"/>
                </a:lnTo>
                <a:lnTo>
                  <a:pt x="5768557" y="1507425"/>
                </a:lnTo>
                <a:lnTo>
                  <a:pt x="5813624" y="1502006"/>
                </a:lnTo>
                <a:lnTo>
                  <a:pt x="5858691" y="1496795"/>
                </a:lnTo>
                <a:lnTo>
                  <a:pt x="5903758" y="1491859"/>
                </a:lnTo>
                <a:lnTo>
                  <a:pt x="5948825" y="1487259"/>
                </a:lnTo>
                <a:lnTo>
                  <a:pt x="5993892" y="1483054"/>
                </a:lnTo>
                <a:lnTo>
                  <a:pt x="6038958" y="1479296"/>
                </a:lnTo>
                <a:lnTo>
                  <a:pt x="6084025" y="1476032"/>
                </a:lnTo>
                <a:lnTo>
                  <a:pt x="6129092" y="1473304"/>
                </a:lnTo>
                <a:lnTo>
                  <a:pt x="6174159" y="1471146"/>
                </a:lnTo>
                <a:lnTo>
                  <a:pt x="6219226" y="1469585"/>
                </a:lnTo>
                <a:lnTo>
                  <a:pt x="6264293" y="1468640"/>
                </a:lnTo>
                <a:lnTo>
                  <a:pt x="6309360" y="1468324"/>
                </a:lnTo>
              </a:path>
            </a:pathLst>
          </a:custGeom>
          <a:noFill/>
          <a:ln w="38100">
            <a:solidFill>
              <a:srgbClr val="25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84071" y="3009290"/>
            <a:ext cx="118872" cy="118872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" y="380390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256B4A"/>
                </a:solidFill>
                <a:latin typeface="Calibri"/>
              </a:rPr>
              <a:t>11:00</a:t>
            </a:r>
          </a:p>
        </p:txBody>
      </p:sp>
      <p:sp>
        <p:nvSpPr>
          <p:cNvPr id="16" name="Oval 15"/>
          <p:cNvSpPr/>
          <p:nvPr/>
        </p:nvSpPr>
        <p:spPr>
          <a:xfrm>
            <a:off x="2745943" y="1641348"/>
            <a:ext cx="118872" cy="118872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19579" y="380390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256B4A"/>
                </a:solidFill>
                <a:latin typeface="Calibri"/>
              </a:rPr>
              <a:t>12:00</a:t>
            </a:r>
          </a:p>
        </p:txBody>
      </p:sp>
      <p:sp>
        <p:nvSpPr>
          <p:cNvPr id="18" name="Oval 17"/>
          <p:cNvSpPr/>
          <p:nvPr/>
        </p:nvSpPr>
        <p:spPr>
          <a:xfrm>
            <a:off x="4260189" y="3492093"/>
            <a:ext cx="118872" cy="118872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3825" y="380390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256B4A"/>
                </a:solidFill>
                <a:latin typeface="Calibri"/>
              </a:rPr>
              <a:t>13:00</a:t>
            </a:r>
          </a:p>
        </p:txBody>
      </p:sp>
      <p:sp>
        <p:nvSpPr>
          <p:cNvPr id="20" name="Oval 19"/>
          <p:cNvSpPr/>
          <p:nvPr/>
        </p:nvSpPr>
        <p:spPr>
          <a:xfrm>
            <a:off x="6783933" y="3180283"/>
            <a:ext cx="118872" cy="118872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57569" y="380390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256B4A"/>
                </a:solidFill>
                <a:latin typeface="Calibri"/>
              </a:rPr>
              <a:t>14:30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9539" y="1426464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256B4A"/>
                </a:solidFill>
                <a:latin typeface="Calibri"/>
              </a:rPr>
              <a:t>Feels great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230428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0"/>
              </a:spcAft>
            </a:pPr>
            <a:r>
              <a:rPr sz="1050" b="1" i="0">
                <a:solidFill>
                  <a:srgbClr val="256B4A"/>
                </a:solidFill>
                <a:latin typeface="Calibri"/>
              </a:rPr>
              <a:t>Lower than when</a:t>
            </a:r>
            <a:br/>
            <a:r>
              <a:rPr sz="1050" b="1" i="0">
                <a:solidFill>
                  <a:srgbClr val="256B4A"/>
                </a:solidFill>
                <a:latin typeface="Calibri"/>
              </a:rPr>
              <a:t>you started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3891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256B4A"/>
                </a:solidFill>
                <a:latin typeface="Calibri"/>
              </a:rPr>
              <a:t>Ask what happens next at every point before you move to it.</a:t>
            </a:r>
          </a:p>
        </p:txBody>
      </p:sp>
      <p:pic>
        <p:nvPicPr>
          <p:cNvPr id="25" name="Picture 24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NOW THE ROOM DOES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C3A33"/>
                </a:solidFill>
                <a:latin typeface="Georgia"/>
              </a:rPr>
              <a:t>Trace these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5F6B64"/>
                </a:solidFill>
                <a:latin typeface="Calibri"/>
              </a:rPr>
              <a:t>Fast or slow? And what is in it that decides?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7772400" cy="98755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249424"/>
            <a:ext cx="512064" cy="51206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40864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2194560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Toast and peanut butter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542032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F6B64"/>
                </a:solidFill>
                <a:latin typeface="Calibri"/>
              </a:rPr>
              <a:t>Bread on its own would be fast. What changes it?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145536"/>
            <a:ext cx="7772400" cy="987552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6112" y="3383280"/>
            <a:ext cx="512064" cy="51206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3328416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A fizzy drink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675888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F6B64"/>
                </a:solidFill>
                <a:latin typeface="Calibri"/>
              </a:rPr>
              <a:t>Nothing to slow it down at all. What does the curve do?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5254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256B4A"/>
                </a:solidFill>
                <a:latin typeface="Calibri"/>
              </a:rPr>
              <a:t>Every answer comes back to the same four things, which are on the next slide.</a:t>
            </a:r>
          </a:p>
        </p:txBody>
      </p:sp>
      <p:pic>
        <p:nvPicPr>
          <p:cNvPr id="19" name="Picture 18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BDFD6"/>
                </a:solidFill>
                <a:latin typeface="Calibri"/>
              </a:rPr>
              <a:t>THIS IS THE PART YOU WRITE 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77824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FFFDF7"/>
                </a:solidFill>
                <a:latin typeface="Georgia"/>
              </a:rPr>
              <a:t>What makes a snack last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767328" cy="118872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5256" y="1737360"/>
            <a:ext cx="475488" cy="47548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828800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5336" y="1792224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Protein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231136"/>
            <a:ext cx="3291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5F6B64"/>
                </a:solidFill>
                <a:latin typeface="Calibri"/>
              </a:rPr>
              <a:t>Slows the whole thing down, and keeps you full.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0872" y="1572768"/>
            <a:ext cx="3767328" cy="118872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10328" y="1737360"/>
            <a:ext cx="475488" cy="47548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0328" y="1828800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8" y="1792224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Fibre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8616" y="2231136"/>
            <a:ext cx="3291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5F6B64"/>
                </a:solidFill>
                <a:latin typeface="Calibri"/>
              </a:rPr>
              <a:t>Slows the food down in your gut, so the glucose arrives gradually.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26080"/>
            <a:ext cx="3767328" cy="118872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5256" y="3090672"/>
            <a:ext cx="475488" cy="47548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182112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3145536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A slow carb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3584448"/>
            <a:ext cx="3291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5F6B64"/>
                </a:solidFill>
                <a:latin typeface="Calibri"/>
              </a:rPr>
              <a:t>Oats, wholegrain or whole fruit. Not white and not sugary.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90872" y="2926080"/>
            <a:ext cx="3767328" cy="118872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0328" y="3090672"/>
            <a:ext cx="475488" cy="47548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0328" y="3182112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0408" y="3145536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Healthy fats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8616" y="3584448"/>
            <a:ext cx="3291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5F6B64"/>
                </a:solidFill>
                <a:latin typeface="Calibri"/>
              </a:rPr>
              <a:t>Slows the stomach down, and carries the most energy per gram. Seeds, nuts, avocado.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FFFDF7"/>
                </a:solidFill>
                <a:latin typeface="Calibri"/>
              </a:rPr>
              <a:t>Two out of four helps. All four gets you to lunch.</a:t>
            </a:r>
          </a:p>
        </p:txBody>
      </p:sp>
      <p:pic>
        <p:nvPicPr>
          <p:cNvPr id="28" name="Picture 2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BDFD6"/>
                </a:solidFill>
                <a:latin typeface="Calibri"/>
              </a:rPr>
              <a:t>The Pastoral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BDFD6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ON YOUR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C3A33"/>
                </a:solidFill>
                <a:latin typeface="Georgia"/>
              </a:rPr>
              <a:t>Your four criteria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5F6B64"/>
                </a:solidFill>
                <a:latin typeface="Calibri"/>
              </a:rPr>
              <a:t>In your own words, and one line each on why it works. You need these next lesson.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48256"/>
            <a:ext cx="1805940" cy="10972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8458" y="2203704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8458" y="2276856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06624"/>
            <a:ext cx="1623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256B4A"/>
                </a:solidFill>
                <a:latin typeface="Georgia"/>
              </a:rPr>
              <a:t>Protein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4620" y="2048256"/>
            <a:ext cx="1805940" cy="109728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67278" y="2203704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7278" y="2276856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6060" y="2706624"/>
            <a:ext cx="1623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256B4A"/>
                </a:solidFill>
                <a:latin typeface="Georgia"/>
              </a:rPr>
              <a:t>Fibre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048256"/>
            <a:ext cx="1805940" cy="10972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56098" y="2203704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6098" y="2276856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706624"/>
            <a:ext cx="1623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256B4A"/>
                </a:solidFill>
                <a:latin typeface="Georgia"/>
              </a:rPr>
              <a:t>A slow carb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52260" y="2048256"/>
            <a:ext cx="1805940" cy="109728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44918" y="2203704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4918" y="2276856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3700" y="2706624"/>
            <a:ext cx="1623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256B4A"/>
                </a:solidFill>
                <a:latin typeface="Georgia"/>
              </a:rPr>
              <a:t>Healthy fats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438144"/>
            <a:ext cx="7772400" cy="585216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69B9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3547872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256B4A"/>
                </a:solidFill>
                <a:latin typeface="Calibri"/>
              </a:rPr>
              <a:t>Then add one snack you already eat that hits at least two of them.</a:t>
            </a:r>
          </a:p>
        </p:txBody>
      </p:sp>
      <p:pic>
        <p:nvPicPr>
          <p:cNvPr id="26" name="Picture 25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EVIDENCE, NOT GUESSING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0" i="0">
                <a:solidFill>
                  <a:srgbClr val="2C3A33"/>
                </a:solidFill>
                <a:latin typeface="Georgia"/>
              </a:rPr>
              <a:t>What the label actually says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5F6B64"/>
                </a:solidFill>
                <a:latin typeface="Calibri"/>
              </a:rPr>
              <a:t>The label sheet has all six snacks, and everything you need to score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48256"/>
            <a:ext cx="3776472" cy="85953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267712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331720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5" y="2176272"/>
            <a:ext cx="2862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Georgia"/>
              </a:rPr>
              <a:t>Find the protein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2184" y="2487168"/>
            <a:ext cx="28072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5F6B64"/>
                </a:solidFill>
                <a:latin typeface="Calibri"/>
              </a:rPr>
              <a:t>Anything over about 5g a serving is making a difference.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2048256"/>
            <a:ext cx="3776472" cy="859536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73752" y="2267712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3752" y="2331720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2176272"/>
            <a:ext cx="2862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Georgia"/>
              </a:rPr>
              <a:t>Find the fibre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2487168"/>
            <a:ext cx="28072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5F6B64"/>
                </a:solidFill>
                <a:latin typeface="Calibri"/>
              </a:rPr>
              <a:t>Over about 3g a serving and it will slow things down.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054096"/>
            <a:ext cx="3776472" cy="85953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3273552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3337560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182112"/>
            <a:ext cx="2862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Georgia"/>
              </a:rPr>
              <a:t>Check the carb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2184" y="3493008"/>
            <a:ext cx="28072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5F6B64"/>
                </a:solidFill>
                <a:latin typeface="Calibri"/>
              </a:rPr>
              <a:t>Wholegrain, oats or whole fruit is slow. White or sugary is fast.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8" y="3054096"/>
            <a:ext cx="3776472" cy="859536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73752" y="3273552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2" y="3337560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9824" y="3182112"/>
            <a:ext cx="2862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Georgia"/>
              </a:rPr>
              <a:t>Check where the fat is from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8112" y="3493008"/>
            <a:ext cx="28072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5F6B64"/>
                </a:solidFill>
                <a:latin typeface="Calibri"/>
              </a:rPr>
              <a:t>Seeds, nuts, avocado and dairy count. Fried or baked in does not.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256B4A"/>
                </a:solidFill>
                <a:latin typeface="Calibri"/>
              </a:rPr>
              <a:t>Then tick the four columns and add up the score out of four.</a:t>
            </a:r>
          </a:p>
        </p:txBody>
      </p:sp>
      <p:pic>
        <p:nvPicPr>
          <p:cNvPr id="29" name="Picture 28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BDFD6"/>
                </a:solidFill>
                <a:latin typeface="Calibri"/>
              </a:rPr>
              <a:t>NUMBERS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96112"/>
            <a:ext cx="7772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3000" b="0" i="0">
                <a:solidFill>
                  <a:srgbClr val="FFFDF7"/>
                </a:solidFill>
                <a:latin typeface="Georgia"/>
              </a:rPr>
              <a:t>Two things that catch people 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92224"/>
            <a:ext cx="7315200" cy="969264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1938528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The banana has more sugar than the crisps.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322576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F6B64"/>
                </a:solidFill>
                <a:latin typeface="Calibri"/>
              </a:rPr>
              <a:t>And it still gets you further. Your criteria explain why.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26080"/>
            <a:ext cx="7315200" cy="969264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072384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The crisps have plenty of fat, and it is not helping.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456432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F6B64"/>
                </a:solidFill>
                <a:latin typeface="Calibri"/>
              </a:rPr>
              <a:t>It is fried in, and that is not the same as fat from seeds, nuts or avocado.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41648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FFFDF7"/>
                </a:solidFill>
                <a:latin typeface="Calibri"/>
              </a:rPr>
              <a:t>The sugar on its own tells you very little. What matters is what comes with it.</a:t>
            </a:r>
          </a:p>
        </p:txBody>
      </p:sp>
      <p:pic>
        <p:nvPicPr>
          <p:cNvPr id="14" name="Picture 13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BDFD6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BDFD6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BACK TO THE SIX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C3A33"/>
                </a:solidFill>
                <a:latin typeface="Georgia"/>
              </a:rPr>
              <a:t>Rank them again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5F6B64"/>
                </a:solidFill>
                <a:latin typeface="Calibri"/>
              </a:rPr>
              <a:t>Same six snacks, but now you have the numbers. Score each out of four, then reorder.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48256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39696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C3A33"/>
                </a:solidFill>
                <a:latin typeface="Calibri"/>
              </a:rPr>
              <a:t>Which one moved the most?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06624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798064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C3A33"/>
                </a:solidFill>
                <a:latin typeface="Calibri"/>
              </a:rPr>
              <a:t>Which one did you defend at the start and would drop now?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64992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45643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C3A33"/>
                </a:solidFill>
                <a:latin typeface="Calibri"/>
              </a:rPr>
              <a:t>Which one is nearly there, and what would fix 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33087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256B4A"/>
                </a:solidFill>
                <a:latin typeface="Calibri"/>
              </a:rPr>
              <a:t>The last question matters most, because almost any snack can be fixed by adding one thing to it.</a:t>
            </a:r>
          </a:p>
        </p:txBody>
      </p:sp>
      <p:pic>
        <p:nvPicPr>
          <p:cNvPr id="15" name="Picture 14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BDFD6"/>
                </a:solidFill>
                <a:latin typeface="Calibri"/>
              </a:rPr>
              <a:t>TO BE CLEAR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96112"/>
            <a:ext cx="7772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FFFDF7"/>
                </a:solidFill>
                <a:latin typeface="Georgia"/>
              </a:rPr>
              <a:t>One question, not a verdict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828800"/>
            <a:ext cx="7040880" cy="566928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Calibri"/>
              </a:rPr>
              <a:t>This is not about weight, and it is not about how anybody looks.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505456"/>
            <a:ext cx="7040880" cy="566928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59689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Calibri"/>
              </a:rPr>
              <a:t>Nobody is scoring you, and nobody is scoring your lunchbox.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182112"/>
            <a:ext cx="7040880" cy="566928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273552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Calibri"/>
              </a:rPr>
              <a:t>One question only: what keeps you going until lunch?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86784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FFFDF7"/>
                </a:solidFill>
                <a:latin typeface="Calibri"/>
              </a:rPr>
              <a:t>This lesson is about energy and concentration, and nothing else.</a:t>
            </a:r>
          </a:p>
        </p:txBody>
      </p:sp>
      <p:pic>
        <p:nvPicPr>
          <p:cNvPr id="14" name="Picture 13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BDFD6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BDFD6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TALK ABOUT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C3A33"/>
                </a:solidFill>
                <a:latin typeface="Georgia"/>
              </a:rPr>
              <a:t>Three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00784"/>
            <a:ext cx="7772400" cy="65836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819656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883664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810512"/>
            <a:ext cx="6583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Break is fifteen minutes. If buying something takes ten, what actually works?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87168"/>
            <a:ext cx="7772400" cy="658368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3544" y="2606040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670048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596896"/>
            <a:ext cx="6583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Whose job is it to decide what you eat at break, and what can you do about it yourself?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73552"/>
            <a:ext cx="7772400" cy="65836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" y="3392424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456432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383280"/>
            <a:ext cx="6583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What would you have to change the night before to make this easy?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151376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256B4A"/>
                </a:solidFill>
                <a:latin typeface="Calibri"/>
              </a:rPr>
              <a:t>The third question is the useful one, because most of this gets decided the night before.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NEXT LESSON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67728" y="530352"/>
            <a:ext cx="1490472" cy="347472"/>
          </a:xfrm>
          <a:prstGeom prst="roundRect">
            <a:avLst>
              <a:gd name="adj" fmla="val 50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67728" y="589788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00">
                <a:solidFill>
                  <a:srgbClr val="256B4A"/>
                </a:solidFill>
                <a:latin typeface="Calibri"/>
              </a:rPr>
              <a:t>NEXT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C3A33"/>
                </a:solidFill>
                <a:latin typeface="Georgia"/>
              </a:rPr>
              <a:t>We are making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5F6B64"/>
                </a:solidFill>
                <a:latin typeface="Calibri"/>
              </a:rPr>
              <a:t>Your teacher has picked one of these three. All of them hit all four criteria.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93392"/>
            <a:ext cx="2432304" cy="157276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8488" y="2185416"/>
            <a:ext cx="566928" cy="56692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ow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313432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2104" y="2871216"/>
            <a:ext cx="21396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Georgia"/>
              </a:rPr>
              <a:t>Pinwheel wraps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18211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5F6B64"/>
                </a:solidFill>
                <a:latin typeface="Calibri"/>
              </a:rPr>
              <a:t>Soft cheese, avocado and grated veg, rolled 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993392"/>
            <a:ext cx="2432304" cy="1572768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88536" y="2185416"/>
            <a:ext cx="566928" cy="56692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w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2313432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02152" y="2871216"/>
            <a:ext cx="21396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Georgia"/>
              </a:rPr>
              <a:t>Oat and seed balls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18211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5F6B64"/>
                </a:solidFill>
                <a:latin typeface="Calibri"/>
              </a:rPr>
              <a:t>Oats, banana and seeds. No baking, no nuts.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25896" y="1993392"/>
            <a:ext cx="2432304" cy="157276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58584" y="2185416"/>
            <a:ext cx="566928" cy="56692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ow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313432"/>
            <a:ext cx="310896" cy="3108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72200" y="2871216"/>
            <a:ext cx="21396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Georgia"/>
              </a:rPr>
              <a:t>Fruit and yoghurt pots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318211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5F6B64"/>
                </a:solidFill>
                <a:latin typeface="Calibri"/>
              </a:rPr>
              <a:t>Oats, yoghurt, fruit and seeds, layered.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40480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256B4A"/>
                </a:solidFill>
                <a:latin typeface="Calibri"/>
              </a:rPr>
              <a:t>You do not need to bring anything; the ingredients are provided. Tell your teacher today about any allergy.</a:t>
            </a:r>
          </a:p>
        </p:txBody>
      </p:sp>
      <p:pic>
        <p:nvPicPr>
          <p:cNvPr id="24" name="Picture 23" descr="logo-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BDFD6"/>
                </a:solidFill>
                <a:latin typeface="Calibri"/>
              </a:rPr>
              <a:t>IF YOU REMEMBER ONE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43584"/>
            <a:ext cx="8046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0"/>
              </a:spcAft>
            </a:pPr>
            <a:r>
              <a:rPr sz="3600" b="0" i="0">
                <a:solidFill>
                  <a:srgbClr val="FFFDF7"/>
                </a:solidFill>
                <a:latin typeface="Georgia"/>
              </a:rPr>
              <a:t>It is not what you ate.</a:t>
            </a:r>
            <a:br/>
            <a:r>
              <a:rPr sz="3600" b="0" i="0">
                <a:solidFill>
                  <a:srgbClr val="FFFDF7"/>
                </a:solidFill>
                <a:latin typeface="Georgia"/>
              </a:rPr>
              <a:t>It is what you ate it with.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0" y="3145536"/>
            <a:ext cx="1005840" cy="18288"/>
          </a:xfrm>
          <a:prstGeom prst="rect">
            <a:avLst/>
          </a:prstGeom>
          <a:solidFill>
            <a:srgbClr val="69B9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419856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8000"/>
              </a:lnSpc>
              <a:spcAft>
                <a:spcPts val="0"/>
              </a:spcAft>
            </a:pPr>
            <a:r>
              <a:rPr sz="1450" b="0" i="1">
                <a:solidFill>
                  <a:srgbClr val="CBDFD6"/>
                </a:solidFill>
                <a:latin typeface="Calibri"/>
              </a:rPr>
              <a:t>Add protein, fibre or a healthy fat to what you were going to eat anyway.</a:t>
            </a:r>
          </a:p>
        </p:txBody>
      </p:sp>
      <p:pic>
        <p:nvPicPr>
          <p:cNvPr id="7" name="Picture 6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BDFD6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BDFD6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495" y="1243584"/>
            <a:ext cx="681008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30428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256B4A"/>
                </a:solidFill>
                <a:latin typeface="Georgia"/>
              </a:rPr>
              <a:t>Bring your criteria next 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072384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8000"/>
              </a:lnSpc>
              <a:spcAft>
                <a:spcPts val="0"/>
              </a:spcAft>
            </a:pPr>
            <a:r>
              <a:rPr sz="1300" b="0" i="0">
                <a:solidFill>
                  <a:srgbClr val="5F6B64"/>
                </a:solidFill>
                <a:latin typeface="Calibri"/>
              </a:rPr>
              <a:t>You are going to build something that meets them,</a:t>
            </a:r>
            <a:br/>
            <a:r>
              <a:rPr sz="1300" b="0" i="0">
                <a:solidFill>
                  <a:srgbClr val="5F6B64"/>
                </a:solidFill>
                <a:latin typeface="Calibri"/>
              </a:rPr>
              <a:t>and then find out whether it does.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502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1">
                <a:solidFill>
                  <a:srgbClr val="98A29B"/>
                </a:solidFill>
                <a:latin typeface="Calibri"/>
              </a:rPr>
              <a:t>Fuel and Focus  ·  Lesson 1 of 3</a:t>
            </a:r>
          </a:p>
        </p:txBody>
      </p:sp>
      <p:pic>
        <p:nvPicPr>
          <p:cNvPr id="7" name="Picture 6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The Pastoral Guide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and Focus: lesson 1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