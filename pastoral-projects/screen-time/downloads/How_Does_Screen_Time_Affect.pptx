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E0A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3017520"/>
            <a:ext cx="5120640" cy="5120640"/>
          </a:xfrm>
          <a:prstGeom prst="ellipse">
            <a:avLst/>
          </a:prstGeom>
          <a:solidFill>
            <a:srgbClr val="F7EBC4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692640" y="3931920"/>
            <a:ext cx="3291840" cy="3291840"/>
          </a:xfrm>
          <a:prstGeom prst="ellipse">
            <a:avLst/>
          </a:prstGeom>
          <a:solidFill>
            <a:srgbClr val="E9D39D"/>
          </a:solidFill>
          <a:ln/>
        </p:spPr>
        <p:txBody>
          <a:bodyPr/>
          <a:p/>
        </p:txBody>
      </p:sp>
      <p:pic>
        <p:nvPicPr>
          <p:cNvPr id="4" name="Image 0" descr="/home/claude/work/screen-time-project/build/icons/mobile_mustarddee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4800600"/>
            <a:ext cx="1371600" cy="1371600"/>
          </a:xfrm>
          <a:prstGeom prst="rect">
            <a:avLst/>
          </a:prstGeom>
        </p:spPr>
      </p:pic>
      <p:pic>
        <p:nvPicPr>
          <p:cNvPr id="5" name="Image 1" descr="/home/claude/work/logo-assets/logo-icon-cr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466" y="502920"/>
            <a:ext cx="174282" cy="20116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858573" y="4754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B917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PASTORAL GUIDE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640080" y="21488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 PASTORAL PROJECTS RESOURCE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566928" y="2487168"/>
            <a:ext cx="9601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E443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How Does Screen Time Affect…</a:t>
            </a:r>
            <a:endParaRPr lang="en-US" sz="4400" dirty="0"/>
          </a:p>
        </p:txBody>
      </p:sp>
      <p:sp>
        <p:nvSpPr>
          <p:cNvPr id="9" name="Text 5"/>
          <p:cNvSpPr txBox="1"/>
          <p:nvPr/>
        </p:nvSpPr>
        <p:spPr>
          <a:xfrm>
            <a:off x="640080" y="3703320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i="1" dirty="0">
                <a:solidFill>
                  <a:srgbClr val="C28F38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Sleep, Concentration &amp; the Teenage Brain?</a:t>
            </a:r>
            <a:endParaRPr lang="en-US" sz="2500" dirty="0"/>
          </a:p>
        </p:txBody>
      </p:sp>
      <p:sp>
        <p:nvSpPr>
          <p:cNvPr id="10" name="Text 6"/>
          <p:cNvSpPr txBox="1"/>
          <p:nvPr/>
        </p:nvSpPr>
        <p:spPr>
          <a:xfrm>
            <a:off x="658368" y="4480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Session 1 of 3  ·  paired with the Screen Time Tracker, running all term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logo-assets/logo-icon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026" y="365760"/>
            <a:ext cx="174282" cy="20116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7133" y="338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B917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PASTORAL GUIDE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94360" y="96012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SESSION 1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23444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443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What we’ll cover today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594360" y="2148840"/>
            <a:ext cx="868680" cy="868680"/>
          </a:xfrm>
          <a:prstGeom prst="ellipse">
            <a:avLst/>
          </a:prstGeom>
          <a:solidFill>
            <a:srgbClr val="D4B780"/>
          </a:solidFill>
          <a:ln/>
        </p:spPr>
        <p:txBody>
          <a:bodyPr/>
          <a:p/>
        </p:txBody>
      </p:sp>
      <p:pic>
        <p:nvPicPr>
          <p:cNvPr id="7" name="Image 1" descr="/home/claude/work/screen-time-project/build/icons/brain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843" y="2357323"/>
            <a:ext cx="451714" cy="45171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737360" y="2130552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44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research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1737360" y="2478024"/>
            <a:ext cx="9052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What screen time is linked to, in the brain, in sleep, and in concentration, with published studies, properly cited.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594360" y="3218688"/>
            <a:ext cx="868680" cy="868680"/>
          </a:xfrm>
          <a:prstGeom prst="ellipse">
            <a:avLst/>
          </a:prstGeom>
          <a:solidFill>
            <a:srgbClr val="D4B780"/>
          </a:solidFill>
          <a:ln/>
        </p:spPr>
        <p:txBody>
          <a:bodyPr/>
          <a:p/>
        </p:txBody>
      </p:sp>
      <p:pic>
        <p:nvPicPr>
          <p:cNvPr id="11" name="Image 2" descr="/home/claude/work/screen-time-project/build/icons/clipboard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843" y="3427171"/>
            <a:ext cx="451714" cy="45171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737360" y="3200400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44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Your own habits</a:t>
            </a:r>
            <a:endParaRPr lang="en-US" sz="1800" dirty="0"/>
          </a:p>
        </p:txBody>
      </p:sp>
      <p:sp>
        <p:nvSpPr>
          <p:cNvPr id="13" name="Text 8"/>
          <p:cNvSpPr txBox="1"/>
          <p:nvPr/>
        </p:nvSpPr>
        <p:spPr>
          <a:xfrm>
            <a:off x="1737360" y="3547872"/>
            <a:ext cx="9052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 short, honest reflection on your current screen time. No judgement, just a starting point.</a:t>
            </a:r>
            <a:endParaRPr lang="en-US" sz="1350" dirty="0"/>
          </a:p>
        </p:txBody>
      </p:sp>
      <p:sp>
        <p:nvSpPr>
          <p:cNvPr id="14" name="Shape 9"/>
          <p:cNvSpPr/>
          <p:nvPr/>
        </p:nvSpPr>
        <p:spPr>
          <a:xfrm>
            <a:off x="594360" y="4288536"/>
            <a:ext cx="868680" cy="868680"/>
          </a:xfrm>
          <a:prstGeom prst="ellipse">
            <a:avLst/>
          </a:prstGeom>
          <a:solidFill>
            <a:srgbClr val="D4B780"/>
          </a:solidFill>
          <a:ln/>
        </p:spPr>
        <p:txBody>
          <a:bodyPr/>
          <a:p/>
        </p:txBody>
      </p:sp>
      <p:pic>
        <p:nvPicPr>
          <p:cNvPr id="15" name="Image 3" descr="/home/claude/work/screen-time-project/build/icons/chartline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843" y="4497019"/>
            <a:ext cx="451714" cy="45171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737360" y="4270248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44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tracker</a:t>
            </a:r>
            <a:endParaRPr lang="en-US" sz="1800" dirty="0"/>
          </a:p>
        </p:txBody>
      </p:sp>
      <p:sp>
        <p:nvSpPr>
          <p:cNvPr id="17" name="Text 11"/>
          <p:cNvSpPr txBox="1"/>
          <p:nvPr/>
        </p:nvSpPr>
        <p:spPr>
          <a:xfrm>
            <a:off x="1737360" y="4617720"/>
            <a:ext cx="9052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How the term-long Screen Time Tracker works, and the two awards up for grabs.</a:t>
            </a:r>
            <a:endParaRPr lang="en-US" sz="1350" dirty="0"/>
          </a:p>
        </p:txBody>
      </p:sp>
      <p:sp>
        <p:nvSpPr>
          <p:cNvPr id="18" name="Shape 12"/>
          <p:cNvSpPr/>
          <p:nvPr/>
        </p:nvSpPr>
        <p:spPr>
          <a:xfrm>
            <a:off x="594360" y="5358384"/>
            <a:ext cx="868680" cy="868680"/>
          </a:xfrm>
          <a:prstGeom prst="ellipse">
            <a:avLst/>
          </a:prstGeom>
          <a:solidFill>
            <a:srgbClr val="D4B780"/>
          </a:solidFill>
          <a:ln/>
        </p:spPr>
        <p:txBody>
          <a:bodyPr/>
          <a:p/>
        </p:txBody>
      </p:sp>
      <p:pic>
        <p:nvPicPr>
          <p:cNvPr id="19" name="Image 4" descr="/home/claude/work/screen-time-project/build/icons/calendar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2843" y="5566867"/>
            <a:ext cx="451714" cy="451714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737360" y="5340096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44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Your plan</a:t>
            </a:r>
            <a:endParaRPr lang="en-US" sz="1800" dirty="0"/>
          </a:p>
        </p:txBody>
      </p:sp>
      <p:sp>
        <p:nvSpPr>
          <p:cNvPr id="21" name="Text 14"/>
          <p:cNvSpPr txBox="1"/>
          <p:nvPr/>
        </p:nvSpPr>
        <p:spPr>
          <a:xfrm>
            <a:off x="1737360" y="5687568"/>
            <a:ext cx="9052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 personal screen time reduction plan you’ll check back on at the halfway point, and again at the end of term.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E0A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logo-assets/logo-icon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026" y="365760"/>
            <a:ext cx="174282" cy="20116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7133" y="338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B917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PASTORAL GUIDE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94360" y="137160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BEFORE WE START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91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2E443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How much of the day is that, really?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2331720"/>
            <a:ext cx="7315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0" b="1" dirty="0">
                <a:solidFill>
                  <a:srgbClr val="C28F38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3–4 hrs</a:t>
            </a:r>
            <a:endParaRPr lang="en-US" sz="108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429768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average teenager’s daily leisure screen time in a recent study of over 4,800 students, about an hour more than recommended.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6291072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8B917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Hökby et al., 2025, PLOS Global Public Health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logo-assets/logo-icon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026" y="365760"/>
            <a:ext cx="174282" cy="20116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7133" y="338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B917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PASTORAL GUIDE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40080" y="2286000"/>
            <a:ext cx="2103120" cy="2103120"/>
          </a:xfrm>
          <a:prstGeom prst="ellipse">
            <a:avLst/>
          </a:prstGeom>
          <a:solidFill>
            <a:srgbClr val="F7EBC4"/>
          </a:solidFill>
          <a:ln/>
        </p:spPr>
        <p:txBody>
          <a:bodyPr/>
          <a:p/>
        </p:txBody>
      </p:sp>
      <p:pic>
        <p:nvPicPr>
          <p:cNvPr id="5" name="Image 1" descr="/home/claude/work/screen-time-project/build/icons/brain_mustarddee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4829" y="2790749"/>
            <a:ext cx="1093622" cy="1093622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3063240" y="91440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RESEARCH · BRAIN DEVELOPMENT</a:t>
            </a:r>
            <a:endParaRPr lang="en-US" sz="1300" dirty="0"/>
          </a:p>
        </p:txBody>
      </p:sp>
      <p:sp>
        <p:nvSpPr>
          <p:cNvPr id="7" name="Text 3"/>
          <p:cNvSpPr txBox="1"/>
          <p:nvPr/>
        </p:nvSpPr>
        <p:spPr>
          <a:xfrm>
            <a:off x="3063240" y="118872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E443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Screen time and the brain</a:t>
            </a:r>
            <a:endParaRPr lang="en-US" sz="3000" dirty="0"/>
          </a:p>
        </p:txBody>
      </p:sp>
      <p:sp>
        <p:nvSpPr>
          <p:cNvPr id="8" name="Text 4"/>
          <p:cNvSpPr txBox="1"/>
          <p:nvPr/>
        </p:nvSpPr>
        <p:spPr>
          <a:xfrm>
            <a:off x="3063240" y="1938528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B917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10,116 children aged 9–10, followed for two years (ABCD study, USA)</a:t>
            </a:r>
            <a:endParaRPr lang="en-US" sz="1250" dirty="0"/>
          </a:p>
        </p:txBody>
      </p:sp>
      <p:sp>
        <p:nvSpPr>
          <p:cNvPr id="9" name="Text 5"/>
          <p:cNvSpPr txBox="1"/>
          <p:nvPr/>
        </p:nvSpPr>
        <p:spPr>
          <a:xfrm>
            <a:off x="3063240" y="2423160"/>
            <a:ext cx="8412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45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More screen time was linked to more attention and impulse-control difficulties, both straight away and two years later.</a:t>
            </a:r>
            <a:endParaRPr lang="en-US" sz="145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45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It was also linked to smaller volume and thinner tissue in brain regions involved in planning, self-control and attention.</a:t>
            </a:r>
            <a:endParaRPr lang="en-US" sz="145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45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Those brain changes helped explain part of why more screen time meant more attention difficulties.</a:t>
            </a:r>
            <a:endParaRPr lang="en-US" sz="1450" dirty="0"/>
          </a:p>
        </p:txBody>
      </p:sp>
      <p:sp>
        <p:nvSpPr>
          <p:cNvPr id="10" name="Shape 6"/>
          <p:cNvSpPr/>
          <p:nvPr/>
        </p:nvSpPr>
        <p:spPr>
          <a:xfrm>
            <a:off x="3063240" y="4526280"/>
            <a:ext cx="8412480" cy="868680"/>
          </a:xfrm>
          <a:prstGeom prst="roundRect">
            <a:avLst>
              <a:gd name="adj" fmla="val 8421"/>
            </a:avLst>
          </a:prstGeom>
          <a:solidFill>
            <a:srgbClr val="F7EBC4"/>
          </a:solidFill>
          <a:ln/>
        </p:spPr>
        <p:txBody>
          <a:bodyPr/>
          <a:p/>
        </p:txBody>
      </p:sp>
      <p:sp>
        <p:nvSpPr>
          <p:cNvPr id="11" name="Text 7"/>
          <p:cNvSpPr txBox="1"/>
          <p:nvPr/>
        </p:nvSpPr>
        <p:spPr>
          <a:xfrm>
            <a:off x="3291840" y="4526280"/>
            <a:ext cx="7955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i="1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Screen time doesn’t just distract you in the moment. Over two years, more of it was linked to measurable changes in the parts of the brain that help you focus.</a:t>
            </a:r>
            <a:endParaRPr lang="en-US" sz="1350" dirty="0"/>
          </a:p>
        </p:txBody>
      </p:sp>
      <p:sp>
        <p:nvSpPr>
          <p:cNvPr id="12" name="Text 8"/>
          <p:cNvSpPr txBox="1"/>
          <p:nvPr/>
        </p:nvSpPr>
        <p:spPr>
          <a:xfrm>
            <a:off x="640080" y="6291072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8B917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Shou, Yamashita &amp; Mizuno, 2025, Translational Psychiatry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logo-assets/logo-icon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026" y="365760"/>
            <a:ext cx="174282" cy="20116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7133" y="338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B917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PASTORAL GUIDE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9448495" y="2286000"/>
            <a:ext cx="2103120" cy="2103120"/>
          </a:xfrm>
          <a:prstGeom prst="ellipse">
            <a:avLst/>
          </a:prstGeom>
          <a:solidFill>
            <a:srgbClr val="F7EBC4"/>
          </a:solidFill>
          <a:ln/>
        </p:spPr>
        <p:txBody>
          <a:bodyPr/>
          <a:p/>
        </p:txBody>
      </p:sp>
      <p:pic>
        <p:nvPicPr>
          <p:cNvPr id="5" name="Image 1" descr="/home/claude/work/screen-time-project/build/icons/handpaper_mustarddee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53244" y="2790749"/>
            <a:ext cx="1093622" cy="1093622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40080" y="91440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RESEARCH · SELF-CONTROL</a:t>
            </a:r>
            <a:endParaRPr lang="en-US" sz="1300" dirty="0"/>
          </a:p>
        </p:txBody>
      </p:sp>
      <p:sp>
        <p:nvSpPr>
          <p:cNvPr id="7" name="Text 3"/>
          <p:cNvSpPr txBox="1"/>
          <p:nvPr/>
        </p:nvSpPr>
        <p:spPr>
          <a:xfrm>
            <a:off x="640080" y="118872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E443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Screen time and impulsivity</a:t>
            </a:r>
            <a:endParaRPr lang="en-US" sz="3000" dirty="0"/>
          </a:p>
        </p:txBody>
      </p:sp>
      <p:sp>
        <p:nvSpPr>
          <p:cNvPr id="8" name="Text 4"/>
          <p:cNvSpPr txBox="1"/>
          <p:nvPr/>
        </p:nvSpPr>
        <p:spPr>
          <a:xfrm>
            <a:off x="640080" y="1938528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B917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~4,000 Canadian students, followed from Year 8 to Year 12 (5 years)</a:t>
            </a:r>
            <a:endParaRPr lang="en-US" sz="1250" dirty="0"/>
          </a:p>
        </p:txBody>
      </p:sp>
      <p:sp>
        <p:nvSpPr>
          <p:cNvPr id="9" name="Text 5"/>
          <p:cNvSpPr txBox="1"/>
          <p:nvPr/>
        </p:nvSpPr>
        <p:spPr>
          <a:xfrm>
            <a:off x="640080" y="2423160"/>
            <a:ext cx="8412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45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Social media, TV and gaming (but not general computer use) were linked to more attention and impulsivity symptoms over time.</a:t>
            </a:r>
            <a:endParaRPr lang="en-US" sz="145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45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Weaker impulse control was the strongest explanation for that link.</a:t>
            </a:r>
            <a:endParaRPr lang="en-US" sz="145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45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Heavier social media use specifically was linked to poorer impulse control roughly three years later.</a:t>
            </a:r>
            <a:endParaRPr lang="en-US" sz="1450" dirty="0"/>
          </a:p>
        </p:txBody>
      </p:sp>
      <p:sp>
        <p:nvSpPr>
          <p:cNvPr id="10" name="Shape 6"/>
          <p:cNvSpPr/>
          <p:nvPr/>
        </p:nvSpPr>
        <p:spPr>
          <a:xfrm>
            <a:off x="640080" y="4526280"/>
            <a:ext cx="8412480" cy="868680"/>
          </a:xfrm>
          <a:prstGeom prst="roundRect">
            <a:avLst>
              <a:gd name="adj" fmla="val 8421"/>
            </a:avLst>
          </a:prstGeom>
          <a:solidFill>
            <a:srgbClr val="F7EBC4"/>
          </a:solidFill>
          <a:ln/>
        </p:spPr>
        <p:txBody>
          <a:bodyPr/>
          <a:p/>
        </p:txBody>
      </p:sp>
      <p:sp>
        <p:nvSpPr>
          <p:cNvPr id="11" name="Text 7"/>
          <p:cNvSpPr txBox="1"/>
          <p:nvPr/>
        </p:nvSpPr>
        <p:spPr>
          <a:xfrm>
            <a:off x="868680" y="4526280"/>
            <a:ext cx="7955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i="1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It’s specifically social media, gaming and TV, not all screen use, that were linked to weaker impulse control years down the line.</a:t>
            </a:r>
            <a:endParaRPr lang="en-US" sz="1350" dirty="0"/>
          </a:p>
        </p:txBody>
      </p:sp>
      <p:sp>
        <p:nvSpPr>
          <p:cNvPr id="12" name="Text 8"/>
          <p:cNvSpPr txBox="1"/>
          <p:nvPr/>
        </p:nvSpPr>
        <p:spPr>
          <a:xfrm>
            <a:off x="640080" y="6291072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8B917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Wallace, Boers, Ouellet, Afzali &amp; Conrod, 2023, Scientific Reports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logo-assets/logo-icon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026" y="365760"/>
            <a:ext cx="174282" cy="20116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7133" y="338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B917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PASTORAL GUIDE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40080" y="2286000"/>
            <a:ext cx="2103120" cy="2103120"/>
          </a:xfrm>
          <a:prstGeom prst="ellipse">
            <a:avLst/>
          </a:prstGeom>
          <a:solidFill>
            <a:srgbClr val="F7EBC4"/>
          </a:solidFill>
          <a:ln/>
        </p:spPr>
        <p:txBody>
          <a:bodyPr/>
          <a:p/>
        </p:txBody>
      </p:sp>
      <p:pic>
        <p:nvPicPr>
          <p:cNvPr id="5" name="Image 1" descr="/home/claude/work/screen-time-project/build/icons/bullseye_mustarddee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4829" y="2790749"/>
            <a:ext cx="1093622" cy="1093622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3063240" y="91440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RESEARCH · CONCENTRATION</a:t>
            </a:r>
            <a:endParaRPr lang="en-US" sz="1300" dirty="0"/>
          </a:p>
        </p:txBody>
      </p:sp>
      <p:sp>
        <p:nvSpPr>
          <p:cNvPr id="7" name="Text 3"/>
          <p:cNvSpPr txBox="1"/>
          <p:nvPr/>
        </p:nvSpPr>
        <p:spPr>
          <a:xfrm>
            <a:off x="3063240" y="118872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E443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Screen time and grades</a:t>
            </a:r>
            <a:endParaRPr lang="en-US" sz="3000" dirty="0"/>
          </a:p>
        </p:txBody>
      </p:sp>
      <p:sp>
        <p:nvSpPr>
          <p:cNvPr id="8" name="Text 4"/>
          <p:cNvSpPr txBox="1"/>
          <p:nvPr/>
        </p:nvSpPr>
        <p:spPr>
          <a:xfrm>
            <a:off x="3063240" y="1938528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B917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17,150 students, grades 7 and 9 (China Education Panel Survey)</a:t>
            </a:r>
            <a:endParaRPr lang="en-US" sz="1250" dirty="0"/>
          </a:p>
        </p:txBody>
      </p:sp>
      <p:sp>
        <p:nvSpPr>
          <p:cNvPr id="9" name="Text 5"/>
          <p:cNvSpPr txBox="1"/>
          <p:nvPr/>
        </p:nvSpPr>
        <p:spPr>
          <a:xfrm>
            <a:off x="3063240" y="2423160"/>
            <a:ext cx="8412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45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More screen time was linked to lower grades overall, and specifically in maths, English and first language.</a:t>
            </a:r>
            <a:endParaRPr lang="en-US" sz="145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45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Internet use and gaming were linked to a bigger drop in grades than watching TV.</a:t>
            </a:r>
            <a:endParaRPr lang="en-US" sz="145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45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Concentration itself was the main reason for the link. Sleep and mood mattered too, but mattered less.</a:t>
            </a:r>
            <a:endParaRPr lang="en-US" sz="1450" dirty="0"/>
          </a:p>
        </p:txBody>
      </p:sp>
      <p:sp>
        <p:nvSpPr>
          <p:cNvPr id="10" name="Shape 6"/>
          <p:cNvSpPr/>
          <p:nvPr/>
        </p:nvSpPr>
        <p:spPr>
          <a:xfrm>
            <a:off x="3063240" y="4526280"/>
            <a:ext cx="8412480" cy="868680"/>
          </a:xfrm>
          <a:prstGeom prst="roundRect">
            <a:avLst>
              <a:gd name="adj" fmla="val 8421"/>
            </a:avLst>
          </a:prstGeom>
          <a:solidFill>
            <a:srgbClr val="F7EBC4"/>
          </a:solidFill>
          <a:ln/>
        </p:spPr>
        <p:txBody>
          <a:bodyPr/>
          <a:p/>
        </p:txBody>
      </p:sp>
      <p:sp>
        <p:nvSpPr>
          <p:cNvPr id="11" name="Text 7"/>
          <p:cNvSpPr txBox="1"/>
          <p:nvPr/>
        </p:nvSpPr>
        <p:spPr>
          <a:xfrm>
            <a:off x="3291840" y="4526280"/>
            <a:ext cx="7955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i="1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type of screen use matters. Passive TV time and active gaming or scrolling don’t cost your concentration equally.</a:t>
            </a:r>
            <a:endParaRPr lang="en-US" sz="1350" dirty="0"/>
          </a:p>
        </p:txBody>
      </p:sp>
      <p:sp>
        <p:nvSpPr>
          <p:cNvPr id="12" name="Text 8"/>
          <p:cNvSpPr txBox="1"/>
          <p:nvPr/>
        </p:nvSpPr>
        <p:spPr>
          <a:xfrm>
            <a:off x="640080" y="6291072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8B917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Feng, Ren &amp; Shi, 2025, Frontiers in Public Health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logo-assets/logo-icon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026" y="365760"/>
            <a:ext cx="174282" cy="20116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7133" y="338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B917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PASTORAL GUIDE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9448495" y="2286000"/>
            <a:ext cx="2103120" cy="2103120"/>
          </a:xfrm>
          <a:prstGeom prst="ellipse">
            <a:avLst/>
          </a:prstGeom>
          <a:solidFill>
            <a:srgbClr val="F7EBC4"/>
          </a:solidFill>
          <a:ln/>
        </p:spPr>
        <p:txBody>
          <a:bodyPr/>
          <a:p/>
        </p:txBody>
      </p:sp>
      <p:pic>
        <p:nvPicPr>
          <p:cNvPr id="5" name="Image 1" descr="/home/claude/work/screen-time-project/build/icons/moon_mustarddee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53244" y="2790749"/>
            <a:ext cx="1093622" cy="1093622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40080" y="91440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RESEARCH · SLEEP</a:t>
            </a:r>
            <a:endParaRPr lang="en-US" sz="1300" dirty="0"/>
          </a:p>
        </p:txBody>
      </p:sp>
      <p:sp>
        <p:nvSpPr>
          <p:cNvPr id="7" name="Text 3"/>
          <p:cNvSpPr txBox="1"/>
          <p:nvPr/>
        </p:nvSpPr>
        <p:spPr>
          <a:xfrm>
            <a:off x="640080" y="118872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E443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Screen time and sleep</a:t>
            </a:r>
            <a:endParaRPr lang="en-US" sz="3000" dirty="0"/>
          </a:p>
        </p:txBody>
      </p:sp>
      <p:sp>
        <p:nvSpPr>
          <p:cNvPr id="8" name="Text 4"/>
          <p:cNvSpPr txBox="1"/>
          <p:nvPr/>
        </p:nvSpPr>
        <p:spPr>
          <a:xfrm>
            <a:off x="640080" y="1938528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B917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4,810 students aged 12–16, tracked over 12 months (Stockholm)</a:t>
            </a:r>
            <a:endParaRPr lang="en-US" sz="1250" dirty="0"/>
          </a:p>
        </p:txBody>
      </p:sp>
      <p:sp>
        <p:nvSpPr>
          <p:cNvPr id="9" name="Text 5"/>
          <p:cNvSpPr txBox="1"/>
          <p:nvPr/>
        </p:nvSpPr>
        <p:spPr>
          <a:xfrm>
            <a:off x="640080" y="2423160"/>
            <a:ext cx="8412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45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Heavier screen use measurably worsened sleep quality, sleep duration and sleep timing within just three months.</a:t>
            </a:r>
            <a:endParaRPr lang="en-US" sz="145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45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Among girls, poorer sleep explained 38–57% of the link between screen time and low mood.</a:t>
            </a:r>
            <a:endParaRPr lang="en-US" sz="145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45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average student in the study was already going over the recommended screen time by around an hour a day.</a:t>
            </a:r>
            <a:endParaRPr lang="en-US" sz="1450" dirty="0"/>
          </a:p>
        </p:txBody>
      </p:sp>
      <p:sp>
        <p:nvSpPr>
          <p:cNvPr id="10" name="Shape 6"/>
          <p:cNvSpPr/>
          <p:nvPr/>
        </p:nvSpPr>
        <p:spPr>
          <a:xfrm>
            <a:off x="640080" y="4526280"/>
            <a:ext cx="8412480" cy="868680"/>
          </a:xfrm>
          <a:prstGeom prst="roundRect">
            <a:avLst>
              <a:gd name="adj" fmla="val 8421"/>
            </a:avLst>
          </a:prstGeom>
          <a:solidFill>
            <a:srgbClr val="F7EBC4"/>
          </a:solidFill>
          <a:ln/>
        </p:spPr>
        <p:txBody>
          <a:bodyPr/>
          <a:p/>
        </p:txBody>
      </p:sp>
      <p:sp>
        <p:nvSpPr>
          <p:cNvPr id="11" name="Text 7"/>
          <p:cNvSpPr txBox="1"/>
          <p:nvPr/>
        </p:nvSpPr>
        <p:spPr>
          <a:xfrm>
            <a:off x="868680" y="4526280"/>
            <a:ext cx="7955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i="1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Poor sleep is a big part of why heavy screen use is linked to low mood, and it can start shifting in a matter of weeks.</a:t>
            </a:r>
            <a:endParaRPr lang="en-US" sz="1350" dirty="0"/>
          </a:p>
        </p:txBody>
      </p:sp>
      <p:sp>
        <p:nvSpPr>
          <p:cNvPr id="12" name="Text 8"/>
          <p:cNvSpPr txBox="1"/>
          <p:nvPr/>
        </p:nvSpPr>
        <p:spPr>
          <a:xfrm>
            <a:off x="640080" y="6291072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8B917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Hökby, Alvarsson, Westerlund, Carli &amp; Hadlaczky, 2025, PLOS Global Public Health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EB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logo-assets/logo-icon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026" y="365760"/>
            <a:ext cx="174282" cy="20116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7133" y="338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B917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PASTORAL GUIDE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94360" y="9601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FOUR STUDIES, ONE PATTERN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234440"/>
            <a:ext cx="9144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E443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Bringing it together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594360" y="2331720"/>
            <a:ext cx="51206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822960" y="2560320"/>
            <a:ext cx="822960" cy="822960"/>
          </a:xfrm>
          <a:prstGeom prst="ellipse">
            <a:avLst/>
          </a:prstGeom>
          <a:solidFill>
            <a:srgbClr val="D4B780"/>
          </a:solidFill>
          <a:ln/>
        </p:spPr>
        <p:txBody>
          <a:bodyPr/>
          <a:p/>
        </p:txBody>
      </p:sp>
      <p:pic>
        <p:nvPicPr>
          <p:cNvPr id="8" name="Image 1" descr="/home/claude/work/screen-time-project/build/icons/brain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470" y="2757830"/>
            <a:ext cx="427939" cy="427939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828800" y="25328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44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Brain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1828800" y="2898648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Linked to changes in the regions that support focus and self-control.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6172200" y="2331720"/>
            <a:ext cx="51206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2" name="Shape 8"/>
          <p:cNvSpPr/>
          <p:nvPr/>
        </p:nvSpPr>
        <p:spPr>
          <a:xfrm>
            <a:off x="6400800" y="2560320"/>
            <a:ext cx="822960" cy="822960"/>
          </a:xfrm>
          <a:prstGeom prst="ellipse">
            <a:avLst/>
          </a:prstGeom>
          <a:solidFill>
            <a:srgbClr val="D4B780"/>
          </a:solidFill>
          <a:ln/>
        </p:spPr>
        <p:txBody>
          <a:bodyPr/>
          <a:p/>
        </p:txBody>
      </p:sp>
      <p:pic>
        <p:nvPicPr>
          <p:cNvPr id="13" name="Image 2" descr="/home/claude/work/screen-time-project/build/icons/handpaper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310" y="2757830"/>
            <a:ext cx="427939" cy="427939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7406640" y="25328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44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Self-control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7406640" y="2898648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Heavier social media use linked to weaker impulse control, years later.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594360" y="4480560"/>
            <a:ext cx="51206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822960" y="4709160"/>
            <a:ext cx="822960" cy="822960"/>
          </a:xfrm>
          <a:prstGeom prst="ellipse">
            <a:avLst/>
          </a:prstGeom>
          <a:solidFill>
            <a:srgbClr val="D4B780"/>
          </a:solidFill>
          <a:ln/>
        </p:spPr>
        <p:txBody>
          <a:bodyPr/>
          <a:p/>
        </p:txBody>
      </p:sp>
      <p:pic>
        <p:nvPicPr>
          <p:cNvPr id="18" name="Image 3" descr="/home/claude/work/screen-time-project/build/icons/bullseye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0470" y="4906670"/>
            <a:ext cx="427939" cy="427939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828800" y="46817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44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Concentration</a:t>
            </a:r>
            <a:endParaRPr lang="en-US" sz="1600" dirty="0"/>
          </a:p>
        </p:txBody>
      </p:sp>
      <p:sp>
        <p:nvSpPr>
          <p:cNvPr id="20" name="Text 14"/>
          <p:cNvSpPr txBox="1"/>
          <p:nvPr/>
        </p:nvSpPr>
        <p:spPr>
          <a:xfrm>
            <a:off x="1828800" y="5047488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More screen time, lower grades. Gaming and scrolling most of all.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6172200" y="4480560"/>
            <a:ext cx="51206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2" name="Shape 16"/>
          <p:cNvSpPr/>
          <p:nvPr/>
        </p:nvSpPr>
        <p:spPr>
          <a:xfrm>
            <a:off x="6400800" y="4709160"/>
            <a:ext cx="822960" cy="822960"/>
          </a:xfrm>
          <a:prstGeom prst="ellipse">
            <a:avLst/>
          </a:prstGeom>
          <a:solidFill>
            <a:srgbClr val="D4B780"/>
          </a:solidFill>
          <a:ln/>
        </p:spPr>
        <p:txBody>
          <a:bodyPr/>
          <a:p/>
        </p:txBody>
      </p:sp>
      <p:pic>
        <p:nvPicPr>
          <p:cNvPr id="23" name="Image 4" descr="/home/claude/work/screen-time-project/build/icons/moon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8310" y="4906670"/>
            <a:ext cx="427939" cy="427939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7406640" y="46817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44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Sleep</a:t>
            </a:r>
            <a:endParaRPr lang="en-US" sz="1600" dirty="0"/>
          </a:p>
        </p:txBody>
      </p:sp>
      <p:sp>
        <p:nvSpPr>
          <p:cNvPr id="25" name="Text 18"/>
          <p:cNvSpPr txBox="1"/>
          <p:nvPr/>
        </p:nvSpPr>
        <p:spPr>
          <a:xfrm>
            <a:off x="7406640" y="5047488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Worsened sleep quality and duration within just three months.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E0A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logo-assets/logo-icon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026" y="365760"/>
            <a:ext cx="174282" cy="20116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7133" y="338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B917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PASTORAL GUIDE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94360" y="9144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ACTIVITY 1 · DO THIS NOW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594360" y="1417320"/>
            <a:ext cx="11002975" cy="4892040"/>
          </a:xfrm>
          <a:prstGeom prst="roundRect">
            <a:avLst>
              <a:gd name="adj" fmla="val 2243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1051560" y="1737360"/>
            <a:ext cx="100885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443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My Screen Time, Right Now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1051560" y="2313432"/>
            <a:ext cx="10088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Answer honestly and briefly. There are no wrong answers. You’ll come back to this twice more this term.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1051560" y="2880360"/>
            <a:ext cx="365760" cy="365760"/>
          </a:xfrm>
          <a:prstGeom prst="ellipse">
            <a:avLst/>
          </a:prstGeom>
          <a:solidFill>
            <a:srgbClr val="D4B780"/>
          </a:solidFill>
          <a:ln/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1051560" y="2880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600200" y="2834640"/>
            <a:ext cx="944849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E44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Roughly how many hours a day do you spend on a screen outside school?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1051560" y="3447288"/>
            <a:ext cx="10088575" cy="0"/>
          </a:xfrm>
          <a:prstGeom prst="line">
            <a:avLst/>
          </a:prstGeom>
          <a:noFill/>
          <a:ln w="12700">
            <a:solidFill>
              <a:srgbClr val="F7EBC4"/>
            </a:solidFill>
            <a:prstDash val="solid"/>
          </a:ln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1051560" y="3511296"/>
            <a:ext cx="365760" cy="365760"/>
          </a:xfrm>
          <a:prstGeom prst="ellipse">
            <a:avLst/>
          </a:prstGeom>
          <a:solidFill>
            <a:srgbClr val="D4B780"/>
          </a:solidFill>
          <a:ln/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1051560" y="3511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1600200" y="3465576"/>
            <a:ext cx="944849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E44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What do you mostly use it for? Name your top three.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1051560" y="4078224"/>
            <a:ext cx="10088575" cy="0"/>
          </a:xfrm>
          <a:prstGeom prst="line">
            <a:avLst/>
          </a:prstGeom>
          <a:noFill/>
          <a:ln w="12700">
            <a:solidFill>
              <a:srgbClr val="F7EBC4"/>
            </a:solidFill>
            <a:prstDash val="solid"/>
          </a:ln>
        </p:spPr>
        <p:txBody>
          <a:bodyPr/>
          <a:p/>
        </p:txBody>
      </p:sp>
      <p:sp>
        <p:nvSpPr>
          <p:cNvPr id="16" name="Shape 13"/>
          <p:cNvSpPr/>
          <p:nvPr/>
        </p:nvSpPr>
        <p:spPr>
          <a:xfrm>
            <a:off x="1051560" y="4142232"/>
            <a:ext cx="365760" cy="365760"/>
          </a:xfrm>
          <a:prstGeom prst="ellipse">
            <a:avLst/>
          </a:prstGeom>
          <a:solidFill>
            <a:srgbClr val="D4B780"/>
          </a:solidFill>
          <a:ln/>
        </p:spPr>
        <p:txBody>
          <a:bodyPr/>
          <a:p/>
        </p:txBody>
      </p:sp>
      <p:sp>
        <p:nvSpPr>
          <p:cNvPr id="17" name="Text 14"/>
          <p:cNvSpPr txBox="1"/>
          <p:nvPr/>
        </p:nvSpPr>
        <p:spPr>
          <a:xfrm>
            <a:off x="1051560" y="41422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600200" y="4096512"/>
            <a:ext cx="944849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E44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What time of day do you use screens the most?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1051560" y="4709160"/>
            <a:ext cx="10088575" cy="0"/>
          </a:xfrm>
          <a:prstGeom prst="line">
            <a:avLst/>
          </a:prstGeom>
          <a:noFill/>
          <a:ln w="12700">
            <a:solidFill>
              <a:srgbClr val="F7EBC4"/>
            </a:solidFill>
            <a:prstDash val="solid"/>
          </a:ln>
        </p:spPr>
        <p:txBody>
          <a:bodyPr/>
          <a:p/>
        </p:txBody>
      </p:sp>
      <p:sp>
        <p:nvSpPr>
          <p:cNvPr id="20" name="Shape 17"/>
          <p:cNvSpPr/>
          <p:nvPr/>
        </p:nvSpPr>
        <p:spPr>
          <a:xfrm>
            <a:off x="1051560" y="4773168"/>
            <a:ext cx="365760" cy="365760"/>
          </a:xfrm>
          <a:prstGeom prst="ellipse">
            <a:avLst/>
          </a:prstGeom>
          <a:solidFill>
            <a:srgbClr val="D4B780"/>
          </a:solidFill>
          <a:ln/>
        </p:spPr>
        <p:txBody>
          <a:bodyPr/>
          <a:p/>
        </p:txBody>
      </p:sp>
      <p:sp>
        <p:nvSpPr>
          <p:cNvPr id="21" name="Text 18"/>
          <p:cNvSpPr txBox="1"/>
          <p:nvPr/>
        </p:nvSpPr>
        <p:spPr>
          <a:xfrm>
            <a:off x="1051560" y="47731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1600200" y="4727448"/>
            <a:ext cx="944849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E44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How do you usually feel afterwards: energised, drained, fine, or anxious?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1051560" y="5340096"/>
            <a:ext cx="10088575" cy="0"/>
          </a:xfrm>
          <a:prstGeom prst="line">
            <a:avLst/>
          </a:prstGeom>
          <a:noFill/>
          <a:ln w="12700">
            <a:solidFill>
              <a:srgbClr val="F7EBC4"/>
            </a:solidFill>
            <a:prstDash val="solid"/>
          </a:ln>
        </p:spPr>
        <p:txBody>
          <a:bodyPr/>
          <a:p/>
        </p:txBody>
      </p:sp>
      <p:sp>
        <p:nvSpPr>
          <p:cNvPr id="24" name="Shape 21"/>
          <p:cNvSpPr/>
          <p:nvPr/>
        </p:nvSpPr>
        <p:spPr>
          <a:xfrm>
            <a:off x="1051560" y="5404104"/>
            <a:ext cx="365760" cy="365760"/>
          </a:xfrm>
          <a:prstGeom prst="ellipse">
            <a:avLst/>
          </a:prstGeom>
          <a:solidFill>
            <a:srgbClr val="D4B780"/>
          </a:solidFill>
          <a:ln/>
        </p:spPr>
        <p:txBody>
          <a:bodyPr/>
          <a:p/>
        </p:txBody>
      </p:sp>
      <p:sp>
        <p:nvSpPr>
          <p:cNvPr id="25" name="Text 22"/>
          <p:cNvSpPr txBox="1"/>
          <p:nvPr/>
        </p:nvSpPr>
        <p:spPr>
          <a:xfrm>
            <a:off x="1051560" y="54041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5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1600200" y="5358384"/>
            <a:ext cx="944849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E44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Is there a moment today you’d have spent differently, looking back?</a:t>
            </a:r>
            <a:endParaRPr lang="en-US" sz="1450" dirty="0"/>
          </a:p>
        </p:txBody>
      </p:sp>
      <p:sp>
        <p:nvSpPr>
          <p:cNvPr id="27" name="Text 24"/>
          <p:cNvSpPr txBox="1"/>
          <p:nvPr/>
        </p:nvSpPr>
        <p:spPr>
          <a:xfrm>
            <a:off x="594360" y="6355080"/>
            <a:ext cx="82597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Printable worksheet version: My Screen Time, Right Now (PDF)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899855" y="63550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SESSION 1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logo-assets/logo-icon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026" y="365760"/>
            <a:ext cx="174282" cy="20116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7133" y="338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B917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PASTORAL GUIDE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94360" y="9601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FROM TODAY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23444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E443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Introducing the Screen Time Tracker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2331720"/>
            <a:ext cx="1554480" cy="1554480"/>
          </a:xfrm>
          <a:prstGeom prst="ellipse">
            <a:avLst/>
          </a:prstGeom>
          <a:solidFill>
            <a:srgbClr val="D4B780"/>
          </a:solidFill>
          <a:ln/>
        </p:spPr>
        <p:txBody>
          <a:bodyPr/>
          <a:p/>
        </p:txBody>
      </p:sp>
      <p:pic>
        <p:nvPicPr>
          <p:cNvPr id="7" name="Image 1" descr="/home/claude/work/screen-time-project/build/icons/chartline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155" y="2704795"/>
            <a:ext cx="808330" cy="80833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423160" y="23774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44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What’s being tracked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2423160" y="2788920"/>
            <a:ext cx="4709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Your average daily screen time, entered weekly by your teacher, for the whole term. Nobody but your teacher and form sees the raw numbers.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7223760" y="2331720"/>
            <a:ext cx="1554480" cy="1554480"/>
          </a:xfrm>
          <a:prstGeom prst="ellipse">
            <a:avLst/>
          </a:prstGeom>
          <a:solidFill>
            <a:srgbClr val="D4B780"/>
          </a:solidFill>
          <a:ln/>
        </p:spPr>
        <p:txBody>
          <a:bodyPr/>
          <a:p/>
        </p:txBody>
      </p:sp>
      <p:pic>
        <p:nvPicPr>
          <p:cNvPr id="11" name="Image 2" descr="/home/claude/work/screen-time-project/build/icons/trophy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6835" y="2704795"/>
            <a:ext cx="808330" cy="80833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9006840" y="23774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44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Why it matters</a:t>
            </a:r>
            <a:endParaRPr lang="en-US" sz="1700" dirty="0"/>
          </a:p>
        </p:txBody>
      </p:sp>
      <p:sp>
        <p:nvSpPr>
          <p:cNvPr id="13" name="Text 8"/>
          <p:cNvSpPr txBox="1"/>
          <p:nvPr/>
        </p:nvSpPr>
        <p:spPr>
          <a:xfrm>
            <a:off x="9006840" y="2788920"/>
            <a:ext cx="2651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It’s the same measure the research on the last few slides used, so you can see for yourself whether your habits are shifting.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594360" y="4343400"/>
            <a:ext cx="11002975" cy="1508760"/>
          </a:xfrm>
          <a:prstGeom prst="roundRect">
            <a:avLst>
              <a:gd name="adj" fmla="val 6061"/>
            </a:avLst>
          </a:prstGeom>
          <a:solidFill>
            <a:srgbClr val="F7EBC4"/>
          </a:solidFill>
          <a:ln/>
        </p:spPr>
        <p:txBody>
          <a:bodyPr/>
          <a:p/>
        </p:txBody>
      </p:sp>
      <p:sp>
        <p:nvSpPr>
          <p:cNvPr id="15" name="Text 10"/>
          <p:cNvSpPr txBox="1"/>
          <p:nvPr/>
        </p:nvSpPr>
        <p:spPr>
          <a:xfrm>
            <a:off x="914400" y="452628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Two awards, revealed at the end of term: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914400" y="489204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E44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Lowest total screen time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E44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Most reduced screen time: the biggest downward trend across the term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E0A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logo-assets/logo-icon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026" y="365760"/>
            <a:ext cx="174282" cy="20116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7133" y="338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B917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PASTORAL GUIDE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94360" y="9144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ACTIVITY 2 · DO THIS NOW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594360" y="1417320"/>
            <a:ext cx="11002975" cy="4892040"/>
          </a:xfrm>
          <a:prstGeom prst="roundRect">
            <a:avLst>
              <a:gd name="adj" fmla="val 2243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1051560" y="1737360"/>
            <a:ext cx="100885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443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My Screen Time Reduction Plan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1051560" y="2313432"/>
            <a:ext cx="10088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Pick one realistic change, not five. Small and specific beats big and vague.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1051560" y="2880360"/>
            <a:ext cx="365760" cy="365760"/>
          </a:xfrm>
          <a:prstGeom prst="ellipse">
            <a:avLst/>
          </a:prstGeom>
          <a:solidFill>
            <a:srgbClr val="D4B780"/>
          </a:solidFill>
          <a:ln/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1051560" y="2880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600200" y="2834640"/>
            <a:ext cx="9448495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E44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One thing I’ll change this week: ______________________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1051560" y="3605022"/>
            <a:ext cx="10088575" cy="0"/>
          </a:xfrm>
          <a:prstGeom prst="line">
            <a:avLst/>
          </a:prstGeom>
          <a:noFill/>
          <a:ln w="12700">
            <a:solidFill>
              <a:srgbClr val="F7EBC4"/>
            </a:solidFill>
            <a:prstDash val="solid"/>
          </a:ln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1051560" y="3669030"/>
            <a:ext cx="365760" cy="365760"/>
          </a:xfrm>
          <a:prstGeom prst="ellipse">
            <a:avLst/>
          </a:prstGeom>
          <a:solidFill>
            <a:srgbClr val="D4B780"/>
          </a:solidFill>
          <a:ln/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1051560" y="366903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1600200" y="3623310"/>
            <a:ext cx="9448495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E44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 screen-free time or place I’ll try (e.g. no phone at meals, none 30 minutes before bed): ______________________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1051560" y="4393692"/>
            <a:ext cx="10088575" cy="0"/>
          </a:xfrm>
          <a:prstGeom prst="line">
            <a:avLst/>
          </a:prstGeom>
          <a:noFill/>
          <a:ln w="12700">
            <a:solidFill>
              <a:srgbClr val="F7EBC4"/>
            </a:solidFill>
            <a:prstDash val="solid"/>
          </a:ln>
        </p:spPr>
        <p:txBody>
          <a:bodyPr/>
          <a:p/>
        </p:txBody>
      </p:sp>
      <p:sp>
        <p:nvSpPr>
          <p:cNvPr id="16" name="Shape 13"/>
          <p:cNvSpPr/>
          <p:nvPr/>
        </p:nvSpPr>
        <p:spPr>
          <a:xfrm>
            <a:off x="1051560" y="4457700"/>
            <a:ext cx="365760" cy="365760"/>
          </a:xfrm>
          <a:prstGeom prst="ellipse">
            <a:avLst/>
          </a:prstGeom>
          <a:solidFill>
            <a:srgbClr val="D4B780"/>
          </a:solidFill>
          <a:ln/>
        </p:spPr>
        <p:txBody>
          <a:bodyPr/>
          <a:p/>
        </p:txBody>
      </p:sp>
      <p:sp>
        <p:nvSpPr>
          <p:cNvPr id="17" name="Text 14"/>
          <p:cNvSpPr txBox="1"/>
          <p:nvPr/>
        </p:nvSpPr>
        <p:spPr>
          <a:xfrm>
            <a:off x="1051560" y="44577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600200" y="4411980"/>
            <a:ext cx="9448495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E44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What I’ll do instead in that time: ______________________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1051560" y="5182362"/>
            <a:ext cx="10088575" cy="0"/>
          </a:xfrm>
          <a:prstGeom prst="line">
            <a:avLst/>
          </a:prstGeom>
          <a:noFill/>
          <a:ln w="12700">
            <a:solidFill>
              <a:srgbClr val="F7EBC4"/>
            </a:solidFill>
            <a:prstDash val="solid"/>
          </a:ln>
        </p:spPr>
        <p:txBody>
          <a:bodyPr/>
          <a:p/>
        </p:txBody>
      </p:sp>
      <p:sp>
        <p:nvSpPr>
          <p:cNvPr id="20" name="Shape 17"/>
          <p:cNvSpPr/>
          <p:nvPr/>
        </p:nvSpPr>
        <p:spPr>
          <a:xfrm>
            <a:off x="1051560" y="5246370"/>
            <a:ext cx="365760" cy="365760"/>
          </a:xfrm>
          <a:prstGeom prst="ellipse">
            <a:avLst/>
          </a:prstGeom>
          <a:solidFill>
            <a:srgbClr val="D4B780"/>
          </a:solidFill>
          <a:ln/>
        </p:spPr>
        <p:txBody>
          <a:bodyPr/>
          <a:p/>
        </p:txBody>
      </p:sp>
      <p:sp>
        <p:nvSpPr>
          <p:cNvPr id="21" name="Text 18"/>
          <p:cNvSpPr txBox="1"/>
          <p:nvPr/>
        </p:nvSpPr>
        <p:spPr>
          <a:xfrm>
            <a:off x="1051560" y="524637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1600200" y="5200650"/>
            <a:ext cx="9448495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E44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How I’ll know it’s working by the halfway check-in: ______________________</a:t>
            </a:r>
            <a:endParaRPr lang="en-US" sz="1450" dirty="0"/>
          </a:p>
        </p:txBody>
      </p:sp>
      <p:sp>
        <p:nvSpPr>
          <p:cNvPr id="23" name="Text 20"/>
          <p:cNvSpPr txBox="1"/>
          <p:nvPr/>
        </p:nvSpPr>
        <p:spPr>
          <a:xfrm>
            <a:off x="594360" y="6355080"/>
            <a:ext cx="82597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Printable worksheet version: Screen Time Reduction Plan (PDF)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8899855" y="63550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SESSION 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E0A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logo-assets/logo-icon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026" y="365760"/>
            <a:ext cx="174282" cy="20116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7133" y="338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B917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PASTORAL GUIDE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94360" y="9601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SESSION 1 · WRAP-UP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234440"/>
            <a:ext cx="9144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E443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What happens next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1005840" y="3657600"/>
            <a:ext cx="10180015" cy="0"/>
          </a:xfrm>
          <a:prstGeom prst="line">
            <a:avLst/>
          </a:prstGeom>
          <a:noFill/>
          <a:ln w="25400">
            <a:solidFill>
              <a:srgbClr val="D4B780"/>
            </a:solidFill>
            <a:prstDash val="dash"/>
          </a:ln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1501102" y="3154680"/>
            <a:ext cx="1005840" cy="1005840"/>
          </a:xfrm>
          <a:prstGeom prst="ellipse">
            <a:avLst/>
          </a:prstGeom>
          <a:solidFill>
            <a:srgbClr val="D4B780"/>
          </a:solidFill>
          <a:ln/>
        </p:spPr>
        <p:txBody>
          <a:bodyPr/>
          <a:p/>
        </p:txBody>
      </p:sp>
      <p:pic>
        <p:nvPicPr>
          <p:cNvPr id="8" name="Image 1" descr="/home/claude/work/screen-time-project/build/icons/clipboard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2504" y="3396082"/>
            <a:ext cx="523037" cy="523037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31520" y="4297680"/>
            <a:ext cx="25450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44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Today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731520" y="4663440"/>
            <a:ext cx="25450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Reflection + reduction plan done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4228986" y="3154680"/>
            <a:ext cx="1005840" cy="1005840"/>
          </a:xfrm>
          <a:prstGeom prst="ellipse">
            <a:avLst/>
          </a:prstGeom>
          <a:solidFill>
            <a:srgbClr val="D4B780"/>
          </a:solidFill>
          <a:ln/>
        </p:spPr>
        <p:txBody>
          <a:bodyPr/>
          <a:p/>
        </p:txBody>
      </p:sp>
      <p:pic>
        <p:nvPicPr>
          <p:cNvPr id="12" name="Image 2" descr="/home/claude/work/screen-time-project/build/icons/chartline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0387" y="3396082"/>
            <a:ext cx="523037" cy="523037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459404" y="4297680"/>
            <a:ext cx="25450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44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Every week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3459404" y="4663440"/>
            <a:ext cx="25450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Tracker updated in class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6956870" y="3154680"/>
            <a:ext cx="1005840" cy="1005840"/>
          </a:xfrm>
          <a:prstGeom prst="ellipse">
            <a:avLst/>
          </a:prstGeom>
          <a:solidFill>
            <a:srgbClr val="D4B780"/>
          </a:solidFill>
          <a:ln/>
        </p:spPr>
        <p:txBody>
          <a:bodyPr/>
          <a:p/>
        </p:txBody>
      </p:sp>
      <p:pic>
        <p:nvPicPr>
          <p:cNvPr id="16" name="Image 3" descr="/home/claude/work/screen-time-project/build/icons/calendar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8271" y="3396082"/>
            <a:ext cx="523037" cy="523037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6187288" y="4297680"/>
            <a:ext cx="25450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44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Halfway</a:t>
            </a:r>
            <a:endParaRPr lang="en-US" sz="1400" dirty="0"/>
          </a:p>
        </p:txBody>
      </p:sp>
      <p:sp>
        <p:nvSpPr>
          <p:cNvPr id="18" name="Text 12"/>
          <p:cNvSpPr txBox="1"/>
          <p:nvPr/>
        </p:nvSpPr>
        <p:spPr>
          <a:xfrm>
            <a:off x="6187288" y="4663440"/>
            <a:ext cx="25450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Session 2: check in on your plan</a:t>
            </a:r>
            <a:endParaRPr lang="en-US" sz="1150" dirty="0"/>
          </a:p>
        </p:txBody>
      </p:sp>
      <p:sp>
        <p:nvSpPr>
          <p:cNvPr id="19" name="Shape 13"/>
          <p:cNvSpPr/>
          <p:nvPr/>
        </p:nvSpPr>
        <p:spPr>
          <a:xfrm>
            <a:off x="9684753" y="3154680"/>
            <a:ext cx="1005840" cy="1005840"/>
          </a:xfrm>
          <a:prstGeom prst="ellipse">
            <a:avLst/>
          </a:prstGeom>
          <a:solidFill>
            <a:srgbClr val="D4B780"/>
          </a:solidFill>
          <a:ln/>
        </p:spPr>
        <p:txBody>
          <a:bodyPr/>
          <a:p/>
        </p:txBody>
      </p:sp>
      <p:pic>
        <p:nvPicPr>
          <p:cNvPr id="20" name="Image 4" descr="/home/claude/work/screen-time-project/build/icons/trophy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26155" y="3396082"/>
            <a:ext cx="523037" cy="523037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8915171" y="4297680"/>
            <a:ext cx="25450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44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End of term</a:t>
            </a:r>
            <a:endParaRPr lang="en-US" sz="1400" dirty="0"/>
          </a:p>
        </p:txBody>
      </p:sp>
      <p:sp>
        <p:nvSpPr>
          <p:cNvPr id="22" name="Text 15"/>
          <p:cNvSpPr txBox="1"/>
          <p:nvPr/>
        </p:nvSpPr>
        <p:spPr>
          <a:xfrm>
            <a:off x="8915171" y="4663440"/>
            <a:ext cx="25450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Session 3: final reflection + awards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E0A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645920"/>
            <a:ext cx="5120640" cy="5120640"/>
          </a:xfrm>
          <a:prstGeom prst="ellipse">
            <a:avLst/>
          </a:prstGeom>
          <a:solidFill>
            <a:srgbClr val="F7EBC4"/>
          </a:solidFill>
          <a:ln/>
        </p:spPr>
        <p:txBody>
          <a:bodyPr/>
          <a:p/>
        </p:txBody>
      </p:sp>
      <p:pic>
        <p:nvPicPr>
          <p:cNvPr id="3" name="Image 0" descr="/home/claude/work/logo-assets/logo-icon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6466" y="502920"/>
            <a:ext cx="174282" cy="20116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58573" y="4754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B917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PASTORAL GUIDE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246888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HOW DOES SCREEN TIME AFFECT…?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283464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2E443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Halfway Check-in</a:t>
            </a:r>
            <a:endParaRPr lang="en-US" sz="5000" dirty="0"/>
          </a:p>
        </p:txBody>
      </p:sp>
      <p:sp>
        <p:nvSpPr>
          <p:cNvPr id="7" name="Text 4"/>
          <p:cNvSpPr txBox="1"/>
          <p:nvPr/>
        </p:nvSpPr>
        <p:spPr>
          <a:xfrm>
            <a:off x="658368" y="38404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Session 2 of 3  ·  the tracker is roughly halfway through the term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logo-assets/logo-icon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026" y="365760"/>
            <a:ext cx="174282" cy="20116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7133" y="338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B917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PASTORAL GUIDE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94360" y="9601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 QUICK REMINDER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234440"/>
            <a:ext cx="9144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E443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What the research said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94360" y="2331720"/>
            <a:ext cx="777240" cy="777240"/>
          </a:xfrm>
          <a:prstGeom prst="ellipse">
            <a:avLst/>
          </a:prstGeom>
          <a:solidFill>
            <a:srgbClr val="F7EBC4"/>
          </a:solidFill>
          <a:ln/>
        </p:spPr>
        <p:txBody>
          <a:bodyPr/>
          <a:p/>
        </p:txBody>
      </p:sp>
      <p:pic>
        <p:nvPicPr>
          <p:cNvPr id="7" name="Image 1" descr="/home/claude/work/screen-time-project/build/icons/brain_mustarddee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898" y="2518258"/>
            <a:ext cx="404165" cy="40416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00200" y="2286000"/>
            <a:ext cx="96926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Higher screen time was linked to changes in brain regions supporting focus and self-control (Shou et al., 2025).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594360" y="3337560"/>
            <a:ext cx="777240" cy="777240"/>
          </a:xfrm>
          <a:prstGeom prst="ellipse">
            <a:avLst/>
          </a:prstGeom>
          <a:solidFill>
            <a:srgbClr val="F7EBC4"/>
          </a:solidFill>
          <a:ln/>
        </p:spPr>
        <p:txBody>
          <a:bodyPr/>
          <a:p/>
        </p:txBody>
      </p:sp>
      <p:pic>
        <p:nvPicPr>
          <p:cNvPr id="10" name="Image 2" descr="/home/claude/work/screen-time-project/build/icons/handpaper_mustarddee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898" y="3524098"/>
            <a:ext cx="404165" cy="404165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600200" y="3291840"/>
            <a:ext cx="96926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Heavier social media use was linked to weaker impulse control years later (Wallace et al., 2023).</a:t>
            </a:r>
            <a:endParaRPr lang="en-US" sz="1400" dirty="0"/>
          </a:p>
        </p:txBody>
      </p:sp>
      <p:sp>
        <p:nvSpPr>
          <p:cNvPr id="12" name="Shape 7"/>
          <p:cNvSpPr/>
          <p:nvPr/>
        </p:nvSpPr>
        <p:spPr>
          <a:xfrm>
            <a:off x="594360" y="4343400"/>
            <a:ext cx="777240" cy="777240"/>
          </a:xfrm>
          <a:prstGeom prst="ellipse">
            <a:avLst/>
          </a:prstGeom>
          <a:solidFill>
            <a:srgbClr val="F7EBC4"/>
          </a:solidFill>
          <a:ln/>
        </p:spPr>
        <p:txBody>
          <a:bodyPr/>
          <a:p/>
        </p:txBody>
      </p:sp>
      <p:pic>
        <p:nvPicPr>
          <p:cNvPr id="13" name="Image 3" descr="/home/claude/work/screen-time-project/build/icons/bullseye_mustarddeep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0898" y="4529938"/>
            <a:ext cx="404165" cy="404165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600200" y="4297680"/>
            <a:ext cx="96926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More screen time was linked to lower grades, especially from gaming and scrolling (Feng et al., 2025).</a:t>
            </a:r>
            <a:endParaRPr lang="en-US" sz="1400" dirty="0"/>
          </a:p>
        </p:txBody>
      </p:sp>
      <p:sp>
        <p:nvSpPr>
          <p:cNvPr id="15" name="Shape 9"/>
          <p:cNvSpPr/>
          <p:nvPr/>
        </p:nvSpPr>
        <p:spPr>
          <a:xfrm>
            <a:off x="594360" y="5349240"/>
            <a:ext cx="777240" cy="777240"/>
          </a:xfrm>
          <a:prstGeom prst="ellipse">
            <a:avLst/>
          </a:prstGeom>
          <a:solidFill>
            <a:srgbClr val="F7EBC4"/>
          </a:solidFill>
          <a:ln/>
        </p:spPr>
        <p:txBody>
          <a:bodyPr/>
          <a:p/>
        </p:txBody>
      </p:sp>
      <p:pic>
        <p:nvPicPr>
          <p:cNvPr id="16" name="Image 4" descr="/home/claude/work/screen-time-project/build/icons/moon_mustarddeep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0898" y="5535778"/>
            <a:ext cx="404165" cy="404165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600200" y="5303520"/>
            <a:ext cx="96926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Screen time measurably worsened sleep within just three months (Hökby et al., 2025).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2E0A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logo-assets/logo-icon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026" y="365760"/>
            <a:ext cx="174282" cy="20116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7133" y="338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B917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PASTORAL GUIDE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94360" y="9144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ACTIVITY 3 · DO THIS NOW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594360" y="1417320"/>
            <a:ext cx="11002975" cy="4892040"/>
          </a:xfrm>
          <a:prstGeom prst="roundRect">
            <a:avLst>
              <a:gd name="adj" fmla="val 2243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1051560" y="1737360"/>
            <a:ext cx="100885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443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Midpoint Reflection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1051560" y="2313432"/>
            <a:ext cx="10088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Get out your Activity 1 reflection and reduction plan from session 1, and compare honestly.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1051560" y="2880360"/>
            <a:ext cx="365760" cy="365760"/>
          </a:xfrm>
          <a:prstGeom prst="ellipse">
            <a:avLst/>
          </a:prstGeom>
          <a:solidFill>
            <a:srgbClr val="D4B780"/>
          </a:solidFill>
          <a:ln/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1051560" y="2880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600200" y="2834640"/>
            <a:ext cx="9448495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E44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What has my screen time actually been like these past few weeks?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1051560" y="3605022"/>
            <a:ext cx="10088575" cy="0"/>
          </a:xfrm>
          <a:prstGeom prst="line">
            <a:avLst/>
          </a:prstGeom>
          <a:noFill/>
          <a:ln w="12700">
            <a:solidFill>
              <a:srgbClr val="F7EBC4"/>
            </a:solidFill>
            <a:prstDash val="solid"/>
          </a:ln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1051560" y="3669030"/>
            <a:ext cx="365760" cy="365760"/>
          </a:xfrm>
          <a:prstGeom prst="ellipse">
            <a:avLst/>
          </a:prstGeom>
          <a:solidFill>
            <a:srgbClr val="D4B780"/>
          </a:solidFill>
          <a:ln/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1051560" y="366903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1600200" y="3623310"/>
            <a:ext cx="9448495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E44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Did I stick to my reduction plan? What helped, and what got in the way?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1051560" y="4393692"/>
            <a:ext cx="10088575" cy="0"/>
          </a:xfrm>
          <a:prstGeom prst="line">
            <a:avLst/>
          </a:prstGeom>
          <a:noFill/>
          <a:ln w="12700">
            <a:solidFill>
              <a:srgbClr val="F7EBC4"/>
            </a:solidFill>
            <a:prstDash val="solid"/>
          </a:ln>
        </p:spPr>
        <p:txBody>
          <a:bodyPr/>
          <a:p/>
        </p:txBody>
      </p:sp>
      <p:sp>
        <p:nvSpPr>
          <p:cNvPr id="16" name="Shape 13"/>
          <p:cNvSpPr/>
          <p:nvPr/>
        </p:nvSpPr>
        <p:spPr>
          <a:xfrm>
            <a:off x="1051560" y="4457700"/>
            <a:ext cx="365760" cy="365760"/>
          </a:xfrm>
          <a:prstGeom prst="ellipse">
            <a:avLst/>
          </a:prstGeom>
          <a:solidFill>
            <a:srgbClr val="D4B780"/>
          </a:solidFill>
          <a:ln/>
        </p:spPr>
        <p:txBody>
          <a:bodyPr/>
          <a:p/>
        </p:txBody>
      </p:sp>
      <p:sp>
        <p:nvSpPr>
          <p:cNvPr id="17" name="Text 14"/>
          <p:cNvSpPr txBox="1"/>
          <p:nvPr/>
        </p:nvSpPr>
        <p:spPr>
          <a:xfrm>
            <a:off x="1051560" y="44577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600200" y="4411980"/>
            <a:ext cx="9448495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E44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What’s one thing that’s improved: sleep, focus, mood, or something else?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1051560" y="5182362"/>
            <a:ext cx="10088575" cy="0"/>
          </a:xfrm>
          <a:prstGeom prst="line">
            <a:avLst/>
          </a:prstGeom>
          <a:noFill/>
          <a:ln w="12700">
            <a:solidFill>
              <a:srgbClr val="F7EBC4"/>
            </a:solidFill>
            <a:prstDash val="solid"/>
          </a:ln>
        </p:spPr>
        <p:txBody>
          <a:bodyPr/>
          <a:p/>
        </p:txBody>
      </p:sp>
      <p:sp>
        <p:nvSpPr>
          <p:cNvPr id="20" name="Shape 17"/>
          <p:cNvSpPr/>
          <p:nvPr/>
        </p:nvSpPr>
        <p:spPr>
          <a:xfrm>
            <a:off x="1051560" y="5246370"/>
            <a:ext cx="365760" cy="365760"/>
          </a:xfrm>
          <a:prstGeom prst="ellipse">
            <a:avLst/>
          </a:prstGeom>
          <a:solidFill>
            <a:srgbClr val="D4B780"/>
          </a:solidFill>
          <a:ln/>
        </p:spPr>
        <p:txBody>
          <a:bodyPr/>
          <a:p/>
        </p:txBody>
      </p:sp>
      <p:sp>
        <p:nvSpPr>
          <p:cNvPr id="21" name="Text 18"/>
          <p:cNvSpPr txBox="1"/>
          <p:nvPr/>
        </p:nvSpPr>
        <p:spPr>
          <a:xfrm>
            <a:off x="1051560" y="524637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1600200" y="5200650"/>
            <a:ext cx="9448495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E44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What will I adjust for the rest of the term?</a:t>
            </a:r>
            <a:endParaRPr lang="en-US" sz="1450" dirty="0"/>
          </a:p>
        </p:txBody>
      </p:sp>
      <p:sp>
        <p:nvSpPr>
          <p:cNvPr id="23" name="Text 20"/>
          <p:cNvSpPr txBox="1"/>
          <p:nvPr/>
        </p:nvSpPr>
        <p:spPr>
          <a:xfrm>
            <a:off x="594360" y="6355080"/>
            <a:ext cx="82597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Printable worksheet version: Midpoint Reflection (PDF)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8899855" y="63550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SESSION 2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EB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logo-assets/logo-icon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026" y="365760"/>
            <a:ext cx="174282" cy="20116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7133" y="338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B917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PASTORAL GUIDE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94360" y="9601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STILL TO COME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23444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E443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Looking ahead to the end of term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96596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Keep logging with your teacher every week. At the end of term, you’ll do one last reflection and find out who’s won the two awards.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594360" y="2743200"/>
            <a:ext cx="51206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2560320" y="3063240"/>
            <a:ext cx="1188720" cy="1188720"/>
          </a:xfrm>
          <a:prstGeom prst="ellipse">
            <a:avLst/>
          </a:prstGeom>
          <a:solidFill>
            <a:srgbClr val="D4B780"/>
          </a:solidFill>
          <a:ln/>
        </p:spPr>
        <p:txBody>
          <a:bodyPr/>
          <a:p/>
        </p:txBody>
      </p:sp>
      <p:pic>
        <p:nvPicPr>
          <p:cNvPr id="9" name="Image 1" descr="/home/claude/work/screen-time-project/build/icons/trophy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5613" y="3348533"/>
            <a:ext cx="618134" cy="61813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60120" y="438912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E443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Lowest total screen time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1051560" y="480060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Across every week logged in the tracker this term.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172200" y="2743200"/>
            <a:ext cx="51206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" name="Shape 9"/>
          <p:cNvSpPr/>
          <p:nvPr/>
        </p:nvSpPr>
        <p:spPr>
          <a:xfrm>
            <a:off x="8138160" y="3063240"/>
            <a:ext cx="1188720" cy="1188720"/>
          </a:xfrm>
          <a:prstGeom prst="ellipse">
            <a:avLst/>
          </a:prstGeom>
          <a:solidFill>
            <a:srgbClr val="D4B780"/>
          </a:solidFill>
          <a:ln/>
        </p:spPr>
        <p:txBody>
          <a:bodyPr/>
          <a:p/>
        </p:txBody>
      </p:sp>
      <p:pic>
        <p:nvPicPr>
          <p:cNvPr id="14" name="Image 2" descr="/home/claude/work/screen-time-project/build/icons/seedling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3453" y="3348533"/>
            <a:ext cx="618134" cy="61813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537960" y="438912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E443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Most reduced screen time</a:t>
            </a:r>
            <a:endParaRPr lang="en-US" sz="1700" dirty="0"/>
          </a:p>
        </p:txBody>
      </p:sp>
      <p:sp>
        <p:nvSpPr>
          <p:cNvPr id="16" name="Text 11"/>
          <p:cNvSpPr txBox="1"/>
          <p:nvPr/>
        </p:nvSpPr>
        <p:spPr>
          <a:xfrm>
            <a:off x="6629400" y="480060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steepest downward trend from week one to the end of term.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2E0A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1828800"/>
            <a:ext cx="5120640" cy="5120640"/>
          </a:xfrm>
          <a:prstGeom prst="ellipse">
            <a:avLst/>
          </a:prstGeom>
          <a:solidFill>
            <a:srgbClr val="F7EBC4"/>
          </a:solidFill>
          <a:ln/>
        </p:spPr>
        <p:txBody>
          <a:bodyPr/>
          <a:p/>
        </p:txBody>
      </p:sp>
      <p:pic>
        <p:nvPicPr>
          <p:cNvPr id="3" name="Image 0" descr="/home/claude/work/logo-assets/logo-icon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6466" y="502920"/>
            <a:ext cx="174282" cy="20116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58573" y="4754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B917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PASTORAL GUIDE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246888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HOW DOES SCREEN TIME AFFECT…?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283464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2E443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End of Term</a:t>
            </a:r>
            <a:endParaRPr lang="en-US" sz="5000" dirty="0"/>
          </a:p>
        </p:txBody>
      </p:sp>
      <p:sp>
        <p:nvSpPr>
          <p:cNvPr id="7" name="Text 4"/>
          <p:cNvSpPr txBox="1"/>
          <p:nvPr/>
        </p:nvSpPr>
        <p:spPr>
          <a:xfrm>
            <a:off x="658368" y="38404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Session 3 of 3  ·  final reflection, then the tracker closes and the awards are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2E0A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logo-assets/logo-icon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026" y="365760"/>
            <a:ext cx="174282" cy="20116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7133" y="338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B917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PASTORAL GUIDE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94360" y="9144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ACTIVITY 4 · DO THIS NOW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594360" y="1417320"/>
            <a:ext cx="11002975" cy="4892040"/>
          </a:xfrm>
          <a:prstGeom prst="roundRect">
            <a:avLst>
              <a:gd name="adj" fmla="val 2243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1051560" y="1737360"/>
            <a:ext cx="100885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443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Final Reflection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1051560" y="2313432"/>
            <a:ext cx="10088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Get out all your reflections from this term, session 1 and the midpoint check-in, and look back over the whole picture.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1051560" y="2880360"/>
            <a:ext cx="365760" cy="365760"/>
          </a:xfrm>
          <a:prstGeom prst="ellipse">
            <a:avLst/>
          </a:prstGeom>
          <a:solidFill>
            <a:srgbClr val="D4B780"/>
          </a:solidFill>
          <a:ln/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1051560" y="2880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600200" y="2834640"/>
            <a:ext cx="9448495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E44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Looking back at your Initial Reflection and Reduction Plan, how has your screen time changed this term?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1051560" y="3605022"/>
            <a:ext cx="10088575" cy="0"/>
          </a:xfrm>
          <a:prstGeom prst="line">
            <a:avLst/>
          </a:prstGeom>
          <a:noFill/>
          <a:ln w="12700">
            <a:solidFill>
              <a:srgbClr val="F7EBC4"/>
            </a:solidFill>
            <a:prstDash val="solid"/>
          </a:ln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1051560" y="3669030"/>
            <a:ext cx="365760" cy="365760"/>
          </a:xfrm>
          <a:prstGeom prst="ellipse">
            <a:avLst/>
          </a:prstGeom>
          <a:solidFill>
            <a:srgbClr val="D4B780"/>
          </a:solidFill>
          <a:ln/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1051560" y="366903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1600200" y="3623310"/>
            <a:ext cx="9448495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E44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What’s the biggest difference you’ve noticed: sleep, focus, mood, or something else?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1051560" y="4393692"/>
            <a:ext cx="10088575" cy="0"/>
          </a:xfrm>
          <a:prstGeom prst="line">
            <a:avLst/>
          </a:prstGeom>
          <a:noFill/>
          <a:ln w="12700">
            <a:solidFill>
              <a:srgbClr val="F7EBC4"/>
            </a:solidFill>
            <a:prstDash val="solid"/>
          </a:ln>
        </p:spPr>
        <p:txBody>
          <a:bodyPr/>
          <a:p/>
        </p:txBody>
      </p:sp>
      <p:sp>
        <p:nvSpPr>
          <p:cNvPr id="16" name="Shape 13"/>
          <p:cNvSpPr/>
          <p:nvPr/>
        </p:nvSpPr>
        <p:spPr>
          <a:xfrm>
            <a:off x="1051560" y="4457700"/>
            <a:ext cx="365760" cy="365760"/>
          </a:xfrm>
          <a:prstGeom prst="ellipse">
            <a:avLst/>
          </a:prstGeom>
          <a:solidFill>
            <a:srgbClr val="D4B780"/>
          </a:solidFill>
          <a:ln/>
        </p:spPr>
        <p:txBody>
          <a:bodyPr/>
          <a:p/>
        </p:txBody>
      </p:sp>
      <p:sp>
        <p:nvSpPr>
          <p:cNvPr id="17" name="Text 14"/>
          <p:cNvSpPr txBox="1"/>
          <p:nvPr/>
        </p:nvSpPr>
        <p:spPr>
          <a:xfrm>
            <a:off x="1051560" y="44577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600200" y="4411980"/>
            <a:ext cx="9448495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E44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Which part of your plan worked best, and which part didn’t stick?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1051560" y="5182362"/>
            <a:ext cx="10088575" cy="0"/>
          </a:xfrm>
          <a:prstGeom prst="line">
            <a:avLst/>
          </a:prstGeom>
          <a:noFill/>
          <a:ln w="12700">
            <a:solidFill>
              <a:srgbClr val="F7EBC4"/>
            </a:solidFill>
            <a:prstDash val="solid"/>
          </a:ln>
        </p:spPr>
        <p:txBody>
          <a:bodyPr/>
          <a:p/>
        </p:txBody>
      </p:sp>
      <p:sp>
        <p:nvSpPr>
          <p:cNvPr id="20" name="Shape 17"/>
          <p:cNvSpPr/>
          <p:nvPr/>
        </p:nvSpPr>
        <p:spPr>
          <a:xfrm>
            <a:off x="1051560" y="5246370"/>
            <a:ext cx="365760" cy="365760"/>
          </a:xfrm>
          <a:prstGeom prst="ellipse">
            <a:avLst/>
          </a:prstGeom>
          <a:solidFill>
            <a:srgbClr val="D4B780"/>
          </a:solidFill>
          <a:ln/>
        </p:spPr>
        <p:txBody>
          <a:bodyPr/>
          <a:p/>
        </p:txBody>
      </p:sp>
      <p:sp>
        <p:nvSpPr>
          <p:cNvPr id="21" name="Text 18"/>
          <p:cNvSpPr txBox="1"/>
          <p:nvPr/>
        </p:nvSpPr>
        <p:spPr>
          <a:xfrm>
            <a:off x="1051560" y="524637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1600200" y="5200650"/>
            <a:ext cx="9448495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E44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What’s one screen habit you want to keep going next term?</a:t>
            </a:r>
            <a:endParaRPr lang="en-US" sz="1450" dirty="0"/>
          </a:p>
        </p:txBody>
      </p:sp>
      <p:sp>
        <p:nvSpPr>
          <p:cNvPr id="23" name="Text 20"/>
          <p:cNvSpPr txBox="1"/>
          <p:nvPr/>
        </p:nvSpPr>
        <p:spPr>
          <a:xfrm>
            <a:off x="594360" y="6355080"/>
            <a:ext cx="82597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Printable worksheet version: Final Reflection (PDF)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8899855" y="63550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SESSION 3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EB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logo-assets/logo-icon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026" y="365760"/>
            <a:ext cx="174282" cy="20116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7133" y="338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B917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PASTORAL GUIDE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94360" y="96012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MOMENT YOU’VE BEEN TRACKING TOWARDS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234440"/>
            <a:ext cx="9144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E443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This term’s awards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594360" y="2377440"/>
            <a:ext cx="5120640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2468880" y="2743200"/>
            <a:ext cx="1371600" cy="1371600"/>
          </a:xfrm>
          <a:prstGeom prst="ellipse">
            <a:avLst/>
          </a:prstGeom>
          <a:solidFill>
            <a:srgbClr val="D4B780"/>
          </a:solidFill>
          <a:ln/>
        </p:spPr>
        <p:txBody>
          <a:bodyPr/>
          <a:p/>
        </p:txBody>
      </p:sp>
      <p:pic>
        <p:nvPicPr>
          <p:cNvPr id="8" name="Image 1" descr="/home/claude/work/screen-time-project/build/icons/trophy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8064" y="3072384"/>
            <a:ext cx="713232" cy="71323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60120" y="42519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E443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Lowest total screen time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1051560" y="47091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Across every week logged in the tracker this term.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6172200" y="2377440"/>
            <a:ext cx="5120640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2" name="Shape 8"/>
          <p:cNvSpPr/>
          <p:nvPr/>
        </p:nvSpPr>
        <p:spPr>
          <a:xfrm>
            <a:off x="8046720" y="2743200"/>
            <a:ext cx="1371600" cy="1371600"/>
          </a:xfrm>
          <a:prstGeom prst="ellipse">
            <a:avLst/>
          </a:prstGeom>
          <a:solidFill>
            <a:srgbClr val="D4B780"/>
          </a:solidFill>
          <a:ln/>
        </p:spPr>
        <p:txBody>
          <a:bodyPr/>
          <a:p/>
        </p:txBody>
      </p:sp>
      <p:pic>
        <p:nvPicPr>
          <p:cNvPr id="13" name="Image 2" descr="/home/claude/work/screen-time-project/build/icons/seedling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5904" y="3072384"/>
            <a:ext cx="713232" cy="7132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537960" y="42519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E443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Most reduced screen time</a:t>
            </a:r>
            <a:endParaRPr lang="en-US" sz="1800" dirty="0"/>
          </a:p>
        </p:txBody>
      </p:sp>
      <p:sp>
        <p:nvSpPr>
          <p:cNvPr id="15" name="Text 10"/>
          <p:cNvSpPr txBox="1"/>
          <p:nvPr/>
        </p:nvSpPr>
        <p:spPr>
          <a:xfrm>
            <a:off x="6629400" y="47091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steepest downward trend from week one to the end of term.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594360" y="63550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Ask your teacher to open the Screen Time Tracker now to reveal the names.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2E0A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1828800"/>
            <a:ext cx="5120640" cy="5120640"/>
          </a:xfrm>
          <a:prstGeom prst="ellipse">
            <a:avLst/>
          </a:prstGeom>
          <a:solidFill>
            <a:srgbClr val="F7EBC4"/>
          </a:solidFill>
          <a:ln/>
        </p:spPr>
        <p:txBody>
          <a:bodyPr/>
          <a:p/>
        </p:txBody>
      </p:sp>
      <p:pic>
        <p:nvPicPr>
          <p:cNvPr id="3" name="Image 0" descr="/home/claude/work/logo-assets/logo-icon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6466" y="502920"/>
            <a:ext cx="174282" cy="20116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58573" y="4754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B917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PASTORAL GUIDE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2651760"/>
            <a:ext cx="9601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i="1" dirty="0">
                <a:solidFill>
                  <a:srgbClr val="2E443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Small changes, kept up, are worth more than big ones you can’t sustain.</a:t>
            </a:r>
            <a:endParaRPr lang="en-US" sz="3200" dirty="0"/>
          </a:p>
        </p:txBody>
      </p:sp>
      <p:sp>
        <p:nvSpPr>
          <p:cNvPr id="6" name="Text 3"/>
          <p:cNvSpPr txBox="1"/>
          <p:nvPr/>
        </p:nvSpPr>
        <p:spPr>
          <a:xfrm>
            <a:off x="658368" y="41148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Well done for being honest about your habits all term. That’s the hardest part.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logo-assets/logo-icon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026" y="365760"/>
            <a:ext cx="174282" cy="20116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7133" y="338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B917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PASTORAL GUIDE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94360" y="9601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28F3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FOR THE TEACHER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234440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E443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2103120"/>
            <a:ext cx="1078992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600"/>
              </a:spcAft>
              <a:buSzPct val="100000"/>
              <a:buChar char="●"/>
            </a:pPr>
            <a:r>
              <a:rPr lang="en-US" sz="130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Hökby, S., Alvarsson, J., Westerlund, J., Carli, V., &amp; Hadlaczky, G. (2025). Adolescents’ screen time displaces multiple sleep pathways and elevates depressive symptoms over twelve months. PLOS Global Public Health.</a:t>
            </a:r>
            <a:endParaRPr lang="en-US" sz="1300" dirty="0"/>
          </a:p>
          <a:p>
            <a:pPr marL="228600" indent="-228600">
              <a:spcAft>
                <a:spcPts val="1600"/>
              </a:spcAft>
              <a:buSzPct val="100000"/>
              <a:buChar char="●"/>
            </a:pPr>
            <a:r>
              <a:rPr lang="en-US" sz="130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Feng, X., Ren, S., &amp; Shi, P. (2025). The relationship and mechanism of screen time and academic performance among adolescents: an empirical study based on CEPS. Frontiers in Public Health, 13, 1533327.</a:t>
            </a:r>
            <a:endParaRPr lang="en-US" sz="1300" dirty="0"/>
          </a:p>
          <a:p>
            <a:pPr marL="228600" indent="-228600">
              <a:spcAft>
                <a:spcPts val="1600"/>
              </a:spcAft>
              <a:buSzPct val="100000"/>
              <a:buChar char="●"/>
            </a:pPr>
            <a:r>
              <a:rPr lang="en-US" sz="130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Shou, Q., Yamashita, M., &amp; Mizuno, Y. (2025). Association of screen time with attention-deficit/hyperactivity disorder symptoms and their development: the mediating role of brain structure. Translational Psychiatry, 15, 447.</a:t>
            </a:r>
            <a:endParaRPr lang="en-US" sz="1300" dirty="0"/>
          </a:p>
          <a:p>
            <a:pPr marL="228600" indent="-228600">
              <a:spcAft>
                <a:spcPts val="1600"/>
              </a:spcAft>
              <a:buSzPct val="100000"/>
              <a:buChar char="●"/>
            </a:pPr>
            <a:r>
              <a:rPr lang="en-US" sz="1300" dirty="0">
                <a:solidFill>
                  <a:srgbClr val="5C65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Wallace, J., Boers, E., Ouellet, J., Afzali, M. H., &amp; Conrod, P. (2023). Screen time, impulsivity, neuropsychological functions and their relationship to growth in adolescent attention-deficit/hyperactivity disorder symptoms. Scientific Reports, 13, 18108.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The Pastoral Guide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Does Screen Time Affect…? The slides</dc:title>
  <dc:subject>A free pastoral resource for form tutors, from The Pastoral Guide, thepastoralguide.com</dc:subject>
  <dc:creator>The Pastoral Guide</dc:creator>
  <cp:keywords>form time, tutor time, pastoral, PSHE, secondary, free</cp:keywords>
  <dc:description>A free pastoral resource for form tutors, from The Pastoral Guide, thepastoralguide.com</dc:description>
  <cp:lastModifiedBy>The Pastoral Guide</cp:lastModifiedBy>
  <cp:revision>1</cp:revision>
  <dcterms:created xsi:type="dcterms:W3CDTF">2026-09-14T05:55:02Z</dcterms:created>
  <dcterms:modified xsi:type="dcterms:W3CDTF">2026-09-14T05:55:02Z</dcterms:modified>
  <cp:category>Pastoral resources</cp:category>
</cp:coreProperties>
</file>