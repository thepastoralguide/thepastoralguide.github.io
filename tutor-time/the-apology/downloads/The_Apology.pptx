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9A4030"/>
                </a:solidFill>
                <a:latin typeface="Libre Caslon Display"/>
              </a:rPr>
              <a:t>The Apology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CD8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8094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A6862"/>
                </a:solidFill>
                <a:latin typeface="Karla"/>
              </a:rPr>
              <a:t>Everyone says it. Almost nobody is taught how.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1129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D9C96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3388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Which of these are real apologies?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0513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8102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0513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953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529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The four parts of one that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5227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5227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667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Rewrite a bad one, in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994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7529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994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138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795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Check somebody else's against the four.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4654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32243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4654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094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2670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you actually owe. Nobody reads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FIRST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Sort them into two piles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Eight cards on your table. Real apology, or not?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Two piles. You will not agree on all eight.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Be ready to say why.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Only three were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0253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842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shouldn’t have said it in front of everyone. That was embarrassing for you.”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1518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3405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157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697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was wrong, and I am not going to do it again.”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4670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465575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472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4290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know saying sorry doesn’t undo it. I’ll walk in with you tomorrow.”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The other five are all doing one of three things instead.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The three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672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976" y="1975103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“I’m sorry you feel that way.”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Blames the person who was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The sentence is about their reaction, not your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1944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2816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975103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8248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“Mistakes were made.”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8248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Takes the person 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6536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If you cannot say who did it, you have not admitted anything.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8088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18960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264" y="1975103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4392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“Sorry, but you started it.”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392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Cancels itself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2680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Everything after but is what you actually meant.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SO WHAT DOES A REAL ONE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Four parts,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20724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Name what you 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Not what happened: what you did.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88336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23260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why it landed.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Show you understand the effect on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25796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 “but”, no explaining, no asking to be let 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3408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8332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what changes.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specific thing you will do differently.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WATCH ONE GET FIXED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Before and after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CD8878"/>
                </a:solidFill>
                <a:latin typeface="Karla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6771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1">
                <a:solidFill>
                  <a:srgbClr val="7A6862"/>
                </a:solidFill>
                <a:latin typeface="Karla"/>
              </a:rPr>
              <a:t>“Sorry if you got upset about the group chat thing, but you know what you’re like.”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9A4030"/>
                </a:solidFill>
                <a:latin typeface="Karla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2267712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50" b="0" i="0">
                <a:solidFill>
                  <a:srgbClr val="463A36"/>
                </a:solidFill>
                <a:latin typeface="Karla"/>
              </a:rPr>
              <a:t>“I left you out of the group chat and then laughed when you asked about it. That was humiliating. I am not doing it again, and I will say so to the others.”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Point at each of the four parts on the right, in order.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ALL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Now fix this one out 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73152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You promised to cover your friend’s shift, then did not turn up. They got in trouble for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7772400" cy="85953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“Sorry about the shift thing, I completely forgot, I’ve had so much on. But you know I’d normally do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30752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7A6862"/>
                </a:solidFill>
                <a:latin typeface="Karla"/>
              </a:rPr>
              <a:t>Which parts are missing? Rebuild it one part at a time and write the finished version on the board.</a:t>
            </a:r>
          </a:p>
        </p:txBody>
      </p:sp>
      <p:pic>
        <p:nvPicPr>
          <p:cNvPr id="12" name="Picture 1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MAIN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IN PAIRS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Fix a real one, in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one scenario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Rewrite the apology on the sheet. All four parts, in order.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 names on it. Another pair is going to mark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A6862"/>
                </a:solidFill>
                <a:latin typeface="Karla"/>
              </a:rPr>
              <a:t>Pass your sheet two tables along. Mark it against the four parts.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56816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9888" y="2039112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116836"/>
            <a:ext cx="173736" cy="173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01952" y="2002536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say what they did, in their own words?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560320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89888" y="2642616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720340"/>
            <a:ext cx="173736" cy="173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1952" y="2606040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show they understand why it mattered?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163824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89888" y="3246120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323844"/>
            <a:ext cx="173736" cy="173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1952" y="3209544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a but anywhere? Circle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767328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89888" y="3849624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927348"/>
            <a:ext cx="173736" cy="173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01952" y="3813048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one specific thing they will do differently?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Then one sentence at the bottom: which part is weakest, and why.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THE HARDER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4" y="1993391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01168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75104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Does an apology have to be accepted?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779776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98064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6148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Can you apologise for something you still think you were right about?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56432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566160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3584448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547872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Is there a point where it is too late to say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Talk to the person next to you, then take a few answers.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TWO THINGS WORTH KNOWING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An apology is not a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It does not come with forgiveness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You are not owed anything back. Apologising so somebody will say it is fine is a favour you are asking for, not an apology you are giving.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You do not have to send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Some of the things people most need to say are to somebody who is not around any more. Writing it still does something.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BEFORE YOU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One you actually owe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a slip. Small is fine. It does not have to be recent.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Nobody reads it. Nobody collects it. Fold it and keep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You do not have to send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32688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56816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9A4030"/>
                </a:solidFill>
                <a:latin typeface="Libre Caslon Display"/>
              </a:rPr>
              <a:t>Sorry is the easy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8950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A6862"/>
                </a:solidFill>
                <a:latin typeface="Karla"/>
              </a:rPr>
              <a:t>Saying what you did, and what you will do instead, is the bit that costs something. That is the bit people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D9C96"/>
                </a:solidFill>
                <a:latin typeface="Karla"/>
              </a:rPr>
              <a:t>The Apology  ·  A tutor time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