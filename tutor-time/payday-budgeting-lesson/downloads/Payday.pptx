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master.png"/>
          <p:cNvPicPr>
            <a:picLocks noChangeAspect="1"/>
          </p:cNvPicPr>
          <p:nvPr/>
        </p:nvPicPr>
        <p:blipFill>
          <a:blip r:embed="rId2"/>
          <a:stretch>
            <a:fillRect/>
          </a:stretch>
        </p:blipFill>
        <p:spPr>
          <a:xfrm>
            <a:off x="4168146" y="640080"/>
            <a:ext cx="807707" cy="932688"/>
          </a:xfrm>
          <a:prstGeom prst="rect">
            <a:avLst/>
          </a:prstGeom>
        </p:spPr>
      </p:pic>
      <p:sp>
        <p:nvSpPr>
          <p:cNvPr id="4" name="TextBox 3"/>
          <p:cNvSpPr txBox="1"/>
          <p:nvPr/>
        </p:nvSpPr>
        <p:spPr>
          <a:xfrm>
            <a:off x="548640" y="1810512"/>
            <a:ext cx="8046720" cy="822960"/>
          </a:xfrm>
          <a:prstGeom prst="rect">
            <a:avLst/>
          </a:prstGeom>
          <a:noFill/>
        </p:spPr>
        <p:txBody>
          <a:bodyPr wrap="square" lIns="0" rIns="0" tIns="0" bIns="0" anchor="t">
            <a:spAutoFit/>
          </a:bodyPr>
          <a:lstStyle/>
          <a:p>
            <a:pPr algn="ctr">
              <a:lnSpc>
                <a:spcPct val="100000"/>
              </a:lnSpc>
              <a:spcAft>
                <a:spcPts val="0"/>
              </a:spcAft>
            </a:pPr>
            <a:r>
              <a:rPr sz="5200" b="0" i="0">
                <a:solidFill>
                  <a:srgbClr val="2F5470"/>
                </a:solidFill>
                <a:latin typeface="Georgia"/>
              </a:rPr>
              <a:t>Payday</a:t>
            </a:r>
          </a:p>
        </p:txBody>
      </p:sp>
      <p:sp>
        <p:nvSpPr>
          <p:cNvPr id="5" name="Rectangle 4"/>
          <p:cNvSpPr/>
          <p:nvPr/>
        </p:nvSpPr>
        <p:spPr>
          <a:xfrm>
            <a:off x="4069080" y="2798064"/>
            <a:ext cx="1005840" cy="18288"/>
          </a:xfrm>
          <a:prstGeom prst="rect">
            <a:avLst/>
          </a:prstGeom>
          <a:solidFill>
            <a:srgbClr val="7EA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99232"/>
            <a:ext cx="7680960" cy="365760"/>
          </a:xfrm>
          <a:prstGeom prst="rect">
            <a:avLst/>
          </a:prstGeom>
          <a:noFill/>
        </p:spPr>
        <p:txBody>
          <a:bodyPr wrap="square" lIns="0" rIns="0" tIns="0" bIns="0" anchor="t">
            <a:spAutoFit/>
          </a:bodyPr>
          <a:lstStyle/>
          <a:p>
            <a:pPr algn="ctr">
              <a:lnSpc>
                <a:spcPct val="125000"/>
              </a:lnSpc>
              <a:spcAft>
                <a:spcPts val="0"/>
              </a:spcAft>
            </a:pPr>
            <a:r>
              <a:rPr sz="1700" b="0" i="0">
                <a:solidFill>
                  <a:srgbClr val="6B7681"/>
                </a:solidFill>
                <a:latin typeface="Calibri"/>
              </a:rPr>
              <a:t>One month. One wage. Everything it has to cover.</a:t>
            </a:r>
          </a:p>
        </p:txBody>
      </p:sp>
      <p:sp>
        <p:nvSpPr>
          <p:cNvPr id="7" name="TextBox 6"/>
          <p:cNvSpPr txBox="1"/>
          <p:nvPr/>
        </p:nvSpPr>
        <p:spPr>
          <a:xfrm>
            <a:off x="731520" y="3529584"/>
            <a:ext cx="7680960" cy="365760"/>
          </a:xfrm>
          <a:prstGeom prst="rect">
            <a:avLst/>
          </a:prstGeom>
          <a:noFill/>
        </p:spPr>
        <p:txBody>
          <a:bodyPr wrap="square" lIns="0" rIns="0" tIns="0" bIns="0" anchor="t">
            <a:spAutoFit/>
          </a:bodyPr>
          <a:lstStyle/>
          <a:p>
            <a:pPr algn="ctr">
              <a:lnSpc>
                <a:spcPct val="125000"/>
              </a:lnSpc>
              <a:spcAft>
                <a:spcPts val="0"/>
              </a:spcAft>
            </a:pPr>
            <a:r>
              <a:rPr sz="1250" b="0" i="1">
                <a:solidFill>
                  <a:srgbClr val="A2ACB5"/>
                </a:solidFill>
                <a:latin typeface="Calibri"/>
              </a:rPr>
              <a:t>A budgeting lesson</a:t>
            </a:r>
          </a:p>
        </p:txBody>
      </p:sp>
      <p:pic>
        <p:nvPicPr>
          <p:cNvPr id="8" name="Picture 7" descr="logo-master.png"/>
          <p:cNvPicPr>
            <a:picLocks noChangeAspect="1"/>
          </p:cNvPicPr>
          <p:nvPr/>
        </p:nvPicPr>
        <p:blipFill>
          <a:blip r:embed="rId2"/>
          <a:stretch>
            <a:fillRect/>
          </a:stretch>
        </p:blipFill>
        <p:spPr>
          <a:xfrm>
            <a:off x="384048" y="4722876"/>
            <a:ext cx="158374" cy="182880"/>
          </a:xfrm>
          <a:prstGeom prst="rect">
            <a:avLst/>
          </a:prstGeom>
        </p:spPr>
      </p:pic>
      <p:sp>
        <p:nvSpPr>
          <p:cNvPr id="9" name="TextBox 8"/>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2ACB5"/>
                </a:solidFill>
                <a:latin typeface="Calibri"/>
              </a:rPr>
              <a:t>The Pastoral Guide</a:t>
            </a:r>
          </a:p>
        </p:txBody>
      </p:sp>
      <p:sp>
        <p:nvSpPr>
          <p:cNvPr id="10" name="TextBox 9"/>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2ACB5"/>
                </a:solidFill>
                <a:latin typeface="Calibri"/>
              </a:rPr>
              <a:t>1 /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769864" y="530352"/>
            <a:ext cx="2688336" cy="347472"/>
          </a:xfrm>
          <a:prstGeom prst="roundRect">
            <a:avLst>
              <a:gd name="adj" fmla="val 50000"/>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69864" y="589788"/>
            <a:ext cx="2688336" cy="237744"/>
          </a:xfrm>
          <a:prstGeom prst="rect">
            <a:avLst/>
          </a:prstGeom>
          <a:noFill/>
        </p:spPr>
        <p:txBody>
          <a:bodyPr wrap="square" lIns="0" rIns="0" tIns="0" bIns="0" anchor="t">
            <a:spAutoFit/>
          </a:bodyPr>
          <a:lstStyle/>
          <a:p>
            <a:pPr algn="ctr">
              <a:lnSpc>
                <a:spcPct val="125000"/>
              </a:lnSpc>
              <a:spcAft>
                <a:spcPts val="0"/>
              </a:spcAft>
            </a:pPr>
            <a:r>
              <a:rPr sz="1000" b="1" i="0" spc="100">
                <a:solidFill>
                  <a:srgbClr val="2F5470"/>
                </a:solidFill>
                <a:latin typeface="Calibri"/>
              </a:rPr>
              <a:t>TEACHER SLIDE  ·  SKIP IT</a:t>
            </a:r>
          </a:p>
        </p:txBody>
      </p:sp>
      <p:sp>
        <p:nvSpPr>
          <p:cNvPr id="5" name="TextBox 4"/>
          <p:cNvSpPr txBox="1"/>
          <p:nvPr/>
        </p:nvSpPr>
        <p:spPr>
          <a:xfrm>
            <a:off x="685800" y="566928"/>
            <a:ext cx="7772400" cy="201168"/>
          </a:xfrm>
          <a:prstGeom prst="rect">
            <a:avLst/>
          </a:prstGeom>
          <a:noFill/>
        </p:spPr>
        <p:txBody>
          <a:bodyPr wrap="square" lIns="0" rIns="0" tIns="0" bIns="0" anchor="t">
            <a:spAutoFit/>
          </a:bodyPr>
          <a:lstStyle/>
          <a:p>
            <a:pPr algn="l">
              <a:lnSpc>
                <a:spcPct val="125000"/>
              </a:lnSpc>
              <a:spcAft>
                <a:spcPts val="0"/>
              </a:spcAft>
            </a:pPr>
            <a:r>
              <a:rPr sz="1050" b="1" i="0" spc="160">
                <a:solidFill>
                  <a:srgbClr val="7EA6BD"/>
                </a:solidFill>
                <a:latin typeface="Calibri"/>
              </a:rPr>
              <a:t>BEFORE YOU START</a:t>
            </a:r>
          </a:p>
        </p:txBody>
      </p:sp>
      <p:sp>
        <p:nvSpPr>
          <p:cNvPr id="6" name="TextBox 5"/>
          <p:cNvSpPr txBox="1"/>
          <p:nvPr/>
        </p:nvSpPr>
        <p:spPr>
          <a:xfrm>
            <a:off x="685800" y="841248"/>
            <a:ext cx="6309360" cy="566928"/>
          </a:xfrm>
          <a:prstGeom prst="rect">
            <a:avLst/>
          </a:prstGeom>
          <a:noFill/>
        </p:spPr>
        <p:txBody>
          <a:bodyPr wrap="square" lIns="0" rIns="0" tIns="0" bIns="0" anchor="t">
            <a:spAutoFit/>
          </a:bodyPr>
          <a:lstStyle/>
          <a:p>
            <a:pPr algn="l">
              <a:lnSpc>
                <a:spcPct val="105000"/>
              </a:lnSpc>
              <a:spcAft>
                <a:spcPts val="0"/>
              </a:spcAft>
            </a:pPr>
            <a:r>
              <a:rPr sz="3100" b="0" i="0">
                <a:solidFill>
                  <a:srgbClr val="39424A"/>
                </a:solidFill>
                <a:latin typeface="Georgia"/>
              </a:rPr>
              <a:t>Two ways to run this</a:t>
            </a:r>
          </a:p>
        </p:txBody>
      </p:sp>
      <p:sp>
        <p:nvSpPr>
          <p:cNvPr id="7" name="Rounded Rectangle 6"/>
          <p:cNvSpPr/>
          <p:nvPr/>
        </p:nvSpPr>
        <p:spPr>
          <a:xfrm>
            <a:off x="685800" y="1645920"/>
            <a:ext cx="3749039" cy="2615184"/>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47088"/>
            <a:ext cx="3200400" cy="310896"/>
          </a:xfrm>
          <a:prstGeom prst="rect">
            <a:avLst/>
          </a:prstGeom>
          <a:noFill/>
        </p:spPr>
        <p:txBody>
          <a:bodyPr wrap="square" lIns="0" rIns="0" tIns="0" bIns="0" anchor="t">
            <a:spAutoFit/>
          </a:bodyPr>
          <a:lstStyle/>
          <a:p>
            <a:pPr algn="l">
              <a:lnSpc>
                <a:spcPct val="125000"/>
              </a:lnSpc>
              <a:spcAft>
                <a:spcPts val="0"/>
              </a:spcAft>
            </a:pPr>
            <a:r>
              <a:rPr sz="1100" b="1" i="0" spc="140">
                <a:solidFill>
                  <a:srgbClr val="7EA6BD"/>
                </a:solidFill>
                <a:latin typeface="Calibri"/>
              </a:rPr>
              <a:t>BASIC</a:t>
            </a:r>
          </a:p>
        </p:txBody>
      </p:sp>
      <p:sp>
        <p:nvSpPr>
          <p:cNvPr id="9" name="TextBox 8"/>
          <p:cNvSpPr txBox="1"/>
          <p:nvPr/>
        </p:nvSpPr>
        <p:spPr>
          <a:xfrm>
            <a:off x="960120" y="2139696"/>
            <a:ext cx="3200400" cy="329184"/>
          </a:xfrm>
          <a:prstGeom prst="rect">
            <a:avLst/>
          </a:prstGeom>
          <a:noFill/>
        </p:spPr>
        <p:txBody>
          <a:bodyPr wrap="square" lIns="0" rIns="0" tIns="0" bIns="0" anchor="t">
            <a:spAutoFit/>
          </a:bodyPr>
          <a:lstStyle/>
          <a:p>
            <a:pPr algn="l">
              <a:lnSpc>
                <a:spcPct val="125000"/>
              </a:lnSpc>
              <a:spcAft>
                <a:spcPts val="0"/>
              </a:spcAft>
            </a:pPr>
            <a:r>
              <a:rPr sz="1700" b="0" i="0">
                <a:solidFill>
                  <a:srgbClr val="2F5470"/>
                </a:solidFill>
                <a:latin typeface="Georgia"/>
              </a:rPr>
              <a:t>Pen and paper</a:t>
            </a:r>
          </a:p>
        </p:txBody>
      </p:sp>
      <p:sp>
        <p:nvSpPr>
          <p:cNvPr id="10" name="TextBox 9"/>
          <p:cNvSpPr txBox="1"/>
          <p:nvPr/>
        </p:nvSpPr>
        <p:spPr>
          <a:xfrm>
            <a:off x="960120" y="2560320"/>
            <a:ext cx="182880" cy="274320"/>
          </a:xfrm>
          <a:prstGeom prst="rect">
            <a:avLst/>
          </a:prstGeom>
          <a:noFill/>
        </p:spPr>
        <p:txBody>
          <a:bodyPr wrap="square" lIns="0" rIns="0" tIns="0" bIns="0" anchor="t">
            <a:spAutoFit/>
          </a:bodyPr>
          <a:lstStyle/>
          <a:p>
            <a:pPr algn="l">
              <a:lnSpc>
                <a:spcPct val="125000"/>
              </a:lnSpc>
              <a:spcAft>
                <a:spcPts val="0"/>
              </a:spcAft>
            </a:pPr>
            <a:r>
              <a:rPr sz="1400" b="1" i="0">
                <a:solidFill>
                  <a:srgbClr val="7EA6BD"/>
                </a:solidFill>
                <a:latin typeface="Calibri"/>
              </a:rPr>
              <a:t>·</a:t>
            </a:r>
          </a:p>
        </p:txBody>
      </p:sp>
      <p:sp>
        <p:nvSpPr>
          <p:cNvPr id="11" name="TextBox 10"/>
          <p:cNvSpPr txBox="1"/>
          <p:nvPr/>
        </p:nvSpPr>
        <p:spPr>
          <a:xfrm>
            <a:off x="1161288" y="2542032"/>
            <a:ext cx="3017520" cy="512064"/>
          </a:xfrm>
          <a:prstGeom prst="rect">
            <a:avLst/>
          </a:prstGeom>
          <a:noFill/>
        </p:spPr>
        <p:txBody>
          <a:bodyPr wrap="square" lIns="0" rIns="0" tIns="0" bIns="0" anchor="t">
            <a:spAutoFit/>
          </a:bodyPr>
          <a:lstStyle/>
          <a:p>
            <a:pPr algn="l">
              <a:lnSpc>
                <a:spcPct val="130000"/>
              </a:lnSpc>
              <a:spcAft>
                <a:spcPts val="0"/>
              </a:spcAft>
            </a:pPr>
            <a:r>
              <a:rPr sz="1100" b="0" i="0">
                <a:solidFill>
                  <a:srgbClr val="6B7681"/>
                </a:solidFill>
                <a:latin typeface="Calibri"/>
              </a:rPr>
              <a:t>Print the job cards and one budget sheet per group.</a:t>
            </a:r>
          </a:p>
        </p:txBody>
      </p:sp>
      <p:sp>
        <p:nvSpPr>
          <p:cNvPr id="12" name="TextBox 11"/>
          <p:cNvSpPr txBox="1"/>
          <p:nvPr/>
        </p:nvSpPr>
        <p:spPr>
          <a:xfrm>
            <a:off x="960120" y="3108960"/>
            <a:ext cx="182880" cy="274320"/>
          </a:xfrm>
          <a:prstGeom prst="rect">
            <a:avLst/>
          </a:prstGeom>
          <a:noFill/>
        </p:spPr>
        <p:txBody>
          <a:bodyPr wrap="square" lIns="0" rIns="0" tIns="0" bIns="0" anchor="t">
            <a:spAutoFit/>
          </a:bodyPr>
          <a:lstStyle/>
          <a:p>
            <a:pPr algn="l">
              <a:lnSpc>
                <a:spcPct val="125000"/>
              </a:lnSpc>
              <a:spcAft>
                <a:spcPts val="0"/>
              </a:spcAft>
            </a:pPr>
            <a:r>
              <a:rPr sz="1400" b="1" i="0">
                <a:solidFill>
                  <a:srgbClr val="7EA6BD"/>
                </a:solidFill>
                <a:latin typeface="Calibri"/>
              </a:rPr>
              <a:t>·</a:t>
            </a:r>
          </a:p>
        </p:txBody>
      </p:sp>
      <p:sp>
        <p:nvSpPr>
          <p:cNvPr id="13" name="TextBox 12"/>
          <p:cNvSpPr txBox="1"/>
          <p:nvPr/>
        </p:nvSpPr>
        <p:spPr>
          <a:xfrm>
            <a:off x="1161288" y="3090672"/>
            <a:ext cx="3017520" cy="512064"/>
          </a:xfrm>
          <a:prstGeom prst="rect">
            <a:avLst/>
          </a:prstGeom>
          <a:noFill/>
        </p:spPr>
        <p:txBody>
          <a:bodyPr wrap="square" lIns="0" rIns="0" tIns="0" bIns="0" anchor="t">
            <a:spAutoFit/>
          </a:bodyPr>
          <a:lstStyle/>
          <a:p>
            <a:pPr algn="l">
              <a:lnSpc>
                <a:spcPct val="130000"/>
              </a:lnSpc>
              <a:spcAft>
                <a:spcPts val="0"/>
              </a:spcAft>
            </a:pPr>
            <a:r>
              <a:rPr sz="1100" b="0" i="0">
                <a:solidFill>
                  <a:srgbClr val="6B7681"/>
                </a:solidFill>
                <a:latin typeface="Calibri"/>
              </a:rPr>
              <a:t>Groups write their choices and subtract as they go.</a:t>
            </a:r>
          </a:p>
        </p:txBody>
      </p:sp>
      <p:sp>
        <p:nvSpPr>
          <p:cNvPr id="14" name="TextBox 13"/>
          <p:cNvSpPr txBox="1"/>
          <p:nvPr/>
        </p:nvSpPr>
        <p:spPr>
          <a:xfrm>
            <a:off x="960120" y="3657600"/>
            <a:ext cx="182880" cy="274320"/>
          </a:xfrm>
          <a:prstGeom prst="rect">
            <a:avLst/>
          </a:prstGeom>
          <a:noFill/>
        </p:spPr>
        <p:txBody>
          <a:bodyPr wrap="square" lIns="0" rIns="0" tIns="0" bIns="0" anchor="t">
            <a:spAutoFit/>
          </a:bodyPr>
          <a:lstStyle/>
          <a:p>
            <a:pPr algn="l">
              <a:lnSpc>
                <a:spcPct val="125000"/>
              </a:lnSpc>
              <a:spcAft>
                <a:spcPts val="0"/>
              </a:spcAft>
            </a:pPr>
            <a:r>
              <a:rPr sz="1400" b="1" i="0">
                <a:solidFill>
                  <a:srgbClr val="7EA6BD"/>
                </a:solidFill>
                <a:latin typeface="Calibri"/>
              </a:rPr>
              <a:t>·</a:t>
            </a:r>
          </a:p>
        </p:txBody>
      </p:sp>
      <p:sp>
        <p:nvSpPr>
          <p:cNvPr id="15" name="TextBox 14"/>
          <p:cNvSpPr txBox="1"/>
          <p:nvPr/>
        </p:nvSpPr>
        <p:spPr>
          <a:xfrm>
            <a:off x="1161288" y="3639312"/>
            <a:ext cx="3017520" cy="512064"/>
          </a:xfrm>
          <a:prstGeom prst="rect">
            <a:avLst/>
          </a:prstGeom>
          <a:noFill/>
        </p:spPr>
        <p:txBody>
          <a:bodyPr wrap="square" lIns="0" rIns="0" tIns="0" bIns="0" anchor="t">
            <a:spAutoFit/>
          </a:bodyPr>
          <a:lstStyle/>
          <a:p>
            <a:pPr algn="l">
              <a:lnSpc>
                <a:spcPct val="130000"/>
              </a:lnSpc>
              <a:spcAft>
                <a:spcPts val="0"/>
              </a:spcAft>
            </a:pPr>
            <a:r>
              <a:rPr sz="1100" b="0" i="0">
                <a:solidFill>
                  <a:srgbClr val="6B7681"/>
                </a:solidFill>
                <a:latin typeface="Calibri"/>
              </a:rPr>
              <a:t>Use three of the ten events. Skip the shop.</a:t>
            </a:r>
          </a:p>
        </p:txBody>
      </p:sp>
      <p:sp>
        <p:nvSpPr>
          <p:cNvPr id="16" name="Rounded Rectangle 15"/>
          <p:cNvSpPr/>
          <p:nvPr/>
        </p:nvSpPr>
        <p:spPr>
          <a:xfrm>
            <a:off x="4709160" y="1645920"/>
            <a:ext cx="3749039" cy="2615184"/>
          </a:xfrm>
          <a:prstGeom prst="roundRect">
            <a:avLst>
              <a:gd name="adj" fmla="val 5500"/>
            </a:avLst>
          </a:prstGeom>
          <a:solidFill>
            <a:srgbClr val="EDF3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83480" y="1847088"/>
            <a:ext cx="3200400" cy="310896"/>
          </a:xfrm>
          <a:prstGeom prst="rect">
            <a:avLst/>
          </a:prstGeom>
          <a:noFill/>
        </p:spPr>
        <p:txBody>
          <a:bodyPr wrap="square" lIns="0" rIns="0" tIns="0" bIns="0" anchor="t">
            <a:spAutoFit/>
          </a:bodyPr>
          <a:lstStyle/>
          <a:p>
            <a:pPr algn="l">
              <a:lnSpc>
                <a:spcPct val="125000"/>
              </a:lnSpc>
              <a:spcAft>
                <a:spcPts val="0"/>
              </a:spcAft>
            </a:pPr>
            <a:r>
              <a:rPr sz="1100" b="1" i="0" spc="140">
                <a:solidFill>
                  <a:srgbClr val="7EA6BD"/>
                </a:solidFill>
                <a:latin typeface="Calibri"/>
              </a:rPr>
              <a:t>FULL</a:t>
            </a:r>
          </a:p>
        </p:txBody>
      </p:sp>
      <p:sp>
        <p:nvSpPr>
          <p:cNvPr id="18" name="TextBox 17"/>
          <p:cNvSpPr txBox="1"/>
          <p:nvPr/>
        </p:nvSpPr>
        <p:spPr>
          <a:xfrm>
            <a:off x="4983480" y="2139696"/>
            <a:ext cx="3200400" cy="329184"/>
          </a:xfrm>
          <a:prstGeom prst="rect">
            <a:avLst/>
          </a:prstGeom>
          <a:noFill/>
        </p:spPr>
        <p:txBody>
          <a:bodyPr wrap="square" lIns="0" rIns="0" tIns="0" bIns="0" anchor="t">
            <a:spAutoFit/>
          </a:bodyPr>
          <a:lstStyle/>
          <a:p>
            <a:pPr algn="l">
              <a:lnSpc>
                <a:spcPct val="125000"/>
              </a:lnSpc>
              <a:spcAft>
                <a:spcPts val="0"/>
              </a:spcAft>
            </a:pPr>
            <a:r>
              <a:rPr sz="1700" b="0" i="0">
                <a:solidFill>
                  <a:srgbClr val="2F5470"/>
                </a:solidFill>
                <a:latin typeface="Georgia"/>
              </a:rPr>
              <a:t>Cash and a shop</a:t>
            </a:r>
          </a:p>
        </p:txBody>
      </p:sp>
      <p:sp>
        <p:nvSpPr>
          <p:cNvPr id="19" name="TextBox 18"/>
          <p:cNvSpPr txBox="1"/>
          <p:nvPr/>
        </p:nvSpPr>
        <p:spPr>
          <a:xfrm>
            <a:off x="4983480" y="2560320"/>
            <a:ext cx="182880" cy="274320"/>
          </a:xfrm>
          <a:prstGeom prst="rect">
            <a:avLst/>
          </a:prstGeom>
          <a:noFill/>
        </p:spPr>
        <p:txBody>
          <a:bodyPr wrap="square" lIns="0" rIns="0" tIns="0" bIns="0" anchor="t">
            <a:spAutoFit/>
          </a:bodyPr>
          <a:lstStyle/>
          <a:p>
            <a:pPr algn="l">
              <a:lnSpc>
                <a:spcPct val="125000"/>
              </a:lnSpc>
              <a:spcAft>
                <a:spcPts val="0"/>
              </a:spcAft>
            </a:pPr>
            <a:r>
              <a:rPr sz="1400" b="1" i="0">
                <a:solidFill>
                  <a:srgbClr val="7EA6BD"/>
                </a:solidFill>
                <a:latin typeface="Calibri"/>
              </a:rPr>
              <a:t>·</a:t>
            </a:r>
          </a:p>
        </p:txBody>
      </p:sp>
      <p:sp>
        <p:nvSpPr>
          <p:cNvPr id="20" name="TextBox 19"/>
          <p:cNvSpPr txBox="1"/>
          <p:nvPr/>
        </p:nvSpPr>
        <p:spPr>
          <a:xfrm>
            <a:off x="5184648" y="2542032"/>
            <a:ext cx="3017520" cy="512064"/>
          </a:xfrm>
          <a:prstGeom prst="rect">
            <a:avLst/>
          </a:prstGeom>
          <a:noFill/>
        </p:spPr>
        <p:txBody>
          <a:bodyPr wrap="square" lIns="0" rIns="0" tIns="0" bIns="0" anchor="t">
            <a:spAutoFit/>
          </a:bodyPr>
          <a:lstStyle/>
          <a:p>
            <a:pPr algn="l">
              <a:lnSpc>
                <a:spcPct val="130000"/>
              </a:lnSpc>
              <a:spcAft>
                <a:spcPts val="0"/>
              </a:spcAft>
            </a:pPr>
            <a:r>
              <a:rPr sz="1100" b="0" i="0">
                <a:solidFill>
                  <a:srgbClr val="6B7681"/>
                </a:solidFill>
                <a:latin typeface="Calibri"/>
              </a:rPr>
              <a:t>Also print the cash sheets and the shop cards.</a:t>
            </a:r>
          </a:p>
        </p:txBody>
      </p:sp>
      <p:sp>
        <p:nvSpPr>
          <p:cNvPr id="21" name="TextBox 20"/>
          <p:cNvSpPr txBox="1"/>
          <p:nvPr/>
        </p:nvSpPr>
        <p:spPr>
          <a:xfrm>
            <a:off x="4983480" y="3108960"/>
            <a:ext cx="182880" cy="274320"/>
          </a:xfrm>
          <a:prstGeom prst="rect">
            <a:avLst/>
          </a:prstGeom>
          <a:noFill/>
        </p:spPr>
        <p:txBody>
          <a:bodyPr wrap="square" lIns="0" rIns="0" tIns="0" bIns="0" anchor="t">
            <a:spAutoFit/>
          </a:bodyPr>
          <a:lstStyle/>
          <a:p>
            <a:pPr algn="l">
              <a:lnSpc>
                <a:spcPct val="125000"/>
              </a:lnSpc>
              <a:spcAft>
                <a:spcPts val="0"/>
              </a:spcAft>
            </a:pPr>
            <a:r>
              <a:rPr sz="1400" b="1" i="0">
                <a:solidFill>
                  <a:srgbClr val="7EA6BD"/>
                </a:solidFill>
                <a:latin typeface="Calibri"/>
              </a:rPr>
              <a:t>·</a:t>
            </a:r>
          </a:p>
        </p:txBody>
      </p:sp>
      <p:sp>
        <p:nvSpPr>
          <p:cNvPr id="22" name="TextBox 21"/>
          <p:cNvSpPr txBox="1"/>
          <p:nvPr/>
        </p:nvSpPr>
        <p:spPr>
          <a:xfrm>
            <a:off x="5184648" y="3090672"/>
            <a:ext cx="3017520" cy="512064"/>
          </a:xfrm>
          <a:prstGeom prst="rect">
            <a:avLst/>
          </a:prstGeom>
          <a:noFill/>
        </p:spPr>
        <p:txBody>
          <a:bodyPr wrap="square" lIns="0" rIns="0" tIns="0" bIns="0" anchor="t">
            <a:spAutoFit/>
          </a:bodyPr>
          <a:lstStyle/>
          <a:p>
            <a:pPr algn="l">
              <a:lnSpc>
                <a:spcPct val="130000"/>
              </a:lnSpc>
              <a:spcAft>
                <a:spcPts val="0"/>
              </a:spcAft>
            </a:pPr>
            <a:r>
              <a:rPr sz="1100" b="0" i="0">
                <a:solidFill>
                  <a:srgbClr val="6B7681"/>
                </a:solidFill>
                <a:latin typeface="Calibri"/>
              </a:rPr>
              <a:t>Groups pay with notes and buy from the shop.</a:t>
            </a:r>
          </a:p>
        </p:txBody>
      </p:sp>
      <p:sp>
        <p:nvSpPr>
          <p:cNvPr id="23" name="TextBox 22"/>
          <p:cNvSpPr txBox="1"/>
          <p:nvPr/>
        </p:nvSpPr>
        <p:spPr>
          <a:xfrm>
            <a:off x="4983480" y="3657600"/>
            <a:ext cx="182880" cy="274320"/>
          </a:xfrm>
          <a:prstGeom prst="rect">
            <a:avLst/>
          </a:prstGeom>
          <a:noFill/>
        </p:spPr>
        <p:txBody>
          <a:bodyPr wrap="square" lIns="0" rIns="0" tIns="0" bIns="0" anchor="t">
            <a:spAutoFit/>
          </a:bodyPr>
          <a:lstStyle/>
          <a:p>
            <a:pPr algn="l">
              <a:lnSpc>
                <a:spcPct val="125000"/>
              </a:lnSpc>
              <a:spcAft>
                <a:spcPts val="0"/>
              </a:spcAft>
            </a:pPr>
            <a:r>
              <a:rPr sz="1400" b="1" i="0">
                <a:solidFill>
                  <a:srgbClr val="7EA6BD"/>
                </a:solidFill>
                <a:latin typeface="Calibri"/>
              </a:rPr>
              <a:t>·</a:t>
            </a:r>
          </a:p>
        </p:txBody>
      </p:sp>
      <p:sp>
        <p:nvSpPr>
          <p:cNvPr id="24" name="TextBox 23"/>
          <p:cNvSpPr txBox="1"/>
          <p:nvPr/>
        </p:nvSpPr>
        <p:spPr>
          <a:xfrm>
            <a:off x="5184648" y="3639312"/>
            <a:ext cx="3017520" cy="512064"/>
          </a:xfrm>
          <a:prstGeom prst="rect">
            <a:avLst/>
          </a:prstGeom>
          <a:noFill/>
        </p:spPr>
        <p:txBody>
          <a:bodyPr wrap="square" lIns="0" rIns="0" tIns="0" bIns="0" anchor="t">
            <a:spAutoFit/>
          </a:bodyPr>
          <a:lstStyle/>
          <a:p>
            <a:pPr algn="l">
              <a:lnSpc>
                <a:spcPct val="130000"/>
              </a:lnSpc>
              <a:spcAft>
                <a:spcPts val="0"/>
              </a:spcAft>
            </a:pPr>
            <a:r>
              <a:rPr sz="1100" b="0" i="0">
                <a:solidFill>
                  <a:srgbClr val="6B7681"/>
                </a:solidFill>
                <a:latin typeface="Calibri"/>
              </a:rPr>
              <a:t>Use six or more events. Needs the full hour.</a:t>
            </a:r>
          </a:p>
        </p:txBody>
      </p:sp>
      <p:sp>
        <p:nvSpPr>
          <p:cNvPr id="25" name="TextBox 24"/>
          <p:cNvSpPr txBox="1"/>
          <p:nvPr/>
        </p:nvSpPr>
        <p:spPr>
          <a:xfrm>
            <a:off x="685800" y="4352544"/>
            <a:ext cx="7772400" cy="274320"/>
          </a:xfrm>
          <a:prstGeom prst="rect">
            <a:avLst/>
          </a:prstGeom>
          <a:noFill/>
        </p:spPr>
        <p:txBody>
          <a:bodyPr wrap="square" lIns="0" rIns="0" tIns="0" bIns="0" anchor="t">
            <a:spAutoFit/>
          </a:bodyPr>
          <a:lstStyle/>
          <a:p>
            <a:pPr algn="l">
              <a:lnSpc>
                <a:spcPct val="125000"/>
              </a:lnSpc>
              <a:spcAft>
                <a:spcPts val="0"/>
              </a:spcAft>
            </a:pPr>
            <a:r>
              <a:rPr sz="1200" b="0" i="1">
                <a:solidFill>
                  <a:srgbClr val="6B7681"/>
                </a:solidFill>
                <a:latin typeface="Calibri"/>
              </a:rPr>
              <a:t>Everything else in this deck works either way.</a:t>
            </a:r>
          </a:p>
        </p:txBody>
      </p:sp>
      <p:pic>
        <p:nvPicPr>
          <p:cNvPr id="26" name="Picture 25" descr="logo-master.png"/>
          <p:cNvPicPr>
            <a:picLocks noChangeAspect="1"/>
          </p:cNvPicPr>
          <p:nvPr/>
        </p:nvPicPr>
        <p:blipFill>
          <a:blip r:embed="rId2"/>
          <a:stretch>
            <a:fillRect/>
          </a:stretch>
        </p:blipFill>
        <p:spPr>
          <a:xfrm>
            <a:off x="384048" y="4722876"/>
            <a:ext cx="158374" cy="182880"/>
          </a:xfrm>
          <a:prstGeom prst="rect">
            <a:avLst/>
          </a:prstGeom>
        </p:spPr>
      </p:pic>
      <p:sp>
        <p:nvSpPr>
          <p:cNvPr id="27" name="TextBox 26"/>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2ACB5"/>
                </a:solidFill>
                <a:latin typeface="Calibri"/>
              </a:rPr>
              <a:t>The Pastoral Guide</a:t>
            </a:r>
          </a:p>
        </p:txBody>
      </p:sp>
      <p:sp>
        <p:nvSpPr>
          <p:cNvPr id="28" name="TextBox 27"/>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2ACB5"/>
                </a:solidFill>
                <a:latin typeface="Calibri"/>
              </a:rPr>
              <a:t>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C3D6E2"/>
                </a:solidFill>
                <a:latin typeface="Calibri"/>
              </a:rPr>
              <a:t>THE TWENTY-EIGHTH</a:t>
            </a:r>
          </a:p>
        </p:txBody>
      </p:sp>
      <p:sp>
        <p:nvSpPr>
          <p:cNvPr id="4" name="TextBox 3"/>
          <p:cNvSpPr txBox="1"/>
          <p:nvPr/>
        </p:nvSpPr>
        <p:spPr>
          <a:xfrm>
            <a:off x="731520" y="896112"/>
            <a:ext cx="7680960" cy="2011680"/>
          </a:xfrm>
          <a:prstGeom prst="rect">
            <a:avLst/>
          </a:prstGeom>
          <a:noFill/>
        </p:spPr>
        <p:txBody>
          <a:bodyPr wrap="square" lIns="0" rIns="0" tIns="0" bIns="0" anchor="t">
            <a:spAutoFit/>
          </a:bodyPr>
          <a:lstStyle/>
          <a:p>
            <a:pPr algn="ctr">
              <a:lnSpc>
                <a:spcPct val="142000"/>
              </a:lnSpc>
              <a:spcAft>
                <a:spcPts val="0"/>
              </a:spcAft>
            </a:pPr>
            <a:r>
              <a:rPr sz="2500" b="0" i="0">
                <a:solidFill>
                  <a:srgbClr val="FFFDF7"/>
                </a:solidFill>
                <a:latin typeface="Georgia"/>
              </a:rPr>
              <a:t>It is 7.04 in the morning and your phone buzzes on the pillow next to you.</a:t>
            </a:r>
            <a:br/>
            <a:r>
              <a:rPr sz="2500" b="0" i="0">
                <a:solidFill>
                  <a:srgbClr val="FFFDF7"/>
                </a:solidFill>
                <a:latin typeface="Georgia"/>
              </a:rPr>
              <a:t>Your wages have landed.</a:t>
            </a:r>
            <a:br/>
            <a:r>
              <a:rPr sz="2500" b="0" i="0">
                <a:solidFill>
                  <a:srgbClr val="FFFDF7"/>
                </a:solidFill>
                <a:latin typeface="Georgia"/>
              </a:rPr>
              <a:t>First proper month. First proper pay.</a:t>
            </a:r>
          </a:p>
        </p:txBody>
      </p:sp>
      <p:sp>
        <p:nvSpPr>
          <p:cNvPr id="5" name="Rectangle 4"/>
          <p:cNvSpPr/>
          <p:nvPr/>
        </p:nvSpPr>
        <p:spPr>
          <a:xfrm>
            <a:off x="4114800" y="3145536"/>
            <a:ext cx="914400" cy="18288"/>
          </a:xfrm>
          <a:prstGeom prst="rect">
            <a:avLst/>
          </a:prstGeom>
          <a:solidFill>
            <a:srgbClr val="C3D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3401568"/>
            <a:ext cx="6583680" cy="822960"/>
          </a:xfrm>
          <a:prstGeom prst="rect">
            <a:avLst/>
          </a:prstGeom>
          <a:noFill/>
        </p:spPr>
        <p:txBody>
          <a:bodyPr wrap="square" lIns="0" rIns="0" tIns="0" bIns="0" anchor="t">
            <a:spAutoFit/>
          </a:bodyPr>
          <a:lstStyle/>
          <a:p>
            <a:pPr algn="ctr">
              <a:lnSpc>
                <a:spcPct val="142000"/>
              </a:lnSpc>
              <a:spcAft>
                <a:spcPts val="0"/>
              </a:spcAft>
            </a:pPr>
            <a:r>
              <a:rPr sz="1450" b="0" i="1">
                <a:solidFill>
                  <a:srgbClr val="C3D6E2"/>
                </a:solidFill>
                <a:latin typeface="Calibri"/>
              </a:rPr>
              <a:t>You already know what you are going to spend some of it on. You have known for about a fortnight.</a:t>
            </a:r>
          </a:p>
        </p:txBody>
      </p:sp>
      <p:pic>
        <p:nvPicPr>
          <p:cNvPr id="7" name="Picture 6" descr="logo-master.png"/>
          <p:cNvPicPr>
            <a:picLocks noChangeAspect="1"/>
          </p:cNvPicPr>
          <p:nvPr/>
        </p:nvPicPr>
        <p:blipFill>
          <a:blip r:embed="rId2"/>
          <a:stretch>
            <a:fillRect/>
          </a:stretch>
        </p:blipFill>
        <p:spPr>
          <a:xfrm>
            <a:off x="384048" y="4722876"/>
            <a:ext cx="158374" cy="182880"/>
          </a:xfrm>
          <a:prstGeom prst="rect">
            <a:avLst/>
          </a:prstGeom>
        </p:spPr>
      </p:pic>
      <p:sp>
        <p:nvSpPr>
          <p:cNvPr id="8" name="TextBox 7"/>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C3D6E2"/>
                </a:solidFill>
                <a:latin typeface="Calibri"/>
              </a:rPr>
              <a:t>The Pastoral Guide</a:t>
            </a:r>
          </a:p>
        </p:txBody>
      </p:sp>
      <p:sp>
        <p:nvSpPr>
          <p:cNvPr id="9" name="TextBox 8"/>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C3D6E2"/>
                </a:solidFill>
                <a:latin typeface="Calibri"/>
              </a:rPr>
              <a:t>3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7EA6BD"/>
                </a:solidFill>
                <a:latin typeface="Calibri"/>
              </a:rPr>
              <a:t>THEN YOU OPEN IT</a:t>
            </a:r>
          </a:p>
        </p:txBody>
      </p:sp>
      <p:sp>
        <p:nvSpPr>
          <p:cNvPr id="4" name="TextBox 3"/>
          <p:cNvSpPr txBox="1"/>
          <p:nvPr/>
        </p:nvSpPr>
        <p:spPr>
          <a:xfrm>
            <a:off x="685800" y="841248"/>
            <a:ext cx="7772400" cy="585216"/>
          </a:xfrm>
          <a:prstGeom prst="rect">
            <a:avLst/>
          </a:prstGeom>
          <a:noFill/>
        </p:spPr>
        <p:txBody>
          <a:bodyPr wrap="square" lIns="0" rIns="0" tIns="0" bIns="0" anchor="t">
            <a:spAutoFit/>
          </a:bodyPr>
          <a:lstStyle/>
          <a:p>
            <a:pPr algn="ctr">
              <a:lnSpc>
                <a:spcPct val="105000"/>
              </a:lnSpc>
              <a:spcAft>
                <a:spcPts val="0"/>
              </a:spcAft>
            </a:pPr>
            <a:r>
              <a:rPr sz="3100" b="0" i="0">
                <a:solidFill>
                  <a:srgbClr val="39424A"/>
                </a:solidFill>
                <a:latin typeface="Georgia"/>
              </a:rPr>
              <a:t>Told one number. Paid another.</a:t>
            </a:r>
          </a:p>
        </p:txBody>
      </p:sp>
      <p:sp>
        <p:nvSpPr>
          <p:cNvPr id="5" name="Rounded Rectangle 4"/>
          <p:cNvSpPr/>
          <p:nvPr/>
        </p:nvSpPr>
        <p:spPr>
          <a:xfrm>
            <a:off x="1234440" y="1700784"/>
            <a:ext cx="6675120" cy="694944"/>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00200" y="1792224"/>
            <a:ext cx="3383280" cy="512064"/>
          </a:xfrm>
          <a:prstGeom prst="rect">
            <a:avLst/>
          </a:prstGeom>
          <a:noFill/>
        </p:spPr>
        <p:txBody>
          <a:bodyPr wrap="square" lIns="0" rIns="0" tIns="0" bIns="0" anchor="ctr">
            <a:spAutoFit/>
          </a:bodyPr>
          <a:lstStyle/>
          <a:p>
            <a:pPr algn="l">
              <a:lnSpc>
                <a:spcPct val="120000"/>
              </a:lnSpc>
              <a:spcAft>
                <a:spcPts val="0"/>
              </a:spcAft>
            </a:pPr>
            <a:r>
              <a:rPr sz="1400" b="0" i="0">
                <a:solidFill>
                  <a:srgbClr val="39424A"/>
                </a:solidFill>
                <a:latin typeface="Calibri"/>
              </a:rPr>
              <a:t>The salary in the advert</a:t>
            </a:r>
          </a:p>
        </p:txBody>
      </p:sp>
      <p:sp>
        <p:nvSpPr>
          <p:cNvPr id="7" name="TextBox 6"/>
          <p:cNvSpPr txBox="1"/>
          <p:nvPr/>
        </p:nvSpPr>
        <p:spPr>
          <a:xfrm>
            <a:off x="4937760" y="1792224"/>
            <a:ext cx="2651760" cy="512064"/>
          </a:xfrm>
          <a:prstGeom prst="rect">
            <a:avLst/>
          </a:prstGeom>
          <a:noFill/>
        </p:spPr>
        <p:txBody>
          <a:bodyPr wrap="square" lIns="0" rIns="0" tIns="0" bIns="0" anchor="ctr">
            <a:spAutoFit/>
          </a:bodyPr>
          <a:lstStyle/>
          <a:p>
            <a:pPr algn="r">
              <a:lnSpc>
                <a:spcPct val="120000"/>
              </a:lnSpc>
              <a:spcAft>
                <a:spcPts val="0"/>
              </a:spcAft>
            </a:pPr>
            <a:r>
              <a:rPr sz="1700" b="0" i="0">
                <a:solidFill>
                  <a:srgbClr val="2F5470"/>
                </a:solidFill>
                <a:latin typeface="Georgia"/>
              </a:rPr>
              <a:t>£24,000 a year</a:t>
            </a:r>
          </a:p>
        </p:txBody>
      </p:sp>
      <p:sp>
        <p:nvSpPr>
          <p:cNvPr id="8" name="Rounded Rectangle 7"/>
          <p:cNvSpPr/>
          <p:nvPr/>
        </p:nvSpPr>
        <p:spPr>
          <a:xfrm>
            <a:off x="1234440" y="2542032"/>
            <a:ext cx="6675120" cy="694944"/>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2633472"/>
            <a:ext cx="3383280" cy="512064"/>
          </a:xfrm>
          <a:prstGeom prst="rect">
            <a:avLst/>
          </a:prstGeom>
          <a:noFill/>
        </p:spPr>
        <p:txBody>
          <a:bodyPr wrap="square" lIns="0" rIns="0" tIns="0" bIns="0" anchor="ctr">
            <a:spAutoFit/>
          </a:bodyPr>
          <a:lstStyle/>
          <a:p>
            <a:pPr algn="l">
              <a:lnSpc>
                <a:spcPct val="120000"/>
              </a:lnSpc>
              <a:spcAft>
                <a:spcPts val="0"/>
              </a:spcAft>
            </a:pPr>
            <a:r>
              <a:rPr sz="1400" b="0" i="0">
                <a:solidFill>
                  <a:srgbClr val="39424A"/>
                </a:solidFill>
                <a:latin typeface="Calibri"/>
              </a:rPr>
              <a:t>Which sounds like</a:t>
            </a:r>
          </a:p>
        </p:txBody>
      </p:sp>
      <p:sp>
        <p:nvSpPr>
          <p:cNvPr id="10" name="TextBox 9"/>
          <p:cNvSpPr txBox="1"/>
          <p:nvPr/>
        </p:nvSpPr>
        <p:spPr>
          <a:xfrm>
            <a:off x="4937760" y="2633472"/>
            <a:ext cx="2651760" cy="512064"/>
          </a:xfrm>
          <a:prstGeom prst="rect">
            <a:avLst/>
          </a:prstGeom>
          <a:noFill/>
        </p:spPr>
        <p:txBody>
          <a:bodyPr wrap="square" lIns="0" rIns="0" tIns="0" bIns="0" anchor="ctr">
            <a:spAutoFit/>
          </a:bodyPr>
          <a:lstStyle/>
          <a:p>
            <a:pPr algn="r">
              <a:lnSpc>
                <a:spcPct val="120000"/>
              </a:lnSpc>
              <a:spcAft>
                <a:spcPts val="0"/>
              </a:spcAft>
            </a:pPr>
            <a:r>
              <a:rPr sz="1700" b="0" i="0">
                <a:solidFill>
                  <a:srgbClr val="2F5470"/>
                </a:solidFill>
                <a:latin typeface="Georgia"/>
              </a:rPr>
              <a:t>£2,000 a month</a:t>
            </a:r>
          </a:p>
        </p:txBody>
      </p:sp>
      <p:sp>
        <p:nvSpPr>
          <p:cNvPr id="11" name="Rounded Rectangle 10"/>
          <p:cNvSpPr/>
          <p:nvPr/>
        </p:nvSpPr>
        <p:spPr>
          <a:xfrm>
            <a:off x="1234440" y="3383280"/>
            <a:ext cx="6675120" cy="694944"/>
          </a:xfrm>
          <a:prstGeom prst="roundRect">
            <a:avLst>
              <a:gd name="adj" fmla="val 5500"/>
            </a:avLst>
          </a:prstGeom>
          <a:solidFill>
            <a:srgbClr val="EDF3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00200" y="3474720"/>
            <a:ext cx="3383280" cy="512064"/>
          </a:xfrm>
          <a:prstGeom prst="rect">
            <a:avLst/>
          </a:prstGeom>
          <a:noFill/>
        </p:spPr>
        <p:txBody>
          <a:bodyPr wrap="square" lIns="0" rIns="0" tIns="0" bIns="0" anchor="ctr">
            <a:spAutoFit/>
          </a:bodyPr>
          <a:lstStyle/>
          <a:p>
            <a:pPr algn="l">
              <a:lnSpc>
                <a:spcPct val="120000"/>
              </a:lnSpc>
              <a:spcAft>
                <a:spcPts val="0"/>
              </a:spcAft>
            </a:pPr>
            <a:r>
              <a:rPr sz="1400" b="0" i="0">
                <a:solidFill>
                  <a:srgbClr val="39424A"/>
                </a:solidFill>
                <a:latin typeface="Calibri"/>
              </a:rPr>
              <a:t>What actually lands</a:t>
            </a:r>
          </a:p>
        </p:txBody>
      </p:sp>
      <p:sp>
        <p:nvSpPr>
          <p:cNvPr id="13" name="TextBox 12"/>
          <p:cNvSpPr txBox="1"/>
          <p:nvPr/>
        </p:nvSpPr>
        <p:spPr>
          <a:xfrm>
            <a:off x="4937760" y="3474720"/>
            <a:ext cx="2651760" cy="512064"/>
          </a:xfrm>
          <a:prstGeom prst="rect">
            <a:avLst/>
          </a:prstGeom>
          <a:noFill/>
        </p:spPr>
        <p:txBody>
          <a:bodyPr wrap="square" lIns="0" rIns="0" tIns="0" bIns="0" anchor="ctr">
            <a:spAutoFit/>
          </a:bodyPr>
          <a:lstStyle/>
          <a:p>
            <a:pPr algn="r">
              <a:lnSpc>
                <a:spcPct val="120000"/>
              </a:lnSpc>
              <a:spcAft>
                <a:spcPts val="0"/>
              </a:spcAft>
            </a:pPr>
            <a:r>
              <a:rPr sz="1700" b="0" i="0">
                <a:solidFill>
                  <a:srgbClr val="2F5470"/>
                </a:solidFill>
                <a:latin typeface="Georgia"/>
              </a:rPr>
              <a:t>£1,730</a:t>
            </a:r>
          </a:p>
        </p:txBody>
      </p:sp>
      <p:sp>
        <p:nvSpPr>
          <p:cNvPr id="14" name="TextBox 13"/>
          <p:cNvSpPr txBox="1"/>
          <p:nvPr/>
        </p:nvSpPr>
        <p:spPr>
          <a:xfrm>
            <a:off x="685800" y="4315968"/>
            <a:ext cx="7772400" cy="310896"/>
          </a:xfrm>
          <a:prstGeom prst="rect">
            <a:avLst/>
          </a:prstGeom>
          <a:noFill/>
        </p:spPr>
        <p:txBody>
          <a:bodyPr wrap="square" lIns="0" rIns="0" tIns="0" bIns="0" anchor="t">
            <a:spAutoFit/>
          </a:bodyPr>
          <a:lstStyle/>
          <a:p>
            <a:pPr algn="ctr">
              <a:lnSpc>
                <a:spcPct val="125000"/>
              </a:lnSpc>
              <a:spcAft>
                <a:spcPts val="0"/>
              </a:spcAft>
            </a:pPr>
            <a:r>
              <a:rPr sz="1250" b="0" i="1">
                <a:solidFill>
                  <a:srgbClr val="6B7681"/>
                </a:solidFill>
                <a:latin typeface="Calibri"/>
              </a:rPr>
              <a:t>Tax and deductions. Two hundred and seventy pounds you never see.</a:t>
            </a:r>
          </a:p>
        </p:txBody>
      </p:sp>
      <p:pic>
        <p:nvPicPr>
          <p:cNvPr id="15" name="Picture 14" descr="logo-master.png"/>
          <p:cNvPicPr>
            <a:picLocks noChangeAspect="1"/>
          </p:cNvPicPr>
          <p:nvPr/>
        </p:nvPicPr>
        <p:blipFill>
          <a:blip r:embed="rId2"/>
          <a:stretch>
            <a:fillRect/>
          </a:stretch>
        </p:blipFill>
        <p:spPr>
          <a:xfrm>
            <a:off x="384048" y="4722876"/>
            <a:ext cx="158374" cy="182880"/>
          </a:xfrm>
          <a:prstGeom prst="rect">
            <a:avLst/>
          </a:prstGeom>
        </p:spPr>
      </p:pic>
      <p:sp>
        <p:nvSpPr>
          <p:cNvPr id="16" name="TextBox 15"/>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2ACB5"/>
                </a:solidFill>
                <a:latin typeface="Calibri"/>
              </a:rPr>
              <a:t>The Pastoral Guide</a:t>
            </a:r>
          </a:p>
        </p:txBody>
      </p:sp>
      <p:sp>
        <p:nvSpPr>
          <p:cNvPr id="17" name="TextBox 16"/>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2ACB5"/>
                </a:solidFill>
                <a:latin typeface="Calibri"/>
              </a:rPr>
              <a:t>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l">
              <a:lnSpc>
                <a:spcPct val="125000"/>
              </a:lnSpc>
              <a:spcAft>
                <a:spcPts val="0"/>
              </a:spcAft>
            </a:pPr>
            <a:r>
              <a:rPr sz="1050" b="1" i="0" spc="160">
                <a:solidFill>
                  <a:srgbClr val="7EA6BD"/>
                </a:solidFill>
                <a:latin typeface="Calibri"/>
              </a:rPr>
              <a:t>YOUR GROUP</a:t>
            </a:r>
          </a:p>
        </p:txBody>
      </p:sp>
      <p:sp>
        <p:nvSpPr>
          <p:cNvPr id="4" name="TextBox 3"/>
          <p:cNvSpPr txBox="1"/>
          <p:nvPr/>
        </p:nvSpPr>
        <p:spPr>
          <a:xfrm>
            <a:off x="685800" y="841248"/>
            <a:ext cx="6309360" cy="566928"/>
          </a:xfrm>
          <a:prstGeom prst="rect">
            <a:avLst/>
          </a:prstGeom>
          <a:noFill/>
        </p:spPr>
        <p:txBody>
          <a:bodyPr wrap="square" lIns="0" rIns="0" tIns="0" bIns="0" anchor="t">
            <a:spAutoFit/>
          </a:bodyPr>
          <a:lstStyle/>
          <a:p>
            <a:pPr algn="l">
              <a:lnSpc>
                <a:spcPct val="105000"/>
              </a:lnSpc>
              <a:spcAft>
                <a:spcPts val="0"/>
              </a:spcAft>
            </a:pPr>
            <a:r>
              <a:rPr sz="3200" b="0" i="0">
                <a:solidFill>
                  <a:srgbClr val="39424A"/>
                </a:solidFill>
                <a:latin typeface="Georgia"/>
              </a:rPr>
              <a:t>Take a job card</a:t>
            </a:r>
          </a:p>
        </p:txBody>
      </p:sp>
      <p:sp>
        <p:nvSpPr>
          <p:cNvPr id="5" name="TextBox 4"/>
          <p:cNvSpPr txBox="1"/>
          <p:nvPr/>
        </p:nvSpPr>
        <p:spPr>
          <a:xfrm>
            <a:off x="685800" y="1499616"/>
            <a:ext cx="7772400" cy="310896"/>
          </a:xfrm>
          <a:prstGeom prst="rect">
            <a:avLst/>
          </a:prstGeom>
          <a:noFill/>
        </p:spPr>
        <p:txBody>
          <a:bodyPr wrap="square" lIns="0" rIns="0" tIns="0" bIns="0" anchor="t">
            <a:spAutoFit/>
          </a:bodyPr>
          <a:lstStyle/>
          <a:p>
            <a:pPr algn="l">
              <a:lnSpc>
                <a:spcPct val="125000"/>
              </a:lnSpc>
              <a:spcAft>
                <a:spcPts val="0"/>
              </a:spcAft>
            </a:pPr>
            <a:r>
              <a:rPr sz="1350" b="0" i="1">
                <a:solidFill>
                  <a:srgbClr val="6B7681"/>
                </a:solidFill>
                <a:latin typeface="Calibri"/>
              </a:rPr>
              <a:t>Six jobs. Different wages, and each one comes with something to deal with.</a:t>
            </a:r>
          </a:p>
        </p:txBody>
      </p:sp>
      <p:sp>
        <p:nvSpPr>
          <p:cNvPr id="6" name="Rounded Rectangle 5"/>
          <p:cNvSpPr/>
          <p:nvPr/>
        </p:nvSpPr>
        <p:spPr>
          <a:xfrm>
            <a:off x="685800" y="1920240"/>
            <a:ext cx="2444496" cy="1005840"/>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066544"/>
            <a:ext cx="2042160" cy="365760"/>
          </a:xfrm>
          <a:prstGeom prst="rect">
            <a:avLst/>
          </a:prstGeom>
          <a:noFill/>
        </p:spPr>
        <p:txBody>
          <a:bodyPr wrap="square" lIns="0" rIns="0" tIns="0" bIns="0" anchor="t">
            <a:spAutoFit/>
          </a:bodyPr>
          <a:lstStyle/>
          <a:p>
            <a:pPr algn="l">
              <a:lnSpc>
                <a:spcPct val="116000"/>
              </a:lnSpc>
              <a:spcAft>
                <a:spcPts val="0"/>
              </a:spcAft>
            </a:pPr>
            <a:r>
              <a:rPr sz="1250" b="0" i="0">
                <a:solidFill>
                  <a:srgbClr val="39424A"/>
                </a:solidFill>
                <a:latin typeface="Georgia"/>
              </a:rPr>
              <a:t>Apprentice mechanic</a:t>
            </a:r>
          </a:p>
        </p:txBody>
      </p:sp>
      <p:sp>
        <p:nvSpPr>
          <p:cNvPr id="8" name="TextBox 7"/>
          <p:cNvSpPr txBox="1"/>
          <p:nvPr/>
        </p:nvSpPr>
        <p:spPr>
          <a:xfrm>
            <a:off x="886968" y="2468880"/>
            <a:ext cx="2042160" cy="347472"/>
          </a:xfrm>
          <a:prstGeom prst="rect">
            <a:avLst/>
          </a:prstGeom>
          <a:noFill/>
        </p:spPr>
        <p:txBody>
          <a:bodyPr wrap="square" lIns="0" rIns="0" tIns="0" bIns="0" anchor="t">
            <a:spAutoFit/>
          </a:bodyPr>
          <a:lstStyle/>
          <a:p>
            <a:pPr algn="l">
              <a:lnSpc>
                <a:spcPct val="125000"/>
              </a:lnSpc>
              <a:spcAft>
                <a:spcPts val="0"/>
              </a:spcAft>
            </a:pPr>
            <a:r>
              <a:rPr sz="1700" b="0" i="0">
                <a:solidFill>
                  <a:srgbClr val="2F5470"/>
                </a:solidFill>
                <a:latin typeface="Georgia"/>
              </a:rPr>
              <a:t>£1,280 a month</a:t>
            </a:r>
          </a:p>
        </p:txBody>
      </p:sp>
      <p:sp>
        <p:nvSpPr>
          <p:cNvPr id="9" name="Rounded Rectangle 8"/>
          <p:cNvSpPr/>
          <p:nvPr/>
        </p:nvSpPr>
        <p:spPr>
          <a:xfrm>
            <a:off x="3349752" y="1920240"/>
            <a:ext cx="2444496" cy="1005840"/>
          </a:xfrm>
          <a:prstGeom prst="roundRect">
            <a:avLst>
              <a:gd name="adj" fmla="val 5500"/>
            </a:avLst>
          </a:prstGeom>
          <a:solidFill>
            <a:srgbClr val="EDF3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50920" y="2066544"/>
            <a:ext cx="2042160" cy="365760"/>
          </a:xfrm>
          <a:prstGeom prst="rect">
            <a:avLst/>
          </a:prstGeom>
          <a:noFill/>
        </p:spPr>
        <p:txBody>
          <a:bodyPr wrap="square" lIns="0" rIns="0" tIns="0" bIns="0" anchor="t">
            <a:spAutoFit/>
          </a:bodyPr>
          <a:lstStyle/>
          <a:p>
            <a:pPr algn="l">
              <a:lnSpc>
                <a:spcPct val="116000"/>
              </a:lnSpc>
              <a:spcAft>
                <a:spcPts val="0"/>
              </a:spcAft>
            </a:pPr>
            <a:r>
              <a:rPr sz="1250" b="0" i="0">
                <a:solidFill>
                  <a:srgbClr val="39424A"/>
                </a:solidFill>
                <a:latin typeface="Georgia"/>
              </a:rPr>
              <a:t>Trainee nurse</a:t>
            </a:r>
          </a:p>
        </p:txBody>
      </p:sp>
      <p:sp>
        <p:nvSpPr>
          <p:cNvPr id="11" name="TextBox 10"/>
          <p:cNvSpPr txBox="1"/>
          <p:nvPr/>
        </p:nvSpPr>
        <p:spPr>
          <a:xfrm>
            <a:off x="3550920" y="2468880"/>
            <a:ext cx="2042160" cy="347472"/>
          </a:xfrm>
          <a:prstGeom prst="rect">
            <a:avLst/>
          </a:prstGeom>
          <a:noFill/>
        </p:spPr>
        <p:txBody>
          <a:bodyPr wrap="square" lIns="0" rIns="0" tIns="0" bIns="0" anchor="t">
            <a:spAutoFit/>
          </a:bodyPr>
          <a:lstStyle/>
          <a:p>
            <a:pPr algn="l">
              <a:lnSpc>
                <a:spcPct val="125000"/>
              </a:lnSpc>
              <a:spcAft>
                <a:spcPts val="0"/>
              </a:spcAft>
            </a:pPr>
            <a:r>
              <a:rPr sz="1700" b="0" i="0">
                <a:solidFill>
                  <a:srgbClr val="2F5470"/>
                </a:solidFill>
                <a:latin typeface="Georgia"/>
              </a:rPr>
              <a:t>£1,450 a month</a:t>
            </a:r>
          </a:p>
        </p:txBody>
      </p:sp>
      <p:sp>
        <p:nvSpPr>
          <p:cNvPr id="12" name="Rounded Rectangle 11"/>
          <p:cNvSpPr/>
          <p:nvPr/>
        </p:nvSpPr>
        <p:spPr>
          <a:xfrm>
            <a:off x="6013704" y="1920240"/>
            <a:ext cx="2444496" cy="1005840"/>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4871" y="2066544"/>
            <a:ext cx="2042160" cy="365760"/>
          </a:xfrm>
          <a:prstGeom prst="rect">
            <a:avLst/>
          </a:prstGeom>
          <a:noFill/>
        </p:spPr>
        <p:txBody>
          <a:bodyPr wrap="square" lIns="0" rIns="0" tIns="0" bIns="0" anchor="t">
            <a:spAutoFit/>
          </a:bodyPr>
          <a:lstStyle/>
          <a:p>
            <a:pPr algn="l">
              <a:lnSpc>
                <a:spcPct val="116000"/>
              </a:lnSpc>
              <a:spcAft>
                <a:spcPts val="0"/>
              </a:spcAft>
            </a:pPr>
            <a:r>
              <a:rPr sz="1250" b="0" i="0">
                <a:solidFill>
                  <a:srgbClr val="39424A"/>
                </a:solidFill>
                <a:latin typeface="Georgia"/>
              </a:rPr>
              <a:t>Retail assistant</a:t>
            </a:r>
          </a:p>
        </p:txBody>
      </p:sp>
      <p:sp>
        <p:nvSpPr>
          <p:cNvPr id="14" name="TextBox 13"/>
          <p:cNvSpPr txBox="1"/>
          <p:nvPr/>
        </p:nvSpPr>
        <p:spPr>
          <a:xfrm>
            <a:off x="6214871" y="2468880"/>
            <a:ext cx="2042160" cy="347472"/>
          </a:xfrm>
          <a:prstGeom prst="rect">
            <a:avLst/>
          </a:prstGeom>
          <a:noFill/>
        </p:spPr>
        <p:txBody>
          <a:bodyPr wrap="square" lIns="0" rIns="0" tIns="0" bIns="0" anchor="t">
            <a:spAutoFit/>
          </a:bodyPr>
          <a:lstStyle/>
          <a:p>
            <a:pPr algn="l">
              <a:lnSpc>
                <a:spcPct val="125000"/>
              </a:lnSpc>
              <a:spcAft>
                <a:spcPts val="0"/>
              </a:spcAft>
            </a:pPr>
            <a:r>
              <a:rPr sz="1700" b="0" i="0">
                <a:solidFill>
                  <a:srgbClr val="2F5470"/>
                </a:solidFill>
                <a:latin typeface="Georgia"/>
              </a:rPr>
              <a:t>£1,380 a month</a:t>
            </a:r>
          </a:p>
        </p:txBody>
      </p:sp>
      <p:sp>
        <p:nvSpPr>
          <p:cNvPr id="15" name="Rounded Rectangle 14"/>
          <p:cNvSpPr/>
          <p:nvPr/>
        </p:nvSpPr>
        <p:spPr>
          <a:xfrm>
            <a:off x="685800" y="3090672"/>
            <a:ext cx="2444496" cy="1005840"/>
          </a:xfrm>
          <a:prstGeom prst="roundRect">
            <a:avLst>
              <a:gd name="adj" fmla="val 5500"/>
            </a:avLst>
          </a:prstGeom>
          <a:solidFill>
            <a:srgbClr val="EDF3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3236976"/>
            <a:ext cx="2042160" cy="365760"/>
          </a:xfrm>
          <a:prstGeom prst="rect">
            <a:avLst/>
          </a:prstGeom>
          <a:noFill/>
        </p:spPr>
        <p:txBody>
          <a:bodyPr wrap="square" lIns="0" rIns="0" tIns="0" bIns="0" anchor="t">
            <a:spAutoFit/>
          </a:bodyPr>
          <a:lstStyle/>
          <a:p>
            <a:pPr algn="l">
              <a:lnSpc>
                <a:spcPct val="116000"/>
              </a:lnSpc>
              <a:spcAft>
                <a:spcPts val="0"/>
              </a:spcAft>
            </a:pPr>
            <a:r>
              <a:rPr sz="1250" b="0" i="0">
                <a:solidFill>
                  <a:srgbClr val="39424A"/>
                </a:solidFill>
                <a:latin typeface="Georgia"/>
              </a:rPr>
              <a:t>Office assistant</a:t>
            </a:r>
          </a:p>
        </p:txBody>
      </p:sp>
      <p:sp>
        <p:nvSpPr>
          <p:cNvPr id="17" name="TextBox 16"/>
          <p:cNvSpPr txBox="1"/>
          <p:nvPr/>
        </p:nvSpPr>
        <p:spPr>
          <a:xfrm>
            <a:off x="886968" y="3639312"/>
            <a:ext cx="2042160" cy="347472"/>
          </a:xfrm>
          <a:prstGeom prst="rect">
            <a:avLst/>
          </a:prstGeom>
          <a:noFill/>
        </p:spPr>
        <p:txBody>
          <a:bodyPr wrap="square" lIns="0" rIns="0" tIns="0" bIns="0" anchor="t">
            <a:spAutoFit/>
          </a:bodyPr>
          <a:lstStyle/>
          <a:p>
            <a:pPr algn="l">
              <a:lnSpc>
                <a:spcPct val="125000"/>
              </a:lnSpc>
              <a:spcAft>
                <a:spcPts val="0"/>
              </a:spcAft>
            </a:pPr>
            <a:r>
              <a:rPr sz="1700" b="0" i="0">
                <a:solidFill>
                  <a:srgbClr val="2F5470"/>
                </a:solidFill>
                <a:latin typeface="Georgia"/>
              </a:rPr>
              <a:t>£1,730 a month</a:t>
            </a:r>
          </a:p>
        </p:txBody>
      </p:sp>
      <p:sp>
        <p:nvSpPr>
          <p:cNvPr id="18" name="Rounded Rectangle 17"/>
          <p:cNvSpPr/>
          <p:nvPr/>
        </p:nvSpPr>
        <p:spPr>
          <a:xfrm>
            <a:off x="3349752" y="3090672"/>
            <a:ext cx="2444496" cy="1005840"/>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0920" y="3236976"/>
            <a:ext cx="2042160" cy="365760"/>
          </a:xfrm>
          <a:prstGeom prst="rect">
            <a:avLst/>
          </a:prstGeom>
          <a:noFill/>
        </p:spPr>
        <p:txBody>
          <a:bodyPr wrap="square" lIns="0" rIns="0" tIns="0" bIns="0" anchor="t">
            <a:spAutoFit/>
          </a:bodyPr>
          <a:lstStyle/>
          <a:p>
            <a:pPr algn="l">
              <a:lnSpc>
                <a:spcPct val="116000"/>
              </a:lnSpc>
              <a:spcAft>
                <a:spcPts val="0"/>
              </a:spcAft>
            </a:pPr>
            <a:r>
              <a:rPr sz="1250" b="0" i="0">
                <a:solidFill>
                  <a:srgbClr val="39424A"/>
                </a:solidFill>
                <a:latin typeface="Georgia"/>
              </a:rPr>
              <a:t>Site supervisor</a:t>
            </a:r>
          </a:p>
        </p:txBody>
      </p:sp>
      <p:sp>
        <p:nvSpPr>
          <p:cNvPr id="20" name="TextBox 19"/>
          <p:cNvSpPr txBox="1"/>
          <p:nvPr/>
        </p:nvSpPr>
        <p:spPr>
          <a:xfrm>
            <a:off x="3550920" y="3639312"/>
            <a:ext cx="2042160" cy="347472"/>
          </a:xfrm>
          <a:prstGeom prst="rect">
            <a:avLst/>
          </a:prstGeom>
          <a:noFill/>
        </p:spPr>
        <p:txBody>
          <a:bodyPr wrap="square" lIns="0" rIns="0" tIns="0" bIns="0" anchor="t">
            <a:spAutoFit/>
          </a:bodyPr>
          <a:lstStyle/>
          <a:p>
            <a:pPr algn="l">
              <a:lnSpc>
                <a:spcPct val="125000"/>
              </a:lnSpc>
              <a:spcAft>
                <a:spcPts val="0"/>
              </a:spcAft>
            </a:pPr>
            <a:r>
              <a:rPr sz="1700" b="0" i="0">
                <a:solidFill>
                  <a:srgbClr val="2F5470"/>
                </a:solidFill>
                <a:latin typeface="Georgia"/>
              </a:rPr>
              <a:t>£2,050 a month</a:t>
            </a:r>
          </a:p>
        </p:txBody>
      </p:sp>
      <p:sp>
        <p:nvSpPr>
          <p:cNvPr id="21" name="Rounded Rectangle 20"/>
          <p:cNvSpPr/>
          <p:nvPr/>
        </p:nvSpPr>
        <p:spPr>
          <a:xfrm>
            <a:off x="6013704" y="3090672"/>
            <a:ext cx="2444496" cy="1005840"/>
          </a:xfrm>
          <a:prstGeom prst="roundRect">
            <a:avLst>
              <a:gd name="adj" fmla="val 5500"/>
            </a:avLst>
          </a:prstGeom>
          <a:solidFill>
            <a:srgbClr val="EDF3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4871" y="3236976"/>
            <a:ext cx="2042160" cy="365760"/>
          </a:xfrm>
          <a:prstGeom prst="rect">
            <a:avLst/>
          </a:prstGeom>
          <a:noFill/>
        </p:spPr>
        <p:txBody>
          <a:bodyPr wrap="square" lIns="0" rIns="0" tIns="0" bIns="0" anchor="t">
            <a:spAutoFit/>
          </a:bodyPr>
          <a:lstStyle/>
          <a:p>
            <a:pPr algn="l">
              <a:lnSpc>
                <a:spcPct val="116000"/>
              </a:lnSpc>
              <a:spcAft>
                <a:spcPts val="0"/>
              </a:spcAft>
            </a:pPr>
            <a:r>
              <a:rPr sz="1250" b="0" i="0">
                <a:solidFill>
                  <a:srgbClr val="39424A"/>
                </a:solidFill>
                <a:latin typeface="Georgia"/>
              </a:rPr>
              <a:t>Junior developer</a:t>
            </a:r>
          </a:p>
        </p:txBody>
      </p:sp>
      <p:sp>
        <p:nvSpPr>
          <p:cNvPr id="23" name="TextBox 22"/>
          <p:cNvSpPr txBox="1"/>
          <p:nvPr/>
        </p:nvSpPr>
        <p:spPr>
          <a:xfrm>
            <a:off x="6214871" y="3639312"/>
            <a:ext cx="2042160" cy="347472"/>
          </a:xfrm>
          <a:prstGeom prst="rect">
            <a:avLst/>
          </a:prstGeom>
          <a:noFill/>
        </p:spPr>
        <p:txBody>
          <a:bodyPr wrap="square" lIns="0" rIns="0" tIns="0" bIns="0" anchor="t">
            <a:spAutoFit/>
          </a:bodyPr>
          <a:lstStyle/>
          <a:p>
            <a:pPr algn="l">
              <a:lnSpc>
                <a:spcPct val="125000"/>
              </a:lnSpc>
              <a:spcAft>
                <a:spcPts val="0"/>
              </a:spcAft>
            </a:pPr>
            <a:r>
              <a:rPr sz="1700" b="0" i="0">
                <a:solidFill>
                  <a:srgbClr val="2F5470"/>
                </a:solidFill>
                <a:latin typeface="Georgia"/>
              </a:rPr>
              <a:t>£2,400 a month</a:t>
            </a:r>
          </a:p>
        </p:txBody>
      </p:sp>
      <p:sp>
        <p:nvSpPr>
          <p:cNvPr id="24" name="TextBox 23"/>
          <p:cNvSpPr txBox="1"/>
          <p:nvPr/>
        </p:nvSpPr>
        <p:spPr>
          <a:xfrm>
            <a:off x="685800" y="4315968"/>
            <a:ext cx="7772400" cy="274320"/>
          </a:xfrm>
          <a:prstGeom prst="rect">
            <a:avLst/>
          </a:prstGeom>
          <a:noFill/>
        </p:spPr>
        <p:txBody>
          <a:bodyPr wrap="square" lIns="0" rIns="0" tIns="0" bIns="0" anchor="t">
            <a:spAutoFit/>
          </a:bodyPr>
          <a:lstStyle/>
          <a:p>
            <a:pPr algn="l">
              <a:lnSpc>
                <a:spcPct val="125000"/>
              </a:lnSpc>
              <a:spcAft>
                <a:spcPts val="0"/>
              </a:spcAft>
            </a:pPr>
            <a:r>
              <a:rPr sz="1250" b="1" i="0">
                <a:solidFill>
                  <a:srgbClr val="2F5470"/>
                </a:solidFill>
                <a:latin typeface="Calibri"/>
              </a:rPr>
              <a:t>The best-paid job is not the easiest month. You will see why.</a:t>
            </a:r>
          </a:p>
        </p:txBody>
      </p:sp>
      <p:pic>
        <p:nvPicPr>
          <p:cNvPr id="25" name="Picture 24" descr="logo-master.png"/>
          <p:cNvPicPr>
            <a:picLocks noChangeAspect="1"/>
          </p:cNvPicPr>
          <p:nvPr/>
        </p:nvPicPr>
        <p:blipFill>
          <a:blip r:embed="rId2"/>
          <a:stretch>
            <a:fillRect/>
          </a:stretch>
        </p:blipFill>
        <p:spPr>
          <a:xfrm>
            <a:off x="384048" y="4722876"/>
            <a:ext cx="158374" cy="182880"/>
          </a:xfrm>
          <a:prstGeom prst="rect">
            <a:avLst/>
          </a:prstGeom>
        </p:spPr>
      </p:pic>
      <p:sp>
        <p:nvSpPr>
          <p:cNvPr id="26" name="TextBox 25"/>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2ACB5"/>
                </a:solidFill>
                <a:latin typeface="Calibri"/>
              </a:rPr>
              <a:t>The Pastoral Guide</a:t>
            </a:r>
          </a:p>
        </p:txBody>
      </p:sp>
      <p:sp>
        <p:nvSpPr>
          <p:cNvPr id="27" name="TextBox 26"/>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2ACB5"/>
                </a:solidFill>
                <a:latin typeface="Calibri"/>
              </a:rPr>
              <a:t>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l">
              <a:lnSpc>
                <a:spcPct val="125000"/>
              </a:lnSpc>
              <a:spcAft>
                <a:spcPts val="0"/>
              </a:spcAft>
            </a:pPr>
            <a:r>
              <a:rPr sz="1050" b="1" i="0" spc="160">
                <a:solidFill>
                  <a:srgbClr val="7EA6BD"/>
                </a:solidFill>
                <a:latin typeface="Calibri"/>
              </a:rPr>
              <a:t>WHAT IT HAS TO COVER</a:t>
            </a:r>
          </a:p>
        </p:txBody>
      </p:sp>
      <p:sp>
        <p:nvSpPr>
          <p:cNvPr id="4" name="TextBox 3"/>
          <p:cNvSpPr txBox="1"/>
          <p:nvPr/>
        </p:nvSpPr>
        <p:spPr>
          <a:xfrm>
            <a:off x="685800" y="841248"/>
            <a:ext cx="6309360" cy="566928"/>
          </a:xfrm>
          <a:prstGeom prst="rect">
            <a:avLst/>
          </a:prstGeom>
          <a:noFill/>
        </p:spPr>
        <p:txBody>
          <a:bodyPr wrap="square" lIns="0" rIns="0" tIns="0" bIns="0" anchor="t">
            <a:spAutoFit/>
          </a:bodyPr>
          <a:lstStyle/>
          <a:p>
            <a:pPr algn="l">
              <a:lnSpc>
                <a:spcPct val="105000"/>
              </a:lnSpc>
              <a:spcAft>
                <a:spcPts val="0"/>
              </a:spcAft>
            </a:pPr>
            <a:r>
              <a:rPr sz="3200" b="0" i="0">
                <a:solidFill>
                  <a:srgbClr val="39424A"/>
                </a:solidFill>
                <a:latin typeface="Georgia"/>
              </a:rPr>
              <a:t>Six things, every month</a:t>
            </a:r>
          </a:p>
        </p:txBody>
      </p:sp>
      <p:sp>
        <p:nvSpPr>
          <p:cNvPr id="5" name="Rounded Rectangle 4"/>
          <p:cNvSpPr/>
          <p:nvPr/>
        </p:nvSpPr>
        <p:spPr>
          <a:xfrm>
            <a:off x="685800" y="1700784"/>
            <a:ext cx="2444496" cy="1152144"/>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23544" y="1947672"/>
            <a:ext cx="658368" cy="658368"/>
          </a:xfrm>
          <a:prstGeom prst="ellipse">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use.png"/>
          <p:cNvPicPr>
            <a:picLocks noChangeAspect="1"/>
          </p:cNvPicPr>
          <p:nvPr/>
        </p:nvPicPr>
        <p:blipFill>
          <a:blip r:embed="rId2"/>
          <a:stretch>
            <a:fillRect/>
          </a:stretch>
        </p:blipFill>
        <p:spPr>
          <a:xfrm>
            <a:off x="1069848" y="2093976"/>
            <a:ext cx="365760" cy="365760"/>
          </a:xfrm>
          <a:prstGeom prst="rect">
            <a:avLst/>
          </a:prstGeom>
        </p:spPr>
      </p:pic>
      <p:sp>
        <p:nvSpPr>
          <p:cNvPr id="8" name="TextBox 7"/>
          <p:cNvSpPr txBox="1"/>
          <p:nvPr/>
        </p:nvSpPr>
        <p:spPr>
          <a:xfrm>
            <a:off x="1691640" y="1956816"/>
            <a:ext cx="1274064" cy="640080"/>
          </a:xfrm>
          <a:prstGeom prst="rect">
            <a:avLst/>
          </a:prstGeom>
          <a:noFill/>
        </p:spPr>
        <p:txBody>
          <a:bodyPr wrap="square" lIns="0" rIns="0" tIns="0" bIns="0" anchor="ctr">
            <a:spAutoFit/>
          </a:bodyPr>
          <a:lstStyle/>
          <a:p>
            <a:pPr algn="l">
              <a:lnSpc>
                <a:spcPct val="116000"/>
              </a:lnSpc>
              <a:spcAft>
                <a:spcPts val="0"/>
              </a:spcAft>
            </a:pPr>
            <a:r>
              <a:rPr sz="1400" b="0" i="0">
                <a:solidFill>
                  <a:srgbClr val="2F5470"/>
                </a:solidFill>
                <a:latin typeface="Georgia"/>
              </a:rPr>
              <a:t>Somewhere to live</a:t>
            </a:r>
          </a:p>
        </p:txBody>
      </p:sp>
      <p:sp>
        <p:nvSpPr>
          <p:cNvPr id="9" name="Rounded Rectangle 8"/>
          <p:cNvSpPr/>
          <p:nvPr/>
        </p:nvSpPr>
        <p:spPr>
          <a:xfrm>
            <a:off x="3349752" y="1700784"/>
            <a:ext cx="2444496" cy="1152144"/>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87496" y="1947672"/>
            <a:ext cx="658368" cy="658368"/>
          </a:xfrm>
          <a:prstGeom prst="ellipse">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ceipt.png"/>
          <p:cNvPicPr>
            <a:picLocks noChangeAspect="1"/>
          </p:cNvPicPr>
          <p:nvPr/>
        </p:nvPicPr>
        <p:blipFill>
          <a:blip r:embed="rId3"/>
          <a:stretch>
            <a:fillRect/>
          </a:stretch>
        </p:blipFill>
        <p:spPr>
          <a:xfrm>
            <a:off x="3733799" y="2093976"/>
            <a:ext cx="365760" cy="365760"/>
          </a:xfrm>
          <a:prstGeom prst="rect">
            <a:avLst/>
          </a:prstGeom>
        </p:spPr>
      </p:pic>
      <p:sp>
        <p:nvSpPr>
          <p:cNvPr id="12" name="TextBox 11"/>
          <p:cNvSpPr txBox="1"/>
          <p:nvPr/>
        </p:nvSpPr>
        <p:spPr>
          <a:xfrm>
            <a:off x="4355592" y="1956816"/>
            <a:ext cx="1274064" cy="640080"/>
          </a:xfrm>
          <a:prstGeom prst="rect">
            <a:avLst/>
          </a:prstGeom>
          <a:noFill/>
        </p:spPr>
        <p:txBody>
          <a:bodyPr wrap="square" lIns="0" rIns="0" tIns="0" bIns="0" anchor="ctr">
            <a:spAutoFit/>
          </a:bodyPr>
          <a:lstStyle/>
          <a:p>
            <a:pPr algn="l">
              <a:lnSpc>
                <a:spcPct val="116000"/>
              </a:lnSpc>
              <a:spcAft>
                <a:spcPts val="0"/>
              </a:spcAft>
            </a:pPr>
            <a:r>
              <a:rPr sz="1400" b="0" i="0">
                <a:solidFill>
                  <a:srgbClr val="2F5470"/>
                </a:solidFill>
                <a:latin typeface="Georgia"/>
              </a:rPr>
              <a:t>Bills</a:t>
            </a:r>
          </a:p>
        </p:txBody>
      </p:sp>
      <p:sp>
        <p:nvSpPr>
          <p:cNvPr id="13" name="Rounded Rectangle 12"/>
          <p:cNvSpPr/>
          <p:nvPr/>
        </p:nvSpPr>
        <p:spPr>
          <a:xfrm>
            <a:off x="6013704" y="1700784"/>
            <a:ext cx="2444496" cy="1152144"/>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51447" y="1947672"/>
            <a:ext cx="658368" cy="658368"/>
          </a:xfrm>
          <a:prstGeom prst="ellipse">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asket.png"/>
          <p:cNvPicPr>
            <a:picLocks noChangeAspect="1"/>
          </p:cNvPicPr>
          <p:nvPr/>
        </p:nvPicPr>
        <p:blipFill>
          <a:blip r:embed="rId4"/>
          <a:stretch>
            <a:fillRect/>
          </a:stretch>
        </p:blipFill>
        <p:spPr>
          <a:xfrm>
            <a:off x="6397751" y="2093976"/>
            <a:ext cx="365760" cy="365760"/>
          </a:xfrm>
          <a:prstGeom prst="rect">
            <a:avLst/>
          </a:prstGeom>
        </p:spPr>
      </p:pic>
      <p:sp>
        <p:nvSpPr>
          <p:cNvPr id="16" name="TextBox 15"/>
          <p:cNvSpPr txBox="1"/>
          <p:nvPr/>
        </p:nvSpPr>
        <p:spPr>
          <a:xfrm>
            <a:off x="7019543" y="1956816"/>
            <a:ext cx="1274064" cy="640080"/>
          </a:xfrm>
          <a:prstGeom prst="rect">
            <a:avLst/>
          </a:prstGeom>
          <a:noFill/>
        </p:spPr>
        <p:txBody>
          <a:bodyPr wrap="square" lIns="0" rIns="0" tIns="0" bIns="0" anchor="ctr">
            <a:spAutoFit/>
          </a:bodyPr>
          <a:lstStyle/>
          <a:p>
            <a:pPr algn="l">
              <a:lnSpc>
                <a:spcPct val="116000"/>
              </a:lnSpc>
              <a:spcAft>
                <a:spcPts val="0"/>
              </a:spcAft>
            </a:pPr>
            <a:r>
              <a:rPr sz="1400" b="0" i="0">
                <a:solidFill>
                  <a:srgbClr val="2F5470"/>
                </a:solidFill>
                <a:latin typeface="Georgia"/>
              </a:rPr>
              <a:t>Food</a:t>
            </a:r>
          </a:p>
        </p:txBody>
      </p:sp>
      <p:sp>
        <p:nvSpPr>
          <p:cNvPr id="17" name="Rounded Rectangle 16"/>
          <p:cNvSpPr/>
          <p:nvPr/>
        </p:nvSpPr>
        <p:spPr>
          <a:xfrm>
            <a:off x="685800" y="3035808"/>
            <a:ext cx="2444496" cy="1152144"/>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23544" y="3282696"/>
            <a:ext cx="658368" cy="658368"/>
          </a:xfrm>
          <a:prstGeom prst="ellipse">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bus.png"/>
          <p:cNvPicPr>
            <a:picLocks noChangeAspect="1"/>
          </p:cNvPicPr>
          <p:nvPr/>
        </p:nvPicPr>
        <p:blipFill>
          <a:blip r:embed="rId5"/>
          <a:stretch>
            <a:fillRect/>
          </a:stretch>
        </p:blipFill>
        <p:spPr>
          <a:xfrm>
            <a:off x="1069848" y="3429000"/>
            <a:ext cx="365760" cy="365760"/>
          </a:xfrm>
          <a:prstGeom prst="rect">
            <a:avLst/>
          </a:prstGeom>
        </p:spPr>
      </p:pic>
      <p:sp>
        <p:nvSpPr>
          <p:cNvPr id="20" name="TextBox 19"/>
          <p:cNvSpPr txBox="1"/>
          <p:nvPr/>
        </p:nvSpPr>
        <p:spPr>
          <a:xfrm>
            <a:off x="1691640" y="3291840"/>
            <a:ext cx="1274064" cy="640080"/>
          </a:xfrm>
          <a:prstGeom prst="rect">
            <a:avLst/>
          </a:prstGeom>
          <a:noFill/>
        </p:spPr>
        <p:txBody>
          <a:bodyPr wrap="square" lIns="0" rIns="0" tIns="0" bIns="0" anchor="ctr">
            <a:spAutoFit/>
          </a:bodyPr>
          <a:lstStyle/>
          <a:p>
            <a:pPr algn="l">
              <a:lnSpc>
                <a:spcPct val="116000"/>
              </a:lnSpc>
              <a:spcAft>
                <a:spcPts val="0"/>
              </a:spcAft>
            </a:pPr>
            <a:r>
              <a:rPr sz="1400" b="0" i="0">
                <a:solidFill>
                  <a:srgbClr val="2F5470"/>
                </a:solidFill>
                <a:latin typeface="Georgia"/>
              </a:rPr>
              <a:t>Getting around</a:t>
            </a:r>
          </a:p>
        </p:txBody>
      </p:sp>
      <p:sp>
        <p:nvSpPr>
          <p:cNvPr id="21" name="Rounded Rectangle 20"/>
          <p:cNvSpPr/>
          <p:nvPr/>
        </p:nvSpPr>
        <p:spPr>
          <a:xfrm>
            <a:off x="3349752" y="3035808"/>
            <a:ext cx="2444496" cy="1152144"/>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587496" y="3282696"/>
            <a:ext cx="658368" cy="658368"/>
          </a:xfrm>
          <a:prstGeom prst="ellipse">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phone.png"/>
          <p:cNvPicPr>
            <a:picLocks noChangeAspect="1"/>
          </p:cNvPicPr>
          <p:nvPr/>
        </p:nvPicPr>
        <p:blipFill>
          <a:blip r:embed="rId6"/>
          <a:stretch>
            <a:fillRect/>
          </a:stretch>
        </p:blipFill>
        <p:spPr>
          <a:xfrm>
            <a:off x="3733799" y="3429000"/>
            <a:ext cx="365760" cy="365760"/>
          </a:xfrm>
          <a:prstGeom prst="rect">
            <a:avLst/>
          </a:prstGeom>
        </p:spPr>
      </p:pic>
      <p:sp>
        <p:nvSpPr>
          <p:cNvPr id="24" name="TextBox 23"/>
          <p:cNvSpPr txBox="1"/>
          <p:nvPr/>
        </p:nvSpPr>
        <p:spPr>
          <a:xfrm>
            <a:off x="4355592" y="3291840"/>
            <a:ext cx="1274064" cy="640080"/>
          </a:xfrm>
          <a:prstGeom prst="rect">
            <a:avLst/>
          </a:prstGeom>
          <a:noFill/>
        </p:spPr>
        <p:txBody>
          <a:bodyPr wrap="square" lIns="0" rIns="0" tIns="0" bIns="0" anchor="ctr">
            <a:spAutoFit/>
          </a:bodyPr>
          <a:lstStyle/>
          <a:p>
            <a:pPr algn="l">
              <a:lnSpc>
                <a:spcPct val="116000"/>
              </a:lnSpc>
              <a:spcAft>
                <a:spcPts val="0"/>
              </a:spcAft>
            </a:pPr>
            <a:r>
              <a:rPr sz="1400" b="0" i="0">
                <a:solidFill>
                  <a:srgbClr val="2F5470"/>
                </a:solidFill>
                <a:latin typeface="Georgia"/>
              </a:rPr>
              <a:t>Phone and data</a:t>
            </a:r>
          </a:p>
        </p:txBody>
      </p:sp>
      <p:sp>
        <p:nvSpPr>
          <p:cNvPr id="25" name="Rounded Rectangle 24"/>
          <p:cNvSpPr/>
          <p:nvPr/>
        </p:nvSpPr>
        <p:spPr>
          <a:xfrm>
            <a:off x="6013704" y="3035808"/>
            <a:ext cx="2444496" cy="1152144"/>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51447" y="3282696"/>
            <a:ext cx="658368" cy="658368"/>
          </a:xfrm>
          <a:prstGeom prst="ellipse">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oins.png"/>
          <p:cNvPicPr>
            <a:picLocks noChangeAspect="1"/>
          </p:cNvPicPr>
          <p:nvPr/>
        </p:nvPicPr>
        <p:blipFill>
          <a:blip r:embed="rId7"/>
          <a:stretch>
            <a:fillRect/>
          </a:stretch>
        </p:blipFill>
        <p:spPr>
          <a:xfrm>
            <a:off x="6397751" y="3429000"/>
            <a:ext cx="365760" cy="365760"/>
          </a:xfrm>
          <a:prstGeom prst="rect">
            <a:avLst/>
          </a:prstGeom>
        </p:spPr>
      </p:pic>
      <p:sp>
        <p:nvSpPr>
          <p:cNvPr id="28" name="TextBox 27"/>
          <p:cNvSpPr txBox="1"/>
          <p:nvPr/>
        </p:nvSpPr>
        <p:spPr>
          <a:xfrm>
            <a:off x="7019543" y="3291840"/>
            <a:ext cx="1274064" cy="640080"/>
          </a:xfrm>
          <a:prstGeom prst="rect">
            <a:avLst/>
          </a:prstGeom>
          <a:noFill/>
        </p:spPr>
        <p:txBody>
          <a:bodyPr wrap="square" lIns="0" rIns="0" tIns="0" bIns="0" anchor="ctr">
            <a:spAutoFit/>
          </a:bodyPr>
          <a:lstStyle/>
          <a:p>
            <a:pPr algn="l">
              <a:lnSpc>
                <a:spcPct val="116000"/>
              </a:lnSpc>
              <a:spcAft>
                <a:spcPts val="0"/>
              </a:spcAft>
            </a:pPr>
            <a:r>
              <a:rPr sz="1400" b="0" i="0">
                <a:solidFill>
                  <a:srgbClr val="2F5470"/>
                </a:solidFill>
                <a:latin typeface="Georgia"/>
              </a:rPr>
              <a:t>Something saved</a:t>
            </a:r>
          </a:p>
        </p:txBody>
      </p:sp>
      <p:sp>
        <p:nvSpPr>
          <p:cNvPr id="29" name="TextBox 28"/>
          <p:cNvSpPr txBox="1"/>
          <p:nvPr/>
        </p:nvSpPr>
        <p:spPr>
          <a:xfrm>
            <a:off x="685800" y="4334256"/>
            <a:ext cx="7772400" cy="292608"/>
          </a:xfrm>
          <a:prstGeom prst="rect">
            <a:avLst/>
          </a:prstGeom>
          <a:noFill/>
        </p:spPr>
        <p:txBody>
          <a:bodyPr wrap="square" lIns="0" rIns="0" tIns="0" bIns="0" anchor="t">
            <a:spAutoFit/>
          </a:bodyPr>
          <a:lstStyle/>
          <a:p>
            <a:pPr algn="l">
              <a:lnSpc>
                <a:spcPct val="125000"/>
              </a:lnSpc>
              <a:spcAft>
                <a:spcPts val="0"/>
              </a:spcAft>
            </a:pPr>
            <a:r>
              <a:rPr sz="1250" b="0" i="1">
                <a:solidFill>
                  <a:srgbClr val="6B7681"/>
                </a:solidFill>
                <a:latin typeface="Calibri"/>
              </a:rPr>
              <a:t>And one thing that is not a bill. Nobody sticks to a month with nothing good in it.</a:t>
            </a:r>
          </a:p>
        </p:txBody>
      </p:sp>
      <p:pic>
        <p:nvPicPr>
          <p:cNvPr id="30" name="Picture 29" descr="logo-master.png"/>
          <p:cNvPicPr>
            <a:picLocks noChangeAspect="1"/>
          </p:cNvPicPr>
          <p:nvPr/>
        </p:nvPicPr>
        <p:blipFill>
          <a:blip r:embed="rId8"/>
          <a:stretch>
            <a:fillRect/>
          </a:stretch>
        </p:blipFill>
        <p:spPr>
          <a:xfrm>
            <a:off x="384048" y="4722876"/>
            <a:ext cx="158374" cy="182880"/>
          </a:xfrm>
          <a:prstGeom prst="rect">
            <a:avLst/>
          </a:prstGeom>
        </p:spPr>
      </p:pic>
      <p:sp>
        <p:nvSpPr>
          <p:cNvPr id="31" name="TextBox 30"/>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2ACB5"/>
                </a:solidFill>
                <a:latin typeface="Calibri"/>
              </a:rPr>
              <a:t>The Pastoral Guide</a:t>
            </a:r>
          </a:p>
        </p:txBody>
      </p:sp>
      <p:sp>
        <p:nvSpPr>
          <p:cNvPr id="32" name="TextBox 31"/>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2ACB5"/>
                </a:solidFill>
                <a:latin typeface="Calibri"/>
              </a:rPr>
              <a:t>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C3D6E2"/>
                </a:solidFill>
                <a:latin typeface="Calibri"/>
              </a:rPr>
              <a:t>THE FIRST OF THE MONTH</a:t>
            </a:r>
          </a:p>
        </p:txBody>
      </p:sp>
      <p:sp>
        <p:nvSpPr>
          <p:cNvPr id="6" name="TextBox 5"/>
          <p:cNvSpPr txBox="1"/>
          <p:nvPr/>
        </p:nvSpPr>
        <p:spPr>
          <a:xfrm>
            <a:off x="685800" y="859536"/>
            <a:ext cx="7772400" cy="914400"/>
          </a:xfrm>
          <a:prstGeom prst="rect">
            <a:avLst/>
          </a:prstGeom>
          <a:noFill/>
        </p:spPr>
        <p:txBody>
          <a:bodyPr wrap="square" lIns="0" rIns="0" tIns="0" bIns="0" anchor="t">
            <a:spAutoFit/>
          </a:bodyPr>
          <a:lstStyle/>
          <a:p>
            <a:pPr algn="ctr">
              <a:lnSpc>
                <a:spcPct val="110000"/>
              </a:lnSpc>
              <a:spcAft>
                <a:spcPts val="0"/>
              </a:spcAft>
            </a:pPr>
            <a:r>
              <a:rPr sz="4200" b="0" i="0">
                <a:solidFill>
                  <a:srgbClr val="FFFDF7"/>
                </a:solidFill>
                <a:latin typeface="Georgia"/>
              </a:rPr>
              <a:t>Spend it</a:t>
            </a:r>
          </a:p>
        </p:txBody>
      </p:sp>
      <p:sp>
        <p:nvSpPr>
          <p:cNvPr id="7" name="Rounded Rectangle 6"/>
          <p:cNvSpPr/>
          <p:nvPr/>
        </p:nvSpPr>
        <p:spPr>
          <a:xfrm>
            <a:off x="1554480" y="1956816"/>
            <a:ext cx="6035040" cy="548640"/>
          </a:xfrm>
          <a:prstGeom prst="roundRect">
            <a:avLst>
              <a:gd name="adj" fmla="val 5500"/>
            </a:avLst>
          </a:prstGeom>
          <a:solidFill>
            <a:srgbClr val="EDF3F7"/>
          </a:solidFill>
          <a:ln w="12700">
            <a:solidFill>
              <a:srgbClr val="ED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74519" y="2039112"/>
            <a:ext cx="5394960" cy="384048"/>
          </a:xfrm>
          <a:prstGeom prst="rect">
            <a:avLst/>
          </a:prstGeom>
          <a:noFill/>
        </p:spPr>
        <p:txBody>
          <a:bodyPr wrap="square" lIns="0" rIns="0" tIns="0" bIns="0" anchor="ctr">
            <a:spAutoFit/>
          </a:bodyPr>
          <a:lstStyle/>
          <a:p>
            <a:pPr algn="l">
              <a:lnSpc>
                <a:spcPct val="120000"/>
              </a:lnSpc>
              <a:spcAft>
                <a:spcPts val="0"/>
              </a:spcAft>
            </a:pPr>
            <a:r>
              <a:rPr sz="1400" b="0" i="0">
                <a:solidFill>
                  <a:srgbClr val="2F5470"/>
                </a:solidFill>
                <a:latin typeface="Calibri"/>
              </a:rPr>
              <a:t>Every category covered. Nothing left blank.</a:t>
            </a:r>
          </a:p>
        </p:txBody>
      </p:sp>
      <p:sp>
        <p:nvSpPr>
          <p:cNvPr id="9" name="Rounded Rectangle 8"/>
          <p:cNvSpPr/>
          <p:nvPr/>
        </p:nvSpPr>
        <p:spPr>
          <a:xfrm>
            <a:off x="1554480" y="2615184"/>
            <a:ext cx="6035040" cy="548640"/>
          </a:xfrm>
          <a:prstGeom prst="roundRect">
            <a:avLst>
              <a:gd name="adj" fmla="val 5500"/>
            </a:avLst>
          </a:prstGeom>
          <a:solidFill>
            <a:srgbClr val="EDF3F7"/>
          </a:solidFill>
          <a:ln w="12700">
            <a:solidFill>
              <a:srgbClr val="ED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74519" y="2697480"/>
            <a:ext cx="5394960" cy="384048"/>
          </a:xfrm>
          <a:prstGeom prst="rect">
            <a:avLst/>
          </a:prstGeom>
          <a:noFill/>
        </p:spPr>
        <p:txBody>
          <a:bodyPr wrap="square" lIns="0" rIns="0" tIns="0" bIns="0" anchor="ctr">
            <a:spAutoFit/>
          </a:bodyPr>
          <a:lstStyle/>
          <a:p>
            <a:pPr algn="l">
              <a:lnSpc>
                <a:spcPct val="120000"/>
              </a:lnSpc>
              <a:spcAft>
                <a:spcPts val="0"/>
              </a:spcAft>
            </a:pPr>
            <a:r>
              <a:rPr sz="1400" b="0" i="0">
                <a:solidFill>
                  <a:srgbClr val="2F5470"/>
                </a:solidFill>
                <a:latin typeface="Calibri"/>
              </a:rPr>
              <a:t>At least £50 put away, or an honest reason why not.</a:t>
            </a:r>
          </a:p>
        </p:txBody>
      </p:sp>
      <p:sp>
        <p:nvSpPr>
          <p:cNvPr id="11" name="Rounded Rectangle 10"/>
          <p:cNvSpPr/>
          <p:nvPr/>
        </p:nvSpPr>
        <p:spPr>
          <a:xfrm>
            <a:off x="1554480" y="3273552"/>
            <a:ext cx="6035040" cy="548640"/>
          </a:xfrm>
          <a:prstGeom prst="roundRect">
            <a:avLst>
              <a:gd name="adj" fmla="val 5500"/>
            </a:avLst>
          </a:prstGeom>
          <a:solidFill>
            <a:srgbClr val="EDF3F7"/>
          </a:solidFill>
          <a:ln w="12700">
            <a:solidFill>
              <a:srgbClr val="ED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74519" y="3355848"/>
            <a:ext cx="5394960" cy="384048"/>
          </a:xfrm>
          <a:prstGeom prst="rect">
            <a:avLst/>
          </a:prstGeom>
          <a:noFill/>
        </p:spPr>
        <p:txBody>
          <a:bodyPr wrap="square" lIns="0" rIns="0" tIns="0" bIns="0" anchor="ctr">
            <a:spAutoFit/>
          </a:bodyPr>
          <a:lstStyle/>
          <a:p>
            <a:pPr algn="l">
              <a:lnSpc>
                <a:spcPct val="120000"/>
              </a:lnSpc>
              <a:spcAft>
                <a:spcPts val="0"/>
              </a:spcAft>
            </a:pPr>
            <a:r>
              <a:rPr sz="1400" b="0" i="0">
                <a:solidFill>
                  <a:srgbClr val="2F5470"/>
                </a:solidFill>
                <a:latin typeface="Calibri"/>
              </a:rPr>
              <a:t>One thing in there that is not a bill.</a:t>
            </a:r>
          </a:p>
        </p:txBody>
      </p:sp>
      <p:sp>
        <p:nvSpPr>
          <p:cNvPr id="13" name="TextBox 12"/>
          <p:cNvSpPr txBox="1"/>
          <p:nvPr/>
        </p:nvSpPr>
        <p:spPr>
          <a:xfrm>
            <a:off x="1280160" y="4059936"/>
            <a:ext cx="6583680" cy="310896"/>
          </a:xfrm>
          <a:prstGeom prst="rect">
            <a:avLst/>
          </a:prstGeom>
          <a:noFill/>
        </p:spPr>
        <p:txBody>
          <a:bodyPr wrap="square" lIns="0" rIns="0" tIns="0" bIns="0" anchor="t">
            <a:spAutoFit/>
          </a:bodyPr>
          <a:lstStyle/>
          <a:p>
            <a:pPr algn="ctr">
              <a:lnSpc>
                <a:spcPct val="125000"/>
              </a:lnSpc>
              <a:spcAft>
                <a:spcPts val="0"/>
              </a:spcAft>
            </a:pPr>
            <a:r>
              <a:rPr sz="1300" b="0" i="1">
                <a:solidFill>
                  <a:srgbClr val="C3D6E2"/>
                </a:solidFill>
                <a:latin typeface="Calibri"/>
              </a:rPr>
              <a:t>Keep whatever is left. You are going to need it.</a:t>
            </a:r>
          </a:p>
        </p:txBody>
      </p:sp>
      <p:pic>
        <p:nvPicPr>
          <p:cNvPr id="14" name="Picture 13" descr="logo-master.png"/>
          <p:cNvPicPr>
            <a:picLocks noChangeAspect="1"/>
          </p:cNvPicPr>
          <p:nvPr/>
        </p:nvPicPr>
        <p:blipFill>
          <a:blip r:embed="rId2"/>
          <a:stretch>
            <a:fillRect/>
          </a:stretch>
        </p:blipFill>
        <p:spPr>
          <a:xfrm>
            <a:off x="384048" y="4722876"/>
            <a:ext cx="158374" cy="182880"/>
          </a:xfrm>
          <a:prstGeom prst="rect">
            <a:avLst/>
          </a:prstGeom>
        </p:spPr>
      </p:pic>
      <p:sp>
        <p:nvSpPr>
          <p:cNvPr id="15" name="TextBox 14"/>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C3D6E2"/>
                </a:solidFill>
                <a:latin typeface="Calibri"/>
              </a:rPr>
              <a:t>The Pastoral Guide</a:t>
            </a:r>
          </a:p>
        </p:txBody>
      </p:sp>
      <p:sp>
        <p:nvSpPr>
          <p:cNvPr id="16" name="TextBox 15"/>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C3D6E2"/>
                </a:solidFill>
                <a:latin typeface="Calibri"/>
              </a:rPr>
              <a:t>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077456" y="530352"/>
            <a:ext cx="1380744" cy="347472"/>
          </a:xfrm>
          <a:prstGeom prst="roundRect">
            <a:avLst>
              <a:gd name="adj" fmla="val 50000"/>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77456" y="589788"/>
            <a:ext cx="1380744" cy="237744"/>
          </a:xfrm>
          <a:prstGeom prst="rect">
            <a:avLst/>
          </a:prstGeom>
          <a:noFill/>
        </p:spPr>
        <p:txBody>
          <a:bodyPr wrap="square" lIns="0" rIns="0" tIns="0" bIns="0" anchor="t">
            <a:spAutoFit/>
          </a:bodyPr>
          <a:lstStyle/>
          <a:p>
            <a:pPr algn="ctr">
              <a:lnSpc>
                <a:spcPct val="125000"/>
              </a:lnSpc>
              <a:spcAft>
                <a:spcPts val="0"/>
              </a:spcAft>
            </a:pPr>
            <a:r>
              <a:rPr sz="1000" b="1" i="0" spc="100">
                <a:solidFill>
                  <a:srgbClr val="2F5470"/>
                </a:solidFill>
                <a:latin typeface="Calibri"/>
              </a:rPr>
              <a:t>OPTIONAL</a:t>
            </a:r>
          </a:p>
        </p:txBody>
      </p:sp>
      <p:sp>
        <p:nvSpPr>
          <p:cNvPr id="5" name="TextBox 4"/>
          <p:cNvSpPr txBox="1"/>
          <p:nvPr/>
        </p:nvSpPr>
        <p:spPr>
          <a:xfrm>
            <a:off x="685800" y="566928"/>
            <a:ext cx="7772400" cy="201168"/>
          </a:xfrm>
          <a:prstGeom prst="rect">
            <a:avLst/>
          </a:prstGeom>
          <a:noFill/>
        </p:spPr>
        <p:txBody>
          <a:bodyPr wrap="square" lIns="0" rIns="0" tIns="0" bIns="0" anchor="t">
            <a:spAutoFit/>
          </a:bodyPr>
          <a:lstStyle/>
          <a:p>
            <a:pPr algn="l">
              <a:lnSpc>
                <a:spcPct val="125000"/>
              </a:lnSpc>
              <a:spcAft>
                <a:spcPts val="0"/>
              </a:spcAft>
            </a:pPr>
            <a:r>
              <a:rPr sz="1050" b="1" i="0" spc="160">
                <a:solidFill>
                  <a:srgbClr val="7EA6BD"/>
                </a:solidFill>
                <a:latin typeface="Calibri"/>
              </a:rPr>
              <a:t>IF YOUR TEACHER HAS SET IT UP</a:t>
            </a:r>
          </a:p>
        </p:txBody>
      </p:sp>
      <p:sp>
        <p:nvSpPr>
          <p:cNvPr id="6" name="TextBox 5"/>
          <p:cNvSpPr txBox="1"/>
          <p:nvPr/>
        </p:nvSpPr>
        <p:spPr>
          <a:xfrm>
            <a:off x="685800" y="841248"/>
            <a:ext cx="6309360" cy="566928"/>
          </a:xfrm>
          <a:prstGeom prst="rect">
            <a:avLst/>
          </a:prstGeom>
          <a:noFill/>
        </p:spPr>
        <p:txBody>
          <a:bodyPr wrap="square" lIns="0" rIns="0" tIns="0" bIns="0" anchor="t">
            <a:spAutoFit/>
          </a:bodyPr>
          <a:lstStyle/>
          <a:p>
            <a:pPr algn="l">
              <a:lnSpc>
                <a:spcPct val="105000"/>
              </a:lnSpc>
              <a:spcAft>
                <a:spcPts val="0"/>
              </a:spcAft>
            </a:pPr>
            <a:r>
              <a:rPr sz="3200" b="0" i="0">
                <a:solidFill>
                  <a:srgbClr val="39424A"/>
                </a:solidFill>
                <a:latin typeface="Georgia"/>
              </a:rPr>
              <a:t>The shop is open</a:t>
            </a:r>
          </a:p>
        </p:txBody>
      </p:sp>
      <p:sp>
        <p:nvSpPr>
          <p:cNvPr id="7" name="TextBox 6"/>
          <p:cNvSpPr txBox="1"/>
          <p:nvPr/>
        </p:nvSpPr>
        <p:spPr>
          <a:xfrm>
            <a:off x="685800" y="1517904"/>
            <a:ext cx="7772400" cy="292608"/>
          </a:xfrm>
          <a:prstGeom prst="rect">
            <a:avLst/>
          </a:prstGeom>
          <a:noFill/>
        </p:spPr>
        <p:txBody>
          <a:bodyPr wrap="square" lIns="0" rIns="0" tIns="0" bIns="0" anchor="t">
            <a:spAutoFit/>
          </a:bodyPr>
          <a:lstStyle/>
          <a:p>
            <a:pPr algn="l">
              <a:lnSpc>
                <a:spcPct val="125000"/>
              </a:lnSpc>
              <a:spcAft>
                <a:spcPts val="0"/>
              </a:spcAft>
            </a:pPr>
            <a:r>
              <a:rPr sz="1300" b="0" i="1">
                <a:solidFill>
                  <a:srgbClr val="6B7681"/>
                </a:solidFill>
                <a:latin typeface="Calibri"/>
              </a:rPr>
              <a:t>Twelve things you might want. Some are one payment, some every month.</a:t>
            </a:r>
          </a:p>
        </p:txBody>
      </p:sp>
      <p:sp>
        <p:nvSpPr>
          <p:cNvPr id="8" name="Rounded Rectangle 7"/>
          <p:cNvSpPr/>
          <p:nvPr/>
        </p:nvSpPr>
        <p:spPr>
          <a:xfrm>
            <a:off x="685800" y="1956816"/>
            <a:ext cx="2444496" cy="969264"/>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2078736" cy="365760"/>
          </a:xfrm>
          <a:prstGeom prst="rect">
            <a:avLst/>
          </a:prstGeom>
          <a:noFill/>
        </p:spPr>
        <p:txBody>
          <a:bodyPr wrap="square" lIns="0" rIns="0" tIns="0" bIns="0" anchor="t">
            <a:spAutoFit/>
          </a:bodyPr>
          <a:lstStyle/>
          <a:p>
            <a:pPr algn="l">
              <a:lnSpc>
                <a:spcPct val="116000"/>
              </a:lnSpc>
              <a:spcAft>
                <a:spcPts val="0"/>
              </a:spcAft>
            </a:pPr>
            <a:r>
              <a:rPr sz="1250" b="0" i="0">
                <a:solidFill>
                  <a:srgbClr val="39424A"/>
                </a:solidFill>
                <a:latin typeface="Georgia"/>
              </a:rPr>
              <a:t>Trainers</a:t>
            </a:r>
          </a:p>
        </p:txBody>
      </p:sp>
      <p:sp>
        <p:nvSpPr>
          <p:cNvPr id="10" name="TextBox 9"/>
          <p:cNvSpPr txBox="1"/>
          <p:nvPr/>
        </p:nvSpPr>
        <p:spPr>
          <a:xfrm>
            <a:off x="868680" y="2487168"/>
            <a:ext cx="2078736" cy="329184"/>
          </a:xfrm>
          <a:prstGeom prst="rect">
            <a:avLst/>
          </a:prstGeom>
          <a:noFill/>
        </p:spPr>
        <p:txBody>
          <a:bodyPr wrap="square" lIns="0" rIns="0" tIns="0" bIns="0" anchor="t">
            <a:spAutoFit/>
          </a:bodyPr>
          <a:lstStyle/>
          <a:p>
            <a:pPr algn="l">
              <a:lnSpc>
                <a:spcPct val="125000"/>
              </a:lnSpc>
              <a:spcAft>
                <a:spcPts val="0"/>
              </a:spcAft>
            </a:pPr>
            <a:r>
              <a:rPr sz="1500" b="0" i="0">
                <a:solidFill>
                  <a:srgbClr val="2F5470"/>
                </a:solidFill>
                <a:latin typeface="Georgia"/>
              </a:rPr>
              <a:t>£85</a:t>
            </a:r>
          </a:p>
        </p:txBody>
      </p:sp>
      <p:sp>
        <p:nvSpPr>
          <p:cNvPr id="11" name="Rounded Rectangle 10"/>
          <p:cNvSpPr/>
          <p:nvPr/>
        </p:nvSpPr>
        <p:spPr>
          <a:xfrm>
            <a:off x="3349752" y="1956816"/>
            <a:ext cx="2444496" cy="969264"/>
          </a:xfrm>
          <a:prstGeom prst="roundRect">
            <a:avLst>
              <a:gd name="adj" fmla="val 5500"/>
            </a:avLst>
          </a:prstGeom>
          <a:solidFill>
            <a:srgbClr val="EDF3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2632" y="2103120"/>
            <a:ext cx="2078736" cy="365760"/>
          </a:xfrm>
          <a:prstGeom prst="rect">
            <a:avLst/>
          </a:prstGeom>
          <a:noFill/>
        </p:spPr>
        <p:txBody>
          <a:bodyPr wrap="square" lIns="0" rIns="0" tIns="0" bIns="0" anchor="t">
            <a:spAutoFit/>
          </a:bodyPr>
          <a:lstStyle/>
          <a:p>
            <a:pPr algn="l">
              <a:lnSpc>
                <a:spcPct val="116000"/>
              </a:lnSpc>
              <a:spcAft>
                <a:spcPts val="0"/>
              </a:spcAft>
            </a:pPr>
            <a:r>
              <a:rPr sz="1250" b="0" i="0">
                <a:solidFill>
                  <a:srgbClr val="39424A"/>
                </a:solidFill>
                <a:latin typeface="Georgia"/>
              </a:rPr>
              <a:t>Smart watch</a:t>
            </a:r>
          </a:p>
        </p:txBody>
      </p:sp>
      <p:sp>
        <p:nvSpPr>
          <p:cNvPr id="13" name="TextBox 12"/>
          <p:cNvSpPr txBox="1"/>
          <p:nvPr/>
        </p:nvSpPr>
        <p:spPr>
          <a:xfrm>
            <a:off x="3532632" y="2487168"/>
            <a:ext cx="2078736" cy="329184"/>
          </a:xfrm>
          <a:prstGeom prst="rect">
            <a:avLst/>
          </a:prstGeom>
          <a:noFill/>
        </p:spPr>
        <p:txBody>
          <a:bodyPr wrap="square" lIns="0" rIns="0" tIns="0" bIns="0" anchor="t">
            <a:spAutoFit/>
          </a:bodyPr>
          <a:lstStyle/>
          <a:p>
            <a:pPr algn="l">
              <a:lnSpc>
                <a:spcPct val="125000"/>
              </a:lnSpc>
              <a:spcAft>
                <a:spcPts val="0"/>
              </a:spcAft>
            </a:pPr>
            <a:r>
              <a:rPr sz="1500" b="0" i="0">
                <a:solidFill>
                  <a:srgbClr val="2F5470"/>
                </a:solidFill>
                <a:latin typeface="Georgia"/>
              </a:rPr>
              <a:t>£190</a:t>
            </a:r>
          </a:p>
        </p:txBody>
      </p:sp>
      <p:sp>
        <p:nvSpPr>
          <p:cNvPr id="14" name="Rounded Rectangle 13"/>
          <p:cNvSpPr/>
          <p:nvPr/>
        </p:nvSpPr>
        <p:spPr>
          <a:xfrm>
            <a:off x="6013704" y="1956816"/>
            <a:ext cx="2444496" cy="969264"/>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6584" y="2103120"/>
            <a:ext cx="2078736" cy="365760"/>
          </a:xfrm>
          <a:prstGeom prst="rect">
            <a:avLst/>
          </a:prstGeom>
          <a:noFill/>
        </p:spPr>
        <p:txBody>
          <a:bodyPr wrap="square" lIns="0" rIns="0" tIns="0" bIns="0" anchor="t">
            <a:spAutoFit/>
          </a:bodyPr>
          <a:lstStyle/>
          <a:p>
            <a:pPr algn="l">
              <a:lnSpc>
                <a:spcPct val="116000"/>
              </a:lnSpc>
              <a:spcAft>
                <a:spcPts val="0"/>
              </a:spcAft>
            </a:pPr>
            <a:r>
              <a:rPr sz="1250" b="0" i="0">
                <a:solidFill>
                  <a:srgbClr val="39424A"/>
                </a:solidFill>
                <a:latin typeface="Georgia"/>
              </a:rPr>
              <a:t>Concert ticket</a:t>
            </a:r>
          </a:p>
        </p:txBody>
      </p:sp>
      <p:sp>
        <p:nvSpPr>
          <p:cNvPr id="16" name="TextBox 15"/>
          <p:cNvSpPr txBox="1"/>
          <p:nvPr/>
        </p:nvSpPr>
        <p:spPr>
          <a:xfrm>
            <a:off x="6196584" y="2487168"/>
            <a:ext cx="2078736" cy="329184"/>
          </a:xfrm>
          <a:prstGeom prst="rect">
            <a:avLst/>
          </a:prstGeom>
          <a:noFill/>
        </p:spPr>
        <p:txBody>
          <a:bodyPr wrap="square" lIns="0" rIns="0" tIns="0" bIns="0" anchor="t">
            <a:spAutoFit/>
          </a:bodyPr>
          <a:lstStyle/>
          <a:p>
            <a:pPr algn="l">
              <a:lnSpc>
                <a:spcPct val="125000"/>
              </a:lnSpc>
              <a:spcAft>
                <a:spcPts val="0"/>
              </a:spcAft>
            </a:pPr>
            <a:r>
              <a:rPr sz="1500" b="0" i="0">
                <a:solidFill>
                  <a:srgbClr val="2F5470"/>
                </a:solidFill>
                <a:latin typeface="Georgia"/>
              </a:rPr>
              <a:t>£65</a:t>
            </a:r>
          </a:p>
        </p:txBody>
      </p:sp>
      <p:sp>
        <p:nvSpPr>
          <p:cNvPr id="17" name="Rounded Rectangle 16"/>
          <p:cNvSpPr/>
          <p:nvPr/>
        </p:nvSpPr>
        <p:spPr>
          <a:xfrm>
            <a:off x="685800" y="3090672"/>
            <a:ext cx="2444496" cy="969264"/>
          </a:xfrm>
          <a:prstGeom prst="roundRect">
            <a:avLst>
              <a:gd name="adj" fmla="val 5500"/>
            </a:avLst>
          </a:prstGeom>
          <a:solidFill>
            <a:srgbClr val="EDF3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236976"/>
            <a:ext cx="2078736" cy="365760"/>
          </a:xfrm>
          <a:prstGeom prst="rect">
            <a:avLst/>
          </a:prstGeom>
          <a:noFill/>
        </p:spPr>
        <p:txBody>
          <a:bodyPr wrap="square" lIns="0" rIns="0" tIns="0" bIns="0" anchor="t">
            <a:spAutoFit/>
          </a:bodyPr>
          <a:lstStyle/>
          <a:p>
            <a:pPr algn="l">
              <a:lnSpc>
                <a:spcPct val="116000"/>
              </a:lnSpc>
              <a:spcAft>
                <a:spcPts val="0"/>
              </a:spcAft>
            </a:pPr>
            <a:r>
              <a:rPr sz="1250" b="0" i="0">
                <a:solidFill>
                  <a:srgbClr val="39424A"/>
                </a:solidFill>
                <a:latin typeface="Georgia"/>
              </a:rPr>
              <a:t>Gaming subscription</a:t>
            </a:r>
          </a:p>
        </p:txBody>
      </p:sp>
      <p:sp>
        <p:nvSpPr>
          <p:cNvPr id="19" name="TextBox 18"/>
          <p:cNvSpPr txBox="1"/>
          <p:nvPr/>
        </p:nvSpPr>
        <p:spPr>
          <a:xfrm>
            <a:off x="868680" y="3621024"/>
            <a:ext cx="2078736" cy="329184"/>
          </a:xfrm>
          <a:prstGeom prst="rect">
            <a:avLst/>
          </a:prstGeom>
          <a:noFill/>
        </p:spPr>
        <p:txBody>
          <a:bodyPr wrap="square" lIns="0" rIns="0" tIns="0" bIns="0" anchor="t">
            <a:spAutoFit/>
          </a:bodyPr>
          <a:lstStyle/>
          <a:p>
            <a:pPr algn="l">
              <a:lnSpc>
                <a:spcPct val="125000"/>
              </a:lnSpc>
              <a:spcAft>
                <a:spcPts val="0"/>
              </a:spcAft>
            </a:pPr>
            <a:r>
              <a:rPr sz="1500" b="0" i="0">
                <a:solidFill>
                  <a:srgbClr val="2F5470"/>
                </a:solidFill>
                <a:latin typeface="Georgia"/>
              </a:rPr>
              <a:t>£11 a month</a:t>
            </a:r>
          </a:p>
        </p:txBody>
      </p:sp>
      <p:sp>
        <p:nvSpPr>
          <p:cNvPr id="20" name="Rounded Rectangle 19"/>
          <p:cNvSpPr/>
          <p:nvPr/>
        </p:nvSpPr>
        <p:spPr>
          <a:xfrm>
            <a:off x="3349752" y="3090672"/>
            <a:ext cx="2444496" cy="969264"/>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32632" y="3236976"/>
            <a:ext cx="2078736" cy="365760"/>
          </a:xfrm>
          <a:prstGeom prst="rect">
            <a:avLst/>
          </a:prstGeom>
          <a:noFill/>
        </p:spPr>
        <p:txBody>
          <a:bodyPr wrap="square" lIns="0" rIns="0" tIns="0" bIns="0" anchor="t">
            <a:spAutoFit/>
          </a:bodyPr>
          <a:lstStyle/>
          <a:p>
            <a:pPr algn="l">
              <a:lnSpc>
                <a:spcPct val="116000"/>
              </a:lnSpc>
              <a:spcAft>
                <a:spcPts val="0"/>
              </a:spcAft>
            </a:pPr>
            <a:r>
              <a:rPr sz="1250" b="0" i="0">
                <a:solidFill>
                  <a:srgbClr val="39424A"/>
                </a:solidFill>
                <a:latin typeface="Georgia"/>
              </a:rPr>
              <a:t>Coffee before work</a:t>
            </a:r>
          </a:p>
        </p:txBody>
      </p:sp>
      <p:sp>
        <p:nvSpPr>
          <p:cNvPr id="22" name="TextBox 21"/>
          <p:cNvSpPr txBox="1"/>
          <p:nvPr/>
        </p:nvSpPr>
        <p:spPr>
          <a:xfrm>
            <a:off x="3532632" y="3621024"/>
            <a:ext cx="2078736" cy="329184"/>
          </a:xfrm>
          <a:prstGeom prst="rect">
            <a:avLst/>
          </a:prstGeom>
          <a:noFill/>
        </p:spPr>
        <p:txBody>
          <a:bodyPr wrap="square" lIns="0" rIns="0" tIns="0" bIns="0" anchor="t">
            <a:spAutoFit/>
          </a:bodyPr>
          <a:lstStyle/>
          <a:p>
            <a:pPr algn="l">
              <a:lnSpc>
                <a:spcPct val="125000"/>
              </a:lnSpc>
              <a:spcAft>
                <a:spcPts val="0"/>
              </a:spcAft>
            </a:pPr>
            <a:r>
              <a:rPr sz="1500" b="0" i="0">
                <a:solidFill>
                  <a:srgbClr val="2F5470"/>
                </a:solidFill>
                <a:latin typeface="Georgia"/>
              </a:rPr>
              <a:t>£48 a month</a:t>
            </a:r>
          </a:p>
        </p:txBody>
      </p:sp>
      <p:sp>
        <p:nvSpPr>
          <p:cNvPr id="23" name="Rounded Rectangle 22"/>
          <p:cNvSpPr/>
          <p:nvPr/>
        </p:nvSpPr>
        <p:spPr>
          <a:xfrm>
            <a:off x="6013704" y="3090672"/>
            <a:ext cx="2444496" cy="969264"/>
          </a:xfrm>
          <a:prstGeom prst="roundRect">
            <a:avLst>
              <a:gd name="adj" fmla="val 5500"/>
            </a:avLst>
          </a:prstGeom>
          <a:solidFill>
            <a:srgbClr val="EDF3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6584" y="3236976"/>
            <a:ext cx="2078736" cy="365760"/>
          </a:xfrm>
          <a:prstGeom prst="rect">
            <a:avLst/>
          </a:prstGeom>
          <a:noFill/>
        </p:spPr>
        <p:txBody>
          <a:bodyPr wrap="square" lIns="0" rIns="0" tIns="0" bIns="0" anchor="t">
            <a:spAutoFit/>
          </a:bodyPr>
          <a:lstStyle/>
          <a:p>
            <a:pPr algn="l">
              <a:lnSpc>
                <a:spcPct val="116000"/>
              </a:lnSpc>
              <a:spcAft>
                <a:spcPts val="0"/>
              </a:spcAft>
            </a:pPr>
            <a:r>
              <a:rPr sz="1250" b="0" i="0">
                <a:solidFill>
                  <a:srgbClr val="39424A"/>
                </a:solidFill>
                <a:latin typeface="Georgia"/>
              </a:rPr>
              <a:t>Weekend away</a:t>
            </a:r>
          </a:p>
        </p:txBody>
      </p:sp>
      <p:sp>
        <p:nvSpPr>
          <p:cNvPr id="25" name="TextBox 24"/>
          <p:cNvSpPr txBox="1"/>
          <p:nvPr/>
        </p:nvSpPr>
        <p:spPr>
          <a:xfrm>
            <a:off x="6196584" y="3621024"/>
            <a:ext cx="2078736" cy="329184"/>
          </a:xfrm>
          <a:prstGeom prst="rect">
            <a:avLst/>
          </a:prstGeom>
          <a:noFill/>
        </p:spPr>
        <p:txBody>
          <a:bodyPr wrap="square" lIns="0" rIns="0" tIns="0" bIns="0" anchor="t">
            <a:spAutoFit/>
          </a:bodyPr>
          <a:lstStyle/>
          <a:p>
            <a:pPr algn="l">
              <a:lnSpc>
                <a:spcPct val="125000"/>
              </a:lnSpc>
              <a:spcAft>
                <a:spcPts val="0"/>
              </a:spcAft>
            </a:pPr>
            <a:r>
              <a:rPr sz="1500" b="0" i="0">
                <a:solidFill>
                  <a:srgbClr val="2F5470"/>
                </a:solidFill>
                <a:latin typeface="Georgia"/>
              </a:rPr>
              <a:t>£160</a:t>
            </a:r>
          </a:p>
        </p:txBody>
      </p:sp>
      <p:sp>
        <p:nvSpPr>
          <p:cNvPr id="26" name="TextBox 25"/>
          <p:cNvSpPr txBox="1"/>
          <p:nvPr/>
        </p:nvSpPr>
        <p:spPr>
          <a:xfrm>
            <a:off x="685800" y="4224528"/>
            <a:ext cx="7772400" cy="292608"/>
          </a:xfrm>
          <a:prstGeom prst="rect">
            <a:avLst/>
          </a:prstGeom>
          <a:noFill/>
        </p:spPr>
        <p:txBody>
          <a:bodyPr wrap="square" lIns="0" rIns="0" tIns="0" bIns="0" anchor="t">
            <a:spAutoFit/>
          </a:bodyPr>
          <a:lstStyle/>
          <a:p>
            <a:pPr algn="l">
              <a:lnSpc>
                <a:spcPct val="125000"/>
              </a:lnSpc>
              <a:spcAft>
                <a:spcPts val="0"/>
              </a:spcAft>
            </a:pPr>
            <a:r>
              <a:rPr sz="1250" b="1" i="0">
                <a:solidFill>
                  <a:srgbClr val="2F5470"/>
                </a:solidFill>
                <a:latin typeface="Calibri"/>
              </a:rPr>
              <a:t>Six more on the cards. Everything you buy now is money you will not have later.</a:t>
            </a:r>
          </a:p>
        </p:txBody>
      </p:sp>
      <p:pic>
        <p:nvPicPr>
          <p:cNvPr id="27" name="Picture 26" descr="logo-master.png"/>
          <p:cNvPicPr>
            <a:picLocks noChangeAspect="1"/>
          </p:cNvPicPr>
          <p:nvPr/>
        </p:nvPicPr>
        <p:blipFill>
          <a:blip r:embed="rId2"/>
          <a:stretch>
            <a:fillRect/>
          </a:stretch>
        </p:blipFill>
        <p:spPr>
          <a:xfrm>
            <a:off x="384048" y="4722876"/>
            <a:ext cx="158374" cy="182880"/>
          </a:xfrm>
          <a:prstGeom prst="rect">
            <a:avLst/>
          </a:prstGeom>
        </p:spPr>
      </p:pic>
      <p:sp>
        <p:nvSpPr>
          <p:cNvPr id="28" name="TextBox 27"/>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2ACB5"/>
                </a:solidFill>
                <a:latin typeface="Calibri"/>
              </a:rPr>
              <a:t>The Pastoral Guide</a:t>
            </a:r>
          </a:p>
        </p:txBody>
      </p:sp>
      <p:sp>
        <p:nvSpPr>
          <p:cNvPr id="29" name="TextBox 28"/>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2ACB5"/>
                </a:solidFill>
                <a:latin typeface="Calibri"/>
              </a:rPr>
              <a:t>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C3D6E2"/>
                </a:solidFill>
                <a:latin typeface="Calibri"/>
              </a:rPr>
              <a:t>THE SECOND</a:t>
            </a:r>
          </a:p>
        </p:txBody>
      </p:sp>
      <p:sp>
        <p:nvSpPr>
          <p:cNvPr id="4" name="Rounded Rectangle 3"/>
          <p:cNvSpPr/>
          <p:nvPr/>
        </p:nvSpPr>
        <p:spPr>
          <a:xfrm>
            <a:off x="6693408" y="530352"/>
            <a:ext cx="1764792" cy="347472"/>
          </a:xfrm>
          <a:prstGeom prst="roundRect">
            <a:avLst>
              <a:gd name="adj" fmla="val 50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93408" y="589788"/>
            <a:ext cx="1764792" cy="237744"/>
          </a:xfrm>
          <a:prstGeom prst="rect">
            <a:avLst/>
          </a:prstGeom>
          <a:noFill/>
        </p:spPr>
        <p:txBody>
          <a:bodyPr wrap="square" lIns="0" rIns="0" tIns="0" bIns="0" anchor="t">
            <a:spAutoFit/>
          </a:bodyPr>
          <a:lstStyle/>
          <a:p>
            <a:pPr algn="ctr">
              <a:lnSpc>
                <a:spcPct val="125000"/>
              </a:lnSpc>
              <a:spcAft>
                <a:spcPts val="0"/>
              </a:spcAft>
            </a:pPr>
            <a:r>
              <a:rPr sz="1000" b="1" i="0" spc="100">
                <a:solidFill>
                  <a:srgbClr val="2F5470"/>
                </a:solidFill>
                <a:latin typeface="Calibri"/>
              </a:rPr>
              <a:t>EVENT 1 OF 10</a:t>
            </a:r>
          </a:p>
        </p:txBody>
      </p:sp>
      <p:sp>
        <p:nvSpPr>
          <p:cNvPr id="6" name="TextBox 5"/>
          <p:cNvSpPr txBox="1"/>
          <p:nvPr/>
        </p:nvSpPr>
        <p:spPr>
          <a:xfrm>
            <a:off x="731520" y="914400"/>
            <a:ext cx="7680960" cy="1280160"/>
          </a:xfrm>
          <a:prstGeom prst="rect">
            <a:avLst/>
          </a:prstGeom>
          <a:noFill/>
        </p:spPr>
        <p:txBody>
          <a:bodyPr wrap="square" lIns="0" rIns="0" tIns="0" bIns="0" anchor="t">
            <a:spAutoFit/>
          </a:bodyPr>
          <a:lstStyle/>
          <a:p>
            <a:pPr algn="ctr">
              <a:lnSpc>
                <a:spcPct val="130000"/>
              </a:lnSpc>
              <a:spcAft>
                <a:spcPts val="0"/>
              </a:spcAft>
            </a:pPr>
            <a:r>
              <a:rPr sz="2500" b="0" i="0">
                <a:solidFill>
                  <a:srgbClr val="FFFDF7"/>
                </a:solidFill>
                <a:latin typeface="Georgia"/>
              </a:rPr>
              <a:t>Your landlord renews the contract.</a:t>
            </a:r>
            <a:br/>
            <a:r>
              <a:rPr sz="2500" b="0" i="0">
                <a:solidFill>
                  <a:srgbClr val="FFFDF7"/>
                </a:solidFill>
                <a:latin typeface="Georgia"/>
              </a:rPr>
              <a:t>The rent is going up.</a:t>
            </a:r>
          </a:p>
        </p:txBody>
      </p:sp>
      <p:sp>
        <p:nvSpPr>
          <p:cNvPr id="7" name="TextBox 6"/>
          <p:cNvSpPr txBox="1"/>
          <p:nvPr/>
        </p:nvSpPr>
        <p:spPr>
          <a:xfrm>
            <a:off x="1188720" y="2395728"/>
            <a:ext cx="6766560" cy="786384"/>
          </a:xfrm>
          <a:prstGeom prst="rect">
            <a:avLst/>
          </a:prstGeom>
          <a:noFill/>
        </p:spPr>
        <p:txBody>
          <a:bodyPr wrap="square" lIns="0" rIns="0" tIns="0" bIns="0" anchor="t">
            <a:spAutoFit/>
          </a:bodyPr>
          <a:lstStyle/>
          <a:p>
            <a:pPr algn="ctr">
              <a:lnSpc>
                <a:spcPct val="138000"/>
              </a:lnSpc>
              <a:spcAft>
                <a:spcPts val="0"/>
              </a:spcAft>
            </a:pPr>
            <a:r>
              <a:rPr sz="1400" b="0" i="1">
                <a:solidFill>
                  <a:srgbClr val="C3D6E2"/>
                </a:solidFill>
                <a:latin typeface="Calibri"/>
              </a:rPr>
              <a:t>Not by much, they say. Sixty pounds. From this month, and every month after it.</a:t>
            </a:r>
          </a:p>
        </p:txBody>
      </p:sp>
      <p:sp>
        <p:nvSpPr>
          <p:cNvPr id="8" name="Oval 7"/>
          <p:cNvSpPr/>
          <p:nvPr/>
        </p:nvSpPr>
        <p:spPr>
          <a:xfrm>
            <a:off x="4242816" y="3291840"/>
            <a:ext cx="658368" cy="658368"/>
          </a:xfrm>
          <a:prstGeom prst="ellipse">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lt.png"/>
          <p:cNvPicPr>
            <a:picLocks noChangeAspect="1"/>
          </p:cNvPicPr>
          <p:nvPr/>
        </p:nvPicPr>
        <p:blipFill>
          <a:blip r:embed="rId2"/>
          <a:stretch>
            <a:fillRect/>
          </a:stretch>
        </p:blipFill>
        <p:spPr>
          <a:xfrm>
            <a:off x="4389120" y="3438144"/>
            <a:ext cx="365760" cy="365760"/>
          </a:xfrm>
          <a:prstGeom prst="rect">
            <a:avLst/>
          </a:prstGeom>
        </p:spPr>
      </p:pic>
      <p:sp>
        <p:nvSpPr>
          <p:cNvPr id="10" name="Rounded Rectangle 9"/>
          <p:cNvSpPr/>
          <p:nvPr/>
        </p:nvSpPr>
        <p:spPr>
          <a:xfrm>
            <a:off x="2468880" y="4005072"/>
            <a:ext cx="4206240" cy="512064"/>
          </a:xfrm>
          <a:prstGeom prst="roundRect">
            <a:avLst>
              <a:gd name="adj" fmla="val 5500"/>
            </a:avLst>
          </a:prstGeom>
          <a:solidFill>
            <a:srgbClr val="EDF3F7"/>
          </a:solidFill>
          <a:ln w="12700">
            <a:solidFill>
              <a:srgbClr val="ED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4096512"/>
            <a:ext cx="4206240" cy="347472"/>
          </a:xfrm>
          <a:prstGeom prst="rect">
            <a:avLst/>
          </a:prstGeom>
          <a:noFill/>
        </p:spPr>
        <p:txBody>
          <a:bodyPr wrap="square" lIns="0" rIns="0" tIns="0" bIns="0" anchor="t">
            <a:spAutoFit/>
          </a:bodyPr>
          <a:lstStyle/>
          <a:p>
            <a:pPr algn="ctr">
              <a:lnSpc>
                <a:spcPct val="125000"/>
              </a:lnSpc>
              <a:spcAft>
                <a:spcPts val="0"/>
              </a:spcAft>
            </a:pPr>
            <a:r>
              <a:rPr sz="1450" b="0" i="0">
                <a:solidFill>
                  <a:srgbClr val="2F5470"/>
                </a:solidFill>
                <a:latin typeface="Georgia"/>
              </a:rPr>
              <a:t>Rent up £60, from now on</a:t>
            </a:r>
          </a:p>
        </p:txBody>
      </p:sp>
      <p:pic>
        <p:nvPicPr>
          <p:cNvPr id="12" name="Picture 11" descr="logo-master.png"/>
          <p:cNvPicPr>
            <a:picLocks noChangeAspect="1"/>
          </p:cNvPicPr>
          <p:nvPr/>
        </p:nvPicPr>
        <p:blipFill>
          <a:blip r:embed="rId3"/>
          <a:stretch>
            <a:fillRect/>
          </a:stretch>
        </p:blipFill>
        <p:spPr>
          <a:xfrm>
            <a:off x="384048" y="4722876"/>
            <a:ext cx="158374" cy="182880"/>
          </a:xfrm>
          <a:prstGeom prst="rect">
            <a:avLst/>
          </a:prstGeom>
        </p:spPr>
      </p:pic>
      <p:sp>
        <p:nvSpPr>
          <p:cNvPr id="13" name="TextBox 12"/>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C3D6E2"/>
                </a:solidFill>
                <a:latin typeface="Calibri"/>
              </a:rPr>
              <a:t>The Pastoral Guide</a:t>
            </a:r>
          </a:p>
        </p:txBody>
      </p:sp>
      <p:sp>
        <p:nvSpPr>
          <p:cNvPr id="14" name="TextBox 13"/>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C3D6E2"/>
                </a:solidFill>
                <a:latin typeface="Calibri"/>
              </a:rPr>
              <a:t>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C3D6E2"/>
                </a:solidFill>
                <a:latin typeface="Calibri"/>
              </a:rPr>
              <a:t>THE FIFTH</a:t>
            </a:r>
          </a:p>
        </p:txBody>
      </p:sp>
      <p:sp>
        <p:nvSpPr>
          <p:cNvPr id="4" name="Rounded Rectangle 3"/>
          <p:cNvSpPr/>
          <p:nvPr/>
        </p:nvSpPr>
        <p:spPr>
          <a:xfrm>
            <a:off x="6693408" y="530352"/>
            <a:ext cx="1764792" cy="347472"/>
          </a:xfrm>
          <a:prstGeom prst="roundRect">
            <a:avLst>
              <a:gd name="adj" fmla="val 50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93408" y="589788"/>
            <a:ext cx="1764792" cy="237744"/>
          </a:xfrm>
          <a:prstGeom prst="rect">
            <a:avLst/>
          </a:prstGeom>
          <a:noFill/>
        </p:spPr>
        <p:txBody>
          <a:bodyPr wrap="square" lIns="0" rIns="0" tIns="0" bIns="0" anchor="t">
            <a:spAutoFit/>
          </a:bodyPr>
          <a:lstStyle/>
          <a:p>
            <a:pPr algn="ctr">
              <a:lnSpc>
                <a:spcPct val="125000"/>
              </a:lnSpc>
              <a:spcAft>
                <a:spcPts val="0"/>
              </a:spcAft>
            </a:pPr>
            <a:r>
              <a:rPr sz="1000" b="1" i="0" spc="100">
                <a:solidFill>
                  <a:srgbClr val="2F5470"/>
                </a:solidFill>
                <a:latin typeface="Calibri"/>
              </a:rPr>
              <a:t>EVENT 2 OF 10</a:t>
            </a:r>
          </a:p>
        </p:txBody>
      </p:sp>
      <p:sp>
        <p:nvSpPr>
          <p:cNvPr id="6" name="TextBox 5"/>
          <p:cNvSpPr txBox="1"/>
          <p:nvPr/>
        </p:nvSpPr>
        <p:spPr>
          <a:xfrm>
            <a:off x="731520" y="914400"/>
            <a:ext cx="7680960" cy="1280160"/>
          </a:xfrm>
          <a:prstGeom prst="rect">
            <a:avLst/>
          </a:prstGeom>
          <a:noFill/>
        </p:spPr>
        <p:txBody>
          <a:bodyPr wrap="square" lIns="0" rIns="0" tIns="0" bIns="0" anchor="t">
            <a:spAutoFit/>
          </a:bodyPr>
          <a:lstStyle/>
          <a:p>
            <a:pPr algn="ctr">
              <a:lnSpc>
                <a:spcPct val="130000"/>
              </a:lnSpc>
              <a:spcAft>
                <a:spcPts val="0"/>
              </a:spcAft>
            </a:pPr>
            <a:r>
              <a:rPr sz="2500" b="0" i="0">
                <a:solidFill>
                  <a:srgbClr val="FFFDF7"/>
                </a:solidFill>
                <a:latin typeface="Georgia"/>
              </a:rPr>
              <a:t>You drop your phone on the way out</a:t>
            </a:r>
            <a:br/>
            <a:r>
              <a:rPr sz="2500" b="0" i="0">
                <a:solidFill>
                  <a:srgbClr val="FFFDF7"/>
                </a:solidFill>
                <a:latin typeface="Georgia"/>
              </a:rPr>
              <a:t>and the screen goes.</a:t>
            </a:r>
          </a:p>
        </p:txBody>
      </p:sp>
      <p:sp>
        <p:nvSpPr>
          <p:cNvPr id="7" name="TextBox 6"/>
          <p:cNvSpPr txBox="1"/>
          <p:nvPr/>
        </p:nvSpPr>
        <p:spPr>
          <a:xfrm>
            <a:off x="1188720" y="2395728"/>
            <a:ext cx="6766560" cy="786384"/>
          </a:xfrm>
          <a:prstGeom prst="rect">
            <a:avLst/>
          </a:prstGeom>
          <a:noFill/>
        </p:spPr>
        <p:txBody>
          <a:bodyPr wrap="square" lIns="0" rIns="0" tIns="0" bIns="0" anchor="t">
            <a:spAutoFit/>
          </a:bodyPr>
          <a:lstStyle/>
          <a:p>
            <a:pPr algn="ctr">
              <a:lnSpc>
                <a:spcPct val="138000"/>
              </a:lnSpc>
              <a:spcAft>
                <a:spcPts val="0"/>
              </a:spcAft>
            </a:pPr>
            <a:r>
              <a:rPr sz="1400" b="0" i="1">
                <a:solidFill>
                  <a:srgbClr val="C3D6E2"/>
                </a:solidFill>
                <a:latin typeface="Calibri"/>
              </a:rPr>
              <a:t>It still works. You can live with a cracked screen for a while. People do.</a:t>
            </a:r>
          </a:p>
        </p:txBody>
      </p:sp>
      <p:sp>
        <p:nvSpPr>
          <p:cNvPr id="8" name="Oval 7"/>
          <p:cNvSpPr/>
          <p:nvPr/>
        </p:nvSpPr>
        <p:spPr>
          <a:xfrm>
            <a:off x="4242816" y="3291840"/>
            <a:ext cx="658368" cy="658368"/>
          </a:xfrm>
          <a:prstGeom prst="ellipse">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lt.png"/>
          <p:cNvPicPr>
            <a:picLocks noChangeAspect="1"/>
          </p:cNvPicPr>
          <p:nvPr/>
        </p:nvPicPr>
        <p:blipFill>
          <a:blip r:embed="rId2"/>
          <a:stretch>
            <a:fillRect/>
          </a:stretch>
        </p:blipFill>
        <p:spPr>
          <a:xfrm>
            <a:off x="4389120" y="3438144"/>
            <a:ext cx="365760" cy="365760"/>
          </a:xfrm>
          <a:prstGeom prst="rect">
            <a:avLst/>
          </a:prstGeom>
        </p:spPr>
      </p:pic>
      <p:sp>
        <p:nvSpPr>
          <p:cNvPr id="10" name="Rounded Rectangle 9"/>
          <p:cNvSpPr/>
          <p:nvPr/>
        </p:nvSpPr>
        <p:spPr>
          <a:xfrm>
            <a:off x="2468880" y="4005072"/>
            <a:ext cx="4206240" cy="512064"/>
          </a:xfrm>
          <a:prstGeom prst="roundRect">
            <a:avLst>
              <a:gd name="adj" fmla="val 5500"/>
            </a:avLst>
          </a:prstGeom>
          <a:solidFill>
            <a:srgbClr val="EDF3F7"/>
          </a:solidFill>
          <a:ln w="12700">
            <a:solidFill>
              <a:srgbClr val="ED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4096512"/>
            <a:ext cx="4206240" cy="347472"/>
          </a:xfrm>
          <a:prstGeom prst="rect">
            <a:avLst/>
          </a:prstGeom>
          <a:noFill/>
        </p:spPr>
        <p:txBody>
          <a:bodyPr wrap="square" lIns="0" rIns="0" tIns="0" bIns="0" anchor="t">
            <a:spAutoFit/>
          </a:bodyPr>
          <a:lstStyle/>
          <a:p>
            <a:pPr algn="ctr">
              <a:lnSpc>
                <a:spcPct val="125000"/>
              </a:lnSpc>
              <a:spcAft>
                <a:spcPts val="0"/>
              </a:spcAft>
            </a:pPr>
            <a:r>
              <a:rPr sz="1450" b="0" i="0">
                <a:solidFill>
                  <a:srgbClr val="2F5470"/>
                </a:solidFill>
                <a:latin typeface="Georgia"/>
              </a:rPr>
              <a:t>£120, or live with it</a:t>
            </a:r>
          </a:p>
        </p:txBody>
      </p:sp>
      <p:pic>
        <p:nvPicPr>
          <p:cNvPr id="12" name="Picture 11" descr="logo-master.png"/>
          <p:cNvPicPr>
            <a:picLocks noChangeAspect="1"/>
          </p:cNvPicPr>
          <p:nvPr/>
        </p:nvPicPr>
        <p:blipFill>
          <a:blip r:embed="rId3"/>
          <a:stretch>
            <a:fillRect/>
          </a:stretch>
        </p:blipFill>
        <p:spPr>
          <a:xfrm>
            <a:off x="384048" y="4722876"/>
            <a:ext cx="158374" cy="182880"/>
          </a:xfrm>
          <a:prstGeom prst="rect">
            <a:avLst/>
          </a:prstGeom>
        </p:spPr>
      </p:pic>
      <p:sp>
        <p:nvSpPr>
          <p:cNvPr id="13" name="TextBox 12"/>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C3D6E2"/>
                </a:solidFill>
                <a:latin typeface="Calibri"/>
              </a:rPr>
              <a:t>The Pastoral Guide</a:t>
            </a:r>
          </a:p>
        </p:txBody>
      </p:sp>
      <p:sp>
        <p:nvSpPr>
          <p:cNvPr id="14" name="TextBox 13"/>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C3D6E2"/>
                </a:solidFill>
                <a:latin typeface="Calibri"/>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C3D6E2"/>
                </a:solidFill>
                <a:latin typeface="Calibri"/>
              </a:rPr>
              <a:t>THE SEVENTH</a:t>
            </a:r>
          </a:p>
        </p:txBody>
      </p:sp>
      <p:sp>
        <p:nvSpPr>
          <p:cNvPr id="4" name="Rounded Rectangle 3"/>
          <p:cNvSpPr/>
          <p:nvPr/>
        </p:nvSpPr>
        <p:spPr>
          <a:xfrm>
            <a:off x="6693408" y="530352"/>
            <a:ext cx="1764792" cy="347472"/>
          </a:xfrm>
          <a:prstGeom prst="roundRect">
            <a:avLst>
              <a:gd name="adj" fmla="val 50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93408" y="589788"/>
            <a:ext cx="1764792" cy="237744"/>
          </a:xfrm>
          <a:prstGeom prst="rect">
            <a:avLst/>
          </a:prstGeom>
          <a:noFill/>
        </p:spPr>
        <p:txBody>
          <a:bodyPr wrap="square" lIns="0" rIns="0" tIns="0" bIns="0" anchor="t">
            <a:spAutoFit/>
          </a:bodyPr>
          <a:lstStyle/>
          <a:p>
            <a:pPr algn="ctr">
              <a:lnSpc>
                <a:spcPct val="125000"/>
              </a:lnSpc>
              <a:spcAft>
                <a:spcPts val="0"/>
              </a:spcAft>
            </a:pPr>
            <a:r>
              <a:rPr sz="1000" b="1" i="0" spc="100">
                <a:solidFill>
                  <a:srgbClr val="2F5470"/>
                </a:solidFill>
                <a:latin typeface="Calibri"/>
              </a:rPr>
              <a:t>EVENT 3 OF 10</a:t>
            </a:r>
          </a:p>
        </p:txBody>
      </p:sp>
      <p:sp>
        <p:nvSpPr>
          <p:cNvPr id="6" name="TextBox 5"/>
          <p:cNvSpPr txBox="1"/>
          <p:nvPr/>
        </p:nvSpPr>
        <p:spPr>
          <a:xfrm>
            <a:off x="731520" y="914400"/>
            <a:ext cx="7680960" cy="1280160"/>
          </a:xfrm>
          <a:prstGeom prst="rect">
            <a:avLst/>
          </a:prstGeom>
          <a:noFill/>
        </p:spPr>
        <p:txBody>
          <a:bodyPr wrap="square" lIns="0" rIns="0" tIns="0" bIns="0" anchor="t">
            <a:spAutoFit/>
          </a:bodyPr>
          <a:lstStyle/>
          <a:p>
            <a:pPr algn="ctr">
              <a:lnSpc>
                <a:spcPct val="130000"/>
              </a:lnSpc>
              <a:spcAft>
                <a:spcPts val="0"/>
              </a:spcAft>
            </a:pPr>
            <a:r>
              <a:rPr sz="2500" b="0" i="0">
                <a:solidFill>
                  <a:srgbClr val="FFFDF7"/>
                </a:solidFill>
                <a:latin typeface="Georgia"/>
              </a:rPr>
              <a:t>Your card gets declined at the till.</a:t>
            </a:r>
          </a:p>
        </p:txBody>
      </p:sp>
      <p:sp>
        <p:nvSpPr>
          <p:cNvPr id="7" name="TextBox 6"/>
          <p:cNvSpPr txBox="1"/>
          <p:nvPr/>
        </p:nvSpPr>
        <p:spPr>
          <a:xfrm>
            <a:off x="1188720" y="2395728"/>
            <a:ext cx="6766560" cy="786384"/>
          </a:xfrm>
          <a:prstGeom prst="rect">
            <a:avLst/>
          </a:prstGeom>
          <a:noFill/>
        </p:spPr>
        <p:txBody>
          <a:bodyPr wrap="square" lIns="0" rIns="0" tIns="0" bIns="0" anchor="t">
            <a:spAutoFit/>
          </a:bodyPr>
          <a:lstStyle/>
          <a:p>
            <a:pPr algn="ctr">
              <a:lnSpc>
                <a:spcPct val="138000"/>
              </a:lnSpc>
              <a:spcAft>
                <a:spcPts val="0"/>
              </a:spcAft>
            </a:pPr>
            <a:r>
              <a:rPr sz="1400" b="0" i="1">
                <a:solidFill>
                  <a:srgbClr val="C3D6E2"/>
                </a:solidFill>
                <a:latin typeface="Calibri"/>
              </a:rPr>
              <a:t>There is a subscription you forgot you signed up to, and it has been going out since August. Nobody reminded you because nobody had to.</a:t>
            </a:r>
          </a:p>
        </p:txBody>
      </p:sp>
      <p:sp>
        <p:nvSpPr>
          <p:cNvPr id="8" name="Oval 7"/>
          <p:cNvSpPr/>
          <p:nvPr/>
        </p:nvSpPr>
        <p:spPr>
          <a:xfrm>
            <a:off x="4242816" y="3291840"/>
            <a:ext cx="658368" cy="658368"/>
          </a:xfrm>
          <a:prstGeom prst="ellipse">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lt.png"/>
          <p:cNvPicPr>
            <a:picLocks noChangeAspect="1"/>
          </p:cNvPicPr>
          <p:nvPr/>
        </p:nvPicPr>
        <p:blipFill>
          <a:blip r:embed="rId2"/>
          <a:stretch>
            <a:fillRect/>
          </a:stretch>
        </p:blipFill>
        <p:spPr>
          <a:xfrm>
            <a:off x="4389120" y="3438144"/>
            <a:ext cx="365760" cy="365760"/>
          </a:xfrm>
          <a:prstGeom prst="rect">
            <a:avLst/>
          </a:prstGeom>
        </p:spPr>
      </p:pic>
      <p:sp>
        <p:nvSpPr>
          <p:cNvPr id="10" name="Rounded Rectangle 9"/>
          <p:cNvSpPr/>
          <p:nvPr/>
        </p:nvSpPr>
        <p:spPr>
          <a:xfrm>
            <a:off x="2468880" y="4005072"/>
            <a:ext cx="4206240" cy="512064"/>
          </a:xfrm>
          <a:prstGeom prst="roundRect">
            <a:avLst>
              <a:gd name="adj" fmla="val 5500"/>
            </a:avLst>
          </a:prstGeom>
          <a:solidFill>
            <a:srgbClr val="EDF3F7"/>
          </a:solidFill>
          <a:ln w="12700">
            <a:solidFill>
              <a:srgbClr val="ED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4096512"/>
            <a:ext cx="4206240" cy="347472"/>
          </a:xfrm>
          <a:prstGeom prst="rect">
            <a:avLst/>
          </a:prstGeom>
          <a:noFill/>
        </p:spPr>
        <p:txBody>
          <a:bodyPr wrap="square" lIns="0" rIns="0" tIns="0" bIns="0" anchor="t">
            <a:spAutoFit/>
          </a:bodyPr>
          <a:lstStyle/>
          <a:p>
            <a:pPr algn="ctr">
              <a:lnSpc>
                <a:spcPct val="125000"/>
              </a:lnSpc>
              <a:spcAft>
                <a:spcPts val="0"/>
              </a:spcAft>
            </a:pPr>
            <a:r>
              <a:rPr sz="1450" b="0" i="0">
                <a:solidFill>
                  <a:srgbClr val="2F5470"/>
                </a:solidFill>
                <a:latin typeface="Georgia"/>
              </a:rPr>
              <a:t>£14 a month, and £42 already gone</a:t>
            </a:r>
          </a:p>
        </p:txBody>
      </p:sp>
      <p:pic>
        <p:nvPicPr>
          <p:cNvPr id="12" name="Picture 11" descr="logo-master.png"/>
          <p:cNvPicPr>
            <a:picLocks noChangeAspect="1"/>
          </p:cNvPicPr>
          <p:nvPr/>
        </p:nvPicPr>
        <p:blipFill>
          <a:blip r:embed="rId3"/>
          <a:stretch>
            <a:fillRect/>
          </a:stretch>
        </p:blipFill>
        <p:spPr>
          <a:xfrm>
            <a:off x="384048" y="4722876"/>
            <a:ext cx="158374" cy="182880"/>
          </a:xfrm>
          <a:prstGeom prst="rect">
            <a:avLst/>
          </a:prstGeom>
        </p:spPr>
      </p:pic>
      <p:sp>
        <p:nvSpPr>
          <p:cNvPr id="13" name="TextBox 12"/>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C3D6E2"/>
                </a:solidFill>
                <a:latin typeface="Calibri"/>
              </a:rPr>
              <a:t>The Pastoral Guide</a:t>
            </a:r>
          </a:p>
        </p:txBody>
      </p:sp>
      <p:sp>
        <p:nvSpPr>
          <p:cNvPr id="14" name="TextBox 13"/>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C3D6E2"/>
                </a:solidFill>
                <a:latin typeface="Calibri"/>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C3D6E2"/>
                </a:solidFill>
                <a:latin typeface="Calibri"/>
              </a:rPr>
              <a:t>THE NINTH</a:t>
            </a:r>
          </a:p>
        </p:txBody>
      </p:sp>
      <p:sp>
        <p:nvSpPr>
          <p:cNvPr id="4" name="Rounded Rectangle 3"/>
          <p:cNvSpPr/>
          <p:nvPr/>
        </p:nvSpPr>
        <p:spPr>
          <a:xfrm>
            <a:off x="6693408" y="530352"/>
            <a:ext cx="1764792" cy="347472"/>
          </a:xfrm>
          <a:prstGeom prst="roundRect">
            <a:avLst>
              <a:gd name="adj" fmla="val 50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93408" y="589788"/>
            <a:ext cx="1764792" cy="237744"/>
          </a:xfrm>
          <a:prstGeom prst="rect">
            <a:avLst/>
          </a:prstGeom>
          <a:noFill/>
        </p:spPr>
        <p:txBody>
          <a:bodyPr wrap="square" lIns="0" rIns="0" tIns="0" bIns="0" anchor="t">
            <a:spAutoFit/>
          </a:bodyPr>
          <a:lstStyle/>
          <a:p>
            <a:pPr algn="ctr">
              <a:lnSpc>
                <a:spcPct val="125000"/>
              </a:lnSpc>
              <a:spcAft>
                <a:spcPts val="0"/>
              </a:spcAft>
            </a:pPr>
            <a:r>
              <a:rPr sz="1000" b="1" i="0" spc="100">
                <a:solidFill>
                  <a:srgbClr val="2F5470"/>
                </a:solidFill>
                <a:latin typeface="Calibri"/>
              </a:rPr>
              <a:t>EVENT 4 OF 10</a:t>
            </a:r>
          </a:p>
        </p:txBody>
      </p:sp>
      <p:sp>
        <p:nvSpPr>
          <p:cNvPr id="6" name="TextBox 5"/>
          <p:cNvSpPr txBox="1"/>
          <p:nvPr/>
        </p:nvSpPr>
        <p:spPr>
          <a:xfrm>
            <a:off x="731520" y="914400"/>
            <a:ext cx="7680960" cy="1280160"/>
          </a:xfrm>
          <a:prstGeom prst="rect">
            <a:avLst/>
          </a:prstGeom>
          <a:noFill/>
        </p:spPr>
        <p:txBody>
          <a:bodyPr wrap="square" lIns="0" rIns="0" tIns="0" bIns="0" anchor="t">
            <a:spAutoFit/>
          </a:bodyPr>
          <a:lstStyle/>
          <a:p>
            <a:pPr algn="ctr">
              <a:lnSpc>
                <a:spcPct val="130000"/>
              </a:lnSpc>
              <a:spcAft>
                <a:spcPts val="0"/>
              </a:spcAft>
            </a:pPr>
            <a:r>
              <a:rPr sz="2500" b="0" i="0">
                <a:solidFill>
                  <a:srgbClr val="FFFDF7"/>
                </a:solidFill>
                <a:latin typeface="Georgia"/>
              </a:rPr>
              <a:t>You wake up and you can see</a:t>
            </a:r>
            <a:br/>
            <a:r>
              <a:rPr sz="2500" b="0" i="0">
                <a:solidFill>
                  <a:srgbClr val="FFFDF7"/>
                </a:solidFill>
                <a:latin typeface="Georgia"/>
              </a:rPr>
              <a:t>your own breath. The hot water has gone.</a:t>
            </a:r>
          </a:p>
        </p:txBody>
      </p:sp>
      <p:sp>
        <p:nvSpPr>
          <p:cNvPr id="7" name="TextBox 6"/>
          <p:cNvSpPr txBox="1"/>
          <p:nvPr/>
        </p:nvSpPr>
        <p:spPr>
          <a:xfrm>
            <a:off x="1188720" y="2395728"/>
            <a:ext cx="6766560" cy="786384"/>
          </a:xfrm>
          <a:prstGeom prst="rect">
            <a:avLst/>
          </a:prstGeom>
          <a:noFill/>
        </p:spPr>
        <p:txBody>
          <a:bodyPr wrap="square" lIns="0" rIns="0" tIns="0" bIns="0" anchor="t">
            <a:spAutoFit/>
          </a:bodyPr>
          <a:lstStyle/>
          <a:p>
            <a:pPr algn="ctr">
              <a:lnSpc>
                <a:spcPct val="138000"/>
              </a:lnSpc>
              <a:spcAft>
                <a:spcPts val="0"/>
              </a:spcAft>
            </a:pPr>
            <a:r>
              <a:rPr sz="1400" b="0" i="1">
                <a:solidFill>
                  <a:srgbClr val="C3D6E2"/>
                </a:solidFill>
                <a:latin typeface="Calibri"/>
              </a:rPr>
              <a:t>The landlord will fix it. Eventually. Meanwhile there is a plug-in heater that eats electricity, and a launderette three streets away.</a:t>
            </a:r>
          </a:p>
        </p:txBody>
      </p:sp>
      <p:sp>
        <p:nvSpPr>
          <p:cNvPr id="8" name="Oval 7"/>
          <p:cNvSpPr/>
          <p:nvPr/>
        </p:nvSpPr>
        <p:spPr>
          <a:xfrm>
            <a:off x="4242816" y="3291840"/>
            <a:ext cx="658368" cy="658368"/>
          </a:xfrm>
          <a:prstGeom prst="ellipse">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lt.png"/>
          <p:cNvPicPr>
            <a:picLocks noChangeAspect="1"/>
          </p:cNvPicPr>
          <p:nvPr/>
        </p:nvPicPr>
        <p:blipFill>
          <a:blip r:embed="rId2"/>
          <a:stretch>
            <a:fillRect/>
          </a:stretch>
        </p:blipFill>
        <p:spPr>
          <a:xfrm>
            <a:off x="4389120" y="3438144"/>
            <a:ext cx="365760" cy="365760"/>
          </a:xfrm>
          <a:prstGeom prst="rect">
            <a:avLst/>
          </a:prstGeom>
        </p:spPr>
      </p:pic>
      <p:sp>
        <p:nvSpPr>
          <p:cNvPr id="10" name="Rounded Rectangle 9"/>
          <p:cNvSpPr/>
          <p:nvPr/>
        </p:nvSpPr>
        <p:spPr>
          <a:xfrm>
            <a:off x="2468880" y="4005072"/>
            <a:ext cx="4206240" cy="512064"/>
          </a:xfrm>
          <a:prstGeom prst="roundRect">
            <a:avLst>
              <a:gd name="adj" fmla="val 5500"/>
            </a:avLst>
          </a:prstGeom>
          <a:solidFill>
            <a:srgbClr val="EDF3F7"/>
          </a:solidFill>
          <a:ln w="12700">
            <a:solidFill>
              <a:srgbClr val="ED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4096512"/>
            <a:ext cx="4206240" cy="347472"/>
          </a:xfrm>
          <a:prstGeom prst="rect">
            <a:avLst/>
          </a:prstGeom>
          <a:noFill/>
        </p:spPr>
        <p:txBody>
          <a:bodyPr wrap="square" lIns="0" rIns="0" tIns="0" bIns="0" anchor="t">
            <a:spAutoFit/>
          </a:bodyPr>
          <a:lstStyle/>
          <a:p>
            <a:pPr algn="ctr">
              <a:lnSpc>
                <a:spcPct val="125000"/>
              </a:lnSpc>
              <a:spcAft>
                <a:spcPts val="0"/>
              </a:spcAft>
            </a:pPr>
            <a:r>
              <a:rPr sz="1450" b="0" i="0">
                <a:solidFill>
                  <a:srgbClr val="2F5470"/>
                </a:solidFill>
                <a:latin typeface="Georgia"/>
              </a:rPr>
              <a:t>Hand back £150</a:t>
            </a:r>
          </a:p>
        </p:txBody>
      </p:sp>
      <p:pic>
        <p:nvPicPr>
          <p:cNvPr id="12" name="Picture 11" descr="logo-master.png"/>
          <p:cNvPicPr>
            <a:picLocks noChangeAspect="1"/>
          </p:cNvPicPr>
          <p:nvPr/>
        </p:nvPicPr>
        <p:blipFill>
          <a:blip r:embed="rId3"/>
          <a:stretch>
            <a:fillRect/>
          </a:stretch>
        </p:blipFill>
        <p:spPr>
          <a:xfrm>
            <a:off x="384048" y="4722876"/>
            <a:ext cx="158374" cy="182880"/>
          </a:xfrm>
          <a:prstGeom prst="rect">
            <a:avLst/>
          </a:prstGeom>
        </p:spPr>
      </p:pic>
      <p:sp>
        <p:nvSpPr>
          <p:cNvPr id="13" name="TextBox 12"/>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C3D6E2"/>
                </a:solidFill>
                <a:latin typeface="Calibri"/>
              </a:rPr>
              <a:t>The Pastoral Guide</a:t>
            </a:r>
          </a:p>
        </p:txBody>
      </p:sp>
      <p:sp>
        <p:nvSpPr>
          <p:cNvPr id="14" name="TextBox 13"/>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C3D6E2"/>
                </a:solidFill>
                <a:latin typeface="Calibri"/>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C3D6E2"/>
                </a:solidFill>
                <a:latin typeface="Calibri"/>
              </a:rPr>
              <a:t>THE TWELFTH</a:t>
            </a:r>
          </a:p>
        </p:txBody>
      </p:sp>
      <p:sp>
        <p:nvSpPr>
          <p:cNvPr id="4" name="Rounded Rectangle 3"/>
          <p:cNvSpPr/>
          <p:nvPr/>
        </p:nvSpPr>
        <p:spPr>
          <a:xfrm>
            <a:off x="6693408" y="530352"/>
            <a:ext cx="1764792" cy="347472"/>
          </a:xfrm>
          <a:prstGeom prst="roundRect">
            <a:avLst>
              <a:gd name="adj" fmla="val 50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93408" y="589788"/>
            <a:ext cx="1764792" cy="237744"/>
          </a:xfrm>
          <a:prstGeom prst="rect">
            <a:avLst/>
          </a:prstGeom>
          <a:noFill/>
        </p:spPr>
        <p:txBody>
          <a:bodyPr wrap="square" lIns="0" rIns="0" tIns="0" bIns="0" anchor="t">
            <a:spAutoFit/>
          </a:bodyPr>
          <a:lstStyle/>
          <a:p>
            <a:pPr algn="ctr">
              <a:lnSpc>
                <a:spcPct val="125000"/>
              </a:lnSpc>
              <a:spcAft>
                <a:spcPts val="0"/>
              </a:spcAft>
            </a:pPr>
            <a:r>
              <a:rPr sz="1000" b="1" i="0" spc="100">
                <a:solidFill>
                  <a:srgbClr val="2F5470"/>
                </a:solidFill>
                <a:latin typeface="Calibri"/>
              </a:rPr>
              <a:t>EVENT 5 OF 10</a:t>
            </a:r>
          </a:p>
        </p:txBody>
      </p:sp>
      <p:sp>
        <p:nvSpPr>
          <p:cNvPr id="6" name="TextBox 5"/>
          <p:cNvSpPr txBox="1"/>
          <p:nvPr/>
        </p:nvSpPr>
        <p:spPr>
          <a:xfrm>
            <a:off x="731520" y="914400"/>
            <a:ext cx="7680960" cy="1280160"/>
          </a:xfrm>
          <a:prstGeom prst="rect">
            <a:avLst/>
          </a:prstGeom>
          <a:noFill/>
        </p:spPr>
        <p:txBody>
          <a:bodyPr wrap="square" lIns="0" rIns="0" tIns="0" bIns="0" anchor="t">
            <a:spAutoFit/>
          </a:bodyPr>
          <a:lstStyle/>
          <a:p>
            <a:pPr algn="ctr">
              <a:lnSpc>
                <a:spcPct val="130000"/>
              </a:lnSpc>
              <a:spcAft>
                <a:spcPts val="0"/>
              </a:spcAft>
            </a:pPr>
            <a:r>
              <a:rPr sz="2500" b="0" i="0">
                <a:solidFill>
                  <a:srgbClr val="FFFDF7"/>
                </a:solidFill>
                <a:latin typeface="Georgia"/>
              </a:rPr>
              <a:t>The bus route changes.</a:t>
            </a:r>
          </a:p>
        </p:txBody>
      </p:sp>
      <p:sp>
        <p:nvSpPr>
          <p:cNvPr id="7" name="TextBox 6"/>
          <p:cNvSpPr txBox="1"/>
          <p:nvPr/>
        </p:nvSpPr>
        <p:spPr>
          <a:xfrm>
            <a:off x="1188720" y="2395728"/>
            <a:ext cx="6766560" cy="786384"/>
          </a:xfrm>
          <a:prstGeom prst="rect">
            <a:avLst/>
          </a:prstGeom>
          <a:noFill/>
        </p:spPr>
        <p:txBody>
          <a:bodyPr wrap="square" lIns="0" rIns="0" tIns="0" bIns="0" anchor="t">
            <a:spAutoFit/>
          </a:bodyPr>
          <a:lstStyle/>
          <a:p>
            <a:pPr algn="ctr">
              <a:lnSpc>
                <a:spcPct val="138000"/>
              </a:lnSpc>
              <a:spcAft>
                <a:spcPts val="0"/>
              </a:spcAft>
            </a:pPr>
            <a:r>
              <a:rPr sz="1400" b="0" i="1">
                <a:solidFill>
                  <a:srgbClr val="C3D6E2"/>
                </a:solidFill>
                <a:latin typeface="Calibri"/>
              </a:rPr>
              <a:t>The one you relied on no longer runs that way, and the only thing that does is more expensive and leaves earlier.</a:t>
            </a:r>
          </a:p>
        </p:txBody>
      </p:sp>
      <p:sp>
        <p:nvSpPr>
          <p:cNvPr id="8" name="Oval 7"/>
          <p:cNvSpPr/>
          <p:nvPr/>
        </p:nvSpPr>
        <p:spPr>
          <a:xfrm>
            <a:off x="4242816" y="3291840"/>
            <a:ext cx="658368" cy="658368"/>
          </a:xfrm>
          <a:prstGeom prst="ellipse">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lt.png"/>
          <p:cNvPicPr>
            <a:picLocks noChangeAspect="1"/>
          </p:cNvPicPr>
          <p:nvPr/>
        </p:nvPicPr>
        <p:blipFill>
          <a:blip r:embed="rId2"/>
          <a:stretch>
            <a:fillRect/>
          </a:stretch>
        </p:blipFill>
        <p:spPr>
          <a:xfrm>
            <a:off x="4389120" y="3438144"/>
            <a:ext cx="365760" cy="365760"/>
          </a:xfrm>
          <a:prstGeom prst="rect">
            <a:avLst/>
          </a:prstGeom>
        </p:spPr>
      </p:pic>
      <p:sp>
        <p:nvSpPr>
          <p:cNvPr id="10" name="Rounded Rectangle 9"/>
          <p:cNvSpPr/>
          <p:nvPr/>
        </p:nvSpPr>
        <p:spPr>
          <a:xfrm>
            <a:off x="2468880" y="4005072"/>
            <a:ext cx="4206240" cy="512064"/>
          </a:xfrm>
          <a:prstGeom prst="roundRect">
            <a:avLst>
              <a:gd name="adj" fmla="val 5500"/>
            </a:avLst>
          </a:prstGeom>
          <a:solidFill>
            <a:srgbClr val="EDF3F7"/>
          </a:solidFill>
          <a:ln w="12700">
            <a:solidFill>
              <a:srgbClr val="ED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4096512"/>
            <a:ext cx="4206240" cy="347472"/>
          </a:xfrm>
          <a:prstGeom prst="rect">
            <a:avLst/>
          </a:prstGeom>
          <a:noFill/>
        </p:spPr>
        <p:txBody>
          <a:bodyPr wrap="square" lIns="0" rIns="0" tIns="0" bIns="0" anchor="t">
            <a:spAutoFit/>
          </a:bodyPr>
          <a:lstStyle/>
          <a:p>
            <a:pPr algn="ctr">
              <a:lnSpc>
                <a:spcPct val="125000"/>
              </a:lnSpc>
              <a:spcAft>
                <a:spcPts val="0"/>
              </a:spcAft>
            </a:pPr>
            <a:r>
              <a:rPr sz="1450" b="0" i="0">
                <a:solidFill>
                  <a:srgbClr val="2F5470"/>
                </a:solidFill>
                <a:latin typeface="Georgia"/>
              </a:rPr>
              <a:t>Getting around costs £55 more</a:t>
            </a:r>
          </a:p>
        </p:txBody>
      </p:sp>
      <p:pic>
        <p:nvPicPr>
          <p:cNvPr id="12" name="Picture 11" descr="logo-master.png"/>
          <p:cNvPicPr>
            <a:picLocks noChangeAspect="1"/>
          </p:cNvPicPr>
          <p:nvPr/>
        </p:nvPicPr>
        <p:blipFill>
          <a:blip r:embed="rId3"/>
          <a:stretch>
            <a:fillRect/>
          </a:stretch>
        </p:blipFill>
        <p:spPr>
          <a:xfrm>
            <a:off x="384048" y="4722876"/>
            <a:ext cx="158374" cy="182880"/>
          </a:xfrm>
          <a:prstGeom prst="rect">
            <a:avLst/>
          </a:prstGeom>
        </p:spPr>
      </p:pic>
      <p:sp>
        <p:nvSpPr>
          <p:cNvPr id="13" name="TextBox 12"/>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C3D6E2"/>
                </a:solidFill>
                <a:latin typeface="Calibri"/>
              </a:rPr>
              <a:t>The Pastoral Guide</a:t>
            </a:r>
          </a:p>
        </p:txBody>
      </p:sp>
      <p:sp>
        <p:nvSpPr>
          <p:cNvPr id="14" name="TextBox 13"/>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C3D6E2"/>
                </a:solidFill>
                <a:latin typeface="Calibri"/>
              </a:rP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C3D6E2"/>
                </a:solidFill>
                <a:latin typeface="Calibri"/>
              </a:rPr>
              <a:t>THE FOURTEENTH</a:t>
            </a:r>
          </a:p>
        </p:txBody>
      </p:sp>
      <p:sp>
        <p:nvSpPr>
          <p:cNvPr id="4" name="Rounded Rectangle 3"/>
          <p:cNvSpPr/>
          <p:nvPr/>
        </p:nvSpPr>
        <p:spPr>
          <a:xfrm>
            <a:off x="6693408" y="530352"/>
            <a:ext cx="1764792" cy="347472"/>
          </a:xfrm>
          <a:prstGeom prst="roundRect">
            <a:avLst>
              <a:gd name="adj" fmla="val 50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93408" y="589788"/>
            <a:ext cx="1764792" cy="237744"/>
          </a:xfrm>
          <a:prstGeom prst="rect">
            <a:avLst/>
          </a:prstGeom>
          <a:noFill/>
        </p:spPr>
        <p:txBody>
          <a:bodyPr wrap="square" lIns="0" rIns="0" tIns="0" bIns="0" anchor="t">
            <a:spAutoFit/>
          </a:bodyPr>
          <a:lstStyle/>
          <a:p>
            <a:pPr algn="ctr">
              <a:lnSpc>
                <a:spcPct val="125000"/>
              </a:lnSpc>
              <a:spcAft>
                <a:spcPts val="0"/>
              </a:spcAft>
            </a:pPr>
            <a:r>
              <a:rPr sz="1000" b="1" i="0" spc="100">
                <a:solidFill>
                  <a:srgbClr val="2F5470"/>
                </a:solidFill>
                <a:latin typeface="Calibri"/>
              </a:rPr>
              <a:t>EVENT 6 OF 10</a:t>
            </a:r>
          </a:p>
        </p:txBody>
      </p:sp>
      <p:sp>
        <p:nvSpPr>
          <p:cNvPr id="6" name="TextBox 5"/>
          <p:cNvSpPr txBox="1"/>
          <p:nvPr/>
        </p:nvSpPr>
        <p:spPr>
          <a:xfrm>
            <a:off x="731520" y="914400"/>
            <a:ext cx="7680960" cy="1280160"/>
          </a:xfrm>
          <a:prstGeom prst="rect">
            <a:avLst/>
          </a:prstGeom>
          <a:noFill/>
        </p:spPr>
        <p:txBody>
          <a:bodyPr wrap="square" lIns="0" rIns="0" tIns="0" bIns="0" anchor="t">
            <a:spAutoFit/>
          </a:bodyPr>
          <a:lstStyle/>
          <a:p>
            <a:pPr algn="ctr">
              <a:lnSpc>
                <a:spcPct val="130000"/>
              </a:lnSpc>
              <a:spcAft>
                <a:spcPts val="0"/>
              </a:spcAft>
            </a:pPr>
            <a:r>
              <a:rPr sz="2500" b="0" i="0">
                <a:solidFill>
                  <a:srgbClr val="FFFDF7"/>
                </a:solidFill>
                <a:latin typeface="Georgia"/>
              </a:rPr>
              <a:t>Your manager catches you on the way out.</a:t>
            </a:r>
            <a:br/>
            <a:r>
              <a:rPr sz="2500" b="0" i="0">
                <a:solidFill>
                  <a:srgbClr val="FFFDF7"/>
                </a:solidFill>
                <a:latin typeface="Georgia"/>
              </a:rPr>
              <a:t>“Can we have a quick word?”</a:t>
            </a:r>
          </a:p>
        </p:txBody>
      </p:sp>
      <p:sp>
        <p:nvSpPr>
          <p:cNvPr id="7" name="TextBox 6"/>
          <p:cNvSpPr txBox="1"/>
          <p:nvPr/>
        </p:nvSpPr>
        <p:spPr>
          <a:xfrm>
            <a:off x="1188720" y="2395728"/>
            <a:ext cx="6766560" cy="786384"/>
          </a:xfrm>
          <a:prstGeom prst="rect">
            <a:avLst/>
          </a:prstGeom>
          <a:noFill/>
        </p:spPr>
        <p:txBody>
          <a:bodyPr wrap="square" lIns="0" rIns="0" tIns="0" bIns="0" anchor="t">
            <a:spAutoFit/>
          </a:bodyPr>
          <a:lstStyle/>
          <a:p>
            <a:pPr algn="ctr">
              <a:lnSpc>
                <a:spcPct val="138000"/>
              </a:lnSpc>
              <a:spcAft>
                <a:spcPts val="0"/>
              </a:spcAft>
            </a:pPr>
            <a:r>
              <a:rPr sz="1400" b="0" i="1">
                <a:solidFill>
                  <a:srgbClr val="C3D6E2"/>
                </a:solidFill>
                <a:latin typeface="Calibri"/>
              </a:rPr>
              <a:t>Nothing personal. It is quiet, everyone is losing hours this month, it will pick up. Your rent has not heard about any of this.</a:t>
            </a:r>
          </a:p>
        </p:txBody>
      </p:sp>
      <p:sp>
        <p:nvSpPr>
          <p:cNvPr id="8" name="Oval 7"/>
          <p:cNvSpPr/>
          <p:nvPr/>
        </p:nvSpPr>
        <p:spPr>
          <a:xfrm>
            <a:off x="4242816" y="3291840"/>
            <a:ext cx="658368" cy="658368"/>
          </a:xfrm>
          <a:prstGeom prst="ellipse">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lt.png"/>
          <p:cNvPicPr>
            <a:picLocks noChangeAspect="1"/>
          </p:cNvPicPr>
          <p:nvPr/>
        </p:nvPicPr>
        <p:blipFill>
          <a:blip r:embed="rId2"/>
          <a:stretch>
            <a:fillRect/>
          </a:stretch>
        </p:blipFill>
        <p:spPr>
          <a:xfrm>
            <a:off x="4389120" y="3438144"/>
            <a:ext cx="365760" cy="365760"/>
          </a:xfrm>
          <a:prstGeom prst="rect">
            <a:avLst/>
          </a:prstGeom>
        </p:spPr>
      </p:pic>
      <p:sp>
        <p:nvSpPr>
          <p:cNvPr id="10" name="Rounded Rectangle 9"/>
          <p:cNvSpPr/>
          <p:nvPr/>
        </p:nvSpPr>
        <p:spPr>
          <a:xfrm>
            <a:off x="2468880" y="4005072"/>
            <a:ext cx="4206240" cy="512064"/>
          </a:xfrm>
          <a:prstGeom prst="roundRect">
            <a:avLst>
              <a:gd name="adj" fmla="val 5500"/>
            </a:avLst>
          </a:prstGeom>
          <a:solidFill>
            <a:srgbClr val="EDF3F7"/>
          </a:solidFill>
          <a:ln w="12700">
            <a:solidFill>
              <a:srgbClr val="ED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4096512"/>
            <a:ext cx="4206240" cy="347472"/>
          </a:xfrm>
          <a:prstGeom prst="rect">
            <a:avLst/>
          </a:prstGeom>
          <a:noFill/>
        </p:spPr>
        <p:txBody>
          <a:bodyPr wrap="square" lIns="0" rIns="0" tIns="0" bIns="0" anchor="t">
            <a:spAutoFit/>
          </a:bodyPr>
          <a:lstStyle/>
          <a:p>
            <a:pPr algn="ctr">
              <a:lnSpc>
                <a:spcPct val="125000"/>
              </a:lnSpc>
              <a:spcAft>
                <a:spcPts val="0"/>
              </a:spcAft>
            </a:pPr>
            <a:r>
              <a:rPr sz="1450" b="0" i="0">
                <a:solidFill>
                  <a:srgbClr val="2F5470"/>
                </a:solidFill>
                <a:latin typeface="Georgia"/>
              </a:rPr>
              <a:t>Hand back £200</a:t>
            </a:r>
          </a:p>
        </p:txBody>
      </p:sp>
      <p:pic>
        <p:nvPicPr>
          <p:cNvPr id="12" name="Picture 11" descr="logo-master.png"/>
          <p:cNvPicPr>
            <a:picLocks noChangeAspect="1"/>
          </p:cNvPicPr>
          <p:nvPr/>
        </p:nvPicPr>
        <p:blipFill>
          <a:blip r:embed="rId3"/>
          <a:stretch>
            <a:fillRect/>
          </a:stretch>
        </p:blipFill>
        <p:spPr>
          <a:xfrm>
            <a:off x="384048" y="4722876"/>
            <a:ext cx="158374" cy="182880"/>
          </a:xfrm>
          <a:prstGeom prst="rect">
            <a:avLst/>
          </a:prstGeom>
        </p:spPr>
      </p:pic>
      <p:sp>
        <p:nvSpPr>
          <p:cNvPr id="13" name="TextBox 12"/>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C3D6E2"/>
                </a:solidFill>
                <a:latin typeface="Calibri"/>
              </a:rPr>
              <a:t>The Pastoral Guide</a:t>
            </a:r>
          </a:p>
        </p:txBody>
      </p:sp>
      <p:sp>
        <p:nvSpPr>
          <p:cNvPr id="14" name="TextBox 13"/>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C3D6E2"/>
                </a:solidFill>
                <a:latin typeface="Calibri"/>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C3D6E2"/>
                </a:solidFill>
                <a:latin typeface="Calibri"/>
              </a:rPr>
              <a:t>THE SIXTEENTH</a:t>
            </a:r>
          </a:p>
        </p:txBody>
      </p:sp>
      <p:sp>
        <p:nvSpPr>
          <p:cNvPr id="4" name="Rounded Rectangle 3"/>
          <p:cNvSpPr/>
          <p:nvPr/>
        </p:nvSpPr>
        <p:spPr>
          <a:xfrm>
            <a:off x="6693408" y="530352"/>
            <a:ext cx="1764792" cy="347472"/>
          </a:xfrm>
          <a:prstGeom prst="roundRect">
            <a:avLst>
              <a:gd name="adj" fmla="val 50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93408" y="589788"/>
            <a:ext cx="1764792" cy="237744"/>
          </a:xfrm>
          <a:prstGeom prst="rect">
            <a:avLst/>
          </a:prstGeom>
          <a:noFill/>
        </p:spPr>
        <p:txBody>
          <a:bodyPr wrap="square" lIns="0" rIns="0" tIns="0" bIns="0" anchor="t">
            <a:spAutoFit/>
          </a:bodyPr>
          <a:lstStyle/>
          <a:p>
            <a:pPr algn="ctr">
              <a:lnSpc>
                <a:spcPct val="125000"/>
              </a:lnSpc>
              <a:spcAft>
                <a:spcPts val="0"/>
              </a:spcAft>
            </a:pPr>
            <a:r>
              <a:rPr sz="1000" b="1" i="0" spc="100">
                <a:solidFill>
                  <a:srgbClr val="2F5470"/>
                </a:solidFill>
                <a:latin typeface="Calibri"/>
              </a:rPr>
              <a:t>EVENT 7 OF 10</a:t>
            </a:r>
          </a:p>
        </p:txBody>
      </p:sp>
      <p:sp>
        <p:nvSpPr>
          <p:cNvPr id="6" name="TextBox 5"/>
          <p:cNvSpPr txBox="1"/>
          <p:nvPr/>
        </p:nvSpPr>
        <p:spPr>
          <a:xfrm>
            <a:off x="731520" y="914400"/>
            <a:ext cx="7680960" cy="1280160"/>
          </a:xfrm>
          <a:prstGeom prst="rect">
            <a:avLst/>
          </a:prstGeom>
          <a:noFill/>
        </p:spPr>
        <p:txBody>
          <a:bodyPr wrap="square" lIns="0" rIns="0" tIns="0" bIns="0" anchor="t">
            <a:spAutoFit/>
          </a:bodyPr>
          <a:lstStyle/>
          <a:p>
            <a:pPr algn="ctr">
              <a:lnSpc>
                <a:spcPct val="130000"/>
              </a:lnSpc>
              <a:spcAft>
                <a:spcPts val="0"/>
              </a:spcAft>
            </a:pPr>
            <a:r>
              <a:rPr sz="2500" b="0" i="0">
                <a:solidFill>
                  <a:srgbClr val="FFFDF7"/>
                </a:solidFill>
                <a:latin typeface="Georgia"/>
              </a:rPr>
              <a:t>The car will not pass its next check</a:t>
            </a:r>
            <a:br/>
            <a:r>
              <a:rPr sz="2500" b="0" i="0">
                <a:solidFill>
                  <a:srgbClr val="FFFDF7"/>
                </a:solidFill>
                <a:latin typeface="Georgia"/>
              </a:rPr>
              <a:t>without work.</a:t>
            </a:r>
          </a:p>
        </p:txBody>
      </p:sp>
      <p:sp>
        <p:nvSpPr>
          <p:cNvPr id="7" name="TextBox 6"/>
          <p:cNvSpPr txBox="1"/>
          <p:nvPr/>
        </p:nvSpPr>
        <p:spPr>
          <a:xfrm>
            <a:off x="1188720" y="2395728"/>
            <a:ext cx="6766560" cy="786384"/>
          </a:xfrm>
          <a:prstGeom prst="rect">
            <a:avLst/>
          </a:prstGeom>
          <a:noFill/>
        </p:spPr>
        <p:txBody>
          <a:bodyPr wrap="square" lIns="0" rIns="0" tIns="0" bIns="0" anchor="t">
            <a:spAutoFit/>
          </a:bodyPr>
          <a:lstStyle/>
          <a:p>
            <a:pPr algn="ctr">
              <a:lnSpc>
                <a:spcPct val="138000"/>
              </a:lnSpc>
              <a:spcAft>
                <a:spcPts val="0"/>
              </a:spcAft>
            </a:pPr>
            <a:r>
              <a:rPr sz="1400" b="0" i="1">
                <a:solidFill>
                  <a:srgbClr val="C3D6E2"/>
                </a:solidFill>
                <a:latin typeface="Calibri"/>
              </a:rPr>
              <a:t>Two tyres and a repair. If you do not do it you cannot drive it, and for some of you that is how you get to work.</a:t>
            </a:r>
          </a:p>
        </p:txBody>
      </p:sp>
      <p:sp>
        <p:nvSpPr>
          <p:cNvPr id="8" name="Oval 7"/>
          <p:cNvSpPr/>
          <p:nvPr/>
        </p:nvSpPr>
        <p:spPr>
          <a:xfrm>
            <a:off x="4242816" y="3291840"/>
            <a:ext cx="658368" cy="658368"/>
          </a:xfrm>
          <a:prstGeom prst="ellipse">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lt.png"/>
          <p:cNvPicPr>
            <a:picLocks noChangeAspect="1"/>
          </p:cNvPicPr>
          <p:nvPr/>
        </p:nvPicPr>
        <p:blipFill>
          <a:blip r:embed="rId2"/>
          <a:stretch>
            <a:fillRect/>
          </a:stretch>
        </p:blipFill>
        <p:spPr>
          <a:xfrm>
            <a:off x="4389120" y="3438144"/>
            <a:ext cx="365760" cy="365760"/>
          </a:xfrm>
          <a:prstGeom prst="rect">
            <a:avLst/>
          </a:prstGeom>
        </p:spPr>
      </p:pic>
      <p:sp>
        <p:nvSpPr>
          <p:cNvPr id="10" name="Rounded Rectangle 9"/>
          <p:cNvSpPr/>
          <p:nvPr/>
        </p:nvSpPr>
        <p:spPr>
          <a:xfrm>
            <a:off x="2468880" y="4005072"/>
            <a:ext cx="4206240" cy="512064"/>
          </a:xfrm>
          <a:prstGeom prst="roundRect">
            <a:avLst>
              <a:gd name="adj" fmla="val 5500"/>
            </a:avLst>
          </a:prstGeom>
          <a:solidFill>
            <a:srgbClr val="EDF3F7"/>
          </a:solidFill>
          <a:ln w="12700">
            <a:solidFill>
              <a:srgbClr val="ED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4096512"/>
            <a:ext cx="4206240" cy="347472"/>
          </a:xfrm>
          <a:prstGeom prst="rect">
            <a:avLst/>
          </a:prstGeom>
          <a:noFill/>
        </p:spPr>
        <p:txBody>
          <a:bodyPr wrap="square" lIns="0" rIns="0" tIns="0" bIns="0" anchor="t">
            <a:spAutoFit/>
          </a:bodyPr>
          <a:lstStyle/>
          <a:p>
            <a:pPr algn="ctr">
              <a:lnSpc>
                <a:spcPct val="125000"/>
              </a:lnSpc>
              <a:spcAft>
                <a:spcPts val="0"/>
              </a:spcAft>
            </a:pPr>
            <a:r>
              <a:rPr sz="1450" b="0" i="0">
                <a:solidFill>
                  <a:srgbClr val="2F5470"/>
                </a:solidFill>
                <a:latin typeface="Georgia"/>
              </a:rPr>
              <a:t>£280, or no car</a:t>
            </a:r>
          </a:p>
        </p:txBody>
      </p:sp>
      <p:pic>
        <p:nvPicPr>
          <p:cNvPr id="12" name="Picture 11" descr="logo-master.png"/>
          <p:cNvPicPr>
            <a:picLocks noChangeAspect="1"/>
          </p:cNvPicPr>
          <p:nvPr/>
        </p:nvPicPr>
        <p:blipFill>
          <a:blip r:embed="rId3"/>
          <a:stretch>
            <a:fillRect/>
          </a:stretch>
        </p:blipFill>
        <p:spPr>
          <a:xfrm>
            <a:off x="384048" y="4722876"/>
            <a:ext cx="158374" cy="182880"/>
          </a:xfrm>
          <a:prstGeom prst="rect">
            <a:avLst/>
          </a:prstGeom>
        </p:spPr>
      </p:pic>
      <p:sp>
        <p:nvSpPr>
          <p:cNvPr id="13" name="TextBox 12"/>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C3D6E2"/>
                </a:solidFill>
                <a:latin typeface="Calibri"/>
              </a:rPr>
              <a:t>The Pastoral Guide</a:t>
            </a:r>
          </a:p>
        </p:txBody>
      </p:sp>
      <p:sp>
        <p:nvSpPr>
          <p:cNvPr id="14" name="TextBox 13"/>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C3D6E2"/>
                </a:solidFill>
                <a:latin typeface="Calibri"/>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C3D6E2"/>
                </a:solidFill>
                <a:latin typeface="Calibri"/>
              </a:rPr>
              <a:t>THE NINETEENTH</a:t>
            </a:r>
          </a:p>
        </p:txBody>
      </p:sp>
      <p:sp>
        <p:nvSpPr>
          <p:cNvPr id="4" name="Rounded Rectangle 3"/>
          <p:cNvSpPr/>
          <p:nvPr/>
        </p:nvSpPr>
        <p:spPr>
          <a:xfrm>
            <a:off x="6693408" y="530352"/>
            <a:ext cx="1764792" cy="347472"/>
          </a:xfrm>
          <a:prstGeom prst="roundRect">
            <a:avLst>
              <a:gd name="adj" fmla="val 50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93408" y="589788"/>
            <a:ext cx="1764792" cy="237744"/>
          </a:xfrm>
          <a:prstGeom prst="rect">
            <a:avLst/>
          </a:prstGeom>
          <a:noFill/>
        </p:spPr>
        <p:txBody>
          <a:bodyPr wrap="square" lIns="0" rIns="0" tIns="0" bIns="0" anchor="t">
            <a:spAutoFit/>
          </a:bodyPr>
          <a:lstStyle/>
          <a:p>
            <a:pPr algn="ctr">
              <a:lnSpc>
                <a:spcPct val="125000"/>
              </a:lnSpc>
              <a:spcAft>
                <a:spcPts val="0"/>
              </a:spcAft>
            </a:pPr>
            <a:r>
              <a:rPr sz="1000" b="1" i="0" spc="100">
                <a:solidFill>
                  <a:srgbClr val="2F5470"/>
                </a:solidFill>
                <a:latin typeface="Calibri"/>
              </a:rPr>
              <a:t>EVENT 8 OF 10</a:t>
            </a:r>
          </a:p>
        </p:txBody>
      </p:sp>
      <p:sp>
        <p:nvSpPr>
          <p:cNvPr id="6" name="TextBox 5"/>
          <p:cNvSpPr txBox="1"/>
          <p:nvPr/>
        </p:nvSpPr>
        <p:spPr>
          <a:xfrm>
            <a:off x="731520" y="914400"/>
            <a:ext cx="7680960" cy="1280160"/>
          </a:xfrm>
          <a:prstGeom prst="rect">
            <a:avLst/>
          </a:prstGeom>
          <a:noFill/>
        </p:spPr>
        <p:txBody>
          <a:bodyPr wrap="square" lIns="0" rIns="0" tIns="0" bIns="0" anchor="t">
            <a:spAutoFit/>
          </a:bodyPr>
          <a:lstStyle/>
          <a:p>
            <a:pPr algn="ctr">
              <a:lnSpc>
                <a:spcPct val="130000"/>
              </a:lnSpc>
              <a:spcAft>
                <a:spcPts val="0"/>
              </a:spcAft>
            </a:pPr>
            <a:r>
              <a:rPr sz="2500" b="0" i="0">
                <a:solidFill>
                  <a:srgbClr val="FFFDF7"/>
                </a:solidFill>
                <a:latin typeface="Georgia"/>
              </a:rPr>
              <a:t>The thing you bought on finance</a:t>
            </a:r>
            <a:br/>
            <a:r>
              <a:rPr sz="2500" b="0" i="0">
                <a:solidFill>
                  <a:srgbClr val="FFFDF7"/>
                </a:solidFill>
                <a:latin typeface="Georgia"/>
              </a:rPr>
              <a:t>costs more than it said on the label.</a:t>
            </a:r>
          </a:p>
        </p:txBody>
      </p:sp>
      <p:sp>
        <p:nvSpPr>
          <p:cNvPr id="7" name="TextBox 6"/>
          <p:cNvSpPr txBox="1"/>
          <p:nvPr/>
        </p:nvSpPr>
        <p:spPr>
          <a:xfrm>
            <a:off x="1188720" y="2395728"/>
            <a:ext cx="6766560" cy="786384"/>
          </a:xfrm>
          <a:prstGeom prst="rect">
            <a:avLst/>
          </a:prstGeom>
          <a:noFill/>
        </p:spPr>
        <p:txBody>
          <a:bodyPr wrap="square" lIns="0" rIns="0" tIns="0" bIns="0" anchor="t">
            <a:spAutoFit/>
          </a:bodyPr>
          <a:lstStyle/>
          <a:p>
            <a:pPr algn="ctr">
              <a:lnSpc>
                <a:spcPct val="138000"/>
              </a:lnSpc>
              <a:spcAft>
                <a:spcPts val="0"/>
              </a:spcAft>
            </a:pPr>
            <a:r>
              <a:rPr sz="1400" b="0" i="1">
                <a:solidFill>
                  <a:srgbClr val="C3D6E2"/>
                </a:solidFill>
                <a:latin typeface="Calibri"/>
              </a:rPr>
              <a:t>That is interest. You are paying for the privilege of having had it early, and you still owe most of it.</a:t>
            </a:r>
          </a:p>
        </p:txBody>
      </p:sp>
      <p:sp>
        <p:nvSpPr>
          <p:cNvPr id="8" name="Oval 7"/>
          <p:cNvSpPr/>
          <p:nvPr/>
        </p:nvSpPr>
        <p:spPr>
          <a:xfrm>
            <a:off x="4242816" y="3291840"/>
            <a:ext cx="658368" cy="658368"/>
          </a:xfrm>
          <a:prstGeom prst="ellipse">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lt.png"/>
          <p:cNvPicPr>
            <a:picLocks noChangeAspect="1"/>
          </p:cNvPicPr>
          <p:nvPr/>
        </p:nvPicPr>
        <p:blipFill>
          <a:blip r:embed="rId2"/>
          <a:stretch>
            <a:fillRect/>
          </a:stretch>
        </p:blipFill>
        <p:spPr>
          <a:xfrm>
            <a:off x="4389120" y="3438144"/>
            <a:ext cx="365760" cy="365760"/>
          </a:xfrm>
          <a:prstGeom prst="rect">
            <a:avLst/>
          </a:prstGeom>
        </p:spPr>
      </p:pic>
      <p:sp>
        <p:nvSpPr>
          <p:cNvPr id="10" name="Rounded Rectangle 9"/>
          <p:cNvSpPr/>
          <p:nvPr/>
        </p:nvSpPr>
        <p:spPr>
          <a:xfrm>
            <a:off x="2468880" y="4005072"/>
            <a:ext cx="4206240" cy="512064"/>
          </a:xfrm>
          <a:prstGeom prst="roundRect">
            <a:avLst>
              <a:gd name="adj" fmla="val 5500"/>
            </a:avLst>
          </a:prstGeom>
          <a:solidFill>
            <a:srgbClr val="EDF3F7"/>
          </a:solidFill>
          <a:ln w="12700">
            <a:solidFill>
              <a:srgbClr val="ED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4096512"/>
            <a:ext cx="4206240" cy="347472"/>
          </a:xfrm>
          <a:prstGeom prst="rect">
            <a:avLst/>
          </a:prstGeom>
          <a:noFill/>
        </p:spPr>
        <p:txBody>
          <a:bodyPr wrap="square" lIns="0" rIns="0" tIns="0" bIns="0" anchor="t">
            <a:spAutoFit/>
          </a:bodyPr>
          <a:lstStyle/>
          <a:p>
            <a:pPr algn="ctr">
              <a:lnSpc>
                <a:spcPct val="125000"/>
              </a:lnSpc>
              <a:spcAft>
                <a:spcPts val="0"/>
              </a:spcAft>
            </a:pPr>
            <a:r>
              <a:rPr sz="1450" b="0" i="0">
                <a:solidFill>
                  <a:srgbClr val="2F5470"/>
                </a:solidFill>
                <a:latin typeface="Georgia"/>
              </a:rPr>
              <a:t>£45 this month. £320 still owed</a:t>
            </a:r>
          </a:p>
        </p:txBody>
      </p:sp>
      <p:pic>
        <p:nvPicPr>
          <p:cNvPr id="12" name="Picture 11" descr="logo-master.png"/>
          <p:cNvPicPr>
            <a:picLocks noChangeAspect="1"/>
          </p:cNvPicPr>
          <p:nvPr/>
        </p:nvPicPr>
        <p:blipFill>
          <a:blip r:embed="rId3"/>
          <a:stretch>
            <a:fillRect/>
          </a:stretch>
        </p:blipFill>
        <p:spPr>
          <a:xfrm>
            <a:off x="384048" y="4722876"/>
            <a:ext cx="158374" cy="182880"/>
          </a:xfrm>
          <a:prstGeom prst="rect">
            <a:avLst/>
          </a:prstGeom>
        </p:spPr>
      </p:pic>
      <p:sp>
        <p:nvSpPr>
          <p:cNvPr id="13" name="TextBox 12"/>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C3D6E2"/>
                </a:solidFill>
                <a:latin typeface="Calibri"/>
              </a:rPr>
              <a:t>The Pastoral Guide</a:t>
            </a:r>
          </a:p>
        </p:txBody>
      </p:sp>
      <p:sp>
        <p:nvSpPr>
          <p:cNvPr id="14" name="TextBox 13"/>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C3D6E2"/>
                </a:solidFill>
                <a:latin typeface="Calibri"/>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C3D6E2"/>
                </a:solidFill>
                <a:latin typeface="Calibri"/>
              </a:rPr>
              <a:t>THE TWENTY-FIRST</a:t>
            </a:r>
          </a:p>
        </p:txBody>
      </p:sp>
      <p:sp>
        <p:nvSpPr>
          <p:cNvPr id="4" name="Rounded Rectangle 3"/>
          <p:cNvSpPr/>
          <p:nvPr/>
        </p:nvSpPr>
        <p:spPr>
          <a:xfrm>
            <a:off x="6693408" y="530352"/>
            <a:ext cx="1764792" cy="347472"/>
          </a:xfrm>
          <a:prstGeom prst="roundRect">
            <a:avLst>
              <a:gd name="adj" fmla="val 50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93408" y="589788"/>
            <a:ext cx="1764792" cy="237744"/>
          </a:xfrm>
          <a:prstGeom prst="rect">
            <a:avLst/>
          </a:prstGeom>
          <a:noFill/>
        </p:spPr>
        <p:txBody>
          <a:bodyPr wrap="square" lIns="0" rIns="0" tIns="0" bIns="0" anchor="t">
            <a:spAutoFit/>
          </a:bodyPr>
          <a:lstStyle/>
          <a:p>
            <a:pPr algn="ctr">
              <a:lnSpc>
                <a:spcPct val="125000"/>
              </a:lnSpc>
              <a:spcAft>
                <a:spcPts val="0"/>
              </a:spcAft>
            </a:pPr>
            <a:r>
              <a:rPr sz="1000" b="1" i="0" spc="100">
                <a:solidFill>
                  <a:srgbClr val="2F5470"/>
                </a:solidFill>
                <a:latin typeface="Calibri"/>
              </a:rPr>
              <a:t>EVENT 9 OF 10</a:t>
            </a:r>
          </a:p>
        </p:txBody>
      </p:sp>
      <p:sp>
        <p:nvSpPr>
          <p:cNvPr id="6" name="TextBox 5"/>
          <p:cNvSpPr txBox="1"/>
          <p:nvPr/>
        </p:nvSpPr>
        <p:spPr>
          <a:xfrm>
            <a:off x="731520" y="914400"/>
            <a:ext cx="7680960" cy="1280160"/>
          </a:xfrm>
          <a:prstGeom prst="rect">
            <a:avLst/>
          </a:prstGeom>
          <a:noFill/>
        </p:spPr>
        <p:txBody>
          <a:bodyPr wrap="square" lIns="0" rIns="0" tIns="0" bIns="0" anchor="t">
            <a:spAutoFit/>
          </a:bodyPr>
          <a:lstStyle/>
          <a:p>
            <a:pPr algn="ctr">
              <a:lnSpc>
                <a:spcPct val="130000"/>
              </a:lnSpc>
              <a:spcAft>
                <a:spcPts val="0"/>
              </a:spcAft>
            </a:pPr>
            <a:r>
              <a:rPr sz="2500" b="0" i="0">
                <a:solidFill>
                  <a:srgbClr val="FFFDF7"/>
                </a:solidFill>
                <a:latin typeface="Georgia"/>
              </a:rPr>
              <a:t>A message at eleven at night.</a:t>
            </a:r>
            <a:br/>
            <a:r>
              <a:rPr sz="2500" b="0" i="0">
                <a:solidFill>
                  <a:srgbClr val="FFFDF7"/>
                </a:solidFill>
                <a:latin typeface="Georgia"/>
              </a:rPr>
              <a:t>Your best friend turns eighteen,</a:t>
            </a:r>
            <a:br/>
            <a:r>
              <a:rPr sz="2500" b="0" i="0">
                <a:solidFill>
                  <a:srgbClr val="FFFDF7"/>
                </a:solidFill>
                <a:latin typeface="Georgia"/>
              </a:rPr>
              <a:t>and it is abroad.</a:t>
            </a:r>
          </a:p>
        </p:txBody>
      </p:sp>
      <p:sp>
        <p:nvSpPr>
          <p:cNvPr id="7" name="TextBox 6"/>
          <p:cNvSpPr txBox="1"/>
          <p:nvPr/>
        </p:nvSpPr>
        <p:spPr>
          <a:xfrm>
            <a:off x="1188720" y="2395728"/>
            <a:ext cx="6766560" cy="786384"/>
          </a:xfrm>
          <a:prstGeom prst="rect">
            <a:avLst/>
          </a:prstGeom>
          <a:noFill/>
        </p:spPr>
        <p:txBody>
          <a:bodyPr wrap="square" lIns="0" rIns="0" tIns="0" bIns="0" anchor="t">
            <a:spAutoFit/>
          </a:bodyPr>
          <a:lstStyle/>
          <a:p>
            <a:pPr algn="ctr">
              <a:lnSpc>
                <a:spcPct val="138000"/>
              </a:lnSpc>
              <a:spcAft>
                <a:spcPts val="0"/>
              </a:spcAft>
            </a:pPr>
            <a:r>
              <a:rPr sz="1400" b="0" i="1">
                <a:solidFill>
                  <a:srgbClr val="C3D6E2"/>
                </a:solidFill>
                <a:latin typeface="Calibri"/>
              </a:rPr>
              <a:t>Everyone is going. They asked you first, and they are waiting for you to reply. You can say no. People do say no.</a:t>
            </a:r>
          </a:p>
        </p:txBody>
      </p:sp>
      <p:sp>
        <p:nvSpPr>
          <p:cNvPr id="8" name="Oval 7"/>
          <p:cNvSpPr/>
          <p:nvPr/>
        </p:nvSpPr>
        <p:spPr>
          <a:xfrm>
            <a:off x="4242816" y="3291840"/>
            <a:ext cx="658368" cy="658368"/>
          </a:xfrm>
          <a:prstGeom prst="ellipse">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lt.png"/>
          <p:cNvPicPr>
            <a:picLocks noChangeAspect="1"/>
          </p:cNvPicPr>
          <p:nvPr/>
        </p:nvPicPr>
        <p:blipFill>
          <a:blip r:embed="rId2"/>
          <a:stretch>
            <a:fillRect/>
          </a:stretch>
        </p:blipFill>
        <p:spPr>
          <a:xfrm>
            <a:off x="4389120" y="3438144"/>
            <a:ext cx="365760" cy="365760"/>
          </a:xfrm>
          <a:prstGeom prst="rect">
            <a:avLst/>
          </a:prstGeom>
        </p:spPr>
      </p:pic>
      <p:sp>
        <p:nvSpPr>
          <p:cNvPr id="10" name="Rounded Rectangle 9"/>
          <p:cNvSpPr/>
          <p:nvPr/>
        </p:nvSpPr>
        <p:spPr>
          <a:xfrm>
            <a:off x="2468880" y="4005072"/>
            <a:ext cx="4206240" cy="512064"/>
          </a:xfrm>
          <a:prstGeom prst="roundRect">
            <a:avLst>
              <a:gd name="adj" fmla="val 5500"/>
            </a:avLst>
          </a:prstGeom>
          <a:solidFill>
            <a:srgbClr val="EDF3F7"/>
          </a:solidFill>
          <a:ln w="12700">
            <a:solidFill>
              <a:srgbClr val="ED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4096512"/>
            <a:ext cx="4206240" cy="347472"/>
          </a:xfrm>
          <a:prstGeom prst="rect">
            <a:avLst/>
          </a:prstGeom>
          <a:noFill/>
        </p:spPr>
        <p:txBody>
          <a:bodyPr wrap="square" lIns="0" rIns="0" tIns="0" bIns="0" anchor="t">
            <a:spAutoFit/>
          </a:bodyPr>
          <a:lstStyle/>
          <a:p>
            <a:pPr algn="ctr">
              <a:lnSpc>
                <a:spcPct val="125000"/>
              </a:lnSpc>
              <a:spcAft>
                <a:spcPts val="0"/>
              </a:spcAft>
            </a:pPr>
            <a:r>
              <a:rPr sz="1450" b="0" i="0">
                <a:solidFill>
                  <a:srgbClr val="2F5470"/>
                </a:solidFill>
                <a:latin typeface="Georgia"/>
              </a:rPr>
              <a:t>£240, or an awkward conversation</a:t>
            </a:r>
          </a:p>
        </p:txBody>
      </p:sp>
      <p:pic>
        <p:nvPicPr>
          <p:cNvPr id="12" name="Picture 11" descr="logo-master.png"/>
          <p:cNvPicPr>
            <a:picLocks noChangeAspect="1"/>
          </p:cNvPicPr>
          <p:nvPr/>
        </p:nvPicPr>
        <p:blipFill>
          <a:blip r:embed="rId3"/>
          <a:stretch>
            <a:fillRect/>
          </a:stretch>
        </p:blipFill>
        <p:spPr>
          <a:xfrm>
            <a:off x="384048" y="4722876"/>
            <a:ext cx="158374" cy="182880"/>
          </a:xfrm>
          <a:prstGeom prst="rect">
            <a:avLst/>
          </a:prstGeom>
        </p:spPr>
      </p:pic>
      <p:sp>
        <p:nvSpPr>
          <p:cNvPr id="13" name="TextBox 12"/>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C3D6E2"/>
                </a:solidFill>
                <a:latin typeface="Calibri"/>
              </a:rPr>
              <a:t>The Pastoral Guide</a:t>
            </a:r>
          </a:p>
        </p:txBody>
      </p:sp>
      <p:sp>
        <p:nvSpPr>
          <p:cNvPr id="14" name="TextBox 13"/>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C3D6E2"/>
                </a:solidFill>
                <a:latin typeface="Calibri"/>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C3D6E2"/>
                </a:solidFill>
                <a:latin typeface="Calibri"/>
              </a:rPr>
              <a:t>THE TWENTY-FOURTH</a:t>
            </a:r>
          </a:p>
        </p:txBody>
      </p:sp>
      <p:sp>
        <p:nvSpPr>
          <p:cNvPr id="4" name="Rounded Rectangle 3"/>
          <p:cNvSpPr/>
          <p:nvPr/>
        </p:nvSpPr>
        <p:spPr>
          <a:xfrm>
            <a:off x="6592824" y="530352"/>
            <a:ext cx="1865376" cy="347472"/>
          </a:xfrm>
          <a:prstGeom prst="roundRect">
            <a:avLst>
              <a:gd name="adj" fmla="val 50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92824" y="589788"/>
            <a:ext cx="1865376" cy="237744"/>
          </a:xfrm>
          <a:prstGeom prst="rect">
            <a:avLst/>
          </a:prstGeom>
          <a:noFill/>
        </p:spPr>
        <p:txBody>
          <a:bodyPr wrap="square" lIns="0" rIns="0" tIns="0" bIns="0" anchor="t">
            <a:spAutoFit/>
          </a:bodyPr>
          <a:lstStyle/>
          <a:p>
            <a:pPr algn="ctr">
              <a:lnSpc>
                <a:spcPct val="125000"/>
              </a:lnSpc>
              <a:spcAft>
                <a:spcPts val="0"/>
              </a:spcAft>
            </a:pPr>
            <a:r>
              <a:rPr sz="1000" b="1" i="0" spc="100">
                <a:solidFill>
                  <a:srgbClr val="2F5470"/>
                </a:solidFill>
                <a:latin typeface="Calibri"/>
              </a:rPr>
              <a:t>EVENT 10 OF 10</a:t>
            </a:r>
          </a:p>
        </p:txBody>
      </p:sp>
      <p:sp>
        <p:nvSpPr>
          <p:cNvPr id="6" name="TextBox 5"/>
          <p:cNvSpPr txBox="1"/>
          <p:nvPr/>
        </p:nvSpPr>
        <p:spPr>
          <a:xfrm>
            <a:off x="731520" y="914400"/>
            <a:ext cx="7680960" cy="1280160"/>
          </a:xfrm>
          <a:prstGeom prst="rect">
            <a:avLst/>
          </a:prstGeom>
          <a:noFill/>
        </p:spPr>
        <p:txBody>
          <a:bodyPr wrap="square" lIns="0" rIns="0" tIns="0" bIns="0" anchor="t">
            <a:spAutoFit/>
          </a:bodyPr>
          <a:lstStyle/>
          <a:p>
            <a:pPr algn="ctr">
              <a:lnSpc>
                <a:spcPct val="130000"/>
              </a:lnSpc>
              <a:spcAft>
                <a:spcPts val="0"/>
              </a:spcAft>
            </a:pPr>
            <a:r>
              <a:rPr sz="2500" b="0" i="0">
                <a:solidFill>
                  <a:srgbClr val="FFFDF7"/>
                </a:solidFill>
                <a:latin typeface="Georgia"/>
              </a:rPr>
              <a:t>You are offered overtime.</a:t>
            </a:r>
          </a:p>
        </p:txBody>
      </p:sp>
      <p:sp>
        <p:nvSpPr>
          <p:cNvPr id="7" name="TextBox 6"/>
          <p:cNvSpPr txBox="1"/>
          <p:nvPr/>
        </p:nvSpPr>
        <p:spPr>
          <a:xfrm>
            <a:off x="1188720" y="2395728"/>
            <a:ext cx="6766560" cy="786384"/>
          </a:xfrm>
          <a:prstGeom prst="rect">
            <a:avLst/>
          </a:prstGeom>
          <a:noFill/>
        </p:spPr>
        <p:txBody>
          <a:bodyPr wrap="square" lIns="0" rIns="0" tIns="0" bIns="0" anchor="t">
            <a:spAutoFit/>
          </a:bodyPr>
          <a:lstStyle/>
          <a:p>
            <a:pPr algn="ctr">
              <a:lnSpc>
                <a:spcPct val="138000"/>
              </a:lnSpc>
              <a:spcAft>
                <a:spcPts val="0"/>
              </a:spcAft>
            </a:pPr>
            <a:r>
              <a:rPr sz="1400" b="0" i="1">
                <a:solidFill>
                  <a:srgbClr val="C3D6E2"/>
                </a:solidFill>
                <a:latin typeface="Calibri"/>
              </a:rPr>
              <a:t>Two of your weekends, gone. The money is real and so are the weekends. Nobody else can decide this one for you.</a:t>
            </a:r>
          </a:p>
        </p:txBody>
      </p:sp>
      <p:sp>
        <p:nvSpPr>
          <p:cNvPr id="8" name="Oval 7"/>
          <p:cNvSpPr/>
          <p:nvPr/>
        </p:nvSpPr>
        <p:spPr>
          <a:xfrm>
            <a:off x="4242816" y="3291840"/>
            <a:ext cx="658368" cy="658368"/>
          </a:xfrm>
          <a:prstGeom prst="ellipse">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lt.png"/>
          <p:cNvPicPr>
            <a:picLocks noChangeAspect="1"/>
          </p:cNvPicPr>
          <p:nvPr/>
        </p:nvPicPr>
        <p:blipFill>
          <a:blip r:embed="rId2"/>
          <a:stretch>
            <a:fillRect/>
          </a:stretch>
        </p:blipFill>
        <p:spPr>
          <a:xfrm>
            <a:off x="4389120" y="3438144"/>
            <a:ext cx="365760" cy="365760"/>
          </a:xfrm>
          <a:prstGeom prst="rect">
            <a:avLst/>
          </a:prstGeom>
        </p:spPr>
      </p:pic>
      <p:sp>
        <p:nvSpPr>
          <p:cNvPr id="10" name="Rounded Rectangle 9"/>
          <p:cNvSpPr/>
          <p:nvPr/>
        </p:nvSpPr>
        <p:spPr>
          <a:xfrm>
            <a:off x="2468880" y="4005072"/>
            <a:ext cx="4206240" cy="512064"/>
          </a:xfrm>
          <a:prstGeom prst="roundRect">
            <a:avLst>
              <a:gd name="adj" fmla="val 5500"/>
            </a:avLst>
          </a:prstGeom>
          <a:solidFill>
            <a:srgbClr val="EDF3F7"/>
          </a:solidFill>
          <a:ln w="12700">
            <a:solidFill>
              <a:srgbClr val="ED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4096512"/>
            <a:ext cx="4206240" cy="347472"/>
          </a:xfrm>
          <a:prstGeom prst="rect">
            <a:avLst/>
          </a:prstGeom>
          <a:noFill/>
        </p:spPr>
        <p:txBody>
          <a:bodyPr wrap="square" lIns="0" rIns="0" tIns="0" bIns="0" anchor="t">
            <a:spAutoFit/>
          </a:bodyPr>
          <a:lstStyle/>
          <a:p>
            <a:pPr algn="ctr">
              <a:lnSpc>
                <a:spcPct val="125000"/>
              </a:lnSpc>
              <a:spcAft>
                <a:spcPts val="0"/>
              </a:spcAft>
            </a:pPr>
            <a:r>
              <a:rPr sz="1450" b="0" i="0">
                <a:solidFill>
                  <a:srgbClr val="2F5470"/>
                </a:solidFill>
                <a:latin typeface="Georgia"/>
              </a:rPr>
              <a:t>Take £180, lose two weekends</a:t>
            </a:r>
          </a:p>
        </p:txBody>
      </p:sp>
      <p:pic>
        <p:nvPicPr>
          <p:cNvPr id="12" name="Picture 11" descr="logo-master.png"/>
          <p:cNvPicPr>
            <a:picLocks noChangeAspect="1"/>
          </p:cNvPicPr>
          <p:nvPr/>
        </p:nvPicPr>
        <p:blipFill>
          <a:blip r:embed="rId3"/>
          <a:stretch>
            <a:fillRect/>
          </a:stretch>
        </p:blipFill>
        <p:spPr>
          <a:xfrm>
            <a:off x="384048" y="4722876"/>
            <a:ext cx="158374" cy="182880"/>
          </a:xfrm>
          <a:prstGeom prst="rect">
            <a:avLst/>
          </a:prstGeom>
        </p:spPr>
      </p:pic>
      <p:sp>
        <p:nvSpPr>
          <p:cNvPr id="13" name="TextBox 12"/>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C3D6E2"/>
                </a:solidFill>
                <a:latin typeface="Calibri"/>
              </a:rPr>
              <a:t>The Pastoral Guide</a:t>
            </a:r>
          </a:p>
        </p:txBody>
      </p:sp>
      <p:sp>
        <p:nvSpPr>
          <p:cNvPr id="14" name="TextBox 13"/>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C3D6E2"/>
                </a:solidFill>
                <a:latin typeface="Calibri"/>
              </a:rP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7EA6BD"/>
                </a:solidFill>
                <a:latin typeface="Calibri"/>
              </a:rPr>
              <a:t>THE TWENTY-SEVENTH</a:t>
            </a:r>
          </a:p>
        </p:txBody>
      </p:sp>
      <p:sp>
        <p:nvSpPr>
          <p:cNvPr id="4" name="TextBox 3"/>
          <p:cNvSpPr txBox="1"/>
          <p:nvPr/>
        </p:nvSpPr>
        <p:spPr>
          <a:xfrm>
            <a:off x="685800" y="841248"/>
            <a:ext cx="7772400" cy="640080"/>
          </a:xfrm>
          <a:prstGeom prst="rect">
            <a:avLst/>
          </a:prstGeom>
          <a:noFill/>
        </p:spPr>
        <p:txBody>
          <a:bodyPr wrap="square" lIns="0" rIns="0" tIns="0" bIns="0" anchor="t">
            <a:spAutoFit/>
          </a:bodyPr>
          <a:lstStyle/>
          <a:p>
            <a:pPr algn="ctr">
              <a:lnSpc>
                <a:spcPct val="105000"/>
              </a:lnSpc>
              <a:spcAft>
                <a:spcPts val="0"/>
              </a:spcAft>
            </a:pPr>
            <a:r>
              <a:rPr sz="3200" b="0" i="0">
                <a:solidFill>
                  <a:srgbClr val="39424A"/>
                </a:solidFill>
                <a:latin typeface="Georgia"/>
              </a:rPr>
              <a:t>Count what is left</a:t>
            </a:r>
          </a:p>
        </p:txBody>
      </p:sp>
      <p:sp>
        <p:nvSpPr>
          <p:cNvPr id="5" name="TextBox 4"/>
          <p:cNvSpPr txBox="1"/>
          <p:nvPr/>
        </p:nvSpPr>
        <p:spPr>
          <a:xfrm>
            <a:off x="1097280" y="1591056"/>
            <a:ext cx="6949440" cy="640080"/>
          </a:xfrm>
          <a:prstGeom prst="rect">
            <a:avLst/>
          </a:prstGeom>
          <a:noFill/>
        </p:spPr>
        <p:txBody>
          <a:bodyPr wrap="square" lIns="0" rIns="0" tIns="0" bIns="0" anchor="t">
            <a:spAutoFit/>
          </a:bodyPr>
          <a:lstStyle/>
          <a:p>
            <a:pPr algn="ctr">
              <a:lnSpc>
                <a:spcPct val="138000"/>
              </a:lnSpc>
              <a:spcAft>
                <a:spcPts val="0"/>
              </a:spcAft>
            </a:pPr>
            <a:r>
              <a:rPr sz="1500" b="0" i="0">
                <a:solidFill>
                  <a:srgbClr val="6B7681"/>
                </a:solidFill>
                <a:latin typeface="Calibri"/>
              </a:rPr>
              <a:t>One day to go. Put what you have left in the middle of the table where everybody can see it.</a:t>
            </a:r>
          </a:p>
        </p:txBody>
      </p:sp>
      <p:sp>
        <p:nvSpPr>
          <p:cNvPr id="6" name="Rounded Rectangle 5"/>
          <p:cNvSpPr/>
          <p:nvPr/>
        </p:nvSpPr>
        <p:spPr>
          <a:xfrm>
            <a:off x="1051560" y="2377440"/>
            <a:ext cx="7040880" cy="566928"/>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44168" y="2468880"/>
            <a:ext cx="384048" cy="384048"/>
          </a:xfrm>
          <a:prstGeom prst="ellipse">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44168" y="2468880"/>
            <a:ext cx="384048" cy="384048"/>
          </a:xfrm>
          <a:prstGeom prst="rect">
            <a:avLst/>
          </a:prstGeom>
          <a:noFill/>
        </p:spPr>
        <p:txBody>
          <a:bodyPr wrap="square" lIns="0" rIns="0" tIns="0" bIns="0" anchor="ctr">
            <a:spAutoFit/>
          </a:bodyPr>
          <a:lstStyle/>
          <a:p>
            <a:pPr algn="ctr">
              <a:lnSpc>
                <a:spcPct val="125000"/>
              </a:lnSpc>
              <a:spcAft>
                <a:spcPts val="0"/>
              </a:spcAft>
            </a:pPr>
            <a:r>
              <a:rPr sz="1300" b="0" i="0">
                <a:solidFill>
                  <a:srgbClr val="FFFDF7"/>
                </a:solidFill>
                <a:latin typeface="Georgia"/>
              </a:rPr>
              <a:t>1</a:t>
            </a:r>
          </a:p>
        </p:txBody>
      </p:sp>
      <p:sp>
        <p:nvSpPr>
          <p:cNvPr id="9" name="TextBox 8"/>
          <p:cNvSpPr txBox="1"/>
          <p:nvPr/>
        </p:nvSpPr>
        <p:spPr>
          <a:xfrm>
            <a:off x="1920240" y="2432304"/>
            <a:ext cx="5852160" cy="457200"/>
          </a:xfrm>
          <a:prstGeom prst="rect">
            <a:avLst/>
          </a:prstGeom>
          <a:noFill/>
        </p:spPr>
        <p:txBody>
          <a:bodyPr wrap="square" lIns="0" rIns="0" tIns="0" bIns="0" anchor="ctr">
            <a:spAutoFit/>
          </a:bodyPr>
          <a:lstStyle/>
          <a:p>
            <a:pPr algn="l">
              <a:lnSpc>
                <a:spcPct val="124000"/>
              </a:lnSpc>
              <a:spcAft>
                <a:spcPts val="0"/>
              </a:spcAft>
            </a:pPr>
            <a:r>
              <a:rPr sz="1400" b="0" i="0">
                <a:solidFill>
                  <a:srgbClr val="39424A"/>
                </a:solidFill>
                <a:latin typeface="Calibri"/>
              </a:rPr>
              <a:t>What did you cut first, and why that?</a:t>
            </a:r>
          </a:p>
        </p:txBody>
      </p:sp>
      <p:sp>
        <p:nvSpPr>
          <p:cNvPr id="10" name="Rounded Rectangle 9"/>
          <p:cNvSpPr/>
          <p:nvPr/>
        </p:nvSpPr>
        <p:spPr>
          <a:xfrm>
            <a:off x="1051560" y="3035808"/>
            <a:ext cx="7040880" cy="566928"/>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44168" y="3127248"/>
            <a:ext cx="384048" cy="384048"/>
          </a:xfrm>
          <a:prstGeom prst="ellipse">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44168" y="3127248"/>
            <a:ext cx="384048" cy="384048"/>
          </a:xfrm>
          <a:prstGeom prst="rect">
            <a:avLst/>
          </a:prstGeom>
          <a:noFill/>
        </p:spPr>
        <p:txBody>
          <a:bodyPr wrap="square" lIns="0" rIns="0" tIns="0" bIns="0" anchor="ctr">
            <a:spAutoFit/>
          </a:bodyPr>
          <a:lstStyle/>
          <a:p>
            <a:pPr algn="ctr">
              <a:lnSpc>
                <a:spcPct val="125000"/>
              </a:lnSpc>
              <a:spcAft>
                <a:spcPts val="0"/>
              </a:spcAft>
            </a:pPr>
            <a:r>
              <a:rPr sz="1300" b="0" i="0">
                <a:solidFill>
                  <a:srgbClr val="FFFDF7"/>
                </a:solidFill>
                <a:latin typeface="Georgia"/>
              </a:rPr>
              <a:t>2</a:t>
            </a:r>
          </a:p>
        </p:txBody>
      </p:sp>
      <p:sp>
        <p:nvSpPr>
          <p:cNvPr id="13" name="TextBox 12"/>
          <p:cNvSpPr txBox="1"/>
          <p:nvPr/>
        </p:nvSpPr>
        <p:spPr>
          <a:xfrm>
            <a:off x="1920240" y="3090672"/>
            <a:ext cx="5852160" cy="457200"/>
          </a:xfrm>
          <a:prstGeom prst="rect">
            <a:avLst/>
          </a:prstGeom>
          <a:noFill/>
        </p:spPr>
        <p:txBody>
          <a:bodyPr wrap="square" lIns="0" rIns="0" tIns="0" bIns="0" anchor="ctr">
            <a:spAutoFit/>
          </a:bodyPr>
          <a:lstStyle/>
          <a:p>
            <a:pPr algn="l">
              <a:lnSpc>
                <a:spcPct val="124000"/>
              </a:lnSpc>
              <a:spcAft>
                <a:spcPts val="0"/>
              </a:spcAft>
            </a:pPr>
            <a:r>
              <a:rPr sz="1400" b="0" i="0">
                <a:solidFill>
                  <a:srgbClr val="39424A"/>
                </a:solidFill>
                <a:latin typeface="Calibri"/>
              </a:rPr>
              <a:t>What did you refuse to cut, even when it got tight?</a:t>
            </a:r>
          </a:p>
        </p:txBody>
      </p:sp>
      <p:sp>
        <p:nvSpPr>
          <p:cNvPr id="14" name="Rounded Rectangle 13"/>
          <p:cNvSpPr/>
          <p:nvPr/>
        </p:nvSpPr>
        <p:spPr>
          <a:xfrm>
            <a:off x="1051560" y="3694176"/>
            <a:ext cx="7040880" cy="566928"/>
          </a:xfrm>
          <a:prstGeom prst="roundRect">
            <a:avLst>
              <a:gd name="adj" fmla="val 5500"/>
            </a:avLst>
          </a:prstGeom>
          <a:solidFill>
            <a:srgbClr val="EDF3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344168" y="3785615"/>
            <a:ext cx="384048" cy="384048"/>
          </a:xfrm>
          <a:prstGeom prst="ellipse">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44168" y="3785615"/>
            <a:ext cx="384048" cy="384048"/>
          </a:xfrm>
          <a:prstGeom prst="rect">
            <a:avLst/>
          </a:prstGeom>
          <a:noFill/>
        </p:spPr>
        <p:txBody>
          <a:bodyPr wrap="square" lIns="0" rIns="0" tIns="0" bIns="0" anchor="ctr">
            <a:spAutoFit/>
          </a:bodyPr>
          <a:lstStyle/>
          <a:p>
            <a:pPr algn="ctr">
              <a:lnSpc>
                <a:spcPct val="125000"/>
              </a:lnSpc>
              <a:spcAft>
                <a:spcPts val="0"/>
              </a:spcAft>
            </a:pPr>
            <a:r>
              <a:rPr sz="1300" b="0" i="0">
                <a:solidFill>
                  <a:srgbClr val="FFFDF7"/>
                </a:solidFill>
                <a:latin typeface="Georgia"/>
              </a:rPr>
              <a:t>3</a:t>
            </a:r>
          </a:p>
        </p:txBody>
      </p:sp>
      <p:sp>
        <p:nvSpPr>
          <p:cNvPr id="17" name="TextBox 16"/>
          <p:cNvSpPr txBox="1"/>
          <p:nvPr/>
        </p:nvSpPr>
        <p:spPr>
          <a:xfrm>
            <a:off x="1920240" y="3749039"/>
            <a:ext cx="5852160" cy="457200"/>
          </a:xfrm>
          <a:prstGeom prst="rect">
            <a:avLst/>
          </a:prstGeom>
          <a:noFill/>
        </p:spPr>
        <p:txBody>
          <a:bodyPr wrap="square" lIns="0" rIns="0" tIns="0" bIns="0" anchor="ctr">
            <a:spAutoFit/>
          </a:bodyPr>
          <a:lstStyle/>
          <a:p>
            <a:pPr algn="l">
              <a:lnSpc>
                <a:spcPct val="124000"/>
              </a:lnSpc>
              <a:spcAft>
                <a:spcPts val="0"/>
              </a:spcAft>
            </a:pPr>
            <a:r>
              <a:rPr sz="1400" b="0" i="0">
                <a:solidFill>
                  <a:srgbClr val="39424A"/>
                </a:solidFill>
                <a:latin typeface="Calibri"/>
              </a:rPr>
              <a:t>Did you keep the money you said you would save? Honestly?</a:t>
            </a:r>
          </a:p>
        </p:txBody>
      </p:sp>
      <p:sp>
        <p:nvSpPr>
          <p:cNvPr id="18" name="TextBox 17"/>
          <p:cNvSpPr txBox="1"/>
          <p:nvPr/>
        </p:nvSpPr>
        <p:spPr>
          <a:xfrm>
            <a:off x="685800" y="4389120"/>
            <a:ext cx="7772400" cy="274320"/>
          </a:xfrm>
          <a:prstGeom prst="rect">
            <a:avLst/>
          </a:prstGeom>
          <a:noFill/>
        </p:spPr>
        <p:txBody>
          <a:bodyPr wrap="square" lIns="0" rIns="0" tIns="0" bIns="0" anchor="t">
            <a:spAutoFit/>
          </a:bodyPr>
          <a:lstStyle/>
          <a:p>
            <a:pPr algn="ctr">
              <a:lnSpc>
                <a:spcPct val="125000"/>
              </a:lnSpc>
              <a:spcAft>
                <a:spcPts val="0"/>
              </a:spcAft>
            </a:pPr>
            <a:r>
              <a:rPr sz="1250" b="0" i="1">
                <a:solidFill>
                  <a:srgbClr val="6B7681"/>
                </a:solidFill>
                <a:latin typeface="Calibri"/>
              </a:rPr>
              <a:t>The second question is the interesting one.</a:t>
            </a:r>
          </a:p>
        </p:txBody>
      </p:sp>
      <p:pic>
        <p:nvPicPr>
          <p:cNvPr id="19" name="Picture 18" descr="logo-master.png"/>
          <p:cNvPicPr>
            <a:picLocks noChangeAspect="1"/>
          </p:cNvPicPr>
          <p:nvPr/>
        </p:nvPicPr>
        <p:blipFill>
          <a:blip r:embed="rId2"/>
          <a:stretch>
            <a:fillRect/>
          </a:stretch>
        </p:blipFill>
        <p:spPr>
          <a:xfrm>
            <a:off x="384048" y="4722876"/>
            <a:ext cx="158374" cy="182880"/>
          </a:xfrm>
          <a:prstGeom prst="rect">
            <a:avLst/>
          </a:prstGeom>
        </p:spPr>
      </p:pic>
      <p:sp>
        <p:nvSpPr>
          <p:cNvPr id="20" name="TextBox 19"/>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2ACB5"/>
                </a:solidFill>
                <a:latin typeface="Calibri"/>
              </a:rPr>
              <a:t>The Pastoral Guide</a:t>
            </a:r>
          </a:p>
        </p:txBody>
      </p:sp>
      <p:sp>
        <p:nvSpPr>
          <p:cNvPr id="21" name="TextBox 20"/>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2ACB5"/>
                </a:solidFill>
                <a:latin typeface="Calibri"/>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l">
              <a:lnSpc>
                <a:spcPct val="125000"/>
              </a:lnSpc>
              <a:spcAft>
                <a:spcPts val="0"/>
              </a:spcAft>
            </a:pPr>
            <a:r>
              <a:rPr sz="1050" b="1" i="0" spc="160">
                <a:solidFill>
                  <a:srgbClr val="7EA6BD"/>
                </a:solidFill>
                <a:latin typeface="Calibri"/>
              </a:rPr>
              <a:t>THE THING NOBODY TELLS YOU</a:t>
            </a:r>
          </a:p>
        </p:txBody>
      </p:sp>
      <p:sp>
        <p:nvSpPr>
          <p:cNvPr id="4" name="TextBox 3"/>
          <p:cNvSpPr txBox="1"/>
          <p:nvPr/>
        </p:nvSpPr>
        <p:spPr>
          <a:xfrm>
            <a:off x="685800" y="841248"/>
            <a:ext cx="7772400" cy="585216"/>
          </a:xfrm>
          <a:prstGeom prst="rect">
            <a:avLst/>
          </a:prstGeom>
          <a:noFill/>
        </p:spPr>
        <p:txBody>
          <a:bodyPr wrap="square" lIns="0" rIns="0" tIns="0" bIns="0" anchor="t">
            <a:spAutoFit/>
          </a:bodyPr>
          <a:lstStyle/>
          <a:p>
            <a:pPr algn="l">
              <a:lnSpc>
                <a:spcPct val="106000"/>
              </a:lnSpc>
              <a:spcAft>
                <a:spcPts val="0"/>
              </a:spcAft>
            </a:pPr>
            <a:r>
              <a:rPr sz="2700" b="0" i="0">
                <a:solidFill>
                  <a:srgbClr val="39424A"/>
                </a:solidFill>
                <a:latin typeface="Georgia"/>
              </a:rPr>
              <a:t>It is not about being bad with money</a:t>
            </a:r>
          </a:p>
        </p:txBody>
      </p:sp>
      <p:sp>
        <p:nvSpPr>
          <p:cNvPr id="5" name="Rounded Rectangle 4"/>
          <p:cNvSpPr/>
          <p:nvPr/>
        </p:nvSpPr>
        <p:spPr>
          <a:xfrm>
            <a:off x="685800" y="1700784"/>
            <a:ext cx="3749039" cy="2468880"/>
          </a:xfrm>
          <a:prstGeom prst="roundRect">
            <a:avLst>
              <a:gd name="adj" fmla="val 5500"/>
            </a:avLst>
          </a:prstGeom>
          <a:solidFill>
            <a:srgbClr val="FFFD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1920240"/>
            <a:ext cx="3163824" cy="822960"/>
          </a:xfrm>
          <a:prstGeom prst="rect">
            <a:avLst/>
          </a:prstGeom>
          <a:noFill/>
        </p:spPr>
        <p:txBody>
          <a:bodyPr wrap="square" lIns="0" rIns="0" tIns="0" bIns="0" anchor="t">
            <a:spAutoFit/>
          </a:bodyPr>
          <a:lstStyle/>
          <a:p>
            <a:pPr algn="l">
              <a:lnSpc>
                <a:spcPct val="120000"/>
              </a:lnSpc>
              <a:spcAft>
                <a:spcPts val="0"/>
              </a:spcAft>
            </a:pPr>
            <a:r>
              <a:rPr sz="1550" b="0" i="0">
                <a:solidFill>
                  <a:srgbClr val="2F5470"/>
                </a:solidFill>
                <a:latin typeface="Georgia"/>
              </a:rPr>
              <a:t>Most of it is decided before you get a choice.</a:t>
            </a:r>
          </a:p>
        </p:txBody>
      </p:sp>
      <p:sp>
        <p:nvSpPr>
          <p:cNvPr id="7" name="TextBox 6"/>
          <p:cNvSpPr txBox="1"/>
          <p:nvPr/>
        </p:nvSpPr>
        <p:spPr>
          <a:xfrm>
            <a:off x="978408" y="2779776"/>
            <a:ext cx="3163824" cy="1280160"/>
          </a:xfrm>
          <a:prstGeom prst="rect">
            <a:avLst/>
          </a:prstGeom>
          <a:noFill/>
        </p:spPr>
        <p:txBody>
          <a:bodyPr wrap="square" lIns="0" rIns="0" tIns="0" bIns="0" anchor="t">
            <a:spAutoFit/>
          </a:bodyPr>
          <a:lstStyle/>
          <a:p>
            <a:pPr algn="l">
              <a:lnSpc>
                <a:spcPct val="138000"/>
              </a:lnSpc>
              <a:spcAft>
                <a:spcPts val="0"/>
              </a:spcAft>
            </a:pPr>
            <a:r>
              <a:rPr sz="1200" b="0" i="0">
                <a:solidFill>
                  <a:srgbClr val="6B7681"/>
                </a:solidFill>
                <a:latin typeface="Calibri"/>
              </a:rPr>
              <a:t>Somewhere to live, bills and getting to work are gone before you have bought anything at all. What is left is the part everybody argues about, and it is the smallest part.</a:t>
            </a:r>
          </a:p>
        </p:txBody>
      </p:sp>
      <p:sp>
        <p:nvSpPr>
          <p:cNvPr id="8" name="Rounded Rectangle 7"/>
          <p:cNvSpPr/>
          <p:nvPr/>
        </p:nvSpPr>
        <p:spPr>
          <a:xfrm>
            <a:off x="4709160" y="1700784"/>
            <a:ext cx="3749039" cy="2468880"/>
          </a:xfrm>
          <a:prstGeom prst="roundRect">
            <a:avLst>
              <a:gd name="adj" fmla="val 5500"/>
            </a:avLst>
          </a:prstGeom>
          <a:solidFill>
            <a:srgbClr val="EDF3F7"/>
          </a:solidFill>
          <a:ln w="12700">
            <a:solidFill>
              <a:srgbClr val="C3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01768" y="1920240"/>
            <a:ext cx="3163824" cy="822960"/>
          </a:xfrm>
          <a:prstGeom prst="rect">
            <a:avLst/>
          </a:prstGeom>
          <a:noFill/>
        </p:spPr>
        <p:txBody>
          <a:bodyPr wrap="square" lIns="0" rIns="0" tIns="0" bIns="0" anchor="t">
            <a:spAutoFit/>
          </a:bodyPr>
          <a:lstStyle/>
          <a:p>
            <a:pPr algn="l">
              <a:lnSpc>
                <a:spcPct val="120000"/>
              </a:lnSpc>
              <a:spcAft>
                <a:spcPts val="0"/>
              </a:spcAft>
            </a:pPr>
            <a:r>
              <a:rPr sz="1550" b="0" i="0">
                <a:solidFill>
                  <a:srgbClr val="2F5470"/>
                </a:solidFill>
                <a:latin typeface="Georgia"/>
              </a:rPr>
              <a:t>Every choice removes another one.</a:t>
            </a:r>
          </a:p>
        </p:txBody>
      </p:sp>
      <p:sp>
        <p:nvSpPr>
          <p:cNvPr id="10" name="TextBox 9"/>
          <p:cNvSpPr txBox="1"/>
          <p:nvPr/>
        </p:nvSpPr>
        <p:spPr>
          <a:xfrm>
            <a:off x="5001768" y="2779776"/>
            <a:ext cx="3163824" cy="1280160"/>
          </a:xfrm>
          <a:prstGeom prst="rect">
            <a:avLst/>
          </a:prstGeom>
          <a:noFill/>
        </p:spPr>
        <p:txBody>
          <a:bodyPr wrap="square" lIns="0" rIns="0" tIns="0" bIns="0" anchor="t">
            <a:spAutoFit/>
          </a:bodyPr>
          <a:lstStyle/>
          <a:p>
            <a:pPr algn="l">
              <a:lnSpc>
                <a:spcPct val="138000"/>
              </a:lnSpc>
              <a:spcAft>
                <a:spcPts val="0"/>
              </a:spcAft>
            </a:pPr>
            <a:r>
              <a:rPr sz="1200" b="0" i="0">
                <a:solidFill>
                  <a:srgbClr val="6B7681"/>
                </a:solidFill>
                <a:latin typeface="Calibri"/>
              </a:rPr>
              <a:t>A car lets you live further out, where rent is cheaper, but then there is nothing to save. Nothing here is wrong. You only get to pick some of it.</a:t>
            </a:r>
          </a:p>
        </p:txBody>
      </p:sp>
      <p:pic>
        <p:nvPicPr>
          <p:cNvPr id="11" name="Picture 10" descr="logo-master.png"/>
          <p:cNvPicPr>
            <a:picLocks noChangeAspect="1"/>
          </p:cNvPicPr>
          <p:nvPr/>
        </p:nvPicPr>
        <p:blipFill>
          <a:blip r:embed="rId2"/>
          <a:stretch>
            <a:fillRect/>
          </a:stretch>
        </p:blipFill>
        <p:spPr>
          <a:xfrm>
            <a:off x="384048" y="4722876"/>
            <a:ext cx="158374" cy="182880"/>
          </a:xfrm>
          <a:prstGeom prst="rect">
            <a:avLst/>
          </a:prstGeom>
        </p:spPr>
      </p:pic>
      <p:sp>
        <p:nvSpPr>
          <p:cNvPr id="12" name="TextBox 11"/>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2ACB5"/>
                </a:solidFill>
                <a:latin typeface="Calibri"/>
              </a:rPr>
              <a:t>The Pastoral Guide</a:t>
            </a:r>
          </a:p>
        </p:txBody>
      </p:sp>
      <p:sp>
        <p:nvSpPr>
          <p:cNvPr id="13" name="TextBox 12"/>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2ACB5"/>
                </a:solidFill>
                <a:latin typeface="Calibri"/>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C3D6E2"/>
                </a:solidFill>
                <a:latin typeface="Calibri"/>
              </a:rPr>
              <a:t>IF YOU REMEMBER ONE THING</a:t>
            </a:r>
          </a:p>
        </p:txBody>
      </p:sp>
      <p:sp>
        <p:nvSpPr>
          <p:cNvPr id="4" name="TextBox 3"/>
          <p:cNvSpPr txBox="1"/>
          <p:nvPr/>
        </p:nvSpPr>
        <p:spPr>
          <a:xfrm>
            <a:off x="640080" y="1005840"/>
            <a:ext cx="7863840" cy="1463040"/>
          </a:xfrm>
          <a:prstGeom prst="rect">
            <a:avLst/>
          </a:prstGeom>
          <a:noFill/>
        </p:spPr>
        <p:txBody>
          <a:bodyPr wrap="square" lIns="0" rIns="0" tIns="0" bIns="0" anchor="t">
            <a:spAutoFit/>
          </a:bodyPr>
          <a:lstStyle/>
          <a:p>
            <a:pPr algn="ctr">
              <a:lnSpc>
                <a:spcPct val="126000"/>
              </a:lnSpc>
              <a:spcAft>
                <a:spcPts val="0"/>
              </a:spcAft>
            </a:pPr>
            <a:r>
              <a:rPr sz="3000" b="0" i="0">
                <a:solidFill>
                  <a:srgbClr val="FFFDF7"/>
                </a:solidFill>
                <a:latin typeface="Georgia"/>
              </a:rPr>
              <a:t>Work out what has to leave</a:t>
            </a:r>
            <a:br/>
            <a:r>
              <a:rPr sz="3000" b="0" i="0">
                <a:solidFill>
                  <a:srgbClr val="FFFDF7"/>
                </a:solidFill>
                <a:latin typeface="Georgia"/>
              </a:rPr>
              <a:t>your account before you</a:t>
            </a:r>
            <a:br/>
            <a:r>
              <a:rPr sz="3000" b="0" i="0">
                <a:solidFill>
                  <a:srgbClr val="FFFDF7"/>
                </a:solidFill>
                <a:latin typeface="Georgia"/>
              </a:rPr>
              <a:t>decide what you can afford.</a:t>
            </a:r>
          </a:p>
        </p:txBody>
      </p:sp>
      <p:sp>
        <p:nvSpPr>
          <p:cNvPr id="5" name="Rectangle 4"/>
          <p:cNvSpPr/>
          <p:nvPr/>
        </p:nvSpPr>
        <p:spPr>
          <a:xfrm>
            <a:off x="4114800" y="3017520"/>
            <a:ext cx="914400" cy="18288"/>
          </a:xfrm>
          <a:prstGeom prst="rect">
            <a:avLst/>
          </a:prstGeom>
          <a:solidFill>
            <a:srgbClr val="C3D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3273552"/>
            <a:ext cx="6766560" cy="822960"/>
          </a:xfrm>
          <a:prstGeom prst="rect">
            <a:avLst/>
          </a:prstGeom>
          <a:noFill/>
        </p:spPr>
        <p:txBody>
          <a:bodyPr wrap="square" lIns="0" rIns="0" tIns="0" bIns="0" anchor="t">
            <a:spAutoFit/>
          </a:bodyPr>
          <a:lstStyle/>
          <a:p>
            <a:pPr algn="ctr">
              <a:lnSpc>
                <a:spcPct val="140000"/>
              </a:lnSpc>
              <a:spcAft>
                <a:spcPts val="0"/>
              </a:spcAft>
            </a:pPr>
            <a:r>
              <a:rPr sz="1500" b="0" i="1">
                <a:solidFill>
                  <a:srgbClr val="C3D6E2"/>
                </a:solidFill>
                <a:latin typeface="Calibri"/>
              </a:rPr>
              <a:t>Everyone who is good with money does this. It is not willpower and it is not spreadsheets.</a:t>
            </a:r>
          </a:p>
        </p:txBody>
      </p:sp>
      <p:pic>
        <p:nvPicPr>
          <p:cNvPr id="7" name="Picture 6" descr="logo-master.png"/>
          <p:cNvPicPr>
            <a:picLocks noChangeAspect="1"/>
          </p:cNvPicPr>
          <p:nvPr/>
        </p:nvPicPr>
        <p:blipFill>
          <a:blip r:embed="rId2"/>
          <a:stretch>
            <a:fillRect/>
          </a:stretch>
        </p:blipFill>
        <p:spPr>
          <a:xfrm>
            <a:off x="384048" y="4722876"/>
            <a:ext cx="158374" cy="182880"/>
          </a:xfrm>
          <a:prstGeom prst="rect">
            <a:avLst/>
          </a:prstGeom>
        </p:spPr>
      </p:pic>
      <p:sp>
        <p:nvSpPr>
          <p:cNvPr id="8" name="TextBox 7"/>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C3D6E2"/>
                </a:solidFill>
                <a:latin typeface="Calibri"/>
              </a:rPr>
              <a:t>The Pastoral Guide</a:t>
            </a:r>
          </a:p>
        </p:txBody>
      </p:sp>
      <p:sp>
        <p:nvSpPr>
          <p:cNvPr id="9" name="TextBox 8"/>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C3D6E2"/>
                </a:solidFill>
                <a:latin typeface="Calibri"/>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ED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master.png"/>
          <p:cNvPicPr>
            <a:picLocks noChangeAspect="1"/>
          </p:cNvPicPr>
          <p:nvPr/>
        </p:nvPicPr>
        <p:blipFill>
          <a:blip r:embed="rId2"/>
          <a:stretch>
            <a:fillRect/>
          </a:stretch>
        </p:blipFill>
        <p:spPr>
          <a:xfrm>
            <a:off x="4263170" y="932688"/>
            <a:ext cx="617658" cy="713232"/>
          </a:xfrm>
          <a:prstGeom prst="rect">
            <a:avLst/>
          </a:prstGeom>
        </p:spPr>
      </p:pic>
      <p:sp>
        <p:nvSpPr>
          <p:cNvPr id="4" name="TextBox 3"/>
          <p:cNvSpPr txBox="1"/>
          <p:nvPr/>
        </p:nvSpPr>
        <p:spPr>
          <a:xfrm>
            <a:off x="548640" y="1938528"/>
            <a:ext cx="8046720" cy="822960"/>
          </a:xfrm>
          <a:prstGeom prst="rect">
            <a:avLst/>
          </a:prstGeom>
          <a:noFill/>
        </p:spPr>
        <p:txBody>
          <a:bodyPr wrap="square" lIns="0" rIns="0" tIns="0" bIns="0" anchor="t">
            <a:spAutoFit/>
          </a:bodyPr>
          <a:lstStyle/>
          <a:p>
            <a:pPr algn="ctr">
              <a:lnSpc>
                <a:spcPct val="110000"/>
              </a:lnSpc>
              <a:spcAft>
                <a:spcPts val="0"/>
              </a:spcAft>
            </a:pPr>
            <a:r>
              <a:rPr sz="3400" b="0" i="0">
                <a:solidFill>
                  <a:srgbClr val="2F5470"/>
                </a:solidFill>
                <a:latin typeface="Georgia"/>
              </a:rPr>
              <a:t>Nobody gets taught this.</a:t>
            </a:r>
          </a:p>
        </p:txBody>
      </p:sp>
      <p:sp>
        <p:nvSpPr>
          <p:cNvPr id="5" name="TextBox 4"/>
          <p:cNvSpPr txBox="1"/>
          <p:nvPr/>
        </p:nvSpPr>
        <p:spPr>
          <a:xfrm>
            <a:off x="1097280" y="2852928"/>
            <a:ext cx="6949440" cy="822960"/>
          </a:xfrm>
          <a:prstGeom prst="rect">
            <a:avLst/>
          </a:prstGeom>
          <a:noFill/>
        </p:spPr>
        <p:txBody>
          <a:bodyPr wrap="square" lIns="0" rIns="0" tIns="0" bIns="0" anchor="t">
            <a:spAutoFit/>
          </a:bodyPr>
          <a:lstStyle/>
          <a:p>
            <a:pPr algn="ctr">
              <a:lnSpc>
                <a:spcPct val="140000"/>
              </a:lnSpc>
              <a:spcAft>
                <a:spcPts val="0"/>
              </a:spcAft>
            </a:pPr>
            <a:r>
              <a:rPr sz="1500" b="0" i="0">
                <a:solidFill>
                  <a:srgbClr val="6B7681"/>
                </a:solidFill>
                <a:latin typeface="Calibri"/>
              </a:rPr>
              <a:t>Most people work it out in their first year of doing it for real, usually the hard way. You have just had an hour of practice that did not cost you anything.</a:t>
            </a:r>
          </a:p>
        </p:txBody>
      </p:sp>
      <p:sp>
        <p:nvSpPr>
          <p:cNvPr id="6" name="TextBox 5"/>
          <p:cNvSpPr txBox="1"/>
          <p:nvPr/>
        </p:nvSpPr>
        <p:spPr>
          <a:xfrm>
            <a:off x="731520" y="3877056"/>
            <a:ext cx="7680960" cy="310896"/>
          </a:xfrm>
          <a:prstGeom prst="rect">
            <a:avLst/>
          </a:prstGeom>
          <a:noFill/>
        </p:spPr>
        <p:txBody>
          <a:bodyPr wrap="square" lIns="0" rIns="0" tIns="0" bIns="0" anchor="t">
            <a:spAutoFit/>
          </a:bodyPr>
          <a:lstStyle/>
          <a:p>
            <a:pPr algn="ctr">
              <a:lnSpc>
                <a:spcPct val="125000"/>
              </a:lnSpc>
              <a:spcAft>
                <a:spcPts val="0"/>
              </a:spcAft>
            </a:pPr>
            <a:r>
              <a:rPr sz="1200" b="0" i="1">
                <a:solidFill>
                  <a:srgbClr val="A2ACB5"/>
                </a:solidFill>
                <a:latin typeface="Calibri"/>
              </a:rPr>
              <a:t>Payday  ·  A budgeting lesson</a:t>
            </a:r>
          </a:p>
        </p:txBody>
      </p:sp>
      <p:pic>
        <p:nvPicPr>
          <p:cNvPr id="7" name="Picture 6" descr="logo-master.png"/>
          <p:cNvPicPr>
            <a:picLocks noChangeAspect="1"/>
          </p:cNvPicPr>
          <p:nvPr/>
        </p:nvPicPr>
        <p:blipFill>
          <a:blip r:embed="rId2"/>
          <a:stretch>
            <a:fillRect/>
          </a:stretch>
        </p:blipFill>
        <p:spPr>
          <a:xfrm>
            <a:off x="384048" y="4722876"/>
            <a:ext cx="158374" cy="182880"/>
          </a:xfrm>
          <a:prstGeom prst="rect">
            <a:avLst/>
          </a:prstGeom>
        </p:spPr>
      </p:pic>
      <p:sp>
        <p:nvSpPr>
          <p:cNvPr id="8" name="TextBox 7"/>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2ACB5"/>
                </a:solidFill>
                <a:latin typeface="Calibri"/>
              </a:rPr>
              <a:t>The Pastoral Guide</a:t>
            </a:r>
          </a:p>
        </p:txBody>
      </p:sp>
      <p:sp>
        <p:nvSpPr>
          <p:cNvPr id="9" name="TextBox 8"/>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2ACB5"/>
                </a:solidFill>
                <a:latin typeface="Calibri"/>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The Pastoral Guide</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Payday: the slides</dc:title>
  <dc:subject>A free pastoral resource for form tutors, from The Pastoral Guide, thepastoralguide.com</dc:subject>
  <dc:creator>The Pastoral Guide</dc:creator>
  <cp:keywords>form time, tutor time, pastoral, PSHE, secondary, free</cp:keywords>
  <dc:description>A free pastoral resource for form tutors, from The Pastoral Guide, thepastoralguide.com</dc:description>
  <cp:lastModifiedBy>The Pastoral Guide</cp:lastModifiedBy>
  <cp:revision>1</cp:revision>
  <dcterms:created xsi:type="dcterms:W3CDTF">2026-09-14T05:55:02Z</dcterms:created>
  <dcterms:modified xsi:type="dcterms:W3CDTF">2026-09-14T05:55:02Z</dcterms:modified>
  <cp:category>Pastoral resources</cp:category>
</cp:coreProperties>
</file>