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256B4A"/>
                </a:solidFill>
                <a:latin typeface="Karla"/>
              </a:rPr>
              <a:t>FUEL AND FOCUS  ·  LESSON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256B4A"/>
                </a:solidFill>
                <a:latin typeface="Libre Caslon Display"/>
              </a:rPr>
              <a:t>The one you would actually eat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5F6B64"/>
                </a:solidFill>
                <a:latin typeface="Karla"/>
              </a:rPr>
              <a:t>Anyone can design a snack that is good for them.</a:t>
            </a:r>
            <a:br/>
            <a:r>
              <a:rPr sz="1500" b="0" i="0">
                <a:solidFill>
                  <a:srgbClr val="5F6B64"/>
                </a:solidFill>
                <a:latin typeface="Karla"/>
              </a:rPr>
              <a:t>The hard part is designing one you will still want in three weeks.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8A29B"/>
                </a:solidFill>
                <a:latin typeface="Karla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TWO DECISIONS BEFORE YOU 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C3A33"/>
                </a:solidFill>
                <a:latin typeface="Libre Caslon Display"/>
              </a:rPr>
              <a:t>Read this one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00784"/>
            <a:ext cx="7772400" cy="106070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1975104"/>
            <a:ext cx="512064" cy="51206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66544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0784" y="1865376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Is tasting allowed?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22128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Many schools do not permit food brought from home to be shared. If yours does not, run Option B on slide 10 instead of Option A on slide 9.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26080"/>
            <a:ext cx="7772400" cy="106070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3200400"/>
            <a:ext cx="512064" cy="51206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291840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0784" y="3090672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Who has nothing?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0784" y="343814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Some will not have made anything, and the reasons are rarely about effort. The card alone is the homework, and the slides say so.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9768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Spare cards and a few spare ingredients cover almost every version of this.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THE TEST, ONE MORE TIME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FFFDF7"/>
                </a:solidFill>
                <a:latin typeface="Libre Caslon Display"/>
              </a:rPr>
              <a:t>All four, or it does not count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5256" y="1737360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18288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7922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Protein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22311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whole thing down, and keeps you full.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872" y="15727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10328" y="1737360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0328" y="18288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8" y="17922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Fibre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8616" y="22311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food down in your gut, so the glucose arrives gradually.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26080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5256" y="3090672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318211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5336" y="3145536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A slow carb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358444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Oats, wholegrain or whole fruit. Not white and not sugary.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0872" y="2926080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0328" y="3090672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0328" y="318211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0408" y="3145536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Healthy fats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358444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stomach down, and carries the most energy per gram. Seeds, nuts, avocado.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Plus the fifth one nobody wrote down: would you actually choose it?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CARDS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SET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C3A33"/>
                </a:solidFill>
                <a:latin typeface="Libre Caslon Display"/>
              </a:rPr>
              <a:t>Recipe card on the desk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73936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6537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Karla"/>
              </a:rPr>
              <a:t>Card face up, name on it, in front of you.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50591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542032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Karla"/>
              </a:rPr>
              <a:t>No card? Take a blank one and write it now. There is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27248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218688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Karla"/>
              </a:rPr>
              <a:t>You are about to hand it to somebody who has never seen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Nobody is marked on whether they made it at home. The recipe card is the work.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MARK ONE TOGETHER FIRST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Try it on this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91056"/>
            <a:ext cx="7772400" cy="60350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69B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700784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“White toast with jam, and a glass of orange juice.”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7772400" cy="42062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249424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56B4A"/>
                </a:solidFill>
                <a:latin typeface="Libre Caslon Display"/>
              </a:rPr>
              <a:t>Protein?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24942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Almost none. There is very little in jam or in juice.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24912"/>
            <a:ext cx="7772400" cy="42062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761488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56B4A"/>
                </a:solidFill>
                <a:latin typeface="Libre Caslon Display"/>
              </a:rPr>
              <a:t>Fibre?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761488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Very little from white bread. Almost none from the juice.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36976"/>
            <a:ext cx="7772400" cy="42062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273552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56B4A"/>
                </a:solidFill>
                <a:latin typeface="Libre Caslon Display"/>
              </a:rPr>
              <a:t>Slow carb?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273552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No. White bread and juice are about as fast as it gets.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49039"/>
            <a:ext cx="7772400" cy="42062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3785615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56B4A"/>
                </a:solidFill>
                <a:latin typeface="Libre Caslon Display"/>
              </a:rPr>
              <a:t>Healthy fats?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785615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5F6B64"/>
                </a:solidFill>
                <a:latin typeface="Karla"/>
              </a:rPr>
              <a:t>None at all. Nothing here is doing that job.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315968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One change fixes three of them at once: swap the jam for nut or seed butter.</a:t>
            </a:r>
          </a:p>
        </p:txBody>
      </p:sp>
      <p:pic>
        <p:nvPicPr>
          <p:cNvPr id="22" name="Picture 21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PASS IT TWO TABLES ALONG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SWAP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300" b="1" i="0">
                <a:solidFill>
                  <a:srgbClr val="FFFDF7"/>
                </a:solidFill>
                <a:latin typeface="Libre Caslon Display"/>
              </a:rPr>
              <a:t>Mark it against the four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883664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89304" y="1965960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9304" y="202996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5376" y="1965960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Tick each criterion you can actually find an ingredient for.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542032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89304" y="2624328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9304" y="2688336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624328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Write the one change that would make it better.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3200400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89304" y="3282696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9304" y="3346704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65376" y="3282696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Then the honest question: would you eat this?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23360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CBDFD6"/>
                </a:solidFill>
                <a:latin typeface="Karla"/>
              </a:rPr>
              <a:t>Marking a recipe is not the same as judging the person. Say what you would change.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CARDS BACK TO THEIR OWNERS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READ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What did they spot?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847088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911095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1837943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Which criterion did most people miss? There is usually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05456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61518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79191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606039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Did anybody get all four without trying? What was in it?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73552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383280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44728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3374136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Whose feedback are you actually going to take?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133087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56B4A"/>
                </a:solidFill>
                <a:latin typeface="Karla"/>
              </a:rPr>
              <a:t>Fibre is the one that goes missing, and a spoonful of seeds or some fruit fixes it.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THE BIT THAT LEAVES THIS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CHOOSE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The class collection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Every recipe that hits all four goes in. You each get a copy to take home.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93392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084832"/>
            <a:ext cx="3840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Cheapest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084832"/>
            <a:ext cx="3291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The one that costs least to make.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16352"/>
            <a:ext cx="3840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Fastest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816352"/>
            <a:ext cx="3291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Under five minutes, start to finish.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56432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547872"/>
            <a:ext cx="3840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The one you would actually choose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547872"/>
            <a:ext cx="3291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Not the healthiest. The one you would pick.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1596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Vote on the last one. It is the best guide to who will keep doing this.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OPTION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ONLY IF YOUR SCHOOL ALLOWS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5486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Taste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82496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764792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Only food made at home by somebody who has listed every ingredient on the card.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68296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No list, no tasting. There are no exceptions to that today.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89504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971800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If you have an allergy you do not taste. There is no safe way round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93008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575304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You may say no to anything, and nobody gets to ask why.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5137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Small amounts, one at a time. Say what you notice, not whether you liked it.</a:t>
            </a:r>
          </a:p>
        </p:txBody>
      </p:sp>
      <p:pic>
        <p:nvPicPr>
          <p:cNvPr id="16" name="Picture 1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OPTION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WHEN TASTING IS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300" b="1" i="0">
                <a:solidFill>
                  <a:srgbClr val="FFFDF7"/>
                </a:solidFill>
                <a:latin typeface="Libre Caslon Display"/>
              </a:rPr>
              <a:t>Pitch it instead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847088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89304" y="1929384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9304" y="1993392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5376" y="1929384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Thirty seconds each, standing up, to your 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505456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89304" y="2587752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9304" y="2651760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587752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Say what is in it, which job each thing does, and when you would eat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3163824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89304" y="3246120"/>
            <a:ext cx="384048" cy="38404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9304" y="331012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65376" y="3246120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56B4A"/>
                </a:solidFill>
                <a:latin typeface="Karla"/>
              </a:rPr>
              <a:t>The table votes for one to go forward. You may not vote for your own.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23360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CBDFD6"/>
                </a:solidFill>
                <a:latin typeface="Karla"/>
              </a:rPr>
              <a:t>Thirty seconds is short on purpose. If you cannot explain it in that time, it is too complicated.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FIND YOUR SHEET FROM LESSON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76872" y="530352"/>
            <a:ext cx="1481328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76872" y="589788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LOOK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Your very first guess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Part one of the lesson sheet, before you knew any of this. Look at what you put first.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103120"/>
            <a:ext cx="402336" cy="40233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16712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2112264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Which one did you rank far too high?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06624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2798063"/>
            <a:ext cx="402336" cy="40233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86207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807208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What do you know now that you did not know then?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401568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2688" y="3493008"/>
            <a:ext cx="402336" cy="40233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55701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7904" y="3502152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Would your ranking today survive somebody arguing with it?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8795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In lesson one most of this room ranked the snacks on sugar alone. That is what has changed.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THE BIT THAT ACTUALLY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300" b="1" i="0">
                <a:solidFill>
                  <a:srgbClr val="FFFDF7"/>
                </a:solidFill>
                <a:latin typeface="Libre Caslon Display"/>
              </a:rPr>
              <a:t>One change, not five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883664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965960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Pick the one snack you already eat most often.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542032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624328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Add one thing to it that does one of the four jobs.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200400"/>
            <a:ext cx="704088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82696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That is the change. Do that, and nothing else.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23360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Nobody changes five things and keeps them. Most people manage one.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ON PAPER, THEN KEEP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EXIT SLIP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C3A33"/>
                </a:solidFill>
                <a:latin typeface="Libre Caslon Display"/>
              </a:rPr>
              <a:t>One snack. One addition.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Not collected. Put it somewhere you will see it before break tomorrow.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0312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What I usually have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10312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Be honest. The real one, not the impressive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4320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3464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What I am adding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83464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One ingredient. It has to be easy to find.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74720"/>
            <a:ext cx="7772400" cy="62179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566160"/>
            <a:ext cx="2743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Libre Caslon Display"/>
              </a:rPr>
              <a:t>Which job it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566160"/>
            <a:ext cx="4389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Protein, fibre, slow carb or fat. Pick 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5254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If you cannot think of the addition, ask the person next to you what they wrote.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The smallest change</a:t>
            </a:r>
            <a:br/>
            <a:r>
              <a:rPr sz="3400" b="1" i="0">
                <a:solidFill>
                  <a:srgbClr val="FFFDF7"/>
                </a:solidFill>
                <a:latin typeface="Libre Caslon Display"/>
              </a:rPr>
              <a:t>is the one that lasts.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CBDFD6"/>
                </a:solidFill>
                <a:latin typeface="Karla"/>
              </a:rPr>
              <a:t>The snack you already have, plus the one thing it is missing.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243584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56B4A"/>
                </a:solidFill>
                <a:latin typeface="Libre Caslon Display"/>
              </a:rPr>
              <a:t>That is the series.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5F6B64"/>
                </a:solidFill>
                <a:latin typeface="Karla"/>
              </a:rPr>
              <a:t>Four criteria, one snack you can actually make, and one change worth keeping.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8A29B"/>
                </a:solidFill>
                <a:latin typeface="Karla"/>
              </a:rPr>
              <a:t>Fuel and Focus  ·  Lesson 3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Fuel and Focus: lesson 3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