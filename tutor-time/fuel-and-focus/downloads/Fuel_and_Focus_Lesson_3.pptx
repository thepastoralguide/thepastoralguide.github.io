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739" y="566928"/>
            <a:ext cx="72852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72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220">
                <a:solidFill>
                  <a:srgbClr val="256B4A"/>
                </a:solidFill>
                <a:latin typeface="Calibri"/>
              </a:rPr>
              <a:t>FUEL AND FOCUS  ·  LESSON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56816"/>
            <a:ext cx="84124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3400" b="0" i="0">
                <a:solidFill>
                  <a:srgbClr val="256B4A"/>
                </a:solidFill>
                <a:latin typeface="Georgia"/>
              </a:rPr>
              <a:t>The one you would actually 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2962656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63824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5F6B64"/>
                </a:solidFill>
                <a:latin typeface="Calibri"/>
              </a:rPr>
              <a:t>Anyone can design a snack that is good for them.</a:t>
            </a:r>
            <a:br/>
            <a:r>
              <a:rPr sz="1500" b="0" i="0">
                <a:solidFill>
                  <a:srgbClr val="5F6B64"/>
                </a:solidFill>
                <a:latin typeface="Calibri"/>
              </a:rPr>
              <a:t>The hard part is designing one you will still want in three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98A29B"/>
                </a:solidFill>
                <a:latin typeface="Calibri"/>
              </a:rPr>
              <a:t>Healthy Body, Healthy Mind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0" y="530352"/>
            <a:ext cx="260604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58978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TEACHER SLIDE  ·  SKIP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TWO DECISIONS 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C3A33"/>
                </a:solidFill>
                <a:latin typeface="Georgia"/>
              </a:rPr>
              <a:t>Read this one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7772400" cy="106070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975104"/>
            <a:ext cx="512064" cy="51206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66544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86537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Is tasting allowed?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221284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Many schools do not permit food brought from home to be shared. If yours does not, run Option B on slide 10 instead of Option A on slide 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7772400" cy="106070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200400"/>
            <a:ext cx="512064" cy="51206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91840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3090672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Who has nothing?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343814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Some will not have made anything, and the reasons are rarely about effort. The card alone is the homework, and the slides say 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Spare cards and a few spare ingredients cover almost every version of this.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THE TEST, ONE MORE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77824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FFFDF7"/>
                </a:solidFill>
                <a:latin typeface="Georgia"/>
              </a:rPr>
              <a:t>All four, or it does not 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" y="1737360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8288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5336" y="17922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Protein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whole thing down, and keeps you full.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1572768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0328" y="1737360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8288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1792224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Fibre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231136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food down in your gut, so the glucose arrives gradually.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" y="3090672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18211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14553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A slow carb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58444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Oats, wholegrain or whole fruit. Not white and not sugary.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0872" y="2926080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0328" y="3090672"/>
            <a:ext cx="475488" cy="47548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0328" y="318211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145536"/>
            <a:ext cx="2724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Healthy fats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584448"/>
            <a:ext cx="32918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000" b="0" i="0">
                <a:solidFill>
                  <a:srgbClr val="5F6B64"/>
                </a:solidFill>
                <a:latin typeface="Calibri"/>
              </a:rPr>
              <a:t>Slows the stomach down, and carries the most energy per gram. Seeds, nuts, avocado.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2452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Plus the fifth one nobody wrote down: would you actually choose it?</a:t>
            </a:r>
          </a:p>
        </p:txBody>
      </p:sp>
      <p:pic>
        <p:nvPicPr>
          <p:cNvPr id="28" name="Picture 2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CARDS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C3A33"/>
                </a:solidFill>
                <a:latin typeface="Georgia"/>
              </a:rPr>
              <a:t>Recipe card on the desk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73936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65376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C3A33"/>
                </a:solidFill>
                <a:latin typeface="Calibri"/>
              </a:rPr>
              <a:t>Card face up, name on it, in front of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50591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4203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C3A33"/>
                </a:solidFill>
                <a:latin typeface="Calibri"/>
              </a:rPr>
              <a:t>No card? Take a blank one and write it now. There is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27248"/>
            <a:ext cx="7772400" cy="56692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218688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C3A33"/>
                </a:solidFill>
                <a:latin typeface="Calibri"/>
              </a:rPr>
              <a:t>You are about to hand it to somebody who has never seen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4164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Nobody is marked on whether they made it at home. The recipe card is the work.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MARK ONE TOGETHER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Try it on this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91056"/>
            <a:ext cx="7772400" cy="60350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69B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00784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56B4A"/>
                </a:solidFill>
                <a:latin typeface="Georgia"/>
              </a:rPr>
              <a:t>“White toast with jam, and a glass of orange juice.”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7772400" cy="42062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49424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56B4A"/>
                </a:solidFill>
                <a:latin typeface="Georgia"/>
              </a:rPr>
              <a:t>Protein?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4942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Almost none. There is very little in jam or in juice.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7772400" cy="42062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7614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56B4A"/>
                </a:solidFill>
                <a:latin typeface="Georgia"/>
              </a:rPr>
              <a:t>Fibre?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761488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Very little from white bread. Almost none from the juice.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36976"/>
            <a:ext cx="7772400" cy="420624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27355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56B4A"/>
                </a:solidFill>
                <a:latin typeface="Georgia"/>
              </a:rPr>
              <a:t>Slow carb?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73552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No. White bread and juice are about as fast as it 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7772400" cy="420624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785615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56B4A"/>
                </a:solidFill>
                <a:latin typeface="Georgia"/>
              </a:rPr>
              <a:t>Healthy fats?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85615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F6B64"/>
                </a:solidFill>
                <a:latin typeface="Calibri"/>
              </a:rPr>
              <a:t>None at all. Nothing here is doing that job.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15968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One change fixes three of them at once: swap the jam for nut or seed butter.</a:t>
            </a:r>
          </a:p>
        </p:txBody>
      </p:sp>
      <p:pic>
        <p:nvPicPr>
          <p:cNvPr id="22" name="Picture 21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PASS IT TWO TABLES ALONG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300" b="0" i="0">
                <a:solidFill>
                  <a:srgbClr val="FFFDF7"/>
                </a:solidFill>
                <a:latin typeface="Georgia"/>
              </a:rPr>
              <a:t>Mark it against the four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83664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1965960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02996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965960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Tick each criterion you can actually find an ingredient for.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542032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9304" y="2624328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26883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624328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Write the one change that would make it better.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200400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9304" y="3282696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9304" y="334670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3282696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Then the honest question: would you eat this?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CBDFD6"/>
                </a:solidFill>
                <a:latin typeface="Calibri"/>
              </a:rPr>
              <a:t>Marking a recipe is not the same as judging the person. Say what you would change.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CARDS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What did they spot?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847088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911095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837943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Which criterion did most people miss? There is usually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05456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615184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79191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606039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Did anybody get all four without trying? What was in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73552"/>
            <a:ext cx="7772400" cy="64008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383280"/>
            <a:ext cx="420624" cy="420624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47288"/>
            <a:ext cx="420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74136"/>
            <a:ext cx="6583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Whose feedback are you actually going to take?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33087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256B4A"/>
                </a:solidFill>
                <a:latin typeface="Calibri"/>
              </a:rPr>
              <a:t>Fibre is the one that goes missing, and a spoonful of seeds or some fruit fixes it.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THE BIT THAT LEAVES THIS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The class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Every recipe that hits all four goes in. You each get a copy to take home.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84832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Cheapest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8483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The one that costs least to make.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24912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16352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Fastest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81635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Under five minutes, start to finish.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56432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47872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The one you would actually 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4787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Not the healthiest. The one you would pick.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Vote on the last one. It is the best guide to who will keep doing this.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86600" y="53035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0" y="5897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OPTION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ONLY IF YOUR SCHOOL ALLOWS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Taste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82496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764792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Only food made at home by somebody who has listed every ingredient on the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68296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No list, no tasting. There are no exceptions to that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9504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971800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If you have an allergy you do not taste. There is no safe way round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7772400" cy="49377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575304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You may say no to anything, and nobody gets to ask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51376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Small amounts, one at a time. Say what you notice, not whether you liked it.</a:t>
            </a:r>
          </a:p>
        </p:txBody>
      </p:sp>
      <p:pic>
        <p:nvPicPr>
          <p:cNvPr id="16" name="Picture 1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86600" y="53035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0" y="58978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00">
                <a:solidFill>
                  <a:srgbClr val="256B4A"/>
                </a:solidFill>
                <a:latin typeface="Calibri"/>
              </a:rPr>
              <a:t>OPTION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WHEN TASTING IS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96112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300" b="0" i="0">
                <a:solidFill>
                  <a:srgbClr val="FFFDF7"/>
                </a:solidFill>
                <a:latin typeface="Georgia"/>
              </a:rPr>
              <a:t>Pitch it instead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47088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1929384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199339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929384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Thirty seconds each, standing up, to your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505456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9304" y="2587752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265176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2587752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Say what is in it, which job each thing does, and when you would eat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163824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9304" y="3246120"/>
            <a:ext cx="384048" cy="384048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9304" y="331012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3246120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256B4A"/>
                </a:solidFill>
                <a:latin typeface="Calibri"/>
              </a:rPr>
              <a:t>The table votes for one to go forward. You may not vote for your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CBDFD6"/>
                </a:solidFill>
                <a:latin typeface="Calibri"/>
              </a:rPr>
              <a:t>Thirty seconds is short on purpose. If you cannot explain it in that time, it is too complicated.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FIND YOUR SHEET FROM LESSON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C3A33"/>
                </a:solidFill>
                <a:latin typeface="Georgia"/>
              </a:rPr>
              <a:t>Your very first guess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Part one of the lesson sheet, before you knew any of this. Look at what you put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103120"/>
            <a:ext cx="402336" cy="402336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112264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Which one did you rank far too high?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06624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2798063"/>
            <a:ext cx="402336" cy="402336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6207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807208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What do you know now that you did not know then?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01568"/>
            <a:ext cx="7772400" cy="58521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493008"/>
            <a:ext cx="402336" cy="402336"/>
          </a:xfrm>
          <a:prstGeom prst="ellipse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5701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3502152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50" b="0" i="0">
                <a:solidFill>
                  <a:srgbClr val="2C3A33"/>
                </a:solidFill>
                <a:latin typeface="Calibri"/>
              </a:rPr>
              <a:t>Would your ranking today survive somebody arguing with 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87952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256B4A"/>
                </a:solidFill>
                <a:latin typeface="Calibri"/>
              </a:rPr>
              <a:t>In lesson one most of this room ranked the snacks on sugar alone. That is what has changed.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THE BIT THAT ACTUALLY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300" b="0" i="0">
                <a:solidFill>
                  <a:srgbClr val="FFFDF7"/>
                </a:solidFill>
                <a:latin typeface="Georgia"/>
              </a:rPr>
              <a:t>One change, not five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83664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Pick the one snack you already eat most often.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42032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24328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Add one thing to it that does one of the four jobs.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200400"/>
            <a:ext cx="7040880" cy="548640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EEF3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8269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Calibri"/>
              </a:rPr>
              <a:t>That is the change. Do that, and nothing else.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DF7"/>
                </a:solidFill>
                <a:latin typeface="Calibri"/>
              </a:rPr>
              <a:t>Nobody changes five things and keeps them. Most people manage one.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256B4A"/>
                </a:solidFill>
                <a:latin typeface="Calibri"/>
              </a:rPr>
              <a:t>ON PAPER, THEN KEEP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4124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0" i="0">
                <a:solidFill>
                  <a:srgbClr val="2C3A33"/>
                </a:solidFill>
                <a:latin typeface="Georgia"/>
              </a:rPr>
              <a:t>One snack. One addition.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5F6B64"/>
                </a:solidFill>
                <a:latin typeface="Calibri"/>
              </a:rPr>
              <a:t>Not collected. Put it somewhere you will see it before break tomorrow.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0312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What I usually 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Be honest. The real one, not the impressive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EEF3F1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3464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What I am adding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34640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One ingredient. It has to be easy to find.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7772400" cy="621792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CB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6616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56B4A"/>
                </a:solidFill>
                <a:latin typeface="Georgia"/>
              </a:rPr>
              <a:t>Which job it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4389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F6B64"/>
                </a:solidFill>
                <a:latin typeface="Calibri"/>
              </a:rPr>
              <a:t>Protein, fibre, slow carb or fat. Pick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52544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256B4A"/>
                </a:solidFill>
                <a:latin typeface="Calibri"/>
              </a:rPr>
              <a:t>If you cannot think of the addition, ask the person next to you what they wrote.</a:t>
            </a:r>
          </a:p>
        </p:txBody>
      </p:sp>
      <p:pic>
        <p:nvPicPr>
          <p:cNvPr id="18" name="Picture 1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CBDFD6"/>
                </a:solidFill>
                <a:latin typeface="Calibri"/>
              </a:rPr>
              <a:t>IF YOU REMEMBER ONE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8046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3400" b="0" i="0">
                <a:solidFill>
                  <a:srgbClr val="FFFDF7"/>
                </a:solidFill>
                <a:latin typeface="Georgia"/>
              </a:rPr>
              <a:t>The smallest change</a:t>
            </a:r>
            <a:br/>
            <a:r>
              <a:rPr sz="3400" b="0" i="0">
                <a:solidFill>
                  <a:srgbClr val="FFFDF7"/>
                </a:solidFill>
                <a:latin typeface="Georgia"/>
              </a:rPr>
              <a:t>is the one that lasts.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3127248"/>
            <a:ext cx="1005840" cy="18288"/>
          </a:xfrm>
          <a:prstGeom prst="rect">
            <a:avLst/>
          </a:prstGeom>
          <a:solidFill>
            <a:srgbClr val="69B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198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450" b="0" i="1">
                <a:solidFill>
                  <a:srgbClr val="CBDFD6"/>
                </a:solidFill>
                <a:latin typeface="Calibri"/>
              </a:rPr>
              <a:t>The snack you already have, plus the one thing it is missing.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BDFD6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BDFD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495" y="1243584"/>
            <a:ext cx="681008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0428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 i="0">
                <a:solidFill>
                  <a:srgbClr val="256B4A"/>
                </a:solidFill>
                <a:latin typeface="Georgia"/>
              </a:rPr>
              <a:t>That is the series.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7238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5F6B64"/>
                </a:solidFill>
                <a:latin typeface="Calibri"/>
              </a:rPr>
              <a:t>Four criteria, one snack you can actually make, and one change worth keeping.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5020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8A29B"/>
                </a:solidFill>
                <a:latin typeface="Calibri"/>
              </a:rPr>
              <a:t>Fuel and Focus  ·  Lesson 3 of 3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98A29B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98A29B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and Focus: lesson 3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