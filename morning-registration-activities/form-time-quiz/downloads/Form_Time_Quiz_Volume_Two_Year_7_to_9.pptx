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2B6573"/>
                </a:solidFill>
                <a:latin typeface="Karla"/>
              </a:rPr>
              <a:t>MORNING REGISTRATION ACTIVITIES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1792"/>
            <a:ext cx="7772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2B6573"/>
                </a:solidFill>
                <a:latin typeface="Libre Caslon Display"/>
              </a:rPr>
              <a:t>The Form Time Quiz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21819" y="1243584"/>
            <a:ext cx="2500360" cy="237744"/>
          </a:xfrm>
          <a:prstGeom prst="roundRect">
            <a:avLst>
              <a:gd name="adj" fmla="val 50000"/>
            </a:avLst>
          </a:prstGeom>
          <a:solidFill>
            <a:srgbClr val="2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spc="90">
                <a:solidFill>
                  <a:srgbClr val="FFFDF7"/>
                </a:solidFill>
                <a:latin typeface="Karla"/>
              </a:rPr>
              <a:t>VOLUME TWO  ·  YEAR 7 TO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7276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5C6552"/>
                </a:solidFill>
                <a:latin typeface="Karla"/>
              </a:rPr>
              <a:t>Ten questions: six on animal myths, then four of general knowledge.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938528"/>
            <a:ext cx="2395728" cy="201168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54480" y="2084832"/>
            <a:ext cx="658368" cy="658368"/>
          </a:xfrm>
          <a:prstGeom prst="ellipse">
            <a:avLst/>
          </a:prstGeom>
          <a:solidFill>
            <a:srgbClr val="2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wopeo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2221992"/>
            <a:ext cx="384048" cy="3840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13816" y="2852928"/>
            <a:ext cx="213969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1" i="0">
                <a:solidFill>
                  <a:srgbClr val="2B6573"/>
                </a:solidFill>
                <a:latin typeface="Libre Caslon Display"/>
              </a:rPr>
              <a:t>Get into teams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3346704"/>
            <a:ext cx="2066544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5C6552"/>
                </a:solidFill>
                <a:latin typeface="Karla"/>
              </a:rPr>
              <a:t>Three or four to a team, with one answer sheet between you.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74136" y="1938528"/>
            <a:ext cx="2395728" cy="201168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42816" y="2084832"/>
            <a:ext cx="658368" cy="658368"/>
          </a:xfrm>
          <a:prstGeom prst="ellipse">
            <a:avLst/>
          </a:prstGeom>
          <a:solidFill>
            <a:srgbClr val="2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9976" y="2221992"/>
            <a:ext cx="384048" cy="38404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02152" y="2852928"/>
            <a:ext cx="213969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1" i="0">
                <a:solidFill>
                  <a:srgbClr val="2B6573"/>
                </a:solidFill>
                <a:latin typeface="Libre Caslon Display"/>
              </a:rPr>
              <a:t>Answer together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8728" y="3346704"/>
            <a:ext cx="2066544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5C6552"/>
                </a:solidFill>
                <a:latin typeface="Karla"/>
              </a:rPr>
              <a:t>Each question goes up on the board. Agree an answer, then write it down.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62472" y="1938528"/>
            <a:ext cx="2395728" cy="201168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931151" y="2084832"/>
            <a:ext cx="658368" cy="658368"/>
          </a:xfrm>
          <a:prstGeom prst="ellipse">
            <a:avLst/>
          </a:prstGeom>
          <a:solidFill>
            <a:srgbClr val="2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sw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8312" y="2221992"/>
            <a:ext cx="384048" cy="38404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190488" y="2852928"/>
            <a:ext cx="213969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1" i="0">
                <a:solidFill>
                  <a:srgbClr val="2B6573"/>
                </a:solidFill>
                <a:latin typeface="Libre Caslon Display"/>
              </a:rPr>
              <a:t>Swap and mark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27064" y="3346704"/>
            <a:ext cx="2066544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5C6552"/>
                </a:solidFill>
                <a:latin typeface="Karla"/>
              </a:rPr>
              <a:t>Swap sheets with the team next to you, then the answers go up one at a time.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078224"/>
            <a:ext cx="7772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8B9179"/>
                </a:solidFill>
                <a:latin typeface="Karla"/>
              </a:rPr>
              <a:t>Needs: one answer sheet per team, from the resource pack.</a:t>
            </a:r>
          </a:p>
        </p:txBody>
      </p:sp>
      <p:pic>
        <p:nvPicPr>
          <p:cNvPr id="23" name="Picture 22" descr="logo-m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1 / 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968281" y="914400"/>
            <a:ext cx="1207436" cy="237744"/>
          </a:xfrm>
          <a:prstGeom prst="roundRect">
            <a:avLst>
              <a:gd name="adj" fmla="val 50000"/>
            </a:avLst>
          </a:prstGeom>
          <a:solidFill>
            <a:srgbClr val="C4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spc="90">
                <a:solidFill>
                  <a:srgbClr val="2B6573"/>
                </a:solidFill>
                <a:latin typeface="Karla"/>
              </a:rPr>
              <a:t>ROUND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8046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4000" b="1" i="0">
                <a:solidFill>
                  <a:srgbClr val="FFFDF7"/>
                </a:solidFill>
                <a:latin typeface="Libre Caslon Display"/>
              </a:rPr>
              <a:t>Animal myths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2487168"/>
            <a:ext cx="914400" cy="18288"/>
          </a:xfrm>
          <a:prstGeom prst="rect">
            <a:avLst/>
          </a:prstGeom>
          <a:solidFill>
            <a:srgbClr val="C4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724912"/>
            <a:ext cx="6583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C4DCE1"/>
                </a:solidFill>
                <a:latin typeface="Karla"/>
              </a:rPr>
              <a:t>Six questions. Some are fact or myth, some give you options, and some you write out in full.</a:t>
            </a:r>
          </a:p>
        </p:txBody>
      </p:sp>
      <p:pic>
        <p:nvPicPr>
          <p:cNvPr id="7" name="Picture 6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C4DCE1"/>
                </a:solidFill>
                <a:latin typeface="Karla"/>
              </a:rPr>
              <a:t>The Pastoral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C4DCE1"/>
                </a:solidFill>
                <a:latin typeface="Karla"/>
              </a:rPr>
              <a:t>2 / 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2B6573"/>
                </a:solidFill>
                <a:latin typeface="Karla"/>
              </a:rPr>
              <a:t>THE FORM TIME QUIZ  ·  ROUND ONE  ·  QUESTION 1 OF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06424"/>
            <a:ext cx="7772400" cy="1188720"/>
          </a:xfrm>
          <a:prstGeom prst="roundRect">
            <a:avLst>
              <a:gd name="adj" fmla="val 6000"/>
            </a:avLst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106424"/>
            <a:ext cx="7772400" cy="54864"/>
          </a:xfrm>
          <a:prstGeom prst="rect">
            <a:avLst/>
          </a:prstGeom>
          <a:solidFill>
            <a:srgbClr val="5B9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50976" y="1399032"/>
            <a:ext cx="603504" cy="603504"/>
          </a:xfrm>
          <a:prstGeom prst="ellipse">
            <a:avLst/>
          </a:prstGeom>
          <a:solidFill>
            <a:srgbClr val="2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527048"/>
            <a:ext cx="60350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000" b="1" i="0">
                <a:solidFill>
                  <a:srgbClr val="FFFDF7"/>
                </a:solidFill>
                <a:latin typeface="Karl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511808"/>
            <a:ext cx="6309360" cy="3779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1" i="0">
                <a:solidFill>
                  <a:srgbClr val="2B6573"/>
                </a:solidFill>
                <a:latin typeface="Libre Caslon Display"/>
              </a:rPr>
              <a:t>Bats are blind.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23160"/>
            <a:ext cx="7772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40">
                <a:solidFill>
                  <a:srgbClr val="8B9179"/>
                </a:solidFill>
                <a:latin typeface="Karla"/>
              </a:rPr>
              <a:t>FACT OR MYTH?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715768"/>
            <a:ext cx="3749039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0392" y="3538728"/>
            <a:ext cx="3419856" cy="27432"/>
          </a:xfrm>
          <a:prstGeom prst="rect">
            <a:avLst/>
          </a:prstGeom>
          <a:solidFill>
            <a:srgbClr val="C4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008884"/>
            <a:ext cx="3383279" cy="309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2B6573"/>
                </a:solidFill>
                <a:latin typeface="Libre Caslon Display"/>
              </a:rPr>
              <a:t>Fact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59" y="2715768"/>
            <a:ext cx="3749039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73751" y="3538728"/>
            <a:ext cx="3419856" cy="27432"/>
          </a:xfrm>
          <a:prstGeom prst="rect">
            <a:avLst/>
          </a:prstGeom>
          <a:solidFill>
            <a:srgbClr val="C4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92040" y="3008884"/>
            <a:ext cx="3383279" cy="309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2B6573"/>
                </a:solidFill>
                <a:latin typeface="Libre Caslon Display"/>
              </a:rPr>
              <a:t>Myth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169663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 i="1">
                <a:solidFill>
                  <a:srgbClr val="5C6552"/>
                </a:solidFill>
                <a:latin typeface="Karla"/>
              </a:rPr>
              <a:t>Agree it as a team, then tick it on the sheet.</a:t>
            </a:r>
          </a:p>
        </p:txBody>
      </p:sp>
      <p:pic>
        <p:nvPicPr>
          <p:cNvPr id="17" name="Picture 16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3 / 27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2B6573"/>
                </a:solidFill>
                <a:latin typeface="Karla"/>
              </a:rPr>
              <a:t>THE FORM TIME QUIZ  ·  ROUND ONE  ·  QUESTION 2 OF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030224"/>
            <a:ext cx="7772400" cy="1341120"/>
          </a:xfrm>
          <a:prstGeom prst="roundRect">
            <a:avLst>
              <a:gd name="adj" fmla="val 6000"/>
            </a:avLst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030224"/>
            <a:ext cx="7772400" cy="54864"/>
          </a:xfrm>
          <a:prstGeom prst="rect">
            <a:avLst/>
          </a:prstGeom>
          <a:solidFill>
            <a:srgbClr val="5B9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50976" y="1399032"/>
            <a:ext cx="603504" cy="603504"/>
          </a:xfrm>
          <a:prstGeom prst="ellipse">
            <a:avLst/>
          </a:prstGeom>
          <a:solidFill>
            <a:srgbClr val="2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527048"/>
            <a:ext cx="60350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000" b="1" i="0">
                <a:solidFill>
                  <a:srgbClr val="FFFDF7"/>
                </a:solidFill>
                <a:latin typeface="Karla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322832"/>
            <a:ext cx="6309360" cy="755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1" i="0">
                <a:solidFill>
                  <a:srgbClr val="2B6573"/>
                </a:solidFill>
                <a:latin typeface="Libre Caslon Display"/>
              </a:rPr>
              <a:t>Lemmings jump off cliffs together on purpose.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99360"/>
            <a:ext cx="7772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40">
                <a:solidFill>
                  <a:srgbClr val="8B9179"/>
                </a:solidFill>
                <a:latin typeface="Karla"/>
              </a:rPr>
              <a:t>FACT OR MYTH?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791968"/>
            <a:ext cx="3749039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0392" y="3614928"/>
            <a:ext cx="3419856" cy="27432"/>
          </a:xfrm>
          <a:prstGeom prst="rect">
            <a:avLst/>
          </a:prstGeom>
          <a:solidFill>
            <a:srgbClr val="C4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085084"/>
            <a:ext cx="3383279" cy="309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2B6573"/>
                </a:solidFill>
                <a:latin typeface="Libre Caslon Display"/>
              </a:rPr>
              <a:t>Fact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59" y="2791968"/>
            <a:ext cx="3749039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73751" y="3614928"/>
            <a:ext cx="3419856" cy="27432"/>
          </a:xfrm>
          <a:prstGeom prst="rect">
            <a:avLst/>
          </a:prstGeom>
          <a:solidFill>
            <a:srgbClr val="C4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92040" y="3085084"/>
            <a:ext cx="3383279" cy="309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2B6573"/>
                </a:solidFill>
                <a:latin typeface="Libre Caslon Display"/>
              </a:rPr>
              <a:t>Myth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169663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 i="1">
                <a:solidFill>
                  <a:srgbClr val="5C6552"/>
                </a:solidFill>
                <a:latin typeface="Karla"/>
              </a:rPr>
              <a:t>Agree it as a team, then tick it on the sheet.</a:t>
            </a:r>
          </a:p>
        </p:txBody>
      </p:sp>
      <p:pic>
        <p:nvPicPr>
          <p:cNvPr id="17" name="Picture 16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4 / 27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2B6573"/>
                </a:solidFill>
                <a:latin typeface="Karla"/>
              </a:rPr>
              <a:t>THE FORM TIME QUIZ  ·  ROUND ONE  ·  QUESTION 3 OF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030224"/>
            <a:ext cx="7772400" cy="1341120"/>
          </a:xfrm>
          <a:prstGeom prst="roundRect">
            <a:avLst>
              <a:gd name="adj" fmla="val 6000"/>
            </a:avLst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030224"/>
            <a:ext cx="7772400" cy="54864"/>
          </a:xfrm>
          <a:prstGeom prst="rect">
            <a:avLst/>
          </a:prstGeom>
          <a:solidFill>
            <a:srgbClr val="5B9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50976" y="1399032"/>
            <a:ext cx="603504" cy="603504"/>
          </a:xfrm>
          <a:prstGeom prst="ellipse">
            <a:avLst/>
          </a:prstGeom>
          <a:solidFill>
            <a:srgbClr val="2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527048"/>
            <a:ext cx="60350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000" b="1" i="0">
                <a:solidFill>
                  <a:srgbClr val="FFFDF7"/>
                </a:solidFill>
                <a:latin typeface="Karla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322832"/>
            <a:ext cx="6309360" cy="755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1" i="0">
                <a:solidFill>
                  <a:srgbClr val="2B6573"/>
                </a:solidFill>
                <a:latin typeface="Libre Caslon Display"/>
              </a:rPr>
              <a:t>What does a camel store in its hump?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99360"/>
            <a:ext cx="7772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40">
                <a:solidFill>
                  <a:srgbClr val="8B9179"/>
                </a:solidFill>
                <a:latin typeface="Karla"/>
              </a:rPr>
              <a:t>ONE OF THESE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791968"/>
            <a:ext cx="2407920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0392" y="3614928"/>
            <a:ext cx="2078736" cy="27432"/>
          </a:xfrm>
          <a:prstGeom prst="rect">
            <a:avLst/>
          </a:prstGeom>
          <a:solidFill>
            <a:srgbClr val="C4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0392" y="3038856"/>
            <a:ext cx="402336" cy="402336"/>
          </a:xfrm>
          <a:prstGeom prst="ellipse">
            <a:avLst/>
          </a:prstGeom>
          <a:solidFill>
            <a:srgbClr val="2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3121152"/>
            <a:ext cx="4023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FFFDF7"/>
                </a:solidFill>
                <a:latin typeface="Karla"/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62456" y="3116072"/>
            <a:ext cx="1584960" cy="2479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Karla"/>
              </a:rPr>
              <a:t>Water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68040" y="2791968"/>
            <a:ext cx="2407920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32632" y="3614928"/>
            <a:ext cx="2078736" cy="27432"/>
          </a:xfrm>
          <a:prstGeom prst="rect">
            <a:avLst/>
          </a:prstGeom>
          <a:solidFill>
            <a:srgbClr val="C4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32631" y="3038856"/>
            <a:ext cx="402336" cy="402336"/>
          </a:xfrm>
          <a:prstGeom prst="ellipse">
            <a:avLst/>
          </a:prstGeom>
          <a:solidFill>
            <a:srgbClr val="2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32632" y="3121152"/>
            <a:ext cx="4023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FFFDF7"/>
                </a:solidFill>
                <a:latin typeface="Karla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44695" y="3116072"/>
            <a:ext cx="1584960" cy="2479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Karla"/>
              </a:rPr>
              <a:t>Fat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50280" y="2791968"/>
            <a:ext cx="2407920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4871" y="3614928"/>
            <a:ext cx="2078736" cy="27432"/>
          </a:xfrm>
          <a:prstGeom prst="rect">
            <a:avLst/>
          </a:prstGeom>
          <a:solidFill>
            <a:srgbClr val="C4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214872" y="3038856"/>
            <a:ext cx="402336" cy="402336"/>
          </a:xfrm>
          <a:prstGeom prst="ellipse">
            <a:avLst/>
          </a:prstGeom>
          <a:solidFill>
            <a:srgbClr val="2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4871" y="3121152"/>
            <a:ext cx="4023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FFFDF7"/>
                </a:solidFill>
                <a:latin typeface="Karla"/>
              </a:rPr>
              <a:t>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6936" y="3116072"/>
            <a:ext cx="1584960" cy="2479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Karla"/>
              </a:rPr>
              <a:t>Milk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169663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 i="1">
                <a:solidFill>
                  <a:srgbClr val="5C6552"/>
                </a:solidFill>
                <a:latin typeface="Karla"/>
              </a:rPr>
              <a:t>Agree it as a team, then tick it on the sheet.</a:t>
            </a:r>
          </a:p>
        </p:txBody>
      </p:sp>
      <p:pic>
        <p:nvPicPr>
          <p:cNvPr id="26" name="Picture 25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5 / 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2B6573"/>
                </a:solidFill>
                <a:latin typeface="Karla"/>
              </a:rPr>
              <a:t>THE FORM TIME QUIZ  ·  ROUND ONE  ·  QUESTION 4 OF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841248"/>
            <a:ext cx="7772400" cy="1719072"/>
          </a:xfrm>
          <a:prstGeom prst="roundRect">
            <a:avLst>
              <a:gd name="adj" fmla="val 6000"/>
            </a:avLst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841248"/>
            <a:ext cx="7772400" cy="54864"/>
          </a:xfrm>
          <a:prstGeom prst="rect">
            <a:avLst/>
          </a:prstGeom>
          <a:solidFill>
            <a:srgbClr val="5B9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50976" y="1399032"/>
            <a:ext cx="603504" cy="603504"/>
          </a:xfrm>
          <a:prstGeom prst="ellipse">
            <a:avLst/>
          </a:prstGeom>
          <a:solidFill>
            <a:srgbClr val="2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527048"/>
            <a:ext cx="60350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000" b="1" i="0">
                <a:solidFill>
                  <a:srgbClr val="FFFDF7"/>
                </a:solidFill>
                <a:latin typeface="Karla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133856"/>
            <a:ext cx="6309360" cy="11338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1" i="0">
                <a:solidFill>
                  <a:srgbClr val="2B6573"/>
                </a:solidFill>
                <a:latin typeface="Libre Caslon Display"/>
              </a:rPr>
              <a:t>Humans have three types of colour-sensing cell in their eyes. How many types do dogs have?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88336"/>
            <a:ext cx="7772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40">
                <a:solidFill>
                  <a:srgbClr val="8B9179"/>
                </a:solidFill>
                <a:latin typeface="Karla"/>
              </a:rPr>
              <a:t>ONE OF THESE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980944"/>
            <a:ext cx="2407920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0392" y="3803904"/>
            <a:ext cx="2078736" cy="27432"/>
          </a:xfrm>
          <a:prstGeom prst="rect">
            <a:avLst/>
          </a:prstGeom>
          <a:solidFill>
            <a:srgbClr val="C4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0392" y="3227832"/>
            <a:ext cx="402336" cy="402336"/>
          </a:xfrm>
          <a:prstGeom prst="ellipse">
            <a:avLst/>
          </a:prstGeom>
          <a:solidFill>
            <a:srgbClr val="2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3310128"/>
            <a:ext cx="4023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FFFDF7"/>
                </a:solidFill>
                <a:latin typeface="Karla"/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62456" y="3305048"/>
            <a:ext cx="1584960" cy="2479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Karla"/>
              </a:rPr>
              <a:t>One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68040" y="2980944"/>
            <a:ext cx="2407920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32632" y="3803904"/>
            <a:ext cx="2078736" cy="27432"/>
          </a:xfrm>
          <a:prstGeom prst="rect">
            <a:avLst/>
          </a:prstGeom>
          <a:solidFill>
            <a:srgbClr val="C4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32631" y="3227832"/>
            <a:ext cx="402336" cy="402336"/>
          </a:xfrm>
          <a:prstGeom prst="ellipse">
            <a:avLst/>
          </a:prstGeom>
          <a:solidFill>
            <a:srgbClr val="2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32632" y="3310128"/>
            <a:ext cx="4023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FFFDF7"/>
                </a:solidFill>
                <a:latin typeface="Karla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44695" y="3305048"/>
            <a:ext cx="1584960" cy="2479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Karla"/>
              </a:rPr>
              <a:t>Two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50280" y="2980944"/>
            <a:ext cx="2407920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4871" y="3803904"/>
            <a:ext cx="2078736" cy="27432"/>
          </a:xfrm>
          <a:prstGeom prst="rect">
            <a:avLst/>
          </a:prstGeom>
          <a:solidFill>
            <a:srgbClr val="C4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214872" y="3227832"/>
            <a:ext cx="402336" cy="402336"/>
          </a:xfrm>
          <a:prstGeom prst="ellipse">
            <a:avLst/>
          </a:prstGeom>
          <a:solidFill>
            <a:srgbClr val="2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4871" y="3310128"/>
            <a:ext cx="4023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FFFDF7"/>
                </a:solidFill>
                <a:latin typeface="Karla"/>
              </a:rPr>
              <a:t>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6936" y="3305048"/>
            <a:ext cx="1584960" cy="2479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Karla"/>
              </a:rPr>
              <a:t>Three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169663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 i="1">
                <a:solidFill>
                  <a:srgbClr val="5C6552"/>
                </a:solidFill>
                <a:latin typeface="Karla"/>
              </a:rPr>
              <a:t>Agree it as a team, then tick it on the sheet.</a:t>
            </a:r>
          </a:p>
        </p:txBody>
      </p:sp>
      <p:pic>
        <p:nvPicPr>
          <p:cNvPr id="26" name="Picture 25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6 / 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2B6573"/>
                </a:solidFill>
                <a:latin typeface="Karla"/>
              </a:rPr>
              <a:t>THE FORM TIME QUIZ  ·  ROUND ONE  ·  QUESTION 5 OF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841248"/>
            <a:ext cx="7772400" cy="1719072"/>
          </a:xfrm>
          <a:prstGeom prst="roundRect">
            <a:avLst>
              <a:gd name="adj" fmla="val 6000"/>
            </a:avLst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841248"/>
            <a:ext cx="7772400" cy="54864"/>
          </a:xfrm>
          <a:prstGeom prst="rect">
            <a:avLst/>
          </a:prstGeom>
          <a:solidFill>
            <a:srgbClr val="5B9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50976" y="1399032"/>
            <a:ext cx="603504" cy="603504"/>
          </a:xfrm>
          <a:prstGeom prst="ellipse">
            <a:avLst/>
          </a:prstGeom>
          <a:solidFill>
            <a:srgbClr val="2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527048"/>
            <a:ext cx="60350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000" b="1" i="0">
                <a:solidFill>
                  <a:srgbClr val="FFFDF7"/>
                </a:solidFill>
                <a:latin typeface="Karla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133856"/>
            <a:ext cx="6309360" cy="11338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1" i="0">
                <a:solidFill>
                  <a:srgbClr val="2B6573"/>
                </a:solidFill>
                <a:latin typeface="Libre Caslon Display"/>
              </a:rPr>
              <a:t>An owl cannot turn its head all the way round. How far can it turn its head in either direction?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88336"/>
            <a:ext cx="7772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40">
                <a:solidFill>
                  <a:srgbClr val="8B9179"/>
                </a:solidFill>
                <a:latin typeface="Karla"/>
              </a:rPr>
              <a:t>ONE OF THESE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980944"/>
            <a:ext cx="2407920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0392" y="3803904"/>
            <a:ext cx="2078736" cy="27432"/>
          </a:xfrm>
          <a:prstGeom prst="rect">
            <a:avLst/>
          </a:prstGeom>
          <a:solidFill>
            <a:srgbClr val="C4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0392" y="3227832"/>
            <a:ext cx="402336" cy="402336"/>
          </a:xfrm>
          <a:prstGeom prst="ellipse">
            <a:avLst/>
          </a:prstGeom>
          <a:solidFill>
            <a:srgbClr val="2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3310128"/>
            <a:ext cx="4023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FFFDF7"/>
                </a:solidFill>
                <a:latin typeface="Karla"/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62456" y="3305048"/>
            <a:ext cx="1584960" cy="2479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Karla"/>
              </a:rPr>
              <a:t>90 degrees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68040" y="2980944"/>
            <a:ext cx="2407920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32632" y="3803904"/>
            <a:ext cx="2078736" cy="27432"/>
          </a:xfrm>
          <a:prstGeom prst="rect">
            <a:avLst/>
          </a:prstGeom>
          <a:solidFill>
            <a:srgbClr val="C4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32631" y="3227832"/>
            <a:ext cx="402336" cy="402336"/>
          </a:xfrm>
          <a:prstGeom prst="ellipse">
            <a:avLst/>
          </a:prstGeom>
          <a:solidFill>
            <a:srgbClr val="2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32632" y="3310128"/>
            <a:ext cx="4023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FFFDF7"/>
                </a:solidFill>
                <a:latin typeface="Karla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44695" y="3305048"/>
            <a:ext cx="1584960" cy="2479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Karla"/>
              </a:rPr>
              <a:t>180 degrees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50280" y="2980944"/>
            <a:ext cx="2407920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4871" y="3803904"/>
            <a:ext cx="2078736" cy="27432"/>
          </a:xfrm>
          <a:prstGeom prst="rect">
            <a:avLst/>
          </a:prstGeom>
          <a:solidFill>
            <a:srgbClr val="C4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214872" y="3227832"/>
            <a:ext cx="402336" cy="402336"/>
          </a:xfrm>
          <a:prstGeom prst="ellipse">
            <a:avLst/>
          </a:prstGeom>
          <a:solidFill>
            <a:srgbClr val="2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4871" y="3310128"/>
            <a:ext cx="4023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FFFDF7"/>
                </a:solidFill>
                <a:latin typeface="Karla"/>
              </a:rPr>
              <a:t>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6936" y="3305048"/>
            <a:ext cx="1584960" cy="2479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Karla"/>
              </a:rPr>
              <a:t>270 degrees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169663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 i="1">
                <a:solidFill>
                  <a:srgbClr val="5C6552"/>
                </a:solidFill>
                <a:latin typeface="Karla"/>
              </a:rPr>
              <a:t>Agree it as a team, then tick it on the sheet.</a:t>
            </a:r>
          </a:p>
        </p:txBody>
      </p:sp>
      <p:pic>
        <p:nvPicPr>
          <p:cNvPr id="26" name="Picture 25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7 / 27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2B6573"/>
                </a:solidFill>
                <a:latin typeface="Karla"/>
              </a:rPr>
              <a:t>THE FORM TIME QUIZ  ·  ROUND ONE  ·  QUESTION 6 OF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976122"/>
            <a:ext cx="7772400" cy="1577340"/>
          </a:xfrm>
          <a:prstGeom prst="roundRect">
            <a:avLst>
              <a:gd name="adj" fmla="val 6000"/>
            </a:avLst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976122"/>
            <a:ext cx="7772400" cy="54864"/>
          </a:xfrm>
          <a:prstGeom prst="rect">
            <a:avLst/>
          </a:prstGeom>
          <a:solidFill>
            <a:srgbClr val="5B9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50976" y="1463040"/>
            <a:ext cx="603504" cy="603504"/>
          </a:xfrm>
          <a:prstGeom prst="ellipse">
            <a:avLst/>
          </a:prstGeom>
          <a:solidFill>
            <a:srgbClr val="2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591056"/>
            <a:ext cx="60350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000" b="1" i="0">
                <a:solidFill>
                  <a:srgbClr val="FFFDF7"/>
                </a:solidFill>
                <a:latin typeface="Karla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268730"/>
            <a:ext cx="6309360" cy="9921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100" b="1" i="0">
                <a:solidFill>
                  <a:srgbClr val="2B6573"/>
                </a:solidFill>
                <a:latin typeface="Libre Caslon Display"/>
              </a:rPr>
              <a:t>In a 2001 study, fish learned to escape through a net. How many months later did they still know the way out?</a:t>
            </a:r>
          </a:p>
        </p:txBody>
      </p:sp>
      <p:sp>
        <p:nvSpPr>
          <p:cNvPr id="9" name="Rectangle 8"/>
          <p:cNvSpPr/>
          <p:nvPr/>
        </p:nvSpPr>
        <p:spPr>
          <a:xfrm>
            <a:off x="1965960" y="3486150"/>
            <a:ext cx="5212080" cy="27432"/>
          </a:xfrm>
          <a:prstGeom prst="rect">
            <a:avLst/>
          </a:prstGeom>
          <a:solidFill>
            <a:srgbClr val="5B9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632454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1">
                <a:solidFill>
                  <a:srgbClr val="8B9179"/>
                </a:solidFill>
                <a:latin typeface="Karla"/>
              </a:rPr>
              <a:t>Agree it as a team, then write it on the sheet.</a:t>
            </a:r>
          </a:p>
        </p:txBody>
      </p:sp>
      <p:pic>
        <p:nvPicPr>
          <p:cNvPr id="11" name="Picture 10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8 / 27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952258" y="914400"/>
            <a:ext cx="1239483" cy="237744"/>
          </a:xfrm>
          <a:prstGeom prst="roundRect">
            <a:avLst>
              <a:gd name="adj" fmla="val 50000"/>
            </a:avLst>
          </a:prstGeom>
          <a:solidFill>
            <a:srgbClr val="C4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spc="90">
                <a:solidFill>
                  <a:srgbClr val="2B6573"/>
                </a:solidFill>
                <a:latin typeface="Karla"/>
              </a:rPr>
              <a:t>ROUND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8046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4000" b="1" i="0">
                <a:solidFill>
                  <a:srgbClr val="FFFDF7"/>
                </a:solidFill>
                <a:latin typeface="Libre Caslon Display"/>
              </a:rPr>
              <a:t>General knowledge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2487168"/>
            <a:ext cx="914400" cy="18288"/>
          </a:xfrm>
          <a:prstGeom prst="rect">
            <a:avLst/>
          </a:prstGeom>
          <a:solidFill>
            <a:srgbClr val="C4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724912"/>
            <a:ext cx="6583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C4DCE1"/>
                </a:solidFill>
                <a:latin typeface="Karla"/>
              </a:rPr>
              <a:t>Four questions to finish. Some have options, and some you write out in full.</a:t>
            </a:r>
          </a:p>
        </p:txBody>
      </p:sp>
      <p:pic>
        <p:nvPicPr>
          <p:cNvPr id="7" name="Picture 6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C4DCE1"/>
                </a:solidFill>
                <a:latin typeface="Karla"/>
              </a:rPr>
              <a:t>The Pastoral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C4DCE1"/>
                </a:solidFill>
                <a:latin typeface="Karla"/>
              </a:rPr>
              <a:t>9 / 27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2B6573"/>
                </a:solidFill>
                <a:latin typeface="Karla"/>
              </a:rPr>
              <a:t>THE FORM TIME QUIZ  ·  ROUND TWO  ·  QUESTION 7 OF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030224"/>
            <a:ext cx="7772400" cy="1341120"/>
          </a:xfrm>
          <a:prstGeom prst="roundRect">
            <a:avLst>
              <a:gd name="adj" fmla="val 6000"/>
            </a:avLst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030224"/>
            <a:ext cx="7772400" cy="54864"/>
          </a:xfrm>
          <a:prstGeom prst="rect">
            <a:avLst/>
          </a:prstGeom>
          <a:solidFill>
            <a:srgbClr val="5B9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50976" y="1399032"/>
            <a:ext cx="603504" cy="603504"/>
          </a:xfrm>
          <a:prstGeom prst="ellipse">
            <a:avLst/>
          </a:prstGeom>
          <a:solidFill>
            <a:srgbClr val="2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527048"/>
            <a:ext cx="60350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000" b="1" i="0">
                <a:solidFill>
                  <a:srgbClr val="FFFDF7"/>
                </a:solidFill>
                <a:latin typeface="Karla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322832"/>
            <a:ext cx="6309360" cy="755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1" i="0">
                <a:solidFill>
                  <a:srgbClr val="2B6573"/>
                </a:solidFill>
                <a:latin typeface="Libre Caslon Display"/>
              </a:rPr>
              <a:t>What is the largest planet in our solar system?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99360"/>
            <a:ext cx="7772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40">
                <a:solidFill>
                  <a:srgbClr val="8B9179"/>
                </a:solidFill>
                <a:latin typeface="Karla"/>
              </a:rPr>
              <a:t>ONE OF THESE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791968"/>
            <a:ext cx="2407920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0392" y="3614928"/>
            <a:ext cx="2078736" cy="27432"/>
          </a:xfrm>
          <a:prstGeom prst="rect">
            <a:avLst/>
          </a:prstGeom>
          <a:solidFill>
            <a:srgbClr val="C4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0392" y="3038856"/>
            <a:ext cx="402336" cy="402336"/>
          </a:xfrm>
          <a:prstGeom prst="ellipse">
            <a:avLst/>
          </a:prstGeom>
          <a:solidFill>
            <a:srgbClr val="2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3121152"/>
            <a:ext cx="4023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FFFDF7"/>
                </a:solidFill>
                <a:latin typeface="Karla"/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62456" y="3116072"/>
            <a:ext cx="1584960" cy="2479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Karla"/>
              </a:rPr>
              <a:t>Saturn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68040" y="2791968"/>
            <a:ext cx="2407920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32632" y="3614928"/>
            <a:ext cx="2078736" cy="27432"/>
          </a:xfrm>
          <a:prstGeom prst="rect">
            <a:avLst/>
          </a:prstGeom>
          <a:solidFill>
            <a:srgbClr val="C4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32631" y="3038856"/>
            <a:ext cx="402336" cy="402336"/>
          </a:xfrm>
          <a:prstGeom prst="ellipse">
            <a:avLst/>
          </a:prstGeom>
          <a:solidFill>
            <a:srgbClr val="2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32632" y="3121152"/>
            <a:ext cx="4023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FFFDF7"/>
                </a:solidFill>
                <a:latin typeface="Karla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44695" y="3116072"/>
            <a:ext cx="1584960" cy="2479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Karla"/>
              </a:rPr>
              <a:t>Jupiter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50280" y="2791968"/>
            <a:ext cx="2407920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4871" y="3614928"/>
            <a:ext cx="2078736" cy="27432"/>
          </a:xfrm>
          <a:prstGeom prst="rect">
            <a:avLst/>
          </a:prstGeom>
          <a:solidFill>
            <a:srgbClr val="C4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214872" y="3038856"/>
            <a:ext cx="402336" cy="402336"/>
          </a:xfrm>
          <a:prstGeom prst="ellipse">
            <a:avLst/>
          </a:prstGeom>
          <a:solidFill>
            <a:srgbClr val="2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4871" y="3121152"/>
            <a:ext cx="4023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FFFDF7"/>
                </a:solidFill>
                <a:latin typeface="Karla"/>
              </a:rPr>
              <a:t>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6936" y="3116072"/>
            <a:ext cx="1584960" cy="2479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Karla"/>
              </a:rPr>
              <a:t>Neptune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169663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 i="1">
                <a:solidFill>
                  <a:srgbClr val="5C6552"/>
                </a:solidFill>
                <a:latin typeface="Karla"/>
              </a:rPr>
              <a:t>Agree it as a team, then tick it on the sheet.</a:t>
            </a:r>
          </a:p>
        </p:txBody>
      </p:sp>
      <p:pic>
        <p:nvPicPr>
          <p:cNvPr id="26" name="Picture 25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10 / 27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2B6573"/>
                </a:solidFill>
                <a:latin typeface="Karla"/>
              </a:rPr>
              <a:t>THE FORM TIME QUIZ  ·  ROUND TWO  ·  QUESTION 8 OF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70432"/>
            <a:ext cx="7772400" cy="1188720"/>
          </a:xfrm>
          <a:prstGeom prst="roundRect">
            <a:avLst>
              <a:gd name="adj" fmla="val 6000"/>
            </a:avLst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170432"/>
            <a:ext cx="7772400" cy="54864"/>
          </a:xfrm>
          <a:prstGeom prst="rect">
            <a:avLst/>
          </a:prstGeom>
          <a:solidFill>
            <a:srgbClr val="5B9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50976" y="1463040"/>
            <a:ext cx="603504" cy="603504"/>
          </a:xfrm>
          <a:prstGeom prst="ellipse">
            <a:avLst/>
          </a:prstGeom>
          <a:solidFill>
            <a:srgbClr val="2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591056"/>
            <a:ext cx="60350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000" b="1" i="0">
                <a:solidFill>
                  <a:srgbClr val="FFFDF7"/>
                </a:solidFill>
                <a:latin typeface="Karla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575816"/>
            <a:ext cx="6309360" cy="3779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1" i="0">
                <a:solidFill>
                  <a:srgbClr val="2B6573"/>
                </a:solidFill>
                <a:latin typeface="Libre Caslon Display"/>
              </a:rPr>
              <a:t>What is the capital city of Egypt?</a:t>
            </a:r>
          </a:p>
        </p:txBody>
      </p:sp>
      <p:sp>
        <p:nvSpPr>
          <p:cNvPr id="9" name="Rectangle 8"/>
          <p:cNvSpPr/>
          <p:nvPr/>
        </p:nvSpPr>
        <p:spPr>
          <a:xfrm>
            <a:off x="1965960" y="3291840"/>
            <a:ext cx="5212080" cy="27432"/>
          </a:xfrm>
          <a:prstGeom prst="rect">
            <a:avLst/>
          </a:prstGeom>
          <a:solidFill>
            <a:srgbClr val="5B9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438144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1">
                <a:solidFill>
                  <a:srgbClr val="8B9179"/>
                </a:solidFill>
                <a:latin typeface="Karla"/>
              </a:rPr>
              <a:t>Agree it as a team, then write it on the sheet.</a:t>
            </a:r>
          </a:p>
        </p:txBody>
      </p:sp>
      <p:pic>
        <p:nvPicPr>
          <p:cNvPr id="11" name="Picture 10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11 / 27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2B6573"/>
                </a:solidFill>
                <a:latin typeface="Karla"/>
              </a:rPr>
              <a:t>THE FORM TIME QUIZ  ·  ROUND TWO  ·  QUESTION 9 OF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06424"/>
            <a:ext cx="7772400" cy="1188720"/>
          </a:xfrm>
          <a:prstGeom prst="roundRect">
            <a:avLst>
              <a:gd name="adj" fmla="val 6000"/>
            </a:avLst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106424"/>
            <a:ext cx="7772400" cy="54864"/>
          </a:xfrm>
          <a:prstGeom prst="rect">
            <a:avLst/>
          </a:prstGeom>
          <a:solidFill>
            <a:srgbClr val="5B9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50976" y="1399032"/>
            <a:ext cx="603504" cy="603504"/>
          </a:xfrm>
          <a:prstGeom prst="ellipse">
            <a:avLst/>
          </a:prstGeom>
          <a:solidFill>
            <a:srgbClr val="2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527048"/>
            <a:ext cx="60350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000" b="1" i="0">
                <a:solidFill>
                  <a:srgbClr val="FFFDF7"/>
                </a:solidFill>
                <a:latin typeface="Karla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511808"/>
            <a:ext cx="6309360" cy="3779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1" i="0">
                <a:solidFill>
                  <a:srgbClr val="2B6573"/>
                </a:solidFill>
                <a:latin typeface="Libre Caslon Display"/>
              </a:rPr>
              <a:t>How many legs does a spider have?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23160"/>
            <a:ext cx="7772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40">
                <a:solidFill>
                  <a:srgbClr val="8B9179"/>
                </a:solidFill>
                <a:latin typeface="Karla"/>
              </a:rPr>
              <a:t>ONE OF THESE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715768"/>
            <a:ext cx="2407920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0392" y="3538728"/>
            <a:ext cx="2078736" cy="27432"/>
          </a:xfrm>
          <a:prstGeom prst="rect">
            <a:avLst/>
          </a:prstGeom>
          <a:solidFill>
            <a:srgbClr val="C4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0392" y="2962656"/>
            <a:ext cx="402336" cy="402336"/>
          </a:xfrm>
          <a:prstGeom prst="ellipse">
            <a:avLst/>
          </a:prstGeom>
          <a:solidFill>
            <a:srgbClr val="2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3044952"/>
            <a:ext cx="4023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FFFDF7"/>
                </a:solidFill>
                <a:latin typeface="Karla"/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62456" y="3039872"/>
            <a:ext cx="1584960" cy="2479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Karla"/>
              </a:rPr>
              <a:t>Six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68040" y="2715768"/>
            <a:ext cx="2407920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32632" y="3538728"/>
            <a:ext cx="2078736" cy="27432"/>
          </a:xfrm>
          <a:prstGeom prst="rect">
            <a:avLst/>
          </a:prstGeom>
          <a:solidFill>
            <a:srgbClr val="C4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32631" y="2962656"/>
            <a:ext cx="402336" cy="402336"/>
          </a:xfrm>
          <a:prstGeom prst="ellipse">
            <a:avLst/>
          </a:prstGeom>
          <a:solidFill>
            <a:srgbClr val="2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32632" y="3044952"/>
            <a:ext cx="4023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FFFDF7"/>
                </a:solidFill>
                <a:latin typeface="Karla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44695" y="3039872"/>
            <a:ext cx="1584960" cy="2479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Karla"/>
              </a:rPr>
              <a:t>Eight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50280" y="2715768"/>
            <a:ext cx="2407920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4871" y="3538728"/>
            <a:ext cx="2078736" cy="27432"/>
          </a:xfrm>
          <a:prstGeom prst="rect">
            <a:avLst/>
          </a:prstGeom>
          <a:solidFill>
            <a:srgbClr val="C4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214872" y="2962656"/>
            <a:ext cx="402336" cy="402336"/>
          </a:xfrm>
          <a:prstGeom prst="ellipse">
            <a:avLst/>
          </a:prstGeom>
          <a:solidFill>
            <a:srgbClr val="2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4871" y="3044952"/>
            <a:ext cx="4023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FFFDF7"/>
                </a:solidFill>
                <a:latin typeface="Karla"/>
              </a:rPr>
              <a:t>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6936" y="3039872"/>
            <a:ext cx="1584960" cy="2479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Karla"/>
              </a:rPr>
              <a:t>Ten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169663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 i="1">
                <a:solidFill>
                  <a:srgbClr val="5C6552"/>
                </a:solidFill>
                <a:latin typeface="Karla"/>
              </a:rPr>
              <a:t>Agree it as a team, then tick it on the sheet.</a:t>
            </a:r>
          </a:p>
        </p:txBody>
      </p:sp>
      <p:pic>
        <p:nvPicPr>
          <p:cNvPr id="26" name="Picture 25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12 / 27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2B6573"/>
                </a:solidFill>
                <a:latin typeface="Karla"/>
              </a:rPr>
              <a:t>THE FORM TIME QUIZ  ·  ROUND TWO  ·  QUESTION 10 OF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70432"/>
            <a:ext cx="7772400" cy="1188720"/>
          </a:xfrm>
          <a:prstGeom prst="roundRect">
            <a:avLst>
              <a:gd name="adj" fmla="val 6000"/>
            </a:avLst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170432"/>
            <a:ext cx="7772400" cy="54864"/>
          </a:xfrm>
          <a:prstGeom prst="rect">
            <a:avLst/>
          </a:prstGeom>
          <a:solidFill>
            <a:srgbClr val="5B9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50976" y="1463040"/>
            <a:ext cx="603504" cy="603504"/>
          </a:xfrm>
          <a:prstGeom prst="ellipse">
            <a:avLst/>
          </a:prstGeom>
          <a:solidFill>
            <a:srgbClr val="2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591056"/>
            <a:ext cx="60350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000" b="1" i="0">
                <a:solidFill>
                  <a:srgbClr val="FFFDF7"/>
                </a:solidFill>
                <a:latin typeface="Karla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575816"/>
            <a:ext cx="6309360" cy="3779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1" i="0">
                <a:solidFill>
                  <a:srgbClr val="2B6573"/>
                </a:solidFill>
                <a:latin typeface="Libre Caslon Display"/>
              </a:rPr>
              <a:t>Which continent has no countries?</a:t>
            </a:r>
          </a:p>
        </p:txBody>
      </p:sp>
      <p:sp>
        <p:nvSpPr>
          <p:cNvPr id="9" name="Rectangle 8"/>
          <p:cNvSpPr/>
          <p:nvPr/>
        </p:nvSpPr>
        <p:spPr>
          <a:xfrm>
            <a:off x="1965960" y="3291840"/>
            <a:ext cx="5212080" cy="27432"/>
          </a:xfrm>
          <a:prstGeom prst="rect">
            <a:avLst/>
          </a:prstGeom>
          <a:solidFill>
            <a:srgbClr val="5B9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438144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1">
                <a:solidFill>
                  <a:srgbClr val="8B9179"/>
                </a:solidFill>
                <a:latin typeface="Karla"/>
              </a:rPr>
              <a:t>Agree it as a team, then write it on the sheet.</a:t>
            </a:r>
          </a:p>
        </p:txBody>
      </p:sp>
      <p:pic>
        <p:nvPicPr>
          <p:cNvPr id="11" name="Picture 10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13 / 27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049462" y="914400"/>
            <a:ext cx="1045075" cy="237744"/>
          </a:xfrm>
          <a:prstGeom prst="roundRect">
            <a:avLst>
              <a:gd name="adj" fmla="val 50000"/>
            </a:avLst>
          </a:prstGeom>
          <a:solidFill>
            <a:srgbClr val="C4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spc="90">
                <a:solidFill>
                  <a:srgbClr val="2B6573"/>
                </a:solidFill>
                <a:latin typeface="Karl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8046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4000" b="1" i="0">
                <a:solidFill>
                  <a:srgbClr val="FFFDF7"/>
                </a:solidFill>
                <a:latin typeface="Libre Caslon Display"/>
              </a:rPr>
              <a:t>Swap sheets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2487168"/>
            <a:ext cx="914400" cy="18288"/>
          </a:xfrm>
          <a:prstGeom prst="rect">
            <a:avLst/>
          </a:prstGeom>
          <a:solidFill>
            <a:srgbClr val="C4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724912"/>
            <a:ext cx="6583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C4DCE1"/>
                </a:solidFill>
                <a:latin typeface="Karla"/>
              </a:rPr>
              <a:t>Swap with the team next to you. Give one mark for each right answer, then add up the score out of ten.</a:t>
            </a:r>
          </a:p>
        </p:txBody>
      </p:sp>
      <p:pic>
        <p:nvPicPr>
          <p:cNvPr id="7" name="Picture 6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C4DCE1"/>
                </a:solidFill>
                <a:latin typeface="Karla"/>
              </a:rPr>
              <a:t>The Pastoral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C4DCE1"/>
                </a:solidFill>
                <a:latin typeface="Karla"/>
              </a:rPr>
              <a:t>14 / 27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2B6573"/>
                </a:solidFill>
                <a:latin typeface="Karla"/>
              </a:rPr>
              <a:t>THE FORM TIME QUIZ  ·  ANSWERS  ·  QUESTION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4315"/>
            <a:ext cx="7772400" cy="222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1">
                <a:solidFill>
                  <a:srgbClr val="5C6552"/>
                </a:solidFill>
                <a:latin typeface="Karla"/>
              </a:rPr>
              <a:t>Bats are blind.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09445"/>
            <a:ext cx="77724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2B6573"/>
                </a:solidFill>
                <a:latin typeface="Libre Caslon Display"/>
              </a:rPr>
              <a:t>Myth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695829"/>
            <a:ext cx="7772400" cy="1011936"/>
          </a:xfrm>
          <a:prstGeom prst="roundRect">
            <a:avLst>
              <a:gd name="adj" fmla="val 6000"/>
            </a:avLst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695829"/>
            <a:ext cx="64008" cy="1011936"/>
          </a:xfrm>
          <a:prstGeom prst="rect">
            <a:avLst/>
          </a:prstGeom>
          <a:solidFill>
            <a:srgbClr val="5B9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933573"/>
            <a:ext cx="7040880" cy="536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Karla"/>
              </a:rPr>
              <a:t>Bats can see. Their eyes are small but work well in dim light, and many bats also find their way using echoes.</a:t>
            </a:r>
          </a:p>
        </p:txBody>
      </p:sp>
      <p:pic>
        <p:nvPicPr>
          <p:cNvPr id="9" name="Picture 8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15 / 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4709160"/>
            <a:ext cx="457200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Source: US Geological Survey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2B6573"/>
                </a:solidFill>
                <a:latin typeface="Karla"/>
              </a:rPr>
              <a:t>THE FORM TIME QUIZ  ·  ANSWERS  ·  QUESTION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4315"/>
            <a:ext cx="7772400" cy="222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1">
                <a:solidFill>
                  <a:srgbClr val="5C6552"/>
                </a:solidFill>
                <a:latin typeface="Karla"/>
              </a:rPr>
              <a:t>Lemmings jump off cliffs together on purpose.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09445"/>
            <a:ext cx="77724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2B6573"/>
                </a:solidFill>
                <a:latin typeface="Libre Caslon Display"/>
              </a:rPr>
              <a:t>Myth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695829"/>
            <a:ext cx="7772400" cy="1011936"/>
          </a:xfrm>
          <a:prstGeom prst="roundRect">
            <a:avLst>
              <a:gd name="adj" fmla="val 6000"/>
            </a:avLst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695829"/>
            <a:ext cx="64008" cy="1011936"/>
          </a:xfrm>
          <a:prstGeom prst="rect">
            <a:avLst/>
          </a:prstGeom>
          <a:solidFill>
            <a:srgbClr val="5B9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933573"/>
            <a:ext cx="7040880" cy="536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Karla"/>
              </a:rPr>
              <a:t>The famous film of lemmings jumping was made by Disney in 1958, and the filmmakers pushed the lemmings off the cliff themselves.</a:t>
            </a:r>
          </a:p>
        </p:txBody>
      </p:sp>
      <p:pic>
        <p:nvPicPr>
          <p:cNvPr id="9" name="Picture 8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16 / 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4709160"/>
            <a:ext cx="457200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Source: Alaska Department of Fish and Game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2B6573"/>
                </a:solidFill>
                <a:latin typeface="Karla"/>
              </a:rPr>
              <a:t>THE FORM TIME QUIZ  ·  ANSWERS  ·  QUESTION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4315"/>
            <a:ext cx="7772400" cy="222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1">
                <a:solidFill>
                  <a:srgbClr val="5C6552"/>
                </a:solidFill>
                <a:latin typeface="Karla"/>
              </a:rPr>
              <a:t>What does a camel store in its hump?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09445"/>
            <a:ext cx="77724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2B6573"/>
                </a:solidFill>
                <a:latin typeface="Libre Caslon Display"/>
              </a:rPr>
              <a:t>B.  Fat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695829"/>
            <a:ext cx="7772400" cy="1011936"/>
          </a:xfrm>
          <a:prstGeom prst="roundRect">
            <a:avLst>
              <a:gd name="adj" fmla="val 6000"/>
            </a:avLst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695829"/>
            <a:ext cx="64008" cy="1011936"/>
          </a:xfrm>
          <a:prstGeom prst="rect">
            <a:avLst/>
          </a:prstGeom>
          <a:solidFill>
            <a:srgbClr val="5B9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933573"/>
            <a:ext cx="7040880" cy="536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Karla"/>
              </a:rPr>
              <a:t>The hump is a store of fat. The camel uses it for energy when it cannot find food.</a:t>
            </a:r>
          </a:p>
        </p:txBody>
      </p:sp>
      <p:pic>
        <p:nvPicPr>
          <p:cNvPr id="9" name="Picture 8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17 / 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4709160"/>
            <a:ext cx="457200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Source: San Diego Zoo Wildlife Alliance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2B6573"/>
                </a:solidFill>
                <a:latin typeface="Karla"/>
              </a:rPr>
              <a:t>THE FORM TIME QUIZ  ·  ANSWERS  ·  QUESTION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93190"/>
            <a:ext cx="7772400" cy="44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1">
                <a:solidFill>
                  <a:srgbClr val="5C6552"/>
                </a:solidFill>
                <a:latin typeface="Karla"/>
              </a:rPr>
              <a:t>Humans have three types of colour-sensing cell in their eyes. How many types do dogs have?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20570"/>
            <a:ext cx="77724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2B6573"/>
                </a:solidFill>
                <a:latin typeface="Libre Caslon Display"/>
              </a:rPr>
              <a:t>B.  Two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806954"/>
            <a:ext cx="7772400" cy="1011936"/>
          </a:xfrm>
          <a:prstGeom prst="roundRect">
            <a:avLst>
              <a:gd name="adj" fmla="val 6000"/>
            </a:avLst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806954"/>
            <a:ext cx="64008" cy="1011936"/>
          </a:xfrm>
          <a:prstGeom prst="rect">
            <a:avLst/>
          </a:prstGeom>
          <a:solidFill>
            <a:srgbClr val="5B9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3044698"/>
            <a:ext cx="7040880" cy="536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Karla"/>
              </a:rPr>
              <a:t>So dogs do see colour, mostly blues and yellows. They mix up reds and greens, a bit like a colour-blind person.</a:t>
            </a:r>
          </a:p>
        </p:txBody>
      </p:sp>
      <p:pic>
        <p:nvPicPr>
          <p:cNvPr id="9" name="Picture 8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18 / 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4709160"/>
            <a:ext cx="457200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Source: Neitz, Geist and Jacobs, 1989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2B6573"/>
                </a:solidFill>
                <a:latin typeface="Karla"/>
              </a:rPr>
              <a:t>THE FORM TIME QUIZ  ·  ANSWERS  ·  QUESTION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59078"/>
            <a:ext cx="7772400" cy="44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1">
                <a:solidFill>
                  <a:srgbClr val="5C6552"/>
                </a:solidFill>
                <a:latin typeface="Karla"/>
              </a:rPr>
              <a:t>An owl cannot turn its head all the way round. How far can it turn its head in either direction?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86458"/>
            <a:ext cx="77724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2B6573"/>
                </a:solidFill>
                <a:latin typeface="Libre Caslon Display"/>
              </a:rPr>
              <a:t>C.  270 degrees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672842"/>
            <a:ext cx="7772400" cy="1280160"/>
          </a:xfrm>
          <a:prstGeom prst="roundRect">
            <a:avLst>
              <a:gd name="adj" fmla="val 6000"/>
            </a:avLst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672842"/>
            <a:ext cx="64008" cy="1280160"/>
          </a:xfrm>
          <a:prstGeom prst="rect">
            <a:avLst/>
          </a:prstGeom>
          <a:solidFill>
            <a:srgbClr val="5B9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910586"/>
            <a:ext cx="7040880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Karla"/>
              </a:rPr>
              <a:t>That is three quarters of the way round. Special bones and blood vessels in its neck mean it can do this without cutting off blood to its brain.</a:t>
            </a:r>
          </a:p>
        </p:txBody>
      </p:sp>
      <p:pic>
        <p:nvPicPr>
          <p:cNvPr id="9" name="Picture 8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19 / 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4709160"/>
            <a:ext cx="457200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Source: Johns Hopkins University, 2013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2B6573"/>
                </a:solidFill>
                <a:latin typeface="Karla"/>
              </a:rPr>
              <a:t>THE FORM TIME QUIZ  ·  ANSWERS  ·  QUESTION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93190"/>
            <a:ext cx="7772400" cy="44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1">
                <a:solidFill>
                  <a:srgbClr val="5C6552"/>
                </a:solidFill>
                <a:latin typeface="Karla"/>
              </a:rPr>
              <a:t>In a 2001 study, fish learned to escape through a net. How many months later did they still know the way out?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20570"/>
            <a:ext cx="77724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2B6573"/>
                </a:solidFill>
                <a:latin typeface="Libre Caslon Display"/>
              </a:rPr>
              <a:t>11 months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806954"/>
            <a:ext cx="7772400" cy="1011936"/>
          </a:xfrm>
          <a:prstGeom prst="roundRect">
            <a:avLst>
              <a:gd name="adj" fmla="val 6000"/>
            </a:avLst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806954"/>
            <a:ext cx="64008" cy="1011936"/>
          </a:xfrm>
          <a:prstGeom prst="rect">
            <a:avLst/>
          </a:prstGeom>
          <a:solidFill>
            <a:srgbClr val="5B9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3044698"/>
            <a:ext cx="7040880" cy="536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Karla"/>
              </a:rPr>
              <a:t>They escaped just as quickly 11 months later. So the idea that fish only remember things for three seconds is wrong.</a:t>
            </a:r>
          </a:p>
        </p:txBody>
      </p:sp>
      <p:pic>
        <p:nvPicPr>
          <p:cNvPr id="9" name="Picture 8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20 / 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4709160"/>
            <a:ext cx="457200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Source: Brown, Animal Cognition, 2001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2B6573"/>
                </a:solidFill>
                <a:latin typeface="Karla"/>
              </a:rPr>
              <a:t>THE FORM TIME QUIZ  ·  ANSWERS  ·  QUESTION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38427"/>
            <a:ext cx="7772400" cy="222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1">
                <a:solidFill>
                  <a:srgbClr val="5C6552"/>
                </a:solidFill>
                <a:latin typeface="Karla"/>
              </a:rPr>
              <a:t>What is the largest planet in our solar system?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43557"/>
            <a:ext cx="77724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2B6573"/>
                </a:solidFill>
                <a:latin typeface="Libre Caslon Display"/>
              </a:rPr>
              <a:t>B.  Jupiter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829941"/>
            <a:ext cx="7772400" cy="743712"/>
          </a:xfrm>
          <a:prstGeom prst="roundRect">
            <a:avLst>
              <a:gd name="adj" fmla="val 6000"/>
            </a:avLst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829941"/>
            <a:ext cx="64008" cy="743712"/>
          </a:xfrm>
          <a:prstGeom prst="rect">
            <a:avLst/>
          </a:prstGeom>
          <a:solidFill>
            <a:srgbClr val="5B9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3067685"/>
            <a:ext cx="7040880" cy="2682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Karla"/>
              </a:rPr>
              <a:t>It is so big that more than a thousand Earths could fit inside it.</a:t>
            </a:r>
          </a:p>
        </p:txBody>
      </p:sp>
      <p:pic>
        <p:nvPicPr>
          <p:cNvPr id="9" name="Picture 8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21 / 27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2B6573"/>
                </a:solidFill>
                <a:latin typeface="Karla"/>
              </a:rPr>
              <a:t>THE FORM TIME QUIZ  ·  ANSWERS  ·  QUESTION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38427"/>
            <a:ext cx="7772400" cy="222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1">
                <a:solidFill>
                  <a:srgbClr val="5C6552"/>
                </a:solidFill>
                <a:latin typeface="Karla"/>
              </a:rPr>
              <a:t>What is the capital city of Egypt?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43557"/>
            <a:ext cx="77724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2B6573"/>
                </a:solidFill>
                <a:latin typeface="Libre Caslon Display"/>
              </a:rPr>
              <a:t>Cairo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829941"/>
            <a:ext cx="7772400" cy="743712"/>
          </a:xfrm>
          <a:prstGeom prst="roundRect">
            <a:avLst>
              <a:gd name="adj" fmla="val 6000"/>
            </a:avLst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829941"/>
            <a:ext cx="64008" cy="743712"/>
          </a:xfrm>
          <a:prstGeom prst="rect">
            <a:avLst/>
          </a:prstGeom>
          <a:solidFill>
            <a:srgbClr val="5B9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3067685"/>
            <a:ext cx="7040880" cy="2682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Karla"/>
              </a:rPr>
              <a:t>Cairo sits on the River Nile, close to the pyramids at Giza.</a:t>
            </a:r>
          </a:p>
        </p:txBody>
      </p:sp>
      <p:pic>
        <p:nvPicPr>
          <p:cNvPr id="9" name="Picture 8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22 / 27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2B6573"/>
                </a:solidFill>
                <a:latin typeface="Karla"/>
              </a:rPr>
              <a:t>THE FORM TIME QUIZ  ·  ANSWERS  ·  QUESTION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4315"/>
            <a:ext cx="7772400" cy="222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1">
                <a:solidFill>
                  <a:srgbClr val="5C6552"/>
                </a:solidFill>
                <a:latin typeface="Karla"/>
              </a:rPr>
              <a:t>How many legs does a spider have?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09445"/>
            <a:ext cx="77724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2B6573"/>
                </a:solidFill>
                <a:latin typeface="Libre Caslon Display"/>
              </a:rPr>
              <a:t>B.  Eight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695829"/>
            <a:ext cx="7772400" cy="1011936"/>
          </a:xfrm>
          <a:prstGeom prst="roundRect">
            <a:avLst>
              <a:gd name="adj" fmla="val 6000"/>
            </a:avLst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695829"/>
            <a:ext cx="64008" cy="1011936"/>
          </a:xfrm>
          <a:prstGeom prst="rect">
            <a:avLst/>
          </a:prstGeom>
          <a:solidFill>
            <a:srgbClr val="5B9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933573"/>
            <a:ext cx="7040880" cy="536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Karla"/>
              </a:rPr>
              <a:t>Insects have six legs. Spiders have eight, which is why a spider is not an insect.</a:t>
            </a:r>
          </a:p>
        </p:txBody>
      </p:sp>
      <p:pic>
        <p:nvPicPr>
          <p:cNvPr id="9" name="Picture 8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23 / 27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2B6573"/>
                </a:solidFill>
                <a:latin typeface="Karla"/>
              </a:rPr>
              <a:t>THE FORM TIME QUIZ  ·  ANSWERS  ·  QUESTION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4315"/>
            <a:ext cx="7772400" cy="222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1">
                <a:solidFill>
                  <a:srgbClr val="5C6552"/>
                </a:solidFill>
                <a:latin typeface="Karla"/>
              </a:rPr>
              <a:t>Which continent has no countries?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09445"/>
            <a:ext cx="77724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2B6573"/>
                </a:solidFill>
                <a:latin typeface="Libre Caslon Display"/>
              </a:rPr>
              <a:t>Antarctica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695829"/>
            <a:ext cx="7772400" cy="1011936"/>
          </a:xfrm>
          <a:prstGeom prst="roundRect">
            <a:avLst>
              <a:gd name="adj" fmla="val 6000"/>
            </a:avLst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695829"/>
            <a:ext cx="64008" cy="1011936"/>
          </a:xfrm>
          <a:prstGeom prst="rect">
            <a:avLst/>
          </a:prstGeom>
          <a:solidFill>
            <a:srgbClr val="5B9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933573"/>
            <a:ext cx="7040880" cy="536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Karla"/>
              </a:rPr>
              <a:t>It is looked after under a treaty signed in 1959. Nobody lives there for good, only scientists who come and go.</a:t>
            </a:r>
          </a:p>
        </p:txBody>
      </p:sp>
      <p:pic>
        <p:nvPicPr>
          <p:cNvPr id="9" name="Picture 8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24 / 27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2B6573"/>
                </a:solidFill>
                <a:latin typeface="Karla"/>
              </a:rPr>
              <a:t>THE FORM TIME QUIZ  ·  VOLUME TWO</a:t>
            </a:r>
          </a:p>
        </p:txBody>
      </p:sp>
      <p:pic>
        <p:nvPicPr>
          <p:cNvPr id="4" name="Picture 3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5251" y="822960"/>
            <a:ext cx="633496" cy="731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1755648"/>
            <a:ext cx="8046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200" b="1" i="0">
                <a:solidFill>
                  <a:srgbClr val="2B6573"/>
                </a:solidFill>
                <a:latin typeface="Libre Caslon Display"/>
              </a:rPr>
              <a:t>Scores back to their owners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560320"/>
            <a:ext cx="6766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5C6552"/>
                </a:solidFill>
                <a:latin typeface="Karla"/>
              </a:rPr>
              <a:t>Hands up if you got ten. Then hands up if one of the answers surprised you, and tell us which.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39312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1">
                <a:solidFill>
                  <a:srgbClr val="8B9179"/>
                </a:solidFill>
                <a:latin typeface="Karla"/>
              </a:rPr>
              <a:t>Volume Three is coming soon to thepastoralguide.com.</a:t>
            </a:r>
          </a:p>
        </p:txBody>
      </p:sp>
      <p:pic>
        <p:nvPicPr>
          <p:cNvPr id="8" name="Picture 7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25 / 27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329184"/>
            <a:ext cx="3129423" cy="237744"/>
          </a:xfrm>
          <a:prstGeom prst="roundRect">
            <a:avLst>
              <a:gd name="adj" fmla="val 50000"/>
            </a:avLst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spc="90">
                <a:solidFill>
                  <a:srgbClr val="2B6573"/>
                </a:solidFill>
                <a:latin typeface="Karla"/>
              </a:rPr>
              <a:t>FOR THE TEACHER  ·  ADD YOUR OWN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841248"/>
            <a:ext cx="7772400" cy="1188720"/>
          </a:xfrm>
          <a:prstGeom prst="roundRect">
            <a:avLst>
              <a:gd name="adj" fmla="val 6000"/>
            </a:avLst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841248"/>
            <a:ext cx="7772400" cy="54864"/>
          </a:xfrm>
          <a:prstGeom prst="rect">
            <a:avLst/>
          </a:prstGeom>
          <a:solidFill>
            <a:srgbClr val="5B9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50976" y="1133856"/>
            <a:ext cx="603504" cy="603504"/>
          </a:xfrm>
          <a:prstGeom prst="ellipse">
            <a:avLst/>
          </a:prstGeom>
          <a:solidFill>
            <a:srgbClr val="2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261872"/>
            <a:ext cx="60350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000" b="1" i="0">
                <a:solidFill>
                  <a:srgbClr val="FFFDF7"/>
                </a:solidFill>
                <a:latin typeface="Karla"/>
              </a:rPr>
              <a:t>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246632"/>
            <a:ext cx="6309360" cy="3779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1" i="0">
                <a:solidFill>
                  <a:srgbClr val="2B6573"/>
                </a:solidFill>
                <a:latin typeface="Libre Caslon Display"/>
              </a:rPr>
              <a:t>[ Type your own question here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32304"/>
            <a:ext cx="7772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5C6552"/>
                </a:solidFill>
                <a:latin typeface="Karla"/>
              </a:rPr>
              <a:t>Add your own questions here: something from assembly, a date coming up, or a question about your own school.</a:t>
            </a:r>
          </a:p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0" i="0">
                <a:solidFill>
                  <a:srgbClr val="5C6552"/>
                </a:solidFill>
                <a:latin typeface="Karla"/>
              </a:rPr>
              <a:t>Duplicate this slide for each one and drag it in after question 10. There are two spare rows on the answer sheet for them.</a:t>
            </a:r>
          </a:p>
        </p:txBody>
      </p:sp>
      <p:pic>
        <p:nvPicPr>
          <p:cNvPr id="10" name="Picture 9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26 / 27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329184"/>
            <a:ext cx="3129423" cy="237744"/>
          </a:xfrm>
          <a:prstGeom prst="roundRect">
            <a:avLst>
              <a:gd name="adj" fmla="val 50000"/>
            </a:avLst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spc="90">
                <a:solidFill>
                  <a:srgbClr val="2B6573"/>
                </a:solidFill>
                <a:latin typeface="Karla"/>
              </a:rPr>
              <a:t>FOR THE TEACHER  ·  ADD YOUR 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31520"/>
            <a:ext cx="7772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1">
                <a:solidFill>
                  <a:srgbClr val="5C6552"/>
                </a:solidFill>
                <a:latin typeface="Karla"/>
              </a:rPr>
              <a:t>[ Your question again, so the room remembers it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25296"/>
            <a:ext cx="77724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2B6573"/>
                </a:solidFill>
                <a:latin typeface="Libre Caslon Display"/>
              </a:rPr>
              <a:t>[ The answer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11680"/>
            <a:ext cx="7772400" cy="932688"/>
          </a:xfrm>
          <a:prstGeom prst="roundRect">
            <a:avLst>
              <a:gd name="adj" fmla="val 6000"/>
            </a:avLst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011680"/>
            <a:ext cx="64008" cy="932688"/>
          </a:xfrm>
          <a:prstGeom prst="rect">
            <a:avLst/>
          </a:prstGeom>
          <a:solidFill>
            <a:srgbClr val="5B9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249424"/>
            <a:ext cx="7040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Karla"/>
              </a:rPr>
              <a:t>[ One line on why, if there is something worth knowing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218688"/>
            <a:ext cx="7772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5C6552"/>
                </a:solidFill>
                <a:latin typeface="Karla"/>
              </a:rPr>
              <a:t>Duplicate this slide for each of your own questions and drag it in after the answer to question 10.</a:t>
            </a:r>
          </a:p>
        </p:txBody>
      </p:sp>
      <p:pic>
        <p:nvPicPr>
          <p:cNvPr id="10" name="Picture 9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27 / 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Form Time Quiz: Volume Two, Year 7 to 9: the slides</dc:title>
  <dc:subject>A free form time quiz from The Pastoral Guide (thepastoralguide.com)</dc:subject>
  <dc:creator>The Pastoral Guide</dc:creator>
  <cp:keywords>form time quiz, tutor time quiz, animal myths, Year 7 to 9</cp:keywords>
  <dc:description/>
  <cp:lastModifiedBy>The Pastoral Guide</cp:lastModifiedBy>
  <cp:revision>1</cp:revision>
  <dcterms:created xsi:type="dcterms:W3CDTF">2026-10-05T09:00:00Z</dcterms:created>
  <dcterms:modified xsi:type="dcterms:W3CDTF">2026-10-05T09:00:00Z</dcterms:modified>
  <cp:category/>
</cp:coreProperties>
</file>