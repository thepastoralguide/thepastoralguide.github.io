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0" i="0">
                <a:solidFill>
                  <a:srgbClr val="9A4030"/>
                </a:solidFill>
                <a:latin typeface="Georgia"/>
              </a:rPr>
              <a:t>The Apology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79776"/>
            <a:ext cx="1005840" cy="18288"/>
          </a:xfrm>
          <a:prstGeom prst="rect">
            <a:avLst/>
          </a:prstGeom>
          <a:solidFill>
            <a:srgbClr val="CD8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8094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7A6862"/>
                </a:solidFill>
                <a:latin typeface="Calibri"/>
              </a:rPr>
              <a:t>Everyone says it. Almost nobody is taught how.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11296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AD9C96"/>
                </a:solidFill>
                <a:latin typeface="Calibri"/>
              </a:rPr>
              <a:t>One lesson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Calibri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0" i="0">
                <a:solidFill>
                  <a:srgbClr val="463A36"/>
                </a:solidFill>
                <a:latin typeface="Georgia"/>
              </a:rPr>
              <a:t>Five things, in this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3388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9A4030"/>
                </a:solidFill>
                <a:latin typeface="Georgia"/>
              </a:rPr>
              <a:t>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Calibri"/>
              </a:rPr>
              <a:t>Which of these are real apologies?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0513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48102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0513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953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9A4030"/>
                </a:solidFill>
                <a:latin typeface="Georgia"/>
              </a:rPr>
              <a:t>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8529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Calibri"/>
              </a:rPr>
              <a:t>The four parts of one that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75227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75227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6667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9A4030"/>
                </a:solidFill>
                <a:latin typeface="Georgia"/>
              </a:rPr>
              <a:t>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Calibri"/>
              </a:rPr>
              <a:t>Rewrite a bad one, in pairs.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69940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37529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9940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FFFDF7"/>
                </a:solidFill>
                <a:latin typeface="Georg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1380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9A4030"/>
                </a:solidFill>
                <a:latin typeface="Georgia"/>
              </a:rPr>
              <a:t>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7956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Calibri"/>
              </a:rPr>
              <a:t>Check somebody else’s against the four.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4654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32243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4654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FFFDF7"/>
                </a:solidFill>
                <a:latin typeface="Georg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094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9A4030"/>
                </a:solidFill>
                <a:latin typeface="Georgia"/>
              </a:rPr>
              <a:t>Write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2670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Calibri"/>
              </a:rPr>
              <a:t>One you actually owe. Nobody reads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Calibri"/>
              </a:rPr>
              <a:t>Nothing you write today gets read out or handed in.</a:t>
            </a:r>
          </a:p>
        </p:txBody>
      </p:sp>
      <p:pic>
        <p:nvPicPr>
          <p:cNvPr id="31" name="Picture 3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Calibri"/>
              </a:rPr>
              <a:t>FIRST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DF7"/>
                </a:solidFill>
                <a:latin typeface="Georgia"/>
              </a:rPr>
              <a:t>Sort them into two piles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Calibri"/>
              </a:rPr>
              <a:t>Eight cards on your table. Real apology, or not?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Calibri"/>
              </a:rPr>
              <a:t>Two piles. You will not agree on all eight.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Calibri"/>
              </a:rPr>
              <a:t>Be ready to say why.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Calibri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Calibri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 i="0">
                <a:solidFill>
                  <a:srgbClr val="463A36"/>
                </a:solidFill>
                <a:latin typeface="Georgia"/>
              </a:rPr>
              <a:t>Only three were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02536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8424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96596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Georgia"/>
              </a:rPr>
              <a:t>“I shouldn’t have said it in front of everyone. That was embarrassing for you.”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1518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34056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157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FFFDF7"/>
                </a:solidFill>
                <a:latin typeface="Georgia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6974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Georgia"/>
              </a:rPr>
              <a:t>“I was wrong, and I am not going to do it again.”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34670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465575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4728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FFFDF7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42900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Georgia"/>
              </a:rPr>
              <a:t>“I know saying sorry doesn’t undo it. I’ll walk in with you tomorrow.”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A6862"/>
                </a:solidFill>
                <a:latin typeface="Calibri"/>
              </a:rPr>
              <a:t>The other five are all doing one of three things instead.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Calibri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 i="0">
                <a:solidFill>
                  <a:srgbClr val="463A36"/>
                </a:solidFill>
                <a:latin typeface="Georgia"/>
              </a:rPr>
              <a:t>The three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66672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976" y="1975103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0" i="0">
                <a:solidFill>
                  <a:srgbClr val="9A4030"/>
                </a:solidFill>
                <a:latin typeface="Georgia"/>
              </a:rPr>
              <a:t>“I’m sorry you took it that way.”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Calibri"/>
              </a:rPr>
              <a:t>Blames the person who was hurt.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Calibri"/>
              </a:rPr>
              <a:t>The sentence is about their reaction, not your 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1944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42816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975103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08248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0" i="0">
                <a:solidFill>
                  <a:srgbClr val="9A4030"/>
                </a:solidFill>
                <a:latin typeface="Georgia"/>
              </a:rPr>
              <a:t>“Mistakes were made.”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8248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Calibri"/>
              </a:rPr>
              <a:t>Leaves out who did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6536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Calibri"/>
              </a:rPr>
              <a:t>If you cannot say who did it, you have not admitted anything.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8088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18960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5264" y="1975103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4392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0" i="0">
                <a:solidFill>
                  <a:srgbClr val="9A4030"/>
                </a:solidFill>
                <a:latin typeface="Georgia"/>
              </a:rPr>
              <a:t>“Sorry, but you started it.”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4392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Calibri"/>
              </a:rPr>
              <a:t>Cancels itself 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2680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Calibri"/>
              </a:rPr>
              <a:t>Everything after but is what you actually meant.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Calibri"/>
              </a:rPr>
              <a:t>SO WHAT DOES A REAL ONE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 i="0">
                <a:solidFill>
                  <a:srgbClr val="463A36"/>
                </a:solidFill>
                <a:latin typeface="Georgia"/>
              </a:rPr>
              <a:t>Four parts, in this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20724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0" i="0">
                <a:solidFill>
                  <a:srgbClr val="9A4030"/>
                </a:solidFill>
                <a:latin typeface="Georgia"/>
              </a:rPr>
              <a:t>Name what you did.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Calibri"/>
              </a:rPr>
              <a:t>Not what happened: what you did.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88336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23260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8336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0" i="0">
                <a:solidFill>
                  <a:srgbClr val="9A4030"/>
                </a:solidFill>
                <a:latin typeface="Georgia"/>
              </a:rPr>
              <a:t>Say why it landed.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Calibri"/>
              </a:rPr>
              <a:t>Show you understand the effect on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25796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0" i="0">
                <a:solidFill>
                  <a:srgbClr val="9A4030"/>
                </a:solidFill>
                <a:latin typeface="Georgia"/>
              </a:rPr>
              <a:t>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Calibri"/>
              </a:rPr>
              <a:t>No “but”, no explaining, no asking to be let off.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93408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8332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0" i="0">
                <a:solidFill>
                  <a:srgbClr val="FFFDF7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0" i="0">
                <a:solidFill>
                  <a:srgbClr val="9A4030"/>
                </a:solidFill>
                <a:latin typeface="Georgia"/>
              </a:rPr>
              <a:t>Say what changes.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Calibri"/>
              </a:rPr>
              <a:t>One specific thing you will do differently.</a:t>
            </a:r>
          </a:p>
        </p:txBody>
      </p:sp>
      <p:pic>
        <p:nvPicPr>
          <p:cNvPr id="27" name="Picture 2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Calibri"/>
              </a:rPr>
              <a:t>WATCH ONE GET 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 i="0">
                <a:solidFill>
                  <a:srgbClr val="463A36"/>
                </a:solidFill>
                <a:latin typeface="Georgia"/>
              </a:rPr>
              <a:t>Before and after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385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20">
                <a:solidFill>
                  <a:srgbClr val="CD8878"/>
                </a:solidFill>
                <a:latin typeface="Calibri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26771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00" b="0" i="1">
                <a:solidFill>
                  <a:srgbClr val="7A6862"/>
                </a:solidFill>
                <a:latin typeface="Calibri"/>
              </a:rPr>
              <a:t>“Sorry if you got upset about the group chat thing, but you know what you’re like.”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55648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19385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20">
                <a:solidFill>
                  <a:srgbClr val="9A4030"/>
                </a:solidFill>
                <a:latin typeface="Calibri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2267712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50" b="0" i="0">
                <a:solidFill>
                  <a:srgbClr val="463A36"/>
                </a:solidFill>
                <a:latin typeface="Calibri"/>
              </a:rPr>
              <a:t>“I left you out of the group chat and then laughed when you asked about it. That was humiliating. I am not doing it again, and I will say so to the others.”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Calibri"/>
              </a:rPr>
              <a:t>Point at each of the four parts on the right, in order.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Calibri"/>
              </a:rPr>
              <a:t>ALL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 i="0">
                <a:solidFill>
                  <a:srgbClr val="463A36"/>
                </a:solidFill>
                <a:latin typeface="Georgia"/>
              </a:rPr>
              <a:t>Now fix this one out loud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73152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65376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Calibri"/>
              </a:rPr>
              <a:t>You promised to cover your friend’s shift, then did not turn up. They got in trouble for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7772400" cy="85953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0" i="0">
                <a:solidFill>
                  <a:srgbClr val="9A4030"/>
                </a:solidFill>
                <a:latin typeface="Georgia"/>
              </a:rPr>
              <a:t>“Sorry about the shift thing, I completely forgot, I’ve had so much on. But you know I’d normally do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30752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7A6862"/>
                </a:solidFill>
                <a:latin typeface="Calibri"/>
              </a:rPr>
              <a:t>Which parts are missing? Rebuild it one part at a time and write the finished version on the board.</a:t>
            </a:r>
          </a:p>
        </p:txBody>
      </p:sp>
      <p:pic>
        <p:nvPicPr>
          <p:cNvPr id="12" name="Picture 1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Calibri"/>
              </a:rPr>
              <a:t>MAIN 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DF7"/>
                </a:solidFill>
                <a:latin typeface="Georgia"/>
              </a:rPr>
              <a:t>Fix a real one, in pairs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Calibri"/>
              </a:rPr>
              <a:t>Take one scenario card between two.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Calibri"/>
              </a:rPr>
              <a:t>Rewrite the apology on the sheet. All four parts, in order.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Calibri"/>
              </a:rPr>
              <a:t>No names on it. Another pair is going to mark it.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Calibri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Calibri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 i="0">
                <a:solidFill>
                  <a:srgbClr val="463A36"/>
                </a:solidFill>
                <a:latin typeface="Georgia"/>
              </a:rPr>
              <a:t>Mark somebody else’s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A6862"/>
                </a:solidFill>
                <a:latin typeface="Calibri"/>
              </a:rPr>
              <a:t>Pass your sheet two tables along. Mark it against the four parts.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56816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9888" y="2039112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2116836"/>
            <a:ext cx="173736" cy="173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01952" y="2002536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Calibri"/>
              </a:rPr>
              <a:t>Does it say what they did, in their own words?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560320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89888" y="2642616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2720340"/>
            <a:ext cx="173736" cy="173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1952" y="2606040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Calibri"/>
              </a:rPr>
              <a:t>Does it show they understand why it mattered?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163824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89888" y="3246120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3323844"/>
            <a:ext cx="173736" cy="1737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1952" y="3209544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Calibri"/>
              </a:rPr>
              <a:t>Is there a but anywhere? Circle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767328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89888" y="3849624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3927348"/>
            <a:ext cx="173736" cy="173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01952" y="3813048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Calibri"/>
              </a:rPr>
              <a:t>Is there one specific thing they will do differently?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Calibri"/>
              </a:rPr>
              <a:t>Then one sentence at the bottom: which part is weakest, and why.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Calibri"/>
              </a:rPr>
              <a:t>THE HARDER 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 i="0">
                <a:solidFill>
                  <a:srgbClr val="463A36"/>
                </a:solidFill>
                <a:latin typeface="Georgia"/>
              </a:rPr>
              <a:t>Three hard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4" y="1993391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01168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975104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Calibri"/>
              </a:rPr>
              <a:t>Does an apology have to be accepted?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984" y="2779776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798064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76148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Calibri"/>
              </a:rPr>
              <a:t>Can you apologise for something you still think you were right about?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56432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566160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3584448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547872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Calibri"/>
              </a:rPr>
              <a:t>Is there a point where it is too late to say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1596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A6862"/>
                </a:solidFill>
                <a:latin typeface="Calibri"/>
              </a:rPr>
              <a:t>Talk to the person next to you, then take a few answers.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Calibri"/>
              </a:rPr>
              <a:t>TWO THINGS WORTH KNOWING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0" i="0">
                <a:solidFill>
                  <a:srgbClr val="463A36"/>
                </a:solidFill>
                <a:latin typeface="Georgia"/>
              </a:rPr>
              <a:t>An apology is not a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73936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993392"/>
            <a:ext cx="31638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9A4030"/>
                </a:solidFill>
                <a:latin typeface="Georgia"/>
              </a:rPr>
              <a:t>It does not come with forgiveness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79776"/>
            <a:ext cx="31638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00" b="0" i="0">
                <a:solidFill>
                  <a:srgbClr val="7A6862"/>
                </a:solidFill>
                <a:latin typeface="Calibri"/>
              </a:rPr>
              <a:t>You are not owed anything back. Apologising so somebody will say it is fine is a favour you are asking for, not an apology you are giving.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73936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993392"/>
            <a:ext cx="31638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 i="0">
                <a:solidFill>
                  <a:srgbClr val="9A4030"/>
                </a:solidFill>
                <a:latin typeface="Georgia"/>
              </a:rPr>
              <a:t>You do not have to send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779776"/>
            <a:ext cx="31638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00" b="0" i="0">
                <a:solidFill>
                  <a:srgbClr val="7A6862"/>
                </a:solidFill>
                <a:latin typeface="Calibri"/>
              </a:rPr>
              <a:t>Some of the things people most need to say are to somebody who is not around any more. Writing it still does something.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Calibri"/>
              </a:rPr>
              <a:t>BEFORE YOU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FFFDF7"/>
                </a:solidFill>
                <a:latin typeface="Georgia"/>
              </a:rPr>
              <a:t>One you actually owe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Calibri"/>
              </a:rPr>
              <a:t>Take a slip. Small is fine. It does not have to be recent.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Calibri"/>
              </a:rPr>
              <a:t>Nobody reads it. Nobody collects it. Fold it and keep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FFDF7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Calibri"/>
              </a:rPr>
              <a:t>You do not have to send it.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Calibri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32688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56816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9A4030"/>
                </a:solidFill>
                <a:latin typeface="Georgia"/>
              </a:rPr>
              <a:t>Sorry is the easy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8950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A6862"/>
                </a:solidFill>
                <a:latin typeface="Calibri"/>
              </a:rPr>
              <a:t>Saying what you did, and what you will do instead, is the bit that costs something. That is the bit people remember.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D9C96"/>
                </a:solidFill>
                <a:latin typeface="Calibri"/>
              </a:rPr>
              <a:t>The Apology  ·  A tutor time lesson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Apology: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