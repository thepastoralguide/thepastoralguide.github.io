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MORNING REGISTRATION ACTIVITIES</a:t>
            </a:r>
          </a:p>
        </p:txBody>
      </p:sp>
      <p:sp>
        <p:nvSpPr>
          <p:cNvPr id="4" name="TextBox 3"/>
          <p:cNvSpPr txBox="1"/>
          <p:nvPr/>
        </p:nvSpPr>
        <p:spPr>
          <a:xfrm>
            <a:off x="685800" y="621792"/>
            <a:ext cx="7772400" cy="548640"/>
          </a:xfrm>
          <a:prstGeom prst="rect">
            <a:avLst/>
          </a:prstGeom>
          <a:noFill/>
        </p:spPr>
        <p:txBody>
          <a:bodyPr wrap="square" anchor="t" lIns="0" rIns="0" tIns="0" bIns="0">
            <a:spAutoFit/>
          </a:bodyPr>
          <a:lstStyle/>
          <a:p>
            <a:pPr algn="ctr">
              <a:lnSpc>
                <a:spcPct val="105000"/>
              </a:lnSpc>
              <a:spcAft>
                <a:spcPts val="0"/>
              </a:spcAft>
            </a:pPr>
            <a:r>
              <a:rPr sz="3000" b="1" i="0">
                <a:solidFill>
                  <a:srgbClr val="974F16"/>
                </a:solidFill>
                <a:latin typeface="Libre Caslon Display"/>
              </a:rPr>
              <a:t>The Form Time Quiz</a:t>
            </a:r>
          </a:p>
        </p:txBody>
      </p:sp>
      <p:sp>
        <p:nvSpPr>
          <p:cNvPr id="5" name="Rounded Rectangle 4"/>
          <p:cNvSpPr/>
          <p:nvPr/>
        </p:nvSpPr>
        <p:spPr>
          <a:xfrm>
            <a:off x="3186741" y="1243584"/>
            <a:ext cx="2770516" cy="237744"/>
          </a:xfrm>
          <a:prstGeom prst="roundRect">
            <a:avLst>
              <a:gd name="adj" fmla="val 50000"/>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  ·  YEAR 10 AND 11</a:t>
            </a:r>
          </a:p>
        </p:txBody>
      </p:sp>
      <p:sp>
        <p:nvSpPr>
          <p:cNvPr id="6" name="TextBox 5"/>
          <p:cNvSpPr txBox="1"/>
          <p:nvPr/>
        </p:nvSpPr>
        <p:spPr>
          <a:xfrm>
            <a:off x="914400" y="1572768"/>
            <a:ext cx="7315200" cy="310896"/>
          </a:xfrm>
          <a:prstGeom prst="rect">
            <a:avLst/>
          </a:prstGeom>
          <a:noFill/>
        </p:spPr>
        <p:txBody>
          <a:bodyPr wrap="square" anchor="t" lIns="0" rIns="0" tIns="0" bIns="0">
            <a:spAutoFit/>
          </a:bodyPr>
          <a:lstStyle/>
          <a:p>
            <a:pPr algn="ctr">
              <a:lnSpc>
                <a:spcPct val="125000"/>
              </a:lnSpc>
              <a:spcAft>
                <a:spcPts val="0"/>
              </a:spcAft>
            </a:pPr>
            <a:r>
              <a:rPr sz="1300" b="0" i="0">
                <a:solidFill>
                  <a:srgbClr val="5C6552"/>
                </a:solidFill>
                <a:latin typeface="Karla"/>
              </a:rPr>
              <a:t>Ten questions: six on how revision works, then four of general knowledge.</a:t>
            </a:r>
          </a:p>
        </p:txBody>
      </p:sp>
      <p:sp>
        <p:nvSpPr>
          <p:cNvPr id="7" name="Rectangle 6"/>
          <p:cNvSpPr/>
          <p:nvPr/>
        </p:nvSpPr>
        <p:spPr>
          <a:xfrm>
            <a:off x="685800"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554480"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wopeople.png"/>
          <p:cNvPicPr>
            <a:picLocks noChangeAspect="1"/>
          </p:cNvPicPr>
          <p:nvPr/>
        </p:nvPicPr>
        <p:blipFill>
          <a:blip r:embed="rId2"/>
          <a:stretch>
            <a:fillRect/>
          </a:stretch>
        </p:blipFill>
        <p:spPr>
          <a:xfrm>
            <a:off x="1691640" y="2221992"/>
            <a:ext cx="384048" cy="384048"/>
          </a:xfrm>
          <a:prstGeom prst="rect">
            <a:avLst/>
          </a:prstGeom>
        </p:spPr>
      </p:pic>
      <p:sp>
        <p:nvSpPr>
          <p:cNvPr id="10" name="TextBox 9"/>
          <p:cNvSpPr txBox="1"/>
          <p:nvPr/>
        </p:nvSpPr>
        <p:spPr>
          <a:xfrm>
            <a:off x="813816"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Get into teams</a:t>
            </a:r>
          </a:p>
        </p:txBody>
      </p:sp>
      <p:sp>
        <p:nvSpPr>
          <p:cNvPr id="11" name="TextBox 10"/>
          <p:cNvSpPr txBox="1"/>
          <p:nvPr/>
        </p:nvSpPr>
        <p:spPr>
          <a:xfrm>
            <a:off x="850392"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Three or four to a team, with one answer sheet between you.</a:t>
            </a:r>
          </a:p>
        </p:txBody>
      </p:sp>
      <p:sp>
        <p:nvSpPr>
          <p:cNvPr id="12" name="Rectangle 11"/>
          <p:cNvSpPr/>
          <p:nvPr/>
        </p:nvSpPr>
        <p:spPr>
          <a:xfrm>
            <a:off x="3374136"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42816"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png"/>
          <p:cNvPicPr>
            <a:picLocks noChangeAspect="1"/>
          </p:cNvPicPr>
          <p:nvPr/>
        </p:nvPicPr>
        <p:blipFill>
          <a:blip r:embed="rId3"/>
          <a:stretch>
            <a:fillRect/>
          </a:stretch>
        </p:blipFill>
        <p:spPr>
          <a:xfrm>
            <a:off x="4379976" y="2221992"/>
            <a:ext cx="384048" cy="384048"/>
          </a:xfrm>
          <a:prstGeom prst="rect">
            <a:avLst/>
          </a:prstGeom>
        </p:spPr>
      </p:pic>
      <p:sp>
        <p:nvSpPr>
          <p:cNvPr id="15" name="TextBox 14"/>
          <p:cNvSpPr txBox="1"/>
          <p:nvPr/>
        </p:nvSpPr>
        <p:spPr>
          <a:xfrm>
            <a:off x="3502152"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Answer together</a:t>
            </a:r>
          </a:p>
        </p:txBody>
      </p:sp>
      <p:sp>
        <p:nvSpPr>
          <p:cNvPr id="16" name="TextBox 15"/>
          <p:cNvSpPr txBox="1"/>
          <p:nvPr/>
        </p:nvSpPr>
        <p:spPr>
          <a:xfrm>
            <a:off x="3538728"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Each question goes up on the board. Agree an answer, then write it down.</a:t>
            </a:r>
          </a:p>
        </p:txBody>
      </p:sp>
      <p:sp>
        <p:nvSpPr>
          <p:cNvPr id="17" name="Rectangle 16"/>
          <p:cNvSpPr/>
          <p:nvPr/>
        </p:nvSpPr>
        <p:spPr>
          <a:xfrm>
            <a:off x="6062472" y="1938528"/>
            <a:ext cx="2395728" cy="201168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31151" y="2084832"/>
            <a:ext cx="658368" cy="658368"/>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wap.png"/>
          <p:cNvPicPr>
            <a:picLocks noChangeAspect="1"/>
          </p:cNvPicPr>
          <p:nvPr/>
        </p:nvPicPr>
        <p:blipFill>
          <a:blip r:embed="rId4"/>
          <a:stretch>
            <a:fillRect/>
          </a:stretch>
        </p:blipFill>
        <p:spPr>
          <a:xfrm>
            <a:off x="7068312" y="2221992"/>
            <a:ext cx="384048" cy="384048"/>
          </a:xfrm>
          <a:prstGeom prst="rect">
            <a:avLst/>
          </a:prstGeom>
        </p:spPr>
      </p:pic>
      <p:sp>
        <p:nvSpPr>
          <p:cNvPr id="20" name="TextBox 19"/>
          <p:cNvSpPr txBox="1"/>
          <p:nvPr/>
        </p:nvSpPr>
        <p:spPr>
          <a:xfrm>
            <a:off x="6190488" y="2852928"/>
            <a:ext cx="2139696" cy="475488"/>
          </a:xfrm>
          <a:prstGeom prst="rect">
            <a:avLst/>
          </a:prstGeom>
          <a:noFill/>
        </p:spPr>
        <p:txBody>
          <a:bodyPr wrap="square" anchor="t" lIns="0" rIns="0" tIns="0" bIns="0">
            <a:spAutoFit/>
          </a:bodyPr>
          <a:lstStyle/>
          <a:p>
            <a:pPr algn="ctr">
              <a:lnSpc>
                <a:spcPct val="125000"/>
              </a:lnSpc>
              <a:spcAft>
                <a:spcPts val="0"/>
              </a:spcAft>
            </a:pPr>
            <a:r>
              <a:rPr sz="1350" b="1" i="0">
                <a:solidFill>
                  <a:srgbClr val="974F16"/>
                </a:solidFill>
                <a:latin typeface="Libre Caslon Display"/>
              </a:rPr>
              <a:t>Swap and mark</a:t>
            </a:r>
          </a:p>
        </p:txBody>
      </p:sp>
      <p:sp>
        <p:nvSpPr>
          <p:cNvPr id="21" name="TextBox 20"/>
          <p:cNvSpPr txBox="1"/>
          <p:nvPr/>
        </p:nvSpPr>
        <p:spPr>
          <a:xfrm>
            <a:off x="6227064" y="3346704"/>
            <a:ext cx="2066544" cy="493776"/>
          </a:xfrm>
          <a:prstGeom prst="rect">
            <a:avLst/>
          </a:prstGeom>
          <a:noFill/>
        </p:spPr>
        <p:txBody>
          <a:bodyPr wrap="square" anchor="t" lIns="0" rIns="0" tIns="0" bIns="0">
            <a:spAutoFit/>
          </a:bodyPr>
          <a:lstStyle/>
          <a:p>
            <a:pPr algn="ctr">
              <a:lnSpc>
                <a:spcPct val="125000"/>
              </a:lnSpc>
              <a:spcAft>
                <a:spcPts val="0"/>
              </a:spcAft>
            </a:pPr>
            <a:r>
              <a:rPr sz="1050" b="0" i="0">
                <a:solidFill>
                  <a:srgbClr val="5C6552"/>
                </a:solidFill>
                <a:latin typeface="Karla"/>
              </a:rPr>
              <a:t>Swap sheets with the team next to you, then the answers go up one at a time.</a:t>
            </a:r>
          </a:p>
        </p:txBody>
      </p:sp>
      <p:sp>
        <p:nvSpPr>
          <p:cNvPr id="22" name="TextBox 21"/>
          <p:cNvSpPr txBox="1"/>
          <p:nvPr/>
        </p:nvSpPr>
        <p:spPr>
          <a:xfrm>
            <a:off x="685800" y="4078224"/>
            <a:ext cx="7772400" cy="310896"/>
          </a:xfrm>
          <a:prstGeom prst="rect">
            <a:avLst/>
          </a:prstGeom>
          <a:noFill/>
        </p:spPr>
        <p:txBody>
          <a:bodyPr wrap="square" anchor="t" lIns="0" rIns="0" tIns="0" bIns="0">
            <a:spAutoFit/>
          </a:bodyPr>
          <a:lstStyle/>
          <a:p>
            <a:pPr algn="ctr">
              <a:lnSpc>
                <a:spcPct val="125000"/>
              </a:lnSpc>
              <a:spcAft>
                <a:spcPts val="0"/>
              </a:spcAft>
            </a:pPr>
            <a:r>
              <a:rPr sz="1050" b="0" i="0">
                <a:solidFill>
                  <a:srgbClr val="8B9179"/>
                </a:solidFill>
                <a:latin typeface="Karla"/>
              </a:rPr>
              <a:t>Needs: one answer sheet per team, from the resource pack.</a:t>
            </a:r>
          </a:p>
        </p:txBody>
      </p:sp>
      <p:pic>
        <p:nvPicPr>
          <p:cNvPr id="23" name="Picture 22" descr="logo-mark.png"/>
          <p:cNvPicPr>
            <a:picLocks noChangeAspect="1"/>
          </p:cNvPicPr>
          <p:nvPr/>
        </p:nvPicPr>
        <p:blipFill>
          <a:blip r:embed="rId5"/>
          <a:stretch>
            <a:fillRect/>
          </a:stretch>
        </p:blipFill>
        <p:spPr>
          <a:xfrm>
            <a:off x="384048" y="4727448"/>
            <a:ext cx="158374" cy="182880"/>
          </a:xfrm>
          <a:prstGeom prst="rect">
            <a:avLst/>
          </a:prstGeom>
        </p:spPr>
      </p:pic>
      <p:sp>
        <p:nvSpPr>
          <p:cNvPr id="24" name="TextBox 23"/>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5" name="TextBox 24"/>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68281" y="914400"/>
            <a:ext cx="1207436"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ONE</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How revision works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Six questions. Some are fact or myth, and some give you three options to choose from.</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1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Reading your notes again and again is one of the best ways to revise.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2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2</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Testing yourself helps you remember more than rereading does.</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3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3</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Spreading revision over several days works better than doing the same number of hours in one go.</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4 OF 10</a:t>
            </a:r>
          </a:p>
        </p:txBody>
      </p:sp>
      <p:sp>
        <p:nvSpPr>
          <p:cNvPr id="4" name="Rounded Rectangle 3"/>
          <p:cNvSpPr/>
          <p:nvPr/>
        </p:nvSpPr>
        <p:spPr>
          <a:xfrm>
            <a:off x="685800" y="841248"/>
            <a:ext cx="7772400" cy="171907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4</a:t>
            </a:r>
          </a:p>
        </p:txBody>
      </p:sp>
      <p:sp>
        <p:nvSpPr>
          <p:cNvPr id="8" name="TextBox 7"/>
          <p:cNvSpPr txBox="1"/>
          <p:nvPr/>
        </p:nvSpPr>
        <p:spPr>
          <a:xfrm>
            <a:off x="1783080" y="1133856"/>
            <a:ext cx="6309360" cy="1133856"/>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You learn best when your revision matches your learning style, such as visual or auditory.</a:t>
            </a:r>
          </a:p>
        </p:txBody>
      </p:sp>
      <p:sp>
        <p:nvSpPr>
          <p:cNvPr id="9" name="TextBox 8"/>
          <p:cNvSpPr txBox="1"/>
          <p:nvPr/>
        </p:nvSpPr>
        <p:spPr>
          <a:xfrm>
            <a:off x="685800" y="2688336"/>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980944"/>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803904"/>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274060"/>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5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5</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Staying up all night before an exam helps you remember more.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FACT OR MYTH?</a:t>
            </a:r>
          </a:p>
        </p:txBody>
      </p:sp>
      <p:sp>
        <p:nvSpPr>
          <p:cNvPr id="10" name="Rounded Rectangle 9"/>
          <p:cNvSpPr/>
          <p:nvPr/>
        </p:nvSpPr>
        <p:spPr>
          <a:xfrm>
            <a:off x="685800"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Fact</a:t>
            </a:r>
          </a:p>
        </p:txBody>
      </p:sp>
      <p:sp>
        <p:nvSpPr>
          <p:cNvPr id="13" name="Rounded Rectangle 12"/>
          <p:cNvSpPr/>
          <p:nvPr/>
        </p:nvSpPr>
        <p:spPr>
          <a:xfrm>
            <a:off x="4709159" y="2791968"/>
            <a:ext cx="3749039"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73751" y="3614928"/>
            <a:ext cx="341985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92040" y="3085084"/>
            <a:ext cx="3383279" cy="309880"/>
          </a:xfrm>
          <a:prstGeom prst="rect">
            <a:avLst/>
          </a:prstGeom>
          <a:noFill/>
        </p:spPr>
        <p:txBody>
          <a:bodyPr wrap="square" anchor="t" lIns="0" rIns="0" tIns="0" bIns="0">
            <a:spAutoFit/>
          </a:bodyPr>
          <a:lstStyle/>
          <a:p>
            <a:pPr algn="ctr">
              <a:lnSpc>
                <a:spcPct val="115000"/>
              </a:lnSpc>
              <a:spcAft>
                <a:spcPts val="0"/>
              </a:spcAft>
            </a:pPr>
            <a:r>
              <a:rPr sz="2000" b="1" i="0">
                <a:solidFill>
                  <a:srgbClr val="974F16"/>
                </a:solidFill>
                <a:latin typeface="Libre Caslon Display"/>
              </a:rPr>
              <a:t>Myth</a:t>
            </a:r>
          </a:p>
        </p:txBody>
      </p:sp>
      <p:sp>
        <p:nvSpPr>
          <p:cNvPr id="16" name="TextBox 15"/>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p:spPr>
      </p:pic>
      <p:sp>
        <p:nvSpPr>
          <p:cNvPr id="18" name="TextBox 1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9" name="TextBox 1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ONE  ·  QUESTION 6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6</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much of your brain do you actually use?</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2992120"/>
            <a:ext cx="1584960" cy="495807"/>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About 10 per cent</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About half</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All of it</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952258" y="914400"/>
            <a:ext cx="1239483"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ROUND TWO</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General knowledge</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Four questions to finish. Some have options, and some you will have to write out in full.</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7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7</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What is the chemical symbol for gold?</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8 OF 10</a:t>
            </a:r>
          </a:p>
        </p:txBody>
      </p:sp>
      <p:sp>
        <p:nvSpPr>
          <p:cNvPr id="4" name="Rounded Rectangle 3"/>
          <p:cNvSpPr/>
          <p:nvPr/>
        </p:nvSpPr>
        <p:spPr>
          <a:xfrm>
            <a:off x="685800" y="1170432"/>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1704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8</a:t>
            </a:r>
          </a:p>
        </p:txBody>
      </p:sp>
      <p:sp>
        <p:nvSpPr>
          <p:cNvPr id="8" name="TextBox 7"/>
          <p:cNvSpPr txBox="1"/>
          <p:nvPr/>
        </p:nvSpPr>
        <p:spPr>
          <a:xfrm>
            <a:off x="1783080" y="1575816"/>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is the longest river in Africa?</a:t>
            </a:r>
          </a:p>
        </p:txBody>
      </p:sp>
      <p:sp>
        <p:nvSpPr>
          <p:cNvPr id="9" name="Rectangle 8"/>
          <p:cNvSpPr/>
          <p:nvPr/>
        </p:nvSpPr>
        <p:spPr>
          <a:xfrm>
            <a:off x="1965960" y="32918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4381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9 OF 10</a:t>
            </a:r>
          </a:p>
        </p:txBody>
      </p:sp>
      <p:sp>
        <p:nvSpPr>
          <p:cNvPr id="4" name="Rounded Rectangle 3"/>
          <p:cNvSpPr/>
          <p:nvPr/>
        </p:nvSpPr>
        <p:spPr>
          <a:xfrm>
            <a:off x="685800" y="1030224"/>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30224"/>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399032"/>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27048"/>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9</a:t>
            </a:r>
          </a:p>
        </p:txBody>
      </p:sp>
      <p:sp>
        <p:nvSpPr>
          <p:cNvPr id="8" name="TextBox 7"/>
          <p:cNvSpPr txBox="1"/>
          <p:nvPr/>
        </p:nvSpPr>
        <p:spPr>
          <a:xfrm>
            <a:off x="1783080" y="1322832"/>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How many bones are there in an adult human body?</a:t>
            </a:r>
          </a:p>
        </p:txBody>
      </p:sp>
      <p:sp>
        <p:nvSpPr>
          <p:cNvPr id="9" name="TextBox 8"/>
          <p:cNvSpPr txBox="1"/>
          <p:nvPr/>
        </p:nvSpPr>
        <p:spPr>
          <a:xfrm>
            <a:off x="685800" y="2499360"/>
            <a:ext cx="7772400" cy="219456"/>
          </a:xfrm>
          <a:prstGeom prst="rect">
            <a:avLst/>
          </a:prstGeom>
          <a:noFill/>
        </p:spPr>
        <p:txBody>
          <a:bodyPr wrap="square" anchor="t" lIns="0" rIns="0" tIns="0" bIns="0">
            <a:spAutoFit/>
          </a:bodyPr>
          <a:lstStyle/>
          <a:p>
            <a:pPr algn="l">
              <a:lnSpc>
                <a:spcPct val="125000"/>
              </a:lnSpc>
              <a:spcAft>
                <a:spcPts val="0"/>
              </a:spcAft>
            </a:pPr>
            <a:r>
              <a:rPr sz="1000" b="1" i="0" spc="140">
                <a:solidFill>
                  <a:srgbClr val="8B9179"/>
                </a:solidFill>
                <a:latin typeface="Karla"/>
              </a:rPr>
              <a:t>ONE OF THESE</a:t>
            </a:r>
          </a:p>
        </p:txBody>
      </p:sp>
      <p:sp>
        <p:nvSpPr>
          <p:cNvPr id="10" name="Rounded Rectangle 9"/>
          <p:cNvSpPr/>
          <p:nvPr/>
        </p:nvSpPr>
        <p:spPr>
          <a:xfrm>
            <a:off x="68580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39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A</a:t>
            </a:r>
          </a:p>
        </p:txBody>
      </p:sp>
      <p:sp>
        <p:nvSpPr>
          <p:cNvPr id="14" name="TextBox 13"/>
          <p:cNvSpPr txBox="1"/>
          <p:nvPr/>
        </p:nvSpPr>
        <p:spPr>
          <a:xfrm>
            <a:off x="136245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106</a:t>
            </a:r>
          </a:p>
        </p:txBody>
      </p:sp>
      <p:sp>
        <p:nvSpPr>
          <p:cNvPr id="15" name="Rounded Rectangle 14"/>
          <p:cNvSpPr/>
          <p:nvPr/>
        </p:nvSpPr>
        <p:spPr>
          <a:xfrm>
            <a:off x="336804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2632"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2631"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32632"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B</a:t>
            </a:r>
          </a:p>
        </p:txBody>
      </p:sp>
      <p:sp>
        <p:nvSpPr>
          <p:cNvPr id="19" name="TextBox 18"/>
          <p:cNvSpPr txBox="1"/>
          <p:nvPr/>
        </p:nvSpPr>
        <p:spPr>
          <a:xfrm>
            <a:off x="4044695"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206</a:t>
            </a:r>
          </a:p>
        </p:txBody>
      </p:sp>
      <p:sp>
        <p:nvSpPr>
          <p:cNvPr id="20" name="Rounded Rectangle 19"/>
          <p:cNvSpPr/>
          <p:nvPr/>
        </p:nvSpPr>
        <p:spPr>
          <a:xfrm>
            <a:off x="6050280" y="2791968"/>
            <a:ext cx="2407920" cy="89611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4871" y="3614928"/>
            <a:ext cx="2078736" cy="27432"/>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214872" y="3038856"/>
            <a:ext cx="402336" cy="402336"/>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4871" y="3121152"/>
            <a:ext cx="402336" cy="237744"/>
          </a:xfrm>
          <a:prstGeom prst="rect">
            <a:avLst/>
          </a:prstGeom>
          <a:noFill/>
        </p:spPr>
        <p:txBody>
          <a:bodyPr wrap="square" anchor="t" lIns="0" rIns="0" tIns="0" bIns="0">
            <a:spAutoFit/>
          </a:bodyPr>
          <a:lstStyle/>
          <a:p>
            <a:pPr algn="ctr">
              <a:lnSpc>
                <a:spcPct val="125000"/>
              </a:lnSpc>
              <a:spcAft>
                <a:spcPts val="0"/>
              </a:spcAft>
            </a:pPr>
            <a:r>
              <a:rPr sz="1300" b="1" i="0">
                <a:solidFill>
                  <a:srgbClr val="FFFDF7"/>
                </a:solidFill>
                <a:latin typeface="Karla"/>
              </a:rPr>
              <a:t>C</a:t>
            </a:r>
          </a:p>
        </p:txBody>
      </p:sp>
      <p:sp>
        <p:nvSpPr>
          <p:cNvPr id="24" name="TextBox 23"/>
          <p:cNvSpPr txBox="1"/>
          <p:nvPr/>
        </p:nvSpPr>
        <p:spPr>
          <a:xfrm>
            <a:off x="6726936" y="3116072"/>
            <a:ext cx="1584960" cy="247903"/>
          </a:xfrm>
          <a:prstGeom prst="rect">
            <a:avLst/>
          </a:prstGeom>
          <a:noFill/>
        </p:spPr>
        <p:txBody>
          <a:bodyPr wrap="square" anchor="t" lIns="0" rIns="0" tIns="0" bIns="0">
            <a:spAutoFit/>
          </a:bodyPr>
          <a:lstStyle/>
          <a:p>
            <a:pPr algn="l">
              <a:lnSpc>
                <a:spcPct val="115000"/>
              </a:lnSpc>
              <a:spcAft>
                <a:spcPts val="0"/>
              </a:spcAft>
            </a:pPr>
            <a:r>
              <a:rPr sz="1600" b="0" i="0">
                <a:solidFill>
                  <a:srgbClr val="2E3436"/>
                </a:solidFill>
                <a:latin typeface="Karla"/>
              </a:rPr>
              <a:t>306</a:t>
            </a:r>
          </a:p>
        </p:txBody>
      </p:sp>
      <p:sp>
        <p:nvSpPr>
          <p:cNvPr id="25" name="TextBox 24"/>
          <p:cNvSpPr txBox="1"/>
          <p:nvPr/>
        </p:nvSpPr>
        <p:spPr>
          <a:xfrm>
            <a:off x="685800" y="4169663"/>
            <a:ext cx="7772400" cy="274320"/>
          </a:xfrm>
          <a:prstGeom prst="rect">
            <a:avLst/>
          </a:prstGeom>
          <a:noFill/>
        </p:spPr>
        <p:txBody>
          <a:bodyPr wrap="square" anchor="t" lIns="0" rIns="0" tIns="0" bIns="0">
            <a:spAutoFit/>
          </a:bodyPr>
          <a:lstStyle/>
          <a:p>
            <a:pPr algn="ctr">
              <a:lnSpc>
                <a:spcPct val="125000"/>
              </a:lnSpc>
              <a:spcAft>
                <a:spcPts val="0"/>
              </a:spcAft>
            </a:pPr>
            <a:r>
              <a:rPr sz="1150" b="0" i="1">
                <a:solidFill>
                  <a:srgbClr val="5C6552"/>
                </a:solidFill>
                <a:latin typeface="Karla"/>
              </a:rPr>
              <a:t>Agree it as a team, then tick it on the sheet.</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p:spPr>
      </p:pic>
      <p:sp>
        <p:nvSpPr>
          <p:cNvPr id="27" name="TextBox 26"/>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28" name="TextBox 27"/>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ROUND TWO  ·  QUESTION 10 OF 10</a:t>
            </a:r>
          </a:p>
        </p:txBody>
      </p:sp>
      <p:sp>
        <p:nvSpPr>
          <p:cNvPr id="4" name="Rounded Rectangle 3"/>
          <p:cNvSpPr/>
          <p:nvPr/>
        </p:nvSpPr>
        <p:spPr>
          <a:xfrm>
            <a:off x="685800" y="1094232"/>
            <a:ext cx="7772400" cy="13411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094232"/>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463040"/>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591056"/>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10</a:t>
            </a:r>
          </a:p>
        </p:txBody>
      </p:sp>
      <p:sp>
        <p:nvSpPr>
          <p:cNvPr id="8" name="TextBox 7"/>
          <p:cNvSpPr txBox="1"/>
          <p:nvPr/>
        </p:nvSpPr>
        <p:spPr>
          <a:xfrm>
            <a:off x="1783080" y="1386840"/>
            <a:ext cx="6309360" cy="755904"/>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Which country’s flag has a red maple leaf on it?</a:t>
            </a:r>
          </a:p>
        </p:txBody>
      </p:sp>
      <p:sp>
        <p:nvSpPr>
          <p:cNvPr id="9" name="Rectangle 8"/>
          <p:cNvSpPr/>
          <p:nvPr/>
        </p:nvSpPr>
        <p:spPr>
          <a:xfrm>
            <a:off x="1965960" y="3368040"/>
            <a:ext cx="5212080" cy="2743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514344"/>
            <a:ext cx="7772400" cy="27432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Agree it as a team, then write it on the sheet.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p:spPr>
      </p:pic>
      <p:sp>
        <p:nvSpPr>
          <p:cNvPr id="12" name="TextBox 11"/>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3" name="TextBox 12"/>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049462" y="914400"/>
            <a:ext cx="1045075" cy="237744"/>
          </a:xfrm>
          <a:prstGeom prst="roundRect">
            <a:avLst>
              <a:gd name="adj" fmla="val 50000"/>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ANSWERS</a:t>
            </a:r>
          </a:p>
        </p:txBody>
      </p:sp>
      <p:sp>
        <p:nvSpPr>
          <p:cNvPr id="4" name="TextBox 3"/>
          <p:cNvSpPr txBox="1"/>
          <p:nvPr/>
        </p:nvSpPr>
        <p:spPr>
          <a:xfrm>
            <a:off x="548640" y="1481328"/>
            <a:ext cx="8046720" cy="731520"/>
          </a:xfrm>
          <a:prstGeom prst="rect">
            <a:avLst/>
          </a:prstGeom>
          <a:noFill/>
        </p:spPr>
        <p:txBody>
          <a:bodyPr wrap="square" anchor="t" lIns="0" rIns="0" tIns="0" bIns="0">
            <a:spAutoFit/>
          </a:bodyPr>
          <a:lstStyle/>
          <a:p>
            <a:pPr algn="ctr">
              <a:lnSpc>
                <a:spcPct val="105000"/>
              </a:lnSpc>
              <a:spcAft>
                <a:spcPts val="0"/>
              </a:spcAft>
            </a:pPr>
            <a:r>
              <a:rPr sz="4000" b="1" i="0">
                <a:solidFill>
                  <a:srgbClr val="FFFDF7"/>
                </a:solidFill>
                <a:latin typeface="Libre Caslon Display"/>
              </a:rPr>
              <a:t>Swap sheets</a:t>
            </a:r>
          </a:p>
        </p:txBody>
      </p:sp>
      <p:sp>
        <p:nvSpPr>
          <p:cNvPr id="5" name="Rectangle 4"/>
          <p:cNvSpPr/>
          <p:nvPr/>
        </p:nvSpPr>
        <p:spPr>
          <a:xfrm>
            <a:off x="4114800" y="2487168"/>
            <a:ext cx="914400" cy="18288"/>
          </a:xfrm>
          <a:prstGeom prst="rect">
            <a:avLst/>
          </a:prstGeom>
          <a:solidFill>
            <a:srgbClr val="EBCD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724912"/>
            <a:ext cx="6583680" cy="914400"/>
          </a:xfrm>
          <a:prstGeom prst="rect">
            <a:avLst/>
          </a:prstGeom>
          <a:noFill/>
        </p:spPr>
        <p:txBody>
          <a:bodyPr wrap="square" anchor="t" lIns="0" rIns="0" tIns="0" bIns="0">
            <a:spAutoFit/>
          </a:bodyPr>
          <a:lstStyle/>
          <a:p>
            <a:pPr algn="ctr">
              <a:lnSpc>
                <a:spcPct val="130000"/>
              </a:lnSpc>
              <a:spcAft>
                <a:spcPts val="0"/>
              </a:spcAft>
            </a:pPr>
            <a:r>
              <a:rPr sz="1500" b="0" i="0">
                <a:solidFill>
                  <a:srgbClr val="EBCDAE"/>
                </a:solidFill>
                <a:latin typeface="Karla"/>
              </a:rPr>
              <a:t>Swap with the team next to you. Give one mark for each right answer, then add up the score out of ten.</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p:spPr>
      </p:pic>
      <p:sp>
        <p:nvSpPr>
          <p:cNvPr id="8" name="TextBox 7"/>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EBCDAE"/>
                </a:solidFill>
                <a:latin typeface="Karla"/>
              </a:rPr>
              <a:t>The Pastoral Guide</a:t>
            </a:r>
          </a:p>
        </p:txBody>
      </p:sp>
      <p:sp>
        <p:nvSpPr>
          <p:cNvPr id="9" name="TextBox 8"/>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EBCDAE"/>
                </a:solidFill>
                <a:latin typeface="Karla"/>
              </a:rPr>
              <a:t>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Reading your notes again and again is one of the best ways to revise.</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Rereading feels productive because the page starts to look familiar, but it does little for your memory. Researchers rate it as one of the least useful methods.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2</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Testing yourself helps you remember more than rereading does.</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Pulling an answer out of your memory makes it stronger. Flashcards, past questions and writing out what you remember on a blank page all work this way.</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3</a:t>
            </a:r>
          </a:p>
        </p:txBody>
      </p:sp>
      <p:sp>
        <p:nvSpPr>
          <p:cNvPr id="4" name="TextBox 3"/>
          <p:cNvSpPr txBox="1"/>
          <p:nvPr/>
        </p:nvSpPr>
        <p:spPr>
          <a:xfrm>
            <a:off x="685800" y="1393190"/>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Spreading revision over several days works better than doing the same number of hours in one go.</a:t>
            </a:r>
          </a:p>
        </p:txBody>
      </p:sp>
      <p:sp>
        <p:nvSpPr>
          <p:cNvPr id="5" name="TextBox 4"/>
          <p:cNvSpPr txBox="1"/>
          <p:nvPr/>
        </p:nvSpPr>
        <p:spPr>
          <a:xfrm>
            <a:off x="685800" y="2020570"/>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Fact</a:t>
            </a:r>
          </a:p>
        </p:txBody>
      </p:sp>
      <p:sp>
        <p:nvSpPr>
          <p:cNvPr id="6" name="Rounded Rectangle 5"/>
          <p:cNvSpPr/>
          <p:nvPr/>
        </p:nvSpPr>
        <p:spPr>
          <a:xfrm>
            <a:off x="685800" y="2806954"/>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06954"/>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44698"/>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is called spacing. Coming back to a topic after a gap, just as it starts to fade, makes it stick for much longer.</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4</a:t>
            </a:r>
          </a:p>
        </p:txBody>
      </p:sp>
      <p:sp>
        <p:nvSpPr>
          <p:cNvPr id="4" name="TextBox 3"/>
          <p:cNvSpPr txBox="1"/>
          <p:nvPr/>
        </p:nvSpPr>
        <p:spPr>
          <a:xfrm>
            <a:off x="685800" y="1259078"/>
            <a:ext cx="7772400" cy="44450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You learn best when your revision matches your learning style, such as visual or auditory.</a:t>
            </a:r>
          </a:p>
        </p:txBody>
      </p:sp>
      <p:sp>
        <p:nvSpPr>
          <p:cNvPr id="5" name="TextBox 4"/>
          <p:cNvSpPr txBox="1"/>
          <p:nvPr/>
        </p:nvSpPr>
        <p:spPr>
          <a:xfrm>
            <a:off x="685800" y="1886458"/>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672842"/>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72842"/>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10586"/>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There is no good evidence for learning styles. Everybody learns better from a mix, and the method should suit the subject rather than the person.</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5</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Staying up all night before an exam helps you remember more.</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Myth</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Losing a night’s sleep makes it harder to recall what you already know. Sleep is part of revising, not time taken away from it.</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6</a:t>
            </a:r>
          </a:p>
        </p:txBody>
      </p:sp>
      <p:sp>
        <p:nvSpPr>
          <p:cNvPr id="4" name="TextBox 3"/>
          <p:cNvSpPr txBox="1"/>
          <p:nvPr/>
        </p:nvSpPr>
        <p:spPr>
          <a:xfrm>
            <a:off x="685800" y="1370203"/>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much of your brain do you actually use?</a:t>
            </a:r>
          </a:p>
        </p:txBody>
      </p:sp>
      <p:sp>
        <p:nvSpPr>
          <p:cNvPr id="5" name="TextBox 4"/>
          <p:cNvSpPr txBox="1"/>
          <p:nvPr/>
        </p:nvSpPr>
        <p:spPr>
          <a:xfrm>
            <a:off x="685800" y="1775333"/>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C.  All of it</a:t>
            </a:r>
          </a:p>
        </p:txBody>
      </p:sp>
      <p:sp>
        <p:nvSpPr>
          <p:cNvPr id="6" name="Rounded Rectangle 5"/>
          <p:cNvSpPr/>
          <p:nvPr/>
        </p:nvSpPr>
        <p:spPr>
          <a:xfrm>
            <a:off x="685800" y="2561717"/>
            <a:ext cx="7772400" cy="128016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561717"/>
            <a:ext cx="64008" cy="1280160"/>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799461"/>
            <a:ext cx="7040880" cy="804672"/>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Brain scans show activity right across the brain, even during sleep. The ten per cent figure is one of the most repeated myths about the brain, and it has never been true.</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7</a:t>
            </a:r>
          </a:p>
        </p:txBody>
      </p:sp>
      <p:sp>
        <p:nvSpPr>
          <p:cNvPr id="4" name="TextBox 3"/>
          <p:cNvSpPr txBox="1"/>
          <p:nvPr/>
        </p:nvSpPr>
        <p:spPr>
          <a:xfrm>
            <a:off x="685800" y="1638427"/>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What is the chemical symbol for gold?</a:t>
            </a:r>
          </a:p>
        </p:txBody>
      </p:sp>
      <p:sp>
        <p:nvSpPr>
          <p:cNvPr id="5" name="TextBox 4"/>
          <p:cNvSpPr txBox="1"/>
          <p:nvPr/>
        </p:nvSpPr>
        <p:spPr>
          <a:xfrm>
            <a:off x="685800" y="2043557"/>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Au</a:t>
            </a:r>
          </a:p>
        </p:txBody>
      </p:sp>
      <p:sp>
        <p:nvSpPr>
          <p:cNvPr id="6" name="Rounded Rectangle 5"/>
          <p:cNvSpPr/>
          <p:nvPr/>
        </p:nvSpPr>
        <p:spPr>
          <a:xfrm>
            <a:off x="685800" y="2829941"/>
            <a:ext cx="7772400" cy="743712"/>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829941"/>
            <a:ext cx="64008" cy="743712"/>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067685"/>
            <a:ext cx="7040880" cy="268224"/>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comes from aurum, the Latin word for gold.</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8</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is the longest river in Africa?</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The Nile</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It runs for about 6,650 kilometres and flows through eleven countries.</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9</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How many bones are there in an adult human body?</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B.  206</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Babies are born with around 300. Some of them fuse together as they grow.</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l">
              <a:lnSpc>
                <a:spcPct val="125000"/>
              </a:lnSpc>
              <a:spcAft>
                <a:spcPts val="0"/>
              </a:spcAft>
            </a:pPr>
            <a:r>
              <a:rPr sz="1000" b="1" i="0" spc="160">
                <a:solidFill>
                  <a:srgbClr val="974F16"/>
                </a:solidFill>
                <a:latin typeface="Karla"/>
              </a:rPr>
              <a:t>THE FORM TIME QUIZ  ·  ANSWERS  ·  QUESTION 10</a:t>
            </a:r>
          </a:p>
        </p:txBody>
      </p:sp>
      <p:sp>
        <p:nvSpPr>
          <p:cNvPr id="4" name="TextBox 3"/>
          <p:cNvSpPr txBox="1"/>
          <p:nvPr/>
        </p:nvSpPr>
        <p:spPr>
          <a:xfrm>
            <a:off x="685800" y="1504315"/>
            <a:ext cx="7772400" cy="222250"/>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Which country’s flag has a red maple leaf on it?</a:t>
            </a:r>
          </a:p>
        </p:txBody>
      </p:sp>
      <p:sp>
        <p:nvSpPr>
          <p:cNvPr id="5" name="TextBox 4"/>
          <p:cNvSpPr txBox="1"/>
          <p:nvPr/>
        </p:nvSpPr>
        <p:spPr>
          <a:xfrm>
            <a:off x="685800" y="1909445"/>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Canada</a:t>
            </a:r>
          </a:p>
        </p:txBody>
      </p:sp>
      <p:sp>
        <p:nvSpPr>
          <p:cNvPr id="6" name="Rounded Rectangle 5"/>
          <p:cNvSpPr/>
          <p:nvPr/>
        </p:nvSpPr>
        <p:spPr>
          <a:xfrm>
            <a:off x="685800" y="2695829"/>
            <a:ext cx="7772400" cy="1011936"/>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695829"/>
            <a:ext cx="64008" cy="1011936"/>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933573"/>
            <a:ext cx="7040880" cy="536448"/>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The maple leaf has been a symbol of Canada since the 1700s, long before it went on the flag.</a:t>
            </a:r>
          </a:p>
        </p:txBody>
      </p:sp>
      <p:pic>
        <p:nvPicPr>
          <p:cNvPr id="9" name="Picture 8" descr="logo-mark.png"/>
          <p:cNvPicPr>
            <a:picLocks noChangeAspect="1"/>
          </p:cNvPicPr>
          <p:nvPr/>
        </p:nvPicPr>
        <p:blipFill>
          <a:blip r:embed="rId2"/>
          <a:stretch>
            <a:fillRect/>
          </a:stretch>
        </p:blipFill>
        <p:spPr>
          <a:xfrm>
            <a:off x="384048" y="4727448"/>
            <a:ext cx="158374" cy="182880"/>
          </a:xfrm>
          <a:prstGeom prst="rect">
            <a:avLst/>
          </a:prstGeom>
        </p:spPr>
      </p:pic>
      <p:sp>
        <p:nvSpPr>
          <p:cNvPr id="10" name="TextBox 9"/>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1" name="TextBox 10"/>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384048"/>
            <a:ext cx="7772400" cy="201168"/>
          </a:xfrm>
          <a:prstGeom prst="rect">
            <a:avLst/>
          </a:prstGeom>
          <a:noFill/>
        </p:spPr>
        <p:txBody>
          <a:bodyPr wrap="square" anchor="t" lIns="0" rIns="0" tIns="0" bIns="0">
            <a:spAutoFit/>
          </a:bodyPr>
          <a:lstStyle/>
          <a:p>
            <a:pPr algn="ctr">
              <a:lnSpc>
                <a:spcPct val="125000"/>
              </a:lnSpc>
              <a:spcAft>
                <a:spcPts val="0"/>
              </a:spcAft>
            </a:pPr>
            <a:r>
              <a:rPr sz="1000" b="1" i="0" spc="160">
                <a:solidFill>
                  <a:srgbClr val="974F16"/>
                </a:solidFill>
                <a:latin typeface="Karla"/>
              </a:rPr>
              <a:t>THE FORM TIME QUIZ  ·  VOLUME ONE</a:t>
            </a:r>
          </a:p>
        </p:txBody>
      </p:sp>
      <p:pic>
        <p:nvPicPr>
          <p:cNvPr id="4" name="Picture 3" descr="logo-mark.png"/>
          <p:cNvPicPr>
            <a:picLocks noChangeAspect="1"/>
          </p:cNvPicPr>
          <p:nvPr/>
        </p:nvPicPr>
        <p:blipFill>
          <a:blip r:embed="rId2"/>
          <a:stretch>
            <a:fillRect/>
          </a:stretch>
        </p:blipFill>
        <p:spPr>
          <a:xfrm>
            <a:off x="4255251" y="822960"/>
            <a:ext cx="633496" cy="731520"/>
          </a:xfrm>
          <a:prstGeom prst="rect">
            <a:avLst/>
          </a:prstGeom>
        </p:spPr>
      </p:pic>
      <p:sp>
        <p:nvSpPr>
          <p:cNvPr id="5" name="TextBox 4"/>
          <p:cNvSpPr txBox="1"/>
          <p:nvPr/>
        </p:nvSpPr>
        <p:spPr>
          <a:xfrm>
            <a:off x="548640" y="1755648"/>
            <a:ext cx="8046720" cy="640080"/>
          </a:xfrm>
          <a:prstGeom prst="rect">
            <a:avLst/>
          </a:prstGeom>
          <a:noFill/>
        </p:spPr>
        <p:txBody>
          <a:bodyPr wrap="square" anchor="t" lIns="0" rIns="0" tIns="0" bIns="0">
            <a:spAutoFit/>
          </a:bodyPr>
          <a:lstStyle/>
          <a:p>
            <a:pPr algn="ctr">
              <a:lnSpc>
                <a:spcPct val="105000"/>
              </a:lnSpc>
              <a:spcAft>
                <a:spcPts val="0"/>
              </a:spcAft>
            </a:pPr>
            <a:r>
              <a:rPr sz="3200" b="1" i="0">
                <a:solidFill>
                  <a:srgbClr val="974F16"/>
                </a:solidFill>
                <a:latin typeface="Libre Caslon Display"/>
              </a:rPr>
              <a:t>Scores back to their owners</a:t>
            </a:r>
          </a:p>
        </p:txBody>
      </p:sp>
      <p:sp>
        <p:nvSpPr>
          <p:cNvPr id="6" name="TextBox 5"/>
          <p:cNvSpPr txBox="1"/>
          <p:nvPr/>
        </p:nvSpPr>
        <p:spPr>
          <a:xfrm>
            <a:off x="1188720" y="2560320"/>
            <a:ext cx="6766560" cy="822960"/>
          </a:xfrm>
          <a:prstGeom prst="rect">
            <a:avLst/>
          </a:prstGeom>
          <a:noFill/>
        </p:spPr>
        <p:txBody>
          <a:bodyPr wrap="square" anchor="t" lIns="0" rIns="0" tIns="0" bIns="0">
            <a:spAutoFit/>
          </a:bodyPr>
          <a:lstStyle/>
          <a:p>
            <a:pPr algn="ctr">
              <a:lnSpc>
                <a:spcPct val="130000"/>
              </a:lnSpc>
              <a:spcAft>
                <a:spcPts val="0"/>
              </a:spcAft>
            </a:pPr>
            <a:r>
              <a:rPr sz="1500" b="0" i="0">
                <a:solidFill>
                  <a:srgbClr val="5C6552"/>
                </a:solidFill>
                <a:latin typeface="Karla"/>
              </a:rPr>
              <a:t>Hands up if you got ten. Then hands up if one of the answers surprised you, and tell us which.</a:t>
            </a:r>
          </a:p>
        </p:txBody>
      </p:sp>
      <p:sp>
        <p:nvSpPr>
          <p:cNvPr id="7" name="TextBox 6"/>
          <p:cNvSpPr txBox="1"/>
          <p:nvPr/>
        </p:nvSpPr>
        <p:spPr>
          <a:xfrm>
            <a:off x="731520" y="3639312"/>
            <a:ext cx="7680960" cy="365760"/>
          </a:xfrm>
          <a:prstGeom prst="rect">
            <a:avLst/>
          </a:prstGeom>
          <a:noFill/>
        </p:spPr>
        <p:txBody>
          <a:bodyPr wrap="square" anchor="t" lIns="0" rIns="0" tIns="0" bIns="0">
            <a:spAutoFit/>
          </a:bodyPr>
          <a:lstStyle/>
          <a:p>
            <a:pPr algn="ctr">
              <a:lnSpc>
                <a:spcPct val="125000"/>
              </a:lnSpc>
              <a:spcAft>
                <a:spcPts val="0"/>
              </a:spcAft>
            </a:pPr>
            <a:r>
              <a:rPr sz="1200" b="0" i="1">
                <a:solidFill>
                  <a:srgbClr val="8B9179"/>
                </a:solidFill>
                <a:latin typeface="Karla"/>
              </a:rPr>
              <a:t>Volume Two is available now at thepastoralguide.com.</a:t>
            </a:r>
          </a:p>
        </p:txBody>
      </p:sp>
      <p:pic>
        <p:nvPicPr>
          <p:cNvPr id="8" name="Picture 7" descr="logo-mark.png"/>
          <p:cNvPicPr>
            <a:picLocks noChangeAspect="1"/>
          </p:cNvPicPr>
          <p:nvPr/>
        </p:nvPicPr>
        <p:blipFill>
          <a:blip r:embed="rId2"/>
          <a:stretch>
            <a:fillRect/>
          </a:stretch>
        </p:blipFill>
        <p:spPr>
          <a:xfrm>
            <a:off x="384048" y="4727448"/>
            <a:ext cx="158374" cy="182880"/>
          </a:xfrm>
          <a:prstGeom prst="rect">
            <a:avLst/>
          </a:prstGeom>
        </p:spPr>
      </p:pic>
      <p:sp>
        <p:nvSpPr>
          <p:cNvPr id="9" name="TextBox 8"/>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0" name="TextBox 9"/>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Rounded Rectangle 3"/>
          <p:cNvSpPr/>
          <p:nvPr/>
        </p:nvSpPr>
        <p:spPr>
          <a:xfrm>
            <a:off x="685800" y="841248"/>
            <a:ext cx="7772400" cy="1188720"/>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841248"/>
            <a:ext cx="7772400" cy="54864"/>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50976" y="1133856"/>
            <a:ext cx="603504" cy="603504"/>
          </a:xfrm>
          <a:prstGeom prst="ellipse">
            <a:avLst/>
          </a:prstGeom>
          <a:solidFill>
            <a:srgbClr val="974F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261872"/>
            <a:ext cx="603504" cy="347472"/>
          </a:xfrm>
          <a:prstGeom prst="rect">
            <a:avLst/>
          </a:prstGeom>
          <a:noFill/>
        </p:spPr>
        <p:txBody>
          <a:bodyPr wrap="square" anchor="t" lIns="0" rIns="0" tIns="0" bIns="0">
            <a:spAutoFit/>
          </a:bodyPr>
          <a:lstStyle/>
          <a:p>
            <a:pPr algn="ctr">
              <a:lnSpc>
                <a:spcPct val="125000"/>
              </a:lnSpc>
              <a:spcAft>
                <a:spcPts val="0"/>
              </a:spcAft>
            </a:pPr>
            <a:r>
              <a:rPr sz="2000" b="1" i="0">
                <a:solidFill>
                  <a:srgbClr val="FFFDF7"/>
                </a:solidFill>
                <a:latin typeface="Karla"/>
              </a:rPr>
              <a:t>?</a:t>
            </a:r>
          </a:p>
        </p:txBody>
      </p:sp>
      <p:sp>
        <p:nvSpPr>
          <p:cNvPr id="8" name="TextBox 7"/>
          <p:cNvSpPr txBox="1"/>
          <p:nvPr/>
        </p:nvSpPr>
        <p:spPr>
          <a:xfrm>
            <a:off x="1783080" y="1246632"/>
            <a:ext cx="6309360" cy="377952"/>
          </a:xfrm>
          <a:prstGeom prst="rect">
            <a:avLst/>
          </a:prstGeom>
          <a:noFill/>
        </p:spPr>
        <p:txBody>
          <a:bodyPr wrap="square" anchor="t" lIns="0" rIns="0" tIns="0" bIns="0">
            <a:spAutoFit/>
          </a:bodyPr>
          <a:lstStyle/>
          <a:p>
            <a:pPr algn="l">
              <a:lnSpc>
                <a:spcPct val="112000"/>
              </a:lnSpc>
              <a:spcAft>
                <a:spcPts val="0"/>
              </a:spcAft>
            </a:pPr>
            <a:r>
              <a:rPr sz="2400" b="1" i="0">
                <a:solidFill>
                  <a:srgbClr val="974F16"/>
                </a:solidFill>
                <a:latin typeface="Libre Caslon Display"/>
              </a:rPr>
              <a:t>[ Type your own question here ]</a:t>
            </a:r>
          </a:p>
        </p:txBody>
      </p:sp>
      <p:sp>
        <p:nvSpPr>
          <p:cNvPr id="9" name="TextBox 8"/>
          <p:cNvSpPr txBox="1"/>
          <p:nvPr/>
        </p:nvSpPr>
        <p:spPr>
          <a:xfrm>
            <a:off x="685800" y="2432304"/>
            <a:ext cx="7772400" cy="128016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Add your own questions here: something from assembly, a date coming up, or a question about your own school.</a:t>
            </a:r>
          </a:p>
          <a:p>
            <a:pPr algn="l">
              <a:lnSpc>
                <a:spcPct val="130000"/>
              </a:lnSpc>
              <a:spcBef>
                <a:spcPts val="800"/>
              </a:spcBef>
              <a:spcAft>
                <a:spcPts val="0"/>
              </a:spcAft>
            </a:pPr>
            <a:r>
              <a:rPr sz="1250" b="0" i="0">
                <a:solidFill>
                  <a:srgbClr val="5C6552"/>
                </a:solidFill>
                <a:latin typeface="Karla"/>
              </a:rPr>
              <a:t>Duplicate this slide for each one and drag it in after question 10. There are two spare rows on the answer sheet for them.</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FF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329184"/>
            <a:ext cx="3129423" cy="237744"/>
          </a:xfrm>
          <a:prstGeom prst="roundRect">
            <a:avLst>
              <a:gd name="adj" fmla="val 50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950" b="1" spc="90">
                <a:solidFill>
                  <a:srgbClr val="974F16"/>
                </a:solidFill>
                <a:latin typeface="Karla"/>
              </a:rPr>
              <a:t>FOR THE TEACHER  ·  ADD YOUR OWN</a:t>
            </a:r>
          </a:p>
        </p:txBody>
      </p:sp>
      <p:sp>
        <p:nvSpPr>
          <p:cNvPr id="4" name="TextBox 3"/>
          <p:cNvSpPr txBox="1"/>
          <p:nvPr/>
        </p:nvSpPr>
        <p:spPr>
          <a:xfrm>
            <a:off x="685800" y="731520"/>
            <a:ext cx="7772400" cy="310896"/>
          </a:xfrm>
          <a:prstGeom prst="rect">
            <a:avLst/>
          </a:prstGeom>
          <a:noFill/>
        </p:spPr>
        <p:txBody>
          <a:bodyPr wrap="square" anchor="t" lIns="0" rIns="0" tIns="0" bIns="0">
            <a:spAutoFit/>
          </a:bodyPr>
          <a:lstStyle/>
          <a:p>
            <a:pPr algn="l">
              <a:lnSpc>
                <a:spcPct val="125000"/>
              </a:lnSpc>
              <a:spcAft>
                <a:spcPts val="0"/>
              </a:spcAft>
            </a:pPr>
            <a:r>
              <a:rPr sz="1400" b="0" i="1">
                <a:solidFill>
                  <a:srgbClr val="5C6552"/>
                </a:solidFill>
                <a:latin typeface="Karla"/>
              </a:rPr>
              <a:t>[ Your question again, so the room remembers it ]</a:t>
            </a:r>
          </a:p>
        </p:txBody>
      </p:sp>
      <p:sp>
        <p:nvSpPr>
          <p:cNvPr id="5" name="TextBox 4"/>
          <p:cNvSpPr txBox="1"/>
          <p:nvPr/>
        </p:nvSpPr>
        <p:spPr>
          <a:xfrm>
            <a:off x="685800" y="1225296"/>
            <a:ext cx="7772400" cy="603504"/>
          </a:xfrm>
          <a:prstGeom prst="rect">
            <a:avLst/>
          </a:prstGeom>
          <a:noFill/>
        </p:spPr>
        <p:txBody>
          <a:bodyPr wrap="square" anchor="t" lIns="0" rIns="0" tIns="0" bIns="0">
            <a:spAutoFit/>
          </a:bodyPr>
          <a:lstStyle/>
          <a:p>
            <a:pPr algn="l">
              <a:lnSpc>
                <a:spcPct val="105000"/>
              </a:lnSpc>
              <a:spcAft>
                <a:spcPts val="0"/>
              </a:spcAft>
            </a:pPr>
            <a:r>
              <a:rPr sz="3400" b="1" i="0">
                <a:solidFill>
                  <a:srgbClr val="974F16"/>
                </a:solidFill>
                <a:latin typeface="Libre Caslon Display"/>
              </a:rPr>
              <a:t>[ The answer ]</a:t>
            </a:r>
          </a:p>
        </p:txBody>
      </p:sp>
      <p:sp>
        <p:nvSpPr>
          <p:cNvPr id="6" name="Rounded Rectangle 5"/>
          <p:cNvSpPr/>
          <p:nvPr/>
        </p:nvSpPr>
        <p:spPr>
          <a:xfrm>
            <a:off x="685800" y="2011680"/>
            <a:ext cx="7772400" cy="932688"/>
          </a:xfrm>
          <a:prstGeom prst="roundRect">
            <a:avLst>
              <a:gd name="adj" fmla="val 6000"/>
            </a:avLst>
          </a:prstGeom>
          <a:solidFill>
            <a:srgbClr val="F8EE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64008" cy="932688"/>
          </a:xfrm>
          <a:prstGeom prst="rect">
            <a:avLst/>
          </a:prstGeom>
          <a:solidFill>
            <a:srgbClr val="C97A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9424"/>
            <a:ext cx="7040880" cy="457200"/>
          </a:xfrm>
          <a:prstGeom prst="rect">
            <a:avLst/>
          </a:prstGeom>
          <a:noFill/>
        </p:spPr>
        <p:txBody>
          <a:bodyPr wrap="square" anchor="t" lIns="0" rIns="0" tIns="0" bIns="0">
            <a:spAutoFit/>
          </a:bodyPr>
          <a:lstStyle/>
          <a:p>
            <a:pPr algn="l">
              <a:lnSpc>
                <a:spcPct val="132000"/>
              </a:lnSpc>
              <a:spcAft>
                <a:spcPts val="0"/>
              </a:spcAft>
            </a:pPr>
            <a:r>
              <a:rPr sz="1600" b="0" i="0">
                <a:solidFill>
                  <a:srgbClr val="2E3436"/>
                </a:solidFill>
                <a:latin typeface="Karla"/>
              </a:rPr>
              <a:t>[ One line on why, if there is something worth knowing ]</a:t>
            </a:r>
          </a:p>
        </p:txBody>
      </p:sp>
      <p:sp>
        <p:nvSpPr>
          <p:cNvPr id="9" name="TextBox 8"/>
          <p:cNvSpPr txBox="1"/>
          <p:nvPr/>
        </p:nvSpPr>
        <p:spPr>
          <a:xfrm>
            <a:off x="685800" y="3218688"/>
            <a:ext cx="7772400" cy="731520"/>
          </a:xfrm>
          <a:prstGeom prst="rect">
            <a:avLst/>
          </a:prstGeom>
          <a:noFill/>
        </p:spPr>
        <p:txBody>
          <a:bodyPr wrap="square" anchor="t" lIns="0" rIns="0" tIns="0" bIns="0">
            <a:spAutoFit/>
          </a:bodyPr>
          <a:lstStyle/>
          <a:p>
            <a:pPr algn="l">
              <a:lnSpc>
                <a:spcPct val="130000"/>
              </a:lnSpc>
              <a:spcAft>
                <a:spcPts val="0"/>
              </a:spcAft>
            </a:pPr>
            <a:r>
              <a:rPr sz="1250" b="0" i="0">
                <a:solidFill>
                  <a:srgbClr val="5C6552"/>
                </a:solidFill>
                <a:latin typeface="Karla"/>
              </a:rPr>
              <a:t>Duplicate this slide for each of your own questions and drag it in after the answer to question 10.</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p:spPr>
      </p:pic>
      <p:sp>
        <p:nvSpPr>
          <p:cNvPr id="11" name="TextBox 10"/>
          <p:cNvSpPr txBox="1"/>
          <p:nvPr/>
        </p:nvSpPr>
        <p:spPr>
          <a:xfrm>
            <a:off x="603504" y="4709160"/>
            <a:ext cx="2194560" cy="210312"/>
          </a:xfrm>
          <a:prstGeom prst="rect">
            <a:avLst/>
          </a:prstGeom>
          <a:noFill/>
        </p:spPr>
        <p:txBody>
          <a:bodyPr wrap="square" anchor="t" lIns="0" rIns="0" tIns="0" bIns="0">
            <a:spAutoFit/>
          </a:bodyPr>
          <a:lstStyle/>
          <a:p>
            <a:pPr algn="l">
              <a:lnSpc>
                <a:spcPct val="125000"/>
              </a:lnSpc>
              <a:spcAft>
                <a:spcPts val="0"/>
              </a:spcAft>
            </a:pPr>
            <a:r>
              <a:rPr sz="850" b="0" i="1">
                <a:solidFill>
                  <a:srgbClr val="8B9179"/>
                </a:solidFill>
                <a:latin typeface="Karla"/>
              </a:rPr>
              <a:t>The Pastoral Guide</a:t>
            </a:r>
          </a:p>
        </p:txBody>
      </p:sp>
      <p:sp>
        <p:nvSpPr>
          <p:cNvPr id="12" name="TextBox 11"/>
          <p:cNvSpPr txBox="1"/>
          <p:nvPr/>
        </p:nvSpPr>
        <p:spPr>
          <a:xfrm>
            <a:off x="7680960" y="4727448"/>
            <a:ext cx="1078992" cy="219456"/>
          </a:xfrm>
          <a:prstGeom prst="rect">
            <a:avLst/>
          </a:prstGeom>
          <a:noFill/>
        </p:spPr>
        <p:txBody>
          <a:bodyPr wrap="square" anchor="t" lIns="0" rIns="0" tIns="0" bIns="0">
            <a:spAutoFit/>
          </a:bodyPr>
          <a:lstStyle/>
          <a:p>
            <a:pPr algn="r">
              <a:lnSpc>
                <a:spcPct val="125000"/>
              </a:lnSpc>
              <a:spcAft>
                <a:spcPts val="0"/>
              </a:spcAft>
            </a:pPr>
            <a:r>
              <a:rPr sz="850" b="0" i="0">
                <a:solidFill>
                  <a:srgbClr val="8B9179"/>
                </a:solidFill>
                <a:latin typeface="Karla"/>
              </a:rPr>
              <a:t>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