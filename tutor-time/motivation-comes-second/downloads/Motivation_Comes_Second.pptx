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EBD0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8146" y="603504"/>
            <a:ext cx="807707" cy="93268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55648"/>
            <a:ext cx="8229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400" b="1" i="0">
                <a:solidFill>
                  <a:srgbClr val="3A3320"/>
                </a:solidFill>
                <a:latin typeface="Libre Caslon Display"/>
              </a:rPr>
              <a:t>Motivation Comes Second</a:t>
            </a:r>
          </a:p>
        </p:txBody>
      </p:sp>
      <p:sp>
        <p:nvSpPr>
          <p:cNvPr id="5" name="Rectangle 4"/>
          <p:cNvSpPr/>
          <p:nvPr/>
        </p:nvSpPr>
        <p:spPr>
          <a:xfrm>
            <a:off x="4069080" y="2688336"/>
            <a:ext cx="1005840" cy="18288"/>
          </a:xfrm>
          <a:prstGeom prst="rect">
            <a:avLst/>
          </a:prstGeom>
          <a:solidFill>
            <a:srgbClr val="4A4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889504"/>
            <a:ext cx="7680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600" b="0" i="0">
                <a:solidFill>
                  <a:srgbClr val="4A4028"/>
                </a:solidFill>
                <a:latin typeface="Karla"/>
              </a:rPr>
              <a:t>You do not start because you feel like it. You feel like it because you started.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712463"/>
            <a:ext cx="7680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0" i="1">
                <a:solidFill>
                  <a:srgbClr val="4A4028"/>
                </a:solidFill>
                <a:latin typeface="Karla"/>
              </a:rPr>
              <a:t>A procrastination lesson</a:t>
            </a:r>
          </a:p>
        </p:txBody>
      </p:sp>
      <p:pic>
        <p:nvPicPr>
          <p:cNvPr id="8" name="Picture 7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4A4028"/>
                </a:solidFill>
                <a:latin typeface="Karla"/>
              </a:rPr>
              <a:t>The Pastoral Guide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4A4028"/>
                </a:solidFill>
                <a:latin typeface="Karla"/>
              </a:rPr>
              <a:t>1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852160" y="530352"/>
            <a:ext cx="2606040" cy="347472"/>
          </a:xfrm>
          <a:prstGeom prst="roundRect">
            <a:avLst>
              <a:gd name="adj" fmla="val 50000"/>
            </a:avLst>
          </a:prstGeom>
          <a:solidFill>
            <a:srgbClr val="FA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852160" y="589788"/>
            <a:ext cx="26060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8A6512"/>
                </a:solidFill>
                <a:latin typeface="Karla"/>
              </a:rPr>
              <a:t>TEACHER SLIDE  ·  SKIP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8A6512"/>
                </a:solidFill>
                <a:latin typeface="Karla"/>
              </a:rPr>
              <a:t>BEFORE YOU START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100" b="1" i="0">
                <a:solidFill>
                  <a:srgbClr val="3F3826"/>
                </a:solidFill>
                <a:latin typeface="Libre Caslon Display"/>
              </a:rPr>
              <a:t>Six things, in this order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609344"/>
            <a:ext cx="2487168" cy="1152144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F3D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783080"/>
            <a:ext cx="457200" cy="457200"/>
          </a:xfrm>
          <a:prstGeom prst="ellipse">
            <a:avLst/>
          </a:prstGeom>
          <a:solidFill>
            <a:srgbClr val="8A65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865376"/>
            <a:ext cx="457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FFFDF7"/>
                </a:solidFill>
                <a:latin typeface="Libre Caslon Display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72184" y="1847088"/>
            <a:ext cx="15544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8A6512"/>
                </a:solidFill>
                <a:latin typeface="Libre Caslon Display"/>
              </a:rPr>
              <a:t>Remember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2267712"/>
            <a:ext cx="2048256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950" b="0" i="0">
                <a:solidFill>
                  <a:srgbClr val="706750"/>
                </a:solidFill>
                <a:latin typeface="Karla"/>
              </a:rPr>
              <a:t>A time you felt motivated, and what set it off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83280" y="1609344"/>
            <a:ext cx="2487168" cy="1152144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F3D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575304" y="1783080"/>
            <a:ext cx="457200" cy="457200"/>
          </a:xfrm>
          <a:prstGeom prst="ellipse">
            <a:avLst/>
          </a:prstGeom>
          <a:solidFill>
            <a:srgbClr val="8A65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75304" y="1865376"/>
            <a:ext cx="457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FFFDF7"/>
                </a:solidFill>
                <a:latin typeface="Libre Caslon Display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69664" y="1847088"/>
            <a:ext cx="15544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8A6512"/>
                </a:solidFill>
                <a:latin typeface="Libre Caslon Display"/>
              </a:rPr>
              <a:t>Notice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02736" y="2267712"/>
            <a:ext cx="2048256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950" b="0" i="0">
                <a:solidFill>
                  <a:srgbClr val="706750"/>
                </a:solidFill>
                <a:latin typeface="Karla"/>
              </a:rPr>
              <a:t>Every trigger the room named had already happened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80760" y="1609344"/>
            <a:ext cx="2487168" cy="1152144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F3D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272784" y="1783080"/>
            <a:ext cx="457200" cy="457200"/>
          </a:xfrm>
          <a:prstGeom prst="ellipse">
            <a:avLst/>
          </a:prstGeom>
          <a:solidFill>
            <a:srgbClr val="8A65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72784" y="1865376"/>
            <a:ext cx="457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FFFDF7"/>
                </a:solidFill>
                <a:latin typeface="Libre Caslon Display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67144" y="1847088"/>
            <a:ext cx="15544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8A6512"/>
                </a:solidFill>
                <a:latin typeface="Libre Caslon Display"/>
              </a:rPr>
              <a:t>Learn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0216" y="2267712"/>
            <a:ext cx="2048256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950" b="0" i="0">
                <a:solidFill>
                  <a:srgbClr val="706750"/>
                </a:solidFill>
                <a:latin typeface="Karla"/>
              </a:rPr>
              <a:t>Action comes first. Motivation follows it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2962656"/>
            <a:ext cx="2487168" cy="1152144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F3D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77824" y="3136392"/>
            <a:ext cx="457200" cy="457200"/>
          </a:xfrm>
          <a:prstGeom prst="ellipse">
            <a:avLst/>
          </a:prstGeom>
          <a:solidFill>
            <a:srgbClr val="8A65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7824" y="3218688"/>
            <a:ext cx="457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FFFDF7"/>
                </a:solidFill>
                <a:latin typeface="Libre Caslon Display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72184" y="3200400"/>
            <a:ext cx="15544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8A6512"/>
                </a:solidFill>
                <a:latin typeface="Libre Caslon Display"/>
              </a:rPr>
              <a:t>Shrink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5256" y="3621024"/>
            <a:ext cx="2048256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950" b="0" i="0">
                <a:solidFill>
                  <a:srgbClr val="706750"/>
                </a:solidFill>
                <a:latin typeface="Karla"/>
              </a:rPr>
              <a:t>Cut one task down until it is too small to avoid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383280" y="2962656"/>
            <a:ext cx="2487168" cy="1152144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F3D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575304" y="3136392"/>
            <a:ext cx="457200" cy="457200"/>
          </a:xfrm>
          <a:prstGeom prst="ellipse">
            <a:avLst/>
          </a:prstGeom>
          <a:solidFill>
            <a:srgbClr val="8A65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575304" y="3218688"/>
            <a:ext cx="457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FFFDF7"/>
                </a:solidFill>
                <a:latin typeface="Libre Caslon Display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69664" y="3200400"/>
            <a:ext cx="15544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8A6512"/>
                </a:solidFill>
                <a:latin typeface="Libre Caslon Display"/>
              </a:rPr>
              <a:t>Do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02736" y="3621024"/>
            <a:ext cx="2048256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950" b="0" i="0">
                <a:solidFill>
                  <a:srgbClr val="706750"/>
                </a:solidFill>
                <a:latin typeface="Karla"/>
              </a:rPr>
              <a:t>Five minutes, in silence, right now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080760" y="2962656"/>
            <a:ext cx="2487168" cy="1152144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F3D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272784" y="3136392"/>
            <a:ext cx="457200" cy="457200"/>
          </a:xfrm>
          <a:prstGeom prst="ellipse">
            <a:avLst/>
          </a:prstGeom>
          <a:solidFill>
            <a:srgbClr val="8A65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72784" y="3218688"/>
            <a:ext cx="457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FFFDF7"/>
                </a:solidFill>
                <a:latin typeface="Libre Caslon Display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67144" y="3200400"/>
            <a:ext cx="15544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8A6512"/>
                </a:solidFill>
                <a:latin typeface="Libre Caslon Display"/>
              </a:rPr>
              <a:t>Weigh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00216" y="3621024"/>
            <a:ext cx="2048256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950" b="0" i="0">
                <a:solidFill>
                  <a:srgbClr val="706750"/>
                </a:solidFill>
                <a:latin typeface="Karla"/>
              </a:rPr>
              <a:t>Busy is not the same as full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5800" y="4352544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8A6512"/>
                </a:solidFill>
                <a:latin typeface="Karla"/>
              </a:rPr>
              <a:t>Nothing written down in this lesson is collected, read out or marked.</a:t>
            </a:r>
          </a:p>
        </p:txBody>
      </p:sp>
      <p:pic>
        <p:nvPicPr>
          <p:cNvPr id="38" name="Picture 37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A29A80"/>
                </a:solidFill>
                <a:latin typeface="Karla"/>
              </a:rPr>
              <a:t>The Pastoral Guide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A29A80"/>
                </a:solidFill>
                <a:latin typeface="Karla"/>
              </a:rPr>
              <a:t>2 / 20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EBD0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4A4028"/>
                </a:solidFill>
                <a:latin typeface="Karla"/>
              </a:rPr>
              <a:t>START HERE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8A6512"/>
                </a:solidFill>
                <a:latin typeface="Karla"/>
              </a:rPr>
              <a:t>REFLECT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969264"/>
            <a:ext cx="77724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Aft>
                <a:spcPts val="0"/>
              </a:spcAft>
            </a:pPr>
            <a:r>
              <a:rPr sz="3800" b="1" i="0">
                <a:solidFill>
                  <a:srgbClr val="3A3320"/>
                </a:solidFill>
                <a:latin typeface="Libre Caslon Display"/>
              </a:rPr>
              <a:t>When did you last really</a:t>
            </a:r>
            <a:br/>
            <a:r>
              <a:rPr sz="3800" b="1" i="0">
                <a:solidFill>
                  <a:srgbClr val="3A3320"/>
                </a:solidFill>
                <a:latin typeface="Libre Caslon Display"/>
              </a:rPr>
              <a:t>want to do something?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487168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400" b="0" i="1">
                <a:solidFill>
                  <a:srgbClr val="4A4028"/>
                </a:solidFill>
                <a:latin typeface="Karla"/>
              </a:rPr>
              <a:t>Anything at all. It does not have to be school.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554480" y="3017520"/>
            <a:ext cx="6035040" cy="4206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74519" y="3081527"/>
            <a:ext cx="539496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 i="0">
                <a:solidFill>
                  <a:srgbClr val="8A6512"/>
                </a:solidFill>
                <a:latin typeface="Karla"/>
              </a:rPr>
              <a:t>What was it, and when?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554480" y="3529584"/>
            <a:ext cx="6035040" cy="4206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74519" y="3593591"/>
            <a:ext cx="539496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 i="0">
                <a:solidFill>
                  <a:srgbClr val="8A6512"/>
                </a:solidFill>
                <a:latin typeface="Karla"/>
              </a:rPr>
              <a:t>What were you doing in the hour before it?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554480" y="4041648"/>
            <a:ext cx="6035040" cy="4206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874519" y="4105656"/>
            <a:ext cx="539496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 i="0">
                <a:solidFill>
                  <a:srgbClr val="8A6512"/>
                </a:solidFill>
                <a:latin typeface="Karla"/>
              </a:rPr>
              <a:t>What set it off?</a:t>
            </a:r>
          </a:p>
        </p:txBody>
      </p:sp>
      <p:pic>
        <p:nvPicPr>
          <p:cNvPr id="14" name="Picture 13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4A4028"/>
                </a:solidFill>
                <a:latin typeface="Karla"/>
              </a:rPr>
              <a:t>The Pastoral Guide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4A4028"/>
                </a:solidFill>
                <a:latin typeface="Karla"/>
              </a:rPr>
              <a:t>3 / 20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8A6512"/>
                </a:solidFill>
                <a:latin typeface="Karla"/>
              </a:rPr>
              <a:t>THIRD QUESTION ONLY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FA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8A6512"/>
                </a:solidFill>
                <a:latin typeface="Karla"/>
              </a:rPr>
              <a:t>SAY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1" i="0">
                <a:solidFill>
                  <a:srgbClr val="3F3826"/>
                </a:solidFill>
                <a:latin typeface="Libre Caslon Display"/>
              </a:rPr>
              <a:t>What set it off?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517904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1">
                <a:solidFill>
                  <a:srgbClr val="706750"/>
                </a:solidFill>
                <a:latin typeface="Karla"/>
              </a:rPr>
              <a:t>Say them out loud. Every one goes on the board.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371600" y="2121408"/>
            <a:ext cx="6400800" cy="1389888"/>
          </a:xfrm>
          <a:prstGeom prst="roundRect">
            <a:avLst>
              <a:gd name="adj" fmla="val 6000"/>
            </a:avLst>
          </a:prstGeom>
          <a:solidFill>
            <a:srgbClr val="FAF1DE"/>
          </a:solidFill>
          <a:ln w="12700">
            <a:solidFill>
              <a:srgbClr val="E0AE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737360" y="2395728"/>
            <a:ext cx="566928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900" b="1" i="0">
                <a:solidFill>
                  <a:srgbClr val="8A6512"/>
                </a:solidFill>
                <a:latin typeface="Libre Caslon Display"/>
              </a:rPr>
              <a:t>There are no wrong answers here,</a:t>
            </a:r>
            <a:br/>
            <a:r>
              <a:rPr sz="1900" b="1" i="0">
                <a:solidFill>
                  <a:srgbClr val="8A6512"/>
                </a:solidFill>
                <a:latin typeface="Libre Caslon Display"/>
              </a:rPr>
              <a:t>and we need a lot of them.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931920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 i="1">
                <a:solidFill>
                  <a:srgbClr val="706750"/>
                </a:solidFill>
                <a:latin typeface="Karla"/>
              </a:rPr>
              <a:t>Nothing on the board gets judged. We are looking for a pattern, not a right answer.</a:t>
            </a:r>
          </a:p>
        </p:txBody>
      </p:sp>
      <p:pic>
        <p:nvPicPr>
          <p:cNvPr id="11" name="Picture 10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A29A80"/>
                </a:solidFill>
                <a:latin typeface="Karla"/>
              </a:rPr>
              <a:t>The Pastoral Guide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A29A80"/>
                </a:solidFill>
                <a:latin typeface="Karla"/>
              </a:rPr>
              <a:t>4 / 20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8A6512"/>
                </a:solidFill>
                <a:latin typeface="Karla"/>
              </a:rPr>
              <a:t>NOW LOOK AT THE BOARD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59168" y="530352"/>
            <a:ext cx="1399032" cy="347472"/>
          </a:xfrm>
          <a:prstGeom prst="roundRect">
            <a:avLst>
              <a:gd name="adj" fmla="val 50000"/>
            </a:avLst>
          </a:prstGeom>
          <a:solidFill>
            <a:srgbClr val="FA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59168" y="589788"/>
            <a:ext cx="139903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8A6512"/>
                </a:solidFill>
                <a:latin typeface="Karla"/>
              </a:rPr>
              <a:t>FEEDBACK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700" b="1" i="0">
                <a:solidFill>
                  <a:srgbClr val="3F3826"/>
                </a:solidFill>
                <a:latin typeface="Libre Caslon Display"/>
              </a:rPr>
              <a:t>What have they got in common?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517904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1">
                <a:solidFill>
                  <a:srgbClr val="706750"/>
                </a:solidFill>
                <a:latin typeface="Karla"/>
              </a:rPr>
              <a:t>Most classes end up with some of these.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011680"/>
            <a:ext cx="2444496" cy="786384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F3D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2139696"/>
            <a:ext cx="2115312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1" i="0">
                <a:solidFill>
                  <a:srgbClr val="3F3826"/>
                </a:solidFill>
                <a:latin typeface="Libre Caslon Display"/>
              </a:rPr>
              <a:t>A deadline got close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49752" y="2011680"/>
            <a:ext cx="2444496" cy="786384"/>
          </a:xfrm>
          <a:prstGeom prst="roundRect">
            <a:avLst>
              <a:gd name="adj" fmla="val 6000"/>
            </a:avLst>
          </a:prstGeom>
          <a:solidFill>
            <a:srgbClr val="FAF1DE"/>
          </a:solidFill>
          <a:ln w="12700">
            <a:solidFill>
              <a:srgbClr val="F3D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14344" y="2139696"/>
            <a:ext cx="2115312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1" i="0">
                <a:solidFill>
                  <a:srgbClr val="3F3826"/>
                </a:solidFill>
                <a:latin typeface="Libre Caslon Display"/>
              </a:rPr>
              <a:t>Somebody else started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13704" y="2011680"/>
            <a:ext cx="2444496" cy="786384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F3D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78295" y="2139696"/>
            <a:ext cx="2115312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1" i="0">
                <a:solidFill>
                  <a:srgbClr val="3F3826"/>
                </a:solidFill>
                <a:latin typeface="Libre Caslon Display"/>
              </a:rPr>
              <a:t>A mark came back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2944368"/>
            <a:ext cx="2444496" cy="786384"/>
          </a:xfrm>
          <a:prstGeom prst="roundRect">
            <a:avLst>
              <a:gd name="adj" fmla="val 6000"/>
            </a:avLst>
          </a:prstGeom>
          <a:solidFill>
            <a:srgbClr val="FAF1DE"/>
          </a:solidFill>
          <a:ln w="12700">
            <a:solidFill>
              <a:srgbClr val="F3D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" y="3072384"/>
            <a:ext cx="2115312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1" i="0">
                <a:solidFill>
                  <a:srgbClr val="3F3826"/>
                </a:solidFill>
                <a:latin typeface="Libre Caslon Display"/>
              </a:rPr>
              <a:t>I had already done a bit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49752" y="2944368"/>
            <a:ext cx="2444496" cy="786384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F3D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14344" y="3072384"/>
            <a:ext cx="2115312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1" i="0">
                <a:solidFill>
                  <a:srgbClr val="3F3826"/>
                </a:solidFill>
                <a:latin typeface="Libre Caslon Display"/>
              </a:rPr>
              <a:t>Something finally worked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13704" y="2944368"/>
            <a:ext cx="2444496" cy="786384"/>
          </a:xfrm>
          <a:prstGeom prst="roundRect">
            <a:avLst>
              <a:gd name="adj" fmla="val 6000"/>
            </a:avLst>
          </a:prstGeom>
          <a:solidFill>
            <a:srgbClr val="FAF1DE"/>
          </a:solidFill>
          <a:ln w="12700">
            <a:solidFill>
              <a:srgbClr val="F3D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78295" y="3072384"/>
            <a:ext cx="2115312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1" i="0">
                <a:solidFill>
                  <a:srgbClr val="3F3826"/>
                </a:solidFill>
                <a:latin typeface="Libre Caslon Display"/>
              </a:rPr>
              <a:t>Someone needed me to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4041648"/>
            <a:ext cx="77724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1" i="0">
                <a:solidFill>
                  <a:srgbClr val="8A6512"/>
                </a:solidFill>
                <a:latin typeface="Karla"/>
              </a:rPr>
              <a:t>Every single one had already happened before the motivation arrived.</a:t>
            </a:r>
          </a:p>
        </p:txBody>
      </p:sp>
      <p:pic>
        <p:nvPicPr>
          <p:cNvPr id="21" name="Picture 20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A29A80"/>
                </a:solidFill>
                <a:latin typeface="Karla"/>
              </a:rPr>
              <a:t>The Pastoral Guide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A29A80"/>
                </a:solidFill>
                <a:latin typeface="Karla"/>
              </a:rPr>
              <a:t>5 / 20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EBD0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4A4028"/>
                </a:solidFill>
                <a:latin typeface="Karla"/>
              </a:rPr>
              <a:t>WHICH MEANS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59168" y="530352"/>
            <a:ext cx="1399032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59168" y="589788"/>
            <a:ext cx="139903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8A6512"/>
                </a:solidFill>
                <a:latin typeface="Karla"/>
              </a:rPr>
              <a:t>FEEDBACK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115568"/>
            <a:ext cx="786384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Aft>
                <a:spcPts val="0"/>
              </a:spcAft>
            </a:pPr>
            <a:r>
              <a:rPr sz="3200" b="1" i="0">
                <a:solidFill>
                  <a:srgbClr val="3A3320"/>
                </a:solidFill>
                <a:latin typeface="Libre Caslon Display"/>
              </a:rPr>
              <a:t>Nobody said: “I was sitting doing</a:t>
            </a:r>
            <a:br/>
            <a:r>
              <a:rPr sz="3200" b="1" i="0">
                <a:solidFill>
                  <a:srgbClr val="3A3320"/>
                </a:solidFill>
                <a:latin typeface="Libre Caslon Display"/>
              </a:rPr>
              <a:t>nothing, and it turned up.”</a:t>
            </a:r>
          </a:p>
        </p:txBody>
      </p:sp>
      <p:sp>
        <p:nvSpPr>
          <p:cNvPr id="7" name="Rectangle 6"/>
          <p:cNvSpPr/>
          <p:nvPr/>
        </p:nvSpPr>
        <p:spPr>
          <a:xfrm>
            <a:off x="4069080" y="2962656"/>
            <a:ext cx="1005840" cy="18288"/>
          </a:xfrm>
          <a:prstGeom prst="rect">
            <a:avLst/>
          </a:prstGeom>
          <a:solidFill>
            <a:srgbClr val="4A4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3255264"/>
            <a:ext cx="67665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8000"/>
              </a:lnSpc>
              <a:spcAft>
                <a:spcPts val="0"/>
              </a:spcAft>
            </a:pPr>
            <a:r>
              <a:rPr sz="1600" b="0" i="1">
                <a:solidFill>
                  <a:srgbClr val="4A4028"/>
                </a:solidFill>
                <a:latin typeface="Karla"/>
              </a:rPr>
              <a:t>It turns up after you have started, not before.</a:t>
            </a:r>
          </a:p>
        </p:txBody>
      </p:sp>
      <p:pic>
        <p:nvPicPr>
          <p:cNvPr id="9" name="Picture 8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4A4028"/>
                </a:solidFill>
                <a:latin typeface="Karla"/>
              </a:rPr>
              <a:t>The Pastoral Guide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4A4028"/>
                </a:solidFill>
                <a:latin typeface="Karla"/>
              </a:rPr>
              <a:t>6 / 20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8A6512"/>
                </a:solidFill>
                <a:latin typeface="Karla"/>
              </a:rPr>
              <a:t>THE THING ALMOST EVERYONE HAS BACKWARDS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FA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8A6512"/>
                </a:solidFill>
                <a:latin typeface="Karla"/>
              </a:rPr>
              <a:t>LEARN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1" i="0">
                <a:solidFill>
                  <a:srgbClr val="3F3826"/>
                </a:solidFill>
                <a:latin typeface="Libre Caslon Display"/>
              </a:rPr>
              <a:t>Which way round is it?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645920"/>
            <a:ext cx="7772400" cy="1188720"/>
          </a:xfrm>
          <a:prstGeom prst="roundRect">
            <a:avLst>
              <a:gd name="adj" fmla="val 6000"/>
            </a:avLst>
          </a:prstGeom>
          <a:solidFill>
            <a:srgbClr val="FAF1DE"/>
          </a:solidFill>
          <a:ln w="12700">
            <a:solidFill>
              <a:srgbClr val="F3D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bubble_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" y="2039112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517904" y="1792224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30">
                <a:solidFill>
                  <a:srgbClr val="8A6512"/>
                </a:solidFill>
                <a:latin typeface="Karla"/>
              </a:rPr>
              <a:t>HOW YOU THINK IT WORKS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517904" y="2121408"/>
            <a:ext cx="1975104" cy="51206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F3D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627631" y="2194560"/>
            <a:ext cx="175564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250" b="1" i="0">
                <a:solidFill>
                  <a:srgbClr val="3F3826"/>
                </a:solidFill>
                <a:latin typeface="Libre Caslon Display"/>
              </a:rPr>
              <a:t>Feel like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93008" y="2194560"/>
            <a:ext cx="329184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500" b="0" i="0">
                <a:solidFill>
                  <a:srgbClr val="8A6512"/>
                </a:solidFill>
                <a:latin typeface="Karla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822191" y="2121408"/>
            <a:ext cx="1975104" cy="51206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F3D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931920" y="2194560"/>
            <a:ext cx="175564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250" b="1" i="0">
                <a:solidFill>
                  <a:srgbClr val="3F3826"/>
                </a:solidFill>
                <a:latin typeface="Libre Caslon Display"/>
              </a:rPr>
              <a:t>Start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97296" y="2194560"/>
            <a:ext cx="329184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500" b="0" i="0">
                <a:solidFill>
                  <a:srgbClr val="8A6512"/>
                </a:solidFill>
                <a:latin typeface="Karla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26480" y="2121408"/>
            <a:ext cx="1975104" cy="51206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F3D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36208" y="2194560"/>
            <a:ext cx="175564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250" b="1" i="0">
                <a:solidFill>
                  <a:srgbClr val="3F3826"/>
                </a:solidFill>
                <a:latin typeface="Libre Caslon Display"/>
              </a:rPr>
              <a:t>Keep going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3035808"/>
            <a:ext cx="7772400" cy="1188720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F3D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bubble_ti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" y="3429000"/>
            <a:ext cx="402336" cy="402336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517904" y="3182112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30">
                <a:solidFill>
                  <a:srgbClr val="8A6512"/>
                </a:solidFill>
                <a:latin typeface="Karla"/>
              </a:rPr>
              <a:t>HOW IT ACTUALLY WORKS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517904" y="3511296"/>
            <a:ext cx="1975104" cy="51206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F3D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627631" y="3584448"/>
            <a:ext cx="175564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250" b="1" i="0">
                <a:solidFill>
                  <a:srgbClr val="3F3826"/>
                </a:solidFill>
                <a:latin typeface="Libre Caslon Display"/>
              </a:rPr>
              <a:t>Start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93008" y="3584448"/>
            <a:ext cx="329184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500" b="0" i="0">
                <a:solidFill>
                  <a:srgbClr val="8A6512"/>
                </a:solidFill>
                <a:latin typeface="Karla"/>
              </a:rPr>
              <a:t>→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822191" y="3511296"/>
            <a:ext cx="1975104" cy="51206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F3D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931920" y="3584448"/>
            <a:ext cx="175564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250" b="1" i="0">
                <a:solidFill>
                  <a:srgbClr val="3F3826"/>
                </a:solidFill>
                <a:latin typeface="Libre Caslon Display"/>
              </a:rPr>
              <a:t>Something moves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797296" y="3584448"/>
            <a:ext cx="329184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500" b="0" i="0">
                <a:solidFill>
                  <a:srgbClr val="8A6512"/>
                </a:solidFill>
                <a:latin typeface="Karla"/>
              </a:rPr>
              <a:t>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26480" y="3511296"/>
            <a:ext cx="1975104" cy="51206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F3D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36208" y="3584448"/>
            <a:ext cx="175564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250" b="1" i="0">
                <a:solidFill>
                  <a:srgbClr val="3F3826"/>
                </a:solidFill>
                <a:latin typeface="Libre Caslon Display"/>
              </a:rPr>
              <a:t>Feel like it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4352544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8A6512"/>
                </a:solidFill>
                <a:latin typeface="Karla"/>
              </a:rPr>
              <a:t>You are waiting at the wrong end of the arrow.</a:t>
            </a:r>
          </a:p>
        </p:txBody>
      </p:sp>
      <p:pic>
        <p:nvPicPr>
          <p:cNvPr id="30" name="Picture 29" descr="logo-mast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A29A80"/>
                </a:solidFill>
                <a:latin typeface="Karla"/>
              </a:rPr>
              <a:t>The Pastoral Guide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A29A80"/>
                </a:solidFill>
                <a:latin typeface="Karla"/>
              </a:rPr>
              <a:t>7 / 20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EBD0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4A4028"/>
                </a:solidFill>
                <a:latin typeface="Karla"/>
              </a:rPr>
              <a:t>NOBODY IS MARKING THIS BIT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986016" y="530352"/>
            <a:ext cx="1472184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986016" y="589788"/>
            <a:ext cx="147218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8A6512"/>
                </a:solidFill>
                <a:latin typeface="Karla"/>
              </a:rPr>
              <a:t>BE HONEST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96112"/>
            <a:ext cx="7772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3200" b="1" i="0">
                <a:solidFill>
                  <a:srgbClr val="3A3320"/>
                </a:solidFill>
                <a:latin typeface="Libre Caslon Display"/>
              </a:rPr>
              <a:t>You already know this feeling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51560" y="1792224"/>
            <a:ext cx="7040880" cy="5852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1874519"/>
            <a:ext cx="64008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0"/>
              </a:spcAft>
            </a:pPr>
            <a:r>
              <a:rPr sz="1400" b="0" i="0">
                <a:solidFill>
                  <a:srgbClr val="8A6512"/>
                </a:solidFill>
                <a:latin typeface="Karla"/>
              </a:rPr>
              <a:t>You have been about to start for two hours.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2487168"/>
            <a:ext cx="7040880" cy="5852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2569463"/>
            <a:ext cx="64008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0"/>
              </a:spcAft>
            </a:pPr>
            <a:r>
              <a:rPr sz="1400" b="0" i="0">
                <a:solidFill>
                  <a:srgbClr val="8A6512"/>
                </a:solidFill>
                <a:latin typeface="Karla"/>
              </a:rPr>
              <a:t>You are not even enjoying not doing it.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51560" y="3182112"/>
            <a:ext cx="7040880" cy="5852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3264408"/>
            <a:ext cx="64008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0"/>
              </a:spcAft>
            </a:pPr>
            <a:r>
              <a:rPr sz="1400" b="0" i="0">
                <a:solidFill>
                  <a:srgbClr val="8A6512"/>
                </a:solidFill>
                <a:latin typeface="Karla"/>
              </a:rPr>
              <a:t>The thing you are avoiding would take about eleven minutes.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986784"/>
            <a:ext cx="74980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3A3320"/>
                </a:solidFill>
                <a:latin typeface="Karla"/>
              </a:rPr>
              <a:t>Avoiding something is nearly always more work than doing it.</a:t>
            </a:r>
          </a:p>
        </p:txBody>
      </p:sp>
      <p:pic>
        <p:nvPicPr>
          <p:cNvPr id="14" name="Picture 13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4A4028"/>
                </a:solidFill>
                <a:latin typeface="Karla"/>
              </a:rPr>
              <a:t>The Pastoral Guide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4A4028"/>
                </a:solidFill>
                <a:latin typeface="Karla"/>
              </a:rPr>
              <a:t>8 / 20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8A6512"/>
                </a:solidFill>
                <a:latin typeface="Karla"/>
              </a:rPr>
              <a:t>WATCH ME DO ONE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FA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8A6512"/>
                </a:solidFill>
                <a:latin typeface="Karla"/>
              </a:rPr>
              <a:t>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1" i="0">
                <a:solidFill>
                  <a:srgbClr val="3F3826"/>
                </a:solidFill>
                <a:latin typeface="Libre Caslon Display"/>
              </a:rPr>
              <a:t>Shrink it until it is silly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81328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1">
                <a:solidFill>
                  <a:srgbClr val="706750"/>
                </a:solidFill>
                <a:latin typeface="Karla"/>
              </a:rPr>
              <a:t>Keep cutting the task in half out loud until nobody in the room could refuse 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938528"/>
            <a:ext cx="7772400" cy="548640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F3D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029968"/>
            <a:ext cx="41148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1" i="0">
                <a:solidFill>
                  <a:srgbClr val="3F3826"/>
                </a:solidFill>
                <a:latin typeface="Libre Caslon Display"/>
              </a:rPr>
              <a:t>Revise for the geography test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66360" y="2029968"/>
            <a:ext cx="31089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100" b="0" i="1">
                <a:solidFill>
                  <a:srgbClr val="706750"/>
                </a:solidFill>
                <a:latin typeface="Karla"/>
              </a:rPr>
              <a:t>Too big. You will not start this.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596896"/>
            <a:ext cx="7772400" cy="548640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F3D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2688336"/>
            <a:ext cx="41148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1" i="0">
                <a:solidFill>
                  <a:srgbClr val="3F3826"/>
                </a:solidFill>
                <a:latin typeface="Libre Caslon Display"/>
              </a:rPr>
              <a:t>Do one page of geography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66360" y="2688336"/>
            <a:ext cx="31089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100" b="0" i="1">
                <a:solidFill>
                  <a:srgbClr val="706750"/>
                </a:solidFill>
                <a:latin typeface="Karla"/>
              </a:rPr>
              <a:t>Still big enough to put off.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255264"/>
            <a:ext cx="7772400" cy="548640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F3D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2688" y="3346704"/>
            <a:ext cx="41148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1" i="0">
                <a:solidFill>
                  <a:srgbClr val="3F3826"/>
                </a:solidFill>
                <a:latin typeface="Libre Caslon Display"/>
              </a:rPr>
              <a:t>Read one page of the booklet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66360" y="3346704"/>
            <a:ext cx="31089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100" b="0" i="1">
                <a:solidFill>
                  <a:srgbClr val="706750"/>
                </a:solidFill>
                <a:latin typeface="Karla"/>
              </a:rPr>
              <a:t>Getting there.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3913632"/>
            <a:ext cx="7772400" cy="548640"/>
          </a:xfrm>
          <a:prstGeom prst="roundRect">
            <a:avLst>
              <a:gd name="adj" fmla="val 6000"/>
            </a:avLst>
          </a:prstGeom>
          <a:solidFill>
            <a:srgbClr val="FAF1DE"/>
          </a:solidFill>
          <a:ln w="12700">
            <a:solidFill>
              <a:srgbClr val="E0AE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2688" y="4005072"/>
            <a:ext cx="41148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1" i="0">
                <a:solidFill>
                  <a:srgbClr val="8A6512"/>
                </a:solidFill>
                <a:latin typeface="Libre Caslon Display"/>
              </a:rPr>
              <a:t>Open the booklet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66360" y="4005072"/>
            <a:ext cx="31089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100" b="0" i="1">
                <a:solidFill>
                  <a:srgbClr val="706750"/>
                </a:solidFill>
                <a:latin typeface="Karla"/>
              </a:rPr>
              <a:t>This one you will actually do.</a:t>
            </a:r>
          </a:p>
        </p:txBody>
      </p:sp>
      <p:pic>
        <p:nvPicPr>
          <p:cNvPr id="20" name="Picture 19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A29A80"/>
                </a:solidFill>
                <a:latin typeface="Karla"/>
              </a:rPr>
              <a:t>The Pastoral Guide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A29A80"/>
                </a:solidFill>
                <a:latin typeface="Karla"/>
              </a:rPr>
              <a:t>9 / 20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8A6512"/>
                </a:solidFill>
                <a:latin typeface="Karla"/>
              </a:rPr>
              <a:t>NOW THE ROOM DOES THREE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50024" y="530352"/>
            <a:ext cx="1408176" cy="347472"/>
          </a:xfrm>
          <a:prstGeom prst="roundRect">
            <a:avLst>
              <a:gd name="adj" fmla="val 50000"/>
            </a:avLst>
          </a:prstGeom>
          <a:solidFill>
            <a:srgbClr val="FA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50024" y="589788"/>
            <a:ext cx="14081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8A6512"/>
                </a:solidFill>
                <a:latin typeface="Karla"/>
              </a:rPr>
              <a:t>TOGETHER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1" i="0">
                <a:solidFill>
                  <a:srgbClr val="3F3826"/>
                </a:solidFill>
                <a:latin typeface="Libre Caslon Display"/>
              </a:rPr>
              <a:t>Shrink these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81328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1">
                <a:solidFill>
                  <a:srgbClr val="706750"/>
                </a:solidFill>
                <a:latin typeface="Karla"/>
              </a:rPr>
              <a:t>What is the smallest first move? It has to be doable sitting where you are.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011680"/>
            <a:ext cx="7772400" cy="640080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F3D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05256" y="2121408"/>
            <a:ext cx="420624" cy="420624"/>
          </a:xfrm>
          <a:prstGeom prst="ellipse">
            <a:avLst/>
          </a:prstGeom>
          <a:solidFill>
            <a:srgbClr val="8A65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5256" y="2194560"/>
            <a:ext cx="420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FFFDF7"/>
                </a:solidFill>
                <a:latin typeface="Libre Caslon Display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17904" y="2139696"/>
            <a:ext cx="384048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400" b="1" i="0">
                <a:solidFill>
                  <a:srgbClr val="3F3826"/>
                </a:solidFill>
                <a:latin typeface="Libre Caslon Display"/>
              </a:rPr>
              <a:t>Tidy my room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2139696"/>
            <a:ext cx="274320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8A6512"/>
                </a:solidFill>
                <a:latin typeface="Karla"/>
              </a:rPr>
              <a:t>→         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2798064"/>
            <a:ext cx="7772400" cy="640080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F3D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05256" y="2907792"/>
            <a:ext cx="420624" cy="420624"/>
          </a:xfrm>
          <a:prstGeom prst="ellipse">
            <a:avLst/>
          </a:prstGeom>
          <a:solidFill>
            <a:srgbClr val="8A65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5256" y="2980944"/>
            <a:ext cx="420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FFFDF7"/>
                </a:solidFill>
                <a:latin typeface="Libre Caslon Display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17904" y="2926080"/>
            <a:ext cx="384048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400" b="1" i="0">
                <a:solidFill>
                  <a:srgbClr val="3F3826"/>
                </a:solidFill>
                <a:latin typeface="Libre Caslon Display"/>
              </a:rPr>
              <a:t>Get fit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0" y="2926080"/>
            <a:ext cx="274320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8A6512"/>
                </a:solidFill>
                <a:latin typeface="Karla"/>
              </a:rPr>
              <a:t>→         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3584448"/>
            <a:ext cx="7772400" cy="640080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F3D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05256" y="3694175"/>
            <a:ext cx="420624" cy="420624"/>
          </a:xfrm>
          <a:prstGeom prst="ellipse">
            <a:avLst/>
          </a:prstGeom>
          <a:solidFill>
            <a:srgbClr val="8A65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3767328"/>
            <a:ext cx="420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FFFDF7"/>
                </a:solidFill>
                <a:latin typeface="Libre Caslon Display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17904" y="3712463"/>
            <a:ext cx="384048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400" b="1" i="0">
                <a:solidFill>
                  <a:srgbClr val="3F3826"/>
                </a:solidFill>
                <a:latin typeface="Libre Caslon Display"/>
              </a:rPr>
              <a:t>Reply to the message from Tuesday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0" y="3712463"/>
            <a:ext cx="274320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8A6512"/>
                </a:solidFill>
                <a:latin typeface="Karla"/>
              </a:rPr>
              <a:t>→          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4334256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8A6512"/>
                </a:solidFill>
                <a:latin typeface="Karla"/>
              </a:rPr>
              <a:t>If it takes longer than two minutes to start, it is still too big.</a:t>
            </a:r>
          </a:p>
        </p:txBody>
      </p:sp>
      <p:pic>
        <p:nvPicPr>
          <p:cNvPr id="24" name="Picture 23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A29A80"/>
                </a:solidFill>
                <a:latin typeface="Karla"/>
              </a:rPr>
              <a:t>The Pastoral Guide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A29A80"/>
                </a:solidFill>
                <a:latin typeface="Karla"/>
              </a:rPr>
              <a:t>10 / 20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8A6512"/>
                </a:solidFill>
                <a:latin typeface="Karla"/>
              </a:rPr>
              <a:t>YOUR TURN, ON THE SHEET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50024" y="530352"/>
            <a:ext cx="1408176" cy="347472"/>
          </a:xfrm>
          <a:prstGeom prst="roundRect">
            <a:avLst>
              <a:gd name="adj" fmla="val 50000"/>
            </a:avLst>
          </a:prstGeom>
          <a:solidFill>
            <a:srgbClr val="FA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50024" y="589788"/>
            <a:ext cx="14081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8A6512"/>
                </a:solidFill>
                <a:latin typeface="Karla"/>
              </a:rPr>
              <a:t>YOUR LIST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900" b="1" i="0">
                <a:solidFill>
                  <a:srgbClr val="3F3826"/>
                </a:solidFill>
                <a:latin typeface="Libre Caslon Display"/>
              </a:rPr>
              <a:t>Three things you are avoiding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99616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1">
                <a:solidFill>
                  <a:srgbClr val="706750"/>
                </a:solidFill>
                <a:latin typeface="Karla"/>
              </a:rPr>
              <a:t>One for school, one at home, one that is only for you. Nobody reads this.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066543"/>
            <a:ext cx="2432304" cy="1298448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F3D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18488" y="2203704"/>
            <a:ext cx="566928" cy="566928"/>
          </a:xfrm>
          <a:prstGeom prst="ellipse">
            <a:avLst/>
          </a:prstGeom>
          <a:solidFill>
            <a:srgbClr val="8A65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checkl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6504" y="2331720"/>
            <a:ext cx="310896" cy="31089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32104" y="2926080"/>
            <a:ext cx="213969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250" b="1" i="0">
                <a:solidFill>
                  <a:srgbClr val="8A6512"/>
                </a:solidFill>
                <a:latin typeface="Libre Caslon Display"/>
              </a:rPr>
              <a:t>One from school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55848" y="2066543"/>
            <a:ext cx="2432304" cy="1298448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F3D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288536" y="2203704"/>
            <a:ext cx="566928" cy="566928"/>
          </a:xfrm>
          <a:prstGeom prst="ellipse">
            <a:avLst/>
          </a:prstGeom>
          <a:solidFill>
            <a:srgbClr val="8A65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hou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16552" y="2331720"/>
            <a:ext cx="310896" cy="31089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02152" y="2926080"/>
            <a:ext cx="213969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250" b="1" i="0">
                <a:solidFill>
                  <a:srgbClr val="8A6512"/>
                </a:solidFill>
                <a:latin typeface="Libre Caslon Display"/>
              </a:rPr>
              <a:t>One from home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25896" y="2066543"/>
            <a:ext cx="2432304" cy="1298448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F3D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958584" y="2203704"/>
            <a:ext cx="566928" cy="566928"/>
          </a:xfrm>
          <a:prstGeom prst="ellipse">
            <a:avLst/>
          </a:prstGeom>
          <a:solidFill>
            <a:srgbClr val="8A65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fla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86600" y="2331720"/>
            <a:ext cx="310896" cy="31089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172200" y="2926080"/>
            <a:ext cx="213969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250" b="1" i="0">
                <a:solidFill>
                  <a:srgbClr val="8A6512"/>
                </a:solidFill>
                <a:latin typeface="Libre Caslon Display"/>
              </a:rPr>
              <a:t>One just for you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3584448"/>
            <a:ext cx="7772400" cy="566928"/>
          </a:xfrm>
          <a:prstGeom prst="roundRect">
            <a:avLst>
              <a:gd name="adj" fmla="val 6000"/>
            </a:avLst>
          </a:prstGeom>
          <a:solidFill>
            <a:srgbClr val="FAF1DE"/>
          </a:solidFill>
          <a:ln w="12700">
            <a:solidFill>
              <a:srgbClr val="E0AE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3675887"/>
            <a:ext cx="73152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1" i="0">
                <a:solidFill>
                  <a:srgbClr val="8A6512"/>
                </a:solidFill>
                <a:latin typeface="Karla"/>
              </a:rPr>
              <a:t>Then score each one out of ten: how much do you want to do it right now?</a:t>
            </a:r>
          </a:p>
        </p:txBody>
      </p:sp>
      <p:pic>
        <p:nvPicPr>
          <p:cNvPr id="22" name="Picture 21" descr="logo-mast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A29A80"/>
                </a:solidFill>
                <a:latin typeface="Karla"/>
              </a:rPr>
              <a:t>The Pastoral Guide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A29A80"/>
                </a:solidFill>
                <a:latin typeface="Karla"/>
              </a:rPr>
              <a:t>11 / 20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EBD0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4A4028"/>
                </a:solidFill>
                <a:latin typeface="Karla"/>
              </a:rPr>
              <a:t>THE EXPERIMENT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8A6512"/>
                </a:solidFill>
                <a:latin typeface="Karla"/>
              </a:rPr>
              <a:t>DO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96112"/>
            <a:ext cx="7772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3800" b="1" i="0">
                <a:solidFill>
                  <a:srgbClr val="3A3320"/>
                </a:solidFill>
                <a:latin typeface="Libre Caslon Display"/>
              </a:rPr>
              <a:t>Five minutes. Starting now.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554480" y="1956816"/>
            <a:ext cx="6035040" cy="51206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4519" y="2029968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 i="0">
                <a:solidFill>
                  <a:srgbClr val="8A6512"/>
                </a:solidFill>
                <a:latin typeface="Karla"/>
              </a:rPr>
              <a:t>Take the one you scored lowest.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554480" y="2578608"/>
            <a:ext cx="6035040" cy="51206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74519" y="2651760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 i="0">
                <a:solidFill>
                  <a:srgbClr val="8A6512"/>
                </a:solidFill>
                <a:latin typeface="Karla"/>
              </a:rPr>
              <a:t>Shrink it to something you can do at this desk.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554480" y="3200400"/>
            <a:ext cx="6035040" cy="51206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874519" y="3273552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 i="0">
                <a:solidFill>
                  <a:srgbClr val="8A6512"/>
                </a:solidFill>
                <a:latin typeface="Karla"/>
              </a:rPr>
              <a:t>No talking. Just the five minutes.</a:t>
            </a:r>
          </a:p>
        </p:txBody>
      </p:sp>
      <p:sp>
        <p:nvSpPr>
          <p:cNvPr id="13" name="Oval 12"/>
          <p:cNvSpPr/>
          <p:nvPr/>
        </p:nvSpPr>
        <p:spPr>
          <a:xfrm>
            <a:off x="4288536" y="3776472"/>
            <a:ext cx="566928" cy="566928"/>
          </a:xfrm>
          <a:prstGeom prst="ellipse">
            <a:avLst/>
          </a:prstGeom>
          <a:solidFill>
            <a:srgbClr val="FA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clo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6552" y="3904488"/>
            <a:ext cx="310896" cy="310896"/>
          </a:xfrm>
          <a:prstGeom prst="rect">
            <a:avLst/>
          </a:prstGeom>
        </p:spPr>
      </p:pic>
      <p:pic>
        <p:nvPicPr>
          <p:cNvPr id="15" name="Picture 14" descr="logo-mas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4A4028"/>
                </a:solidFill>
                <a:latin typeface="Karla"/>
              </a:rPr>
              <a:t>The Pastoral Guide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4A4028"/>
                </a:solidFill>
                <a:latin typeface="Karla"/>
              </a:rPr>
              <a:t>12 / 20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8A6512"/>
                </a:solidFill>
                <a:latin typeface="Karla"/>
              </a:rPr>
              <a:t>STOP. GO BACK TO YOUR SHEET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FA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8A6512"/>
                </a:solidFill>
                <a:latin typeface="Karla"/>
              </a:rPr>
              <a:t>SCORE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1" i="0">
                <a:solidFill>
                  <a:srgbClr val="3F3826"/>
                </a:solidFill>
                <a:latin typeface="Libre Caslon Display"/>
              </a:rPr>
              <a:t>Score it again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81328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1">
                <a:solidFill>
                  <a:srgbClr val="706750"/>
                </a:solidFill>
                <a:latin typeface="Karla"/>
              </a:rPr>
              <a:t>Same question. How much do you want to carry on with it, right now?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011680"/>
            <a:ext cx="2444496" cy="1316736"/>
          </a:xfrm>
          <a:prstGeom prst="roundRect">
            <a:avLst>
              <a:gd name="adj" fmla="val 6000"/>
            </a:avLst>
          </a:prstGeom>
          <a:solidFill>
            <a:srgbClr val="FAF1DE"/>
          </a:solidFill>
          <a:ln w="12700">
            <a:solidFill>
              <a:srgbClr val="E0AE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231136"/>
            <a:ext cx="20787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8A6512"/>
                </a:solidFill>
                <a:latin typeface="Libre Caslon Display"/>
              </a:rPr>
              <a:t>Went up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688336"/>
            <a:ext cx="2078736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706750"/>
                </a:solidFill>
                <a:latin typeface="Karla"/>
              </a:rPr>
              <a:t>Hands up. This is most of the room.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49752" y="2011680"/>
            <a:ext cx="2444496" cy="1316736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F3D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32632" y="2231136"/>
            <a:ext cx="20787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8A6512"/>
                </a:solidFill>
                <a:latin typeface="Libre Caslon Display"/>
              </a:rPr>
              <a:t>Stayed the same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32632" y="2688336"/>
            <a:ext cx="2078736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706750"/>
                </a:solidFill>
                <a:latin typeface="Karla"/>
              </a:rPr>
              <a:t>Also useful. What stopped it moving?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13704" y="2011680"/>
            <a:ext cx="2444496" cy="1316736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F3D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96584" y="2231136"/>
            <a:ext cx="20787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8A6512"/>
                </a:solidFill>
                <a:latin typeface="Libre Caslon Display"/>
              </a:rPr>
              <a:t>Went down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96584" y="2688336"/>
            <a:ext cx="2078736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706750"/>
                </a:solidFill>
                <a:latin typeface="Karla"/>
              </a:rPr>
              <a:t>The most interesting one in here.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584448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8A6512"/>
                </a:solidFill>
                <a:latin typeface="Karla"/>
              </a:rPr>
              <a:t>Count the hands and put the numbers on the board.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3968496"/>
            <a:ext cx="7772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Aft>
                <a:spcPts val="0"/>
              </a:spcAft>
            </a:pPr>
            <a:r>
              <a:rPr sz="1200" b="0" i="1">
                <a:solidFill>
                  <a:srgbClr val="706750"/>
                </a:solidFill>
                <a:latin typeface="Karla"/>
              </a:rPr>
              <a:t>That is your evidence, not mine. Five minutes ago most of you did not want to do the thing you have just done some of.</a:t>
            </a:r>
          </a:p>
        </p:txBody>
      </p:sp>
      <p:pic>
        <p:nvPicPr>
          <p:cNvPr id="19" name="Picture 18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A29A80"/>
                </a:solidFill>
                <a:latin typeface="Karla"/>
              </a:rPr>
              <a:t>The Pastoral Guide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A29A80"/>
                </a:solidFill>
                <a:latin typeface="Karla"/>
              </a:rPr>
              <a:t>13 / 20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8A6512"/>
                </a:solidFill>
                <a:latin typeface="Karla"/>
              </a:rPr>
              <a:t>WHY THAT HAPPENS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FA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8A6512"/>
                </a:solidFill>
                <a:latin typeface="Karla"/>
              </a:rPr>
              <a:t>LEARN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100" b="1" i="0">
                <a:solidFill>
                  <a:srgbClr val="3F3826"/>
                </a:solidFill>
                <a:latin typeface="Libre Caslon Display"/>
              </a:rPr>
              <a:t>Starting is the expensive bit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664208"/>
            <a:ext cx="7772400" cy="804672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F3D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32688" y="1810512"/>
            <a:ext cx="512064" cy="512064"/>
          </a:xfrm>
          <a:prstGeom prst="ellipse">
            <a:avLst/>
          </a:prstGeom>
          <a:solidFill>
            <a:srgbClr val="8A65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te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" y="1924812"/>
            <a:ext cx="283464" cy="2834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700784" y="1783080"/>
            <a:ext cx="640080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450" b="1" i="0">
                <a:solidFill>
                  <a:srgbClr val="8A6512"/>
                </a:solidFill>
                <a:latin typeface="Libre Caslon Display"/>
              </a:rPr>
              <a:t>The first move costs the most.</a:t>
            </a:r>
            <a:br/>
            <a:r>
              <a:rPr sz="1450" b="1" i="0">
                <a:solidFill>
                  <a:srgbClr val="8A6512"/>
                </a:solidFill>
                <a:latin typeface="Libre Caslon Display"/>
              </a:rPr>
              <a:t>Everything after it is cheaper.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596896"/>
            <a:ext cx="7772400" cy="804672"/>
          </a:xfrm>
          <a:prstGeom prst="roundRect">
            <a:avLst>
              <a:gd name="adj" fmla="val 6000"/>
            </a:avLst>
          </a:prstGeom>
          <a:solidFill>
            <a:srgbClr val="FAF1DE"/>
          </a:solidFill>
          <a:ln w="12700">
            <a:solidFill>
              <a:srgbClr val="F3D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32688" y="2743200"/>
            <a:ext cx="512064" cy="512064"/>
          </a:xfrm>
          <a:prstGeom prst="ellipse">
            <a:avLst/>
          </a:prstGeom>
          <a:solidFill>
            <a:srgbClr val="8A65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bol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6988" y="2857500"/>
            <a:ext cx="283464" cy="28346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700784" y="2715768"/>
            <a:ext cx="640080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450" b="1" i="0">
                <a:solidFill>
                  <a:srgbClr val="8A6512"/>
                </a:solidFill>
                <a:latin typeface="Libre Caslon Display"/>
              </a:rPr>
              <a:t>Half-done things nag at you.</a:t>
            </a:r>
            <a:br/>
            <a:r>
              <a:rPr sz="1450" b="1" i="0">
                <a:solidFill>
                  <a:srgbClr val="8A6512"/>
                </a:solidFill>
                <a:latin typeface="Libre Caslon Display"/>
              </a:rPr>
              <a:t>Finished ones go quiet.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3529584"/>
            <a:ext cx="7772400" cy="804672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F3D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32688" y="3675888"/>
            <a:ext cx="512064" cy="512064"/>
          </a:xfrm>
          <a:prstGeom prst="ellipse">
            <a:avLst/>
          </a:prstGeom>
          <a:solidFill>
            <a:srgbClr val="8A65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arro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6988" y="3790188"/>
            <a:ext cx="283464" cy="28346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700784" y="3648456"/>
            <a:ext cx="640080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450" b="1" i="0">
                <a:solidFill>
                  <a:srgbClr val="8A6512"/>
                </a:solidFill>
                <a:latin typeface="Libre Caslon Display"/>
              </a:rPr>
              <a:t>Five minutes in, it stops being scary</a:t>
            </a:r>
            <a:br>
              <a:rPr sz="1450" b="1" i="0">
                <a:solidFill>
                  <a:srgbClr val="8A6512"/>
                </a:solidFill>
                <a:latin typeface="Libre Caslon Display"/>
              </a:rPr>
            </a:br>
            <a:r>
              <a:rPr sz="1450" b="1" i="0">
                <a:solidFill>
                  <a:srgbClr val="8A6512"/>
                </a:solidFill>
                <a:latin typeface="Libre Caslon Display"/>
              </a:rPr>
              <a:t>and starts being something you can measure.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4389120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8A6512"/>
                </a:solidFill>
                <a:latin typeface="Karla"/>
              </a:rPr>
              <a:t>Psychologists call it behavioural activation. Action first, feeling second.</a:t>
            </a:r>
          </a:p>
        </p:txBody>
      </p:sp>
      <p:pic>
        <p:nvPicPr>
          <p:cNvPr id="20" name="Picture 19" descr="logo-mast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A29A80"/>
                </a:solidFill>
                <a:latin typeface="Karla"/>
              </a:rPr>
              <a:t>The Pastoral Guide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A29A80"/>
                </a:solidFill>
                <a:latin typeface="Karla"/>
              </a:rPr>
              <a:t>14 / 20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EBD0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4A4028"/>
                </a:solidFill>
                <a:latin typeface="Karla"/>
              </a:rPr>
              <a:t>TALK ABOUT IT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8A6512"/>
                </a:solidFill>
                <a:latin typeface="Karla"/>
              </a:rPr>
              <a:t>DISCUSS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77824"/>
            <a:ext cx="7772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3400" b="1" i="0">
                <a:solidFill>
                  <a:srgbClr val="3A3320"/>
                </a:solidFill>
                <a:latin typeface="Libre Caslon Display"/>
              </a:rPr>
              <a:t>Three hard questions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51560" y="1847088"/>
            <a:ext cx="70408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280160" y="1956815"/>
            <a:ext cx="402336" cy="402336"/>
          </a:xfrm>
          <a:prstGeom prst="ellipse">
            <a:avLst/>
          </a:prstGeom>
          <a:solidFill>
            <a:srgbClr val="8A65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80160" y="202082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DF7"/>
                </a:solidFill>
                <a:latin typeface="Libre Caslon Display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65376" y="1947672"/>
            <a:ext cx="59436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300" b="0" i="0">
                <a:solidFill>
                  <a:srgbClr val="8A6512"/>
                </a:solidFill>
                <a:latin typeface="Karla"/>
              </a:rPr>
              <a:t>Whose score went down, and what does that tell you about the task?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51560" y="2596896"/>
            <a:ext cx="70408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280160" y="2706623"/>
            <a:ext cx="402336" cy="402336"/>
          </a:xfrm>
          <a:prstGeom prst="ellipse">
            <a:avLst/>
          </a:prstGeom>
          <a:solidFill>
            <a:srgbClr val="8A65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80160" y="277063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DF7"/>
                </a:solidFill>
                <a:latin typeface="Libre Caslon Display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65376" y="2697479"/>
            <a:ext cx="59436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300" b="0" i="0">
                <a:solidFill>
                  <a:srgbClr val="8A6512"/>
                </a:solidFill>
                <a:latin typeface="Karla"/>
              </a:rPr>
              <a:t>If starting is the hard bit, why do we keep waiting to feel ready?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51560" y="3346704"/>
            <a:ext cx="70408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280160" y="3456432"/>
            <a:ext cx="402336" cy="402336"/>
          </a:xfrm>
          <a:prstGeom prst="ellipse">
            <a:avLst/>
          </a:prstGeom>
          <a:solidFill>
            <a:srgbClr val="8A65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80160" y="35204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DF7"/>
                </a:solidFill>
                <a:latin typeface="Libre Caslon Display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65376" y="3447288"/>
            <a:ext cx="59436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300" b="0" i="0">
                <a:solidFill>
                  <a:srgbClr val="8A6512"/>
                </a:solidFill>
                <a:latin typeface="Karla"/>
              </a:rPr>
              <a:t>Is there anything on your list that you should just cross off instead?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4261104"/>
            <a:ext cx="69494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0" i="1">
                <a:solidFill>
                  <a:srgbClr val="4A4028"/>
                </a:solidFill>
                <a:latin typeface="Karla"/>
              </a:rPr>
              <a:t>The third question matters most. Not everything on a list deserves to be there.</a:t>
            </a:r>
          </a:p>
        </p:txBody>
      </p:sp>
      <p:pic>
        <p:nvPicPr>
          <p:cNvPr id="20" name="Picture 19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4A4028"/>
                </a:solidFill>
                <a:latin typeface="Karla"/>
              </a:rPr>
              <a:t>The Pastoral Guide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4A4028"/>
                </a:solidFill>
                <a:latin typeface="Karla"/>
              </a:rPr>
              <a:t>15 / 20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8A6512"/>
                </a:solidFill>
                <a:latin typeface="Karla"/>
              </a:rPr>
              <a:t>THERE IS A SAYING ABOUT THIS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FA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8A6512"/>
                </a:solidFill>
                <a:latin typeface="Karla"/>
              </a:rPr>
              <a:t>WEIGH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1" i="0">
                <a:solidFill>
                  <a:srgbClr val="3F3826"/>
                </a:solidFill>
                <a:latin typeface="Libre Caslon Display"/>
              </a:rPr>
              <a:t>“Busy people stay busy”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554480"/>
            <a:ext cx="77724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 i="1">
                <a:solidFill>
                  <a:srgbClr val="706750"/>
                </a:solidFill>
                <a:latin typeface="Karla"/>
              </a:rPr>
              <a:t>It is half right, and the wrong half is the half that does harm.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084831"/>
            <a:ext cx="3758184" cy="1810512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F3D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308860" y="2267711"/>
            <a:ext cx="512064" cy="512064"/>
          </a:xfrm>
          <a:prstGeom prst="ellipse">
            <a:avLst/>
          </a:prstGeom>
          <a:solidFill>
            <a:srgbClr val="8A65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bubble_ti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3160" y="2382012"/>
            <a:ext cx="283464" cy="2834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68680" y="2926080"/>
            <a:ext cx="33924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40">
                <a:solidFill>
                  <a:srgbClr val="706750"/>
                </a:solidFill>
                <a:latin typeface="Karla"/>
              </a:rPr>
              <a:t>TRUE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3544" y="3236976"/>
            <a:ext cx="3282696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6000"/>
              </a:lnSpc>
              <a:spcAft>
                <a:spcPts val="0"/>
              </a:spcAft>
            </a:pPr>
            <a:r>
              <a:rPr sz="1400" b="1" i="0">
                <a:solidFill>
                  <a:srgbClr val="8A6512"/>
                </a:solidFill>
                <a:latin typeface="Libre Caslon Display"/>
              </a:rPr>
              <a:t>Momentum is real.</a:t>
            </a:r>
            <a:br/>
            <a:r>
              <a:rPr sz="1400" b="1" i="0">
                <a:solidFill>
                  <a:srgbClr val="8A6512"/>
                </a:solidFill>
                <a:latin typeface="Libre Caslon Display"/>
              </a:rPr>
              <a:t>You just proved it.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00016" y="2084831"/>
            <a:ext cx="3758184" cy="1810512"/>
          </a:xfrm>
          <a:prstGeom prst="roundRect">
            <a:avLst>
              <a:gd name="adj" fmla="val 6000"/>
            </a:avLst>
          </a:prstGeom>
          <a:solidFill>
            <a:srgbClr val="FAF1DE"/>
          </a:solidFill>
          <a:ln w="12700">
            <a:solidFill>
              <a:srgbClr val="E0AE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23076" y="2267711"/>
            <a:ext cx="512064" cy="512064"/>
          </a:xfrm>
          <a:prstGeom prst="ellipse">
            <a:avLst/>
          </a:prstGeom>
          <a:solidFill>
            <a:srgbClr val="8A65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bubble_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7376" y="2382012"/>
            <a:ext cx="283464" cy="28346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882896" y="2926080"/>
            <a:ext cx="33924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40">
                <a:solidFill>
                  <a:srgbClr val="706750"/>
                </a:solidFill>
                <a:latin typeface="Karla"/>
              </a:rPr>
              <a:t>NOT TRUE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37760" y="3236976"/>
            <a:ext cx="3282696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6000"/>
              </a:lnSpc>
              <a:spcAft>
                <a:spcPts val="0"/>
              </a:spcAft>
            </a:pPr>
            <a:r>
              <a:rPr sz="1400" b="1" i="0">
                <a:solidFill>
                  <a:srgbClr val="8A6512"/>
                </a:solidFill>
                <a:latin typeface="Libre Caslon Display"/>
              </a:rPr>
              <a:t>That being busy is the point.</a:t>
            </a:r>
            <a:br/>
            <a:r>
              <a:rPr sz="1400" b="1" i="0">
                <a:solidFill>
                  <a:srgbClr val="8A6512"/>
                </a:solidFill>
                <a:latin typeface="Libre Caslon Display"/>
              </a:rPr>
              <a:t>A full day can hold nothing.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4151376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8A6512"/>
                </a:solidFill>
                <a:latin typeface="Karla"/>
              </a:rPr>
              <a:t>The word that saying is really reaching for is started, not busy.</a:t>
            </a:r>
          </a:p>
        </p:txBody>
      </p:sp>
      <p:pic>
        <p:nvPicPr>
          <p:cNvPr id="19" name="Picture 18" descr="logo-mast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A29A80"/>
                </a:solidFill>
                <a:latin typeface="Karla"/>
              </a:rPr>
              <a:t>The Pastoral Guide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A29A80"/>
                </a:solidFill>
                <a:latin typeface="Karla"/>
              </a:rPr>
              <a:t>16 / 20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8A6512"/>
                </a:solidFill>
                <a:latin typeface="Karla"/>
              </a:rPr>
              <a:t>SORT THE CARDS ON YOUR TABLE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FA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8A6512"/>
                </a:solidFill>
                <a:latin typeface="Karla"/>
              </a:rPr>
              <a:t>WEIGH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1" i="0">
                <a:solidFill>
                  <a:srgbClr val="3F3826"/>
                </a:solidFill>
                <a:latin typeface="Libre Caslon Display"/>
              </a:rPr>
              <a:t>Three piles, not two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682496"/>
            <a:ext cx="2432304" cy="2139696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F3D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581912" y="1911095"/>
            <a:ext cx="640080" cy="640080"/>
          </a:xfrm>
          <a:prstGeom prst="ellipse">
            <a:avLst/>
          </a:prstGeom>
          <a:solidFill>
            <a:srgbClr val="8A65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ar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9072" y="2048255"/>
            <a:ext cx="365760" cy="365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32104" y="2761488"/>
            <a:ext cx="213969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700" b="1" i="0">
                <a:solidFill>
                  <a:srgbClr val="8A6512"/>
                </a:solidFill>
                <a:latin typeface="Libre Caslon Display"/>
              </a:rPr>
              <a:t>Action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200400"/>
            <a:ext cx="1993392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2000"/>
              </a:lnSpc>
              <a:spcAft>
                <a:spcPts val="0"/>
              </a:spcAft>
            </a:pPr>
            <a:r>
              <a:rPr sz="1100" b="0" i="0">
                <a:solidFill>
                  <a:srgbClr val="706750"/>
                </a:solidFill>
                <a:latin typeface="Karla"/>
              </a:rPr>
              <a:t>It moved the thing forward, even slightly.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55848" y="1682496"/>
            <a:ext cx="2432304" cy="2139696"/>
          </a:xfrm>
          <a:prstGeom prst="roundRect">
            <a:avLst>
              <a:gd name="adj" fmla="val 6000"/>
            </a:avLst>
          </a:prstGeom>
          <a:solidFill>
            <a:srgbClr val="FAF1DE"/>
          </a:solidFill>
          <a:ln w="12700">
            <a:solidFill>
              <a:srgbClr val="F3D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251960" y="1911095"/>
            <a:ext cx="640080" cy="640080"/>
          </a:xfrm>
          <a:prstGeom prst="ellipse">
            <a:avLst/>
          </a:prstGeom>
          <a:solidFill>
            <a:srgbClr val="8A65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lo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0" y="2048255"/>
            <a:ext cx="365760" cy="3657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02152" y="2761488"/>
            <a:ext cx="213969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700" b="1" i="0">
                <a:solidFill>
                  <a:srgbClr val="8A6512"/>
                </a:solidFill>
                <a:latin typeface="Libre Caslon Display"/>
              </a:rPr>
              <a:t>Motion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75304" y="3200400"/>
            <a:ext cx="1993392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2000"/>
              </a:lnSpc>
              <a:spcAft>
                <a:spcPts val="0"/>
              </a:spcAft>
            </a:pPr>
            <a:r>
              <a:rPr sz="1100" b="0" i="0">
                <a:solidFill>
                  <a:srgbClr val="706750"/>
                </a:solidFill>
                <a:latin typeface="Karla"/>
              </a:rPr>
              <a:t>It felt like work and moved nothing. Be honest.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25896" y="1682496"/>
            <a:ext cx="2432304" cy="2139696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F3D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922008" y="1911095"/>
            <a:ext cx="640080" cy="640080"/>
          </a:xfrm>
          <a:prstGeom prst="ellipse">
            <a:avLst/>
          </a:prstGeom>
          <a:solidFill>
            <a:srgbClr val="8A65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mu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59168" y="2048255"/>
            <a:ext cx="365760" cy="3657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172200" y="2761488"/>
            <a:ext cx="213969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700" b="1" i="0">
                <a:solidFill>
                  <a:srgbClr val="8A6512"/>
                </a:solidFill>
                <a:latin typeface="Libre Caslon Display"/>
              </a:rPr>
              <a:t>Real rest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3200400"/>
            <a:ext cx="1993392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2000"/>
              </a:lnSpc>
              <a:spcAft>
                <a:spcPts val="0"/>
              </a:spcAft>
            </a:pPr>
            <a:r>
              <a:rPr sz="1100" b="0" i="0">
                <a:solidFill>
                  <a:srgbClr val="706750"/>
                </a:solidFill>
                <a:latin typeface="Karla"/>
              </a:rPr>
              <a:t>Chosen on purpose, and it put something back.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4041648"/>
            <a:ext cx="7772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8A6512"/>
                </a:solidFill>
                <a:latin typeface="Karla"/>
              </a:rPr>
              <a:t>Rest is not the opposite of action. Avoidance is, and it is the pile in the middle.</a:t>
            </a:r>
          </a:p>
        </p:txBody>
      </p:sp>
      <p:pic>
        <p:nvPicPr>
          <p:cNvPr id="23" name="Picture 22" descr="logo-mast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A29A80"/>
                </a:solidFill>
                <a:latin typeface="Karla"/>
              </a:rPr>
              <a:t>The Pastoral Guide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A29A80"/>
                </a:solidFill>
                <a:latin typeface="Karla"/>
              </a:rPr>
              <a:t>17 / 20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8A6512"/>
                </a:solidFill>
                <a:latin typeface="Karla"/>
              </a:rPr>
              <a:t>ON THE SLIP, THEN KEEP IT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FA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8A6512"/>
                </a:solidFill>
                <a:latin typeface="Karla"/>
              </a:rPr>
              <a:t>EXIT SLIP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100" b="1" i="0">
                <a:solidFill>
                  <a:srgbClr val="3F3826"/>
                </a:solidFill>
                <a:latin typeface="Libre Caslon Display"/>
              </a:rPr>
              <a:t>One thing. One first move.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99616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1">
                <a:solidFill>
                  <a:srgbClr val="706750"/>
                </a:solidFill>
                <a:latin typeface="Karla"/>
              </a:rPr>
              <a:t>This one is yours. It is not collected and nobody is going to ask you about 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975104"/>
            <a:ext cx="7772400" cy="621792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F3D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50976" y="2066544"/>
            <a:ext cx="22860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1" i="0">
                <a:solidFill>
                  <a:srgbClr val="8A6512"/>
                </a:solidFill>
                <a:latin typeface="Libre Caslon Display"/>
              </a:rPr>
              <a:t>The thing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0" y="2066544"/>
            <a:ext cx="48463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150" b="0" i="0">
                <a:solidFill>
                  <a:srgbClr val="706750"/>
                </a:solidFill>
                <a:latin typeface="Karla"/>
              </a:rPr>
              <a:t>The one you have been avoiding longest.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724912"/>
            <a:ext cx="7772400" cy="621792"/>
          </a:xfrm>
          <a:prstGeom prst="roundRect">
            <a:avLst>
              <a:gd name="adj" fmla="val 6000"/>
            </a:avLst>
          </a:prstGeom>
          <a:solidFill>
            <a:srgbClr val="FAF1DE"/>
          </a:solidFill>
          <a:ln w="12700">
            <a:solidFill>
              <a:srgbClr val="F3D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50976" y="2816352"/>
            <a:ext cx="22860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1" i="0">
                <a:solidFill>
                  <a:srgbClr val="8A6512"/>
                </a:solidFill>
                <a:latin typeface="Libre Caslon Display"/>
              </a:rPr>
              <a:t>The first move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80" y="2816352"/>
            <a:ext cx="48463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150" b="0" i="0">
                <a:solidFill>
                  <a:srgbClr val="706750"/>
                </a:solidFill>
                <a:latin typeface="Karla"/>
              </a:rPr>
              <a:t>Small enough that you cannot talk yourself out of it.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474720"/>
            <a:ext cx="7772400" cy="621792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F3D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50976" y="3566160"/>
            <a:ext cx="22860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1" i="0">
                <a:solidFill>
                  <a:srgbClr val="8A6512"/>
                </a:solidFill>
                <a:latin typeface="Libre Caslon Display"/>
              </a:rPr>
              <a:t>When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3280" y="3566160"/>
            <a:ext cx="48463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150" b="0" i="0">
                <a:solidFill>
                  <a:srgbClr val="706750"/>
                </a:solidFill>
                <a:latin typeface="Karla"/>
              </a:rPr>
              <a:t>A time today or tomorrow. Not “soon”.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315968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8A6512"/>
                </a:solidFill>
                <a:latin typeface="Karla"/>
              </a:rPr>
              <a:t>Put it somewhere you will see it before the time you have written down.</a:t>
            </a:r>
          </a:p>
        </p:txBody>
      </p:sp>
      <p:pic>
        <p:nvPicPr>
          <p:cNvPr id="18" name="Picture 17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A29A80"/>
                </a:solidFill>
                <a:latin typeface="Karla"/>
              </a:rPr>
              <a:t>The Pastoral Guide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A29A80"/>
                </a:solidFill>
                <a:latin typeface="Karla"/>
              </a:rPr>
              <a:t>18 / 20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EBD0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4A4028"/>
                </a:solidFill>
                <a:latin typeface="Karla"/>
              </a:rPr>
              <a:t>IF YOU REMEMBER ONE THING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804672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000"/>
              </a:lnSpc>
              <a:spcAft>
                <a:spcPts val="0"/>
              </a:spcAft>
            </a:pPr>
            <a:r>
              <a:rPr sz="3400" b="1" i="0">
                <a:solidFill>
                  <a:srgbClr val="3A3320"/>
                </a:solidFill>
                <a:latin typeface="Libre Caslon Display"/>
              </a:rPr>
              <a:t>You are not going to feel like it.</a:t>
            </a:r>
            <a:br/>
            <a:r>
              <a:rPr sz="3400" b="1" i="0">
                <a:solidFill>
                  <a:srgbClr val="3A3320"/>
                </a:solidFill>
                <a:latin typeface="Libre Caslon Display"/>
              </a:rPr>
              <a:t>Start anyway.</a:t>
            </a:r>
          </a:p>
        </p:txBody>
      </p:sp>
      <p:sp>
        <p:nvSpPr>
          <p:cNvPr id="5" name="Rectangle 4"/>
          <p:cNvSpPr/>
          <p:nvPr/>
        </p:nvSpPr>
        <p:spPr>
          <a:xfrm>
            <a:off x="4069080" y="3127248"/>
            <a:ext cx="1005840" cy="18288"/>
          </a:xfrm>
          <a:prstGeom prst="rect">
            <a:avLst/>
          </a:prstGeom>
          <a:solidFill>
            <a:srgbClr val="4A4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3419856"/>
            <a:ext cx="6949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8000"/>
              </a:lnSpc>
              <a:spcAft>
                <a:spcPts val="0"/>
              </a:spcAft>
            </a:pPr>
            <a:r>
              <a:rPr sz="1450" b="0" i="1">
                <a:solidFill>
                  <a:srgbClr val="4A4028"/>
                </a:solidFill>
                <a:latin typeface="Karla"/>
              </a:rPr>
              <a:t>Nobody feels like it first.</a:t>
            </a:r>
            <a:br/>
            <a:r>
              <a:rPr sz="1450" b="0" i="1">
                <a:solidFill>
                  <a:srgbClr val="4A4028"/>
                </a:solidFill>
                <a:latin typeface="Karla"/>
              </a:rPr>
              <a:t>The wanting to turns up afterwards, once you have moved.</a:t>
            </a:r>
          </a:p>
        </p:txBody>
      </p:sp>
      <p:pic>
        <p:nvPicPr>
          <p:cNvPr id="7" name="Picture 6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4A4028"/>
                </a:solidFill>
                <a:latin typeface="Karla"/>
              </a:rPr>
              <a:t>The Pastoral Guide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4A4028"/>
                </a:solidFill>
                <a:latin typeface="Karla"/>
              </a:rPr>
              <a:t>19 / 20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EBD0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1495" y="1243584"/>
            <a:ext cx="681008" cy="78638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2304288"/>
            <a:ext cx="7863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3000" b="1" i="0">
                <a:solidFill>
                  <a:srgbClr val="3A3320"/>
                </a:solidFill>
                <a:latin typeface="Libre Caslon Display"/>
              </a:rPr>
              <a:t>Go and do the five minute version.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3072384"/>
            <a:ext cx="67665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8000"/>
              </a:lnSpc>
              <a:spcAft>
                <a:spcPts val="0"/>
              </a:spcAft>
            </a:pPr>
            <a:r>
              <a:rPr sz="1300" b="0" i="0">
                <a:solidFill>
                  <a:srgbClr val="4A4028"/>
                </a:solidFill>
                <a:latin typeface="Karla"/>
              </a:rPr>
              <a:t>Not the whole thing. Nobody does the whole thing first.</a:t>
            </a:r>
            <a:br/>
            <a:r>
              <a:rPr sz="1300" b="0" i="0">
                <a:solidFill>
                  <a:srgbClr val="4A4028"/>
                </a:solidFill>
                <a:latin typeface="Karla"/>
              </a:rPr>
              <a:t>Just the bit that gets you moving.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950208"/>
            <a:ext cx="7680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00" b="0" i="1">
                <a:solidFill>
                  <a:srgbClr val="4A4028"/>
                </a:solidFill>
                <a:latin typeface="Karla"/>
              </a:rPr>
              <a:t>Motivation Comes Second  ·  A procrastination lesson</a:t>
            </a:r>
          </a:p>
        </p:txBody>
      </p:sp>
      <p:pic>
        <p:nvPicPr>
          <p:cNvPr id="7" name="Picture 6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4A4028"/>
                </a:solidFill>
                <a:latin typeface="Karla"/>
              </a:rPr>
              <a:t>The Pastoral Guide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4A4028"/>
                </a:solidFill>
                <a:latin typeface="Karla"/>
              </a:rPr>
              <a:t>20 / 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