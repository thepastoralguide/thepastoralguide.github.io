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03504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55648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3A3320"/>
                </a:solidFill>
                <a:latin typeface="Georgia"/>
              </a:rPr>
              <a:t>Motivation Comes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688336"/>
            <a:ext cx="1005840" cy="18288"/>
          </a:xfrm>
          <a:prstGeom prst="rect">
            <a:avLst/>
          </a:prstGeom>
          <a:solidFill>
            <a:srgbClr val="4A4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950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4A4028"/>
                </a:solidFill>
                <a:latin typeface="Calibri"/>
              </a:rPr>
              <a:t>Why starting usually comes before feeling like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12463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4A4028"/>
                </a:solidFill>
                <a:latin typeface="Calibri"/>
              </a:rPr>
              <a:t>A procrastination lesson</a:t>
            </a:r>
          </a:p>
        </p:txBody>
      </p:sp>
      <p:pic>
        <p:nvPicPr>
          <p:cNvPr id="8" name="Picture 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8A6512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3F3826"/>
                </a:solidFill>
                <a:latin typeface="Georgia"/>
              </a:rPr>
              <a:t>Six things, in this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9344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83080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84708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67712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A time you felt motivated, and what set it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9344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1783080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86537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184708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Notice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267712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Every trigger the room named had already happened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609344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784" y="1783080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86537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184708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267712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Action comes first. Motivation follows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962656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3136392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2186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32004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621024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Cut one task down until it is too small to avoid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2962656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75304" y="3136392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32186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9664" y="32004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3621024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Five minutes, in silence, right now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2962656"/>
            <a:ext cx="2487168" cy="115214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2784" y="3136392"/>
            <a:ext cx="457200" cy="45720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32186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32004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Weigh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3621024"/>
            <a:ext cx="2048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 i="0">
                <a:solidFill>
                  <a:srgbClr val="706750"/>
                </a:solidFill>
                <a:latin typeface="Calibri"/>
              </a:rPr>
              <a:t>Busy is not the same as moving forward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8A6512"/>
                </a:solidFill>
                <a:latin typeface="Calibri"/>
              </a:rPr>
              <a:t>Nothing written down in this lesson is collected, read out or marked.</a:t>
            </a:r>
          </a:p>
        </p:txBody>
      </p:sp>
      <p:pic>
        <p:nvPicPr>
          <p:cNvPr id="38" name="Picture 3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9264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3800" b="0" i="0">
                <a:solidFill>
                  <a:srgbClr val="3A3320"/>
                </a:solidFill>
                <a:latin typeface="Georgia"/>
              </a:rPr>
              <a:t>When did you last really</a:t>
            </a:r>
            <a:br/>
            <a:r>
              <a:rPr sz="3800" b="0" i="0">
                <a:solidFill>
                  <a:srgbClr val="3A3320"/>
                </a:solidFill>
                <a:latin typeface="Georgia"/>
              </a:rPr>
              <a:t>want to do something?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871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4A4028"/>
                </a:solidFill>
                <a:latin typeface="Calibri"/>
              </a:rPr>
              <a:t>Anything at all. It does not have to be school.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3017520"/>
            <a:ext cx="603504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3081527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What was it, and when?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529584"/>
            <a:ext cx="603504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593591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What were you doing in the hour before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041648"/>
            <a:ext cx="603504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105656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What set it off?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THIRD QUESTION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What set it off?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Say them out loud. Every one goes on the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21408"/>
            <a:ext cx="6400800" cy="1389888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E0A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87" b="0" i="0">
                <a:solidFill>
                  <a:srgbClr val="8A6512"/>
                </a:solidFill>
                <a:latin typeface="Georgia"/>
              </a:rPr>
              <a:t>There are no wrong answers here,</a:t>
            </a:r>
            <a:br/>
            <a:r>
              <a:rPr sz="1787" b="0" i="0">
                <a:solidFill>
                  <a:srgbClr val="8A6512"/>
                </a:solidFill>
                <a:latin typeface="Georgia"/>
              </a:rPr>
              <a:t>and we need a lot of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706750"/>
                </a:solidFill>
                <a:latin typeface="Calibri"/>
              </a:rPr>
              <a:t>Nothing on the board gets judged. We are looking for a pattern.</a:t>
            </a:r>
          </a:p>
        </p:txBody>
      </p:sp>
      <p:pic>
        <p:nvPicPr>
          <p:cNvPr id="11" name="Picture 1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NOW LOOK AT THE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3F3826"/>
                </a:solidFill>
                <a:latin typeface="Georgia"/>
              </a:rPr>
              <a:t>What have they got in common?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Most classes end up with some of these.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39696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A deadline got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9752" y="2011680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344" y="2139696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Somebody else started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3704" y="2011680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8295" y="2139696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A mark came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44368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72384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I had already done a 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9752" y="2944368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344" y="3072384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Something finally worked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3704" y="2944368"/>
            <a:ext cx="2444496" cy="786384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8295" y="3072384"/>
            <a:ext cx="2115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F3826"/>
                </a:solidFill>
                <a:latin typeface="Georgia"/>
              </a:rPr>
              <a:t>Someone needed me 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8A6512"/>
                </a:solidFill>
                <a:latin typeface="Calibri"/>
              </a:rPr>
              <a:t>Every single one had already happened before the motivation arrived.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WHICH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200" b="0" i="0">
                <a:solidFill>
                  <a:srgbClr val="3A3320"/>
                </a:solidFill>
                <a:latin typeface="Georgia"/>
              </a:rPr>
              <a:t>Nobody said: “I was sitting doing</a:t>
            </a:r>
            <a:br/>
            <a:r>
              <a:rPr sz="3200" b="0" i="0">
                <a:solidFill>
                  <a:srgbClr val="3A3320"/>
                </a:solidFill>
                <a:latin typeface="Georgia"/>
              </a:rPr>
              <a:t>nothing, and it turned up.”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4A4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55264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600" b="0" i="1">
                <a:solidFill>
                  <a:srgbClr val="4A4028"/>
                </a:solidFill>
                <a:latin typeface="Calibri"/>
              </a:rPr>
              <a:t>It turns up after you have started, not before.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THE THING ALMOST EVERYONE HAS BACKWARDS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Which way round is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bble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39112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7904" y="17922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30">
                <a:solidFill>
                  <a:srgbClr val="8A6512"/>
                </a:solidFill>
                <a:latin typeface="Calibri"/>
              </a:rPr>
              <a:t>HOW YOU THINK IT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7904" y="2121408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1" y="219456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Feel like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1945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2191" y="2121408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9456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21945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21408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19456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Keep going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3580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ubble_t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29000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17904" y="31821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30">
                <a:solidFill>
                  <a:srgbClr val="8A6512"/>
                </a:solidFill>
                <a:latin typeface="Calibri"/>
              </a:rPr>
              <a:t>HOW IT ACTUALLY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17904" y="3511296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1" y="358444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5844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22191" y="3511296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358444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Something moves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35844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511296"/>
            <a:ext cx="197510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58444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3F3826"/>
                </a:solidFill>
                <a:latin typeface="Georgia"/>
              </a:rPr>
              <a:t>Feel like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8A6512"/>
                </a:solidFill>
                <a:latin typeface="Calibri"/>
              </a:rPr>
              <a:t>You are waiting at the wrong end of the arrow.</a:t>
            </a:r>
          </a:p>
        </p:txBody>
      </p:sp>
      <p:pic>
        <p:nvPicPr>
          <p:cNvPr id="30" name="Picture 29" descr="logo-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NOBODY IS MARKING THIS 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A3320"/>
                </a:solidFill>
                <a:latin typeface="Georgia"/>
              </a:rPr>
              <a:t>You already know this feeling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792224"/>
            <a:ext cx="704088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Calibri"/>
              </a:rPr>
              <a:t>You have been about to start for two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487168"/>
            <a:ext cx="704088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69463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Calibri"/>
              </a:rPr>
              <a:t>You are not even enjoying not doing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182112"/>
            <a:ext cx="7040880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64408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Calibri"/>
              </a:rPr>
              <a:t>The thing you are avoiding would take about eleven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4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3A3320"/>
                </a:solidFill>
                <a:latin typeface="Calibri"/>
              </a:rPr>
              <a:t>Avoiding something is nearly always more work than doing it.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WATCH ME DO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Shrink it until it is silly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Keep cutting the task in half out loud until nobody in the room could refuse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F3826"/>
                </a:solidFill>
                <a:latin typeface="Georgia"/>
              </a:rPr>
              <a:t>Revise for the geography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0299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706750"/>
                </a:solidFill>
                <a:latin typeface="Calibri"/>
              </a:rPr>
              <a:t>Too big. You will not start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96896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8833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F3826"/>
                </a:solidFill>
                <a:latin typeface="Georgia"/>
              </a:rPr>
              <a:t>Do one page of geography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68833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706750"/>
                </a:solidFill>
                <a:latin typeface="Calibri"/>
              </a:rPr>
              <a:t>Still big enough to put 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55264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46704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F3826"/>
                </a:solidFill>
                <a:latin typeface="Georgia"/>
              </a:rPr>
              <a:t>Read one page of the booklet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34670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706750"/>
                </a:solidFill>
                <a:latin typeface="Calibri"/>
              </a:rPr>
              <a:t>Getting there.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13632"/>
            <a:ext cx="7772400" cy="548640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E0A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00507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Georgia"/>
              </a:rPr>
              <a:t>Open the booklet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0507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100" b="0" i="1">
                <a:solidFill>
                  <a:srgbClr val="706750"/>
                </a:solidFill>
                <a:latin typeface="Calibri"/>
              </a:rPr>
              <a:t>This one you will actually do.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NOW THE ROOM DOES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Shrink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What is the smallest first move? It has to be doable sitting where you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2121408"/>
            <a:ext cx="420624" cy="42062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194560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13969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3F3826"/>
                </a:solidFill>
                <a:latin typeface="Georgia"/>
              </a:rPr>
              <a:t>Tidy my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39696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→         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98064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2907792"/>
            <a:ext cx="420624" cy="42062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980944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926080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3F3826"/>
                </a:solidFill>
                <a:latin typeface="Georgia"/>
              </a:rPr>
              <a:t>Get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26080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→         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84448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256" y="3694175"/>
            <a:ext cx="420624" cy="42062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76732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37124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3F3826"/>
                </a:solidFill>
                <a:latin typeface="Georgia"/>
              </a:rPr>
              <a:t>Reply to the message from Tuesday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12463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→         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42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8A6512"/>
                </a:solidFill>
                <a:latin typeface="Calibri"/>
              </a:rPr>
              <a:t>If it takes longer than two minutes to start, it is still too big.</a:t>
            </a:r>
          </a:p>
        </p:txBody>
      </p:sp>
      <p:pic>
        <p:nvPicPr>
          <p:cNvPr id="24" name="Picture 2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YOUR TURN, ON THE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3F3826"/>
                </a:solidFill>
                <a:latin typeface="Georgia"/>
              </a:rPr>
              <a:t>Three things you are avoiding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One for school, one at home, one that is only for you. Nobody reads this.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66543"/>
            <a:ext cx="2432304" cy="12984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8488" y="2203704"/>
            <a:ext cx="566928" cy="566928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331720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2926080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8A6512"/>
                </a:solidFill>
                <a:latin typeface="Georgia"/>
              </a:rPr>
              <a:t>One from school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2066543"/>
            <a:ext cx="2432304" cy="12984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2203704"/>
            <a:ext cx="566928" cy="566928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33172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926080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8A6512"/>
                </a:solidFill>
                <a:latin typeface="Georgia"/>
              </a:rPr>
              <a:t>One from 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2066543"/>
            <a:ext cx="2432304" cy="129844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58584" y="2203704"/>
            <a:ext cx="566928" cy="566928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331720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2200" y="2926080"/>
            <a:ext cx="21396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8A6512"/>
                </a:solidFill>
                <a:latin typeface="Georgia"/>
              </a:rPr>
              <a:t>One just for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84448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E0A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75887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i="0">
                <a:solidFill>
                  <a:srgbClr val="8A6512"/>
                </a:solidFill>
                <a:latin typeface="Calibri"/>
              </a:rPr>
              <a:t>Then score each one out of ten: how much do you want to do it right now?</a:t>
            </a:r>
          </a:p>
        </p:txBody>
      </p:sp>
      <p:pic>
        <p:nvPicPr>
          <p:cNvPr id="22" name="Picture 21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THE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800" b="0" i="0">
                <a:solidFill>
                  <a:srgbClr val="3A3320"/>
                </a:solidFill>
                <a:latin typeface="Georgia"/>
              </a:rPr>
              <a:t>Five minutes. Starting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956816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02996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Take the one you scored lowest.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578608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51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Shrink it to something you can do at this desk.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200400"/>
            <a:ext cx="603504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32735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8A6512"/>
                </a:solidFill>
                <a:latin typeface="Calibri"/>
              </a:rPr>
              <a:t>No talking. Just the five minutes.</a:t>
            </a:r>
          </a:p>
        </p:txBody>
      </p:sp>
      <p:sp>
        <p:nvSpPr>
          <p:cNvPr id="13" name="Oval 12"/>
          <p:cNvSpPr/>
          <p:nvPr/>
        </p:nvSpPr>
        <p:spPr>
          <a:xfrm>
            <a:off x="4288536" y="3776472"/>
            <a:ext cx="566928" cy="566928"/>
          </a:xfrm>
          <a:prstGeom prst="ellipse">
            <a:avLst/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904488"/>
            <a:ext cx="310896" cy="310896"/>
          </a:xfrm>
          <a:prstGeom prst="rect">
            <a:avLst/>
          </a:prstGeom>
        </p:spPr>
      </p:pic>
      <p:pic>
        <p:nvPicPr>
          <p:cNvPr id="15" name="Picture 14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STOP. GO BACK TO YOUR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Score it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Same question. How much do you want to carry on with it, right now?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2444496" cy="1316736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E0A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2078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Went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88336"/>
            <a:ext cx="2078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Hands up. Usually most of the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9752" y="2011680"/>
            <a:ext cx="2444496" cy="131673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2632" y="2231136"/>
            <a:ext cx="2078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Stayed the same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2632" y="2688336"/>
            <a:ext cx="2078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Also useful. What stopped it moving?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3704" y="2011680"/>
            <a:ext cx="2444496" cy="131673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584" y="2231136"/>
            <a:ext cx="2078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8A6512"/>
                </a:solidFill>
                <a:latin typeface="Georgia"/>
              </a:rPr>
              <a:t>Went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584" y="2688336"/>
            <a:ext cx="2078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The most interesting one in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8444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A6512"/>
                </a:solidFill>
                <a:latin typeface="Calibri"/>
              </a:rPr>
              <a:t>Count the hands and put the numbers on the 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6849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 i="1">
                <a:solidFill>
                  <a:srgbClr val="706750"/>
                </a:solidFill>
                <a:latin typeface="Calibri"/>
              </a:rPr>
              <a:t>That is your evidence, not mine. Five minutes ago, most of you did not want to start what you have just been doing.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WHY THAT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3F3826"/>
                </a:solidFill>
                <a:latin typeface="Georgia"/>
              </a:rPr>
              <a:t>Starting is the expensive 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7772400" cy="80467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810512"/>
            <a:ext cx="512064" cy="51206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1924812"/>
            <a:ext cx="283464" cy="283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00784" y="1783080"/>
            <a:ext cx="6400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450" b="0" i="0">
                <a:solidFill>
                  <a:srgbClr val="8A6512"/>
                </a:solidFill>
                <a:latin typeface="Georgia"/>
              </a:rPr>
              <a:t>The first move costs the most.</a:t>
            </a:r>
            <a:br/>
            <a:r>
              <a:rPr sz="1450" b="0" i="0">
                <a:solidFill>
                  <a:srgbClr val="8A6512"/>
                </a:solidFill>
                <a:latin typeface="Georgia"/>
              </a:rPr>
              <a:t>Everything after it is cheaper.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96896"/>
            <a:ext cx="7772400" cy="804672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2743200"/>
            <a:ext cx="512064" cy="51206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857500"/>
            <a:ext cx="283464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00784" y="2715768"/>
            <a:ext cx="6400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450" b="0" i="0">
                <a:solidFill>
                  <a:srgbClr val="8A6512"/>
                </a:solidFill>
                <a:latin typeface="Georgia"/>
              </a:rPr>
              <a:t>Half-done things nag at you.</a:t>
            </a:r>
            <a:br/>
            <a:r>
              <a:rPr sz="1450" b="0" i="0">
                <a:solidFill>
                  <a:srgbClr val="8A6512"/>
                </a:solidFill>
                <a:latin typeface="Georgia"/>
              </a:rPr>
              <a:t>Finished ones go quiet.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7772400" cy="80467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3675888"/>
            <a:ext cx="512064" cy="51206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3790188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00784" y="3648456"/>
            <a:ext cx="6400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363" b="0" i="0">
                <a:solidFill>
                  <a:srgbClr val="8A6512"/>
                </a:solidFill>
                <a:latin typeface="Georgia"/>
              </a:rPr>
              <a:t>Five minutes in, it stops being scary</a:t>
            </a:r>
            <a:br>
              <a:rPr sz="1450" b="0" i="0">
                <a:solidFill>
                  <a:srgbClr val="8A6512"/>
                </a:solidFill>
                <a:latin typeface="Georgia"/>
              </a:rPr>
            </a:br>
            <a:r>
              <a:rPr sz="1363" b="0" i="0">
                <a:solidFill>
                  <a:srgbClr val="8A6512"/>
                </a:solidFill>
                <a:latin typeface="Georgia"/>
              </a:rPr>
              <a:t>and starts being something you can measure.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8A6512"/>
                </a:solidFill>
                <a:latin typeface="Calibri"/>
              </a:rPr>
              <a:t>Psychologists call it behavioural activation. Action first, feeling second.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TALK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3A3320"/>
                </a:solidFill>
                <a:latin typeface="Georgia"/>
              </a:rPr>
              <a:t>Three hard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47088"/>
            <a:ext cx="7040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956815"/>
            <a:ext cx="402336" cy="402336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2082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947672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Whose score went down, and what does that tell you about the task?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96896"/>
            <a:ext cx="7040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2706623"/>
            <a:ext cx="402336" cy="402336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77063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697479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If starting is the hard bit, why do we keep waiting to feel ready?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346704"/>
            <a:ext cx="70408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3456432"/>
            <a:ext cx="402336" cy="402336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5204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3447288"/>
            <a:ext cx="5943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300" b="0" i="0">
                <a:solidFill>
                  <a:srgbClr val="8A6512"/>
                </a:solidFill>
                <a:latin typeface="Calibri"/>
              </a:rPr>
              <a:t>Is there anything on your list that you should just cross off instead?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61104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4A4028"/>
                </a:solidFill>
                <a:latin typeface="Calibri"/>
              </a:rPr>
              <a:t>The third question matters most. Not everything on a list deserves to be there.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THERE IS A SAYING ABOUT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“Busy people stay busy”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706750"/>
                </a:solidFill>
                <a:latin typeface="Calibri"/>
              </a:rPr>
              <a:t>It is half right, and the wrong half does harm.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3758184" cy="181051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08860" y="2267711"/>
            <a:ext cx="512064" cy="51206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bble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382012"/>
            <a:ext cx="283464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926080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706750"/>
                </a:solidFill>
                <a:latin typeface="Calibri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236976"/>
            <a:ext cx="32826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Georgia"/>
              </a:rPr>
              <a:t>Momentum is real.</a:t>
            </a:r>
            <a:br/>
            <a:r>
              <a:rPr sz="1400" b="0" i="0">
                <a:solidFill>
                  <a:srgbClr val="8A6512"/>
                </a:solidFill>
                <a:latin typeface="Georgia"/>
              </a:rPr>
              <a:t>You just proved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2084831"/>
            <a:ext cx="3758184" cy="1810512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E0A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3076" y="2267711"/>
            <a:ext cx="512064" cy="512064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bble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82012"/>
            <a:ext cx="283464" cy="283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82896" y="2926080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706750"/>
                </a:solidFill>
                <a:latin typeface="Calibri"/>
              </a:rPr>
              <a:t>NOT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36976"/>
            <a:ext cx="32826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6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Georgia"/>
              </a:rPr>
              <a:t>That being busy is the point.</a:t>
            </a:r>
            <a:br/>
            <a:r>
              <a:rPr sz="1400" b="0" i="0">
                <a:solidFill>
                  <a:srgbClr val="8A6512"/>
                </a:solidFill>
                <a:latin typeface="Georgia"/>
              </a:rPr>
              <a:t>A full day can hold nothing.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5137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8A6512"/>
                </a:solidFill>
                <a:latin typeface="Calibri"/>
              </a:rPr>
              <a:t>What the saying really means is started, not busy.</a:t>
            </a:r>
          </a:p>
        </p:txBody>
      </p:sp>
      <p:pic>
        <p:nvPicPr>
          <p:cNvPr id="19" name="Picture 18" descr="logo-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SORT THE CARDS ON YOUR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3F3826"/>
                </a:solidFill>
                <a:latin typeface="Georgia"/>
              </a:rPr>
              <a:t>Three piles, not two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82496"/>
            <a:ext cx="2432304" cy="213969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1911095"/>
            <a:ext cx="640080" cy="64008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048255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" y="2761488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8A6512"/>
                </a:solidFill>
                <a:latin typeface="Georgia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200400"/>
            <a:ext cx="1993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It moved the thing forward, even slightly.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82496"/>
            <a:ext cx="2432304" cy="2139696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911095"/>
            <a:ext cx="640080" cy="64008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48255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761488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8A6512"/>
                </a:solidFill>
                <a:latin typeface="Georgia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200400"/>
            <a:ext cx="1993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It felt like work and moved nothing. Be honest.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682496"/>
            <a:ext cx="2432304" cy="213969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22008" y="1911095"/>
            <a:ext cx="640080" cy="640080"/>
          </a:xfrm>
          <a:prstGeom prst="ellipse">
            <a:avLst/>
          </a:prstGeom>
          <a:solidFill>
            <a:srgbClr val="8A6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048255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2200" y="2761488"/>
            <a:ext cx="2139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8A6512"/>
                </a:solidFill>
                <a:latin typeface="Georgia"/>
              </a:rPr>
              <a:t>Real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200400"/>
            <a:ext cx="1993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706750"/>
                </a:solidFill>
                <a:latin typeface="Calibri"/>
              </a:rPr>
              <a:t>Chosen on purpose, and it put something 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4164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8A6512"/>
                </a:solidFill>
                <a:latin typeface="Calibri"/>
              </a:rPr>
              <a:t>Rest is not the opposite of action. Avoidance is, and it is the pile in the middle.</a:t>
            </a:r>
          </a:p>
        </p:txBody>
      </p:sp>
      <p:pic>
        <p:nvPicPr>
          <p:cNvPr id="23" name="Picture 22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8A6512"/>
                </a:solidFill>
                <a:latin typeface="Calibri"/>
              </a:rPr>
              <a:t>ON THE SLIP, THEN KEEP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3F3826"/>
                </a:solidFill>
                <a:latin typeface="Georgia"/>
              </a:rPr>
              <a:t>One thing. One first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706750"/>
                </a:solidFill>
                <a:latin typeface="Calibri"/>
              </a:rPr>
              <a:t>This one is yours. It is not collected and nobody is going to ask you about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75104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4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Georgia"/>
              </a:rPr>
              <a:t>The 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6654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706750"/>
                </a:solidFill>
                <a:latin typeface="Calibri"/>
              </a:rPr>
              <a:t>The one you have been avoiding longest.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AF1DE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81635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Georgia"/>
              </a:rPr>
              <a:t>The first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16352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706750"/>
                </a:solidFill>
                <a:latin typeface="Calibri"/>
              </a:rPr>
              <a:t>Small enough that you cannot talk yourself out of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F3D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56616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A6512"/>
                </a:solidFill>
                <a:latin typeface="Georgia"/>
              </a:rPr>
              <a:t>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66160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706750"/>
                </a:solidFill>
                <a:latin typeface="Calibri"/>
              </a:rPr>
              <a:t>A time today or tomorrow. Not “soon”.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8A6512"/>
                </a:solidFill>
                <a:latin typeface="Calibri"/>
              </a:rPr>
              <a:t>Put it somewhere you will see it before the time you have written down.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29A80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29A80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4A4028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3A3320"/>
                </a:solidFill>
                <a:latin typeface="Georgia"/>
              </a:rPr>
              <a:t>You are not going to feel like it.</a:t>
            </a:r>
            <a:br/>
            <a:r>
              <a:rPr sz="3400" b="0" i="0">
                <a:solidFill>
                  <a:srgbClr val="3A3320"/>
                </a:solidFill>
                <a:latin typeface="Georgia"/>
              </a:rPr>
              <a:t>Start anyway.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4A4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4A4028"/>
                </a:solidFill>
                <a:latin typeface="Calibri"/>
              </a:rPr>
              <a:t>Nobody feels like it first.</a:t>
            </a:r>
            <a:br/>
            <a:r>
              <a:rPr sz="1450" b="0" i="1">
                <a:solidFill>
                  <a:srgbClr val="4A4028"/>
                </a:solidFill>
                <a:latin typeface="Calibri"/>
              </a:rPr>
              <a:t>The wanting to turns up afterwards, once you have moved.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243584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3A3320"/>
                </a:solidFill>
                <a:latin typeface="Georgia"/>
              </a:rPr>
              <a:t>Go and do the five-minute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4A4028"/>
                </a:solidFill>
                <a:latin typeface="Calibri"/>
              </a:rPr>
              <a:t>Not the whole thing. Nobody does the whole thing first.</a:t>
            </a:r>
            <a:br/>
            <a:r>
              <a:rPr sz="1300" b="0" i="0">
                <a:solidFill>
                  <a:srgbClr val="4A4028"/>
                </a:solidFill>
                <a:latin typeface="Calibri"/>
              </a:rPr>
              <a:t>Just the bit that gets you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4A4028"/>
                </a:solidFill>
                <a:latin typeface="Calibri"/>
              </a:rPr>
              <a:t>Motivation Comes Second  ·  A procrastination lesson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4A4028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4A402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 Comes Second: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