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mark.png"/>
          <p:cNvPicPr>
            <a:picLocks noChangeAspect="1"/>
          </p:cNvPicPr>
          <p:nvPr/>
        </p:nvPicPr>
        <p:blipFill>
          <a:blip r:embed="rId2"/>
          <a:stretch>
            <a:fillRect/>
          </a:stretch>
        </p:blipFill>
        <p:spPr>
          <a:xfrm>
            <a:off x="4168146" y="640080"/>
            <a:ext cx="807707" cy="932688"/>
          </a:xfrm>
          <a:prstGeom prst="rect">
            <a:avLst/>
          </a:prstGeom>
        </p:spPr>
      </p:pic>
      <p:sp>
        <p:nvSpPr>
          <p:cNvPr id="4" name="TextBox 3"/>
          <p:cNvSpPr txBox="1"/>
          <p:nvPr/>
        </p:nvSpPr>
        <p:spPr>
          <a:xfrm>
            <a:off x="548640" y="1485900"/>
            <a:ext cx="8046720" cy="1197864"/>
          </a:xfrm>
          <a:prstGeom prst="rect">
            <a:avLst/>
          </a:prstGeom>
          <a:noFill/>
        </p:spPr>
        <p:txBody>
          <a:bodyPr wrap="square" anchor="t" lIns="0" rIns="0" tIns="0" bIns="0">
            <a:spAutoFit/>
          </a:bodyPr>
          <a:lstStyle/>
          <a:p>
            <a:pPr algn="ctr">
              <a:lnSpc>
                <a:spcPct val="105000"/>
              </a:lnSpc>
              <a:spcAft>
                <a:spcPts val="0"/>
              </a:spcAft>
            </a:pPr>
            <a:r>
              <a:rPr sz="3600" b="1" i="0">
                <a:solidFill>
                  <a:srgbClr val="2E3570"/>
                </a:solidFill>
                <a:latin typeface="Libre Caslon Display"/>
              </a:rPr>
              <a:t>Revision That</a:t>
            </a:r>
            <a:br>
              <a:rPr lang="en-GB"/>
            </a:br>
            <a:r>
              <a:rPr sz="3600" b="1" i="0">
                <a:solidFill>
                  <a:srgbClr val="2E3570"/>
                </a:solidFill>
                <a:latin typeface="Libre Caslon Display"/>
              </a:rPr>
              <a:t>Survives the Week</a:t>
            </a:r>
          </a:p>
        </p:txBody>
      </p:sp>
      <p:sp>
        <p:nvSpPr>
          <p:cNvPr id="5" name="Rectangle 4"/>
          <p:cNvSpPr/>
          <p:nvPr/>
        </p:nvSpPr>
        <p:spPr>
          <a:xfrm>
            <a:off x="4069080" y="2816352"/>
            <a:ext cx="1005840" cy="18288"/>
          </a:xfrm>
          <a:prstGeom prst="rect">
            <a:avLst/>
          </a:prstGeom>
          <a:solidFill>
            <a:srgbClr val="6A70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017520"/>
            <a:ext cx="7680960" cy="365760"/>
          </a:xfrm>
          <a:prstGeom prst="rect">
            <a:avLst/>
          </a:prstGeom>
          <a:noFill/>
        </p:spPr>
        <p:txBody>
          <a:bodyPr wrap="square" anchor="t" lIns="0" rIns="0" tIns="0" bIns="0">
            <a:spAutoFit/>
          </a:bodyPr>
          <a:lstStyle/>
          <a:p>
            <a:pPr algn="ctr">
              <a:lnSpc>
                <a:spcPct val="125000"/>
              </a:lnSpc>
              <a:spcAft>
                <a:spcPts val="0"/>
              </a:spcAft>
            </a:pPr>
            <a:r>
              <a:rPr sz="1800" b="0" i="0">
                <a:solidFill>
                  <a:srgbClr val="5C6552"/>
                </a:solidFill>
                <a:latin typeface="Karla"/>
              </a:rPr>
              <a:t>A plan is only as good as the week it meets.</a:t>
            </a:r>
          </a:p>
        </p:txBody>
      </p:sp>
      <p:sp>
        <p:nvSpPr>
          <p:cNvPr id="7" name="TextBox 6"/>
          <p:cNvSpPr txBox="1"/>
          <p:nvPr/>
        </p:nvSpPr>
        <p:spPr>
          <a:xfrm>
            <a:off x="731520" y="3547872"/>
            <a:ext cx="7680960" cy="365760"/>
          </a:xfrm>
          <a:prstGeom prst="rect">
            <a:avLst/>
          </a:prstGeom>
          <a:noFill/>
        </p:spPr>
        <p:txBody>
          <a:bodyPr wrap="square" anchor="t" lIns="0" rIns="0" tIns="0" bIns="0">
            <a:spAutoFit/>
          </a:bodyPr>
          <a:lstStyle/>
          <a:p>
            <a:pPr algn="ctr">
              <a:lnSpc>
                <a:spcPct val="125000"/>
              </a:lnSpc>
              <a:spcAft>
                <a:spcPts val="0"/>
              </a:spcAft>
            </a:pPr>
            <a:r>
              <a:rPr sz="1300" b="0" i="0">
                <a:solidFill>
                  <a:srgbClr val="8B9179"/>
                </a:solidFill>
                <a:latin typeface="Karla"/>
              </a:rPr>
              <a:t>Tutor Time  ·  a lesson for Year 10 to 13</a:t>
            </a:r>
          </a:p>
        </p:txBody>
      </p:sp>
      <p:pic>
        <p:nvPicPr>
          <p:cNvPr id="8" name="Picture 7" descr="logo-mark.png"/>
          <p:cNvPicPr>
            <a:picLocks noChangeAspect="1"/>
          </p:cNvPicPr>
          <p:nvPr/>
        </p:nvPicPr>
        <p:blipFill>
          <a:blip r:embed="rId2"/>
          <a:stretch>
            <a:fillRect/>
          </a:stretch>
        </p:blipFill>
        <p:spPr>
          <a:xfrm>
            <a:off x="384048" y="4727448"/>
            <a:ext cx="158374" cy="182880"/>
          </a:xfrm>
          <a:prstGeom prst="rect">
            <a:avLst/>
          </a:prstGeom>
        </p:spPr>
      </p:pic>
      <p:sp>
        <p:nvSpPr>
          <p:cNvPr id="9" name="TextBox 8"/>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0" name="TextBox 9"/>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 / 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48640"/>
            <a:ext cx="2269682" cy="237744"/>
          </a:xfrm>
          <a:prstGeom prst="roundRect">
            <a:avLst>
              <a:gd name="adj" fmla="val 50000"/>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E3570"/>
                </a:solidFill>
                <a:latin typeface="Karla"/>
              </a:rPr>
              <a:t>TEACHER SLIDE  ·  SKIP IT</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2E3436"/>
                </a:solidFill>
                <a:latin typeface="Libre Caslon Display"/>
              </a:rPr>
              <a:t>Before the lesson</a:t>
            </a:r>
          </a:p>
        </p:txBody>
      </p:sp>
      <p:sp>
        <p:nvSpPr>
          <p:cNvPr id="5" name="TextBox 4"/>
          <p:cNvSpPr txBox="1"/>
          <p:nvPr/>
        </p:nvSpPr>
        <p:spPr>
          <a:xfrm>
            <a:off x="685800" y="1554480"/>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5C6552"/>
                </a:solidFill>
                <a:latin typeface="Karla"/>
              </a:rPr>
              <a:t>One sheet per student, in pencil. Nothing written today is collected.</a:t>
            </a:r>
          </a:p>
        </p:txBody>
      </p:sp>
      <p:sp>
        <p:nvSpPr>
          <p:cNvPr id="6" name="Rectangle 5"/>
          <p:cNvSpPr/>
          <p:nvPr/>
        </p:nvSpPr>
        <p:spPr>
          <a:xfrm>
            <a:off x="685800" y="1975104"/>
            <a:ext cx="7772400" cy="6400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093976"/>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89988"/>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9" name="TextBox 8"/>
          <p:cNvSpPr txBox="1"/>
          <p:nvPr/>
        </p:nvSpPr>
        <p:spPr>
          <a:xfrm>
            <a:off x="1417320" y="2075688"/>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Print the week sheet, one per student</a:t>
            </a:r>
          </a:p>
        </p:txBody>
      </p:sp>
      <p:sp>
        <p:nvSpPr>
          <p:cNvPr id="10" name="TextBox 9"/>
          <p:cNvSpPr txBox="1"/>
          <p:nvPr/>
        </p:nvSpPr>
        <p:spPr>
          <a:xfrm>
            <a:off x="1417320" y="2322576"/>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It is page 2 of the pack. Pencils, because the plan gets repaired three times.</a:t>
            </a:r>
          </a:p>
        </p:txBody>
      </p:sp>
      <p:sp>
        <p:nvSpPr>
          <p:cNvPr id="11" name="Rectangle 10"/>
          <p:cNvSpPr/>
          <p:nvPr/>
        </p:nvSpPr>
        <p:spPr>
          <a:xfrm>
            <a:off x="685800" y="2724912"/>
            <a:ext cx="7772400" cy="6400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2843784"/>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939796"/>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4" name="TextBox 13"/>
          <p:cNvSpPr txBox="1"/>
          <p:nvPr/>
        </p:nvSpPr>
        <p:spPr>
          <a:xfrm>
            <a:off x="1417320" y="2825496"/>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The three interruptions are slides 9, 10 and 11</a:t>
            </a:r>
          </a:p>
        </p:txBody>
      </p:sp>
      <p:sp>
        <p:nvSpPr>
          <p:cNvPr id="15" name="TextBox 14"/>
          <p:cNvSpPr txBox="1"/>
          <p:nvPr/>
        </p:nvSpPr>
        <p:spPr>
          <a:xfrm>
            <a:off x="1417320" y="3072384"/>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Read each one out, then give the room two minutes to repair the plan.</a:t>
            </a:r>
          </a:p>
        </p:txBody>
      </p:sp>
      <p:sp>
        <p:nvSpPr>
          <p:cNvPr id="16" name="Rectangle 15"/>
          <p:cNvSpPr/>
          <p:nvPr/>
        </p:nvSpPr>
        <p:spPr>
          <a:xfrm>
            <a:off x="685800" y="3474720"/>
            <a:ext cx="7772400" cy="6400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8680" y="3593591"/>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689603"/>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19" name="TextBox 18"/>
          <p:cNvSpPr txBox="1"/>
          <p:nvPr/>
        </p:nvSpPr>
        <p:spPr>
          <a:xfrm>
            <a:off x="1417320" y="3575303"/>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Keep slide 17 for the Mondays after</a:t>
            </a:r>
          </a:p>
        </p:txBody>
      </p:sp>
      <p:sp>
        <p:nvSpPr>
          <p:cNvPr id="20" name="TextBox 19"/>
          <p:cNvSpPr txBox="1"/>
          <p:nvPr/>
        </p:nvSpPr>
        <p:spPr>
          <a:xfrm>
            <a:off x="1417320" y="3822191"/>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A two-minute check-in for registration on the Mondays that follow.</a:t>
            </a:r>
          </a:p>
        </p:txBody>
      </p:sp>
      <p:sp>
        <p:nvSpPr>
          <p:cNvPr id="21" name="TextBox 20"/>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Karla"/>
              </a:rPr>
              <a:t>The pack has the hour minute by minute against these slide numbers.</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 / 17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48640"/>
            <a:ext cx="966841" cy="237744"/>
          </a:xfrm>
          <a:prstGeom prst="roundRect">
            <a:avLst>
              <a:gd name="adj" fmla="val 50000"/>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E3570"/>
                </a:solidFill>
                <a:latin typeface="Karla"/>
              </a:rPr>
              <a:t>STARTER</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2E3436"/>
                </a:solidFill>
                <a:latin typeface="Libre Caslon Display"/>
              </a:rPr>
              <a:t>The last plan you made</a:t>
            </a:r>
          </a:p>
        </p:txBody>
      </p:sp>
      <p:sp>
        <p:nvSpPr>
          <p:cNvPr id="5" name="TextBox 4"/>
          <p:cNvSpPr txBox="1"/>
          <p:nvPr/>
        </p:nvSpPr>
        <p:spPr>
          <a:xfrm>
            <a:off x="685800" y="1554480"/>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5C6552"/>
                </a:solidFill>
                <a:latin typeface="Karla"/>
              </a:rPr>
              <a:t>Two minutes, on your own, nobody sees it.</a:t>
            </a:r>
          </a:p>
        </p:txBody>
      </p:sp>
      <p:sp>
        <p:nvSpPr>
          <p:cNvPr id="6" name="Rectangle 5"/>
          <p:cNvSpPr/>
          <p:nvPr/>
        </p:nvSpPr>
        <p:spPr>
          <a:xfrm>
            <a:off x="685800" y="1956816"/>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066543"/>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62556"/>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9" name="TextBox 8"/>
          <p:cNvSpPr txBox="1"/>
          <p:nvPr/>
        </p:nvSpPr>
        <p:spPr>
          <a:xfrm>
            <a:off x="1417320" y="2057400"/>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When did you last make a revision timetable?</a:t>
            </a:r>
          </a:p>
        </p:txBody>
      </p:sp>
      <p:sp>
        <p:nvSpPr>
          <p:cNvPr id="10" name="TextBox 9"/>
          <p:cNvSpPr txBox="1"/>
          <p:nvPr/>
        </p:nvSpPr>
        <p:spPr>
          <a:xfrm>
            <a:off x="1417320" y="2304288"/>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A proper one, with days and subjects on it.</a:t>
            </a:r>
          </a:p>
        </p:txBody>
      </p:sp>
      <p:sp>
        <p:nvSpPr>
          <p:cNvPr id="11" name="Rectangle 10"/>
          <p:cNvSpPr/>
          <p:nvPr/>
        </p:nvSpPr>
        <p:spPr>
          <a:xfrm>
            <a:off x="685800" y="2706624"/>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2816351"/>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912363"/>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4" name="TextBox 13"/>
          <p:cNvSpPr txBox="1"/>
          <p:nvPr/>
        </p:nvSpPr>
        <p:spPr>
          <a:xfrm>
            <a:off x="1417320" y="2807208"/>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How long did it last?</a:t>
            </a:r>
          </a:p>
        </p:txBody>
      </p:sp>
      <p:sp>
        <p:nvSpPr>
          <p:cNvPr id="15" name="TextBox 14"/>
          <p:cNvSpPr txBox="1"/>
          <p:nvPr/>
        </p:nvSpPr>
        <p:spPr>
          <a:xfrm>
            <a:off x="1417320" y="3054096"/>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Be honest. A day, a week, until the first thing came up?</a:t>
            </a:r>
          </a:p>
        </p:txBody>
      </p:sp>
      <p:sp>
        <p:nvSpPr>
          <p:cNvPr id="16" name="Rectangle 15"/>
          <p:cNvSpPr/>
          <p:nvPr/>
        </p:nvSpPr>
        <p:spPr>
          <a:xfrm>
            <a:off x="685800" y="3456432"/>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8680" y="3566160"/>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662172"/>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19" name="TextBox 18"/>
          <p:cNvSpPr txBox="1"/>
          <p:nvPr/>
        </p:nvSpPr>
        <p:spPr>
          <a:xfrm>
            <a:off x="1417320" y="3557016"/>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What happened to it?</a:t>
            </a:r>
          </a:p>
        </p:txBody>
      </p:sp>
      <p:sp>
        <p:nvSpPr>
          <p:cNvPr id="20" name="TextBox 19"/>
          <p:cNvSpPr txBox="1"/>
          <p:nvPr/>
        </p:nvSpPr>
        <p:spPr>
          <a:xfrm>
            <a:off x="1417320" y="3803904"/>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Not why it failed. Just what happened.</a:t>
            </a:r>
          </a:p>
        </p:txBody>
      </p:sp>
      <p:sp>
        <p:nvSpPr>
          <p:cNvPr id="21" name="TextBox 20"/>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Karla"/>
              </a:rPr>
              <a:t>Keep the answer. The lesson is about the thing that happened.</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3 / 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48640"/>
            <a:ext cx="1597294" cy="237744"/>
          </a:xfrm>
          <a:prstGeom prst="roundRect">
            <a:avLst>
              <a:gd name="adj" fmla="val 50000"/>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E3570"/>
                </a:solidFill>
                <a:latin typeface="Karla"/>
              </a:rPr>
              <a:t>WHAT HAPPENED</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2E3436"/>
                </a:solidFill>
                <a:latin typeface="Libre Caslon Display"/>
              </a:rPr>
              <a:t>What usually happens to a plan</a:t>
            </a:r>
          </a:p>
        </p:txBody>
      </p:sp>
      <p:sp>
        <p:nvSpPr>
          <p:cNvPr id="5" name="Rectangle 4"/>
          <p:cNvSpPr/>
          <p:nvPr/>
        </p:nvSpPr>
        <p:spPr>
          <a:xfrm>
            <a:off x="685800" y="1627632"/>
            <a:ext cx="7772400" cy="516635"/>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684782"/>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780794"/>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8" name="TextBox 7"/>
          <p:cNvSpPr txBox="1"/>
          <p:nvPr/>
        </p:nvSpPr>
        <p:spPr>
          <a:xfrm>
            <a:off x="1417320" y="1728216"/>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Monday looked fine</a:t>
            </a:r>
          </a:p>
        </p:txBody>
      </p:sp>
      <p:sp>
        <p:nvSpPr>
          <p:cNvPr id="9" name="TextBox 8"/>
          <p:cNvSpPr txBox="1"/>
          <p:nvPr/>
        </p:nvSpPr>
        <p:spPr>
          <a:xfrm>
            <a:off x="1417320" y="1975104"/>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Every evening was free on paper, and the plan filled all of them.</a:t>
            </a:r>
          </a:p>
        </p:txBody>
      </p:sp>
      <p:sp>
        <p:nvSpPr>
          <p:cNvPr id="10" name="Rectangle 9"/>
          <p:cNvSpPr/>
          <p:nvPr/>
        </p:nvSpPr>
        <p:spPr>
          <a:xfrm>
            <a:off x="685800" y="2272284"/>
            <a:ext cx="7772400" cy="516635"/>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68680" y="2329434"/>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425446"/>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3" name="TextBox 12"/>
          <p:cNvSpPr txBox="1"/>
          <p:nvPr/>
        </p:nvSpPr>
        <p:spPr>
          <a:xfrm>
            <a:off x="1417320" y="2372868"/>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Tuesday, something came up</a:t>
            </a:r>
          </a:p>
        </p:txBody>
      </p:sp>
      <p:sp>
        <p:nvSpPr>
          <p:cNvPr id="14" name="TextBox 13"/>
          <p:cNvSpPr txBox="1"/>
          <p:nvPr/>
        </p:nvSpPr>
        <p:spPr>
          <a:xfrm>
            <a:off x="1417320" y="2619756"/>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It was not your fault, and there was no space in the plan for it.</a:t>
            </a:r>
          </a:p>
        </p:txBody>
      </p:sp>
      <p:sp>
        <p:nvSpPr>
          <p:cNvPr id="15" name="Rectangle 14"/>
          <p:cNvSpPr/>
          <p:nvPr/>
        </p:nvSpPr>
        <p:spPr>
          <a:xfrm>
            <a:off x="685800" y="2916936"/>
            <a:ext cx="7772400" cy="516635"/>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68680" y="2974086"/>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070098"/>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18" name="TextBox 17"/>
          <p:cNvSpPr txBox="1"/>
          <p:nvPr/>
        </p:nvSpPr>
        <p:spPr>
          <a:xfrm>
            <a:off x="1417320" y="3017520"/>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Thursday was a rescue</a:t>
            </a:r>
          </a:p>
        </p:txBody>
      </p:sp>
      <p:sp>
        <p:nvSpPr>
          <p:cNvPr id="19" name="TextBox 18"/>
          <p:cNvSpPr txBox="1"/>
          <p:nvPr/>
        </p:nvSpPr>
        <p:spPr>
          <a:xfrm>
            <a:off x="1417320" y="3264408"/>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Everything that had moved was now on Thursday, which was already full.</a:t>
            </a:r>
          </a:p>
        </p:txBody>
      </p:sp>
      <p:sp>
        <p:nvSpPr>
          <p:cNvPr id="20" name="Rectangle 19"/>
          <p:cNvSpPr/>
          <p:nvPr/>
        </p:nvSpPr>
        <p:spPr>
          <a:xfrm>
            <a:off x="685800" y="3561587"/>
            <a:ext cx="7772400" cy="516635"/>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68680" y="3618737"/>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3714749"/>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4</a:t>
            </a:r>
          </a:p>
        </p:txBody>
      </p:sp>
      <p:sp>
        <p:nvSpPr>
          <p:cNvPr id="23" name="TextBox 22"/>
          <p:cNvSpPr txBox="1"/>
          <p:nvPr/>
        </p:nvSpPr>
        <p:spPr>
          <a:xfrm>
            <a:off x="1417320" y="3662172"/>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Then nothing</a:t>
            </a:r>
          </a:p>
        </p:txBody>
      </p:sp>
      <p:sp>
        <p:nvSpPr>
          <p:cNvPr id="24" name="TextBox 23"/>
          <p:cNvSpPr txBox="1"/>
          <p:nvPr/>
        </p:nvSpPr>
        <p:spPr>
          <a:xfrm>
            <a:off x="1417320" y="3909059"/>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The plan was two days behind, so it stopped being a plan.</a:t>
            </a:r>
          </a:p>
        </p:txBody>
      </p:sp>
      <p:sp>
        <p:nvSpPr>
          <p:cNvPr id="25" name="TextBox 24"/>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Karla"/>
              </a:rPr>
              <a:t>The plan did not fail because you did. It failed because it was written for a week that does not exist.</a:t>
            </a:r>
          </a:p>
        </p:txBody>
      </p:sp>
      <p:pic>
        <p:nvPicPr>
          <p:cNvPr id="26" name="Picture 25" descr="logo-mark.png"/>
          <p:cNvPicPr>
            <a:picLocks noChangeAspect="1"/>
          </p:cNvPicPr>
          <p:nvPr/>
        </p:nvPicPr>
        <p:blipFill>
          <a:blip r:embed="rId2"/>
          <a:stretch>
            <a:fillRect/>
          </a:stretch>
        </p:blipFill>
        <p:spPr>
          <a:xfrm>
            <a:off x="384048" y="4727448"/>
            <a:ext cx="158374" cy="182880"/>
          </a:xfrm>
          <a:prstGeom prst="rect">
            <a:avLst/>
          </a:prstGeom>
        </p:spPr>
      </p:pic>
      <p:sp>
        <p:nvSpPr>
          <p:cNvPr id="27" name="TextBox 2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8" name="TextBox 2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4 / 17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48640"/>
            <a:ext cx="799619" cy="237744"/>
          </a:xfrm>
          <a:prstGeom prst="roundRect">
            <a:avLst>
              <a:gd name="adj" fmla="val 50000"/>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E3570"/>
                </a:solidFill>
                <a:latin typeface="Karla"/>
              </a:rPr>
              <a:t>TEACH</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2E3436"/>
                </a:solidFill>
                <a:latin typeface="Libre Caslon Display"/>
              </a:rPr>
              <a:t>Two kinds of plan</a:t>
            </a:r>
          </a:p>
        </p:txBody>
      </p:sp>
      <p:sp>
        <p:nvSpPr>
          <p:cNvPr id="5" name="Rectangle 4"/>
          <p:cNvSpPr/>
          <p:nvPr/>
        </p:nvSpPr>
        <p:spPr>
          <a:xfrm>
            <a:off x="685800" y="1627632"/>
            <a:ext cx="3730752" cy="2249424"/>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883664"/>
            <a:ext cx="3182112" cy="274320"/>
          </a:xfrm>
          <a:prstGeom prst="rect">
            <a:avLst/>
          </a:prstGeom>
          <a:noFill/>
        </p:spPr>
        <p:txBody>
          <a:bodyPr wrap="square" anchor="t" lIns="0" rIns="0" tIns="0" bIns="0">
            <a:spAutoFit/>
          </a:bodyPr>
          <a:lstStyle/>
          <a:p>
            <a:pPr algn="l">
              <a:lnSpc>
                <a:spcPct val="125000"/>
              </a:lnSpc>
              <a:spcAft>
                <a:spcPts val="0"/>
              </a:spcAft>
            </a:pPr>
            <a:r>
              <a:rPr sz="1350" b="1" i="0">
                <a:solidFill>
                  <a:srgbClr val="2E3570"/>
                </a:solidFill>
                <a:latin typeface="Libre Caslon Display"/>
              </a:rPr>
              <a:t>A plan for a perfect week</a:t>
            </a:r>
          </a:p>
        </p:txBody>
      </p:sp>
      <p:sp>
        <p:nvSpPr>
          <p:cNvPr id="7" name="Oval 6"/>
          <p:cNvSpPr/>
          <p:nvPr/>
        </p:nvSpPr>
        <p:spPr>
          <a:xfrm>
            <a:off x="1005839" y="2359152"/>
            <a:ext cx="91440" cy="91440"/>
          </a:xfrm>
          <a:prstGeom prst="ellipse">
            <a:avLst/>
          </a:prstGeom>
          <a:solidFill>
            <a:srgbClr val="6A70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34440" y="2304288"/>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2E3436"/>
                </a:solidFill>
                <a:latin typeface="Karla"/>
              </a:rPr>
              <a:t>Every evening is free.</a:t>
            </a:r>
          </a:p>
        </p:txBody>
      </p:sp>
      <p:sp>
        <p:nvSpPr>
          <p:cNvPr id="9" name="Oval 8"/>
          <p:cNvSpPr/>
          <p:nvPr/>
        </p:nvSpPr>
        <p:spPr>
          <a:xfrm>
            <a:off x="1005839" y="2724912"/>
            <a:ext cx="91440" cy="91440"/>
          </a:xfrm>
          <a:prstGeom prst="ellipse">
            <a:avLst/>
          </a:prstGeom>
          <a:solidFill>
            <a:srgbClr val="6A70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34440" y="2670048"/>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2E3436"/>
                </a:solidFill>
                <a:latin typeface="Karla"/>
              </a:rPr>
              <a:t>Nobody needs you for anything.</a:t>
            </a:r>
          </a:p>
        </p:txBody>
      </p:sp>
      <p:sp>
        <p:nvSpPr>
          <p:cNvPr id="11" name="Oval 10"/>
          <p:cNvSpPr/>
          <p:nvPr/>
        </p:nvSpPr>
        <p:spPr>
          <a:xfrm>
            <a:off x="1005839" y="3090672"/>
            <a:ext cx="91440" cy="91440"/>
          </a:xfrm>
          <a:prstGeom prst="ellipse">
            <a:avLst/>
          </a:prstGeom>
          <a:solidFill>
            <a:srgbClr val="6A70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34440" y="3035808"/>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2E3436"/>
                </a:solidFill>
                <a:latin typeface="Karla"/>
              </a:rPr>
              <a:t>You feel like it every night.</a:t>
            </a:r>
          </a:p>
        </p:txBody>
      </p:sp>
      <p:sp>
        <p:nvSpPr>
          <p:cNvPr id="13" name="Oval 12"/>
          <p:cNvSpPr/>
          <p:nvPr/>
        </p:nvSpPr>
        <p:spPr>
          <a:xfrm>
            <a:off x="1005839" y="3456432"/>
            <a:ext cx="91440" cy="91440"/>
          </a:xfrm>
          <a:prstGeom prst="ellipse">
            <a:avLst/>
          </a:prstGeom>
          <a:solidFill>
            <a:srgbClr val="6A70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3401568"/>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2E3436"/>
                </a:solidFill>
                <a:latin typeface="Karla"/>
              </a:rPr>
              <a:t>One missed session breaks it.</a:t>
            </a:r>
          </a:p>
        </p:txBody>
      </p:sp>
      <p:sp>
        <p:nvSpPr>
          <p:cNvPr id="15" name="Rectangle 14"/>
          <p:cNvSpPr/>
          <p:nvPr/>
        </p:nvSpPr>
        <p:spPr>
          <a:xfrm>
            <a:off x="4727448" y="1627632"/>
            <a:ext cx="3730752" cy="2249424"/>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1768" y="1883664"/>
            <a:ext cx="3182112" cy="274320"/>
          </a:xfrm>
          <a:prstGeom prst="rect">
            <a:avLst/>
          </a:prstGeom>
          <a:noFill/>
        </p:spPr>
        <p:txBody>
          <a:bodyPr wrap="square" anchor="t" lIns="0" rIns="0" tIns="0" bIns="0">
            <a:spAutoFit/>
          </a:bodyPr>
          <a:lstStyle/>
          <a:p>
            <a:pPr algn="l">
              <a:lnSpc>
                <a:spcPct val="125000"/>
              </a:lnSpc>
              <a:spcAft>
                <a:spcPts val="0"/>
              </a:spcAft>
            </a:pPr>
            <a:r>
              <a:rPr sz="1350" b="1" i="0">
                <a:solidFill>
                  <a:srgbClr val="2E3570"/>
                </a:solidFill>
                <a:latin typeface="Libre Caslon Display"/>
              </a:rPr>
              <a:t>A plan for a real week</a:t>
            </a:r>
          </a:p>
        </p:txBody>
      </p:sp>
      <p:sp>
        <p:nvSpPr>
          <p:cNvPr id="17" name="Oval 16"/>
          <p:cNvSpPr/>
          <p:nvPr/>
        </p:nvSpPr>
        <p:spPr>
          <a:xfrm>
            <a:off x="5047488" y="2359152"/>
            <a:ext cx="91440" cy="91440"/>
          </a:xfrm>
          <a:prstGeom prst="ellipse">
            <a:avLst/>
          </a:prstGeom>
          <a:solidFill>
            <a:srgbClr val="6A70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76088" y="2304288"/>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2E3436"/>
                </a:solidFill>
                <a:latin typeface="Karla"/>
              </a:rPr>
              <a:t>One evening is going to be lost.</a:t>
            </a:r>
          </a:p>
        </p:txBody>
      </p:sp>
      <p:sp>
        <p:nvSpPr>
          <p:cNvPr id="19" name="Oval 18"/>
          <p:cNvSpPr/>
          <p:nvPr/>
        </p:nvSpPr>
        <p:spPr>
          <a:xfrm>
            <a:off x="5047488" y="2679271"/>
            <a:ext cx="91440" cy="91440"/>
          </a:xfrm>
          <a:prstGeom prst="ellipse">
            <a:avLst/>
          </a:prstGeom>
          <a:solidFill>
            <a:srgbClr val="6A70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76088" y="2624407"/>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2E3436"/>
                </a:solidFill>
                <a:latin typeface="Karla"/>
              </a:rPr>
              <a:t>Something will move.</a:t>
            </a:r>
          </a:p>
        </p:txBody>
      </p:sp>
      <p:sp>
        <p:nvSpPr>
          <p:cNvPr id="21" name="Oval 20"/>
          <p:cNvSpPr/>
          <p:nvPr/>
        </p:nvSpPr>
        <p:spPr>
          <a:xfrm>
            <a:off x="5047488" y="2999390"/>
            <a:ext cx="91440" cy="91440"/>
          </a:xfrm>
          <a:prstGeom prst="ellipse">
            <a:avLst/>
          </a:prstGeom>
          <a:solidFill>
            <a:srgbClr val="6A70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76088" y="2944526"/>
            <a:ext cx="2889504" cy="365125"/>
          </a:xfrm>
          <a:prstGeom prst="rect">
            <a:avLst/>
          </a:prstGeom>
          <a:noFill/>
        </p:spPr>
        <p:txBody>
          <a:bodyPr wrap="square" anchor="t" lIns="0" rIns="0" tIns="0" bIns="0">
            <a:spAutoFit/>
          </a:bodyPr>
          <a:lstStyle/>
          <a:p>
            <a:pPr algn="l">
              <a:lnSpc>
                <a:spcPct val="125000"/>
              </a:lnSpc>
              <a:spcAft>
                <a:spcPts val="0"/>
              </a:spcAft>
            </a:pPr>
            <a:r>
              <a:rPr sz="1150" b="0" i="0">
                <a:solidFill>
                  <a:srgbClr val="2E3436"/>
                </a:solidFill>
                <a:latin typeface="Karla"/>
              </a:rPr>
              <a:t>Some sessions are twenty-five minutes.</a:t>
            </a:r>
          </a:p>
        </p:txBody>
      </p:sp>
      <p:sp>
        <p:nvSpPr>
          <p:cNvPr id="23" name="Oval 22"/>
          <p:cNvSpPr/>
          <p:nvPr/>
        </p:nvSpPr>
        <p:spPr>
          <a:xfrm>
            <a:off x="5047488" y="3502072"/>
            <a:ext cx="91440" cy="91440"/>
          </a:xfrm>
          <a:prstGeom prst="ellipse">
            <a:avLst/>
          </a:prstGeom>
          <a:solidFill>
            <a:srgbClr val="6A70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76088" y="3447208"/>
            <a:ext cx="2889504" cy="182562"/>
          </a:xfrm>
          <a:prstGeom prst="rect">
            <a:avLst/>
          </a:prstGeom>
          <a:noFill/>
        </p:spPr>
        <p:txBody>
          <a:bodyPr wrap="square" anchor="t" lIns="0" rIns="0" tIns="0" bIns="0">
            <a:spAutoFit/>
          </a:bodyPr>
          <a:lstStyle/>
          <a:p>
            <a:pPr algn="l">
              <a:lnSpc>
                <a:spcPct val="125000"/>
              </a:lnSpc>
              <a:spcAft>
                <a:spcPts val="0"/>
              </a:spcAft>
            </a:pPr>
            <a:r>
              <a:rPr sz="1150" b="0" i="0">
                <a:solidFill>
                  <a:srgbClr val="2E3436"/>
                </a:solidFill>
                <a:latin typeface="Karla"/>
              </a:rPr>
              <a:t>There is a slot with nothing in it.</a:t>
            </a:r>
          </a:p>
        </p:txBody>
      </p:sp>
      <p:sp>
        <p:nvSpPr>
          <p:cNvPr id="25" name="TextBox 24"/>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Karla"/>
              </a:rPr>
              <a:t>You are going to write the second one.</a:t>
            </a:r>
          </a:p>
        </p:txBody>
      </p:sp>
      <p:pic>
        <p:nvPicPr>
          <p:cNvPr id="26" name="Picture 25" descr="logo-mark.png"/>
          <p:cNvPicPr>
            <a:picLocks noChangeAspect="1"/>
          </p:cNvPicPr>
          <p:nvPr/>
        </p:nvPicPr>
        <p:blipFill>
          <a:blip r:embed="rId2"/>
          <a:stretch>
            <a:fillRect/>
          </a:stretch>
        </p:blipFill>
        <p:spPr>
          <a:xfrm>
            <a:off x="384048" y="4727448"/>
            <a:ext cx="158374" cy="182880"/>
          </a:xfrm>
          <a:prstGeom prst="rect">
            <a:avLst/>
          </a:prstGeom>
        </p:spPr>
      </p:pic>
      <p:sp>
        <p:nvSpPr>
          <p:cNvPr id="27" name="TextBox 2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8" name="TextBox 2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5 / 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48640"/>
            <a:ext cx="799619" cy="237744"/>
          </a:xfrm>
          <a:prstGeom prst="roundRect">
            <a:avLst>
              <a:gd name="adj" fmla="val 50000"/>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E3570"/>
                </a:solidFill>
                <a:latin typeface="Karla"/>
              </a:rPr>
              <a:t>TEACH</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2E3436"/>
                </a:solidFill>
                <a:latin typeface="Libre Caslon Display"/>
              </a:rPr>
              <a:t>Four rules that keep a plan alive</a:t>
            </a:r>
          </a:p>
        </p:txBody>
      </p:sp>
      <p:sp>
        <p:nvSpPr>
          <p:cNvPr id="5" name="Rectangle 4"/>
          <p:cNvSpPr/>
          <p:nvPr/>
        </p:nvSpPr>
        <p:spPr>
          <a:xfrm>
            <a:off x="685800" y="1627632"/>
            <a:ext cx="3749039" cy="1133856"/>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65376"/>
            <a:ext cx="658368" cy="658368"/>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png"/>
          <p:cNvPicPr>
            <a:picLocks noChangeAspect="1"/>
          </p:cNvPicPr>
          <p:nvPr/>
        </p:nvPicPr>
        <p:blipFill>
          <a:blip r:embed="rId2"/>
          <a:stretch>
            <a:fillRect/>
          </a:stretch>
        </p:blipFill>
        <p:spPr>
          <a:xfrm>
            <a:off x="1005840" y="2002536"/>
            <a:ext cx="384048" cy="384048"/>
          </a:xfrm>
          <a:prstGeom prst="rect">
            <a:avLst/>
          </a:prstGeom>
        </p:spPr>
      </p:pic>
      <p:sp>
        <p:nvSpPr>
          <p:cNvPr id="8" name="TextBox 7"/>
          <p:cNvSpPr txBox="1"/>
          <p:nvPr/>
        </p:nvSpPr>
        <p:spPr>
          <a:xfrm>
            <a:off x="1655064" y="1901952"/>
            <a:ext cx="2596896" cy="310896"/>
          </a:xfrm>
          <a:prstGeom prst="rect">
            <a:avLst/>
          </a:prstGeom>
          <a:noFill/>
        </p:spPr>
        <p:txBody>
          <a:bodyPr wrap="square" anchor="t" lIns="0" rIns="0" tIns="0" bIns="0">
            <a:spAutoFit/>
          </a:bodyPr>
          <a:lstStyle/>
          <a:p>
            <a:pPr algn="l">
              <a:lnSpc>
                <a:spcPct val="125000"/>
              </a:lnSpc>
              <a:spcAft>
                <a:spcPts val="0"/>
              </a:spcAft>
            </a:pPr>
            <a:r>
              <a:rPr sz="1400" b="1" i="0">
                <a:solidFill>
                  <a:srgbClr val="2E3570"/>
                </a:solidFill>
                <a:latin typeface="Libre Caslon Display"/>
              </a:rPr>
              <a:t>Small sessions</a:t>
            </a:r>
          </a:p>
        </p:txBody>
      </p:sp>
      <p:sp>
        <p:nvSpPr>
          <p:cNvPr id="9" name="TextBox 8"/>
          <p:cNvSpPr txBox="1"/>
          <p:nvPr/>
        </p:nvSpPr>
        <p:spPr>
          <a:xfrm>
            <a:off x="1655064" y="2249424"/>
            <a:ext cx="2596896" cy="438912"/>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Twenty-five minutes, one thing. Small enough to do on a bad night.</a:t>
            </a:r>
          </a:p>
        </p:txBody>
      </p:sp>
      <p:sp>
        <p:nvSpPr>
          <p:cNvPr id="10" name="Rectangle 9"/>
          <p:cNvSpPr/>
          <p:nvPr/>
        </p:nvSpPr>
        <p:spPr>
          <a:xfrm>
            <a:off x="4709159" y="1627632"/>
            <a:ext cx="3749039" cy="1133856"/>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892039" y="1865376"/>
            <a:ext cx="658368" cy="658368"/>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png"/>
          <p:cNvPicPr>
            <a:picLocks noChangeAspect="1"/>
          </p:cNvPicPr>
          <p:nvPr/>
        </p:nvPicPr>
        <p:blipFill>
          <a:blip r:embed="rId3"/>
          <a:stretch>
            <a:fillRect/>
          </a:stretch>
        </p:blipFill>
        <p:spPr>
          <a:xfrm>
            <a:off x="5029199" y="2002536"/>
            <a:ext cx="384048" cy="384048"/>
          </a:xfrm>
          <a:prstGeom prst="rect">
            <a:avLst/>
          </a:prstGeom>
        </p:spPr>
      </p:pic>
      <p:sp>
        <p:nvSpPr>
          <p:cNvPr id="13" name="TextBox 12"/>
          <p:cNvSpPr txBox="1"/>
          <p:nvPr/>
        </p:nvSpPr>
        <p:spPr>
          <a:xfrm>
            <a:off x="5678423" y="1901952"/>
            <a:ext cx="2596896" cy="310896"/>
          </a:xfrm>
          <a:prstGeom prst="rect">
            <a:avLst/>
          </a:prstGeom>
          <a:noFill/>
        </p:spPr>
        <p:txBody>
          <a:bodyPr wrap="square" anchor="t" lIns="0" rIns="0" tIns="0" bIns="0">
            <a:spAutoFit/>
          </a:bodyPr>
          <a:lstStyle/>
          <a:p>
            <a:pPr algn="l">
              <a:lnSpc>
                <a:spcPct val="125000"/>
              </a:lnSpc>
              <a:spcAft>
                <a:spcPts val="0"/>
              </a:spcAft>
            </a:pPr>
            <a:r>
              <a:rPr sz="1400" b="1" i="0">
                <a:solidFill>
                  <a:srgbClr val="2E3570"/>
                </a:solidFill>
                <a:latin typeface="Libre Caslon Display"/>
              </a:rPr>
              <a:t>Named, not vague</a:t>
            </a:r>
          </a:p>
        </p:txBody>
      </p:sp>
      <p:sp>
        <p:nvSpPr>
          <p:cNvPr id="14" name="TextBox 13"/>
          <p:cNvSpPr txBox="1"/>
          <p:nvPr/>
        </p:nvSpPr>
        <p:spPr>
          <a:xfrm>
            <a:off x="5678423" y="2249424"/>
            <a:ext cx="2596896" cy="438912"/>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“Biology: cells, questions 1 to 10” is a session. “Revise biology” is not.</a:t>
            </a:r>
          </a:p>
        </p:txBody>
      </p:sp>
      <p:sp>
        <p:nvSpPr>
          <p:cNvPr id="15" name="Rectangle 14"/>
          <p:cNvSpPr/>
          <p:nvPr/>
        </p:nvSpPr>
        <p:spPr>
          <a:xfrm>
            <a:off x="685800" y="2926080"/>
            <a:ext cx="3749039" cy="1133856"/>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68680" y="3163824"/>
            <a:ext cx="658368" cy="658368"/>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alendar.png"/>
          <p:cNvPicPr>
            <a:picLocks noChangeAspect="1"/>
          </p:cNvPicPr>
          <p:nvPr/>
        </p:nvPicPr>
        <p:blipFill>
          <a:blip r:embed="rId4"/>
          <a:stretch>
            <a:fillRect/>
          </a:stretch>
        </p:blipFill>
        <p:spPr>
          <a:xfrm>
            <a:off x="1005840" y="3300984"/>
            <a:ext cx="384048" cy="384048"/>
          </a:xfrm>
          <a:prstGeom prst="rect">
            <a:avLst/>
          </a:prstGeom>
        </p:spPr>
      </p:pic>
      <p:sp>
        <p:nvSpPr>
          <p:cNvPr id="18" name="TextBox 17"/>
          <p:cNvSpPr txBox="1"/>
          <p:nvPr/>
        </p:nvSpPr>
        <p:spPr>
          <a:xfrm>
            <a:off x="1655064" y="3200400"/>
            <a:ext cx="2596896" cy="310896"/>
          </a:xfrm>
          <a:prstGeom prst="rect">
            <a:avLst/>
          </a:prstGeom>
          <a:noFill/>
        </p:spPr>
        <p:txBody>
          <a:bodyPr wrap="square" anchor="t" lIns="0" rIns="0" tIns="0" bIns="0">
            <a:spAutoFit/>
          </a:bodyPr>
          <a:lstStyle/>
          <a:p>
            <a:pPr algn="l">
              <a:lnSpc>
                <a:spcPct val="125000"/>
              </a:lnSpc>
              <a:spcAft>
                <a:spcPts val="0"/>
              </a:spcAft>
            </a:pPr>
            <a:r>
              <a:rPr sz="1400" b="1" i="0">
                <a:solidFill>
                  <a:srgbClr val="2E3570"/>
                </a:solidFill>
                <a:latin typeface="Libre Caslon Display"/>
              </a:rPr>
              <a:t>One spare slot</a:t>
            </a:r>
          </a:p>
        </p:txBody>
      </p:sp>
      <p:sp>
        <p:nvSpPr>
          <p:cNvPr id="19" name="TextBox 18"/>
          <p:cNvSpPr txBox="1"/>
          <p:nvPr/>
        </p:nvSpPr>
        <p:spPr>
          <a:xfrm>
            <a:off x="1655064" y="3547872"/>
            <a:ext cx="2596896" cy="438912"/>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One evening with nothing in it, on purpose. Moved sessions go there.</a:t>
            </a:r>
          </a:p>
        </p:txBody>
      </p:sp>
      <p:sp>
        <p:nvSpPr>
          <p:cNvPr id="20" name="Rectangle 19"/>
          <p:cNvSpPr/>
          <p:nvPr/>
        </p:nvSpPr>
        <p:spPr>
          <a:xfrm>
            <a:off x="4709159" y="2926080"/>
            <a:ext cx="3749039" cy="1133856"/>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892039" y="3163824"/>
            <a:ext cx="658368" cy="658368"/>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ards.png"/>
          <p:cNvPicPr>
            <a:picLocks noChangeAspect="1"/>
          </p:cNvPicPr>
          <p:nvPr/>
        </p:nvPicPr>
        <p:blipFill>
          <a:blip r:embed="rId5"/>
          <a:stretch>
            <a:fillRect/>
          </a:stretch>
        </p:blipFill>
        <p:spPr>
          <a:xfrm>
            <a:off x="5029199" y="3300984"/>
            <a:ext cx="384048" cy="384048"/>
          </a:xfrm>
          <a:prstGeom prst="rect">
            <a:avLst/>
          </a:prstGeom>
        </p:spPr>
      </p:pic>
      <p:sp>
        <p:nvSpPr>
          <p:cNvPr id="23" name="TextBox 22"/>
          <p:cNvSpPr txBox="1"/>
          <p:nvPr/>
        </p:nvSpPr>
        <p:spPr>
          <a:xfrm>
            <a:off x="5678423" y="3200400"/>
            <a:ext cx="2596896" cy="310896"/>
          </a:xfrm>
          <a:prstGeom prst="rect">
            <a:avLst/>
          </a:prstGeom>
          <a:noFill/>
        </p:spPr>
        <p:txBody>
          <a:bodyPr wrap="square" anchor="t" lIns="0" rIns="0" tIns="0" bIns="0">
            <a:spAutoFit/>
          </a:bodyPr>
          <a:lstStyle/>
          <a:p>
            <a:pPr algn="l">
              <a:lnSpc>
                <a:spcPct val="125000"/>
              </a:lnSpc>
              <a:spcAft>
                <a:spcPts val="0"/>
              </a:spcAft>
            </a:pPr>
            <a:r>
              <a:rPr sz="1400" b="1" i="0">
                <a:solidFill>
                  <a:srgbClr val="2E3570"/>
                </a:solidFill>
                <a:latin typeface="Libre Caslon Display"/>
              </a:rPr>
              <a:t>Next week, not the term</a:t>
            </a:r>
          </a:p>
        </p:txBody>
      </p:sp>
      <p:sp>
        <p:nvSpPr>
          <p:cNvPr id="24" name="TextBox 23"/>
          <p:cNvSpPr txBox="1"/>
          <p:nvPr/>
        </p:nvSpPr>
        <p:spPr>
          <a:xfrm>
            <a:off x="5678423" y="3547872"/>
            <a:ext cx="2596896" cy="438912"/>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Sunday evening, plan seven days. A term plan is stale by Wednesday.</a:t>
            </a:r>
          </a:p>
        </p:txBody>
      </p:sp>
      <p:sp>
        <p:nvSpPr>
          <p:cNvPr id="25" name="TextBox 24"/>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Karla"/>
              </a:rPr>
              <a:t>Every repair you make later uses one of these four.</a:t>
            </a:r>
          </a:p>
        </p:txBody>
      </p:sp>
      <p:pic>
        <p:nvPicPr>
          <p:cNvPr id="26" name="Picture 25" descr="logo-mark.png"/>
          <p:cNvPicPr>
            <a:picLocks noChangeAspect="1"/>
          </p:cNvPicPr>
          <p:nvPr/>
        </p:nvPicPr>
        <p:blipFill>
          <a:blip r:embed="rId6"/>
          <a:stretch>
            <a:fillRect/>
          </a:stretch>
        </p:blipFill>
        <p:spPr>
          <a:xfrm>
            <a:off x="384048" y="4727448"/>
            <a:ext cx="158374" cy="182880"/>
          </a:xfrm>
          <a:prstGeom prst="rect">
            <a:avLst/>
          </a:prstGeom>
        </p:spPr>
      </p:pic>
      <p:sp>
        <p:nvSpPr>
          <p:cNvPr id="27" name="TextBox 2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8" name="TextBox 2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6 / 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48640"/>
            <a:ext cx="834098" cy="237744"/>
          </a:xfrm>
          <a:prstGeom prst="roundRect">
            <a:avLst>
              <a:gd name="adj" fmla="val 50000"/>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E3570"/>
                </a:solidFill>
                <a:latin typeface="Karla"/>
              </a:rPr>
              <a:t>MODEL</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2E3436"/>
                </a:solidFill>
                <a:latin typeface="Libre Caslon Display"/>
              </a:rPr>
              <a:t>One Monday, twice</a:t>
            </a:r>
          </a:p>
        </p:txBody>
      </p:sp>
      <p:sp>
        <p:nvSpPr>
          <p:cNvPr id="5" name="TextBox 4"/>
          <p:cNvSpPr txBox="1"/>
          <p:nvPr/>
        </p:nvSpPr>
        <p:spPr>
          <a:xfrm>
            <a:off x="685800" y="1554480"/>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5C6552"/>
                </a:solidFill>
                <a:latin typeface="Karla"/>
              </a:rPr>
              <a:t>The same evening, planned two ways.</a:t>
            </a:r>
          </a:p>
        </p:txBody>
      </p:sp>
      <p:sp>
        <p:nvSpPr>
          <p:cNvPr id="6" name="Rectangle 5"/>
          <p:cNvSpPr/>
          <p:nvPr/>
        </p:nvSpPr>
        <p:spPr>
          <a:xfrm>
            <a:off x="685800" y="1956816"/>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066543"/>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62556"/>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9" name="TextBox 8"/>
          <p:cNvSpPr txBox="1"/>
          <p:nvPr/>
        </p:nvSpPr>
        <p:spPr>
          <a:xfrm>
            <a:off x="1417320" y="2057400"/>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Revise maths, 6 until 9</a:t>
            </a:r>
          </a:p>
        </p:txBody>
      </p:sp>
      <p:sp>
        <p:nvSpPr>
          <p:cNvPr id="10" name="TextBox 9"/>
          <p:cNvSpPr txBox="1"/>
          <p:nvPr/>
        </p:nvSpPr>
        <p:spPr>
          <a:xfrm>
            <a:off x="1417320" y="2304288"/>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Three hours, one word. By half past six it is something else.</a:t>
            </a:r>
          </a:p>
        </p:txBody>
      </p:sp>
      <p:sp>
        <p:nvSpPr>
          <p:cNvPr id="11" name="Rectangle 10"/>
          <p:cNvSpPr/>
          <p:nvPr/>
        </p:nvSpPr>
        <p:spPr>
          <a:xfrm>
            <a:off x="685800" y="2706624"/>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2816351"/>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912363"/>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4" name="TextBox 13"/>
          <p:cNvSpPr txBox="1"/>
          <p:nvPr/>
        </p:nvSpPr>
        <p:spPr>
          <a:xfrm>
            <a:off x="1417320" y="2807208"/>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Maths: quadratics, the ten questions on page 42, 6 until 6.25</a:t>
            </a:r>
          </a:p>
        </p:txBody>
      </p:sp>
      <p:sp>
        <p:nvSpPr>
          <p:cNvPr id="15" name="TextBox 14"/>
          <p:cNvSpPr txBox="1"/>
          <p:nvPr/>
        </p:nvSpPr>
        <p:spPr>
          <a:xfrm>
            <a:off x="1417320" y="3054096"/>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Twenty-five minutes with a finish line. It gets done, and it gets ticked.</a:t>
            </a:r>
          </a:p>
        </p:txBody>
      </p:sp>
      <p:sp>
        <p:nvSpPr>
          <p:cNvPr id="16" name="Rectangle 15"/>
          <p:cNvSpPr/>
          <p:nvPr/>
        </p:nvSpPr>
        <p:spPr>
          <a:xfrm>
            <a:off x="685800" y="3456432"/>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8680" y="3566160"/>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662172"/>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19" name="TextBox 18"/>
          <p:cNvSpPr txBox="1"/>
          <p:nvPr/>
        </p:nvSpPr>
        <p:spPr>
          <a:xfrm>
            <a:off x="1417320" y="3557016"/>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Then a second one, if the evening allows</a:t>
            </a:r>
          </a:p>
        </p:txBody>
      </p:sp>
      <p:sp>
        <p:nvSpPr>
          <p:cNvPr id="20" name="TextBox 19"/>
          <p:cNvSpPr txBox="1"/>
          <p:nvPr/>
        </p:nvSpPr>
        <p:spPr>
          <a:xfrm>
            <a:off x="1417320" y="3803904"/>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Chemistry: bonding, redo last week’s test, 7 until 7.25. If it does not, one is enough.</a:t>
            </a:r>
          </a:p>
        </p:txBody>
      </p:sp>
      <p:sp>
        <p:nvSpPr>
          <p:cNvPr id="21" name="TextBox 20"/>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Karla"/>
              </a:rPr>
              <a:t>Two short named sessions on a normal evening beat three hours on paper.</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7 / 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48640"/>
            <a:ext cx="1177620" cy="237744"/>
          </a:xfrm>
          <a:prstGeom prst="roundRect">
            <a:avLst>
              <a:gd name="adj" fmla="val 50000"/>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E3570"/>
                </a:solidFill>
                <a:latin typeface="Karla"/>
              </a:rPr>
              <a:t>YOUR TURN</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2E3436"/>
                </a:solidFill>
                <a:latin typeface="Libre Caslon Display"/>
              </a:rPr>
              <a:t>Plan the seven days ahead</a:t>
            </a:r>
          </a:p>
        </p:txBody>
      </p:sp>
      <p:sp>
        <p:nvSpPr>
          <p:cNvPr id="5" name="TextBox 4"/>
          <p:cNvSpPr txBox="1"/>
          <p:nvPr/>
        </p:nvSpPr>
        <p:spPr>
          <a:xfrm>
            <a:off x="685800" y="1554480"/>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5C6552"/>
                </a:solidFill>
                <a:latin typeface="Karla"/>
              </a:rPr>
              <a:t>On the sheet, in pencil. This is a real week: the one that starts tomorrow.</a:t>
            </a:r>
          </a:p>
        </p:txBody>
      </p:sp>
      <p:sp>
        <p:nvSpPr>
          <p:cNvPr id="6" name="Rectangle 5"/>
          <p:cNvSpPr/>
          <p:nvPr/>
        </p:nvSpPr>
        <p:spPr>
          <a:xfrm>
            <a:off x="685800" y="1956816"/>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066543"/>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62556"/>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9" name="TextBox 8"/>
          <p:cNvSpPr txBox="1"/>
          <p:nvPr/>
        </p:nvSpPr>
        <p:spPr>
          <a:xfrm>
            <a:off x="1417320" y="2057400"/>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Up to two sessions a day, each one named</a:t>
            </a:r>
          </a:p>
        </p:txBody>
      </p:sp>
      <p:sp>
        <p:nvSpPr>
          <p:cNvPr id="10" name="TextBox 9"/>
          <p:cNvSpPr txBox="1"/>
          <p:nvPr/>
        </p:nvSpPr>
        <p:spPr>
          <a:xfrm>
            <a:off x="1417320" y="2304288"/>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Subject, topic, and what you will actually do. A page number is a good sign.</a:t>
            </a:r>
          </a:p>
        </p:txBody>
      </p:sp>
      <p:sp>
        <p:nvSpPr>
          <p:cNvPr id="11" name="Rectangle 10"/>
          <p:cNvSpPr/>
          <p:nvPr/>
        </p:nvSpPr>
        <p:spPr>
          <a:xfrm>
            <a:off x="685800" y="2706624"/>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2816351"/>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912363"/>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4" name="TextBox 13"/>
          <p:cNvSpPr txBox="1"/>
          <p:nvPr/>
        </p:nvSpPr>
        <p:spPr>
          <a:xfrm>
            <a:off x="1417320" y="2807208"/>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Leave one slot empty</a:t>
            </a:r>
          </a:p>
        </p:txBody>
      </p:sp>
      <p:sp>
        <p:nvSpPr>
          <p:cNvPr id="15" name="TextBox 14"/>
          <p:cNvSpPr txBox="1"/>
          <p:nvPr/>
        </p:nvSpPr>
        <p:spPr>
          <a:xfrm>
            <a:off x="1417320" y="3054096"/>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Cross it through and write SPARE. It is not a day off; it is where things go when they move.</a:t>
            </a:r>
          </a:p>
        </p:txBody>
      </p:sp>
      <p:sp>
        <p:nvSpPr>
          <p:cNvPr id="16" name="Rectangle 15"/>
          <p:cNvSpPr/>
          <p:nvPr/>
        </p:nvSpPr>
        <p:spPr>
          <a:xfrm>
            <a:off x="685800" y="3456432"/>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8680" y="3566160"/>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662172"/>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19" name="TextBox 18"/>
          <p:cNvSpPr txBox="1"/>
          <p:nvPr/>
        </p:nvSpPr>
        <p:spPr>
          <a:xfrm>
            <a:off x="1417320" y="3557016"/>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Put in the things that are already fixed</a:t>
            </a:r>
          </a:p>
        </p:txBody>
      </p:sp>
      <p:sp>
        <p:nvSpPr>
          <p:cNvPr id="20" name="TextBox 19"/>
          <p:cNvSpPr txBox="1"/>
          <p:nvPr/>
        </p:nvSpPr>
        <p:spPr>
          <a:xfrm>
            <a:off x="1417320" y="3803904"/>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Work shifts, training, family things, a birthday. Plan around them, not through them.</a:t>
            </a:r>
          </a:p>
        </p:txBody>
      </p:sp>
      <p:sp>
        <p:nvSpPr>
          <p:cNvPr id="21" name="TextBox 20"/>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Karla"/>
              </a:rPr>
              <a:t>Six minutes. If you finish early, make a session smaller.</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8 / 17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48640"/>
            <a:ext cx="1095269" cy="237744"/>
          </a:xfrm>
          <a:prstGeom prst="roundRect">
            <a:avLst>
              <a:gd name="adj" fmla="val 50000"/>
            </a:avLst>
          </a:prstGeom>
          <a:solidFill>
            <a:srgbClr val="C9CCE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E3570"/>
                </a:solidFill>
                <a:latin typeface="Karla"/>
              </a:rPr>
              <a:t>IT BREAKS</a:t>
            </a:r>
          </a:p>
        </p:txBody>
      </p:sp>
      <p:sp>
        <p:nvSpPr>
          <p:cNvPr id="4" name="TextBox 3"/>
          <p:cNvSpPr txBox="1"/>
          <p:nvPr/>
        </p:nvSpPr>
        <p:spPr>
          <a:xfrm>
            <a:off x="685800" y="896112"/>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FFFDF7"/>
                </a:solidFill>
                <a:latin typeface="Libre Caslon Display"/>
              </a:rPr>
              <a:t>Tuesday, late</a:t>
            </a:r>
          </a:p>
        </p:txBody>
      </p:sp>
      <p:sp>
        <p:nvSpPr>
          <p:cNvPr id="5" name="TextBox 4"/>
          <p:cNvSpPr txBox="1"/>
          <p:nvPr/>
        </p:nvSpPr>
        <p:spPr>
          <a:xfrm>
            <a:off x="685800" y="1645920"/>
            <a:ext cx="7772400" cy="1097280"/>
          </a:xfrm>
          <a:prstGeom prst="rect">
            <a:avLst/>
          </a:prstGeom>
          <a:noFill/>
        </p:spPr>
        <p:txBody>
          <a:bodyPr wrap="square" anchor="t" lIns="0" rIns="0" tIns="0" bIns="0">
            <a:spAutoFit/>
          </a:bodyPr>
          <a:lstStyle/>
          <a:p>
            <a:pPr algn="l">
              <a:lnSpc>
                <a:spcPct val="135000"/>
              </a:lnSpc>
              <a:spcAft>
                <a:spcPts val="0"/>
              </a:spcAft>
            </a:pPr>
            <a:r>
              <a:rPr sz="1600" b="0" i="0">
                <a:solidFill>
                  <a:srgbClr val="FFFDF7"/>
                </a:solidFill>
                <a:latin typeface="Karla"/>
              </a:rPr>
              <a:t>You were going to do the maths session after tea. Instead something happened at home that was nobody’s fault, and you were up until one in the morning. This morning you slept through the alarm and missed the bus.</a:t>
            </a:r>
          </a:p>
        </p:txBody>
      </p:sp>
      <p:sp>
        <p:nvSpPr>
          <p:cNvPr id="6" name="Rounded Rectangle 5"/>
          <p:cNvSpPr/>
          <p:nvPr/>
        </p:nvSpPr>
        <p:spPr>
          <a:xfrm>
            <a:off x="685800" y="2944368"/>
            <a:ext cx="7772400" cy="658368"/>
          </a:xfrm>
          <a:prstGeom prst="roundRect">
            <a:avLst>
              <a:gd name="adj" fmla="val 8000"/>
            </a:avLst>
          </a:prstGeom>
          <a:solidFill>
            <a:srgbClr val="C9C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3072384"/>
            <a:ext cx="7296912" cy="438912"/>
          </a:xfrm>
          <a:prstGeom prst="rect">
            <a:avLst/>
          </a:prstGeom>
          <a:noFill/>
        </p:spPr>
        <p:txBody>
          <a:bodyPr wrap="square" anchor="ctr" lIns="0" rIns="0" tIns="0" bIns="0">
            <a:spAutoFit/>
          </a:bodyPr>
          <a:lstStyle/>
          <a:p>
            <a:pPr algn="l">
              <a:lnSpc>
                <a:spcPct val="125000"/>
              </a:lnSpc>
              <a:spcAft>
                <a:spcPts val="0"/>
              </a:spcAft>
            </a:pPr>
            <a:r>
              <a:rPr sz="1400" b="1" i="0">
                <a:solidFill>
                  <a:srgbClr val="2E3570"/>
                </a:solidFill>
                <a:latin typeface="Karla"/>
              </a:rPr>
              <a:t>Tuesday’s sessions did not happen. Repair the plan: where do they go, and what gets smaller?</a:t>
            </a:r>
          </a:p>
        </p:txBody>
      </p:sp>
      <p:sp>
        <p:nvSpPr>
          <p:cNvPr id="8" name="TextBox 7"/>
          <p:cNvSpPr txBox="1"/>
          <p:nvPr/>
        </p:nvSpPr>
        <p:spPr>
          <a:xfrm>
            <a:off x="685800" y="3931920"/>
            <a:ext cx="7772400" cy="380999"/>
          </a:xfrm>
          <a:prstGeom prst="rect">
            <a:avLst/>
          </a:prstGeom>
          <a:noFill/>
        </p:spPr>
        <p:txBody>
          <a:bodyPr wrap="square" anchor="t" lIns="0" rIns="0" tIns="0" bIns="0">
            <a:spAutoFit/>
          </a:bodyPr>
          <a:lstStyle/>
          <a:p>
            <a:pPr algn="l">
              <a:lnSpc>
                <a:spcPct val="125000"/>
              </a:lnSpc>
              <a:spcAft>
                <a:spcPts val="0"/>
              </a:spcAft>
            </a:pPr>
            <a:r>
              <a:rPr sz="1200" b="0" i="1">
                <a:solidFill>
                  <a:srgbClr val="C9CCE6"/>
                </a:solidFill>
                <a:latin typeface="Karla"/>
              </a:rPr>
              <a:t>Two minutes, on the sheet. Use the spare slot or shrink something; do not add a third session to Wednesday.</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C9CCE6"/>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C9CCE6"/>
                </a:solidFill>
                <a:latin typeface="Karla"/>
              </a:rPr>
              <a:t>9 / 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48640"/>
            <a:ext cx="1095269" cy="237744"/>
          </a:xfrm>
          <a:prstGeom prst="roundRect">
            <a:avLst>
              <a:gd name="adj" fmla="val 50000"/>
            </a:avLst>
          </a:prstGeom>
          <a:solidFill>
            <a:srgbClr val="C9CCE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E3570"/>
                </a:solidFill>
                <a:latin typeface="Karla"/>
              </a:rPr>
              <a:t>IT BREAKS</a:t>
            </a:r>
          </a:p>
        </p:txBody>
      </p:sp>
      <p:sp>
        <p:nvSpPr>
          <p:cNvPr id="4" name="TextBox 3"/>
          <p:cNvSpPr txBox="1"/>
          <p:nvPr/>
        </p:nvSpPr>
        <p:spPr>
          <a:xfrm>
            <a:off x="685800" y="896112"/>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FFFDF7"/>
                </a:solidFill>
                <a:latin typeface="Libre Caslon Display"/>
              </a:rPr>
              <a:t>Thursday, four o’clock</a:t>
            </a:r>
          </a:p>
        </p:txBody>
      </p:sp>
      <p:sp>
        <p:nvSpPr>
          <p:cNvPr id="5" name="TextBox 4"/>
          <p:cNvSpPr txBox="1"/>
          <p:nvPr/>
        </p:nvSpPr>
        <p:spPr>
          <a:xfrm>
            <a:off x="685800" y="1645920"/>
            <a:ext cx="7772400" cy="1097280"/>
          </a:xfrm>
          <a:prstGeom prst="rect">
            <a:avLst/>
          </a:prstGeom>
          <a:noFill/>
        </p:spPr>
        <p:txBody>
          <a:bodyPr wrap="square" anchor="t" lIns="0" rIns="0" tIns="0" bIns="0">
            <a:spAutoFit/>
          </a:bodyPr>
          <a:lstStyle/>
          <a:p>
            <a:pPr algn="l">
              <a:lnSpc>
                <a:spcPct val="135000"/>
              </a:lnSpc>
              <a:spcAft>
                <a:spcPts val="0"/>
              </a:spcAft>
            </a:pPr>
            <a:r>
              <a:rPr sz="1600" b="0" i="0">
                <a:solidFill>
                  <a:srgbClr val="FFFDF7"/>
                </a:solidFill>
                <a:latin typeface="Karla"/>
              </a:rPr>
              <a:t>A message at lunchtime. You are needed from four until nine on Thursday, and it is not up to you. Maybe it is a shift that moved, maybe it is looking after someone, maybe it is a lift you cannot say no to.</a:t>
            </a:r>
          </a:p>
        </p:txBody>
      </p:sp>
      <p:sp>
        <p:nvSpPr>
          <p:cNvPr id="6" name="Rounded Rectangle 5"/>
          <p:cNvSpPr/>
          <p:nvPr/>
        </p:nvSpPr>
        <p:spPr>
          <a:xfrm>
            <a:off x="685800" y="2944368"/>
            <a:ext cx="7772400" cy="658368"/>
          </a:xfrm>
          <a:prstGeom prst="roundRect">
            <a:avLst>
              <a:gd name="adj" fmla="val 8000"/>
            </a:avLst>
          </a:prstGeom>
          <a:solidFill>
            <a:srgbClr val="C9C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3072384"/>
            <a:ext cx="7296912" cy="438912"/>
          </a:xfrm>
          <a:prstGeom prst="rect">
            <a:avLst/>
          </a:prstGeom>
          <a:noFill/>
        </p:spPr>
        <p:txBody>
          <a:bodyPr wrap="square" anchor="ctr" lIns="0" rIns="0" tIns="0" bIns="0">
            <a:spAutoFit/>
          </a:bodyPr>
          <a:lstStyle/>
          <a:p>
            <a:pPr algn="l">
              <a:lnSpc>
                <a:spcPct val="125000"/>
              </a:lnSpc>
              <a:spcAft>
                <a:spcPts val="0"/>
              </a:spcAft>
            </a:pPr>
            <a:r>
              <a:rPr sz="1400" b="1" i="0">
                <a:solidFill>
                  <a:srgbClr val="2E3570"/>
                </a:solidFill>
                <a:latin typeface="Karla"/>
              </a:rPr>
              <a:t>Thursday is gone. Repair the plan again.</a:t>
            </a:r>
          </a:p>
        </p:txBody>
      </p:sp>
      <p:sp>
        <p:nvSpPr>
          <p:cNvPr id="8" name="TextBox 7"/>
          <p:cNvSpPr txBox="1"/>
          <p:nvPr/>
        </p:nvSpPr>
        <p:spPr>
          <a:xfrm>
            <a:off x="685800" y="3931920"/>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C9CCE6"/>
                </a:solidFill>
                <a:latin typeface="Karla"/>
              </a:rPr>
              <a:t>Two minutes. If the spare slot is already used, something has to be cut. Decide what, and say why.</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C9CCE6"/>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C9CCE6"/>
                </a:solidFill>
                <a:latin typeface="Karla"/>
              </a:rPr>
              <a:t>10 / 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48640"/>
            <a:ext cx="1095269" cy="237744"/>
          </a:xfrm>
          <a:prstGeom prst="roundRect">
            <a:avLst>
              <a:gd name="adj" fmla="val 50000"/>
            </a:avLst>
          </a:prstGeom>
          <a:solidFill>
            <a:srgbClr val="C9CCE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E3570"/>
                </a:solidFill>
                <a:latin typeface="Karla"/>
              </a:rPr>
              <a:t>IT BREAKS</a:t>
            </a:r>
          </a:p>
        </p:txBody>
      </p:sp>
      <p:sp>
        <p:nvSpPr>
          <p:cNvPr id="4" name="TextBox 3"/>
          <p:cNvSpPr txBox="1"/>
          <p:nvPr/>
        </p:nvSpPr>
        <p:spPr>
          <a:xfrm>
            <a:off x="685800" y="896112"/>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FFFDF7"/>
                </a:solidFill>
                <a:latin typeface="Libre Caslon Display"/>
              </a:rPr>
              <a:t>Saturday, two o’clock</a:t>
            </a:r>
          </a:p>
        </p:txBody>
      </p:sp>
      <p:sp>
        <p:nvSpPr>
          <p:cNvPr id="5" name="TextBox 4"/>
          <p:cNvSpPr txBox="1"/>
          <p:nvPr/>
        </p:nvSpPr>
        <p:spPr>
          <a:xfrm>
            <a:off x="685800" y="1645920"/>
            <a:ext cx="7772400" cy="548640"/>
          </a:xfrm>
          <a:prstGeom prst="rect">
            <a:avLst/>
          </a:prstGeom>
          <a:noFill/>
        </p:spPr>
        <p:txBody>
          <a:bodyPr wrap="square" anchor="t" lIns="0" rIns="0" tIns="0" bIns="0">
            <a:spAutoFit/>
          </a:bodyPr>
          <a:lstStyle/>
          <a:p>
            <a:pPr algn="l">
              <a:lnSpc>
                <a:spcPct val="135000"/>
              </a:lnSpc>
              <a:spcAft>
                <a:spcPts val="0"/>
              </a:spcAft>
            </a:pPr>
            <a:r>
              <a:rPr sz="1600" b="0" i="0">
                <a:solidFill>
                  <a:srgbClr val="FFFDF7"/>
                </a:solidFill>
                <a:latin typeface="Karla"/>
              </a:rPr>
              <a:t>A friend messages. They are not okay, and they ask whether you can come over this afternoon. You know that you are going.</a:t>
            </a:r>
          </a:p>
        </p:txBody>
      </p:sp>
      <p:sp>
        <p:nvSpPr>
          <p:cNvPr id="6" name="Rounded Rectangle 5"/>
          <p:cNvSpPr/>
          <p:nvPr/>
        </p:nvSpPr>
        <p:spPr>
          <a:xfrm>
            <a:off x="685800" y="2395728"/>
            <a:ext cx="7772400" cy="658368"/>
          </a:xfrm>
          <a:prstGeom prst="roundRect">
            <a:avLst>
              <a:gd name="adj" fmla="val 8000"/>
            </a:avLst>
          </a:prstGeom>
          <a:solidFill>
            <a:srgbClr val="C9C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523744"/>
            <a:ext cx="7296912" cy="438912"/>
          </a:xfrm>
          <a:prstGeom prst="rect">
            <a:avLst/>
          </a:prstGeom>
          <a:noFill/>
        </p:spPr>
        <p:txBody>
          <a:bodyPr wrap="square" anchor="ctr" lIns="0" rIns="0" tIns="0" bIns="0">
            <a:spAutoFit/>
          </a:bodyPr>
          <a:lstStyle/>
          <a:p>
            <a:pPr algn="l">
              <a:lnSpc>
                <a:spcPct val="125000"/>
              </a:lnSpc>
              <a:spcAft>
                <a:spcPts val="0"/>
              </a:spcAft>
            </a:pPr>
            <a:r>
              <a:rPr sz="1400" b="1" i="0">
                <a:solidFill>
                  <a:srgbClr val="2E3570"/>
                </a:solidFill>
                <a:latin typeface="Karla"/>
              </a:rPr>
              <a:t>Saturday afternoon is theirs. Repair the plan one last time.</a:t>
            </a:r>
          </a:p>
        </p:txBody>
      </p:sp>
      <p:sp>
        <p:nvSpPr>
          <p:cNvPr id="8" name="TextBox 7"/>
          <p:cNvSpPr txBox="1"/>
          <p:nvPr/>
        </p:nvSpPr>
        <p:spPr>
          <a:xfrm>
            <a:off x="685800" y="3931920"/>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C9CCE6"/>
                </a:solidFill>
                <a:latin typeface="Karla"/>
              </a:rPr>
              <a:t>Two minutes. Notice which sessions have moved three times and are still on the sheet.</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C9CCE6"/>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C9CCE6"/>
                </a:solidFill>
                <a:latin typeface="Karla"/>
              </a:rPr>
              <a:t>11 / 17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48640"/>
            <a:ext cx="1165565" cy="237744"/>
          </a:xfrm>
          <a:prstGeom prst="roundRect">
            <a:avLst>
              <a:gd name="adj" fmla="val 50000"/>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E3570"/>
                </a:solidFill>
                <a:latin typeface="Karla"/>
              </a:rPr>
              <a:t>LOOK BACK</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2E3436"/>
                </a:solidFill>
                <a:latin typeface="Libre Caslon Display"/>
              </a:rPr>
              <a:t>What survived</a:t>
            </a:r>
          </a:p>
        </p:txBody>
      </p:sp>
      <p:sp>
        <p:nvSpPr>
          <p:cNvPr id="5" name="TextBox 4"/>
          <p:cNvSpPr txBox="1"/>
          <p:nvPr/>
        </p:nvSpPr>
        <p:spPr>
          <a:xfrm>
            <a:off x="685800" y="1554480"/>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5C6552"/>
                </a:solidFill>
                <a:latin typeface="Karla"/>
              </a:rPr>
              <a:t>Look at the sheet. Some sessions moved three times and are still there.</a:t>
            </a:r>
          </a:p>
        </p:txBody>
      </p:sp>
      <p:sp>
        <p:nvSpPr>
          <p:cNvPr id="6" name="Rectangle 5"/>
          <p:cNvSpPr/>
          <p:nvPr/>
        </p:nvSpPr>
        <p:spPr>
          <a:xfrm>
            <a:off x="685800" y="1956816"/>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066543"/>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62556"/>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9" name="TextBox 8"/>
          <p:cNvSpPr txBox="1"/>
          <p:nvPr/>
        </p:nvSpPr>
        <p:spPr>
          <a:xfrm>
            <a:off x="1417320" y="2057400"/>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The ones that survived were small</a:t>
            </a:r>
          </a:p>
        </p:txBody>
      </p:sp>
      <p:sp>
        <p:nvSpPr>
          <p:cNvPr id="10" name="TextBox 9"/>
          <p:cNvSpPr txBox="1"/>
          <p:nvPr/>
        </p:nvSpPr>
        <p:spPr>
          <a:xfrm>
            <a:off x="1417320" y="2304288"/>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Twenty-five minutes can move to a Sunday morning. Three hours cannot.</a:t>
            </a:r>
          </a:p>
        </p:txBody>
      </p:sp>
      <p:sp>
        <p:nvSpPr>
          <p:cNvPr id="11" name="Rectangle 10"/>
          <p:cNvSpPr/>
          <p:nvPr/>
        </p:nvSpPr>
        <p:spPr>
          <a:xfrm>
            <a:off x="685800" y="2706624"/>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2816351"/>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912363"/>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4" name="TextBox 13"/>
          <p:cNvSpPr txBox="1"/>
          <p:nvPr/>
        </p:nvSpPr>
        <p:spPr>
          <a:xfrm>
            <a:off x="1417320" y="2807208"/>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The ones that survived were named</a:t>
            </a:r>
          </a:p>
        </p:txBody>
      </p:sp>
      <p:sp>
        <p:nvSpPr>
          <p:cNvPr id="15" name="TextBox 14"/>
          <p:cNvSpPr txBox="1"/>
          <p:nvPr/>
        </p:nvSpPr>
        <p:spPr>
          <a:xfrm>
            <a:off x="1417320" y="3054096"/>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You knew what “quadratics, page 42” was, so you could move it without losing it.</a:t>
            </a:r>
          </a:p>
        </p:txBody>
      </p:sp>
      <p:sp>
        <p:nvSpPr>
          <p:cNvPr id="16" name="Rectangle 15"/>
          <p:cNvSpPr/>
          <p:nvPr/>
        </p:nvSpPr>
        <p:spPr>
          <a:xfrm>
            <a:off x="685800" y="3456432"/>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8680" y="3566160"/>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662172"/>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19" name="TextBox 18"/>
          <p:cNvSpPr txBox="1"/>
          <p:nvPr/>
        </p:nvSpPr>
        <p:spPr>
          <a:xfrm>
            <a:off x="1417320" y="3557016"/>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The spare slot did most of the work</a:t>
            </a:r>
          </a:p>
        </p:txBody>
      </p:sp>
      <p:sp>
        <p:nvSpPr>
          <p:cNvPr id="20" name="TextBox 19"/>
          <p:cNvSpPr txBox="1"/>
          <p:nvPr/>
        </p:nvSpPr>
        <p:spPr>
          <a:xfrm>
            <a:off x="1417320" y="3803904"/>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Without it, the first interruption would have finished the plan.</a:t>
            </a:r>
          </a:p>
        </p:txBody>
      </p:sp>
      <p:sp>
        <p:nvSpPr>
          <p:cNvPr id="21" name="TextBox 20"/>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Karla"/>
              </a:rPr>
              <a:t>Tell the person next to you which session you would have lost without the spare slot.</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12 / 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48640"/>
            <a:ext cx="740193" cy="237744"/>
          </a:xfrm>
          <a:prstGeom prst="roundRect">
            <a:avLst>
              <a:gd name="adj" fmla="val 50000"/>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E3570"/>
                </a:solidFill>
                <a:latin typeface="Karla"/>
              </a:rPr>
              <a:t>SWAP</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2E3436"/>
                </a:solidFill>
                <a:latin typeface="Libre Caslon Display"/>
              </a:rPr>
              <a:t>Check a plan that is not yours</a:t>
            </a:r>
          </a:p>
        </p:txBody>
      </p:sp>
      <p:sp>
        <p:nvSpPr>
          <p:cNvPr id="5" name="TextBox 4"/>
          <p:cNvSpPr txBox="1"/>
          <p:nvPr/>
        </p:nvSpPr>
        <p:spPr>
          <a:xfrm>
            <a:off x="685800" y="1554480"/>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5C6552"/>
                </a:solidFill>
                <a:latin typeface="Karla"/>
              </a:rPr>
              <a:t>Swap sheets with the person next to you.</a:t>
            </a:r>
          </a:p>
        </p:txBody>
      </p:sp>
      <p:sp>
        <p:nvSpPr>
          <p:cNvPr id="6" name="Rectangle 5"/>
          <p:cNvSpPr/>
          <p:nvPr/>
        </p:nvSpPr>
        <p:spPr>
          <a:xfrm>
            <a:off x="685800" y="1956816"/>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066543"/>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62556"/>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9" name="TextBox 8"/>
          <p:cNvSpPr txBox="1"/>
          <p:nvPr/>
        </p:nvSpPr>
        <p:spPr>
          <a:xfrm>
            <a:off x="1417320" y="2057400"/>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Is every session named?</a:t>
            </a:r>
          </a:p>
        </p:txBody>
      </p:sp>
      <p:sp>
        <p:nvSpPr>
          <p:cNvPr id="10" name="TextBox 9"/>
          <p:cNvSpPr txBox="1"/>
          <p:nvPr/>
        </p:nvSpPr>
        <p:spPr>
          <a:xfrm>
            <a:off x="1417320" y="2304288"/>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If you cannot tell what they will do in it, write a question mark next to it.</a:t>
            </a:r>
          </a:p>
        </p:txBody>
      </p:sp>
      <p:sp>
        <p:nvSpPr>
          <p:cNvPr id="11" name="Rectangle 10"/>
          <p:cNvSpPr/>
          <p:nvPr/>
        </p:nvSpPr>
        <p:spPr>
          <a:xfrm>
            <a:off x="685800" y="2706624"/>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2816351"/>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912363"/>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4" name="TextBox 13"/>
          <p:cNvSpPr txBox="1"/>
          <p:nvPr/>
        </p:nvSpPr>
        <p:spPr>
          <a:xfrm>
            <a:off x="1417320" y="2807208"/>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Is every session small enough to move?</a:t>
            </a:r>
          </a:p>
        </p:txBody>
      </p:sp>
      <p:sp>
        <p:nvSpPr>
          <p:cNvPr id="15" name="TextBox 14"/>
          <p:cNvSpPr txBox="1"/>
          <p:nvPr/>
        </p:nvSpPr>
        <p:spPr>
          <a:xfrm>
            <a:off x="1417320" y="3054096"/>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Anything over forty-five minutes gets a circle.</a:t>
            </a:r>
          </a:p>
        </p:txBody>
      </p:sp>
      <p:sp>
        <p:nvSpPr>
          <p:cNvPr id="16" name="Rectangle 15"/>
          <p:cNvSpPr/>
          <p:nvPr/>
        </p:nvSpPr>
        <p:spPr>
          <a:xfrm>
            <a:off x="685800" y="3456432"/>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8680" y="3566160"/>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662172"/>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19" name="TextBox 18"/>
          <p:cNvSpPr txBox="1"/>
          <p:nvPr/>
        </p:nvSpPr>
        <p:spPr>
          <a:xfrm>
            <a:off x="1417320" y="3557016"/>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Is there a spare slot, and did they use it?</a:t>
            </a:r>
          </a:p>
        </p:txBody>
      </p:sp>
      <p:sp>
        <p:nvSpPr>
          <p:cNvPr id="20" name="TextBox 19"/>
          <p:cNvSpPr txBox="1"/>
          <p:nvPr/>
        </p:nvSpPr>
        <p:spPr>
          <a:xfrm>
            <a:off x="1417320" y="3803904"/>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Tick it if it is there.</a:t>
            </a:r>
          </a:p>
        </p:txBody>
      </p:sp>
      <p:sp>
        <p:nvSpPr>
          <p:cNvPr id="21" name="TextBox 20"/>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Karla"/>
              </a:rPr>
              <a:t>Hand it back with one thing you would move, and why.</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13 / 17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48640"/>
            <a:ext cx="955431" cy="237744"/>
          </a:xfrm>
          <a:prstGeom prst="roundRect">
            <a:avLst>
              <a:gd name="adj" fmla="val 50000"/>
            </a:avLst>
          </a:prstGeom>
          <a:solidFill>
            <a:srgbClr val="C9CCE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E3570"/>
                </a:solidFill>
                <a:latin typeface="Karla"/>
              </a:rPr>
              <a:t>DISCUSS</a:t>
            </a:r>
          </a:p>
        </p:txBody>
      </p:sp>
      <p:sp>
        <p:nvSpPr>
          <p:cNvPr id="4" name="TextBox 3"/>
          <p:cNvSpPr txBox="1"/>
          <p:nvPr/>
        </p:nvSpPr>
        <p:spPr>
          <a:xfrm>
            <a:off x="685800" y="896112"/>
            <a:ext cx="7772400" cy="365760"/>
          </a:xfrm>
          <a:prstGeom prst="rect">
            <a:avLst/>
          </a:prstGeom>
          <a:noFill/>
        </p:spPr>
        <p:txBody>
          <a:bodyPr wrap="square" anchor="t" lIns="0" rIns="0" tIns="0" bIns="0">
            <a:spAutoFit/>
          </a:bodyPr>
          <a:lstStyle/>
          <a:p>
            <a:pPr algn="l">
              <a:lnSpc>
                <a:spcPct val="125000"/>
              </a:lnSpc>
              <a:spcAft>
                <a:spcPts val="0"/>
              </a:spcAft>
            </a:pPr>
            <a:r>
              <a:rPr sz="1200" b="1" i="0" spc="120">
                <a:solidFill>
                  <a:srgbClr val="C9CCE6"/>
                </a:solidFill>
                <a:latin typeface="Karla"/>
              </a:rPr>
              <a:t>One question</a:t>
            </a:r>
          </a:p>
        </p:txBody>
      </p:sp>
      <p:sp>
        <p:nvSpPr>
          <p:cNvPr id="5" name="TextBox 4"/>
          <p:cNvSpPr txBox="1"/>
          <p:nvPr/>
        </p:nvSpPr>
        <p:spPr>
          <a:xfrm>
            <a:off x="548640" y="1389888"/>
            <a:ext cx="8046720" cy="1463040"/>
          </a:xfrm>
          <a:prstGeom prst="rect">
            <a:avLst/>
          </a:prstGeom>
          <a:noFill/>
        </p:spPr>
        <p:txBody>
          <a:bodyPr wrap="square" anchor="t" lIns="0" rIns="0" tIns="0" bIns="0">
            <a:spAutoFit/>
          </a:bodyPr>
          <a:lstStyle/>
          <a:p>
            <a:pPr algn="ctr">
              <a:lnSpc>
                <a:spcPct val="114000"/>
              </a:lnSpc>
              <a:spcAft>
                <a:spcPts val="0"/>
              </a:spcAft>
            </a:pPr>
            <a:r>
              <a:rPr sz="2800" b="1" i="0">
                <a:solidFill>
                  <a:srgbClr val="FFFDF7"/>
                </a:solidFill>
                <a:latin typeface="Libre Caslon Display"/>
              </a:rPr>
              <a:t>Is a plan that changed three times in a week a failed plan?</a:t>
            </a:r>
          </a:p>
        </p:txBody>
      </p:sp>
      <p:sp>
        <p:nvSpPr>
          <p:cNvPr id="6" name="Rectangle 5"/>
          <p:cNvSpPr/>
          <p:nvPr/>
        </p:nvSpPr>
        <p:spPr>
          <a:xfrm>
            <a:off x="4114800" y="3108960"/>
            <a:ext cx="914400" cy="18288"/>
          </a:xfrm>
          <a:prstGeom prst="rect">
            <a:avLst/>
          </a:prstGeom>
          <a:solidFill>
            <a:srgbClr val="C9C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3346704"/>
            <a:ext cx="6400800" cy="731520"/>
          </a:xfrm>
          <a:prstGeom prst="rect">
            <a:avLst/>
          </a:prstGeom>
          <a:noFill/>
        </p:spPr>
        <p:txBody>
          <a:bodyPr wrap="square" anchor="t" lIns="0" rIns="0" tIns="0" bIns="0">
            <a:spAutoFit/>
          </a:bodyPr>
          <a:lstStyle/>
          <a:p>
            <a:pPr algn="ctr">
              <a:lnSpc>
                <a:spcPct val="125000"/>
              </a:lnSpc>
              <a:spcAft>
                <a:spcPts val="0"/>
              </a:spcAft>
            </a:pPr>
            <a:r>
              <a:rPr sz="1350" b="0" i="0">
                <a:solidFill>
                  <a:srgbClr val="C9CCE6"/>
                </a:solidFill>
                <a:latin typeface="Karla"/>
              </a:rPr>
              <a:t>Hands up for yes, hands up for no, and then somebody from each side says why.</a:t>
            </a:r>
          </a:p>
        </p:txBody>
      </p:sp>
      <p:pic>
        <p:nvPicPr>
          <p:cNvPr id="8" name="Picture 7" descr="logo-mark.png"/>
          <p:cNvPicPr>
            <a:picLocks noChangeAspect="1"/>
          </p:cNvPicPr>
          <p:nvPr/>
        </p:nvPicPr>
        <p:blipFill>
          <a:blip r:embed="rId2"/>
          <a:stretch>
            <a:fillRect/>
          </a:stretch>
        </p:blipFill>
        <p:spPr>
          <a:xfrm>
            <a:off x="384048" y="4727448"/>
            <a:ext cx="158374" cy="182880"/>
          </a:xfrm>
          <a:prstGeom prst="rect">
            <a:avLst/>
          </a:prstGeom>
        </p:spPr>
      </p:pic>
      <p:sp>
        <p:nvSpPr>
          <p:cNvPr id="9" name="TextBox 8"/>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C9CCE6"/>
                </a:solidFill>
                <a:latin typeface="Karla"/>
              </a:rPr>
              <a:t>The Pastoral Guide</a:t>
            </a:r>
          </a:p>
        </p:txBody>
      </p:sp>
      <p:sp>
        <p:nvSpPr>
          <p:cNvPr id="10" name="TextBox 9"/>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C9CCE6"/>
                </a:solidFill>
                <a:latin typeface="Karla"/>
              </a:rPr>
              <a:t>14 / 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48640"/>
            <a:ext cx="646431" cy="237744"/>
          </a:xfrm>
          <a:prstGeom prst="roundRect">
            <a:avLst>
              <a:gd name="adj" fmla="val 50000"/>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E3570"/>
                </a:solidFill>
                <a:latin typeface="Karla"/>
              </a:rPr>
              <a:t>EXIT</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2E3436"/>
                </a:solidFill>
                <a:latin typeface="Libre Caslon Display"/>
              </a:rPr>
              <a:t>Monday morning</a:t>
            </a:r>
          </a:p>
        </p:txBody>
      </p:sp>
      <p:sp>
        <p:nvSpPr>
          <p:cNvPr id="5" name="TextBox 4"/>
          <p:cNvSpPr txBox="1"/>
          <p:nvPr/>
        </p:nvSpPr>
        <p:spPr>
          <a:xfrm>
            <a:off x="685800" y="1554480"/>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5C6552"/>
                </a:solidFill>
                <a:latin typeface="Karla"/>
              </a:rPr>
              <a:t>At the bottom of the sheet, private, not collected.</a:t>
            </a:r>
          </a:p>
        </p:txBody>
      </p:sp>
      <p:sp>
        <p:nvSpPr>
          <p:cNvPr id="6" name="Rectangle 5"/>
          <p:cNvSpPr/>
          <p:nvPr/>
        </p:nvSpPr>
        <p:spPr>
          <a:xfrm>
            <a:off x="685800" y="1956816"/>
            <a:ext cx="7772400" cy="71323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112264"/>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208276"/>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9" name="TextBox 8"/>
          <p:cNvSpPr txBox="1"/>
          <p:nvPr/>
        </p:nvSpPr>
        <p:spPr>
          <a:xfrm>
            <a:off x="1417320" y="2057400"/>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Your first session</a:t>
            </a:r>
          </a:p>
        </p:txBody>
      </p:sp>
      <p:sp>
        <p:nvSpPr>
          <p:cNvPr id="10" name="TextBox 9"/>
          <p:cNvSpPr txBox="1"/>
          <p:nvPr/>
        </p:nvSpPr>
        <p:spPr>
          <a:xfrm>
            <a:off x="1417320" y="2304288"/>
            <a:ext cx="6821424" cy="292608"/>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Day, time, subject, topic, what you will do. The whole line.</a:t>
            </a:r>
          </a:p>
        </p:txBody>
      </p:sp>
      <p:sp>
        <p:nvSpPr>
          <p:cNvPr id="11" name="Rectangle 10"/>
          <p:cNvSpPr/>
          <p:nvPr/>
        </p:nvSpPr>
        <p:spPr>
          <a:xfrm>
            <a:off x="685800" y="2798064"/>
            <a:ext cx="7772400" cy="71323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2953512"/>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049524"/>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4" name="TextBox 13"/>
          <p:cNvSpPr txBox="1"/>
          <p:nvPr/>
        </p:nvSpPr>
        <p:spPr>
          <a:xfrm>
            <a:off x="1417320" y="2898648"/>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Where the sheet is going</a:t>
            </a:r>
          </a:p>
        </p:txBody>
      </p:sp>
      <p:sp>
        <p:nvSpPr>
          <p:cNvPr id="15" name="TextBox 14"/>
          <p:cNvSpPr txBox="1"/>
          <p:nvPr/>
        </p:nvSpPr>
        <p:spPr>
          <a:xfrm>
            <a:off x="1417320" y="3145536"/>
            <a:ext cx="6821424" cy="292608"/>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A wall, a folder, the inside of a planner. Somewhere you will see it on Monday.</a:t>
            </a:r>
          </a:p>
        </p:txBody>
      </p:sp>
      <p:sp>
        <p:nvSpPr>
          <p:cNvPr id="16" name="TextBox 15"/>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Karla"/>
              </a:rPr>
              <a:t>Bring the sheet on Monday. The check-in takes two minutes.</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p:spPr>
      </p:pic>
      <p:sp>
        <p:nvSpPr>
          <p:cNvPr id="18" name="TextBox 1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9" name="TextBox 1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15 / 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mark.png"/>
          <p:cNvPicPr>
            <a:picLocks noChangeAspect="1"/>
          </p:cNvPicPr>
          <p:nvPr/>
        </p:nvPicPr>
        <p:blipFill>
          <a:blip r:embed="rId2"/>
          <a:stretch>
            <a:fillRect/>
          </a:stretch>
        </p:blipFill>
        <p:spPr>
          <a:xfrm>
            <a:off x="4255251" y="950976"/>
            <a:ext cx="633496" cy="731520"/>
          </a:xfrm>
          <a:prstGeom prst="rect">
            <a:avLst/>
          </a:prstGeom>
        </p:spPr>
      </p:pic>
      <p:sp>
        <p:nvSpPr>
          <p:cNvPr id="4" name="TextBox 3"/>
          <p:cNvSpPr txBox="1"/>
          <p:nvPr/>
        </p:nvSpPr>
        <p:spPr>
          <a:xfrm>
            <a:off x="548640" y="1993392"/>
            <a:ext cx="8046720" cy="822960"/>
          </a:xfrm>
          <a:prstGeom prst="rect">
            <a:avLst/>
          </a:prstGeom>
          <a:noFill/>
        </p:spPr>
        <p:txBody>
          <a:bodyPr wrap="square" anchor="t" lIns="0" rIns="0" tIns="0" bIns="0">
            <a:spAutoFit/>
          </a:bodyPr>
          <a:lstStyle/>
          <a:p>
            <a:pPr algn="ctr">
              <a:lnSpc>
                <a:spcPct val="105000"/>
              </a:lnSpc>
              <a:spcAft>
                <a:spcPts val="0"/>
              </a:spcAft>
            </a:pPr>
            <a:r>
              <a:rPr sz="3200" b="1" i="0">
                <a:solidFill>
                  <a:srgbClr val="2E3570"/>
                </a:solidFill>
                <a:latin typeface="Libre Caslon Display"/>
              </a:rPr>
              <a:t>Plan the week you will have.</a:t>
            </a:r>
          </a:p>
        </p:txBody>
      </p:sp>
      <p:sp>
        <p:nvSpPr>
          <p:cNvPr id="5" name="TextBox 4"/>
          <p:cNvSpPr txBox="1"/>
          <p:nvPr/>
        </p:nvSpPr>
        <p:spPr>
          <a:xfrm>
            <a:off x="1188720" y="2871216"/>
            <a:ext cx="6766560" cy="731520"/>
          </a:xfrm>
          <a:prstGeom prst="rect">
            <a:avLst/>
          </a:prstGeom>
          <a:noFill/>
        </p:spPr>
        <p:txBody>
          <a:bodyPr wrap="square" anchor="t" lIns="0" rIns="0" tIns="0" bIns="0">
            <a:spAutoFit/>
          </a:bodyPr>
          <a:lstStyle/>
          <a:p>
            <a:pPr algn="ctr">
              <a:lnSpc>
                <a:spcPct val="125000"/>
              </a:lnSpc>
              <a:spcAft>
                <a:spcPts val="0"/>
              </a:spcAft>
            </a:pPr>
            <a:r>
              <a:rPr sz="1500" b="0" i="0">
                <a:solidFill>
                  <a:srgbClr val="5C6552"/>
                </a:solidFill>
                <a:latin typeface="Karla"/>
              </a:rPr>
              <a:t>Not the week you wish for. Small sessions, named, with a spare slot, a week at a time.</a:t>
            </a:r>
          </a:p>
        </p:txBody>
      </p:sp>
      <p:sp>
        <p:nvSpPr>
          <p:cNvPr id="6" name="TextBox 5"/>
          <p:cNvSpPr txBox="1"/>
          <p:nvPr/>
        </p:nvSpPr>
        <p:spPr>
          <a:xfrm>
            <a:off x="731520" y="3803904"/>
            <a:ext cx="7680960" cy="310896"/>
          </a:xfrm>
          <a:prstGeom prst="rect">
            <a:avLst/>
          </a:prstGeom>
          <a:noFill/>
        </p:spPr>
        <p:txBody>
          <a:bodyPr wrap="square" anchor="t" lIns="0" rIns="0" tIns="0" bIns="0">
            <a:spAutoFit/>
          </a:bodyPr>
          <a:lstStyle/>
          <a:p>
            <a:pPr algn="ctr">
              <a:lnSpc>
                <a:spcPct val="125000"/>
              </a:lnSpc>
              <a:spcAft>
                <a:spcPts val="0"/>
              </a:spcAft>
            </a:pPr>
            <a:r>
              <a:rPr sz="1200" b="0" i="0">
                <a:solidFill>
                  <a:srgbClr val="8B9179"/>
                </a:solidFill>
                <a:latin typeface="Karla"/>
              </a:rPr>
              <a:t>The Pastoral Guide  ·  thepastoralguide.com</a:t>
            </a:r>
          </a:p>
        </p:txBody>
      </p:sp>
      <p:pic>
        <p:nvPicPr>
          <p:cNvPr id="7" name="Picture 6" descr="logo-mark.png"/>
          <p:cNvPicPr>
            <a:picLocks noChangeAspect="1"/>
          </p:cNvPicPr>
          <p:nvPr/>
        </p:nvPicPr>
        <p:blipFill>
          <a:blip r:embed="rId2"/>
          <a:stretch>
            <a:fillRect/>
          </a:stretch>
        </p:blipFill>
        <p:spPr>
          <a:xfrm>
            <a:off x="384048" y="4727448"/>
            <a:ext cx="158374" cy="182880"/>
          </a:xfrm>
          <a:prstGeom prst="rect">
            <a:avLst/>
          </a:prstGeom>
        </p:spPr>
      </p:pic>
      <p:sp>
        <p:nvSpPr>
          <p:cNvPr id="8" name="TextBox 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9" name="TextBox 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16 /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48640"/>
            <a:ext cx="1708656" cy="237744"/>
          </a:xfrm>
          <a:prstGeom prst="roundRect">
            <a:avLst>
              <a:gd name="adj" fmla="val 50000"/>
            </a:avLst>
          </a:prstGeom>
          <a:solidFill>
            <a:srgbClr val="EEEF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2E3570"/>
                </a:solidFill>
                <a:latin typeface="Karla"/>
              </a:rPr>
              <a:t>MONDAY CHECK-IN</a:t>
            </a:r>
          </a:p>
        </p:txBody>
      </p:sp>
      <p:sp>
        <p:nvSpPr>
          <p:cNvPr id="4" name="TextBox 3"/>
          <p:cNvSpPr txBox="1"/>
          <p:nvPr/>
        </p:nvSpPr>
        <p:spPr>
          <a:xfrm>
            <a:off x="685800" y="914400"/>
            <a:ext cx="7772400" cy="566928"/>
          </a:xfrm>
          <a:prstGeom prst="rect">
            <a:avLst/>
          </a:prstGeom>
          <a:noFill/>
        </p:spPr>
        <p:txBody>
          <a:bodyPr wrap="square" anchor="t" lIns="0" rIns="0" tIns="0" bIns="0">
            <a:spAutoFit/>
          </a:bodyPr>
          <a:lstStyle/>
          <a:p>
            <a:pPr algn="l">
              <a:lnSpc>
                <a:spcPct val="105000"/>
              </a:lnSpc>
              <a:spcAft>
                <a:spcPts val="0"/>
              </a:spcAft>
            </a:pPr>
            <a:r>
              <a:rPr sz="3000" b="1" i="0">
                <a:solidFill>
                  <a:srgbClr val="2E3436"/>
                </a:solidFill>
                <a:latin typeface="Libre Caslon Display"/>
              </a:rPr>
              <a:t>What survived last week?</a:t>
            </a:r>
          </a:p>
        </p:txBody>
      </p:sp>
      <p:sp>
        <p:nvSpPr>
          <p:cNvPr id="5" name="TextBox 4"/>
          <p:cNvSpPr txBox="1"/>
          <p:nvPr/>
        </p:nvSpPr>
        <p:spPr>
          <a:xfrm>
            <a:off x="685800" y="1554480"/>
            <a:ext cx="7772400" cy="310896"/>
          </a:xfrm>
          <a:prstGeom prst="rect">
            <a:avLst/>
          </a:prstGeom>
          <a:noFill/>
        </p:spPr>
        <p:txBody>
          <a:bodyPr wrap="square" anchor="t" lIns="0" rIns="0" tIns="0" bIns="0">
            <a:spAutoFit/>
          </a:bodyPr>
          <a:lstStyle/>
          <a:p>
            <a:pPr algn="l">
              <a:lnSpc>
                <a:spcPct val="125000"/>
              </a:lnSpc>
              <a:spcAft>
                <a:spcPts val="0"/>
              </a:spcAft>
            </a:pPr>
            <a:r>
              <a:rPr sz="1300" b="0" i="0">
                <a:solidFill>
                  <a:srgbClr val="5C6552"/>
                </a:solidFill>
                <a:latin typeface="Karla"/>
              </a:rPr>
              <a:t>Two minutes at registration, with last week’s sheet out.</a:t>
            </a:r>
          </a:p>
        </p:txBody>
      </p:sp>
      <p:sp>
        <p:nvSpPr>
          <p:cNvPr id="6" name="Rectangle 5"/>
          <p:cNvSpPr/>
          <p:nvPr/>
        </p:nvSpPr>
        <p:spPr>
          <a:xfrm>
            <a:off x="685800" y="1956816"/>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066543"/>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62556"/>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9" name="TextBox 8"/>
          <p:cNvSpPr txBox="1"/>
          <p:nvPr/>
        </p:nvSpPr>
        <p:spPr>
          <a:xfrm>
            <a:off x="1417320" y="2057400"/>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What survived?</a:t>
            </a:r>
          </a:p>
        </p:txBody>
      </p:sp>
      <p:sp>
        <p:nvSpPr>
          <p:cNvPr id="10" name="TextBox 9"/>
          <p:cNvSpPr txBox="1"/>
          <p:nvPr/>
        </p:nvSpPr>
        <p:spPr>
          <a:xfrm>
            <a:off x="1417320" y="2304288"/>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How many sessions happened? Tick them.</a:t>
            </a:r>
          </a:p>
        </p:txBody>
      </p:sp>
      <p:sp>
        <p:nvSpPr>
          <p:cNvPr id="11" name="Rectangle 10"/>
          <p:cNvSpPr/>
          <p:nvPr/>
        </p:nvSpPr>
        <p:spPr>
          <a:xfrm>
            <a:off x="685800" y="2706624"/>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68680" y="2816351"/>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912363"/>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4" name="TextBox 13"/>
          <p:cNvSpPr txBox="1"/>
          <p:nvPr/>
        </p:nvSpPr>
        <p:spPr>
          <a:xfrm>
            <a:off x="1417320" y="2807208"/>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What moved, and where did it go?</a:t>
            </a:r>
          </a:p>
        </p:txBody>
      </p:sp>
      <p:sp>
        <p:nvSpPr>
          <p:cNvPr id="15" name="TextBox 14"/>
          <p:cNvSpPr txBox="1"/>
          <p:nvPr/>
        </p:nvSpPr>
        <p:spPr>
          <a:xfrm>
            <a:off x="1417320" y="3054096"/>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If it went into the spare slot, the plan worked.</a:t>
            </a:r>
          </a:p>
        </p:txBody>
      </p:sp>
      <p:sp>
        <p:nvSpPr>
          <p:cNvPr id="16" name="Rectangle 15"/>
          <p:cNvSpPr/>
          <p:nvPr/>
        </p:nvSpPr>
        <p:spPr>
          <a:xfrm>
            <a:off x="685800" y="3456432"/>
            <a:ext cx="7772400" cy="621792"/>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68680" y="3566160"/>
            <a:ext cx="402336" cy="402336"/>
          </a:xfrm>
          <a:prstGeom prst="ellipse">
            <a:avLst/>
          </a:prstGeom>
          <a:solidFill>
            <a:srgbClr val="2E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662172"/>
            <a:ext cx="402336" cy="219456"/>
          </a:xfrm>
          <a:prstGeom prst="rect">
            <a:avLst/>
          </a:prstGeom>
          <a:noFill/>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19" name="TextBox 18"/>
          <p:cNvSpPr txBox="1"/>
          <p:nvPr/>
        </p:nvSpPr>
        <p:spPr>
          <a:xfrm>
            <a:off x="1417320" y="3557016"/>
            <a:ext cx="6821424" cy="237744"/>
          </a:xfrm>
          <a:prstGeom prst="rect">
            <a:avLst/>
          </a:prstGeom>
          <a:noFill/>
        </p:spPr>
        <p:txBody>
          <a:bodyPr wrap="square" anchor="t" lIns="0" rIns="0" tIns="0" bIns="0">
            <a:spAutoFit/>
          </a:bodyPr>
          <a:lstStyle/>
          <a:p>
            <a:pPr algn="l">
              <a:lnSpc>
                <a:spcPct val="125000"/>
              </a:lnSpc>
              <a:spcAft>
                <a:spcPts val="0"/>
              </a:spcAft>
            </a:pPr>
            <a:r>
              <a:rPr sz="1300" b="1" i="0">
                <a:solidFill>
                  <a:srgbClr val="2E3570"/>
                </a:solidFill>
                <a:latin typeface="Libre Caslon Display"/>
              </a:rPr>
              <a:t>What is the first session this week?</a:t>
            </a:r>
          </a:p>
        </p:txBody>
      </p:sp>
      <p:sp>
        <p:nvSpPr>
          <p:cNvPr id="20" name="TextBox 19"/>
          <p:cNvSpPr txBox="1"/>
          <p:nvPr/>
        </p:nvSpPr>
        <p:spPr>
          <a:xfrm>
            <a:off x="1417320" y="3803904"/>
            <a:ext cx="6821424" cy="219456"/>
          </a:xfrm>
          <a:prstGeom prst="rect">
            <a:avLst/>
          </a:prstGeom>
          <a:noFill/>
        </p:spPr>
        <p:txBody>
          <a:bodyPr wrap="square" anchor="t" lIns="0" rIns="0" tIns="0" bIns="0">
            <a:spAutoFit/>
          </a:bodyPr>
          <a:lstStyle/>
          <a:p>
            <a:pPr algn="l">
              <a:lnSpc>
                <a:spcPct val="125000"/>
              </a:lnSpc>
              <a:spcAft>
                <a:spcPts val="0"/>
              </a:spcAft>
            </a:pPr>
            <a:r>
              <a:rPr sz="1100" b="0" i="0">
                <a:solidFill>
                  <a:srgbClr val="5C6552"/>
                </a:solidFill>
                <a:latin typeface="Karla"/>
              </a:rPr>
              <a:t>Write it on the new sheet before the bell.</a:t>
            </a:r>
          </a:p>
        </p:txBody>
      </p:sp>
      <p:sp>
        <p:nvSpPr>
          <p:cNvPr id="21" name="TextBox 20"/>
          <p:cNvSpPr txBox="1"/>
          <p:nvPr/>
        </p:nvSpPr>
        <p:spPr>
          <a:xfrm>
            <a:off x="685800" y="4224528"/>
            <a:ext cx="7772400" cy="310896"/>
          </a:xfrm>
          <a:prstGeom prst="rect">
            <a:avLst/>
          </a:prstGeom>
          <a:noFill/>
        </p:spPr>
        <p:txBody>
          <a:bodyPr wrap="square" anchor="t" lIns="0" rIns="0" tIns="0" bIns="0">
            <a:spAutoFit/>
          </a:bodyPr>
          <a:lstStyle/>
          <a:p>
            <a:pPr algn="l">
              <a:lnSpc>
                <a:spcPct val="125000"/>
              </a:lnSpc>
              <a:spcAft>
                <a:spcPts val="0"/>
              </a:spcAft>
            </a:pPr>
            <a:r>
              <a:rPr sz="1200" b="0" i="1">
                <a:solidFill>
                  <a:srgbClr val="5C6552"/>
                </a:solidFill>
                <a:latin typeface="Karla"/>
              </a:rPr>
              <a:t>Then put the sheet away. That is the whole check-in.</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p:spPr>
      </p:pic>
      <p:sp>
        <p:nvSpPr>
          <p:cNvPr id="23" name="TextBox 22"/>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4" name="TextBox 23"/>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17 / 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