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c:v>
                </c:pt>
              </c:strCache>
            </c:strRef>
          </c:tx>
          <c:spPr>
            <a:solidFill>
              <a:srgbClr val="34322F"/>
            </a:solidFill>
          </c:spPr>
          <c:dLbls>
            <c:dLbl>
              <c:idx val="0"/>
              <c:tx>
                <c:rich>
                  <a:bodyPr/>
                  <a:lstStyle/>
                  <a:p>
                    <a:r>
                      <a:rPr sz="1200" b="1">
                        <a:solidFill>
                          <a:srgbClr val="262422"/>
                        </a:solidFill>
                        <a:latin typeface="Karla"/>
                      </a:rPr>
                      <a:t>15.2</a:t>
                    </a:r>
                  </a:p>
                </c:rich>
              </c:tx>
              <c:dLblPos val="outEnd"/>
              <c:showLegendKey val="0"/>
              <c:showVal val="1"/>
              <c:showCatName val="0"/>
              <c:showSerName val="0"/>
              <c:showPercent val="0"/>
              <c:showBubbleSize val="0"/>
            </c:dLbl>
            <c:dLbl>
              <c:idx val="1"/>
              <c:tx>
                <c:rich>
                  <a:bodyPr/>
                  <a:lstStyle/>
                  <a:p>
                    <a:r>
                      <a:rPr sz="1200" b="1">
                        <a:solidFill>
                          <a:srgbClr val="262422"/>
                        </a:solidFill>
                        <a:latin typeface="Karla"/>
                      </a:rPr>
                      <a:t>2.2</a:t>
                    </a:r>
                  </a:p>
                </c:rich>
              </c:tx>
              <c:dLblPos val="outEnd"/>
              <c:showLegendKey val="0"/>
              <c:showVal val="1"/>
              <c:showCatName val="0"/>
              <c:showSerName val="0"/>
              <c:showPercent val="0"/>
              <c:showBubbleSize val="0"/>
            </c:dLbl>
            <c:dLbl>
              <c:idx val="2"/>
              <c:tx>
                <c:rich>
                  <a:bodyPr/>
                  <a:lstStyle/>
                  <a:p>
                    <a:r>
                      <a:rPr sz="1200" b="1">
                        <a:solidFill>
                          <a:srgbClr val="262422"/>
                        </a:solidFill>
                        <a:latin typeface="Karla"/>
                      </a:rPr>
                      <a:t>1.5</a:t>
                    </a:r>
                  </a:p>
                </c:rich>
              </c:tx>
              <c:dLblPos val="outEnd"/>
              <c:showLegendKey val="0"/>
              <c:showVal val="1"/>
              <c:showCatName val="0"/>
              <c:showSerName val="0"/>
              <c:showPercent val="0"/>
              <c:showBubbleSize val="0"/>
            </c:dLbl>
            <c:dLbl>
              <c:idx val="3"/>
              <c:tx>
                <c:rich>
                  <a:bodyPr/>
                  <a:lstStyle/>
                  <a:p>
                    <a:r>
                      <a:rPr sz="1200" b="1">
                        <a:solidFill>
                          <a:srgbClr val="262422"/>
                        </a:solidFill>
                        <a:latin typeface="Karla"/>
                      </a:rPr>
                      <a:t>1.0</a:t>
                    </a:r>
                  </a:p>
                </c:rich>
              </c:tx>
              <c:dLblPos val="outEnd"/>
              <c:showLegendKey val="0"/>
              <c:showVal val="1"/>
              <c:showCatName val="0"/>
              <c:showSerName val="0"/>
              <c:showPercent val="0"/>
              <c:showBubbleSize val="0"/>
            </c:dLbl>
            <c:dLbl>
              <c:idx val="4"/>
              <c:tx>
                <c:rich>
                  <a:bodyPr/>
                  <a:lstStyle/>
                  <a:p>
                    <a:r>
                      <a:rPr sz="1200" b="1">
                        <a:solidFill>
                          <a:srgbClr val="262422"/>
                        </a:solidFill>
                        <a:latin typeface="Karla"/>
                      </a:rPr>
                      <a:t>0.7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1976–80</c:v>
                </c:pt>
                <c:pt idx="1">
                  <c:v>1999–2000</c:v>
                </c:pt>
                <c:pt idx="2">
                  <c:v>2005–06</c:v>
                </c:pt>
                <c:pt idx="3">
                  <c:v>2011–12</c:v>
                </c:pt>
                <c:pt idx="4">
                  <c:v>2017–18</c:v>
                </c:pt>
              </c:strCache>
            </c:strRef>
          </c:cat>
          <c:val>
            <c:numRef>
              <c:f>Sheet1!$B$2:$B$6</c:f>
              <c:numCache>
                <c:formatCode>General</c:formatCode>
                <c:ptCount val="5"/>
                <c:pt idx="0">
                  <c:v>15.2</c:v>
                </c:pt>
                <c:pt idx="1">
                  <c:v>2.23</c:v>
                </c:pt>
                <c:pt idx="2">
                  <c:v>1.46</c:v>
                </c:pt>
                <c:pt idx="3">
                  <c:v>0.97</c:v>
                </c:pt>
                <c:pt idx="4">
                  <c:v>0.67</c:v>
                </c:pt>
              </c:numCache>
            </c:numRef>
          </c:val>
        </c:ser>
        <c:dLbls>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title>
          <c:tx>
            <c:rich>
              <a:bodyPr/>
              <a:lstStyle/>
              <a:p>
                <a:r>
                  <a:rPr sz="1000" b="0" i="1">
                    <a:solidFill>
                      <a:srgbClr val="56524B"/>
                    </a:solidFill>
                    <a:latin typeface="Karla"/>
                  </a:rPr>
                  <a:t>Survey years</a:t>
                </a:r>
              </a:p>
            </c:rich>
          </c:tx>
          <c:layout/>
          <c:overlay val="0"/>
        </c:title>
        <c:majorTickMark val="out"/>
        <c:minorTickMark val="none"/>
        <c:tickLblPos val="nextTo"/>
        <c:spPr>
          <a:ln>
            <a:solidFill>
              <a:srgbClr val="8C877D"/>
            </a:solidFill>
          </a:ln>
        </c:spPr>
        <c:txPr>
          <a:bodyPr/>
          <a:lstStyle/>
          <a:p>
            <a:pPr>
              <a:defRPr sz="1100">
                <a:solidFill>
                  <a:srgbClr val="262422"/>
                </a:solidFill>
                <a:latin typeface="Karla"/>
              </a:defRPr>
            </a:pPr>
          </a:p>
        </c:txPr>
        <c:crossAx val="-2113994440"/>
        <c:crosses val="autoZero"/>
        <c:auto val="1"/>
        <c:lblAlgn val="ctr"/>
        <c:lblOffset val="100"/>
        <c:noMultiLvlLbl val="0"/>
      </c:catAx>
      <c:valAx>
        <c:axId val="-2113994440"/>
        <c:scaling>
          <c:max val="18.544"/>
          <c:min val="0.0"/>
        </c:scaling>
        <c:delete/>
        <c:axPos val="l"/>
        <c:majorTickMark val="out"/>
        <c:minorTickMark val="none"/>
        <c:tickLblPos val="nextTo"/>
        <c:crossAx val="-2068027336"/>
        <c:crosses val="autoZero"/>
      </c:valAx>
    </c:plotArea>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4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WASHINGTON, 1926</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No Real Evidence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the difference between no evidence of harm and evidence that something is safe.</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WASHINGTON, 1926</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4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LEADED PETROL: ‘NO REAL</a:t>
            </a:r>
            <a:br>
              <a:rPr lang="en-GB"/>
            </a:br>
            <a:r>
              <a:rPr sz="2800" b="1" i="0">
                <a:solidFill>
                  <a:srgbClr val="262422"/>
                </a:solidFill>
                <a:latin typeface="Libre Caslon Display"/>
              </a:rPr>
              <a:t>EVIDENCE’ OF DANGER</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A government committee clears the new fuel after last year’s pause, and leaded petrol goes back on sale across the country.</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Adding lead to petrol stops engines knocking and makes cars run better. Sales were paused for a year after workers died at refineries in New Jersey.</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Now a committee called in by the government says it has found no real evidence that the fuel harms the public, and the pumps are open again.</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There is “no real evidence” that the new fuel harms the public.</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WHAT THE COMMITTEE FOUND, 1926</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“If nobody has proved something is harmful, it must be safe.”</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whom,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A committee called in by the government. It says it found no real evidence of harm. It does not say how hard it looked, or who did the testing.</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deaths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1924, five workers died and many more were badly hurt at Standard Oil refineries in New Jersey, where the lead additive was made. Newspapers called it “loony gas”. Sales stopped for a year. In 1926, a committee said there was “no real evidence” of harm to the public, and sales started again.</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Tetraethyllead</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expert</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For forty years the leading expert on lead was Robert Kehoe. He said the lead found in people was normal and that low levels did no harm. From 1925 he was the chief medical adviser to the Ethyl Corporation, which sold the lead additive, and his laboratory was paid for by General Motors, DuPont and Ethyl.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Robert A. Kehoe; University of Cincinnati Libraries</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numbers</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72768"/>
          <a:ext cx="4572000" cy="1645919"/>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37744"/>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Micrograms of lead per decilitre of blood, children aged 1 to 5</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452880"/>
          </a:xfrm>
          <a:prstGeom prst="rect">
            <a:avLst/>
          </a:prstGeom>
          <a:noFill/>
          <a:effectLst/>
        </p:spPr>
        <p:txBody>
          <a:bodyPr wrap="square" anchor="t" lIns="0" rIns="0" tIns="0" bIns="0">
            <a:spAutoFit/>
          </a:bodyPr>
          <a:lstStyle/>
          <a:p>
            <a:pPr algn="l">
              <a:lnSpc>
                <a:spcPct val="128000"/>
              </a:lnSpc>
              <a:spcAft>
                <a:spcPts val="0"/>
              </a:spcAft>
            </a:pPr>
            <a:r>
              <a:rPr sz="1100" b="0" i="0">
                <a:solidFill>
                  <a:srgbClr val="262422"/>
                </a:solidFill>
                <a:latin typeface="Karla"/>
              </a:rPr>
              <a:t>The US took lead out of petrol from 1975 and banned it for cars in 1996.</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Egan and others, 2021; US EPA</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By roughly what percentage did the lead in young children’s blood fall from 1976–80 (15.2) to 2017–18 (0.7)?</a:t>
            </a:r>
          </a:p>
        </p:txBody>
      </p:sp>
      <p:sp>
        <p:nvSpPr>
          <p:cNvPr id="11" name="Rectangle 10"/>
          <p:cNvSpPr/>
          <p:nvPr/>
        </p:nvSpPr>
        <p:spPr>
          <a:xfrm>
            <a:off x="685800" y="2345436"/>
            <a:ext cx="7772400" cy="45948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24003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Between which two surveys on the graph was the biggest fall?</a:t>
            </a:r>
          </a:p>
        </p:txBody>
      </p:sp>
      <p:sp>
        <p:nvSpPr>
          <p:cNvPr id="15" name="Rectangle 14"/>
          <p:cNvSpPr/>
          <p:nvPr/>
        </p:nvSpPr>
        <p:spPr>
          <a:xfrm>
            <a:off x="685800" y="2969514"/>
            <a:ext cx="7772400" cy="45948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05181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12496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079242"/>
            <a:ext cx="6903720" cy="24003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Name one other change that could explain some of the fall.</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By roughly what percentage did the lead in young children’s blood fall from 1976–80 (15.2) to 2017–18 (0.7)?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95 per cent ((15.2 − 0.7) ÷ 15.2 = 0.954).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Between which two surveys on the graph was the biggest fall?</a:t>
            </a:r>
          </a:p>
        </p:txBody>
      </p:sp>
      <p:sp>
        <p:nvSpPr>
          <p:cNvPr id="16" name="TextBox 15"/>
          <p:cNvSpPr txBox="1"/>
          <p:nvPr/>
        </p:nvSpPr>
        <p:spPr>
          <a:xfrm>
            <a:off x="1371600" y="2779776"/>
            <a:ext cx="6903720" cy="384048"/>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Between 1976–80 and 1999–2000, from 15.2 to 2.2, which is when lead came out of petrol.</a:t>
            </a:r>
          </a:p>
        </p:txBody>
      </p:sp>
      <p:sp>
        <p:nvSpPr>
          <p:cNvPr id="17" name="Rectangle 16"/>
          <p:cNvSpPr/>
          <p:nvPr/>
        </p:nvSpPr>
        <p:spPr>
          <a:xfrm>
            <a:off x="685800" y="3364992"/>
            <a:ext cx="7772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Name one other change that could explain some of the fall.</a:t>
            </a:r>
          </a:p>
        </p:txBody>
      </p:sp>
      <p:sp>
        <p:nvSpPr>
          <p:cNvPr id="21" name="TextBox 20"/>
          <p:cNvSpPr txBox="1"/>
          <p:nvPr/>
        </p:nvSpPr>
        <p:spPr>
          <a:xfrm>
            <a:off x="1371600" y="372160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Lead paint and lead solder were banned in the same years.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scientist</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Clair Patterson set out to measure the age of the Earth and kept finding lead everywhere. He showed that ice laid down before leaded petrol held very little lead, and his team found that modern bones held hundreds of times more lead than bones from centuries ago. He argued that “normal” was not the same as “natural”.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Clair Cameron Patterson</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1923</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Lead is first added to petrol.</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1926</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A committee finds “no real evidence” of harm, and sales restart.</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1965</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Clair Patterson publishes evidence of lead pollution.</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2000</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UK bans leaded petrol. 2021: the last country stops.</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Has it been tested, and by whom?</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934464"/>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385824"/>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“No real evidence of harm” and “safe” are not the same thing. Who should have to do the proving: the people selling something, or the people worried about it?</a:t>
            </a:r>
          </a:p>
        </p:txBody>
      </p:sp>
      <p:sp>
        <p:nvSpPr>
          <p:cNvPr id="9" name="TextBox 8"/>
          <p:cNvSpPr txBox="1"/>
          <p:nvPr/>
        </p:nvSpPr>
        <p:spPr>
          <a:xfrm>
            <a:off x="868680" y="3296920"/>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Egan K. B. and others (2021). Blood lead levels in U.S. children ages 1–11 years, 1976–2016. Environmental Health Perspectives, 129(3).</a:t>
            </a:r>
          </a:p>
        </p:txBody>
      </p:sp>
      <p:sp>
        <p:nvSpPr>
          <p:cNvPr id="6" name="TextBox 5"/>
          <p:cNvSpPr txBox="1"/>
          <p:nvPr/>
        </p:nvSpPr>
        <p:spPr>
          <a:xfrm>
            <a:off x="685800" y="1771396"/>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US Environmental Protection Agency, Report on the Environment: Blood Lead (2023) and America’s Children and the Environment: Lead (2026).</a:t>
            </a:r>
          </a:p>
        </p:txBody>
      </p:sp>
      <p:sp>
        <p:nvSpPr>
          <p:cNvPr id="7" name="TextBox 6"/>
          <p:cNvSpPr txBox="1"/>
          <p:nvPr/>
        </p:nvSpPr>
        <p:spPr>
          <a:xfrm>
            <a:off x="685800" y="226263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UNEP (2021). Era of leaded petrol over. Press release, 30 August 2021.</a:t>
            </a:r>
          </a:p>
        </p:txBody>
      </p:sp>
      <p:sp>
        <p:nvSpPr>
          <p:cNvPr id="8" name="TextBox 7"/>
          <p:cNvSpPr txBox="1"/>
          <p:nvPr/>
        </p:nvSpPr>
        <p:spPr>
          <a:xfrm>
            <a:off x="685800" y="2572258"/>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Wikipedia, Tetraethyllead, Robert A. Kehoe and Clair Cameron Patterson, accessed September 2026.</a:t>
            </a:r>
          </a:p>
        </p:txBody>
      </p:sp>
      <p:sp>
        <p:nvSpPr>
          <p:cNvPr id="9" name="TextBox 8"/>
          <p:cNvSpPr txBox="1"/>
          <p:nvPr/>
        </p:nvSpPr>
        <p:spPr>
          <a:xfrm>
            <a:off x="685800" y="2881884"/>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Ericson J. E., Shirahata H. and Patterson C. C. (1979). Skeletal concentrations of lead in ancient Peruvians. New England Journal of Medicine, 300, 946–951.</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