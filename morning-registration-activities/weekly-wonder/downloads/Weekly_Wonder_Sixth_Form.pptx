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1-4.png"/><Relationship Id="rId5" Type="http://schemas.openxmlformats.org/officeDocument/2006/relationships/image" Target="../media/image-1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bg_textur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0" y="384048"/>
            <a:ext cx="12191695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spc="200" kern="0" dirty="0">
                <a:solidFill>
                  <a:srgbClr val="7C8FA6"/>
                </a:solidFill>
                <a:latin typeface="Karla" pitchFamily="34" charset="0"/>
                <a:ea typeface="Karla" pitchFamily="34" charset="-122"/>
                <a:cs typeface="Karla" pitchFamily="34" charset="-120"/>
              </a:rPr>
              <a:t>MORNING REGISTRATION ACTIVITIES</a:t>
            </a:r>
            <a:endParaRPr lang="en-US" sz="1300" dirty="0"/>
          </a:p>
        </p:txBody>
      </p:sp>
      <p:sp>
        <p:nvSpPr>
          <p:cNvPr id="4" name="Text 1"/>
          <p:cNvSpPr/>
          <p:nvPr/>
        </p:nvSpPr>
        <p:spPr>
          <a:xfrm>
            <a:off x="0" y="658368"/>
            <a:ext cx="12191695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303C4A"/>
                </a:solidFill>
                <a:latin typeface="Libre Caslon Display" pitchFamily="34" charset="0"/>
                <a:ea typeface="Libre Caslon Display" pitchFamily="34" charset="-122"/>
                <a:cs typeface="Libre Caslon Display" pitchFamily="34" charset="-120"/>
              </a:rPr>
              <a:t>Weekly Wonder</a:t>
            </a:r>
            <a:endParaRPr lang="en-US" sz="4400" dirty="0"/>
          </a:p>
        </p:txBody>
      </p:sp>
      <p:sp>
        <p:nvSpPr>
          <p:cNvPr id="5" name="Shape 2"/>
          <p:cNvSpPr/>
          <p:nvPr/>
        </p:nvSpPr>
        <p:spPr>
          <a:xfrm>
            <a:off x="5230368" y="1572768"/>
            <a:ext cx="1737360" cy="365760"/>
          </a:xfrm>
          <a:prstGeom prst="roundRect">
            <a:avLst>
              <a:gd name="adj" fmla="val 50000"/>
            </a:avLst>
          </a:prstGeom>
          <a:solidFill>
            <a:srgbClr val="7C8FA6"/>
          </a:solidFill>
          <a:ln/>
        </p:spPr>
        <p:txBody>
          <a:bodyPr/>
          <a:p/>
        </p:txBody>
      </p:sp>
      <p:sp>
        <p:nvSpPr>
          <p:cNvPr id="6" name="Text 3"/>
          <p:cNvSpPr/>
          <p:nvPr/>
        </p:nvSpPr>
        <p:spPr>
          <a:xfrm>
            <a:off x="5230368" y="1572768"/>
            <a:ext cx="1737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spc="100" kern="0" dirty="0">
                <a:solidFill>
                  <a:srgbClr val="FFFDF7"/>
                </a:solidFill>
                <a:latin typeface="Karla" pitchFamily="34" charset="0"/>
                <a:ea typeface="Karla" pitchFamily="34" charset="-122"/>
                <a:cs typeface="Karla" pitchFamily="34" charset="-120"/>
              </a:rPr>
              <a:t>SIXTH FORM</a:t>
            </a:r>
            <a:endParaRPr lang="en-US" sz="1200" dirty="0"/>
          </a:p>
        </p:txBody>
      </p:sp>
      <p:sp>
        <p:nvSpPr>
          <p:cNvPr id="7" name="Text 4"/>
          <p:cNvSpPr/>
          <p:nvPr/>
        </p:nvSpPr>
        <p:spPr>
          <a:xfrm>
            <a:off x="1097280" y="2084832"/>
            <a:ext cx="99669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i="1" dirty="0">
                <a:solidFill>
                  <a:srgbClr val="455568"/>
                </a:solidFill>
                <a:latin typeface="Karla" pitchFamily="34" charset="0"/>
                <a:ea typeface="Karla" pitchFamily="34" charset="-122"/>
                <a:cs typeface="Karla" pitchFamily="34" charset="-120"/>
              </a:rPr>
              <a:t>One open question, no right answer. Put it up, give it a minute of quiet, then see where the discussion goes.</a:t>
            </a:r>
            <a:endParaRPr lang="en-US" sz="1700" dirty="0"/>
          </a:p>
        </p:txBody>
      </p:sp>
      <p:sp>
        <p:nvSpPr>
          <p:cNvPr id="8" name="Shape 5"/>
          <p:cNvSpPr/>
          <p:nvPr/>
        </p:nvSpPr>
        <p:spPr>
          <a:xfrm>
            <a:off x="934060" y="2788920"/>
            <a:ext cx="3246120" cy="2697480"/>
          </a:xfrm>
          <a:prstGeom prst="roundRect">
            <a:avLst>
              <a:gd name="adj" fmla="val 4068"/>
            </a:avLst>
          </a:prstGeom>
          <a:solidFill>
            <a:srgbClr val="FFFDF7"/>
          </a:solidFill>
          <a:ln w="12700">
            <a:solidFill>
              <a:srgbClr val="D7DCE2"/>
            </a:solidFill>
            <a:prstDash val="solid"/>
          </a:ln>
          <a:effectLst>
            <a:outerShdw sx="100000" sy="100000" kx="0" ky="0" algn="bl" rotWithShape="0" blurRad="127000" dist="38100" dir="5400000">
              <a:srgbClr val="2E4436">
                <a:alpha val="16000"/>
              </a:srgbClr>
            </a:outerShdw>
          </a:effectLst>
        </p:spPr>
        <p:txBody>
          <a:bodyPr/>
          <a:p/>
        </p:txBody>
      </p:sp>
      <p:pic>
        <p:nvPicPr>
          <p:cNvPr id="9" name="Image 1" descr="icon_wonder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82216" y="3044952"/>
            <a:ext cx="749808" cy="749808"/>
          </a:xfrm>
          <a:prstGeom prst="rect">
            <a:avLst/>
          </a:prstGeom>
        </p:spPr>
      </p:pic>
      <p:sp>
        <p:nvSpPr>
          <p:cNvPr id="10" name="Shape 6"/>
          <p:cNvSpPr/>
          <p:nvPr/>
        </p:nvSpPr>
        <p:spPr>
          <a:xfrm>
            <a:off x="2708178" y="3570915"/>
            <a:ext cx="329184" cy="329184"/>
          </a:xfrm>
          <a:prstGeom prst="ellipse">
            <a:avLst/>
          </a:prstGeom>
          <a:solidFill>
            <a:srgbClr val="303C4A"/>
          </a:solidFill>
          <a:ln w="19050">
            <a:solidFill>
              <a:srgbClr val="FFFDF7"/>
            </a:solidFill>
            <a:prstDash val="solid"/>
          </a:ln>
        </p:spPr>
        <p:txBody>
          <a:bodyPr/>
          <a:p/>
        </p:txBody>
      </p:sp>
      <p:sp>
        <p:nvSpPr>
          <p:cNvPr id="11" name="Text 7"/>
          <p:cNvSpPr/>
          <p:nvPr/>
        </p:nvSpPr>
        <p:spPr>
          <a:xfrm>
            <a:off x="2708178" y="3570915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DF7"/>
                </a:solidFill>
                <a:latin typeface="Karla" pitchFamily="34" charset="0"/>
                <a:ea typeface="Karla" pitchFamily="34" charset="-122"/>
                <a:cs typeface="Karla" pitchFamily="34" charset="-120"/>
              </a:rPr>
              <a:t>1</a:t>
            </a:r>
            <a:endParaRPr lang="en-US" sz="1300" dirty="0"/>
          </a:p>
        </p:txBody>
      </p:sp>
      <p:sp>
        <p:nvSpPr>
          <p:cNvPr id="12" name="Text 8"/>
          <p:cNvSpPr/>
          <p:nvPr/>
        </p:nvSpPr>
        <p:spPr>
          <a:xfrm>
            <a:off x="1071220" y="3977640"/>
            <a:ext cx="297180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303C4A"/>
                </a:solidFill>
                <a:latin typeface="Karla" pitchFamily="34" charset="0"/>
                <a:ea typeface="Karla" pitchFamily="34" charset="-122"/>
                <a:cs typeface="Karla" pitchFamily="34" charset="-120"/>
              </a:rPr>
              <a:t>Show the question</a:t>
            </a:r>
            <a:endParaRPr lang="en-US" sz="1500" dirty="0"/>
          </a:p>
        </p:txBody>
      </p:sp>
      <p:sp>
        <p:nvSpPr>
          <p:cNvPr id="13" name="Text 9"/>
          <p:cNvSpPr/>
          <p:nvPr/>
        </p:nvSpPr>
        <p:spPr>
          <a:xfrm>
            <a:off x="1116940" y="4480560"/>
            <a:ext cx="288036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455568"/>
                </a:solidFill>
                <a:latin typeface="Karla" pitchFamily="34" charset="0"/>
                <a:ea typeface="Karla" pitchFamily="34" charset="-122"/>
                <a:cs typeface="Karla" pitchFamily="34" charset="-120"/>
              </a:rPr>
              <a:t>Pick any of the five slides and put it up. No introduction needed.</a:t>
            </a:r>
            <a:endParaRPr lang="en-US" sz="1150" dirty="0"/>
          </a:p>
        </p:txBody>
      </p:sp>
      <p:sp>
        <p:nvSpPr>
          <p:cNvPr id="14" name="Shape 10"/>
          <p:cNvSpPr/>
          <p:nvPr/>
        </p:nvSpPr>
        <p:spPr>
          <a:xfrm>
            <a:off x="4472788" y="2788920"/>
            <a:ext cx="3246120" cy="2697480"/>
          </a:xfrm>
          <a:prstGeom prst="roundRect">
            <a:avLst>
              <a:gd name="adj" fmla="val 4068"/>
            </a:avLst>
          </a:prstGeom>
          <a:solidFill>
            <a:srgbClr val="FFFDF7"/>
          </a:solidFill>
          <a:ln w="12700">
            <a:solidFill>
              <a:srgbClr val="D7DCE2"/>
            </a:solidFill>
            <a:prstDash val="solid"/>
          </a:ln>
          <a:effectLst>
            <a:outerShdw sx="100000" sy="100000" kx="0" ky="0" algn="bl" rotWithShape="0" blurRad="127000" dist="38100" dir="5400000">
              <a:srgbClr val="2E4436">
                <a:alpha val="16000"/>
              </a:srgbClr>
            </a:outerShdw>
          </a:effectLst>
        </p:spPr>
        <p:txBody>
          <a:bodyPr/>
          <a:p/>
        </p:txBody>
      </p:sp>
      <p:pic>
        <p:nvPicPr>
          <p:cNvPr id="15" name="Image 2" descr="icon_clock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20944" y="3044952"/>
            <a:ext cx="749808" cy="749808"/>
          </a:xfrm>
          <a:prstGeom prst="rect">
            <a:avLst/>
          </a:prstGeom>
        </p:spPr>
      </p:pic>
      <p:sp>
        <p:nvSpPr>
          <p:cNvPr id="16" name="Shape 11"/>
          <p:cNvSpPr/>
          <p:nvPr/>
        </p:nvSpPr>
        <p:spPr>
          <a:xfrm>
            <a:off x="6246906" y="3570915"/>
            <a:ext cx="329184" cy="329184"/>
          </a:xfrm>
          <a:prstGeom prst="ellipse">
            <a:avLst/>
          </a:prstGeom>
          <a:solidFill>
            <a:srgbClr val="303C4A"/>
          </a:solidFill>
          <a:ln w="19050">
            <a:solidFill>
              <a:srgbClr val="FFFDF7"/>
            </a:solidFill>
            <a:prstDash val="solid"/>
          </a:ln>
        </p:spPr>
        <p:txBody>
          <a:bodyPr/>
          <a:p/>
        </p:txBody>
      </p:sp>
      <p:sp>
        <p:nvSpPr>
          <p:cNvPr id="17" name="Text 12"/>
          <p:cNvSpPr/>
          <p:nvPr/>
        </p:nvSpPr>
        <p:spPr>
          <a:xfrm>
            <a:off x="6246906" y="3570915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DF7"/>
                </a:solidFill>
                <a:latin typeface="Karla" pitchFamily="34" charset="0"/>
                <a:ea typeface="Karla" pitchFamily="34" charset="-122"/>
                <a:cs typeface="Karla" pitchFamily="34" charset="-120"/>
              </a:rPr>
              <a:t>2</a:t>
            </a:r>
            <a:endParaRPr lang="en-US" sz="1300" dirty="0"/>
          </a:p>
        </p:txBody>
      </p:sp>
      <p:sp>
        <p:nvSpPr>
          <p:cNvPr id="18" name="Text 13"/>
          <p:cNvSpPr/>
          <p:nvPr/>
        </p:nvSpPr>
        <p:spPr>
          <a:xfrm>
            <a:off x="4609948" y="3977640"/>
            <a:ext cx="297180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303C4A"/>
                </a:solidFill>
                <a:latin typeface="Karla" pitchFamily="34" charset="0"/>
                <a:ea typeface="Karla" pitchFamily="34" charset="-122"/>
                <a:cs typeface="Karla" pitchFamily="34" charset="-120"/>
              </a:rPr>
              <a:t>A minute of quiet</a:t>
            </a:r>
            <a:endParaRPr lang="en-US" sz="1500" dirty="0"/>
          </a:p>
        </p:txBody>
      </p:sp>
      <p:sp>
        <p:nvSpPr>
          <p:cNvPr id="19" name="Text 14"/>
          <p:cNvSpPr/>
          <p:nvPr/>
        </p:nvSpPr>
        <p:spPr>
          <a:xfrm>
            <a:off x="4655668" y="4480560"/>
            <a:ext cx="288036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455568"/>
                </a:solidFill>
                <a:latin typeface="Karla" pitchFamily="34" charset="0"/>
                <a:ea typeface="Karla" pitchFamily="34" charset="-122"/>
                <a:cs typeface="Karla" pitchFamily="34" charset="-120"/>
              </a:rPr>
              <a:t>Give it a minute of quiet before anyone speaks. The best answers are rarely the fastest ones.</a:t>
            </a:r>
            <a:endParaRPr lang="en-US" sz="1150" dirty="0"/>
          </a:p>
        </p:txBody>
      </p:sp>
      <p:sp>
        <p:nvSpPr>
          <p:cNvPr id="20" name="Shape 15"/>
          <p:cNvSpPr/>
          <p:nvPr/>
        </p:nvSpPr>
        <p:spPr>
          <a:xfrm>
            <a:off x="8011516" y="2788920"/>
            <a:ext cx="3246120" cy="2697480"/>
          </a:xfrm>
          <a:prstGeom prst="roundRect">
            <a:avLst>
              <a:gd name="adj" fmla="val 4068"/>
            </a:avLst>
          </a:prstGeom>
          <a:solidFill>
            <a:srgbClr val="FFFDF7"/>
          </a:solidFill>
          <a:ln w="12700">
            <a:solidFill>
              <a:srgbClr val="D7DCE2"/>
            </a:solidFill>
            <a:prstDash val="solid"/>
          </a:ln>
          <a:effectLst>
            <a:outerShdw sx="100000" sy="100000" kx="0" ky="0" algn="bl" rotWithShape="0" blurRad="127000" dist="38100" dir="5400000">
              <a:srgbClr val="2E4436">
                <a:alpha val="16000"/>
              </a:srgbClr>
            </a:outerShdw>
          </a:effectLst>
        </p:spPr>
        <p:txBody>
          <a:bodyPr/>
          <a:p/>
        </p:txBody>
      </p:sp>
      <p:pic>
        <p:nvPicPr>
          <p:cNvPr id="21" name="Image 3" descr="icon_comments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259672" y="3044952"/>
            <a:ext cx="749808" cy="749808"/>
          </a:xfrm>
          <a:prstGeom prst="rect">
            <a:avLst/>
          </a:prstGeom>
        </p:spPr>
      </p:pic>
      <p:sp>
        <p:nvSpPr>
          <p:cNvPr id="22" name="Shape 16"/>
          <p:cNvSpPr/>
          <p:nvPr/>
        </p:nvSpPr>
        <p:spPr>
          <a:xfrm>
            <a:off x="9785634" y="3570915"/>
            <a:ext cx="329184" cy="329184"/>
          </a:xfrm>
          <a:prstGeom prst="ellipse">
            <a:avLst/>
          </a:prstGeom>
          <a:solidFill>
            <a:srgbClr val="303C4A"/>
          </a:solidFill>
          <a:ln w="19050">
            <a:solidFill>
              <a:srgbClr val="FFFDF7"/>
            </a:solidFill>
            <a:prstDash val="solid"/>
          </a:ln>
        </p:spPr>
        <p:txBody>
          <a:bodyPr/>
          <a:p/>
        </p:txBody>
      </p:sp>
      <p:sp>
        <p:nvSpPr>
          <p:cNvPr id="23" name="Text 17"/>
          <p:cNvSpPr/>
          <p:nvPr/>
        </p:nvSpPr>
        <p:spPr>
          <a:xfrm>
            <a:off x="9785634" y="3570915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DF7"/>
                </a:solidFill>
                <a:latin typeface="Karla" pitchFamily="34" charset="0"/>
                <a:ea typeface="Karla" pitchFamily="34" charset="-122"/>
                <a:cs typeface="Karla" pitchFamily="34" charset="-120"/>
              </a:rPr>
              <a:t>3</a:t>
            </a:r>
            <a:endParaRPr lang="en-US" sz="1300" dirty="0"/>
          </a:p>
        </p:txBody>
      </p:sp>
      <p:sp>
        <p:nvSpPr>
          <p:cNvPr id="24" name="Text 18"/>
          <p:cNvSpPr/>
          <p:nvPr/>
        </p:nvSpPr>
        <p:spPr>
          <a:xfrm>
            <a:off x="8148676" y="3977640"/>
            <a:ext cx="297180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303C4A"/>
                </a:solidFill>
                <a:latin typeface="Karla" pitchFamily="34" charset="0"/>
                <a:ea typeface="Karla" pitchFamily="34" charset="-122"/>
                <a:cs typeface="Karla" pitchFamily="34" charset="-120"/>
              </a:rPr>
              <a:t>Open it up</a:t>
            </a:r>
            <a:endParaRPr lang="en-US" sz="1500" dirty="0"/>
          </a:p>
        </p:txBody>
      </p:sp>
      <p:sp>
        <p:nvSpPr>
          <p:cNvPr id="25" name="Text 19"/>
          <p:cNvSpPr/>
          <p:nvPr/>
        </p:nvSpPr>
        <p:spPr>
          <a:xfrm>
            <a:off x="8194396" y="4480560"/>
            <a:ext cx="288036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455568"/>
                </a:solidFill>
                <a:latin typeface="Karla" pitchFamily="34" charset="0"/>
                <a:ea typeface="Karla" pitchFamily="34" charset="-122"/>
                <a:cs typeface="Karla" pitchFamily="34" charset="-120"/>
              </a:rPr>
              <a:t>There is no correct answer, so every answer is worth hearing.</a:t>
            </a:r>
            <a:endParaRPr lang="en-US" sz="1150" dirty="0"/>
          </a:p>
        </p:txBody>
      </p:sp>
      <p:sp>
        <p:nvSpPr>
          <p:cNvPr id="26" name="Text 20"/>
          <p:cNvSpPr/>
          <p:nvPr/>
        </p:nvSpPr>
        <p:spPr>
          <a:xfrm>
            <a:off x="914400" y="5870448"/>
            <a:ext cx="10332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7C8FA6"/>
                </a:solidFill>
                <a:latin typeface="Karla" pitchFamily="34" charset="0"/>
                <a:ea typeface="Karla" pitchFamily="34" charset="-122"/>
                <a:cs typeface="Karla" pitchFamily="34" charset="-120"/>
              </a:rPr>
              <a:t>Needs: nothing to prepare. This is the sixth form set, five questions. Two more sets are on the website.</a:t>
            </a:r>
            <a:endParaRPr lang="en-US" sz="1200" dirty="0"/>
          </a:p>
        </p:txBody>
      </p:sp>
      <p:pic>
        <p:nvPicPr>
          <p:cNvPr id="27" name="Image 4" descr="logo-mark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200" y="6419088"/>
            <a:ext cx="168707" cy="194767"/>
          </a:xfrm>
          <a:prstGeom prst="rect">
            <a:avLst/>
          </a:prstGeom>
        </p:spPr>
      </p:pic>
      <p:sp>
        <p:nvSpPr>
          <p:cNvPr id="28" name="Text 21"/>
          <p:cNvSpPr/>
          <p:nvPr/>
        </p:nvSpPr>
        <p:spPr>
          <a:xfrm>
            <a:off x="667512" y="6419088"/>
            <a:ext cx="2743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50" i="1" dirty="0">
                <a:solidFill>
                  <a:srgbClr val="7C8FA6"/>
                </a:solidFill>
                <a:latin typeface="Libre Caslon Display" pitchFamily="34" charset="0"/>
                <a:ea typeface="Libre Caslon Display" pitchFamily="34" charset="-122"/>
                <a:cs typeface="Libre Caslon Display" pitchFamily="34" charset="-120"/>
              </a:rPr>
              <a:t>The Pastoral Guide</a:t>
            </a:r>
            <a:endParaRPr lang="en-US" sz="10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bg_textur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0" y="384048"/>
            <a:ext cx="12191695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spc="200" kern="0" dirty="0">
                <a:solidFill>
                  <a:srgbClr val="7C8FA6"/>
                </a:solidFill>
                <a:latin typeface="Karla" pitchFamily="34" charset="0"/>
                <a:ea typeface="Karla" pitchFamily="34" charset="-122"/>
                <a:cs typeface="Karla" pitchFamily="34" charset="-120"/>
              </a:rPr>
              <a:t>WEEKLY WONDER  ·  SIXTH FORM  ·  NO. 1</a:t>
            </a:r>
            <a:endParaRPr lang="en-US" sz="1300" dirty="0"/>
          </a:p>
        </p:txBody>
      </p:sp>
      <p:sp>
        <p:nvSpPr>
          <p:cNvPr id="4" name="Shape 1"/>
          <p:cNvSpPr/>
          <p:nvPr/>
        </p:nvSpPr>
        <p:spPr>
          <a:xfrm>
            <a:off x="1005840" y="1737360"/>
            <a:ext cx="10180015" cy="2743200"/>
          </a:xfrm>
          <a:prstGeom prst="roundRect">
            <a:avLst>
              <a:gd name="adj" fmla="val 5333"/>
            </a:avLst>
          </a:prstGeom>
          <a:solidFill>
            <a:srgbClr val="FFFDF7"/>
          </a:solidFill>
          <a:ln w="19050">
            <a:solidFill>
              <a:srgbClr val="D7DCE2"/>
            </a:solidFill>
            <a:prstDash val="solid"/>
          </a:ln>
          <a:effectLst>
            <a:outerShdw sx="100000" sy="100000" kx="0" ky="0" algn="bl" rotWithShape="0" blurRad="152400" dist="50800" dir="5400000">
              <a:srgbClr val="2E4436">
                <a:alpha val="20000"/>
              </a:srgbClr>
            </a:outerShdw>
          </a:effectLst>
        </p:spPr>
        <p:txBody>
          <a:bodyPr/>
          <a:p/>
        </p:txBody>
      </p:sp>
      <p:sp>
        <p:nvSpPr>
          <p:cNvPr id="5" name="Text 2"/>
          <p:cNvSpPr/>
          <p:nvPr/>
        </p:nvSpPr>
        <p:spPr>
          <a:xfrm>
            <a:off x="1645920" y="2011680"/>
            <a:ext cx="8899855" cy="2194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3400" dirty="0">
                <a:solidFill>
                  <a:srgbClr val="303C4A"/>
                </a:solidFill>
                <a:latin typeface="Libre Caslon Display" pitchFamily="34" charset="0"/>
                <a:ea typeface="Libre Caslon Display" pitchFamily="34" charset="-122"/>
                <a:cs typeface="Libre Caslon Display" pitchFamily="34" charset="-120"/>
              </a:rPr>
              <a:t>What is the difference between being ready and being willing?</a:t>
            </a:r>
            <a:endParaRPr lang="en-US" sz="3400" dirty="0"/>
          </a:p>
        </p:txBody>
      </p:sp>
      <p:sp>
        <p:nvSpPr>
          <p:cNvPr id="6" name="Text 3"/>
          <p:cNvSpPr/>
          <p:nvPr/>
        </p:nvSpPr>
        <p:spPr>
          <a:xfrm>
            <a:off x="0" y="4800600"/>
            <a:ext cx="12191695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i="1" dirty="0">
                <a:solidFill>
                  <a:srgbClr val="455568"/>
                </a:solidFill>
                <a:latin typeface="Karla" pitchFamily="34" charset="0"/>
                <a:ea typeface="Karla" pitchFamily="34" charset="-122"/>
                <a:cs typeface="Karla" pitchFamily="34" charset="-120"/>
              </a:rPr>
              <a:t>No right answer. What do you think?</a:t>
            </a:r>
            <a:endParaRPr lang="en-US" sz="1600" dirty="0"/>
          </a:p>
        </p:txBody>
      </p:sp>
      <p:pic>
        <p:nvPicPr>
          <p:cNvPr id="7" name="Image 1" descr="logo-mark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6419088"/>
            <a:ext cx="168707" cy="194767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667512" y="6419088"/>
            <a:ext cx="2743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50" i="1" dirty="0">
                <a:solidFill>
                  <a:srgbClr val="7C8FA6"/>
                </a:solidFill>
                <a:latin typeface="Libre Caslon Display" pitchFamily="34" charset="0"/>
                <a:ea typeface="Libre Caslon Display" pitchFamily="34" charset="-122"/>
                <a:cs typeface="Libre Caslon Display" pitchFamily="34" charset="-120"/>
              </a:rPr>
              <a:t>The Pastoral Guide</a:t>
            </a:r>
            <a:endParaRPr lang="en-US" sz="10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bg_textur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0" y="384048"/>
            <a:ext cx="12191695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spc="200" kern="0" dirty="0">
                <a:solidFill>
                  <a:srgbClr val="7C8FA6"/>
                </a:solidFill>
                <a:latin typeface="Karla" pitchFamily="34" charset="0"/>
                <a:ea typeface="Karla" pitchFamily="34" charset="-122"/>
                <a:cs typeface="Karla" pitchFamily="34" charset="-120"/>
              </a:rPr>
              <a:t>WEEKLY WONDER  ·  SIXTH FORM  ·  NO. 2</a:t>
            </a:r>
            <a:endParaRPr lang="en-US" sz="1300" dirty="0"/>
          </a:p>
        </p:txBody>
      </p:sp>
      <p:sp>
        <p:nvSpPr>
          <p:cNvPr id="4" name="Shape 1"/>
          <p:cNvSpPr/>
          <p:nvPr/>
        </p:nvSpPr>
        <p:spPr>
          <a:xfrm>
            <a:off x="1005840" y="1737360"/>
            <a:ext cx="10180015" cy="2743200"/>
          </a:xfrm>
          <a:prstGeom prst="roundRect">
            <a:avLst>
              <a:gd name="adj" fmla="val 5333"/>
            </a:avLst>
          </a:prstGeom>
          <a:solidFill>
            <a:srgbClr val="FFFDF7"/>
          </a:solidFill>
          <a:ln w="19050">
            <a:solidFill>
              <a:srgbClr val="D7DCE2"/>
            </a:solidFill>
            <a:prstDash val="solid"/>
          </a:ln>
          <a:effectLst>
            <a:outerShdw sx="100000" sy="100000" kx="0" ky="0" algn="bl" rotWithShape="0" blurRad="152400" dist="50800" dir="5400000">
              <a:srgbClr val="2E4436">
                <a:alpha val="20000"/>
              </a:srgbClr>
            </a:outerShdw>
          </a:effectLst>
        </p:spPr>
        <p:txBody>
          <a:bodyPr/>
          <a:p/>
        </p:txBody>
      </p:sp>
      <p:sp>
        <p:nvSpPr>
          <p:cNvPr id="5" name="Text 2"/>
          <p:cNvSpPr/>
          <p:nvPr/>
        </p:nvSpPr>
        <p:spPr>
          <a:xfrm>
            <a:off x="1645920" y="2011680"/>
            <a:ext cx="8899855" cy="2194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3400" dirty="0">
                <a:solidFill>
                  <a:srgbClr val="303C4A"/>
                </a:solidFill>
                <a:latin typeface="Libre Caslon Display" pitchFamily="34" charset="0"/>
                <a:ea typeface="Libre Caslon Display" pitchFamily="34" charset="-122"/>
                <a:cs typeface="Libre Caslon Display" pitchFamily="34" charset="-120"/>
              </a:rPr>
              <a:t>What do you spend time on now that will not matter in five years?</a:t>
            </a:r>
            <a:endParaRPr lang="en-US" sz="3400" dirty="0"/>
          </a:p>
        </p:txBody>
      </p:sp>
      <p:sp>
        <p:nvSpPr>
          <p:cNvPr id="6" name="Text 3"/>
          <p:cNvSpPr/>
          <p:nvPr/>
        </p:nvSpPr>
        <p:spPr>
          <a:xfrm>
            <a:off x="0" y="4800600"/>
            <a:ext cx="12191695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i="1" dirty="0">
                <a:solidFill>
                  <a:srgbClr val="455568"/>
                </a:solidFill>
                <a:latin typeface="Karla" pitchFamily="34" charset="0"/>
                <a:ea typeface="Karla" pitchFamily="34" charset="-122"/>
                <a:cs typeface="Karla" pitchFamily="34" charset="-120"/>
              </a:rPr>
              <a:t>No right answer. What do you think?</a:t>
            </a:r>
            <a:endParaRPr lang="en-US" sz="1600" dirty="0"/>
          </a:p>
        </p:txBody>
      </p:sp>
      <p:pic>
        <p:nvPicPr>
          <p:cNvPr id="7" name="Image 1" descr="logo-mark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6419088"/>
            <a:ext cx="168707" cy="194767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667512" y="6419088"/>
            <a:ext cx="2743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50" i="1" dirty="0">
                <a:solidFill>
                  <a:srgbClr val="7C8FA6"/>
                </a:solidFill>
                <a:latin typeface="Libre Caslon Display" pitchFamily="34" charset="0"/>
                <a:ea typeface="Libre Caslon Display" pitchFamily="34" charset="-122"/>
                <a:cs typeface="Libre Caslon Display" pitchFamily="34" charset="-120"/>
              </a:rPr>
              <a:t>The Pastoral Guide</a:t>
            </a:r>
            <a:endParaRPr lang="en-US" sz="10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bg_textur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0" y="384048"/>
            <a:ext cx="12191695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spc="200" kern="0" dirty="0">
                <a:solidFill>
                  <a:srgbClr val="7C8FA6"/>
                </a:solidFill>
                <a:latin typeface="Karla" pitchFamily="34" charset="0"/>
                <a:ea typeface="Karla" pitchFamily="34" charset="-122"/>
                <a:cs typeface="Karla" pitchFamily="34" charset="-120"/>
              </a:rPr>
              <a:t>WEEKLY WONDER  ·  SIXTH FORM  ·  NO. 3</a:t>
            </a:r>
            <a:endParaRPr lang="en-US" sz="1300" dirty="0"/>
          </a:p>
        </p:txBody>
      </p:sp>
      <p:sp>
        <p:nvSpPr>
          <p:cNvPr id="4" name="Shape 1"/>
          <p:cNvSpPr/>
          <p:nvPr/>
        </p:nvSpPr>
        <p:spPr>
          <a:xfrm>
            <a:off x="1005840" y="1737360"/>
            <a:ext cx="10180015" cy="2743200"/>
          </a:xfrm>
          <a:prstGeom prst="roundRect">
            <a:avLst>
              <a:gd name="adj" fmla="val 5333"/>
            </a:avLst>
          </a:prstGeom>
          <a:solidFill>
            <a:srgbClr val="FFFDF7"/>
          </a:solidFill>
          <a:ln w="19050">
            <a:solidFill>
              <a:srgbClr val="D7DCE2"/>
            </a:solidFill>
            <a:prstDash val="solid"/>
          </a:ln>
          <a:effectLst>
            <a:outerShdw sx="100000" sy="100000" kx="0" ky="0" algn="bl" rotWithShape="0" blurRad="152400" dist="50800" dir="5400000">
              <a:srgbClr val="2E4436">
                <a:alpha val="20000"/>
              </a:srgbClr>
            </a:outerShdw>
          </a:effectLst>
        </p:spPr>
        <p:txBody>
          <a:bodyPr/>
          <a:p/>
        </p:txBody>
      </p:sp>
      <p:sp>
        <p:nvSpPr>
          <p:cNvPr id="5" name="Text 2"/>
          <p:cNvSpPr/>
          <p:nvPr/>
        </p:nvSpPr>
        <p:spPr>
          <a:xfrm>
            <a:off x="1645920" y="2011680"/>
            <a:ext cx="8899855" cy="2194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3400" dirty="0">
                <a:solidFill>
                  <a:srgbClr val="303C4A"/>
                </a:solidFill>
                <a:latin typeface="Libre Caslon Display" pitchFamily="34" charset="0"/>
                <a:ea typeface="Libre Caslon Display" pitchFamily="34" charset="-122"/>
                <a:cs typeface="Libre Caslon Display" pitchFamily="34" charset="-120"/>
              </a:rPr>
              <a:t>Who decided what counts as a waste of time?</a:t>
            </a:r>
            <a:endParaRPr lang="en-US" sz="3400" dirty="0"/>
          </a:p>
        </p:txBody>
      </p:sp>
      <p:sp>
        <p:nvSpPr>
          <p:cNvPr id="6" name="Text 3"/>
          <p:cNvSpPr/>
          <p:nvPr/>
        </p:nvSpPr>
        <p:spPr>
          <a:xfrm>
            <a:off x="0" y="4800600"/>
            <a:ext cx="12191695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i="1" dirty="0">
                <a:solidFill>
                  <a:srgbClr val="455568"/>
                </a:solidFill>
                <a:latin typeface="Karla" pitchFamily="34" charset="0"/>
                <a:ea typeface="Karla" pitchFamily="34" charset="-122"/>
                <a:cs typeface="Karla" pitchFamily="34" charset="-120"/>
              </a:rPr>
              <a:t>No right answer. What do you think?</a:t>
            </a:r>
            <a:endParaRPr lang="en-US" sz="1600" dirty="0"/>
          </a:p>
        </p:txBody>
      </p:sp>
      <p:pic>
        <p:nvPicPr>
          <p:cNvPr id="7" name="Image 1" descr="logo-mark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6419088"/>
            <a:ext cx="168707" cy="194767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667512" y="6419088"/>
            <a:ext cx="2743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50" i="1" dirty="0">
                <a:solidFill>
                  <a:srgbClr val="7C8FA6"/>
                </a:solidFill>
                <a:latin typeface="Libre Caslon Display" pitchFamily="34" charset="0"/>
                <a:ea typeface="Libre Caslon Display" pitchFamily="34" charset="-122"/>
                <a:cs typeface="Libre Caslon Display" pitchFamily="34" charset="-120"/>
              </a:rPr>
              <a:t>The Pastoral Guide</a:t>
            </a:r>
            <a:endParaRPr lang="en-US" sz="10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bg_textur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0" y="384048"/>
            <a:ext cx="12191695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spc="200" kern="0" dirty="0">
                <a:solidFill>
                  <a:srgbClr val="7C8FA6"/>
                </a:solidFill>
                <a:latin typeface="Karla" pitchFamily="34" charset="0"/>
                <a:ea typeface="Karla" pitchFamily="34" charset="-122"/>
                <a:cs typeface="Karla" pitchFamily="34" charset="-120"/>
              </a:rPr>
              <a:t>WEEKLY WONDER  ·  SIXTH FORM  ·  NO. 4</a:t>
            </a:r>
            <a:endParaRPr lang="en-US" sz="1300" dirty="0"/>
          </a:p>
        </p:txBody>
      </p:sp>
      <p:sp>
        <p:nvSpPr>
          <p:cNvPr id="4" name="Shape 1"/>
          <p:cNvSpPr/>
          <p:nvPr/>
        </p:nvSpPr>
        <p:spPr>
          <a:xfrm>
            <a:off x="1005840" y="1737360"/>
            <a:ext cx="10180015" cy="2743200"/>
          </a:xfrm>
          <a:prstGeom prst="roundRect">
            <a:avLst>
              <a:gd name="adj" fmla="val 5333"/>
            </a:avLst>
          </a:prstGeom>
          <a:solidFill>
            <a:srgbClr val="FFFDF7"/>
          </a:solidFill>
          <a:ln w="19050">
            <a:solidFill>
              <a:srgbClr val="D7DCE2"/>
            </a:solidFill>
            <a:prstDash val="solid"/>
          </a:ln>
          <a:effectLst>
            <a:outerShdw sx="100000" sy="100000" kx="0" ky="0" algn="bl" rotWithShape="0" blurRad="152400" dist="50800" dir="5400000">
              <a:srgbClr val="2E4436">
                <a:alpha val="20000"/>
              </a:srgbClr>
            </a:outerShdw>
          </a:effectLst>
        </p:spPr>
        <p:txBody>
          <a:bodyPr/>
          <a:p/>
        </p:txBody>
      </p:sp>
      <p:sp>
        <p:nvSpPr>
          <p:cNvPr id="5" name="Text 2"/>
          <p:cNvSpPr/>
          <p:nvPr/>
        </p:nvSpPr>
        <p:spPr>
          <a:xfrm>
            <a:off x="1645920" y="2011680"/>
            <a:ext cx="8899855" cy="2194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3400" dirty="0">
                <a:solidFill>
                  <a:srgbClr val="303C4A"/>
                </a:solidFill>
                <a:latin typeface="Libre Caslon Display" pitchFamily="34" charset="0"/>
                <a:ea typeface="Libre Caslon Display" pitchFamily="34" charset="-122"/>
                <a:cs typeface="Libre Caslon Display" pitchFamily="34" charset="-120"/>
              </a:rPr>
              <a:t>Is there such a thing as a decision you make entirely on your own?</a:t>
            </a:r>
            <a:endParaRPr lang="en-US" sz="3400" dirty="0"/>
          </a:p>
        </p:txBody>
      </p:sp>
      <p:sp>
        <p:nvSpPr>
          <p:cNvPr id="6" name="Text 3"/>
          <p:cNvSpPr/>
          <p:nvPr/>
        </p:nvSpPr>
        <p:spPr>
          <a:xfrm>
            <a:off x="0" y="4800600"/>
            <a:ext cx="12191695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i="1" dirty="0">
                <a:solidFill>
                  <a:srgbClr val="455568"/>
                </a:solidFill>
                <a:latin typeface="Karla" pitchFamily="34" charset="0"/>
                <a:ea typeface="Karla" pitchFamily="34" charset="-122"/>
                <a:cs typeface="Karla" pitchFamily="34" charset="-120"/>
              </a:rPr>
              <a:t>No right answer. What do you think?</a:t>
            </a:r>
            <a:endParaRPr lang="en-US" sz="1600" dirty="0"/>
          </a:p>
        </p:txBody>
      </p:sp>
      <p:pic>
        <p:nvPicPr>
          <p:cNvPr id="7" name="Image 1" descr="logo-mark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6419088"/>
            <a:ext cx="168707" cy="194767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667512" y="6419088"/>
            <a:ext cx="2743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50" i="1" dirty="0">
                <a:solidFill>
                  <a:srgbClr val="7C8FA6"/>
                </a:solidFill>
                <a:latin typeface="Libre Caslon Display" pitchFamily="34" charset="0"/>
                <a:ea typeface="Libre Caslon Display" pitchFamily="34" charset="-122"/>
                <a:cs typeface="Libre Caslon Display" pitchFamily="34" charset="-120"/>
              </a:rPr>
              <a:t>The Pastoral Guide</a:t>
            </a:r>
            <a:endParaRPr lang="en-US" sz="10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bg_textur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0" y="384048"/>
            <a:ext cx="12191695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spc="200" kern="0" dirty="0">
                <a:solidFill>
                  <a:srgbClr val="7C8FA6"/>
                </a:solidFill>
                <a:latin typeface="Karla" pitchFamily="34" charset="0"/>
                <a:ea typeface="Karla" pitchFamily="34" charset="-122"/>
                <a:cs typeface="Karla" pitchFamily="34" charset="-120"/>
              </a:rPr>
              <a:t>WEEKLY WONDER  ·  SIXTH FORM  ·  NO. 5</a:t>
            </a:r>
            <a:endParaRPr lang="en-US" sz="1300" dirty="0"/>
          </a:p>
        </p:txBody>
      </p:sp>
      <p:sp>
        <p:nvSpPr>
          <p:cNvPr id="4" name="Shape 1"/>
          <p:cNvSpPr/>
          <p:nvPr/>
        </p:nvSpPr>
        <p:spPr>
          <a:xfrm>
            <a:off x="1005840" y="1737360"/>
            <a:ext cx="10180015" cy="2743200"/>
          </a:xfrm>
          <a:prstGeom prst="roundRect">
            <a:avLst>
              <a:gd name="adj" fmla="val 5333"/>
            </a:avLst>
          </a:prstGeom>
          <a:solidFill>
            <a:srgbClr val="FFFDF7"/>
          </a:solidFill>
          <a:ln w="19050">
            <a:solidFill>
              <a:srgbClr val="D7DCE2"/>
            </a:solidFill>
            <a:prstDash val="solid"/>
          </a:ln>
          <a:effectLst>
            <a:outerShdw sx="100000" sy="100000" kx="0" ky="0" algn="bl" rotWithShape="0" blurRad="152400" dist="50800" dir="5400000">
              <a:srgbClr val="2E4436">
                <a:alpha val="20000"/>
              </a:srgbClr>
            </a:outerShdw>
          </a:effectLst>
        </p:spPr>
        <p:txBody>
          <a:bodyPr/>
          <a:p/>
        </p:txBody>
      </p:sp>
      <p:sp>
        <p:nvSpPr>
          <p:cNvPr id="5" name="Text 2"/>
          <p:cNvSpPr/>
          <p:nvPr/>
        </p:nvSpPr>
        <p:spPr>
          <a:xfrm>
            <a:off x="1645920" y="2011680"/>
            <a:ext cx="8899855" cy="2194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3400" dirty="0">
                <a:solidFill>
                  <a:srgbClr val="303C4A"/>
                </a:solidFill>
                <a:latin typeface="Libre Caslon Display" pitchFamily="34" charset="0"/>
                <a:ea typeface="Libre Caslon Display" pitchFamily="34" charset="-122"/>
                <a:cs typeface="Libre Caslon Display" pitchFamily="34" charset="-120"/>
              </a:rPr>
              <a:t>What would you do differently if nobody ever asked what you were planning to do next?</a:t>
            </a:r>
            <a:endParaRPr lang="en-US" sz="3400" dirty="0"/>
          </a:p>
        </p:txBody>
      </p:sp>
      <p:sp>
        <p:nvSpPr>
          <p:cNvPr id="6" name="Text 3"/>
          <p:cNvSpPr/>
          <p:nvPr/>
        </p:nvSpPr>
        <p:spPr>
          <a:xfrm>
            <a:off x="0" y="4800600"/>
            <a:ext cx="12191695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i="1" dirty="0">
                <a:solidFill>
                  <a:srgbClr val="455568"/>
                </a:solidFill>
                <a:latin typeface="Karla" pitchFamily="34" charset="0"/>
                <a:ea typeface="Karla" pitchFamily="34" charset="-122"/>
                <a:cs typeface="Karla" pitchFamily="34" charset="-120"/>
              </a:rPr>
              <a:t>No right answer. What do you think?</a:t>
            </a:r>
            <a:endParaRPr lang="en-US" sz="1600" dirty="0"/>
          </a:p>
        </p:txBody>
      </p:sp>
      <p:pic>
        <p:nvPicPr>
          <p:cNvPr id="7" name="Image 1" descr="logo-mark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6419088"/>
            <a:ext cx="168707" cy="194767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667512" y="6419088"/>
            <a:ext cx="2743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50" i="1" dirty="0">
                <a:solidFill>
                  <a:srgbClr val="7C8FA6"/>
                </a:solidFill>
                <a:latin typeface="Libre Caslon Display" pitchFamily="34" charset="0"/>
                <a:ea typeface="Libre Caslon Display" pitchFamily="34" charset="-122"/>
                <a:cs typeface="Libre Caslon Display" pitchFamily="34" charset="-120"/>
              </a:rPr>
              <a:t>The Pastoral Guide</a:t>
            </a:r>
            <a:endParaRPr lang="en-US" sz="10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The Pastoral Guide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Weekly Wonder: the slides</dc:title>
  <dc:subject>A free pastoral resource for form tutors, from The Pastoral Guide, thepastoralguide.com</dc:subject>
  <dc:creator>The Pastoral Guide</dc:creator>
  <cp:keywords>form time, tutor time, pastoral, PSHE, secondary, free</cp:keywords>
  <dc:description>A free pastoral resource for form tutors, from The Pastoral Guide, thepastoralguide.com</dc:description>
  <cp:lastModifiedBy>The Pastoral Guide</cp:lastModifiedBy>
  <cp:revision>1</cp:revision>
  <dcterms:created xsi:type="dcterms:W3CDTF">2026-09-14T05:55:02Z</dcterms:created>
  <dcterms:modified xsi:type="dcterms:W3CDTF">2026-09-14T05:55:02Z</dcterms:modified>
  <cp:category>Pastoral resources</cp:category>
</cp:coreProperties>
</file>