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256B4A"/>
                </a:solidFill>
                <a:latin typeface="Karla"/>
              </a:rPr>
              <a:t>FUEL AND FOCUS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256B4A"/>
                </a:solidFill>
                <a:latin typeface="Libre Caslon Display"/>
              </a:rPr>
              <a:t>Why you crash at two o’clock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5F6B64"/>
                </a:solidFill>
                <a:latin typeface="Karla"/>
              </a:rPr>
              <a:t>Your brain is two per cent of you and burns a fifth of your energy.</a:t>
            </a:r>
            <a:br/>
            <a:r>
              <a:rPr sz="1500" b="0" i="0">
                <a:solidFill>
                  <a:srgbClr val="5F6B64"/>
                </a:solidFill>
                <a:latin typeface="Karla"/>
              </a:rPr>
              <a:t>What you eat at break decides how your afternoon goes.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8A29B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Work out what makes a snack last. Write the four criteria.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Make 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Build a snack that meets them, then check that it does.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256B4A"/>
                </a:solidFill>
                <a:latin typeface="Libre Caslon Display"/>
              </a:rPr>
              <a:t>Your own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5F6B64"/>
                </a:solidFill>
                <a:latin typeface="Karla"/>
              </a:rPr>
              <a:t>Design a recipe, bring it in, test it against the criteria.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This one ends with the four criteria written down. Lesson two needs them.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keeps you going longest?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chocolate biscuit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banana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packet of crisps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Yoghurt and berries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CBDFD6"/>
                </a:solidFill>
                <a:latin typeface="Karla"/>
              </a:rPr>
              <a:t>In pairs. Order all six, best at the top. You will not all agree, and that is fine.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C3A33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800" b="1" i="0">
                <a:solidFill>
                  <a:srgbClr val="256B4A"/>
                </a:solidFill>
                <a:latin typeface="Libre Caslon Display"/>
              </a:rPr>
              <a:t>The banana and the biscuit have</a:t>
            </a:r>
            <a:br/>
            <a:r>
              <a:rPr sz="1800" b="1" i="0">
                <a:solidFill>
                  <a:srgbClr val="256B4A"/>
                </a:solidFill>
                <a:latin typeface="Libre Caslon Display"/>
              </a:rPr>
              <a:t>almost the same amount of sugar in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256B4A"/>
                </a:solidFill>
                <a:latin typeface="Karla"/>
              </a:rPr>
              <a:t>So why does one of them run out an hour later?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WHAT YOUR BRAIN RUNS 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Your brain is about 2% of you.</a:t>
            </a:r>
            <a:br/>
            <a:r>
              <a:rPr sz="2900" b="1" i="0">
                <a:solidFill>
                  <a:srgbClr val="FFFDF7"/>
                </a:solidFill>
                <a:latin typeface="Libre Caslon Display"/>
              </a:rPr>
              <a:t>It uses about 20% of your energy.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CBDFD6"/>
                </a:solidFill>
                <a:latin typeface="Karla"/>
              </a:rPr>
              <a:t>It runs on glucose, it cannot store much of its own, and it depends on a steady supply arriving in your blood.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Fast up, fast down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fast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Sugar and white carbs on their own.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Glucose rises fast, your body releases a lot of insulin to bring it down, and a couple of hours later you are lower than when you started. That is the two o’clock feeling.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slow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F6B64"/>
                </a:solidFill>
                <a:latin typeface="Karla"/>
              </a:rPr>
              <a:t>The same food with protein, fibre and fat alongside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C3A33"/>
                </a:solidFill>
                <a:latin typeface="Karla"/>
              </a:rPr>
              <a:t>The same glucose arrives, just spread over hours instead of minutes. No spike, so no crash.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Same sugar, delivered differently. That is the only difference.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 biscuit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068726"/>
            <a:ext cx="6309360" cy="10972"/>
          </a:xfrm>
          <a:prstGeom prst="rect">
            <a:avLst/>
          </a:prstGeom>
          <a:solidFill>
            <a:srgbClr val="98A2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63256" y="2949854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Normal</a:t>
            </a:r>
          </a:p>
        </p:txBody>
      </p:sp>
      <p:sp>
        <p:nvSpPr>
          <p:cNvPr id="9" name="Rectangle 8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5F6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BLOOD SUGAR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5F6B64"/>
                </a:solidFill>
                <a:latin typeface="Karla"/>
              </a:rPr>
              <a:t>TIME</a:t>
            </a:r>
          </a:p>
        </p:txBody>
      </p:sp>
      <p:sp>
        <p:nvSpPr>
          <p:cNvPr id="13" name="Freeform 12"/>
          <p:cNvSpPr/>
          <p:nvPr/>
        </p:nvSpPr>
        <p:spPr>
          <a:xfrm>
            <a:off x="1417320" y="1700986"/>
            <a:ext cx="6309360" cy="1850357"/>
          </a:xfrm>
          <a:custGeom>
            <a:avLst/>
            <a:gdLst/>
            <a:ahLst/>
            <a:cxnLst/>
            <a:rect l="l" t="t" r="r" b="b"/>
            <a:pathLst>
              <a:path w="6309360" h="1850357">
                <a:moveTo>
                  <a:pt x="0" y="1367740"/>
                </a:moveTo>
                <a:lnTo>
                  <a:pt x="45066" y="1366954"/>
                </a:lnTo>
                <a:lnTo>
                  <a:pt x="90133" y="1364656"/>
                </a:lnTo>
                <a:lnTo>
                  <a:pt x="135200" y="1361028"/>
                </a:lnTo>
                <a:lnTo>
                  <a:pt x="180267" y="1356351"/>
                </a:lnTo>
                <a:lnTo>
                  <a:pt x="225334" y="1350993"/>
                </a:lnTo>
                <a:lnTo>
                  <a:pt x="270401" y="1345371"/>
                </a:lnTo>
                <a:lnTo>
                  <a:pt x="315468" y="1339925"/>
                </a:lnTo>
                <a:lnTo>
                  <a:pt x="360534" y="1335080"/>
                </a:lnTo>
                <a:lnTo>
                  <a:pt x="405601" y="1331217"/>
                </a:lnTo>
                <a:lnTo>
                  <a:pt x="450668" y="1328635"/>
                </a:lnTo>
                <a:lnTo>
                  <a:pt x="495735" y="1327538"/>
                </a:lnTo>
                <a:lnTo>
                  <a:pt x="540802" y="1322056"/>
                </a:lnTo>
                <a:lnTo>
                  <a:pt x="585869" y="1300068"/>
                </a:lnTo>
                <a:lnTo>
                  <a:pt x="630936" y="1261764"/>
                </a:lnTo>
                <a:lnTo>
                  <a:pt x="676002" y="1208127"/>
                </a:lnTo>
                <a:lnTo>
                  <a:pt x="721069" y="1140531"/>
                </a:lnTo>
                <a:lnTo>
                  <a:pt x="766136" y="1060710"/>
                </a:lnTo>
                <a:lnTo>
                  <a:pt x="811203" y="970710"/>
                </a:lnTo>
                <a:lnTo>
                  <a:pt x="856270" y="872838"/>
                </a:lnTo>
                <a:lnTo>
                  <a:pt x="901337" y="769603"/>
                </a:lnTo>
                <a:lnTo>
                  <a:pt x="946404" y="663652"/>
                </a:lnTo>
                <a:lnTo>
                  <a:pt x="991470" y="557701"/>
                </a:lnTo>
                <a:lnTo>
                  <a:pt x="1036537" y="454466"/>
                </a:lnTo>
                <a:lnTo>
                  <a:pt x="1081604" y="356594"/>
                </a:lnTo>
                <a:lnTo>
                  <a:pt x="1126671" y="266594"/>
                </a:lnTo>
                <a:lnTo>
                  <a:pt x="1171738" y="186773"/>
                </a:lnTo>
                <a:lnTo>
                  <a:pt x="1216805" y="119177"/>
                </a:lnTo>
                <a:lnTo>
                  <a:pt x="1261872" y="65540"/>
                </a:lnTo>
                <a:lnTo>
                  <a:pt x="1306938" y="27236"/>
                </a:lnTo>
                <a:lnTo>
                  <a:pt x="1352005" y="5248"/>
                </a:lnTo>
                <a:lnTo>
                  <a:pt x="1397072" y="0"/>
                </a:lnTo>
                <a:lnTo>
                  <a:pt x="1442139" y="7047"/>
                </a:lnTo>
                <a:lnTo>
                  <a:pt x="1487206" y="23818"/>
                </a:lnTo>
                <a:lnTo>
                  <a:pt x="1532273" y="49472"/>
                </a:lnTo>
                <a:lnTo>
                  <a:pt x="1577340" y="82722"/>
                </a:lnTo>
                <a:lnTo>
                  <a:pt x="1622406" y="121901"/>
                </a:lnTo>
                <a:lnTo>
                  <a:pt x="1667473" y="165046"/>
                </a:lnTo>
                <a:lnTo>
                  <a:pt x="1712540" y="209991"/>
                </a:lnTo>
                <a:lnTo>
                  <a:pt x="1757607" y="254484"/>
                </a:lnTo>
                <a:lnTo>
                  <a:pt x="1802674" y="296293"/>
                </a:lnTo>
                <a:lnTo>
                  <a:pt x="1847741" y="333322"/>
                </a:lnTo>
                <a:lnTo>
                  <a:pt x="1892808" y="363714"/>
                </a:lnTo>
                <a:lnTo>
                  <a:pt x="1937874" y="385945"/>
                </a:lnTo>
                <a:lnTo>
                  <a:pt x="1982941" y="398901"/>
                </a:lnTo>
                <a:lnTo>
                  <a:pt x="2028008" y="402506"/>
                </a:lnTo>
                <a:lnTo>
                  <a:pt x="2073075" y="415488"/>
                </a:lnTo>
                <a:lnTo>
                  <a:pt x="2118142" y="446695"/>
                </a:lnTo>
                <a:lnTo>
                  <a:pt x="2163209" y="495325"/>
                </a:lnTo>
                <a:lnTo>
                  <a:pt x="2208276" y="560132"/>
                </a:lnTo>
                <a:lnTo>
                  <a:pt x="2253342" y="639455"/>
                </a:lnTo>
                <a:lnTo>
                  <a:pt x="2298409" y="731259"/>
                </a:lnTo>
                <a:lnTo>
                  <a:pt x="2343476" y="833192"/>
                </a:lnTo>
                <a:lnTo>
                  <a:pt x="2388543" y="942640"/>
                </a:lnTo>
                <a:lnTo>
                  <a:pt x="2433610" y="1056798"/>
                </a:lnTo>
                <a:lnTo>
                  <a:pt x="2478677" y="1172738"/>
                </a:lnTo>
                <a:lnTo>
                  <a:pt x="2523744" y="1287489"/>
                </a:lnTo>
                <a:lnTo>
                  <a:pt x="2568810" y="1398108"/>
                </a:lnTo>
                <a:lnTo>
                  <a:pt x="2613877" y="1501761"/>
                </a:lnTo>
                <a:lnTo>
                  <a:pt x="2658944" y="1595788"/>
                </a:lnTo>
                <a:lnTo>
                  <a:pt x="2704011" y="1677781"/>
                </a:lnTo>
                <a:lnTo>
                  <a:pt x="2749078" y="1745637"/>
                </a:lnTo>
                <a:lnTo>
                  <a:pt x="2794145" y="1797616"/>
                </a:lnTo>
                <a:lnTo>
                  <a:pt x="2839212" y="1832386"/>
                </a:lnTo>
                <a:lnTo>
                  <a:pt x="2884278" y="1849055"/>
                </a:lnTo>
                <a:lnTo>
                  <a:pt x="2929345" y="1850357"/>
                </a:lnTo>
                <a:lnTo>
                  <a:pt x="2974412" y="1849227"/>
                </a:lnTo>
                <a:lnTo>
                  <a:pt x="3019479" y="1847100"/>
                </a:lnTo>
                <a:lnTo>
                  <a:pt x="3064546" y="1844029"/>
                </a:lnTo>
                <a:lnTo>
                  <a:pt x="3109613" y="1840094"/>
                </a:lnTo>
                <a:lnTo>
                  <a:pt x="3154680" y="1835395"/>
                </a:lnTo>
                <a:lnTo>
                  <a:pt x="3199746" y="1830053"/>
                </a:lnTo>
                <a:lnTo>
                  <a:pt x="3244813" y="1824205"/>
                </a:lnTo>
                <a:lnTo>
                  <a:pt x="3289880" y="1818000"/>
                </a:lnTo>
                <a:lnTo>
                  <a:pt x="3334947" y="1811599"/>
                </a:lnTo>
                <a:lnTo>
                  <a:pt x="3380014" y="1805165"/>
                </a:lnTo>
                <a:lnTo>
                  <a:pt x="3425081" y="1798862"/>
                </a:lnTo>
                <a:lnTo>
                  <a:pt x="3470148" y="1792853"/>
                </a:lnTo>
                <a:lnTo>
                  <a:pt x="3515214" y="1787291"/>
                </a:lnTo>
                <a:lnTo>
                  <a:pt x="3560281" y="1782320"/>
                </a:lnTo>
                <a:lnTo>
                  <a:pt x="3605348" y="1778066"/>
                </a:lnTo>
                <a:lnTo>
                  <a:pt x="3650415" y="1774638"/>
                </a:lnTo>
                <a:lnTo>
                  <a:pt x="3695482" y="1772126"/>
                </a:lnTo>
                <a:lnTo>
                  <a:pt x="3740549" y="1770592"/>
                </a:lnTo>
                <a:lnTo>
                  <a:pt x="3785616" y="1770076"/>
                </a:lnTo>
                <a:lnTo>
                  <a:pt x="3830682" y="1769443"/>
                </a:lnTo>
                <a:lnTo>
                  <a:pt x="3875749" y="1767554"/>
                </a:lnTo>
                <a:lnTo>
                  <a:pt x="3920816" y="1764431"/>
                </a:lnTo>
                <a:lnTo>
                  <a:pt x="3965883" y="1760115"/>
                </a:lnTo>
                <a:lnTo>
                  <a:pt x="4010950" y="1754659"/>
                </a:lnTo>
                <a:lnTo>
                  <a:pt x="4056017" y="1748132"/>
                </a:lnTo>
                <a:lnTo>
                  <a:pt x="4101084" y="1740616"/>
                </a:lnTo>
                <a:lnTo>
                  <a:pt x="4146150" y="1732205"/>
                </a:lnTo>
                <a:lnTo>
                  <a:pt x="4191217" y="1723006"/>
                </a:lnTo>
                <a:lnTo>
                  <a:pt x="4236284" y="1713134"/>
                </a:lnTo>
                <a:lnTo>
                  <a:pt x="4281351" y="1702713"/>
                </a:lnTo>
                <a:lnTo>
                  <a:pt x="4326418" y="1691874"/>
                </a:lnTo>
                <a:lnTo>
                  <a:pt x="4371485" y="1680754"/>
                </a:lnTo>
                <a:lnTo>
                  <a:pt x="4416552" y="1669492"/>
                </a:lnTo>
                <a:lnTo>
                  <a:pt x="4461618" y="1658230"/>
                </a:lnTo>
                <a:lnTo>
                  <a:pt x="4506685" y="1647110"/>
                </a:lnTo>
                <a:lnTo>
                  <a:pt x="4551752" y="1636271"/>
                </a:lnTo>
                <a:lnTo>
                  <a:pt x="4596819" y="1625850"/>
                </a:lnTo>
                <a:lnTo>
                  <a:pt x="4641886" y="1615978"/>
                </a:lnTo>
                <a:lnTo>
                  <a:pt x="4686953" y="1606779"/>
                </a:lnTo>
                <a:lnTo>
                  <a:pt x="4732020" y="1598368"/>
                </a:lnTo>
                <a:lnTo>
                  <a:pt x="4777086" y="1590852"/>
                </a:lnTo>
                <a:lnTo>
                  <a:pt x="4822153" y="1584325"/>
                </a:lnTo>
                <a:lnTo>
                  <a:pt x="4867220" y="1578869"/>
                </a:lnTo>
                <a:lnTo>
                  <a:pt x="4912287" y="1574552"/>
                </a:lnTo>
                <a:lnTo>
                  <a:pt x="4957354" y="1571430"/>
                </a:lnTo>
                <a:lnTo>
                  <a:pt x="5002421" y="1569540"/>
                </a:lnTo>
                <a:lnTo>
                  <a:pt x="5047488" y="1568908"/>
                </a:lnTo>
                <a:lnTo>
                  <a:pt x="5092554" y="1568592"/>
                </a:lnTo>
                <a:lnTo>
                  <a:pt x="5137621" y="1567647"/>
                </a:lnTo>
                <a:lnTo>
                  <a:pt x="5182688" y="1566086"/>
                </a:lnTo>
                <a:lnTo>
                  <a:pt x="5227755" y="1563927"/>
                </a:lnTo>
                <a:lnTo>
                  <a:pt x="5272822" y="1561199"/>
                </a:lnTo>
                <a:lnTo>
                  <a:pt x="5317889" y="1557936"/>
                </a:lnTo>
                <a:lnTo>
                  <a:pt x="5362956" y="1554178"/>
                </a:lnTo>
                <a:lnTo>
                  <a:pt x="5408022" y="1549972"/>
                </a:lnTo>
                <a:lnTo>
                  <a:pt x="5453089" y="1545373"/>
                </a:lnTo>
                <a:lnTo>
                  <a:pt x="5498156" y="1540437"/>
                </a:lnTo>
                <a:lnTo>
                  <a:pt x="5543223" y="1535226"/>
                </a:lnTo>
                <a:lnTo>
                  <a:pt x="5588290" y="1529807"/>
                </a:lnTo>
                <a:lnTo>
                  <a:pt x="5633357" y="1524247"/>
                </a:lnTo>
                <a:lnTo>
                  <a:pt x="5678424" y="1518616"/>
                </a:lnTo>
                <a:lnTo>
                  <a:pt x="5723490" y="1512985"/>
                </a:lnTo>
                <a:lnTo>
                  <a:pt x="5768557" y="1507425"/>
                </a:lnTo>
                <a:lnTo>
                  <a:pt x="5813624" y="1502006"/>
                </a:lnTo>
                <a:lnTo>
                  <a:pt x="5858691" y="1496795"/>
                </a:lnTo>
                <a:lnTo>
                  <a:pt x="5903758" y="1491859"/>
                </a:lnTo>
                <a:lnTo>
                  <a:pt x="5948825" y="1487259"/>
                </a:lnTo>
                <a:lnTo>
                  <a:pt x="5993892" y="1483054"/>
                </a:lnTo>
                <a:lnTo>
                  <a:pt x="6038958" y="1479296"/>
                </a:lnTo>
                <a:lnTo>
                  <a:pt x="6084025" y="1476032"/>
                </a:lnTo>
                <a:lnTo>
                  <a:pt x="6129092" y="1473304"/>
                </a:lnTo>
                <a:lnTo>
                  <a:pt x="6174159" y="1471146"/>
                </a:lnTo>
                <a:lnTo>
                  <a:pt x="6219226" y="1469585"/>
                </a:lnTo>
                <a:lnTo>
                  <a:pt x="6264293" y="1468640"/>
                </a:lnTo>
                <a:lnTo>
                  <a:pt x="6309360" y="1468324"/>
                </a:lnTo>
              </a:path>
            </a:pathLst>
          </a:custGeom>
          <a:noFill/>
          <a:ln w="38100">
            <a:solidFill>
              <a:srgbClr val="256B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84071" y="3009290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7707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2745943" y="1641348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1957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12:00</a:t>
            </a:r>
          </a:p>
        </p:txBody>
      </p:sp>
      <p:sp>
        <p:nvSpPr>
          <p:cNvPr id="18" name="Oval 17"/>
          <p:cNvSpPr/>
          <p:nvPr/>
        </p:nvSpPr>
        <p:spPr>
          <a:xfrm>
            <a:off x="4260189" y="349209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3825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13:00</a:t>
            </a:r>
          </a:p>
        </p:txBody>
      </p:sp>
      <p:sp>
        <p:nvSpPr>
          <p:cNvPr id="20" name="Oval 19"/>
          <p:cNvSpPr/>
          <p:nvPr/>
        </p:nvSpPr>
        <p:spPr>
          <a:xfrm>
            <a:off x="6783933" y="3180283"/>
            <a:ext cx="118872" cy="118872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7569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256B4A"/>
                </a:solidFill>
                <a:latin typeface="Karla"/>
              </a:rPr>
              <a:t>14:30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9539" y="14264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Feels great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02936" y="2304288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256B4A"/>
                </a:solidFill>
                <a:latin typeface="Karla"/>
              </a:rPr>
              <a:t>Lower than when</a:t>
            </a:r>
            <a:br/>
            <a:r>
              <a:rPr sz="1050" b="1" i="0">
                <a:solidFill>
                  <a:srgbClr val="256B4A"/>
                </a:solidFill>
                <a:latin typeface="Karla"/>
              </a:rPr>
              <a:t>you started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Ask what happens next at every point before you move to it.</a:t>
            </a:r>
          </a:p>
        </p:txBody>
      </p:sp>
      <p:pic>
        <p:nvPicPr>
          <p:cNvPr id="25" name="Picture 2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NOW THE ROOM DOES TWO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Trace these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Fast or slow? And what is in it that decides?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Toast and peanut butter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Bread on its own would be fast. What changes it?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fizzy drink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Nothing to slow it down at all. What does the curve do?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Every answer comes back to the same four things, which are on the next slide.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makes a snack last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5256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45336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whole thing down, and keeps you full.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90872" y="1572768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910328" y="1737360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10328" y="1828800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50408" y="1792224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28616" y="2231136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food down in your gut, so the glucose arrives gradually.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05256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45336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544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Oats, wholegrain or whole fruit. Not white and not sugary.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90872" y="2926080"/>
            <a:ext cx="3767328" cy="118872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10328" y="3090672"/>
            <a:ext cx="475488" cy="47548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0328" y="3182112"/>
            <a:ext cx="4754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3145536"/>
            <a:ext cx="272491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28616" y="3584448"/>
            <a:ext cx="329184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Slows the stomach down, and carries the most energy per gram. Seeds, nuts, avocado.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Two out of four helps. All four gets you to lunch.</a:t>
            </a:r>
          </a:p>
        </p:txBody>
      </p:sp>
      <p:pic>
        <p:nvPicPr>
          <p:cNvPr id="28" name="Picture 2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WRITE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Your four criteria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In your own words, and one line each on why it works. You need these next lesson.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7845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845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Protein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7462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36727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6727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6606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Fibre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35609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5609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A slow carb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652260" y="2048256"/>
            <a:ext cx="1805940" cy="109728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44918" y="220370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44918" y="2276856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43700" y="2706624"/>
            <a:ext cx="16230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Libre Caslon Display"/>
              </a:rPr>
              <a:t>Healthy fats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3438144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69B9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0976" y="3547872"/>
            <a:ext cx="7315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256B4A"/>
                </a:solidFill>
                <a:latin typeface="Karla"/>
              </a:rPr>
              <a:t>Then add one snack you already eat that hits at least two of them.</a:t>
            </a:r>
          </a:p>
        </p:txBody>
      </p:sp>
      <p:pic>
        <p:nvPicPr>
          <p:cNvPr id="26" name="Picture 2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EVIDENCE, NOT GUESSING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LABELS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900" b="1" i="0">
                <a:solidFill>
                  <a:srgbClr val="2C3A33"/>
                </a:solidFill>
                <a:latin typeface="Libre Caslon Display"/>
              </a:rPr>
              <a:t>What the label actually says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54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The label sheet has all six snacks, and everything you need to score them.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77824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3895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protein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2184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Anything over about 5g a serving is making a difference.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81728" y="204825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873752" y="226771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73752" y="233172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9824" y="217627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Find the fibre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68112" y="248716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Over about 3g a serving and it will slow things down.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77824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3895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the carb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72184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Wholegrain, oats or whole fruit is slow. White or sugary is fast.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81728" y="3054096"/>
            <a:ext cx="3776472" cy="859536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873752" y="3273552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337560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49824" y="3182112"/>
            <a:ext cx="2862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Check where the fat is from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3493008"/>
            <a:ext cx="2807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000" b="0" i="0">
                <a:solidFill>
                  <a:srgbClr val="5F6B64"/>
                </a:solidFill>
                <a:latin typeface="Karla"/>
              </a:rPr>
              <a:t>Seeds, nuts, avocado and dairy count. Fried or baked in does not.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224528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Then tick the four columns and add up the score out of four.</a:t>
            </a:r>
          </a:p>
        </p:txBody>
      </p:sp>
      <p:pic>
        <p:nvPicPr>
          <p:cNvPr id="29" name="Picture 2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NUMBERS UP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0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792224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8" y="1938528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banana has more sugar than the crisps.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7008" y="2322576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And it still gets you further. Your criteria explain why.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926080"/>
            <a:ext cx="7315200" cy="969264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07008" y="3072384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256B4A"/>
                </a:solidFill>
                <a:latin typeface="Libre Caslon Display"/>
              </a:rPr>
              <a:t>The crisps have plenty of fat, and it is not helping.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345643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5F6B64"/>
                </a:solidFill>
                <a:latin typeface="Karla"/>
              </a:rPr>
              <a:t>It is fried in, and that is not the same as fat from seeds, nuts or avocado.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04164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The sugar on its own tells you very little. What matters is what comes with it.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BACK TO THE SIX CARDS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RE-RANK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Rank them again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Same six snacks, but now you have the numbers. Score each out of four, then reorder.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969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moved the most?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706624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79806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did you defend at the start and would drop now?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364992"/>
            <a:ext cx="7772400" cy="54864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456432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2C3A33"/>
                </a:solidFill>
                <a:latin typeface="Karla"/>
              </a:rPr>
              <a:t>Which one is nearly there, and what would fix it?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133087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The last question matters most, because almost any snack can be fixed by adding one thing to it.</a:t>
            </a:r>
          </a:p>
        </p:txBody>
      </p:sp>
      <p:pic>
        <p:nvPicPr>
          <p:cNvPr id="15" name="Picture 14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One question, not a verdict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1828800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1920240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This is not about weight, and it is not about how anybody looks.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505456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2596896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Nobody is scoring you, and nobody is scoring your lunchbox.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182112"/>
            <a:ext cx="7040880" cy="56692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EEF3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73552"/>
            <a:ext cx="64008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2000"/>
              </a:lnSpc>
              <a:spcAft>
                <a:spcPts val="0"/>
              </a:spcAft>
            </a:pPr>
            <a:r>
              <a:rPr sz="1350" b="0" i="0">
                <a:solidFill>
                  <a:srgbClr val="256B4A"/>
                </a:solidFill>
                <a:latin typeface="Karla"/>
              </a:rPr>
              <a:t>One question only: what keeps you going until lunch?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Karla"/>
              </a:rPr>
              <a:t>This lesson is about energy and concentration, and nothing else.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TALK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Three questions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00784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819656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83664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36192" y="1810512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Break is fifteen minutes. If buying something takes ten, what actually works?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487168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606040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670048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596896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Whose job is it to decide what you eat at break, and what can you do about it yourself?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73552"/>
            <a:ext cx="7772400" cy="6583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23544" y="3392424"/>
            <a:ext cx="420624" cy="420624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56432"/>
            <a:ext cx="42062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36192" y="3383280"/>
            <a:ext cx="6583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4000"/>
              </a:lnSpc>
              <a:spcAft>
                <a:spcPts val="0"/>
              </a:spcAft>
            </a:pPr>
            <a:r>
              <a:rPr sz="1250" b="0" i="0">
                <a:solidFill>
                  <a:srgbClr val="2C3A33"/>
                </a:solidFill>
                <a:latin typeface="Karla"/>
              </a:rPr>
              <a:t>What would you have to change the night before to make this easy?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151376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256B4A"/>
                </a:solidFill>
                <a:latin typeface="Karla"/>
              </a:rPr>
              <a:t>The third question is the useful one, because most of this gets decided the night before.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256B4A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256B4A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C3A33"/>
                </a:solidFill>
                <a:latin typeface="Libre Caslon Display"/>
              </a:rPr>
              <a:t>We are making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5F6B64"/>
                </a:solidFill>
                <a:latin typeface="Karla"/>
              </a:rPr>
              <a:t>Your teacher has picked one of these three. All of them hit all four criteria.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504" y="2313432"/>
            <a:ext cx="310896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Pinwheel wraps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Soft cheese, avocado and grated veg, rolled 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EEF3F1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231343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02152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Oat and seed balls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banana and seeds. No baking, no nuts.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1993392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CBDF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85416"/>
            <a:ext cx="566928" cy="566928"/>
          </a:xfrm>
          <a:prstGeom prst="ellipse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bow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13432"/>
            <a:ext cx="310896" cy="31089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72200" y="2871216"/>
            <a:ext cx="2139696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Libre Caslon Display"/>
              </a:rPr>
              <a:t>Fruit and yoghurt pots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5F6B64"/>
                </a:solidFill>
                <a:latin typeface="Karla"/>
              </a:rPr>
              <a:t>Oats, yoghurt, fruit and seeds, layered.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256B4A"/>
                </a:solidFill>
                <a:latin typeface="Karla"/>
              </a:rPr>
              <a:t>You do not need to bring anything; the ingredients are provided. Tell your teacher today about any allergy.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56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CBDFD6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43584"/>
            <a:ext cx="80467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600" b="1" i="0">
                <a:solidFill>
                  <a:srgbClr val="FFFDF7"/>
                </a:solidFill>
                <a:latin typeface="Libre Caslon Display"/>
              </a:rPr>
              <a:t>It is not what you ate.</a:t>
            </a:r>
            <a:br/>
            <a:r>
              <a:rPr sz="3600" b="1" i="0">
                <a:solidFill>
                  <a:srgbClr val="FFFDF7"/>
                </a:solidFill>
                <a:latin typeface="Libre Caslon Display"/>
              </a:rPr>
              <a:t>It is what you ate it with.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45536"/>
            <a:ext cx="1005840" cy="18288"/>
          </a:xfrm>
          <a:prstGeom prst="rect">
            <a:avLst/>
          </a:prstGeom>
          <a:solidFill>
            <a:srgbClr val="69B9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CBDFD6"/>
                </a:solidFill>
                <a:latin typeface="Karla"/>
              </a:rPr>
              <a:t>Add protein, fibre or a healthy fat to what you were going to eat anyway.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CBDFD6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CBDFD6"/>
                </a:solidFill>
                <a:latin typeface="Karla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E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243584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256B4A"/>
                </a:solidFill>
                <a:latin typeface="Libre Caslon Display"/>
              </a:rPr>
              <a:t>Bring your criteria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5F6B64"/>
                </a:solidFill>
                <a:latin typeface="Karla"/>
              </a:rPr>
              <a:t>You are going to build something that meets them,</a:t>
            </a:r>
            <a:br/>
            <a:r>
              <a:rPr sz="1300" b="0" i="0">
                <a:solidFill>
                  <a:srgbClr val="5F6B64"/>
                </a:solidFill>
                <a:latin typeface="Karla"/>
              </a:rPr>
              <a:t>and then find out whether it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8A29B"/>
                </a:solidFill>
                <a:latin typeface="Karla"/>
              </a:rPr>
              <a:t>Fuel and Focus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8A29B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8A29B"/>
                </a:solidFill>
                <a:latin typeface="Karla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>The Pastoral Guide</Company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Fuel and Focus: lesson 1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