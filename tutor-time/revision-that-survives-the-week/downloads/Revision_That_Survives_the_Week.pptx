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rk.png"/>
          <p:cNvPicPr>
            <a:picLocks noChangeAspect="1"/>
          </p:cNvPicPr>
          <p:nvPr/>
        </p:nvPicPr>
        <p:blipFill>
          <a:blip r:embed="rId2"/>
          <a:stretch>
            <a:fillRect/>
          </a:stretch>
        </p:blipFill>
        <p:spPr>
          <a:xfrm>
            <a:off x="4168146" y="640080"/>
            <a:ext cx="807707" cy="932688"/>
          </a:xfrm>
          <a:prstGeom prst="rect">
            <a:avLst/>
          </a:prstGeom>
        </p:spPr>
      </p:pic>
      <p:sp>
        <p:nvSpPr>
          <p:cNvPr id="4" name="TextBox 3"/>
          <p:cNvSpPr txBox="1"/>
          <p:nvPr/>
        </p:nvSpPr>
        <p:spPr>
          <a:xfrm>
            <a:off x="548640" y="1485900"/>
            <a:ext cx="8046720" cy="1197864"/>
          </a:xfrm>
          <a:prstGeom prst="rect">
            <a:avLst/>
          </a:prstGeom>
          <a:noFill/>
        </p:spPr>
        <p:txBody>
          <a:bodyPr wrap="square" anchor="t" lIns="0" rIns="0" tIns="0" bIns="0">
            <a:spAutoFit/>
          </a:bodyPr>
          <a:lstStyle/>
          <a:p>
            <a:pPr algn="ctr">
              <a:lnSpc>
                <a:spcPct val="105000"/>
              </a:lnSpc>
              <a:spcAft>
                <a:spcPts val="0"/>
              </a:spcAft>
            </a:pPr>
            <a:r>
              <a:rPr sz="3600" b="0" i="0">
                <a:solidFill>
                  <a:srgbClr val="2E3570"/>
                </a:solidFill>
                <a:latin typeface="Georgia"/>
              </a:rPr>
              <a:t>Revision That</a:t>
            </a:r>
            <a:br>
              <a:rPr lang="en-GB"/>
            </a:br>
            <a:r>
              <a:rPr sz="3600" b="0" i="0">
                <a:solidFill>
                  <a:srgbClr val="2E3570"/>
                </a:solidFill>
                <a:latin typeface="Georgia"/>
              </a:rPr>
              <a:t>Survives the Week</a:t>
            </a:r>
          </a:p>
        </p:txBody>
      </p:sp>
      <p:sp>
        <p:nvSpPr>
          <p:cNvPr id="5" name="Rectangle 4"/>
          <p:cNvSpPr/>
          <p:nvPr/>
        </p:nvSpPr>
        <p:spPr>
          <a:xfrm>
            <a:off x="4069080" y="2816352"/>
            <a:ext cx="1005840" cy="18288"/>
          </a:xfrm>
          <a:prstGeom prst="rect">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017520"/>
            <a:ext cx="7680960" cy="365760"/>
          </a:xfrm>
          <a:prstGeom prst="rect">
            <a:avLst/>
          </a:prstGeom>
          <a:noFill/>
        </p:spPr>
        <p:txBody>
          <a:bodyPr wrap="square" anchor="t" lIns="0" rIns="0" tIns="0" bIns="0">
            <a:spAutoFit/>
          </a:bodyPr>
          <a:lstStyle/>
          <a:p>
            <a:pPr algn="ctr">
              <a:lnSpc>
                <a:spcPct val="125000"/>
              </a:lnSpc>
              <a:spcAft>
                <a:spcPts val="0"/>
              </a:spcAft>
            </a:pPr>
            <a:r>
              <a:rPr sz="1800" b="0" i="0">
                <a:solidFill>
                  <a:srgbClr val="5C6552"/>
                </a:solidFill>
                <a:latin typeface="Calibri"/>
              </a:rPr>
              <a:t>A revision plan that still works when the week goes wrong.</a:t>
            </a:r>
          </a:p>
        </p:txBody>
      </p:sp>
      <p:sp>
        <p:nvSpPr>
          <p:cNvPr id="7" name="TextBox 6"/>
          <p:cNvSpPr txBox="1"/>
          <p:nvPr/>
        </p:nvSpPr>
        <p:spPr>
          <a:xfrm>
            <a:off x="731520" y="3547872"/>
            <a:ext cx="7680960" cy="365760"/>
          </a:xfrm>
          <a:prstGeom prst="rect">
            <a:avLst/>
          </a:prstGeom>
          <a:noFill/>
        </p:spPr>
        <p:txBody>
          <a:bodyPr wrap="square" anchor="t" lIns="0" rIns="0" tIns="0" bIns="0">
            <a:spAutoFit/>
          </a:bodyPr>
          <a:lstStyle/>
          <a:p>
            <a:pPr algn="ctr">
              <a:lnSpc>
                <a:spcPct val="125000"/>
              </a:lnSpc>
              <a:spcAft>
                <a:spcPts val="0"/>
              </a:spcAft>
            </a:pPr>
            <a:r>
              <a:rPr sz="1300" b="0" i="0">
                <a:solidFill>
                  <a:srgbClr val="8B9179"/>
                </a:solidFill>
                <a:latin typeface="Calibri"/>
              </a:rPr>
              <a:t>Tutor Time  ·  a lesson for Year 10 to 13</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p:spPr>
      </p:pic>
      <p:sp>
        <p:nvSpPr>
          <p:cNvPr id="9" name="TextBox 8"/>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0" name="TextBox 9"/>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48640"/>
            <a:ext cx="2269682" cy="237744"/>
          </a:xfrm>
          <a:prstGeom prst="roundRect">
            <a:avLst>
              <a:gd name="adj" fmla="val 50000"/>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E3570"/>
                </a:solidFill>
                <a:latin typeface="Calibri"/>
              </a:rPr>
              <a:t>TEACHER SLIDE  ·  SKIP IT</a:t>
            </a: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Before the lesson</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5C6552"/>
                </a:solidFill>
                <a:latin typeface="Calibri"/>
              </a:rPr>
              <a:t>One sheet per student, in pencil. Nothing written today is collected.</a:t>
            </a:r>
          </a:p>
        </p:txBody>
      </p:sp>
      <p:sp>
        <p:nvSpPr>
          <p:cNvPr id="6" name="Rectangle 5"/>
          <p:cNvSpPr/>
          <p:nvPr/>
        </p:nvSpPr>
        <p:spPr>
          <a:xfrm>
            <a:off x="685800" y="1975104"/>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93976"/>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89988"/>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7568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Print the week sheet, one per student</a:t>
            </a:r>
          </a:p>
        </p:txBody>
      </p:sp>
      <p:sp>
        <p:nvSpPr>
          <p:cNvPr id="10" name="TextBox 9"/>
          <p:cNvSpPr txBox="1"/>
          <p:nvPr/>
        </p:nvSpPr>
        <p:spPr>
          <a:xfrm>
            <a:off x="1417320" y="2322576"/>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It is page 2 of the pack. Pencils, because the plan gets repaired three times.</a:t>
            </a:r>
          </a:p>
        </p:txBody>
      </p:sp>
      <p:sp>
        <p:nvSpPr>
          <p:cNvPr id="11" name="Rectangle 10"/>
          <p:cNvSpPr/>
          <p:nvPr/>
        </p:nvSpPr>
        <p:spPr>
          <a:xfrm>
            <a:off x="685800" y="2724912"/>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43784"/>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3979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2549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The three interruptions are slides 9, 10 and 11</a:t>
            </a:r>
          </a:p>
        </p:txBody>
      </p:sp>
      <p:sp>
        <p:nvSpPr>
          <p:cNvPr id="15" name="TextBox 14"/>
          <p:cNvSpPr txBox="1"/>
          <p:nvPr/>
        </p:nvSpPr>
        <p:spPr>
          <a:xfrm>
            <a:off x="1417320" y="3072384"/>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Read each one out, then give the room two minutes to repair the plan.</a:t>
            </a:r>
          </a:p>
        </p:txBody>
      </p:sp>
      <p:sp>
        <p:nvSpPr>
          <p:cNvPr id="16" name="Rectangle 15"/>
          <p:cNvSpPr/>
          <p:nvPr/>
        </p:nvSpPr>
        <p:spPr>
          <a:xfrm>
            <a:off x="685800" y="3474720"/>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93591"/>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89603"/>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75303"/>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Keep slide 17 for the Mondays after</a:t>
            </a:r>
          </a:p>
        </p:txBody>
      </p:sp>
      <p:sp>
        <p:nvSpPr>
          <p:cNvPr id="20" name="TextBox 19"/>
          <p:cNvSpPr txBox="1"/>
          <p:nvPr/>
        </p:nvSpPr>
        <p:spPr>
          <a:xfrm>
            <a:off x="1417320" y="3822191"/>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A two-minute check-in at registration.</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The pack has the hour minute by minute against these slide numbers.</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The last plan you made</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5C6552"/>
                </a:solidFill>
                <a:latin typeface="Calibri"/>
              </a:rPr>
              <a:t>Two minutes, on your own, nobody sees it.</a:t>
            </a:r>
          </a:p>
        </p:txBody>
      </p:sp>
      <p:sp>
        <p:nvSpPr>
          <p:cNvPr id="6" name="Rectangle 5"/>
          <p:cNvSpPr/>
          <p:nvPr/>
        </p:nvSpPr>
        <p:spPr>
          <a:xfrm>
            <a:off x="685800" y="1956816"/>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66543"/>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6255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5740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When did you last make a revision timetable?</a:t>
            </a:r>
          </a:p>
        </p:txBody>
      </p:sp>
      <p:sp>
        <p:nvSpPr>
          <p:cNvPr id="10" name="TextBox 9"/>
          <p:cNvSpPr txBox="1"/>
          <p:nvPr/>
        </p:nvSpPr>
        <p:spPr>
          <a:xfrm>
            <a:off x="1417320" y="2304288"/>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A proper one, with days and subjects on it.</a:t>
            </a:r>
          </a:p>
        </p:txBody>
      </p:sp>
      <p:sp>
        <p:nvSpPr>
          <p:cNvPr id="11" name="Rectangle 10"/>
          <p:cNvSpPr/>
          <p:nvPr/>
        </p:nvSpPr>
        <p:spPr>
          <a:xfrm>
            <a:off x="685800" y="2706624"/>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16351"/>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12363"/>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0720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How long did it last?</a:t>
            </a:r>
          </a:p>
        </p:txBody>
      </p:sp>
      <p:sp>
        <p:nvSpPr>
          <p:cNvPr id="15" name="TextBox 14"/>
          <p:cNvSpPr txBox="1"/>
          <p:nvPr/>
        </p:nvSpPr>
        <p:spPr>
          <a:xfrm>
            <a:off x="1417320" y="3054096"/>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Be honest. A day, a week, until the first thing came up?</a:t>
            </a:r>
          </a:p>
        </p:txBody>
      </p:sp>
      <p:sp>
        <p:nvSpPr>
          <p:cNvPr id="16" name="Rectangle 15"/>
          <p:cNvSpPr/>
          <p:nvPr/>
        </p:nvSpPr>
        <p:spPr>
          <a:xfrm>
            <a:off x="685800" y="3456432"/>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66160"/>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62172"/>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570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What happened to it?</a:t>
            </a:r>
          </a:p>
        </p:txBody>
      </p:sp>
      <p:sp>
        <p:nvSpPr>
          <p:cNvPr id="20" name="TextBox 19"/>
          <p:cNvSpPr txBox="1"/>
          <p:nvPr/>
        </p:nvSpPr>
        <p:spPr>
          <a:xfrm>
            <a:off x="1417320" y="3803904"/>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Not why it failed. Just what happened.</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Keep the answer. The lesson is about the thing that happened.</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What usually happens to a plan</a:t>
            </a:r>
          </a:p>
        </p:txBody>
      </p:sp>
      <p:sp>
        <p:nvSpPr>
          <p:cNvPr id="5" name="Rectangle 4"/>
          <p:cNvSpPr/>
          <p:nvPr/>
        </p:nvSpPr>
        <p:spPr>
          <a:xfrm>
            <a:off x="685800" y="1627632"/>
            <a:ext cx="7772400" cy="516635"/>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684782"/>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80794"/>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8" name="TextBox 7"/>
          <p:cNvSpPr txBox="1"/>
          <p:nvPr/>
        </p:nvSpPr>
        <p:spPr>
          <a:xfrm>
            <a:off x="1417320" y="17282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Monday looked fine</a:t>
            </a:r>
          </a:p>
        </p:txBody>
      </p:sp>
      <p:sp>
        <p:nvSpPr>
          <p:cNvPr id="9" name="TextBox 8"/>
          <p:cNvSpPr txBox="1"/>
          <p:nvPr/>
        </p:nvSpPr>
        <p:spPr>
          <a:xfrm>
            <a:off x="1417320" y="1975104"/>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Every evening was free on paper, and the plan filled all of them.</a:t>
            </a:r>
          </a:p>
        </p:txBody>
      </p:sp>
      <p:sp>
        <p:nvSpPr>
          <p:cNvPr id="10" name="Rectangle 9"/>
          <p:cNvSpPr/>
          <p:nvPr/>
        </p:nvSpPr>
        <p:spPr>
          <a:xfrm>
            <a:off x="685800" y="2272284"/>
            <a:ext cx="7772400" cy="516635"/>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8680" y="2329434"/>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42544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3" name="TextBox 12"/>
          <p:cNvSpPr txBox="1"/>
          <p:nvPr/>
        </p:nvSpPr>
        <p:spPr>
          <a:xfrm>
            <a:off x="1417320" y="237286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Tuesday, something came up</a:t>
            </a:r>
          </a:p>
        </p:txBody>
      </p:sp>
      <p:sp>
        <p:nvSpPr>
          <p:cNvPr id="14" name="TextBox 13"/>
          <p:cNvSpPr txBox="1"/>
          <p:nvPr/>
        </p:nvSpPr>
        <p:spPr>
          <a:xfrm>
            <a:off x="1417320" y="2619756"/>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It was not your fault, and there was no space in the plan for it.</a:t>
            </a:r>
          </a:p>
        </p:txBody>
      </p:sp>
      <p:sp>
        <p:nvSpPr>
          <p:cNvPr id="15" name="Rectangle 14"/>
          <p:cNvSpPr/>
          <p:nvPr/>
        </p:nvSpPr>
        <p:spPr>
          <a:xfrm>
            <a:off x="685800" y="2916936"/>
            <a:ext cx="7772400" cy="516635"/>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2974086"/>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070098"/>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8" name="TextBox 17"/>
          <p:cNvSpPr txBox="1"/>
          <p:nvPr/>
        </p:nvSpPr>
        <p:spPr>
          <a:xfrm>
            <a:off x="1417320" y="301752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Thursday was a rescue</a:t>
            </a:r>
          </a:p>
        </p:txBody>
      </p:sp>
      <p:sp>
        <p:nvSpPr>
          <p:cNvPr id="19" name="TextBox 18"/>
          <p:cNvSpPr txBox="1"/>
          <p:nvPr/>
        </p:nvSpPr>
        <p:spPr>
          <a:xfrm>
            <a:off x="1417320" y="3264408"/>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Everything that had moved was now on Thursday, which was already full.</a:t>
            </a:r>
          </a:p>
        </p:txBody>
      </p:sp>
      <p:sp>
        <p:nvSpPr>
          <p:cNvPr id="20" name="Rectangle 19"/>
          <p:cNvSpPr/>
          <p:nvPr/>
        </p:nvSpPr>
        <p:spPr>
          <a:xfrm>
            <a:off x="685800" y="3561587"/>
            <a:ext cx="7772400" cy="516635"/>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8680" y="3618737"/>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714749"/>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4</a:t>
            </a:r>
          </a:p>
        </p:txBody>
      </p:sp>
      <p:sp>
        <p:nvSpPr>
          <p:cNvPr id="23" name="TextBox 22"/>
          <p:cNvSpPr txBox="1"/>
          <p:nvPr/>
        </p:nvSpPr>
        <p:spPr>
          <a:xfrm>
            <a:off x="1417320" y="3662172"/>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Then nothing</a:t>
            </a:r>
          </a:p>
        </p:txBody>
      </p:sp>
      <p:sp>
        <p:nvSpPr>
          <p:cNvPr id="24" name="TextBox 23"/>
          <p:cNvSpPr txBox="1"/>
          <p:nvPr/>
        </p:nvSpPr>
        <p:spPr>
          <a:xfrm>
            <a:off x="1417320" y="3909059"/>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The plan was two days behind, so it stopped being a plan.</a:t>
            </a:r>
          </a:p>
        </p:txBody>
      </p:sp>
      <p:sp>
        <p:nvSpPr>
          <p:cNvPr id="25" name="TextBox 24"/>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The plan did not fail because you did. It failed because it was written for a week that does not exist.</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Two kinds of plan</a:t>
            </a:r>
          </a:p>
        </p:txBody>
      </p:sp>
      <p:sp>
        <p:nvSpPr>
          <p:cNvPr id="5" name="Rectangle 4"/>
          <p:cNvSpPr/>
          <p:nvPr/>
        </p:nvSpPr>
        <p:spPr>
          <a:xfrm>
            <a:off x="685800" y="1627632"/>
            <a:ext cx="3730752" cy="224942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83664"/>
            <a:ext cx="3182112" cy="274320"/>
          </a:xfrm>
          <a:prstGeom prst="rect">
            <a:avLst/>
          </a:prstGeom>
          <a:noFill/>
        </p:spPr>
        <p:txBody>
          <a:bodyPr wrap="square" anchor="t" lIns="0" rIns="0" tIns="0" bIns="0">
            <a:spAutoFit/>
          </a:bodyPr>
          <a:lstStyle/>
          <a:p>
            <a:pPr algn="l">
              <a:lnSpc>
                <a:spcPct val="125000"/>
              </a:lnSpc>
              <a:spcAft>
                <a:spcPts val="0"/>
              </a:spcAft>
            </a:pPr>
            <a:r>
              <a:rPr sz="1350" b="0" i="0">
                <a:solidFill>
                  <a:srgbClr val="2E3570"/>
                </a:solidFill>
                <a:latin typeface="Georgia"/>
              </a:rPr>
              <a:t>A plan for a perfect week</a:t>
            </a:r>
          </a:p>
        </p:txBody>
      </p:sp>
      <p:sp>
        <p:nvSpPr>
          <p:cNvPr id="7" name="Oval 6"/>
          <p:cNvSpPr/>
          <p:nvPr/>
        </p:nvSpPr>
        <p:spPr>
          <a:xfrm>
            <a:off x="1005839" y="2359152"/>
            <a:ext cx="91440" cy="91440"/>
          </a:xfrm>
          <a:prstGeom prst="ellipse">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304288"/>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2E3436"/>
                </a:solidFill>
                <a:latin typeface="Calibri"/>
              </a:rPr>
              <a:t>Every evening is free.</a:t>
            </a:r>
          </a:p>
        </p:txBody>
      </p:sp>
      <p:sp>
        <p:nvSpPr>
          <p:cNvPr id="9" name="Oval 8"/>
          <p:cNvSpPr/>
          <p:nvPr/>
        </p:nvSpPr>
        <p:spPr>
          <a:xfrm>
            <a:off x="1005839" y="2724912"/>
            <a:ext cx="91440" cy="91440"/>
          </a:xfrm>
          <a:prstGeom prst="ellipse">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2670048"/>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2E3436"/>
                </a:solidFill>
                <a:latin typeface="Calibri"/>
              </a:rPr>
              <a:t>Nobody needs you for anything.</a:t>
            </a:r>
          </a:p>
        </p:txBody>
      </p:sp>
      <p:sp>
        <p:nvSpPr>
          <p:cNvPr id="11" name="Oval 10"/>
          <p:cNvSpPr/>
          <p:nvPr/>
        </p:nvSpPr>
        <p:spPr>
          <a:xfrm>
            <a:off x="1005839" y="3090672"/>
            <a:ext cx="91440" cy="91440"/>
          </a:xfrm>
          <a:prstGeom prst="ellipse">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3035808"/>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2E3436"/>
                </a:solidFill>
                <a:latin typeface="Calibri"/>
              </a:rPr>
              <a:t>You feel like it every night.</a:t>
            </a:r>
          </a:p>
        </p:txBody>
      </p:sp>
      <p:sp>
        <p:nvSpPr>
          <p:cNvPr id="13" name="Oval 12"/>
          <p:cNvSpPr/>
          <p:nvPr/>
        </p:nvSpPr>
        <p:spPr>
          <a:xfrm>
            <a:off x="1005839" y="3456432"/>
            <a:ext cx="91440" cy="91440"/>
          </a:xfrm>
          <a:prstGeom prst="ellipse">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3401568"/>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2E3436"/>
                </a:solidFill>
                <a:latin typeface="Calibri"/>
              </a:rPr>
              <a:t>One missed session breaks it.</a:t>
            </a:r>
          </a:p>
        </p:txBody>
      </p:sp>
      <p:sp>
        <p:nvSpPr>
          <p:cNvPr id="15" name="Rectangle 14"/>
          <p:cNvSpPr/>
          <p:nvPr/>
        </p:nvSpPr>
        <p:spPr>
          <a:xfrm>
            <a:off x="4727448" y="1627632"/>
            <a:ext cx="3730752" cy="224942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1883664"/>
            <a:ext cx="3182112" cy="274320"/>
          </a:xfrm>
          <a:prstGeom prst="rect">
            <a:avLst/>
          </a:prstGeom>
          <a:noFill/>
        </p:spPr>
        <p:txBody>
          <a:bodyPr wrap="square" anchor="t" lIns="0" rIns="0" tIns="0" bIns="0">
            <a:spAutoFit/>
          </a:bodyPr>
          <a:lstStyle/>
          <a:p>
            <a:pPr algn="l">
              <a:lnSpc>
                <a:spcPct val="125000"/>
              </a:lnSpc>
              <a:spcAft>
                <a:spcPts val="0"/>
              </a:spcAft>
            </a:pPr>
            <a:r>
              <a:rPr sz="1350" b="0" i="0">
                <a:solidFill>
                  <a:srgbClr val="2E3570"/>
                </a:solidFill>
                <a:latin typeface="Georgia"/>
              </a:rPr>
              <a:t>A plan for a real week</a:t>
            </a:r>
          </a:p>
        </p:txBody>
      </p:sp>
      <p:sp>
        <p:nvSpPr>
          <p:cNvPr id="17" name="Oval 16"/>
          <p:cNvSpPr/>
          <p:nvPr/>
        </p:nvSpPr>
        <p:spPr>
          <a:xfrm>
            <a:off x="5047488" y="2359152"/>
            <a:ext cx="91440" cy="91440"/>
          </a:xfrm>
          <a:prstGeom prst="ellipse">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76088" y="2304288"/>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2E3436"/>
                </a:solidFill>
                <a:latin typeface="Calibri"/>
              </a:rPr>
              <a:t>One evening is going to be lost.</a:t>
            </a:r>
          </a:p>
        </p:txBody>
      </p:sp>
      <p:sp>
        <p:nvSpPr>
          <p:cNvPr id="19" name="Oval 18"/>
          <p:cNvSpPr/>
          <p:nvPr/>
        </p:nvSpPr>
        <p:spPr>
          <a:xfrm>
            <a:off x="5047488" y="2679271"/>
            <a:ext cx="91440" cy="91440"/>
          </a:xfrm>
          <a:prstGeom prst="ellipse">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76088" y="2624407"/>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2E3436"/>
                </a:solidFill>
                <a:latin typeface="Calibri"/>
              </a:rPr>
              <a:t>Something will move.</a:t>
            </a:r>
          </a:p>
        </p:txBody>
      </p:sp>
      <p:sp>
        <p:nvSpPr>
          <p:cNvPr id="21" name="Oval 20"/>
          <p:cNvSpPr/>
          <p:nvPr/>
        </p:nvSpPr>
        <p:spPr>
          <a:xfrm>
            <a:off x="5047488" y="2999390"/>
            <a:ext cx="91440" cy="91440"/>
          </a:xfrm>
          <a:prstGeom prst="ellipse">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76088" y="2944526"/>
            <a:ext cx="2889504" cy="365125"/>
          </a:xfrm>
          <a:prstGeom prst="rect">
            <a:avLst/>
          </a:prstGeom>
          <a:noFill/>
        </p:spPr>
        <p:txBody>
          <a:bodyPr wrap="square" anchor="t" lIns="0" rIns="0" tIns="0" bIns="0">
            <a:spAutoFit/>
          </a:bodyPr>
          <a:lstStyle/>
          <a:p>
            <a:pPr algn="l">
              <a:lnSpc>
                <a:spcPct val="125000"/>
              </a:lnSpc>
              <a:spcAft>
                <a:spcPts val="0"/>
              </a:spcAft>
            </a:pPr>
            <a:r>
              <a:rPr sz="1150" b="0" i="0">
                <a:solidFill>
                  <a:srgbClr val="2E3436"/>
                </a:solidFill>
                <a:latin typeface="Calibri"/>
              </a:rPr>
              <a:t>Some sessions are twenty-five minutes.</a:t>
            </a:r>
          </a:p>
        </p:txBody>
      </p:sp>
      <p:sp>
        <p:nvSpPr>
          <p:cNvPr id="23" name="Oval 22"/>
          <p:cNvSpPr/>
          <p:nvPr/>
        </p:nvSpPr>
        <p:spPr>
          <a:xfrm>
            <a:off x="5047488" y="3502072"/>
            <a:ext cx="91440" cy="91440"/>
          </a:xfrm>
          <a:prstGeom prst="ellipse">
            <a:avLst/>
          </a:prstGeom>
          <a:solidFill>
            <a:srgbClr val="6A70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76088" y="3447208"/>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2E3436"/>
                </a:solidFill>
                <a:latin typeface="Calibri"/>
              </a:rPr>
              <a:t>There is a slot with nothing in it.</a:t>
            </a:r>
          </a:p>
        </p:txBody>
      </p:sp>
      <p:sp>
        <p:nvSpPr>
          <p:cNvPr id="25" name="TextBox 24"/>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You are going to write the second one.</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Four rules that keep a plan alive</a:t>
            </a:r>
          </a:p>
        </p:txBody>
      </p:sp>
      <p:sp>
        <p:nvSpPr>
          <p:cNvPr id="5" name="Rectangle 4"/>
          <p:cNvSpPr/>
          <p:nvPr/>
        </p:nvSpPr>
        <p:spPr>
          <a:xfrm>
            <a:off x="685800" y="1627632"/>
            <a:ext cx="3749039" cy="113385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65376"/>
            <a:ext cx="658368" cy="658368"/>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ck.png"/>
          <p:cNvPicPr>
            <a:picLocks noChangeAspect="1"/>
          </p:cNvPicPr>
          <p:nvPr/>
        </p:nvPicPr>
        <p:blipFill>
          <a:blip r:embed="rId2"/>
          <a:stretch>
            <a:fillRect/>
          </a:stretch>
        </p:blipFill>
        <p:spPr>
          <a:xfrm>
            <a:off x="1005840" y="2002536"/>
            <a:ext cx="384048" cy="384048"/>
          </a:xfrm>
          <a:prstGeom prst="rect">
            <a:avLst/>
          </a:prstGeom>
        </p:spPr>
      </p:pic>
      <p:sp>
        <p:nvSpPr>
          <p:cNvPr id="8" name="TextBox 7"/>
          <p:cNvSpPr txBox="1"/>
          <p:nvPr/>
        </p:nvSpPr>
        <p:spPr>
          <a:xfrm>
            <a:off x="1655064" y="1901952"/>
            <a:ext cx="2596896" cy="310896"/>
          </a:xfrm>
          <a:prstGeom prst="rect">
            <a:avLst/>
          </a:prstGeom>
          <a:noFill/>
        </p:spPr>
        <p:txBody>
          <a:bodyPr wrap="square" anchor="t" lIns="0" rIns="0" tIns="0" bIns="0">
            <a:spAutoFit/>
          </a:bodyPr>
          <a:lstStyle/>
          <a:p>
            <a:pPr algn="l">
              <a:lnSpc>
                <a:spcPct val="125000"/>
              </a:lnSpc>
              <a:spcAft>
                <a:spcPts val="0"/>
              </a:spcAft>
            </a:pPr>
            <a:r>
              <a:rPr sz="1400" b="0" i="0">
                <a:solidFill>
                  <a:srgbClr val="2E3570"/>
                </a:solidFill>
                <a:latin typeface="Georgia"/>
              </a:rPr>
              <a:t>Small sessions</a:t>
            </a:r>
          </a:p>
        </p:txBody>
      </p:sp>
      <p:sp>
        <p:nvSpPr>
          <p:cNvPr id="9" name="TextBox 8"/>
          <p:cNvSpPr txBox="1"/>
          <p:nvPr/>
        </p:nvSpPr>
        <p:spPr>
          <a:xfrm>
            <a:off x="1655064" y="2249424"/>
            <a:ext cx="2596896" cy="438912"/>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Twenty-five minutes, one thing. Small enough to do on a bad night.</a:t>
            </a:r>
          </a:p>
        </p:txBody>
      </p:sp>
      <p:sp>
        <p:nvSpPr>
          <p:cNvPr id="10" name="Rectangle 9"/>
          <p:cNvSpPr/>
          <p:nvPr/>
        </p:nvSpPr>
        <p:spPr>
          <a:xfrm>
            <a:off x="4709159" y="1627632"/>
            <a:ext cx="3749039" cy="113385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892039" y="1865376"/>
            <a:ext cx="658368" cy="658368"/>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en.png"/>
          <p:cNvPicPr>
            <a:picLocks noChangeAspect="1"/>
          </p:cNvPicPr>
          <p:nvPr/>
        </p:nvPicPr>
        <p:blipFill>
          <a:blip r:embed="rId3"/>
          <a:stretch>
            <a:fillRect/>
          </a:stretch>
        </p:blipFill>
        <p:spPr>
          <a:xfrm>
            <a:off x="5029199" y="2002536"/>
            <a:ext cx="384048" cy="384048"/>
          </a:xfrm>
          <a:prstGeom prst="rect">
            <a:avLst/>
          </a:prstGeom>
        </p:spPr>
      </p:pic>
      <p:sp>
        <p:nvSpPr>
          <p:cNvPr id="13" name="TextBox 12"/>
          <p:cNvSpPr txBox="1"/>
          <p:nvPr/>
        </p:nvSpPr>
        <p:spPr>
          <a:xfrm>
            <a:off x="5678423" y="1901952"/>
            <a:ext cx="2596896" cy="310896"/>
          </a:xfrm>
          <a:prstGeom prst="rect">
            <a:avLst/>
          </a:prstGeom>
          <a:noFill/>
        </p:spPr>
        <p:txBody>
          <a:bodyPr wrap="square" anchor="t" lIns="0" rIns="0" tIns="0" bIns="0">
            <a:spAutoFit/>
          </a:bodyPr>
          <a:lstStyle/>
          <a:p>
            <a:pPr algn="l">
              <a:lnSpc>
                <a:spcPct val="125000"/>
              </a:lnSpc>
              <a:spcAft>
                <a:spcPts val="0"/>
              </a:spcAft>
            </a:pPr>
            <a:r>
              <a:rPr sz="1400" b="0" i="0">
                <a:solidFill>
                  <a:srgbClr val="2E3570"/>
                </a:solidFill>
                <a:latin typeface="Georgia"/>
              </a:rPr>
              <a:t>Named, not vague</a:t>
            </a:r>
          </a:p>
        </p:txBody>
      </p:sp>
      <p:sp>
        <p:nvSpPr>
          <p:cNvPr id="14" name="TextBox 13"/>
          <p:cNvSpPr txBox="1"/>
          <p:nvPr/>
        </p:nvSpPr>
        <p:spPr>
          <a:xfrm>
            <a:off x="5678423" y="2249424"/>
            <a:ext cx="2596896" cy="438912"/>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“Biology: cells, questions 1 to 10” is a session. “Revise biology” is not.</a:t>
            </a:r>
          </a:p>
        </p:txBody>
      </p:sp>
      <p:sp>
        <p:nvSpPr>
          <p:cNvPr id="15" name="Rectangle 14"/>
          <p:cNvSpPr/>
          <p:nvPr/>
        </p:nvSpPr>
        <p:spPr>
          <a:xfrm>
            <a:off x="685800" y="2926080"/>
            <a:ext cx="3749039" cy="113385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3163824"/>
            <a:ext cx="658368" cy="658368"/>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alendar.png"/>
          <p:cNvPicPr>
            <a:picLocks noChangeAspect="1"/>
          </p:cNvPicPr>
          <p:nvPr/>
        </p:nvPicPr>
        <p:blipFill>
          <a:blip r:embed="rId4"/>
          <a:stretch>
            <a:fillRect/>
          </a:stretch>
        </p:blipFill>
        <p:spPr>
          <a:xfrm>
            <a:off x="1005840" y="3300984"/>
            <a:ext cx="384048" cy="384048"/>
          </a:xfrm>
          <a:prstGeom prst="rect">
            <a:avLst/>
          </a:prstGeom>
        </p:spPr>
      </p:pic>
      <p:sp>
        <p:nvSpPr>
          <p:cNvPr id="18" name="TextBox 17"/>
          <p:cNvSpPr txBox="1"/>
          <p:nvPr/>
        </p:nvSpPr>
        <p:spPr>
          <a:xfrm>
            <a:off x="1655064" y="3200400"/>
            <a:ext cx="2596896" cy="310896"/>
          </a:xfrm>
          <a:prstGeom prst="rect">
            <a:avLst/>
          </a:prstGeom>
          <a:noFill/>
        </p:spPr>
        <p:txBody>
          <a:bodyPr wrap="square" anchor="t" lIns="0" rIns="0" tIns="0" bIns="0">
            <a:spAutoFit/>
          </a:bodyPr>
          <a:lstStyle/>
          <a:p>
            <a:pPr algn="l">
              <a:lnSpc>
                <a:spcPct val="125000"/>
              </a:lnSpc>
              <a:spcAft>
                <a:spcPts val="0"/>
              </a:spcAft>
            </a:pPr>
            <a:r>
              <a:rPr sz="1400" b="0" i="0">
                <a:solidFill>
                  <a:srgbClr val="2E3570"/>
                </a:solidFill>
                <a:latin typeface="Georgia"/>
              </a:rPr>
              <a:t>One spare slot</a:t>
            </a:r>
          </a:p>
        </p:txBody>
      </p:sp>
      <p:sp>
        <p:nvSpPr>
          <p:cNvPr id="19" name="TextBox 18"/>
          <p:cNvSpPr txBox="1"/>
          <p:nvPr/>
        </p:nvSpPr>
        <p:spPr>
          <a:xfrm>
            <a:off x="1655064" y="3547872"/>
            <a:ext cx="2596896" cy="438912"/>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One evening with nothing in it, on purpose. Moved sessions go there.</a:t>
            </a:r>
          </a:p>
        </p:txBody>
      </p:sp>
      <p:sp>
        <p:nvSpPr>
          <p:cNvPr id="20" name="Rectangle 19"/>
          <p:cNvSpPr/>
          <p:nvPr/>
        </p:nvSpPr>
        <p:spPr>
          <a:xfrm>
            <a:off x="4709159" y="2926080"/>
            <a:ext cx="3749039" cy="113385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92039" y="3163824"/>
            <a:ext cx="658368" cy="658368"/>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ards.png"/>
          <p:cNvPicPr>
            <a:picLocks noChangeAspect="1"/>
          </p:cNvPicPr>
          <p:nvPr/>
        </p:nvPicPr>
        <p:blipFill>
          <a:blip r:embed="rId5"/>
          <a:stretch>
            <a:fillRect/>
          </a:stretch>
        </p:blipFill>
        <p:spPr>
          <a:xfrm>
            <a:off x="5029199" y="3300984"/>
            <a:ext cx="384048" cy="384048"/>
          </a:xfrm>
          <a:prstGeom prst="rect">
            <a:avLst/>
          </a:prstGeom>
        </p:spPr>
      </p:pic>
      <p:sp>
        <p:nvSpPr>
          <p:cNvPr id="23" name="TextBox 22"/>
          <p:cNvSpPr txBox="1"/>
          <p:nvPr/>
        </p:nvSpPr>
        <p:spPr>
          <a:xfrm>
            <a:off x="5678423" y="3200400"/>
            <a:ext cx="2596896" cy="310896"/>
          </a:xfrm>
          <a:prstGeom prst="rect">
            <a:avLst/>
          </a:prstGeom>
          <a:noFill/>
        </p:spPr>
        <p:txBody>
          <a:bodyPr wrap="square" anchor="t" lIns="0" rIns="0" tIns="0" bIns="0">
            <a:spAutoFit/>
          </a:bodyPr>
          <a:lstStyle/>
          <a:p>
            <a:pPr algn="l">
              <a:lnSpc>
                <a:spcPct val="125000"/>
              </a:lnSpc>
              <a:spcAft>
                <a:spcPts val="0"/>
              </a:spcAft>
            </a:pPr>
            <a:r>
              <a:rPr sz="1400" b="0" i="0">
                <a:solidFill>
                  <a:srgbClr val="2E3570"/>
                </a:solidFill>
                <a:latin typeface="Georgia"/>
              </a:rPr>
              <a:t>Next week, not the term</a:t>
            </a:r>
          </a:p>
        </p:txBody>
      </p:sp>
      <p:sp>
        <p:nvSpPr>
          <p:cNvPr id="24" name="TextBox 23"/>
          <p:cNvSpPr txBox="1"/>
          <p:nvPr/>
        </p:nvSpPr>
        <p:spPr>
          <a:xfrm>
            <a:off x="5678423" y="3547872"/>
            <a:ext cx="2596896" cy="438912"/>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Sunday evening, plan seven days. A term plan is stale by Wednesday.</a:t>
            </a:r>
          </a:p>
        </p:txBody>
      </p:sp>
      <p:sp>
        <p:nvSpPr>
          <p:cNvPr id="25" name="TextBox 24"/>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Every repair you make later uses one of these four.</a:t>
            </a:r>
          </a:p>
        </p:txBody>
      </p:sp>
      <p:pic>
        <p:nvPicPr>
          <p:cNvPr id="26" name="Picture 25" descr="logo-mark.png"/>
          <p:cNvPicPr>
            <a:picLocks noChangeAspect="1"/>
          </p:cNvPicPr>
          <p:nvPr/>
        </p:nvPicPr>
        <p:blipFill>
          <a:blip r:embed="rId6"/>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One Monday, twice</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5C6552"/>
                </a:solidFill>
                <a:latin typeface="Calibri"/>
              </a:rPr>
              <a:t>The same evening, planned two ways.</a:t>
            </a:r>
          </a:p>
        </p:txBody>
      </p:sp>
      <p:sp>
        <p:nvSpPr>
          <p:cNvPr id="6" name="Rectangle 5"/>
          <p:cNvSpPr/>
          <p:nvPr/>
        </p:nvSpPr>
        <p:spPr>
          <a:xfrm>
            <a:off x="685800" y="1956816"/>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66543"/>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6255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5740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Revise maths, 6 until 9</a:t>
            </a:r>
          </a:p>
        </p:txBody>
      </p:sp>
      <p:sp>
        <p:nvSpPr>
          <p:cNvPr id="10" name="TextBox 9"/>
          <p:cNvSpPr txBox="1"/>
          <p:nvPr/>
        </p:nvSpPr>
        <p:spPr>
          <a:xfrm>
            <a:off x="1417320" y="2304288"/>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Three hours, no detail. By half past six it is something else.</a:t>
            </a:r>
          </a:p>
        </p:txBody>
      </p:sp>
      <p:sp>
        <p:nvSpPr>
          <p:cNvPr id="11" name="Rectangle 10"/>
          <p:cNvSpPr/>
          <p:nvPr/>
        </p:nvSpPr>
        <p:spPr>
          <a:xfrm>
            <a:off x="685800" y="2706624"/>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16351"/>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12363"/>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0720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Maths: quadratics, the ten questions on page 42, 6 until 6.25</a:t>
            </a:r>
          </a:p>
        </p:txBody>
      </p:sp>
      <p:sp>
        <p:nvSpPr>
          <p:cNvPr id="15" name="TextBox 14"/>
          <p:cNvSpPr txBox="1"/>
          <p:nvPr/>
        </p:nvSpPr>
        <p:spPr>
          <a:xfrm>
            <a:off x="1417320" y="3054096"/>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Twenty-five minutes with a finish line. It gets done, and it gets ticked.</a:t>
            </a:r>
          </a:p>
        </p:txBody>
      </p:sp>
      <p:sp>
        <p:nvSpPr>
          <p:cNvPr id="16" name="Rectangle 15"/>
          <p:cNvSpPr/>
          <p:nvPr/>
        </p:nvSpPr>
        <p:spPr>
          <a:xfrm>
            <a:off x="685800" y="3456432"/>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66160"/>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62172"/>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570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Then a second one, if the evening allows</a:t>
            </a:r>
          </a:p>
        </p:txBody>
      </p:sp>
      <p:sp>
        <p:nvSpPr>
          <p:cNvPr id="20" name="TextBox 19"/>
          <p:cNvSpPr txBox="1"/>
          <p:nvPr/>
        </p:nvSpPr>
        <p:spPr>
          <a:xfrm>
            <a:off x="1417320" y="3803904"/>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Chemistry: bonding, redo last week’s test, 7 until 7.25. If it does not, one is enough.</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Two short named sessions on a normal evening beat three hours on paper.</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Plan the seven days ahead</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5C6552"/>
                </a:solidFill>
                <a:latin typeface="Calibri"/>
              </a:rPr>
              <a:t>On the sheet, in pencil. This is a real week: the one that starts tomorrow.</a:t>
            </a:r>
          </a:p>
        </p:txBody>
      </p:sp>
      <p:sp>
        <p:nvSpPr>
          <p:cNvPr id="6" name="Rectangle 5"/>
          <p:cNvSpPr/>
          <p:nvPr/>
        </p:nvSpPr>
        <p:spPr>
          <a:xfrm>
            <a:off x="685800" y="1956816"/>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66543"/>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6255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5740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Up to two sessions a day, each one named</a:t>
            </a:r>
          </a:p>
        </p:txBody>
      </p:sp>
      <p:sp>
        <p:nvSpPr>
          <p:cNvPr id="10" name="TextBox 9"/>
          <p:cNvSpPr txBox="1"/>
          <p:nvPr/>
        </p:nvSpPr>
        <p:spPr>
          <a:xfrm>
            <a:off x="1417320" y="2304288"/>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Subject, topic, and what you will actually do. A page number is a good sign.</a:t>
            </a:r>
          </a:p>
        </p:txBody>
      </p:sp>
      <p:sp>
        <p:nvSpPr>
          <p:cNvPr id="11" name="Rectangle 10"/>
          <p:cNvSpPr/>
          <p:nvPr/>
        </p:nvSpPr>
        <p:spPr>
          <a:xfrm>
            <a:off x="685800" y="2706624"/>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16351"/>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12363"/>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0720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Leave one slot empty</a:t>
            </a:r>
          </a:p>
        </p:txBody>
      </p:sp>
      <p:sp>
        <p:nvSpPr>
          <p:cNvPr id="15" name="TextBox 14"/>
          <p:cNvSpPr txBox="1"/>
          <p:nvPr/>
        </p:nvSpPr>
        <p:spPr>
          <a:xfrm>
            <a:off x="1417320" y="3054096"/>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Cross it through and write SPARE. It is not a day off; it is where things go when they move.</a:t>
            </a:r>
          </a:p>
        </p:txBody>
      </p:sp>
      <p:sp>
        <p:nvSpPr>
          <p:cNvPr id="16" name="Rectangle 15"/>
          <p:cNvSpPr/>
          <p:nvPr/>
        </p:nvSpPr>
        <p:spPr>
          <a:xfrm>
            <a:off x="685800" y="3456432"/>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66160"/>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62172"/>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570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Put in the things that are already fixed</a:t>
            </a:r>
          </a:p>
        </p:txBody>
      </p:sp>
      <p:sp>
        <p:nvSpPr>
          <p:cNvPr id="20" name="TextBox 19"/>
          <p:cNvSpPr txBox="1"/>
          <p:nvPr/>
        </p:nvSpPr>
        <p:spPr>
          <a:xfrm>
            <a:off x="1417320" y="3803904"/>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Work shifts, training, family things, a birthday. Plan around them, not through them.</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Six minutes. If you finish early, make a session smaller.</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896112"/>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FFFDF7"/>
                </a:solidFill>
                <a:latin typeface="Georgia"/>
              </a:rPr>
              <a:t>Tuesday, late</a:t>
            </a:r>
          </a:p>
        </p:txBody>
      </p:sp>
      <p:sp>
        <p:nvSpPr>
          <p:cNvPr id="5" name="TextBox 4"/>
          <p:cNvSpPr txBox="1"/>
          <p:nvPr/>
        </p:nvSpPr>
        <p:spPr>
          <a:xfrm>
            <a:off x="685800" y="1645920"/>
            <a:ext cx="7772400" cy="1097280"/>
          </a:xfrm>
          <a:prstGeom prst="rect">
            <a:avLst/>
          </a:prstGeom>
          <a:noFill/>
        </p:spPr>
        <p:txBody>
          <a:bodyPr wrap="square" anchor="t" lIns="0" rIns="0" tIns="0" bIns="0">
            <a:spAutoFit/>
          </a:bodyPr>
          <a:lstStyle/>
          <a:p>
            <a:pPr algn="l">
              <a:lnSpc>
                <a:spcPct val="135000"/>
              </a:lnSpc>
              <a:spcAft>
                <a:spcPts val="0"/>
              </a:spcAft>
            </a:pPr>
            <a:r>
              <a:rPr sz="1600" b="0" i="0">
                <a:solidFill>
                  <a:srgbClr val="FFFDF7"/>
                </a:solidFill>
                <a:latin typeface="Calibri"/>
              </a:rPr>
              <a:t>You were going to do the maths session after tea. Instead something happened at home that was nobody’s fault, and you were up until one in the morning. This morning you slept through the alarm and missed the bus.</a:t>
            </a:r>
          </a:p>
        </p:txBody>
      </p:sp>
      <p:sp>
        <p:nvSpPr>
          <p:cNvPr id="6" name="Rounded Rectangle 5"/>
          <p:cNvSpPr/>
          <p:nvPr/>
        </p:nvSpPr>
        <p:spPr>
          <a:xfrm>
            <a:off x="685800" y="2944368"/>
            <a:ext cx="7772400" cy="658368"/>
          </a:xfrm>
          <a:prstGeom prst="roundRect">
            <a:avLst>
              <a:gd name="adj" fmla="val 8000"/>
            </a:avLst>
          </a:prstGeom>
          <a:solidFill>
            <a:srgbClr val="C9C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3072384"/>
            <a:ext cx="7296912" cy="438912"/>
          </a:xfrm>
          <a:prstGeom prst="rect">
            <a:avLst/>
          </a:prstGeom>
          <a:noFill/>
        </p:spPr>
        <p:txBody>
          <a:bodyPr wrap="square" anchor="ctr" lIns="0" rIns="0" tIns="0" bIns="0">
            <a:spAutoFit/>
          </a:bodyPr>
          <a:lstStyle/>
          <a:p>
            <a:pPr algn="l">
              <a:lnSpc>
                <a:spcPct val="125000"/>
              </a:lnSpc>
              <a:spcAft>
                <a:spcPts val="0"/>
              </a:spcAft>
            </a:pPr>
            <a:r>
              <a:rPr sz="1400" b="1" i="0">
                <a:solidFill>
                  <a:srgbClr val="2E3570"/>
                </a:solidFill>
                <a:latin typeface="Calibri"/>
              </a:rPr>
              <a:t>Tuesday’s sessions did not happen. Repair the plan: where do they go, and what gets smaller?</a:t>
            </a:r>
          </a:p>
        </p:txBody>
      </p:sp>
      <p:sp>
        <p:nvSpPr>
          <p:cNvPr id="8" name="TextBox 7"/>
          <p:cNvSpPr txBox="1"/>
          <p:nvPr/>
        </p:nvSpPr>
        <p:spPr>
          <a:xfrm>
            <a:off x="685800" y="3931920"/>
            <a:ext cx="7772400" cy="380999"/>
          </a:xfrm>
          <a:prstGeom prst="rect">
            <a:avLst/>
          </a:prstGeom>
          <a:noFill/>
        </p:spPr>
        <p:txBody>
          <a:bodyPr wrap="square" anchor="t" lIns="0" rIns="0" tIns="0" bIns="0">
            <a:spAutoFit/>
          </a:bodyPr>
          <a:lstStyle/>
          <a:p>
            <a:pPr algn="l">
              <a:lnSpc>
                <a:spcPct val="125000"/>
              </a:lnSpc>
              <a:spcAft>
                <a:spcPts val="0"/>
              </a:spcAft>
            </a:pPr>
            <a:r>
              <a:rPr sz="1200" b="0" i="1">
                <a:solidFill>
                  <a:srgbClr val="C9CCE6"/>
                </a:solidFill>
                <a:latin typeface="Calibri"/>
              </a:rPr>
              <a:t>Two minutes, on the sheet. Use the spare slot or shrink something; do not add a third session to Wednesday.</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C9CCE6"/>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C9CCE6"/>
                </a:solidFill>
                <a:latin typeface="Calibri"/>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896112"/>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FFFDF7"/>
                </a:solidFill>
                <a:latin typeface="Georgia"/>
              </a:rPr>
              <a:t>Thursday, four o’clock</a:t>
            </a:r>
          </a:p>
        </p:txBody>
      </p:sp>
      <p:sp>
        <p:nvSpPr>
          <p:cNvPr id="5" name="TextBox 4"/>
          <p:cNvSpPr txBox="1"/>
          <p:nvPr/>
        </p:nvSpPr>
        <p:spPr>
          <a:xfrm>
            <a:off x="685800" y="1645920"/>
            <a:ext cx="7772400" cy="1097280"/>
          </a:xfrm>
          <a:prstGeom prst="rect">
            <a:avLst/>
          </a:prstGeom>
          <a:noFill/>
        </p:spPr>
        <p:txBody>
          <a:bodyPr wrap="square" anchor="t" lIns="0" rIns="0" tIns="0" bIns="0">
            <a:spAutoFit/>
          </a:bodyPr>
          <a:lstStyle/>
          <a:p>
            <a:pPr algn="l">
              <a:lnSpc>
                <a:spcPct val="135000"/>
              </a:lnSpc>
              <a:spcAft>
                <a:spcPts val="0"/>
              </a:spcAft>
            </a:pPr>
            <a:r>
              <a:rPr sz="1600" b="0" i="0">
                <a:solidFill>
                  <a:srgbClr val="FFFDF7"/>
                </a:solidFill>
                <a:latin typeface="Calibri"/>
              </a:rPr>
              <a:t>A message at lunchtime. You are needed from four until nine on Thursday, and it is not up to you. Maybe it is a shift that moved, maybe it is looking after someone, maybe it is a lift you cannot say no to.</a:t>
            </a:r>
          </a:p>
        </p:txBody>
      </p:sp>
      <p:sp>
        <p:nvSpPr>
          <p:cNvPr id="6" name="Rounded Rectangle 5"/>
          <p:cNvSpPr/>
          <p:nvPr/>
        </p:nvSpPr>
        <p:spPr>
          <a:xfrm>
            <a:off x="685800" y="2944368"/>
            <a:ext cx="7772400" cy="658368"/>
          </a:xfrm>
          <a:prstGeom prst="roundRect">
            <a:avLst>
              <a:gd name="adj" fmla="val 8000"/>
            </a:avLst>
          </a:prstGeom>
          <a:solidFill>
            <a:srgbClr val="C9C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3072384"/>
            <a:ext cx="7296912" cy="438912"/>
          </a:xfrm>
          <a:prstGeom prst="rect">
            <a:avLst/>
          </a:prstGeom>
          <a:noFill/>
        </p:spPr>
        <p:txBody>
          <a:bodyPr wrap="square" anchor="ctr" lIns="0" rIns="0" tIns="0" bIns="0">
            <a:spAutoFit/>
          </a:bodyPr>
          <a:lstStyle/>
          <a:p>
            <a:pPr algn="l">
              <a:lnSpc>
                <a:spcPct val="125000"/>
              </a:lnSpc>
              <a:spcAft>
                <a:spcPts val="0"/>
              </a:spcAft>
            </a:pPr>
            <a:r>
              <a:rPr sz="1400" b="1" i="0">
                <a:solidFill>
                  <a:srgbClr val="2E3570"/>
                </a:solidFill>
                <a:latin typeface="Calibri"/>
              </a:rPr>
              <a:t>Thursday is gone. Repair the plan again.</a:t>
            </a:r>
          </a:p>
        </p:txBody>
      </p:sp>
      <p:sp>
        <p:nvSpPr>
          <p:cNvPr id="8" name="TextBox 7"/>
          <p:cNvSpPr txBox="1"/>
          <p:nvPr/>
        </p:nvSpPr>
        <p:spPr>
          <a:xfrm>
            <a:off x="685800" y="3931920"/>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C9CCE6"/>
                </a:solidFill>
                <a:latin typeface="Calibri"/>
              </a:rPr>
              <a:t>Two minutes. If the spare slot is already used, something has to be cut. Decide what, and say why.</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C9CCE6"/>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C9CCE6"/>
                </a:solidFill>
                <a:latin typeface="Calibri"/>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896112"/>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FFFDF7"/>
                </a:solidFill>
                <a:latin typeface="Georgia"/>
              </a:rPr>
              <a:t>Saturday, two o’clock</a:t>
            </a:r>
          </a:p>
        </p:txBody>
      </p:sp>
      <p:sp>
        <p:nvSpPr>
          <p:cNvPr id="5" name="TextBox 4"/>
          <p:cNvSpPr txBox="1"/>
          <p:nvPr/>
        </p:nvSpPr>
        <p:spPr>
          <a:xfrm>
            <a:off x="685800" y="1645920"/>
            <a:ext cx="7772400" cy="548640"/>
          </a:xfrm>
          <a:prstGeom prst="rect">
            <a:avLst/>
          </a:prstGeom>
          <a:noFill/>
        </p:spPr>
        <p:txBody>
          <a:bodyPr wrap="square" anchor="t" lIns="0" rIns="0" tIns="0" bIns="0">
            <a:spAutoFit/>
          </a:bodyPr>
          <a:lstStyle/>
          <a:p>
            <a:pPr algn="l">
              <a:lnSpc>
                <a:spcPct val="135000"/>
              </a:lnSpc>
              <a:spcAft>
                <a:spcPts val="0"/>
              </a:spcAft>
            </a:pPr>
            <a:r>
              <a:rPr sz="1600" b="0" i="0">
                <a:solidFill>
                  <a:srgbClr val="FFFDF7"/>
                </a:solidFill>
                <a:latin typeface="Calibri"/>
              </a:rPr>
              <a:t>A friend messages. They are not okay, and they ask whether you can come over this afternoon. You know that you are going.</a:t>
            </a:r>
          </a:p>
        </p:txBody>
      </p:sp>
      <p:sp>
        <p:nvSpPr>
          <p:cNvPr id="6" name="Rounded Rectangle 5"/>
          <p:cNvSpPr/>
          <p:nvPr/>
        </p:nvSpPr>
        <p:spPr>
          <a:xfrm>
            <a:off x="685800" y="2395728"/>
            <a:ext cx="7772400" cy="658368"/>
          </a:xfrm>
          <a:prstGeom prst="roundRect">
            <a:avLst>
              <a:gd name="adj" fmla="val 8000"/>
            </a:avLst>
          </a:prstGeom>
          <a:solidFill>
            <a:srgbClr val="C9C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523744"/>
            <a:ext cx="7296912" cy="438912"/>
          </a:xfrm>
          <a:prstGeom prst="rect">
            <a:avLst/>
          </a:prstGeom>
          <a:noFill/>
        </p:spPr>
        <p:txBody>
          <a:bodyPr wrap="square" anchor="ctr" lIns="0" rIns="0" tIns="0" bIns="0">
            <a:spAutoFit/>
          </a:bodyPr>
          <a:lstStyle/>
          <a:p>
            <a:pPr algn="l">
              <a:lnSpc>
                <a:spcPct val="125000"/>
              </a:lnSpc>
              <a:spcAft>
                <a:spcPts val="0"/>
              </a:spcAft>
            </a:pPr>
            <a:r>
              <a:rPr sz="1400" b="1" i="0">
                <a:solidFill>
                  <a:srgbClr val="2E3570"/>
                </a:solidFill>
                <a:latin typeface="Calibri"/>
              </a:rPr>
              <a:t>Saturday afternoon is theirs. Repair the plan one last time.</a:t>
            </a:r>
          </a:p>
        </p:txBody>
      </p:sp>
      <p:sp>
        <p:nvSpPr>
          <p:cNvPr id="8" name="TextBox 7"/>
          <p:cNvSpPr txBox="1"/>
          <p:nvPr/>
        </p:nvSpPr>
        <p:spPr>
          <a:xfrm>
            <a:off x="685800" y="3931920"/>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C9CCE6"/>
                </a:solidFill>
                <a:latin typeface="Calibri"/>
              </a:rPr>
              <a:t>Two minutes. Notice which sessions have moved three times and are still on the sheet.</a:t>
            </a:r>
          </a:p>
        </p:txBody>
      </p:sp>
      <p:pic>
        <p:nvPicPr>
          <p:cNvPr id="9" name="Picture 8" descr="logo-mark.png"/>
          <p:cNvPicPr>
            <a:picLocks noChangeAspect="1"/>
          </p:cNvPicPr>
          <p:nvPr/>
        </p:nvPicPr>
        <p:blipFill>
          <a:blip r:embed="rId2"/>
          <a:stretch>
            <a:fillRect/>
          </a:stretch>
        </p:blipFill>
        <p:spPr>
          <a:xfrm>
            <a:off x="384048" y="4727448"/>
            <a:ext cx="158374" cy="182880"/>
          </a:xfrm>
          <a:prstGeom prst="rect">
            <a:avLst/>
          </a:prstGeom>
        </p:spPr>
      </p:pic>
      <p:sp>
        <p:nvSpPr>
          <p:cNvPr id="10" name="TextBox 9"/>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C9CCE6"/>
                </a:solidFill>
                <a:latin typeface="Calibri"/>
              </a:rPr>
              <a:t>The Pastoral Guide</a:t>
            </a:r>
          </a:p>
        </p:txBody>
      </p:sp>
      <p:sp>
        <p:nvSpPr>
          <p:cNvPr id="11" name="TextBox 10"/>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C9CCE6"/>
                </a:solidFill>
                <a:latin typeface="Calibri"/>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What survived</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5C6552"/>
                </a:solidFill>
                <a:latin typeface="Calibri"/>
              </a:rPr>
              <a:t>Look at the sheet. Some sessions moved three times and are still there.</a:t>
            </a:r>
          </a:p>
        </p:txBody>
      </p:sp>
      <p:sp>
        <p:nvSpPr>
          <p:cNvPr id="6" name="Rectangle 5"/>
          <p:cNvSpPr/>
          <p:nvPr/>
        </p:nvSpPr>
        <p:spPr>
          <a:xfrm>
            <a:off x="685800" y="1956816"/>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66543"/>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6255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5740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The ones that survived were small</a:t>
            </a:r>
          </a:p>
        </p:txBody>
      </p:sp>
      <p:sp>
        <p:nvSpPr>
          <p:cNvPr id="10" name="TextBox 9"/>
          <p:cNvSpPr txBox="1"/>
          <p:nvPr/>
        </p:nvSpPr>
        <p:spPr>
          <a:xfrm>
            <a:off x="1417320" y="2304288"/>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Twenty-five minutes can move to a Sunday morning. Three hours cannot.</a:t>
            </a:r>
          </a:p>
        </p:txBody>
      </p:sp>
      <p:sp>
        <p:nvSpPr>
          <p:cNvPr id="11" name="Rectangle 10"/>
          <p:cNvSpPr/>
          <p:nvPr/>
        </p:nvSpPr>
        <p:spPr>
          <a:xfrm>
            <a:off x="685800" y="2706624"/>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16351"/>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12363"/>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0720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The ones that survived were named</a:t>
            </a:r>
          </a:p>
        </p:txBody>
      </p:sp>
      <p:sp>
        <p:nvSpPr>
          <p:cNvPr id="15" name="TextBox 14"/>
          <p:cNvSpPr txBox="1"/>
          <p:nvPr/>
        </p:nvSpPr>
        <p:spPr>
          <a:xfrm>
            <a:off x="1417320" y="3054096"/>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You knew what “quadratics, page 42” was, so you could move it without losing it.</a:t>
            </a:r>
          </a:p>
        </p:txBody>
      </p:sp>
      <p:sp>
        <p:nvSpPr>
          <p:cNvPr id="16" name="Rectangle 15"/>
          <p:cNvSpPr/>
          <p:nvPr/>
        </p:nvSpPr>
        <p:spPr>
          <a:xfrm>
            <a:off x="685800" y="3456432"/>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66160"/>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62172"/>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570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The spare slot did most of the work</a:t>
            </a:r>
          </a:p>
        </p:txBody>
      </p:sp>
      <p:sp>
        <p:nvSpPr>
          <p:cNvPr id="20" name="TextBox 19"/>
          <p:cNvSpPr txBox="1"/>
          <p:nvPr/>
        </p:nvSpPr>
        <p:spPr>
          <a:xfrm>
            <a:off x="1417320" y="3803904"/>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Without it, the first interruption would have finished the plan.</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Tell the person next to you which session you would have lost without the spare slot.</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Check a plan that is not yours</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5C6552"/>
                </a:solidFill>
                <a:latin typeface="Calibri"/>
              </a:rPr>
              <a:t>Swap sheets with the person next to you.</a:t>
            </a:r>
          </a:p>
        </p:txBody>
      </p:sp>
      <p:sp>
        <p:nvSpPr>
          <p:cNvPr id="6" name="Rectangle 5"/>
          <p:cNvSpPr/>
          <p:nvPr/>
        </p:nvSpPr>
        <p:spPr>
          <a:xfrm>
            <a:off x="685800" y="1956816"/>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66543"/>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6255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5740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Is every session named?</a:t>
            </a:r>
          </a:p>
        </p:txBody>
      </p:sp>
      <p:sp>
        <p:nvSpPr>
          <p:cNvPr id="10" name="TextBox 9"/>
          <p:cNvSpPr txBox="1"/>
          <p:nvPr/>
        </p:nvSpPr>
        <p:spPr>
          <a:xfrm>
            <a:off x="1417320" y="2304288"/>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If you cannot tell what they will do in it, write a question mark next to it.</a:t>
            </a:r>
          </a:p>
        </p:txBody>
      </p:sp>
      <p:sp>
        <p:nvSpPr>
          <p:cNvPr id="11" name="Rectangle 10"/>
          <p:cNvSpPr/>
          <p:nvPr/>
        </p:nvSpPr>
        <p:spPr>
          <a:xfrm>
            <a:off x="685800" y="2706624"/>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16351"/>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12363"/>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0720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Is every session small enough to move?</a:t>
            </a:r>
          </a:p>
        </p:txBody>
      </p:sp>
      <p:sp>
        <p:nvSpPr>
          <p:cNvPr id="15" name="TextBox 14"/>
          <p:cNvSpPr txBox="1"/>
          <p:nvPr/>
        </p:nvSpPr>
        <p:spPr>
          <a:xfrm>
            <a:off x="1417320" y="3054096"/>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Anything over forty-five minutes gets a circle.</a:t>
            </a:r>
          </a:p>
        </p:txBody>
      </p:sp>
      <p:sp>
        <p:nvSpPr>
          <p:cNvPr id="16" name="Rectangle 15"/>
          <p:cNvSpPr/>
          <p:nvPr/>
        </p:nvSpPr>
        <p:spPr>
          <a:xfrm>
            <a:off x="685800" y="3456432"/>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66160"/>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62172"/>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570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Is there a spare slot, and did they use it?</a:t>
            </a:r>
          </a:p>
        </p:txBody>
      </p:sp>
      <p:sp>
        <p:nvSpPr>
          <p:cNvPr id="20" name="TextBox 19"/>
          <p:cNvSpPr txBox="1"/>
          <p:nvPr/>
        </p:nvSpPr>
        <p:spPr>
          <a:xfrm>
            <a:off x="1417320" y="3803904"/>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Tick it if it is there.</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Hand it back with one thing you would move, and why.</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896112"/>
            <a:ext cx="7772400" cy="365760"/>
          </a:xfrm>
          <a:prstGeom prst="rect">
            <a:avLst/>
          </a:prstGeom>
          <a:noFill/>
        </p:spPr>
        <p:txBody>
          <a:bodyPr wrap="square" anchor="t" lIns="0" rIns="0" tIns="0" bIns="0">
            <a:spAutoFit/>
          </a:bodyPr>
          <a:lstStyle/>
          <a:p>
            <a:pPr algn="l">
              <a:lnSpc>
                <a:spcPct val="125000"/>
              </a:lnSpc>
              <a:spcAft>
                <a:spcPts val="0"/>
              </a:spcAft>
            </a:pPr>
            <a:r>
              <a:rPr sz="1200" b="1" i="0" spc="120">
                <a:solidFill>
                  <a:srgbClr val="C9CCE6"/>
                </a:solidFill>
                <a:latin typeface="Calibri"/>
              </a:rPr>
              <a:t>One question</a:t>
            </a:r>
          </a:p>
        </p:txBody>
      </p:sp>
      <p:sp>
        <p:nvSpPr>
          <p:cNvPr id="5" name="TextBox 4"/>
          <p:cNvSpPr txBox="1"/>
          <p:nvPr/>
        </p:nvSpPr>
        <p:spPr>
          <a:xfrm>
            <a:off x="548640" y="1389888"/>
            <a:ext cx="8046720" cy="1463040"/>
          </a:xfrm>
          <a:prstGeom prst="rect">
            <a:avLst/>
          </a:prstGeom>
          <a:noFill/>
        </p:spPr>
        <p:txBody>
          <a:bodyPr wrap="square" anchor="t" lIns="0" rIns="0" tIns="0" bIns="0">
            <a:spAutoFit/>
          </a:bodyPr>
          <a:lstStyle/>
          <a:p>
            <a:pPr algn="ctr">
              <a:lnSpc>
                <a:spcPct val="114000"/>
              </a:lnSpc>
              <a:spcAft>
                <a:spcPts val="0"/>
              </a:spcAft>
            </a:pPr>
            <a:r>
              <a:rPr sz="2800" b="0" i="0">
                <a:solidFill>
                  <a:srgbClr val="FFFDF7"/>
                </a:solidFill>
                <a:latin typeface="Georgia"/>
              </a:rPr>
              <a:t>Is a plan that changed three times in a week a failed plan?</a:t>
            </a:r>
          </a:p>
        </p:txBody>
      </p:sp>
      <p:sp>
        <p:nvSpPr>
          <p:cNvPr id="6" name="Rectangle 5"/>
          <p:cNvSpPr/>
          <p:nvPr/>
        </p:nvSpPr>
        <p:spPr>
          <a:xfrm>
            <a:off x="4114800" y="3108960"/>
            <a:ext cx="914400" cy="18288"/>
          </a:xfrm>
          <a:prstGeom prst="rect">
            <a:avLst/>
          </a:prstGeom>
          <a:solidFill>
            <a:srgbClr val="C9C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346704"/>
            <a:ext cx="6400800" cy="731520"/>
          </a:xfrm>
          <a:prstGeom prst="rect">
            <a:avLst/>
          </a:prstGeom>
          <a:noFill/>
        </p:spPr>
        <p:txBody>
          <a:bodyPr wrap="square" anchor="t" lIns="0" rIns="0" tIns="0" bIns="0">
            <a:spAutoFit/>
          </a:bodyPr>
          <a:lstStyle/>
          <a:p>
            <a:pPr algn="ctr">
              <a:lnSpc>
                <a:spcPct val="125000"/>
              </a:lnSpc>
              <a:spcAft>
                <a:spcPts val="0"/>
              </a:spcAft>
            </a:pPr>
            <a:r>
              <a:rPr sz="1350" b="0" i="0">
                <a:solidFill>
                  <a:srgbClr val="C9CCE6"/>
                </a:solidFill>
                <a:latin typeface="Calibri"/>
              </a:rPr>
              <a:t>Hands up for yes, hands up for no, and then somebody from each side says why.</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p:spPr>
      </p:pic>
      <p:sp>
        <p:nvSpPr>
          <p:cNvPr id="9" name="TextBox 8"/>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C9CCE6"/>
                </a:solidFill>
                <a:latin typeface="Calibri"/>
              </a:rPr>
              <a:t>The Pastoral Guide</a:t>
            </a:r>
          </a:p>
        </p:txBody>
      </p:sp>
      <p:sp>
        <p:nvSpPr>
          <p:cNvPr id="10" name="TextBox 9"/>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C9CCE6"/>
                </a:solidFill>
                <a:latin typeface="Calibri"/>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Monday morning</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5C6552"/>
                </a:solidFill>
                <a:latin typeface="Calibri"/>
              </a:rPr>
              <a:t>At the bottom of the sheet, private, not collected.</a:t>
            </a:r>
          </a:p>
        </p:txBody>
      </p:sp>
      <p:sp>
        <p:nvSpPr>
          <p:cNvPr id="6" name="Rectangle 5"/>
          <p:cNvSpPr/>
          <p:nvPr/>
        </p:nvSpPr>
        <p:spPr>
          <a:xfrm>
            <a:off x="685800" y="1956816"/>
            <a:ext cx="7772400" cy="71323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112264"/>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0827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5740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Your first session</a:t>
            </a:r>
          </a:p>
        </p:txBody>
      </p:sp>
      <p:sp>
        <p:nvSpPr>
          <p:cNvPr id="10" name="TextBox 9"/>
          <p:cNvSpPr txBox="1"/>
          <p:nvPr/>
        </p:nvSpPr>
        <p:spPr>
          <a:xfrm>
            <a:off x="1417320" y="2304288"/>
            <a:ext cx="6821424" cy="292608"/>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Day, time, subject, topic, what you will do. The whole line.</a:t>
            </a:r>
          </a:p>
        </p:txBody>
      </p:sp>
      <p:sp>
        <p:nvSpPr>
          <p:cNvPr id="11" name="Rectangle 10"/>
          <p:cNvSpPr/>
          <p:nvPr/>
        </p:nvSpPr>
        <p:spPr>
          <a:xfrm>
            <a:off x="685800" y="2798064"/>
            <a:ext cx="7772400" cy="71323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953512"/>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049524"/>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9864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Where the sheet is going</a:t>
            </a:r>
          </a:p>
        </p:txBody>
      </p:sp>
      <p:sp>
        <p:nvSpPr>
          <p:cNvPr id="15" name="TextBox 14"/>
          <p:cNvSpPr txBox="1"/>
          <p:nvPr/>
        </p:nvSpPr>
        <p:spPr>
          <a:xfrm>
            <a:off x="1417320" y="3145536"/>
            <a:ext cx="6821424" cy="292608"/>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A wall, a folder, the inside of a planner. Somewhere you will see it on Monday.</a:t>
            </a:r>
          </a:p>
        </p:txBody>
      </p:sp>
      <p:sp>
        <p:nvSpPr>
          <p:cNvPr id="16" name="TextBox 15"/>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Bring the sheet on Monday. The check-in takes two minutes.</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rk.png"/>
          <p:cNvPicPr>
            <a:picLocks noChangeAspect="1"/>
          </p:cNvPicPr>
          <p:nvPr/>
        </p:nvPicPr>
        <p:blipFill>
          <a:blip r:embed="rId2"/>
          <a:stretch>
            <a:fillRect/>
          </a:stretch>
        </p:blipFill>
        <p:spPr>
          <a:xfrm>
            <a:off x="4255251" y="950976"/>
            <a:ext cx="633496" cy="731520"/>
          </a:xfrm>
          <a:prstGeom prst="rect">
            <a:avLst/>
          </a:prstGeom>
        </p:spPr>
      </p:pic>
      <p:sp>
        <p:nvSpPr>
          <p:cNvPr id="4" name="TextBox 3"/>
          <p:cNvSpPr txBox="1"/>
          <p:nvPr/>
        </p:nvSpPr>
        <p:spPr>
          <a:xfrm>
            <a:off x="548640" y="1993392"/>
            <a:ext cx="8046720" cy="822960"/>
          </a:xfrm>
          <a:prstGeom prst="rect">
            <a:avLst/>
          </a:prstGeom>
          <a:noFill/>
        </p:spPr>
        <p:txBody>
          <a:bodyPr wrap="square" anchor="t" lIns="0" rIns="0" tIns="0" bIns="0">
            <a:spAutoFit/>
          </a:bodyPr>
          <a:lstStyle/>
          <a:p>
            <a:pPr algn="ctr">
              <a:lnSpc>
                <a:spcPct val="105000"/>
              </a:lnSpc>
              <a:spcAft>
                <a:spcPts val="0"/>
              </a:spcAft>
            </a:pPr>
            <a:r>
              <a:rPr sz="3200" b="0" i="0">
                <a:solidFill>
                  <a:srgbClr val="2E3570"/>
                </a:solidFill>
                <a:latin typeface="Georgia"/>
              </a:rPr>
              <a:t>Plan the week you will have.</a:t>
            </a:r>
          </a:p>
        </p:txBody>
      </p:sp>
      <p:sp>
        <p:nvSpPr>
          <p:cNvPr id="5" name="TextBox 4"/>
          <p:cNvSpPr txBox="1"/>
          <p:nvPr/>
        </p:nvSpPr>
        <p:spPr>
          <a:xfrm>
            <a:off x="1188720" y="2871216"/>
            <a:ext cx="6766560" cy="731520"/>
          </a:xfrm>
          <a:prstGeom prst="rect">
            <a:avLst/>
          </a:prstGeom>
          <a:noFill/>
        </p:spPr>
        <p:txBody>
          <a:bodyPr wrap="square" anchor="t" lIns="0" rIns="0" tIns="0" bIns="0">
            <a:spAutoFit/>
          </a:bodyPr>
          <a:lstStyle/>
          <a:p>
            <a:pPr algn="ctr">
              <a:lnSpc>
                <a:spcPct val="125000"/>
              </a:lnSpc>
              <a:spcAft>
                <a:spcPts val="0"/>
              </a:spcAft>
            </a:pPr>
            <a:r>
              <a:rPr sz="1500" b="0" i="0">
                <a:solidFill>
                  <a:srgbClr val="5C6552"/>
                </a:solidFill>
                <a:latin typeface="Calibri"/>
              </a:rPr>
              <a:t>Not the week you wish for. Small sessions, named, with a spare slot, a week at a time.</a:t>
            </a:r>
          </a:p>
        </p:txBody>
      </p:sp>
      <p:sp>
        <p:nvSpPr>
          <p:cNvPr id="6" name="TextBox 5"/>
          <p:cNvSpPr txBox="1"/>
          <p:nvPr/>
        </p:nvSpPr>
        <p:spPr>
          <a:xfrm>
            <a:off x="731520" y="3803904"/>
            <a:ext cx="7680960" cy="310896"/>
          </a:xfrm>
          <a:prstGeom prst="rect">
            <a:avLst/>
          </a:prstGeom>
          <a:noFill/>
        </p:spPr>
        <p:txBody>
          <a:bodyPr wrap="square" anchor="t" lIns="0" rIns="0" tIns="0" bIns="0">
            <a:spAutoFit/>
          </a:bodyPr>
          <a:lstStyle/>
          <a:p>
            <a:pPr algn="ctr">
              <a:lnSpc>
                <a:spcPct val="125000"/>
              </a:lnSpc>
              <a:spcAft>
                <a:spcPts val="0"/>
              </a:spcAft>
            </a:pPr>
            <a:r>
              <a:rPr sz="1200" b="0" i="0">
                <a:solidFill>
                  <a:srgbClr val="8B9179"/>
                </a:solidFill>
                <a:latin typeface="Calibri"/>
              </a:rPr>
              <a:t>The Pastoral Guide  ·  thepastoralguide.com</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48640"/>
            <a:ext cx="1708656" cy="237744"/>
          </a:xfrm>
          <a:prstGeom prst="roundRect">
            <a:avLst>
              <a:gd name="adj" fmla="val 50000"/>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E3570"/>
                </a:solidFill>
                <a:latin typeface="Calibri"/>
              </a:rPr>
              <a:t>MONDAY CHECK-IN</a:t>
            </a: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2E3436"/>
                </a:solidFill>
                <a:latin typeface="Georgia"/>
              </a:rPr>
              <a:t>What survived last week?</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5C6552"/>
                </a:solidFill>
                <a:latin typeface="Calibri"/>
              </a:rPr>
              <a:t>Two minutes at registration, with last week’s sheet out.</a:t>
            </a:r>
          </a:p>
        </p:txBody>
      </p:sp>
      <p:sp>
        <p:nvSpPr>
          <p:cNvPr id="6" name="Rectangle 5"/>
          <p:cNvSpPr/>
          <p:nvPr/>
        </p:nvSpPr>
        <p:spPr>
          <a:xfrm>
            <a:off x="685800" y="1956816"/>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66543"/>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6255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5740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What survived?</a:t>
            </a:r>
          </a:p>
        </p:txBody>
      </p:sp>
      <p:sp>
        <p:nvSpPr>
          <p:cNvPr id="10" name="TextBox 9"/>
          <p:cNvSpPr txBox="1"/>
          <p:nvPr/>
        </p:nvSpPr>
        <p:spPr>
          <a:xfrm>
            <a:off x="1417320" y="2304288"/>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How many sessions happened? Tick them.</a:t>
            </a:r>
          </a:p>
        </p:txBody>
      </p:sp>
      <p:sp>
        <p:nvSpPr>
          <p:cNvPr id="11" name="Rectangle 10"/>
          <p:cNvSpPr/>
          <p:nvPr/>
        </p:nvSpPr>
        <p:spPr>
          <a:xfrm>
            <a:off x="685800" y="2706624"/>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16351"/>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12363"/>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0720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What moved, and where did it go?</a:t>
            </a:r>
          </a:p>
        </p:txBody>
      </p:sp>
      <p:sp>
        <p:nvSpPr>
          <p:cNvPr id="15" name="TextBox 14"/>
          <p:cNvSpPr txBox="1"/>
          <p:nvPr/>
        </p:nvSpPr>
        <p:spPr>
          <a:xfrm>
            <a:off x="1417320" y="3054096"/>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If it went into the spare slot, the plan worked.</a:t>
            </a:r>
          </a:p>
        </p:txBody>
      </p:sp>
      <p:sp>
        <p:nvSpPr>
          <p:cNvPr id="16" name="Rectangle 15"/>
          <p:cNvSpPr/>
          <p:nvPr/>
        </p:nvSpPr>
        <p:spPr>
          <a:xfrm>
            <a:off x="685800" y="3456432"/>
            <a:ext cx="7772400" cy="621792"/>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66160"/>
            <a:ext cx="402336" cy="402336"/>
          </a:xfrm>
          <a:prstGeom prst="ellipse">
            <a:avLst/>
          </a:prstGeom>
          <a:solidFill>
            <a:srgbClr val="2E35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62172"/>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570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E3570"/>
                </a:solidFill>
                <a:latin typeface="Georgia"/>
              </a:rPr>
              <a:t>What is the first session this week?</a:t>
            </a:r>
          </a:p>
        </p:txBody>
      </p:sp>
      <p:sp>
        <p:nvSpPr>
          <p:cNvPr id="20" name="TextBox 19"/>
          <p:cNvSpPr txBox="1"/>
          <p:nvPr/>
        </p:nvSpPr>
        <p:spPr>
          <a:xfrm>
            <a:off x="1417320" y="3803904"/>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5C6552"/>
                </a:solidFill>
                <a:latin typeface="Calibri"/>
              </a:rPr>
              <a:t>Write it on the new sheet before the bell.</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5C6552"/>
                </a:solidFill>
                <a:latin typeface="Calibri"/>
              </a:rPr>
              <a:t>Then put the sheet away. That is the whole check-in.</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8B9179"/>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8B9179"/>
                </a:solidFill>
                <a:latin typeface="Calibri"/>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